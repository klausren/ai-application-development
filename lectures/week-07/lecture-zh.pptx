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全连接 64-128-64-10</c:v>
                </c:pt>
              </c:strCache>
            </c:strRef>
          </c:tx>
          <c:spPr>
            <a:ln w="22225">
              <a:solidFill>
                <a:srgbClr val="1E4FA8"/>
              </a:solidFill>
            </a:ln>
          </c:spP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7</c:v>
                </c:pt>
                <c:pt idx="2">
                  <c:v>13</c:v>
                </c:pt>
                <c:pt idx="3">
                  <c:v>19</c:v>
                </c:pt>
                <c:pt idx="4">
                  <c:v>25</c:v>
                </c:pt>
                <c:pt idx="5">
                  <c:v>31</c:v>
                </c:pt>
                <c:pt idx="6">
                  <c:v>37</c:v>
                </c:pt>
                <c:pt idx="7">
                  <c:v>43</c:v>
                </c:pt>
                <c:pt idx="8">
                  <c:v>49</c:v>
                </c:pt>
                <c:pt idx="9">
                  <c:v>55</c:v>
                </c:pt>
                <c:pt idx="10">
                  <c:v>61</c:v>
                </c:pt>
                <c:pt idx="11">
                  <c:v>67</c:v>
                </c:pt>
                <c:pt idx="12">
                  <c:v>73</c:v>
                </c:pt>
                <c:pt idx="13">
                  <c:v>79</c:v>
                </c:pt>
                <c:pt idx="14">
                  <c:v>85</c:v>
                </c:pt>
                <c:pt idx="15">
                  <c:v>91</c:v>
                </c:pt>
                <c:pt idx="16">
                  <c:v>97</c:v>
                </c:pt>
                <c:pt idx="17">
                  <c:v>103</c:v>
                </c:pt>
                <c:pt idx="18">
                  <c:v>109</c:v>
                </c:pt>
                <c:pt idx="19">
                  <c:v>115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0.7037</c:v>
                </c:pt>
                <c:pt idx="1">
                  <c:v>0.9037</c:v>
                </c:pt>
                <c:pt idx="2">
                  <c:v>0.9519</c:v>
                </c:pt>
                <c:pt idx="3">
                  <c:v>0.9593</c:v>
                </c:pt>
                <c:pt idx="4">
                  <c:v>0.9556</c:v>
                </c:pt>
                <c:pt idx="5">
                  <c:v>0.9593</c:v>
                </c:pt>
                <c:pt idx="6">
                  <c:v>0.9704</c:v>
                </c:pt>
                <c:pt idx="7">
                  <c:v>0.9741</c:v>
                </c:pt>
                <c:pt idx="8">
                  <c:v>0.9593</c:v>
                </c:pt>
                <c:pt idx="9">
                  <c:v>0.9741</c:v>
                </c:pt>
                <c:pt idx="10">
                  <c:v>0.9704</c:v>
                </c:pt>
                <c:pt idx="11">
                  <c:v>0.9704</c:v>
                </c:pt>
                <c:pt idx="12">
                  <c:v>0.9704</c:v>
                </c:pt>
                <c:pt idx="13">
                  <c:v>0.9741</c:v>
                </c:pt>
                <c:pt idx="14">
                  <c:v>0.9704</c:v>
                </c:pt>
                <c:pt idx="15">
                  <c:v>0.9741</c:v>
                </c:pt>
                <c:pt idx="16">
                  <c:v>0.9741</c:v>
                </c:pt>
                <c:pt idx="17">
                  <c:v>0.9741</c:v>
                </c:pt>
                <c:pt idx="18">
                  <c:v>0.9741</c:v>
                </c:pt>
                <c:pt idx="19">
                  <c:v>0.9741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 8/16</c:v>
                </c:pt>
              </c:strCache>
            </c:strRef>
          </c:tx>
          <c:spPr>
            <a:ln w="31750">
              <a:solidFill>
                <a:srgbClr val="059669"/>
              </a:solidFill>
            </a:ln>
          </c:spP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7</c:v>
                </c:pt>
                <c:pt idx="2">
                  <c:v>13</c:v>
                </c:pt>
                <c:pt idx="3">
                  <c:v>19</c:v>
                </c:pt>
                <c:pt idx="4">
                  <c:v>25</c:v>
                </c:pt>
                <c:pt idx="5">
                  <c:v>31</c:v>
                </c:pt>
                <c:pt idx="6">
                  <c:v>37</c:v>
                </c:pt>
                <c:pt idx="7">
                  <c:v>43</c:v>
                </c:pt>
                <c:pt idx="8">
                  <c:v>49</c:v>
                </c:pt>
                <c:pt idx="9">
                  <c:v>55</c:v>
                </c:pt>
                <c:pt idx="10">
                  <c:v>61</c:v>
                </c:pt>
                <c:pt idx="11">
                  <c:v>67</c:v>
                </c:pt>
                <c:pt idx="12">
                  <c:v>73</c:v>
                </c:pt>
                <c:pt idx="13">
                  <c:v>79</c:v>
                </c:pt>
                <c:pt idx="14">
                  <c:v>85</c:v>
                </c:pt>
                <c:pt idx="15">
                  <c:v>91</c:v>
                </c:pt>
                <c:pt idx="16">
                  <c:v>97</c:v>
                </c:pt>
                <c:pt idx="17">
                  <c:v>103</c:v>
                </c:pt>
                <c:pt idx="18">
                  <c:v>109</c:v>
                </c:pt>
                <c:pt idx="19">
                  <c:v>115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0.3111</c:v>
                </c:pt>
                <c:pt idx="1">
                  <c:v>0.8259</c:v>
                </c:pt>
                <c:pt idx="2">
                  <c:v>0.8852</c:v>
                </c:pt>
                <c:pt idx="3">
                  <c:v>0.9296</c:v>
                </c:pt>
                <c:pt idx="4">
                  <c:v>0.9407</c:v>
                </c:pt>
                <c:pt idx="5">
                  <c:v>0.9556</c:v>
                </c:pt>
                <c:pt idx="6">
                  <c:v>0.963</c:v>
                </c:pt>
                <c:pt idx="7">
                  <c:v>0.9704</c:v>
                </c:pt>
                <c:pt idx="8">
                  <c:v>0.9667</c:v>
                </c:pt>
                <c:pt idx="9">
                  <c:v>0.9667</c:v>
                </c:pt>
                <c:pt idx="10">
                  <c:v>0.9704</c:v>
                </c:pt>
                <c:pt idx="11">
                  <c:v>0.9704</c:v>
                </c:pt>
                <c:pt idx="12">
                  <c:v>0.9704</c:v>
                </c:pt>
                <c:pt idx="13">
                  <c:v>0.9667</c:v>
                </c:pt>
                <c:pt idx="14">
                  <c:v>0.9741</c:v>
                </c:pt>
                <c:pt idx="15">
                  <c:v>0.9741</c:v>
                </c:pt>
                <c:pt idx="16">
                  <c:v>0.9667</c:v>
                </c:pt>
                <c:pt idx="17">
                  <c:v>0.9741</c:v>
                </c:pt>
                <c:pt idx="18">
                  <c:v>0.9741</c:v>
                </c:pt>
                <c:pt idx="19">
                  <c:v>0.9741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CNN + ±1px 增强</c:v>
                </c:pt>
              </c:strCache>
            </c:strRef>
          </c:tx>
          <c:spPr>
            <a:ln w="22225">
              <a:solidFill>
                <a:srgbClr val="D97706"/>
              </a:solidFill>
            </a:ln>
          </c:spP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7</c:v>
                </c:pt>
                <c:pt idx="2">
                  <c:v>13</c:v>
                </c:pt>
                <c:pt idx="3">
                  <c:v>19</c:v>
                </c:pt>
                <c:pt idx="4">
                  <c:v>25</c:v>
                </c:pt>
                <c:pt idx="5">
                  <c:v>31</c:v>
                </c:pt>
                <c:pt idx="6">
                  <c:v>37</c:v>
                </c:pt>
                <c:pt idx="7">
                  <c:v>43</c:v>
                </c:pt>
                <c:pt idx="8">
                  <c:v>49</c:v>
                </c:pt>
                <c:pt idx="9">
                  <c:v>55</c:v>
                </c:pt>
                <c:pt idx="10">
                  <c:v>61</c:v>
                </c:pt>
                <c:pt idx="11">
                  <c:v>67</c:v>
                </c:pt>
                <c:pt idx="12">
                  <c:v>73</c:v>
                </c:pt>
                <c:pt idx="13">
                  <c:v>79</c:v>
                </c:pt>
                <c:pt idx="14">
                  <c:v>85</c:v>
                </c:pt>
                <c:pt idx="15">
                  <c:v>91</c:v>
                </c:pt>
                <c:pt idx="16">
                  <c:v>97</c:v>
                </c:pt>
                <c:pt idx="17">
                  <c:v>103</c:v>
                </c:pt>
                <c:pt idx="18">
                  <c:v>109</c:v>
                </c:pt>
                <c:pt idx="19">
                  <c:v>115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0.1889</c:v>
                </c:pt>
                <c:pt idx="1">
                  <c:v>0.6407</c:v>
                </c:pt>
                <c:pt idx="2">
                  <c:v>0.7222</c:v>
                </c:pt>
                <c:pt idx="3">
                  <c:v>0.7667</c:v>
                </c:pt>
                <c:pt idx="4">
                  <c:v>0.7519</c:v>
                </c:pt>
                <c:pt idx="5">
                  <c:v>0.8407</c:v>
                </c:pt>
                <c:pt idx="6">
                  <c:v>0.8222</c:v>
                </c:pt>
                <c:pt idx="7">
                  <c:v>0.8037</c:v>
                </c:pt>
                <c:pt idx="8">
                  <c:v>0.8481</c:v>
                </c:pt>
                <c:pt idx="9">
                  <c:v>0.8519</c:v>
                </c:pt>
                <c:pt idx="10">
                  <c:v>0.8444</c:v>
                </c:pt>
                <c:pt idx="11">
                  <c:v>0.8296</c:v>
                </c:pt>
                <c:pt idx="12">
                  <c:v>0.8667</c:v>
                </c:pt>
                <c:pt idx="13">
                  <c:v>0.8667</c:v>
                </c:pt>
                <c:pt idx="14">
                  <c:v>0.8593</c:v>
                </c:pt>
                <c:pt idx="15">
                  <c:v>0.8815</c:v>
                </c:pt>
                <c:pt idx="16">
                  <c:v>0.8667</c:v>
                </c:pt>
                <c:pt idx="17">
                  <c:v>0.8926</c:v>
                </c:pt>
                <c:pt idx="18">
                  <c:v>0.8926</c:v>
                </c:pt>
                <c:pt idx="19">
                  <c:v>0.9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训练轮次 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验证准确率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全连接</c:v>
                </c:pt>
              </c:strCache>
            </c:strRef>
          </c:tx>
          <c:spPr>
            <a:ln w="22225">
              <a:solidFill>
                <a:srgbClr val="B91C1C"/>
              </a:solidFill>
            </a:ln>
          </c:spPr>
          <c:cat>
            <c:strRef>
              <c:f>Sheet1!$A$2:$A$6</c:f>
              <c:strCach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+1</c:v>
                </c:pt>
                <c:pt idx="4">
                  <c:v>+2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0.1667</c:v>
                </c:pt>
                <c:pt idx="1">
                  <c:v>0.4555</c:v>
                </c:pt>
                <c:pt idx="2">
                  <c:v>0.9785</c:v>
                </c:pt>
                <c:pt idx="3">
                  <c:v>0.5089</c:v>
                </c:pt>
                <c:pt idx="4">
                  <c:v>0.1822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 8/16</c:v>
                </c:pt>
              </c:strCache>
            </c:strRef>
          </c:tx>
          <c:spPr>
            <a:ln w="22225">
              <a:solidFill>
                <a:srgbClr val="1E4FA8"/>
              </a:solidFill>
            </a:ln>
          </c:spPr>
          <c:cat>
            <c:strRef>
              <c:f>Sheet1!$A$2:$A$6</c:f>
              <c:strCach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+1</c:v>
                </c:pt>
                <c:pt idx="4">
                  <c:v>+2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0.2348</c:v>
                </c:pt>
                <c:pt idx="1">
                  <c:v>0.6481</c:v>
                </c:pt>
                <c:pt idx="2">
                  <c:v>0.9808</c:v>
                </c:pt>
                <c:pt idx="3">
                  <c:v>0.6504</c:v>
                </c:pt>
                <c:pt idx="4">
                  <c:v>0.2778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CNN + ±1px 增强</c:v>
                </c:pt>
              </c:strCache>
            </c:strRef>
          </c:tx>
          <c:spPr>
            <a:ln w="31750">
              <a:solidFill>
                <a:srgbClr val="059669"/>
              </a:solidFill>
            </a:ln>
          </c:spPr>
          <c:cat>
            <c:strRef>
              <c:f>Sheet1!$A$2:$A$6</c:f>
              <c:strCach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+1</c:v>
                </c:pt>
                <c:pt idx="4">
                  <c:v>+2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0.517</c:v>
                </c:pt>
                <c:pt idx="1">
                  <c:v>0.9415</c:v>
                </c:pt>
                <c:pt idx="2">
                  <c:v>0.9504</c:v>
                </c:pt>
                <c:pt idx="3">
                  <c:v>0.9526</c:v>
                </c:pt>
                <c:pt idx="4">
                  <c:v>0.5518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测试时平移 dx（列）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测试准确率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超出基线的峰值内存（MB）</c:v>
                </c:pt>
              </c:strCache>
            </c:strRef>
          </c:tx>
          <c:spPr>
            <a:ln w="31750">
              <a:solidFill>
                <a:srgbClr val="D97706"/>
              </a:solidFill>
            </a:ln>
          </c:spPr>
          <c:cat>
            <c:strRef>
              <c:f>Sheet1!$A$2:$A$7</c:f>
              <c:strCache>
                <c:ptCount val="6"/>
                <c:pt idx="0">
                  <c:v>32</c:v>
                </c:pt>
                <c:pt idx="1">
                  <c:v>64</c:v>
                </c:pt>
                <c:pt idx="2">
                  <c:v>128</c:v>
                </c:pt>
                <c:pt idx="3">
                  <c:v>256</c:v>
                </c:pt>
                <c:pt idx="4">
                  <c:v>512</c:v>
                </c:pt>
                <c:pt idx="5">
                  <c:v>1024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83.6</c:v>
                </c:pt>
                <c:pt idx="1">
                  <c:v>91.3</c:v>
                </c:pt>
                <c:pt idx="2">
                  <c:v>104.3</c:v>
                </c:pt>
                <c:pt idx="3">
                  <c:v>129.7</c:v>
                </c:pt>
                <c:pt idx="4">
                  <c:v>176.5</c:v>
                </c:pt>
                <c:pt idx="5">
                  <c:v>275.5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batch size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峰值内存增量 MB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本科 · 来华项目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卷积神经网络与计算机视觉应用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CNNs for Computer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7 · 卷积与权值共享 · 步长/填充/感受野 · 池化选择 · 数据增强的代价 · 混淆矩阵与错分分析 · 显存与梯度累积 · 实验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225548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90988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模块二 · W5–8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7881" y="5295600"/>
            <a:ext cx="3383222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0681" y="5364000"/>
            <a:ext cx="3037622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授课 + 实验 + 小测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84304" y="5295600"/>
            <a:ext cx="202993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7104" y="5364000"/>
            <a:ext cx="168433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KT13 · KT14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7438" y="5295600"/>
            <a:ext cx="225548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0238" y="5364000"/>
            <a:ext cx="190988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留学生班 · 英文授课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600" y="2163600"/>
            <a:ext cx="2361600" cy="49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600" y="2628000"/>
            <a:ext cx="2361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个部分 · 一天 180 分钟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本周的主线不是「CNN 更准」——实测不支持这个说法。
主线是：CNN 用 1/9 的参数拿到同样的准确率，
而且更抗平移；但为「抗平移」付的钱，
会直接从干净测试集的分数里扣。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复习与导入 10 min
新课讲授 80 min
随堂实验 80 min
小结与作业 10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卷积：从全连接到权值共享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Convolution: weight sharing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为什么图像不能直接铺平 · 参数量对比 17,226 → 1,898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形状的算术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Stride · padding · pooling · receptive field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输出尺寸公式 + 实测校验 · 感受野 3 → 4 → 8 → 10 · 池化的选择值 4.1 个点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训练起来：曲线、增强与代价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Curves, augmentation, robustness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5 个架构的 5 种子总表 · 平移鲁棒性实测 · 增强的账本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看它错在哪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Confusion matrix and misclassification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1350 个测试样本的混淆矩阵 · 最差类对 · 把错分的数字本身画出来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显存与绿色计算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Batch size · gradient accumulation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batch → 峰值内存实测 · 梯度累积的三种权重 · 算力是有限资源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卷积：从全连接到权值共享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From dense layers to weight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把 8×8 的图铺平成 64 维向量，喂给全连接层——这在大图上会立刻崩掉。
卷积做的不是「更聪明的分类器」，而是**对参数的数量动手**。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局部连接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一个输出只看一小块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权值共享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同一个核滑过全图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参数可控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参数量与图宽无关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为什么不能直接把图像铺平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三个理由，每一个都能用本周的实验数字验证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Week 7 · 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32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① 参数会爆炸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17,226 vs 1,898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同一份 digits 数据上，全连接网 17,226 个参数，两层卷积只要 1,898 个。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这不是「省一点」，是差 9 倍。真实图像的输入维度是它的 1000 倍以上。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432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② 铺平会丢掉空间结构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邻居关系被销毁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铺平之后，8×8 里相邻的两个像素和隔着整行的两个像素，在全连接层眼里没有区别。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卷积层保留了这个结构——这正是它能共享权重的前提。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432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③ 平移不该是「新样本」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同一手写数字右移 1 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全连接网必须为每个位置单独学一遍。实测：把它右移 1 列，准确率从 0.9785 掉到 0.5089。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卷积把「同一个模式出现在哪里」这件事，写进了结构里。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卷积：一次滑动的点积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3×3 的核每落一次，就产生一个输出数字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KT13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1385999"/>
            <a:ext cx="3528000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输入 6×6（灰阶 0–9）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200" y="2088000"/>
            <a:ext cx="3528000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卷积核 3×3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1200" y="1385999"/>
            <a:ext cx="3528000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输出 4×4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200" y="1722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7200" y="1722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7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5200" y="1722599"/>
            <a:ext cx="468000" cy="468000"/>
          </a:xfrm>
          <a:prstGeom prst="rect">
            <a:avLst/>
          </a:prstGeom>
          <a:solidFill>
            <a:srgbClr val="38414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5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03200" y="1722599"/>
            <a:ext cx="468000" cy="468000"/>
          </a:xfrm>
          <a:prstGeom prst="rect">
            <a:avLst/>
          </a:prstGeom>
          <a:solidFill>
            <a:srgbClr val="38414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3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1200" y="1722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1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9200" y="1722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9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2190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7200" y="2190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7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5200" y="2190599"/>
            <a:ext cx="468000" cy="468000"/>
          </a:xfrm>
          <a:prstGeom prst="rect">
            <a:avLst/>
          </a:prstGeom>
          <a:solidFill>
            <a:srgbClr val="1F293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5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03200" y="2190599"/>
            <a:ext cx="468000" cy="468000"/>
          </a:xfrm>
          <a:prstGeom prst="rect">
            <a:avLst/>
          </a:prstGeom>
          <a:solidFill>
            <a:srgbClr val="1F293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03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71200" y="2190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1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39200" y="2190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9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9200" y="2658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9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67200" y="2658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67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5200" y="2658599"/>
            <a:ext cx="468000" cy="468000"/>
          </a:xfrm>
          <a:prstGeom prst="rect">
            <a:avLst/>
          </a:prstGeom>
          <a:solidFill>
            <a:srgbClr val="38414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35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03200" y="2658599"/>
            <a:ext cx="468000" cy="468000"/>
          </a:xfrm>
          <a:prstGeom prst="rect">
            <a:avLst/>
          </a:prstGeom>
          <a:solidFill>
            <a:srgbClr val="38414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03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71200" y="2658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71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39200" y="2658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39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9200" y="3126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9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67200" y="3126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67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35200" y="3126599"/>
            <a:ext cx="468000" cy="468000"/>
          </a:xfrm>
          <a:prstGeom prst="rect">
            <a:avLst/>
          </a:prstGeom>
          <a:solidFill>
            <a:srgbClr val="1F293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35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03200" y="3126599"/>
            <a:ext cx="468000" cy="468000"/>
          </a:xfrm>
          <a:prstGeom prst="rect">
            <a:avLst/>
          </a:prstGeom>
          <a:solidFill>
            <a:srgbClr val="1F293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03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71200" y="3126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71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39200" y="3126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39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9200" y="3594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9200" y="3594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67200" y="3594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67200" y="3594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35200" y="3594599"/>
            <a:ext cx="468000" cy="468000"/>
          </a:xfrm>
          <a:prstGeom prst="rect">
            <a:avLst/>
          </a:prstGeom>
          <a:solidFill>
            <a:srgbClr val="38414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35200" y="3594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03200" y="3594599"/>
            <a:ext cx="468000" cy="468000"/>
          </a:xfrm>
          <a:prstGeom prst="rect">
            <a:avLst/>
          </a:prstGeom>
          <a:solidFill>
            <a:srgbClr val="38414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03200" y="3594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71200" y="3594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71200" y="3594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39200" y="3594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39200" y="3594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9200" y="4062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9200" y="406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67200" y="4062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67200" y="406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35200" y="4062599"/>
            <a:ext cx="468000" cy="468000"/>
          </a:xfrm>
          <a:prstGeom prst="rect">
            <a:avLst/>
          </a:prstGeom>
          <a:solidFill>
            <a:srgbClr val="1F293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735200" y="406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03200" y="4062599"/>
            <a:ext cx="468000" cy="468000"/>
          </a:xfrm>
          <a:prstGeom prst="rect">
            <a:avLst/>
          </a:prstGeom>
          <a:solidFill>
            <a:srgbClr val="1F293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03200" y="406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71200" y="4062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71200" y="406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39200" y="4062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39200" y="406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67200" y="2190599"/>
            <a:ext cx="1404000" cy="1404000"/>
          </a:xfrm>
          <a:prstGeom prst="rect">
            <a:avLst/>
          </a:prstGeom>
          <a:noFill/>
          <a:ln w="34925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1735200" y="2190599"/>
            <a:ext cx="1404000" cy="0"/>
          </a:xfrm>
          <a:prstGeom prst="line">
            <a:avLst/>
          </a:prstGeom>
          <a:ln w="22225">
            <a:solidFill>
              <a:srgbClr val="3D7B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139200" y="2190599"/>
            <a:ext cx="0" cy="1404000"/>
          </a:xfrm>
          <a:prstGeom prst="line">
            <a:avLst/>
          </a:prstGeom>
          <a:ln w="22225">
            <a:solidFill>
              <a:srgbClr val="3D7B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735200" y="3594599"/>
            <a:ext cx="1404000" cy="0"/>
          </a:xfrm>
          <a:prstGeom prst="line">
            <a:avLst/>
          </a:prstGeom>
          <a:ln w="22225">
            <a:solidFill>
              <a:srgbClr val="3D7B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735200" y="2190599"/>
            <a:ext cx="0" cy="1404000"/>
          </a:xfrm>
          <a:prstGeom prst="line">
            <a:avLst/>
          </a:prstGeom>
          <a:ln w="22225">
            <a:solidFill>
              <a:srgbClr val="3D7B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679200" y="2892599"/>
            <a:ext cx="576000" cy="0"/>
          </a:xfrm>
          <a:prstGeom prst="line">
            <a:avLst/>
          </a:prstGeom>
          <a:ln w="19050">
            <a:solidFill>
              <a:srgbClr val="3D7B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Isosceles Triangle 90"/>
          <p:cNvSpPr/>
          <p:nvPr/>
        </p:nvSpPr>
        <p:spPr>
          <a:xfrm rot="5400000">
            <a:off x="4215600" y="2816999"/>
            <a:ext cx="151200" cy="151200"/>
          </a:xfrm>
          <a:prstGeom prst="triangle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81200" y="2424599"/>
            <a:ext cx="468000" cy="468000"/>
          </a:xfrm>
          <a:prstGeom prst="rect">
            <a:avLst/>
          </a:prstGeom>
          <a:solidFill>
            <a:srgbClr val="D9770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81200" y="2424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849200" y="2424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49200" y="2424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17200" y="2424599"/>
            <a:ext cx="468000" cy="468000"/>
          </a:xfrm>
          <a:prstGeom prst="rect">
            <a:avLst/>
          </a:prstGeom>
          <a:solidFill>
            <a:srgbClr val="D9770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17200" y="2424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81200" y="2892599"/>
            <a:ext cx="468000" cy="468000"/>
          </a:xfrm>
          <a:prstGeom prst="rect">
            <a:avLst/>
          </a:prstGeom>
          <a:solidFill>
            <a:srgbClr val="D9770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81200" y="289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849200" y="2892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49200" y="289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17200" y="2892599"/>
            <a:ext cx="468000" cy="468000"/>
          </a:xfrm>
          <a:prstGeom prst="rect">
            <a:avLst/>
          </a:prstGeom>
          <a:solidFill>
            <a:srgbClr val="D9770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17200" y="289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81200" y="3360599"/>
            <a:ext cx="468000" cy="468000"/>
          </a:xfrm>
          <a:prstGeom prst="rect">
            <a:avLst/>
          </a:prstGeom>
          <a:solidFill>
            <a:srgbClr val="D9770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381200" y="336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849200" y="3360599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849200" y="336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17200" y="3360599"/>
            <a:ext cx="468000" cy="468000"/>
          </a:xfrm>
          <a:prstGeom prst="rect">
            <a:avLst/>
          </a:prstGeom>
          <a:solidFill>
            <a:srgbClr val="D9770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17200" y="336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81200" y="3936599"/>
            <a:ext cx="255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竖直边缘检测核：左加右减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5857200" y="3126599"/>
            <a:ext cx="522000" cy="0"/>
          </a:xfrm>
          <a:prstGeom prst="line">
            <a:avLst/>
          </a:prstGeom>
          <a:ln w="19050">
            <a:solidFill>
              <a:srgbClr val="3D7B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Isosceles Triangle 111"/>
          <p:cNvSpPr/>
          <p:nvPr/>
        </p:nvSpPr>
        <p:spPr>
          <a:xfrm rot="5400000">
            <a:off x="6339600" y="3050999"/>
            <a:ext cx="151200" cy="151200"/>
          </a:xfrm>
          <a:prstGeom prst="triangle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541200" y="1722599"/>
            <a:ext cx="468000" cy="468000"/>
          </a:xfrm>
          <a:prstGeom prst="rect">
            <a:avLst/>
          </a:prstGeom>
          <a:solidFill>
            <a:srgbClr val="E1953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41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-25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09200" y="1722599"/>
            <a:ext cx="468000" cy="468000"/>
          </a:xfrm>
          <a:prstGeom prst="rect">
            <a:avLst/>
          </a:prstGeom>
          <a:solidFill>
            <a:srgbClr val="E1953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009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-25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477200" y="1722599"/>
            <a:ext cx="468000" cy="468000"/>
          </a:xfrm>
          <a:prstGeom prst="rect">
            <a:avLst/>
          </a:prstGeom>
          <a:solidFill>
            <a:srgbClr val="E1953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77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+25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945200" y="1722599"/>
            <a:ext cx="468000" cy="468000"/>
          </a:xfrm>
          <a:prstGeom prst="rect">
            <a:avLst/>
          </a:prstGeom>
          <a:solidFill>
            <a:srgbClr val="E1953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45200" y="1722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+25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541200" y="2190599"/>
            <a:ext cx="468000" cy="468000"/>
          </a:xfrm>
          <a:prstGeom prst="rect">
            <a:avLst/>
          </a:prstGeom>
          <a:solidFill>
            <a:srgbClr val="E0903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541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-26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09200" y="2190599"/>
            <a:ext cx="468000" cy="468000"/>
          </a:xfrm>
          <a:prstGeom prst="rect">
            <a:avLst/>
          </a:prstGeom>
          <a:solidFill>
            <a:srgbClr val="0E3F8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09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477200" y="2190599"/>
            <a:ext cx="468000" cy="468000"/>
          </a:xfrm>
          <a:prstGeom prst="rect">
            <a:avLst/>
          </a:prstGeom>
          <a:solidFill>
            <a:srgbClr val="E0903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477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+26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945200" y="2190599"/>
            <a:ext cx="468000" cy="468000"/>
          </a:xfrm>
          <a:prstGeom prst="rect">
            <a:avLst/>
          </a:prstGeom>
          <a:solidFill>
            <a:srgbClr val="E0903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945200" y="2190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+26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541200" y="2658599"/>
            <a:ext cx="468000" cy="468000"/>
          </a:xfrm>
          <a:prstGeom prst="rect">
            <a:avLst/>
          </a:prstGeom>
          <a:solidFill>
            <a:srgbClr val="E1953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541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-25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009200" y="2658599"/>
            <a:ext cx="468000" cy="468000"/>
          </a:xfrm>
          <a:prstGeom prst="rect">
            <a:avLst/>
          </a:prstGeom>
          <a:solidFill>
            <a:srgbClr val="E1953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009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-25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477200" y="2658599"/>
            <a:ext cx="468000" cy="468000"/>
          </a:xfrm>
          <a:prstGeom prst="rect">
            <a:avLst/>
          </a:prstGeom>
          <a:solidFill>
            <a:srgbClr val="E1953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477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+25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945200" y="2658599"/>
            <a:ext cx="468000" cy="468000"/>
          </a:xfrm>
          <a:prstGeom prst="rect">
            <a:avLst/>
          </a:prstGeom>
          <a:solidFill>
            <a:srgbClr val="E1953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945200" y="2658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+25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41200" y="3126599"/>
            <a:ext cx="468000" cy="468000"/>
          </a:xfrm>
          <a:prstGeom prst="rect">
            <a:avLst/>
          </a:prstGeom>
          <a:solidFill>
            <a:srgbClr val="E0903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541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-26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009200" y="3126599"/>
            <a:ext cx="468000" cy="468000"/>
          </a:xfrm>
          <a:prstGeom prst="rect">
            <a:avLst/>
          </a:prstGeom>
          <a:solidFill>
            <a:srgbClr val="E0903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009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-26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477200" y="3126599"/>
            <a:ext cx="468000" cy="468000"/>
          </a:xfrm>
          <a:prstGeom prst="rect">
            <a:avLst/>
          </a:prstGeom>
          <a:solidFill>
            <a:srgbClr val="E0903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477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+26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45200" y="3126599"/>
            <a:ext cx="468000" cy="468000"/>
          </a:xfrm>
          <a:prstGeom prst="rect">
            <a:avLst/>
          </a:prstGeom>
          <a:solidFill>
            <a:srgbClr val="E0903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945200" y="3126599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Source Han Sans SC"/>
              </a:rPr>
              <a:t>+26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009200" y="2190599"/>
            <a:ext cx="468000" cy="468000"/>
          </a:xfrm>
          <a:prstGeom prst="rect">
            <a:avLst/>
          </a:prstGeom>
          <a:noFill/>
          <a:ln w="34925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99200" y="4788000"/>
            <a:ext cx="10593719" cy="917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15200" y="4924800"/>
            <a:ext cx="3960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 i="0">
                <a:solidFill>
                  <a:srgbClr val="E2E8F0"/>
                </a:solidFill>
                <a:latin typeface="Menlo"/>
              </a:rPr>
              <a:t>+1x0 +0x9 -1x9
+1x0 +0x8 -1x8
+1x0 +0x9 -1x9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23200" y="4924800"/>
            <a:ext cx="1800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93C5FD"/>
                </a:solidFill>
                <a:latin typeface="Menlo"/>
              </a:rPr>
              <a:t>= -26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803200" y="4939200"/>
            <a:ext cx="53737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2E8F0"/>
                </a:solidFill>
                <a:latin typeface="Source Han Sans SC"/>
              </a:rPr>
              <a:t>高亮窗口逐元素相乘再求和，就是右边那个数字。虚框是核下一步要落的位置。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卷积就是一次滑动点积——先把这句话写成代码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手写实现不是让你以后都手写，是为了让「特征图」「步长」「填充」这三个词有具体含义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KT13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① 朴素实现：一个 3×3 核滑过 8×8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def conv2d_naive(img, kernel, stride=1, pad=0):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# img: (H, W)   kernel: (kh, kw)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H, W = img.shape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kh, kw = kernel.shape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if pad: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img = F.pad(img, (pad,) * 4)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H, W = H + 2 * pad, W + 2 * pad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oh = (H - kh) // stride + 1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ow = (W - kw) // stride + 1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out = torch.zeros(oh, ow)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for i in range(oh):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for j in range(ow):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patch = img[i*stride : i*stride+kh,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    j*stride : j*stride+kw]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out[i, j] = (patch * kernel).sum()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return 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② 与 nn.Conv2d 对齐（断言，不是相信）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torch.manual_seed(0)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img    = torch.randn(8, 8)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kernel = torch.randn(3, 3)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mine = conv2d_naive(img, kernel, stride=1, pad=1)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conv = nn.Conv2d(1, 1, 3, stride=1, padding=1,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bias=False)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conv.weight.data = kernel.view(1, 1, 3, 3)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ref = conv(img.view(1, 1, 8, 8))[0, 0]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assert mine.shape == ref.shape == (8, 8)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assert torch.allclose(mine, ref, atol=1e-5)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print('hand-written == nn.Conv2d')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感受野：这一层的每个输出看了输入多少像素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3x3 核 -&gt; 3；再叠一层 3x3 -&gt; 5；再加池化 -&gt; 更长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41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跑通这一页你就知道了：所谓「卷积」的全部算术，就是「取一块、逐元素相乘、求和」重复若干次。剩下的都是工程。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参数量：逐层对账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同一份 digits 8×8 数据，同一个切分。参数量由代码数出来，不是估算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实测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331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2160000"/>
                <a:gridCol w="2664000"/>
                <a:gridCol w="3024000"/>
              </a:tblGrid>
              <a:tr h="41399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形状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参数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累计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1×8×8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全连接 64→128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64→128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8,320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8,320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全连接 128→64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128→64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16,576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全连接 64→10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64→10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650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17,226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卷积 1→8，3×3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8×8×8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卷积 8→16，3×3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16×4×4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1,168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1,248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全连接 64→10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64→10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1,898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608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上半是本周对照用的全连接网，下半是两层卷积加一个线性头。17,226 → 1,898，少 9 倍；而两者的测试准确率是 0.979 与 0.981——差 0.002，不到一个标准差（0.008）。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权值共享买到了什么，又付出了什么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KT13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买到的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参数量与图像宽度**无关**——同一个 3×3 核滑过 8×8 和 1024×1024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「同一个模式在任何位置」被写进结构，而不是靠数据学出来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实测：平移一列，卷积网 0.6481，全连接 0.4555（+19 个点）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付出的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局部性是**假设**，不是真理。如果你的模式是全局的（比如「整张图的亮度分布」），这个假设就是错的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感受野是有限的——最后一层卷积只看得到 8×8 的输入（正好整图），但真实模型需要很多层才能看全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池化会丢位置信息，而有些任务恰恰要位置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一句话记法：卷积不是「更强的层」，是「一个关于数据结构的假设换来的参数效率」。假设错了，它比全连接更差。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形状的算术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Stride, padding, pooling, receptive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形状错误是深度学习里最常见的报错，也是最容易一次学会的。
下面每一条公式，都在真实张量上验算过。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输出尺寸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(H+2p−k)/s+1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感受野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3 → 4 → 8 →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池化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选择值 4.1 个点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输出尺寸公式，与真实张量逐项核对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四条公式全部与模型真实前向的形状一致（脚本里的断言，不是我说的一致）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KT13 · 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① 公式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out_size(size, k, s, p):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return (size + 2 * p - k) // s + 1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常用取值速查（输入 8x8）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 k=3, s=1, p=1  -&gt;  8   尺寸不变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 k=3, s=1, p=0  -&gt;  6   每层小 2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 k=2, s=2, p=0  -&gt;  4   池化：减半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 k=3, s=2, p=1  -&gt;  4   下采样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 k=1, s=1, p=0  -&gt;  8   1x1 卷积：只换通道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k, s, p = 3, 1, 1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print(out_size(8, k, s, p))     #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② 与真实前向对照（脚本实际跑的）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stages = [('conv',3,1,1), ('pool',2,2,0),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('conv',3,1,1), ('pool',2,2,0)]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size = 8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for kind, k, s, p in stages: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size = out_size(size, k, s, p)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print(kind, '-&gt;', size)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conv -&gt; 8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pool -&gt; 4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conv -&gt; 4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pool -&gt; 2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实测（脚本断言）：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conv  formula 8  forward 8   OK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pool  formula 4  forward 4   OK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conv  formula 4  forward 4   OK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pool  formula 2  forward 2   OK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flatten = 16 * 2 * 2 = 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41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报「shape mismatch」时先算这一页，不要先改代码。90% 的形状错误在这一页就能定位。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感受野：一张 8×8 的图，两层就看完了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三个格子都是同一张 8×8 输入；阴影是那一层「一格的输出」能看见的区域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KT13 · 关键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059" y="1404000"/>
            <a:ext cx="3311999" cy="3651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卷积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059" y="1718774"/>
            <a:ext cx="3311999" cy="3175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k=3, s=1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8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08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68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28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88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8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68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8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68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28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88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8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68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8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08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68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28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88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8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08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68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8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08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68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28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88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8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08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68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8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08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68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28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88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8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08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68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8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308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68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028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88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8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08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68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8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308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68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28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388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8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108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68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48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08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68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028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388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748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08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68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028059" y="3256724"/>
            <a:ext cx="1080000" cy="1080000"/>
          </a:xfrm>
          <a:prstGeom prst="rect">
            <a:avLst/>
          </a:prstGeom>
          <a:solidFill>
            <a:srgbClr val="E2E8F4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88059" y="3616724"/>
            <a:ext cx="360000" cy="360000"/>
          </a:xfrm>
          <a:prstGeom prst="rect">
            <a:avLst/>
          </a:prstGeom>
          <a:solidFill>
            <a:srgbClr val="0E3F8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3885659" y="3616724"/>
            <a:ext cx="626401" cy="0"/>
          </a:xfrm>
          <a:prstGeom prst="line">
            <a:avLst/>
          </a:prstGeom>
          <a:ln w="2032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 rot="5400000">
            <a:off x="4472460" y="3541124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40060" y="1404000"/>
            <a:ext cx="3311999" cy="3651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最大池化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40060" y="1718774"/>
            <a:ext cx="3311999" cy="3175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k=2, s=2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56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16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376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736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096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56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816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176059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656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016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376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736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096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56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816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176059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56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16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376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36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096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56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16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76059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656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16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376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736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096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56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816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176059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56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016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376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736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096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56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816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176059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656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016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376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736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096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456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816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176059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656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016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376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736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096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456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816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176059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56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16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376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736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096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456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816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176059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736059" y="3256724"/>
            <a:ext cx="1440000" cy="1440000"/>
          </a:xfrm>
          <a:prstGeom prst="rect">
            <a:avLst/>
          </a:prstGeom>
          <a:solidFill>
            <a:srgbClr val="E2E8F4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096059" y="3616724"/>
            <a:ext cx="360000" cy="360000"/>
          </a:xfrm>
          <a:prstGeom prst="rect">
            <a:avLst/>
          </a:prstGeom>
          <a:solidFill>
            <a:srgbClr val="0E3F8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7593660" y="3616724"/>
            <a:ext cx="626400" cy="0"/>
          </a:xfrm>
          <a:prstGeom prst="line">
            <a:avLst/>
          </a:prstGeom>
          <a:ln w="2032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Isosceles Triangle 148"/>
          <p:cNvSpPr/>
          <p:nvPr/>
        </p:nvSpPr>
        <p:spPr>
          <a:xfrm rot="5400000">
            <a:off x="8180459" y="3541124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148059" y="1404000"/>
            <a:ext cx="3311999" cy="3651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卷积 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148059" y="1718774"/>
            <a:ext cx="3311999" cy="3175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k=3, s=1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364060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724060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084060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444060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804060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164060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524060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884060" y="21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364060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724060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084060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444060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804060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164060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524060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0884060" y="25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364060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724060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84060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444060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804060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164060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524060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884060" y="28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364060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724060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84060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444060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804060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164060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524060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884060" y="325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64060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724060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084060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444060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804060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0164060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524060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884060" y="361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364060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724060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084060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444060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804060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164060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524060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884060" y="397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364060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724060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084060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444060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804060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164060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524060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884060" y="433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364060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724060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084060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444060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804060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0164060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524060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884060" y="4696724"/>
            <a:ext cx="36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364060" y="2176724"/>
            <a:ext cx="2880000" cy="2880000"/>
          </a:xfrm>
          <a:prstGeom prst="rect">
            <a:avLst/>
          </a:prstGeom>
          <a:solidFill>
            <a:srgbClr val="E2E8F4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804060" y="3616724"/>
            <a:ext cx="360000" cy="360000"/>
          </a:xfrm>
          <a:prstGeom prst="rect">
            <a:avLst/>
          </a:prstGeom>
          <a:solidFill>
            <a:srgbClr val="0E3F8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32059" y="5279924"/>
            <a:ext cx="331199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E4FA8"/>
                </a:solidFill>
                <a:latin typeface="Source Han Sans SC"/>
              </a:rPr>
              <a:t>一格看到 3×3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440060" y="5279924"/>
            <a:ext cx="331199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059669"/>
                </a:solidFill>
                <a:latin typeface="Source Han Sans SC"/>
              </a:rPr>
              <a:t>4×4 —— 步长 2 把 jump 翻倍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148059" y="5279924"/>
            <a:ext cx="331199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91C1C"/>
                </a:solidFill>
                <a:latin typeface="Source Han Sans SC"/>
              </a:rPr>
              <a:t>8×8 —— 整张图，到此为止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感受野：每一层的输出，到底看了输入多少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RF 按 rf = rf + (k−1)×jump 递推，jump 每层乘 stride；特征图尺寸由上一页的公式给出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KT13 · 关键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24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1224000"/>
                <a:gridCol w="1224000"/>
                <a:gridCol w="2160000"/>
                <a:gridCol w="2304000"/>
                <a:gridCol w="1800000"/>
              </a:tblGrid>
              <a:tr h="41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阶段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k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特征图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感受野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jump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8×8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卷积 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8×8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最大池化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4×4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卷积 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4×4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**8**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最大池化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780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**关键一行是「卷积 2」：感受野 8，正好等于整张图。** 换句话说，在本周这个 8×8 的数据上，第二层卷积已经能看到全图——网络不可能再靠「多叠卷积」获得更多平移不变性。这不是模型不好，是数据太小。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池化：四个数变成一个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同一个 4×4 输入、同一个 2×2 不重叠窗口，只有规则不同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KT13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1396800"/>
            <a:ext cx="5382000" cy="374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最大池化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" y="1721099"/>
            <a:ext cx="5382000" cy="3175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取四个里最大的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200" y="2211449"/>
            <a:ext cx="72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200" y="221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19200" y="2211449"/>
            <a:ext cx="720000" cy="720000"/>
          </a:xfrm>
          <a:prstGeom prst="rect">
            <a:avLst/>
          </a:prstGeom>
          <a:solidFill>
            <a:srgbClr val="F0F1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19200" y="221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39200" y="2211449"/>
            <a:ext cx="720000" cy="720000"/>
          </a:xfrm>
          <a:prstGeom prst="rect">
            <a:avLst/>
          </a:prstGeom>
          <a:solidFill>
            <a:srgbClr val="C3C6C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39200" y="221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59200" y="2211449"/>
            <a:ext cx="720000" cy="720000"/>
          </a:xfrm>
          <a:prstGeom prst="rect">
            <a:avLst/>
          </a:prstGeom>
          <a:solidFill>
            <a:srgbClr val="B4B8B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9200" y="221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2931449"/>
            <a:ext cx="720000" cy="720000"/>
          </a:xfrm>
          <a:prstGeom prst="rect">
            <a:avLst/>
          </a:prstGeom>
          <a:solidFill>
            <a:srgbClr val="E1E2E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19200" y="2931449"/>
            <a:ext cx="720000" cy="720000"/>
          </a:xfrm>
          <a:prstGeom prst="rect">
            <a:avLst/>
          </a:prstGeom>
          <a:solidFill>
            <a:srgbClr val="D2D4D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19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39200" y="2931449"/>
            <a:ext cx="720000" cy="720000"/>
          </a:xfrm>
          <a:prstGeom prst="rect">
            <a:avLst/>
          </a:prstGeom>
          <a:solidFill>
            <a:srgbClr val="A5A9A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39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59200" y="2931449"/>
            <a:ext cx="720000" cy="720000"/>
          </a:xfrm>
          <a:prstGeom prst="rect">
            <a:avLst/>
          </a:prstGeom>
          <a:solidFill>
            <a:srgbClr val="969BA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59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200" y="3651449"/>
            <a:ext cx="720000" cy="720000"/>
          </a:xfrm>
          <a:prstGeom prst="rect">
            <a:avLst/>
          </a:prstGeom>
          <a:solidFill>
            <a:srgbClr val="888D9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19200" y="3651449"/>
            <a:ext cx="720000" cy="720000"/>
          </a:xfrm>
          <a:prstGeom prst="rect">
            <a:avLst/>
          </a:prstGeom>
          <a:solidFill>
            <a:srgbClr val="797F8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19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39200" y="3651449"/>
            <a:ext cx="720000" cy="720000"/>
          </a:xfrm>
          <a:prstGeom prst="rect">
            <a:avLst/>
          </a:prstGeom>
          <a:solidFill>
            <a:srgbClr val="4C545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39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59200" y="3651449"/>
            <a:ext cx="720000" cy="720000"/>
          </a:xfrm>
          <a:prstGeom prst="rect">
            <a:avLst/>
          </a:prstGeom>
          <a:solidFill>
            <a:srgbClr val="3D465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59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9200" y="4371449"/>
            <a:ext cx="720000" cy="720000"/>
          </a:xfrm>
          <a:prstGeom prst="rect">
            <a:avLst/>
          </a:prstGeom>
          <a:solidFill>
            <a:srgbClr val="6A707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9200" y="437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19200" y="4371449"/>
            <a:ext cx="720000" cy="720000"/>
          </a:xfrm>
          <a:prstGeom prst="rect">
            <a:avLst/>
          </a:prstGeom>
          <a:solidFill>
            <a:srgbClr val="5B626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9200" y="437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39200" y="4371449"/>
            <a:ext cx="720000" cy="720000"/>
          </a:xfrm>
          <a:prstGeom prst="rect">
            <a:avLst/>
          </a:prstGeom>
          <a:solidFill>
            <a:srgbClr val="2E374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39200" y="437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9200" y="4371449"/>
            <a:ext cx="720000" cy="720000"/>
          </a:xfrm>
          <a:prstGeom prst="rect">
            <a:avLst/>
          </a:prstGeom>
          <a:solidFill>
            <a:srgbClr val="1F293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59200" y="437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9200" y="2211449"/>
            <a:ext cx="1440000" cy="1440000"/>
          </a:xfrm>
          <a:prstGeom prst="rect">
            <a:avLst/>
          </a:prstGeom>
          <a:noFill/>
          <a:ln w="34925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39200" y="3651449"/>
            <a:ext cx="1440000" cy="1440000"/>
          </a:xfrm>
          <a:prstGeom prst="rect">
            <a:avLst/>
          </a:prstGeom>
          <a:noFill/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769200" y="3651449"/>
            <a:ext cx="792000" cy="0"/>
          </a:xfrm>
          <a:prstGeom prst="line">
            <a:avLst/>
          </a:prstGeom>
          <a:ln w="25400">
            <a:solidFill>
              <a:srgbClr val="3D7B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4521600" y="3575849"/>
            <a:ext cx="151200" cy="151200"/>
          </a:xfrm>
          <a:prstGeom prst="triangle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41200" y="2931449"/>
            <a:ext cx="720000" cy="720000"/>
          </a:xfrm>
          <a:prstGeom prst="rect">
            <a:avLst/>
          </a:prstGeom>
          <a:solidFill>
            <a:srgbClr val="0E3F8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41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61200" y="2931449"/>
            <a:ext cx="720000" cy="720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61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59669"/>
                </a:solidFill>
                <a:latin typeface="Source Han Sans SC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41200" y="3651449"/>
            <a:ext cx="720000" cy="720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41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59669"/>
                </a:solidFill>
                <a:latin typeface="Source Han Sans SC"/>
              </a:rPr>
              <a:t>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1200" y="3651449"/>
            <a:ext cx="720000" cy="720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61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59669"/>
                </a:solidFill>
                <a:latin typeface="Source Han Sans SC"/>
              </a:rPr>
              <a:t>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41200" y="2931449"/>
            <a:ext cx="720000" cy="720000"/>
          </a:xfrm>
          <a:prstGeom prst="rect">
            <a:avLst/>
          </a:prstGeom>
          <a:noFill/>
          <a:ln w="34925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9200" y="5253449"/>
            <a:ext cx="538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保留最强的响应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37200" y="1396800"/>
            <a:ext cx="5382000" cy="374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平均池化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37200" y="1721099"/>
            <a:ext cx="5382000" cy="3175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取四个的平均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37200" y="2211449"/>
            <a:ext cx="72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37200" y="221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57200" y="2211449"/>
            <a:ext cx="720000" cy="720000"/>
          </a:xfrm>
          <a:prstGeom prst="rect">
            <a:avLst/>
          </a:prstGeom>
          <a:solidFill>
            <a:srgbClr val="F0F1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57200" y="221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77200" y="2211449"/>
            <a:ext cx="720000" cy="720000"/>
          </a:xfrm>
          <a:prstGeom prst="rect">
            <a:avLst/>
          </a:prstGeom>
          <a:solidFill>
            <a:srgbClr val="C3C6C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77200" y="221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97200" y="2211449"/>
            <a:ext cx="720000" cy="720000"/>
          </a:xfrm>
          <a:prstGeom prst="rect">
            <a:avLst/>
          </a:prstGeom>
          <a:solidFill>
            <a:srgbClr val="B4B8B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97200" y="221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37200" y="2931449"/>
            <a:ext cx="720000" cy="720000"/>
          </a:xfrm>
          <a:prstGeom prst="rect">
            <a:avLst/>
          </a:prstGeom>
          <a:solidFill>
            <a:srgbClr val="E1E2E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37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57200" y="2931449"/>
            <a:ext cx="720000" cy="720000"/>
          </a:xfrm>
          <a:prstGeom prst="rect">
            <a:avLst/>
          </a:prstGeom>
          <a:solidFill>
            <a:srgbClr val="D2D4D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57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77200" y="2931449"/>
            <a:ext cx="720000" cy="720000"/>
          </a:xfrm>
          <a:prstGeom prst="rect">
            <a:avLst/>
          </a:prstGeom>
          <a:solidFill>
            <a:srgbClr val="A5A9A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77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97200" y="2931449"/>
            <a:ext cx="720000" cy="720000"/>
          </a:xfrm>
          <a:prstGeom prst="rect">
            <a:avLst/>
          </a:prstGeom>
          <a:solidFill>
            <a:srgbClr val="969BA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7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37200" y="3651449"/>
            <a:ext cx="720000" cy="720000"/>
          </a:xfrm>
          <a:prstGeom prst="rect">
            <a:avLst/>
          </a:prstGeom>
          <a:solidFill>
            <a:srgbClr val="888D9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37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57200" y="3651449"/>
            <a:ext cx="720000" cy="720000"/>
          </a:xfrm>
          <a:prstGeom prst="rect">
            <a:avLst/>
          </a:prstGeom>
          <a:solidFill>
            <a:srgbClr val="797F8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57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77200" y="3651449"/>
            <a:ext cx="720000" cy="720000"/>
          </a:xfrm>
          <a:prstGeom prst="rect">
            <a:avLst/>
          </a:prstGeom>
          <a:solidFill>
            <a:srgbClr val="4C545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77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97200" y="3651449"/>
            <a:ext cx="720000" cy="720000"/>
          </a:xfrm>
          <a:prstGeom prst="rect">
            <a:avLst/>
          </a:prstGeom>
          <a:solidFill>
            <a:srgbClr val="3D465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97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37200" y="4371449"/>
            <a:ext cx="720000" cy="720000"/>
          </a:xfrm>
          <a:prstGeom prst="rect">
            <a:avLst/>
          </a:prstGeom>
          <a:solidFill>
            <a:srgbClr val="6A707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37200" y="437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57200" y="4371449"/>
            <a:ext cx="720000" cy="720000"/>
          </a:xfrm>
          <a:prstGeom prst="rect">
            <a:avLst/>
          </a:prstGeom>
          <a:solidFill>
            <a:srgbClr val="5B626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57200" y="437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77200" y="4371449"/>
            <a:ext cx="720000" cy="720000"/>
          </a:xfrm>
          <a:prstGeom prst="rect">
            <a:avLst/>
          </a:prstGeom>
          <a:solidFill>
            <a:srgbClr val="2E374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77200" y="437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97200" y="4371449"/>
            <a:ext cx="720000" cy="720000"/>
          </a:xfrm>
          <a:prstGeom prst="rect">
            <a:avLst/>
          </a:prstGeom>
          <a:solidFill>
            <a:srgbClr val="1F293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97200" y="437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ource Han Sans SC"/>
              </a:rPr>
              <a:t>16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907200" y="3651449"/>
            <a:ext cx="792000" cy="0"/>
          </a:xfrm>
          <a:prstGeom prst="line">
            <a:avLst/>
          </a:prstGeom>
          <a:ln w="25400">
            <a:solidFill>
              <a:srgbClr val="3D7B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Isosceles Triangle 92"/>
          <p:cNvSpPr/>
          <p:nvPr/>
        </p:nvSpPr>
        <p:spPr>
          <a:xfrm rot="5400000">
            <a:off x="10659599" y="3575849"/>
            <a:ext cx="151200" cy="151200"/>
          </a:xfrm>
          <a:prstGeom prst="triangle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879200" y="2931449"/>
            <a:ext cx="720000" cy="720000"/>
          </a:xfrm>
          <a:prstGeom prst="rect">
            <a:avLst/>
          </a:prstGeom>
          <a:solidFill>
            <a:srgbClr val="0E3F8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879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Source Han Sans SC"/>
              </a:rPr>
              <a:t>2.5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599200" y="2931449"/>
            <a:ext cx="720000" cy="720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599200" y="293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D97706"/>
                </a:solidFill>
                <a:latin typeface="Source Han Sans SC"/>
              </a:rPr>
              <a:t>6.5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879200" y="3651449"/>
            <a:ext cx="720000" cy="720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879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D97706"/>
                </a:solidFill>
                <a:latin typeface="Source Han Sans SC"/>
              </a:rPr>
              <a:t>10.5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599200" y="3651449"/>
            <a:ext cx="720000" cy="720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599200" y="3651449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D97706"/>
                </a:solidFill>
                <a:latin typeface="Source Han Sans SC"/>
              </a:rPr>
              <a:t>14.5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879200" y="2931449"/>
            <a:ext cx="720000" cy="720000"/>
          </a:xfrm>
          <a:prstGeom prst="rect">
            <a:avLst/>
          </a:prstGeom>
          <a:noFill/>
          <a:ln w="34925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937200" y="5253449"/>
            <a:ext cx="538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把四个一起抹平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9200" y="5839200"/>
            <a:ext cx="1059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Source Han Sans SC"/>
              </a:rPr>
              <a:t>本周实测：除池化函数外两个架构逐字节相同，最大池化比平均池化高 4.1 个点——手写数字的判别信息正好落在「笔画最集中的地方」，取最大保住了它，取平均把它摊薄了。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池化在做什么——三个作用，一个代价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不是「为了降维」，是三个具体作用；而代价在最后一格里，本周实测 4.1 个点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KT13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332000"/>
            <a:ext cx="3387239" cy="41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332000"/>
            <a:ext cx="32400" cy="417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519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① 缩小特征图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92800"/>
            <a:ext cx="2940839" cy="357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8×8 → 4×4 → 2×2。后续层的算力与显存按面积下降。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这是最常被当成全部的那个作用。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332000"/>
            <a:ext cx="3387239" cy="41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332000"/>
            <a:ext cx="32400" cy="417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519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② 扩大感受野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92800"/>
            <a:ext cx="2940839" cy="357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stride 2 的池化让 jump 翻倍。没有它，叠再多 3×3 也只有 3、5、7…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看上一页：加上池化后，第二层卷积就覆盖了整张图。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679" y="1332000"/>
            <a:ext cx="3387239" cy="41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5679" y="1332000"/>
            <a:ext cx="32400" cy="4176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8879" y="1519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③ 引入小范围容忍，代价：丢位置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8879" y="1792800"/>
            <a:ext cx="2940839" cy="357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「这一片里有强响应」比「正好第 3 行第 5 列有强响应」更稳。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代价：需要「在哪里」的任务（分割、检测、关键点）必须把位置信息补回来——这是后面几周的事。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池化方式的选择，值 4.1 个点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除池化方式外，两个架构**逐字节相同**：同样的通道数、同样的核、同样的学习率与轮数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实测 · 5 种子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3999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1512000"/>
                <a:gridCol w="1584000"/>
                <a:gridCol w="1944000"/>
                <a:gridCol w="1944000"/>
                <a:gridCol w="1944000"/>
              </a:tblGrid>
              <a:tr h="41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架构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池化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参数量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训练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验证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测试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CNN 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最大池化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1,898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0.999±0.001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0.970±0.010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**0.981±0.008**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CNN 小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平均池化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1,898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0.950±0.009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0.929±0.016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**0.940±0.008**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2538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差 0.041，是 5 个标准差的 5 倍——这不是噪声。平均池化在这个任务上把「最强的那个响应」抹平了，而手写数字的判别信息恰恰在「笔画最集中的地方」。选池化函数是在选择你愿意保留什么。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训练起来：曲线、增强与代价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Curves, augmentation, and the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本周 5 个架构、每个 5 个随机种子。所有差异都写成「均值 ± 标准差」，
差异不到一个标准差就写「未观察到显著差异」。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5 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全连接 / 卷积 / 宽 / 平均池化 / 增强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5 种子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42–46，均值 ± 标准差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1 个对照问题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这个改动值不值？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验证准确率：三条曲线，同一个训练协议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曲线：seed 42 单次运行的验证准确率，每 6 轮取一点（第 1, 7, …, 115 轮）｜表中统计量为 5 个种子（42–46）的均值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seed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152000"/>
          <a:ext cx="6840000" cy="403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三条曲线在 20 轮后全部进入平台，之后翻转都是噪声。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卷积网起步更慢（第 1 轮 0.31 vs 0.70），40 轮后反超。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增强那条曲线**更低但更稳**——这不是训练失败，是它在解一个更难的问题。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五个架构的总账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zh</a:t>
            </a:r>
          </a:p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3998" cy="24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000"/>
                <a:gridCol w="1584000"/>
                <a:gridCol w="2015999"/>
                <a:gridCol w="1944000"/>
                <a:gridCol w="2015999"/>
              </a:tblGrid>
              <a:tr h="41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架构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参数量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训练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验证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测试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全连接 64-128-64-10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17,226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1.000±0.000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0.966±0.008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0.979±0.008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CNN 8/16（基准）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1,898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0.999±0.001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0.970±0.010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**0.981±0.008**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CNN 宽 16/32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21,312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0.999±0.001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0.976±0.006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0.987±0.008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CNN + 平均池化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1,898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0.950±0.009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0.929±0.016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0.940±0.008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CNN + ±1px 增强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1,898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0.954±0.012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0.939±0.017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0.950±0.022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3780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三件事：① 卷积与全连接的测试差 0.002 &lt; 一个标准差 0.008 → **写「未观察到显著差异」**，不写「卷积更好」。② 变宽（21,312 参数）确实更好，0.987，但它已经比全连接还大——你付出的是参数。③ 增强单独看是**变差**的：0.981 → 0.950。下一页解释为什么这不是失败。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把测试图平移一下，差距就出来了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测试时把整张图平移 dx 列（用 0 填充边缘），不动任何权重；每个格是 5 个种子的均值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实测 · 5 种子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152000"/>
          <a:ext cx="6840000" cy="403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dx = −1：全连接 0.4555 / 卷积 0.6481 / 增强 0.9415。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注意 dx = 0 那一列：增强只有 0.9504，是三条里**最低**的。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增强没有提升上限，它把曲线**压平**了。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增强的账本：买 +29 个点，付 −3 个点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本周最值得记住的一页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买到（鲁棒性）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dx = −1：0.6481 → **0.9415**，+29.3 个点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dx = −2：0.2348 → **0.5170**，+28.2 个点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训练曲线不再冲上 1.000（第 115 轮 0.9292），过拟合被压住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付出（干净精度）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dx = 0：0.9808 → **0.9504**，−3.0 个点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训练准确率也从 0.9912 掉到 0.9292——**代价不是噪声，是系统性的**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多花的时间：120 轮里每轮多做两次随机平移（可忽略）；真正贵的是你要重新调正则与轮数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**所以「加增强对不对」没有统一答案。** 问的是：你的模型会遇到平移过的输入吗？如果用户是拿手机拍的——会，那就买。如果输入已经被裁齐对齐——不会，那你只是在白买。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看它错在哪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Confusion matrix and misclassification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「98%」不是一个结果，是一个不完整的句子。
混淆矩阵才是把「98%」翻译成「它在哪两类之间犹豫」的那张表。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1350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个测试预测（5 种子合计）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个非对角错误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数字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最差类，召回 0.9538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混淆矩阵：5 个种子、1350 个测试预测之和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行＝真实标签，列＝模型判断。对角是正确，非对角是错误。合计 1350，正确 1324（0.9807）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CNN 8/16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94800" cy="455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/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  <a:gridCol w="946800"/>
              </a:tblGrid>
              <a:tr h="41399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真↓ 判→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3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5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7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9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**135**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**132**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**131**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**134**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**133**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**136**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**133**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**133**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**3**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**124**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Source Han Sans SC"/>
                        </a:rPr>
                        <a:t>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Source Han Sans SC"/>
                        </a:rPr>
                        <a:t>**133**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5849999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读法只有一句：**看非对角**。数字 0 是满分（135/135），数字 8 最差（124/130，召回 0.9538）。最差的类对是 8→1（3 次）、1→8 与 1→9（各 2 次）、6→8（2 次）。**全部 26 个错误里，有 12 个与数字 8 有关（46.2%）。**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把错分的那个数字本身画出来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灰度用字符表示：空格=0，@=最亮。这些是真实测试样本的像素，不是示意图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seed 42 · 5 / 270 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真 8，被判成 7（置信 0.9829）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 +@*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.#+#: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 * *.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 ++@: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.@@@=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.@-* 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%:# 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.%+ 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真类概率只有 0.0144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# 下半部分被写断，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# 上部只剩一撇——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# 人眼看也像 7。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真 6，被判成 8（置信 0.8852）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 *@#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-@*@: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.@* +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-@+  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+@@+ 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.@*@-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*@@=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   +%   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真类概率 0.0271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# 这个 6 的**下半环是闭合的**，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# 而 6 的下半环不该闭合。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# 混淆矩阵里 6→8 出现 2 次，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E2E8F0"/>
                </a:solidFill>
                <a:latin typeface="Menlo"/>
              </a:rPr>
              <a:t># 这就是那 2 次长什么样。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41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这才是「错分分析」。不是「模型还不够好」，而是「**它在一个下半环闭合的 6 上会把 8 叫出来**」——后者是一个可以修的东西（补这类样本、或者换损失权重），前者不是。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错分分析的交付标准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五条，缺一条就是「只报了一个总数」——这正是本周实验报告最常见的失分点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实验 6 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32400" cy="73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339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4112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① 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267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打印混淆矩阵，不是只打印准确率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4939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本周 0.981 的准确率底下藏着 26 个错误，其中 12 个与数字 8 有关。准确率一个字都没提。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0412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041200"/>
            <a:ext cx="32400" cy="73799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228400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3004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② 最差类对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156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点名最差的两个类，并给出次数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383200"/>
            <a:ext cx="9153719" cy="34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「8 被当成 1，3 次」比「模型在某些类上表现较差」有用一百倍。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2930399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2930399"/>
            <a:ext cx="32400" cy="73799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117599"/>
            <a:ext cx="900000" cy="32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189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③ 具体样本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0455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至少 3 个具体错分样本，附上模型概率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2723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要的是「真 8 判 7，置信 0.9829，真类概率 0.0144」这种句子——概率能区分「犹豫」和「错了还自信」。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200" y="38196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200" y="3819600"/>
            <a:ext cx="32400" cy="73799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9200" y="4006799"/>
            <a:ext cx="900000" cy="32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200" y="40788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④ 假设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39348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每条错误配一个可检验的原因假设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3200" y="41615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「这个 6 的下半环闭合」是假设，而且可以检验：找一批下半环闭合的 6，看是否都被判成 8。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9200" y="4708799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9200" y="4708799"/>
            <a:ext cx="32400" cy="737999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9200" y="4895999"/>
            <a:ext cx="900000" cy="324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9200" y="496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⑤ 下一步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482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写出「我打算试什么」和「怎么判断有没有用」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23200" y="50507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同一个切分、同一个指标、一次只改一处——这是全课程不变的那条规则。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显存与绿色计算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Batch size, gradient accumulation, finite 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显存不足（OOM）是本周最常见的实验卡点。
但「显存不够」几乎从来不是硬件问题，是 batch size 的问题。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先降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最便宜的一刀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再累积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免费换回等效 batch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最后才加显存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算力是有限资源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batch size 与峰值内存：实测的线性关系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输入用最近邻上采样到 32×32（激活体量 ×16，与真实视觉模型同量级），单次前向+反向，独立子进程测峰值 RSS；macOS 的 ru_maxrss 单位是字节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实测 · 独立子进程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152000"/>
          <a:ext cx="6840000" cy="403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基线（只导入 torch）306.5 MB。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batch 32 → 1024：增量 83.6 → 275.5 MB，3.3 倍，与 batch 同步增长。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**下降 batch 是唯一一个「不改变数学、只改变内存」的旋钮。**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梯度累积：等效 batch 可以被买回来，但要付对价钱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四种写法，除最后一步的梯度权重外完全相同。判定标准是「与真 batch 128 是否逐项一致」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实测 · 5 种子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3999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4896000"/>
                <a:gridCol w="2951999"/>
              </a:tblGrid>
              <a:tr h="41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写法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5 个种子的测试精度（42–46）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与真 batch 128 一致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真 batch 128（基准）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0.9704 / 0.9815 / 0.9778 / 0.9926 / 0.9815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— 基准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4×32，权重 = 微批大小 / 组大小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0.9704 / 0.9815 / 0.9778 / 0.9926 / 0.9815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**5 / 5 完全一致**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4×32，权重 = 1 / 累积步数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0.9704 / 0.9852 / 0.9778 / 0.9889 / 0.9815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3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4×32，权重 = 1（忘了缩放）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0.9704 / 0.9852 / 0.9741 / 0.9889 / 0.9815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 / 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366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第二行才是正确的写法：**每一微批的权重是「它占这一组样本的比例」，不是「1/累积步数」。** 两者只在「所有微批一样大」时才等价——而每个 epoch 的最后一组往往不一样大。第三行那 2/5 的不一致，就是这 2 个种子踩到了那个尾巴。至于第四行：Adam 会按梯度的二阶矩归一化，所以「整体放大 4 倍」几乎被它吃掉——用 SGD 就完全不是这样了。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OOM 的处置顺序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从上往下试。越往下，代价越大——最后两条已经不是「调参」，是换硬件或换方案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KT14 · 实验 6 必踩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32400" cy="73799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339200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4112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1 · 免费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267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先把 batch size 减半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4939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不改变任何数学，只改变内存。副作用是梯度更吵——用 2 倍步数或更高的学习率补偿。先做这个，别先怀疑硬件。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0412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041200"/>
            <a:ext cx="32400" cy="73799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228400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3004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2 · 免费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156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梯度累积：把等效 batch 买回来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383200"/>
            <a:ext cx="9153719" cy="34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实测：4×32 用对权重时与真 batch 128 **逐项一致（5/5）**。代价是时间，不是精度。见上一页第 2 行。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2930399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2930399"/>
            <a:ext cx="32400" cy="73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117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189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3 · 便宜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0455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混合精度（AMP）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2723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torch.amp.autocast + GradScaler，激活占半。注意：它改变数值，所以要重新确认指标没漂——不是免费，是便宜。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200" y="38196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200" y="3819600"/>
            <a:ext cx="32400" cy="73799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9200" y="4006799"/>
            <a:ext cx="900000" cy="32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200" y="40788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4 · 有代价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39348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梯度检查点 / 更小的输入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3200" y="41615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用时间换内存，通常慢 20–30%。缩小输入分辨率会改变任务本身——改之前想清楚你在测什么。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9200" y="4708799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9200" y="4708799"/>
            <a:ext cx="32400" cy="73799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9200" y="4895999"/>
            <a:ext cx="900000" cy="32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9200" y="496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5 · 最后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482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降模型规模，或者承认这个任务本机做不了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23200" y="50507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**加显存是最后一条，不是第一条。** 本周实测：这个 8×8 模型峰值才 390 MB——先算清楚你到底需要多少，再谈买卡。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绿色计算：算力是有限资源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同一份数据，同一个准确率，参数量差 9 倍——这句话在本周有实测支撑，不是口号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思政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29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332000"/>
            <a:ext cx="338723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332000"/>
            <a:ext cx="32400" cy="410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519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参数量就是电费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92800"/>
            <a:ext cx="2940839" cy="349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17,226 参数拿 0.979，1,898 参数拿 0.981。多出来的 15,328 个参数，在训练和推理里都要算、要传、要供电。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「用更少的成本达成目标」不是清高，是先问一句：这个规模是必要的吗？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332000"/>
            <a:ext cx="338723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332000"/>
            <a:ext cx="32400" cy="410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519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先量，再买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92800"/>
            <a:ext cx="2940839" cy="349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本周实测这个模型峰值 390 MB，batch 1024 也只要 582 MB。**它永远不会 OOM。**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在申请算力之前先把峰值量出来。大多数「我需要更大的机子」其实是「我把输入搞太大了」。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679" y="1332000"/>
            <a:ext cx="338723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5679" y="1332000"/>
            <a:ext cx="32400" cy="410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8879" y="1519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无效的优化要如实写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8879" y="1792800"/>
            <a:ext cx="2940839" cy="349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本周的增强就是例子：它让干净精度掉了 3 个点。要是只报平移实验那 29 个点，就是在选择性汇报。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AI 给的显存优化建议，实测后**有效和无效都要标注**——这就是本周的 AI 协同任务。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随堂小测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不看笔记。答不出的题，就是本周末要补的地方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4 题 · 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题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5200" y="1296000"/>
            <a:ext cx="3793859" cy="8395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8×8 输入，先用 3×3 卷积（s=1, p=1），再过 2×2 最大池化（s=2）。输出特征图多大？换成 s=2, p=0 的卷积呢？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1908000"/>
            <a:ext cx="4801859" cy="164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4×4；再做卷积就是 2×2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8×8 不变；4×4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4×4；输出还是 4×4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59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题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1059" y="1296000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本周卷积网 1,898 参数拿到 0.981，全连接 17,226 拿到 0.979。写「卷积更好」对不对？该怎么说？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59" y="1908000"/>
            <a:ext cx="4801859" cy="164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对，0.981 &gt; 0.979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差 0.002 小于一个标准差 0.008 → 未观察到显著差异，但参数量少 9 倍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要看训练时间才能判断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7200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200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题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5200" y="3986999"/>
            <a:ext cx="3793859" cy="8395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模型加了 ±1px 增强后，干净测试集掉到 0.9504，但平移 −1 时从 0.6481 升到 0.9415。这个改动「有没有用」？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200" y="4599000"/>
            <a:ext cx="4801859" cy="1646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有用，鲁棒性大涨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没用，干净精度掉了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取决于真实输入里有没有平移——这是个产品问题，不是模型问题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059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3059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3059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题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1059" y="3986999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你要跑 batch 128，但显存只放得下 32。用 4×32 梯度累积，为什么权重不能简单写 1/4？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059" y="4599000"/>
            <a:ext cx="4801859" cy="1646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每个 epoch 最后一组的微批大小不等，简单平均会有偏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因为 Adam 不收敛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其实完全等价，1/4 就行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本周小结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digits 8×8 · 70/15/15 · 训练集 n=1258 · Adam 1e-3 · batch 64 · 120 轮 · 5 个随机种子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31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卷积不是「更强的层」，是「用局部性假设换参数效率」。同一数据上参数量差 9 倍，准确率差 0.002。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形状的算术必须先算再做。输出尺寸四条公式与真实张量逐项一致；感受野第二层就覆盖整图。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池化函数是**选择**，不是默认。最大池化与平均池化差 4.1 个点，是标准差的 5 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增强买鲁棒性、付干净精度：+29 个点换 −3 个点。**用不用取决于输入会不会被平移。**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「98%」不是结果。混淆矩阵、最差类对、具体样本加概率、可检验的假设——四件都齐才叫错分分析。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200" y="5238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200" y="5238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9200" y="5436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9200" y="53639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显存不够先降 batch，再用梯度累积买回等效 batch。权重用「微批占组大小的比例」时，实测与真 batch 逐项一致。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课后待办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实验 6 · 必交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CNN 图像分类 + 数据增强；记录训练曲线、混淆矩阵、≥3 个错分案例（附概率与假设）。对应实验 6 指导书。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项目里程碑 M7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推进准则：`python src/evaluate.py` 能打印指标；模型来源已记录（用了谁家的预训练权重、什么许可）；误差分析点名最差类对。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01200" y="3941999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17200" y="40931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课后预判（写 5 行）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7200" y="4345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「如果我的图像变成 256×256，本周的架构会出现哪些新问题？」（提示：感受野、参数、显存、池化次数各想一遍）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W7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「准确率高不高」是个不完整的问题。
完整的问题是：它在哪两类之间犹豫，错的那几个长什么样。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本周所有数字来自 `scripts/w7_cnn_experiment.py` → `outputs/w7_cnn.json`（5 架构 × 5 种子 + 平移探针 + 混淆矩阵 + 累积探针 + 内存扫描）。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FA8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Week 8 · 序列模型与文本数据处理 —— 文本怎么变成张量、填充与掩码为什么会吃掉你的精度、LSTM 门控在解决什么。本周实验 7：分词 → 词表 → 嵌入 → LSTM → 分类。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7 Lecture · 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