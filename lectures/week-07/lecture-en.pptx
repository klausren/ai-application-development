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Dense 64-128-64-10</c:v>
                </c:pt>
              </c:strCache>
            </c:strRef>
          </c:tx>
          <c:spPr>
            <a:ln w="22225">
              <a:solidFill>
                <a:srgbClr val="1E4FA8"/>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Sheet1!$B$2:$B$21</c:f>
              <c:numCache>
                <c:formatCode>General</c:formatCode>
                <c:ptCount val="20"/>
                <c:pt idx="0">
                  <c:v>0.7037</c:v>
                </c:pt>
                <c:pt idx="1">
                  <c:v>0.9037</c:v>
                </c:pt>
                <c:pt idx="2">
                  <c:v>0.9519</c:v>
                </c:pt>
                <c:pt idx="3">
                  <c:v>0.9593</c:v>
                </c:pt>
                <c:pt idx="4">
                  <c:v>0.9556</c:v>
                </c:pt>
                <c:pt idx="5">
                  <c:v>0.9593</c:v>
                </c:pt>
                <c:pt idx="6">
                  <c:v>0.9704</c:v>
                </c:pt>
                <c:pt idx="7">
                  <c:v>0.9741</c:v>
                </c:pt>
                <c:pt idx="8">
                  <c:v>0.9593</c:v>
                </c:pt>
                <c:pt idx="9">
                  <c:v>0.9741</c:v>
                </c:pt>
                <c:pt idx="10">
                  <c:v>0.9704</c:v>
                </c:pt>
                <c:pt idx="11">
                  <c:v>0.9704</c:v>
                </c:pt>
                <c:pt idx="12">
                  <c:v>0.9704</c:v>
                </c:pt>
                <c:pt idx="13">
                  <c:v>0.9741</c:v>
                </c:pt>
                <c:pt idx="14">
                  <c:v>0.9704</c:v>
                </c:pt>
                <c:pt idx="15">
                  <c:v>0.9741</c:v>
                </c:pt>
                <c:pt idx="16">
                  <c:v>0.9741</c:v>
                </c:pt>
                <c:pt idx="17">
                  <c:v>0.9741</c:v>
                </c:pt>
                <c:pt idx="18">
                  <c:v>0.9741</c:v>
                </c:pt>
                <c:pt idx="19">
                  <c:v>0.9741</c:v>
                </c:pt>
              </c:numCache>
            </c:numRef>
          </c:val>
          <c:smooth val="0"/>
        </c:ser>
        <c:ser>
          <c:idx val="1"/>
          <c:order val="1"/>
          <c:tx>
            <c:strRef>
              <c:f>Sheet1!$C$1</c:f>
              <c:strCache>
                <c:ptCount val="1"/>
                <c:pt idx="0">
                  <c:v>CNN 8/16</c:v>
                </c:pt>
              </c:strCache>
            </c:strRef>
          </c:tx>
          <c:spPr>
            <a:ln w="31750">
              <a:solidFill>
                <a:srgbClr val="059669"/>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Sheet1!$C$2:$C$21</c:f>
              <c:numCache>
                <c:formatCode>General</c:formatCode>
                <c:ptCount val="20"/>
                <c:pt idx="0">
                  <c:v>0.3111</c:v>
                </c:pt>
                <c:pt idx="1">
                  <c:v>0.8259</c:v>
                </c:pt>
                <c:pt idx="2">
                  <c:v>0.8852</c:v>
                </c:pt>
                <c:pt idx="3">
                  <c:v>0.9296</c:v>
                </c:pt>
                <c:pt idx="4">
                  <c:v>0.9407</c:v>
                </c:pt>
                <c:pt idx="5">
                  <c:v>0.9556</c:v>
                </c:pt>
                <c:pt idx="6">
                  <c:v>0.963</c:v>
                </c:pt>
                <c:pt idx="7">
                  <c:v>0.9704</c:v>
                </c:pt>
                <c:pt idx="8">
                  <c:v>0.9667</c:v>
                </c:pt>
                <c:pt idx="9">
                  <c:v>0.9667</c:v>
                </c:pt>
                <c:pt idx="10">
                  <c:v>0.9704</c:v>
                </c:pt>
                <c:pt idx="11">
                  <c:v>0.9704</c:v>
                </c:pt>
                <c:pt idx="12">
                  <c:v>0.9704</c:v>
                </c:pt>
                <c:pt idx="13">
                  <c:v>0.9667</c:v>
                </c:pt>
                <c:pt idx="14">
                  <c:v>0.9741</c:v>
                </c:pt>
                <c:pt idx="15">
                  <c:v>0.9741</c:v>
                </c:pt>
                <c:pt idx="16">
                  <c:v>0.9667</c:v>
                </c:pt>
                <c:pt idx="17">
                  <c:v>0.9741</c:v>
                </c:pt>
                <c:pt idx="18">
                  <c:v>0.9741</c:v>
                </c:pt>
                <c:pt idx="19">
                  <c:v>0.9741</c:v>
                </c:pt>
              </c:numCache>
            </c:numRef>
          </c:val>
          <c:smooth val="0"/>
        </c:ser>
        <c:ser>
          <c:idx val="2"/>
          <c:order val="2"/>
          <c:tx>
            <c:strRef>
              <c:f>Sheet1!$D$1</c:f>
              <c:strCache>
                <c:ptCount val="1"/>
                <c:pt idx="0">
                  <c:v>CNN + ±1px augmentation</c:v>
                </c:pt>
              </c:strCache>
            </c:strRef>
          </c:tx>
          <c:spPr>
            <a:ln w="22225">
              <a:solidFill>
                <a:srgbClr val="D97706"/>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Sheet1!$D$2:$D$21</c:f>
              <c:numCache>
                <c:formatCode>General</c:formatCode>
                <c:ptCount val="20"/>
                <c:pt idx="0">
                  <c:v>0.1889</c:v>
                </c:pt>
                <c:pt idx="1">
                  <c:v>0.6407</c:v>
                </c:pt>
                <c:pt idx="2">
                  <c:v>0.7222</c:v>
                </c:pt>
                <c:pt idx="3">
                  <c:v>0.7667</c:v>
                </c:pt>
                <c:pt idx="4">
                  <c:v>0.7519</c:v>
                </c:pt>
                <c:pt idx="5">
                  <c:v>0.8407</c:v>
                </c:pt>
                <c:pt idx="6">
                  <c:v>0.8222</c:v>
                </c:pt>
                <c:pt idx="7">
                  <c:v>0.8037</c:v>
                </c:pt>
                <c:pt idx="8">
                  <c:v>0.8481</c:v>
                </c:pt>
                <c:pt idx="9">
                  <c:v>0.8519</c:v>
                </c:pt>
                <c:pt idx="10">
                  <c:v>0.8444</c:v>
                </c:pt>
                <c:pt idx="11">
                  <c:v>0.8296</c:v>
                </c:pt>
                <c:pt idx="12">
                  <c:v>0.8667</c:v>
                </c:pt>
                <c:pt idx="13">
                  <c:v>0.8667</c:v>
                </c:pt>
                <c:pt idx="14">
                  <c:v>0.8593</c:v>
                </c:pt>
                <c:pt idx="15">
                  <c:v>0.8815</c:v>
                </c:pt>
                <c:pt idx="16">
                  <c:v>0.8667</c:v>
                </c:pt>
                <c:pt idx="17">
                  <c:v>0.8926</c:v>
                </c:pt>
                <c:pt idx="18">
                  <c:v>0.8926</c:v>
                </c:pt>
                <c:pt idx="19">
                  <c:v>0.9</c:v>
                </c:pt>
              </c:numCache>
            </c:numRef>
          </c:val>
          <c:smooth val="0"/>
        </c:ser>
        <c:marker val="1"/>
        <c:smooth val="0"/>
        <c:axId val="2118791784"/>
        <c:axId val="2140495176"/>
      </c:lineChart>
      <c:catAx>
        <c:axId val="2118791784"/>
        <c:scaling>
          <c:orientation val="minMax"/>
        </c:scaling>
        <c:delete val="0"/>
        <c:axPos val="b"/>
        <c:title>
          <c:tx>
            <c:rich>
              <a:bodyPr/>
              <a:lstStyle/>
              <a:p>
                <a:r>
                  <a:t>epoch</a:t>
                </a:r>
              </a:p>
            </c:rich>
          </c:tx>
          <c:layout/>
          <c:overlay val="0"/>
        </c:title>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r>
                  <a:t>validation accuracy</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Dense</c:v>
                </c:pt>
              </c:strCache>
            </c:strRef>
          </c:tx>
          <c:spPr>
            <a:ln w="22225">
              <a:solidFill>
                <a:srgbClr val="B91C1C"/>
              </a:solidFill>
            </a:ln>
          </c:spPr>
          <c:cat>
            <c:strRef>
              <c:f>Sheet1!$A$2:$A$6</c:f>
              <c:strCache>
                <c:ptCount val="5"/>
                <c:pt idx="0">
                  <c:v>-2</c:v>
                </c:pt>
                <c:pt idx="1">
                  <c:v>-1</c:v>
                </c:pt>
                <c:pt idx="2">
                  <c:v>0</c:v>
                </c:pt>
                <c:pt idx="3">
                  <c:v>+1</c:v>
                </c:pt>
                <c:pt idx="4">
                  <c:v>+2</c:v>
                </c:pt>
              </c:strCache>
            </c:strRef>
          </c:cat>
          <c:val>
            <c:numRef>
              <c:f>Sheet1!$B$2:$B$6</c:f>
              <c:numCache>
                <c:formatCode>General</c:formatCode>
                <c:ptCount val="5"/>
                <c:pt idx="0">
                  <c:v>0.1667</c:v>
                </c:pt>
                <c:pt idx="1">
                  <c:v>0.4555</c:v>
                </c:pt>
                <c:pt idx="2">
                  <c:v>0.9785</c:v>
                </c:pt>
                <c:pt idx="3">
                  <c:v>0.5089</c:v>
                </c:pt>
                <c:pt idx="4">
                  <c:v>0.1822</c:v>
                </c:pt>
              </c:numCache>
            </c:numRef>
          </c:val>
          <c:smooth val="0"/>
        </c:ser>
        <c:ser>
          <c:idx val="1"/>
          <c:order val="1"/>
          <c:tx>
            <c:strRef>
              <c:f>Sheet1!$C$1</c:f>
              <c:strCache>
                <c:ptCount val="1"/>
                <c:pt idx="0">
                  <c:v>CNN 8/16</c:v>
                </c:pt>
              </c:strCache>
            </c:strRef>
          </c:tx>
          <c:spPr>
            <a:ln w="22225">
              <a:solidFill>
                <a:srgbClr val="1E4FA8"/>
              </a:solidFill>
            </a:ln>
          </c:spPr>
          <c:cat>
            <c:strRef>
              <c:f>Sheet1!$A$2:$A$6</c:f>
              <c:strCache>
                <c:ptCount val="5"/>
                <c:pt idx="0">
                  <c:v>-2</c:v>
                </c:pt>
                <c:pt idx="1">
                  <c:v>-1</c:v>
                </c:pt>
                <c:pt idx="2">
                  <c:v>0</c:v>
                </c:pt>
                <c:pt idx="3">
                  <c:v>+1</c:v>
                </c:pt>
                <c:pt idx="4">
                  <c:v>+2</c:v>
                </c:pt>
              </c:strCache>
            </c:strRef>
          </c:cat>
          <c:val>
            <c:numRef>
              <c:f>Sheet1!$C$2:$C$6</c:f>
              <c:numCache>
                <c:formatCode>General</c:formatCode>
                <c:ptCount val="5"/>
                <c:pt idx="0">
                  <c:v>0.2348</c:v>
                </c:pt>
                <c:pt idx="1">
                  <c:v>0.6481</c:v>
                </c:pt>
                <c:pt idx="2">
                  <c:v>0.9808</c:v>
                </c:pt>
                <c:pt idx="3">
                  <c:v>0.6504</c:v>
                </c:pt>
                <c:pt idx="4">
                  <c:v>0.2778</c:v>
                </c:pt>
              </c:numCache>
            </c:numRef>
          </c:val>
          <c:smooth val="0"/>
        </c:ser>
        <c:ser>
          <c:idx val="2"/>
          <c:order val="2"/>
          <c:tx>
            <c:strRef>
              <c:f>Sheet1!$D$1</c:f>
              <c:strCache>
                <c:ptCount val="1"/>
                <c:pt idx="0">
                  <c:v>CNN + ±1px augmentation</c:v>
                </c:pt>
              </c:strCache>
            </c:strRef>
          </c:tx>
          <c:spPr>
            <a:ln w="31750">
              <a:solidFill>
                <a:srgbClr val="059669"/>
              </a:solidFill>
            </a:ln>
          </c:spPr>
          <c:cat>
            <c:strRef>
              <c:f>Sheet1!$A$2:$A$6</c:f>
              <c:strCache>
                <c:ptCount val="5"/>
                <c:pt idx="0">
                  <c:v>-2</c:v>
                </c:pt>
                <c:pt idx="1">
                  <c:v>-1</c:v>
                </c:pt>
                <c:pt idx="2">
                  <c:v>0</c:v>
                </c:pt>
                <c:pt idx="3">
                  <c:v>+1</c:v>
                </c:pt>
                <c:pt idx="4">
                  <c:v>+2</c:v>
                </c:pt>
              </c:strCache>
            </c:strRef>
          </c:cat>
          <c:val>
            <c:numRef>
              <c:f>Sheet1!$D$2:$D$6</c:f>
              <c:numCache>
                <c:formatCode>General</c:formatCode>
                <c:ptCount val="5"/>
                <c:pt idx="0">
                  <c:v>0.517</c:v>
                </c:pt>
                <c:pt idx="1">
                  <c:v>0.9415</c:v>
                </c:pt>
                <c:pt idx="2">
                  <c:v>0.9504</c:v>
                </c:pt>
                <c:pt idx="3">
                  <c:v>0.9526</c:v>
                </c:pt>
                <c:pt idx="4">
                  <c:v>0.5518</c:v>
                </c:pt>
              </c:numCache>
            </c:numRef>
          </c:val>
          <c:smooth val="0"/>
        </c:ser>
        <c:marker val="1"/>
        <c:smooth val="0"/>
        <c:axId val="2118791784"/>
        <c:axId val="2140495176"/>
      </c:lineChart>
      <c:catAx>
        <c:axId val="2118791784"/>
        <c:scaling>
          <c:orientation val="minMax"/>
        </c:scaling>
        <c:delete val="0"/>
        <c:axPos val="b"/>
        <c:title>
          <c:tx>
            <c:rich>
              <a:bodyPr/>
              <a:lstStyle/>
              <a:p>
                <a:r>
                  <a:t>test-time shift dx (columns)</a:t>
                </a:r>
              </a:p>
            </c:rich>
          </c:tx>
          <c:layout/>
          <c:overlay val="0"/>
        </c:title>
        <c:majorTickMark val="out"/>
        <c:minorTickMark val="none"/>
        <c:tickLblPos val="nextTo"/>
        <c:crossAx val="2140495176"/>
        <c:crosses val="autoZero"/>
        <c:auto val="1"/>
        <c:lblAlgn val="ctr"/>
        <c:lblOffset val="100"/>
        <c:noMultiLvlLbl val="0"/>
      </c:catAx>
      <c:valAx>
        <c:axId val="2140495176"/>
        <c:scaling>
          <c:max val="1.0"/>
        </c:scaling>
        <c:delete val="0"/>
        <c:axPos val="l"/>
        <c:majorGridlines/>
        <c:title>
          <c:tx>
            <c:rich>
              <a:bodyPr/>
              <a:lstStyle/>
              <a:p>
                <a:r>
                  <a:t>test accuracy</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peak memory over baseline (MB)</c:v>
                </c:pt>
              </c:strCache>
            </c:strRef>
          </c:tx>
          <c:spPr>
            <a:ln w="31750">
              <a:solidFill>
                <a:srgbClr val="D97706"/>
              </a:solidFill>
            </a:ln>
          </c:spPr>
          <c:cat>
            <c:strRef>
              <c:f>Sheet1!$A$2:$A$7</c:f>
              <c:strCache>
                <c:ptCount val="6"/>
                <c:pt idx="0">
                  <c:v>32</c:v>
                </c:pt>
                <c:pt idx="1">
                  <c:v>64</c:v>
                </c:pt>
                <c:pt idx="2">
                  <c:v>128</c:v>
                </c:pt>
                <c:pt idx="3">
                  <c:v>256</c:v>
                </c:pt>
                <c:pt idx="4">
                  <c:v>512</c:v>
                </c:pt>
                <c:pt idx="5">
                  <c:v>1024</c:v>
                </c:pt>
              </c:strCache>
            </c:strRef>
          </c:cat>
          <c:val>
            <c:numRef>
              <c:f>Sheet1!$B$2:$B$7</c:f>
              <c:numCache>
                <c:formatCode>General</c:formatCode>
                <c:ptCount val="6"/>
                <c:pt idx="0">
                  <c:v>83.6</c:v>
                </c:pt>
                <c:pt idx="1">
                  <c:v>91.3</c:v>
                </c:pt>
                <c:pt idx="2">
                  <c:v>104.3</c:v>
                </c:pt>
                <c:pt idx="3">
                  <c:v>129.7</c:v>
                </c:pt>
                <c:pt idx="4">
                  <c:v>176.5</c:v>
                </c:pt>
                <c:pt idx="5">
                  <c:v>275.5</c:v>
                </c:pt>
              </c:numCache>
            </c:numRef>
          </c:val>
          <c:smooth val="0"/>
        </c:ser>
        <c:marker val="1"/>
        <c:smooth val="0"/>
        <c:axId val="2118791784"/>
        <c:axId val="2140495176"/>
      </c:lineChart>
      <c:catAx>
        <c:axId val="2118791784"/>
        <c:scaling>
          <c:orientation val="minMax"/>
        </c:scaling>
        <c:delete val="0"/>
        <c:axPos val="b"/>
        <c:title>
          <c:tx>
            <c:rich>
              <a:bodyPr/>
              <a:lstStyle/>
              <a:p>
                <a:r>
                  <a:t>batch size</a:t>
                </a:r>
              </a:p>
            </c:rich>
          </c:tx>
          <c:layout/>
          <c:overlay val="0"/>
        </c:title>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r>
                  <a:t>MB over baseline</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33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33200"/>
            <a:ext cx="12192119" cy="576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096059" y="856800"/>
            <a:ext cx="5296859" cy="4572000"/>
          </a:xfrm>
          <a:prstGeom prst="rect">
            <a:avLst/>
          </a:prstGeom>
          <a:noFill/>
        </p:spPr>
        <p:txBody>
          <a:bodyPr wrap="square" anchor="t" lIns="0" rIns="0" tIns="0" bIns="0">
            <a:spAutoFit/>
          </a:bodyPr>
          <a:lstStyle/>
          <a:p>
            <a:pPr algn="r">
              <a:lnSpc>
                <a:spcPct val="125000"/>
              </a:lnSpc>
            </a:pPr>
            <a:r>
              <a:rPr sz="19000" b="1" i="0">
                <a:solidFill>
                  <a:srgbClr val="F0F5FC"/>
                </a:solidFill>
                <a:latin typeface="Source Han Sans SC"/>
              </a:rPr>
              <a:t>07</a:t>
            </a:r>
          </a:p>
        </p:txBody>
      </p:sp>
      <p:sp>
        <p:nvSpPr>
          <p:cNvPr id="6" name="TextBox 5"/>
          <p:cNvSpPr txBox="1"/>
          <p:nvPr/>
        </p:nvSpPr>
        <p:spPr>
          <a:xfrm>
            <a:off x="799200" y="856800"/>
            <a:ext cx="7200000" cy="216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52015CC3BV · UNDERGRADUATE · INTERNATIONAL</a:t>
            </a:r>
          </a:p>
        </p:txBody>
      </p:sp>
      <p:sp>
        <p:nvSpPr>
          <p:cNvPr id="7" name="Rectangle 6"/>
          <p:cNvSpPr/>
          <p:nvPr/>
        </p:nvSpPr>
        <p:spPr>
          <a:xfrm>
            <a:off x="799200" y="12672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609200"/>
            <a:ext cx="10593719" cy="540000"/>
          </a:xfrm>
          <a:prstGeom prst="rect">
            <a:avLst/>
          </a:prstGeom>
          <a:noFill/>
        </p:spPr>
        <p:txBody>
          <a:bodyPr wrap="square" anchor="t" lIns="0" rIns="0" tIns="0" bIns="0">
            <a:spAutoFit/>
          </a:bodyPr>
          <a:lstStyle/>
          <a:p>
            <a:pPr algn="l">
              <a:lnSpc>
                <a:spcPct val="125000"/>
              </a:lnSpc>
            </a:pPr>
            <a:r>
              <a:rPr sz="4000" b="1" i="0">
                <a:solidFill>
                  <a:srgbClr val="0E3F8C"/>
                </a:solidFill>
                <a:latin typeface="Source Han Sans SC"/>
              </a:rPr>
              <a:t>CNNs for Computer Vision</a:t>
            </a:r>
          </a:p>
        </p:txBody>
      </p:sp>
      <p:sp>
        <p:nvSpPr>
          <p:cNvPr id="9" name="TextBox 8"/>
          <p:cNvSpPr txBox="1"/>
          <p:nvPr/>
        </p:nvSpPr>
        <p:spPr>
          <a:xfrm>
            <a:off x="799200" y="2232000"/>
            <a:ext cx="10593719" cy="972000"/>
          </a:xfrm>
          <a:prstGeom prst="rect">
            <a:avLst/>
          </a:prstGeom>
          <a:noFill/>
        </p:spPr>
        <p:txBody>
          <a:bodyPr wrap="square" anchor="t" lIns="0" rIns="0" tIns="0" bIns="0">
            <a:spAutoFit/>
          </a:bodyPr>
          <a:lstStyle/>
          <a:p>
            <a:pPr algn="l">
              <a:lnSpc>
                <a:spcPct val="125000"/>
              </a:lnSpc>
            </a:pPr>
            <a:r>
              <a:rPr sz="2500" b="0" i="0">
                <a:solidFill>
                  <a:srgbClr val="1F2937"/>
                </a:solidFill>
                <a:latin typeface="Source Han Sans SC"/>
              </a:rPr>
              <a:t>Convolution, shape arithmetic, pooling — and where the model is wrong</a:t>
            </a:r>
          </a:p>
        </p:txBody>
      </p:sp>
      <p:sp>
        <p:nvSpPr>
          <p:cNvPr id="10" name="TextBox 9"/>
          <p:cNvSpPr txBox="1"/>
          <p:nvPr/>
        </p:nvSpPr>
        <p:spPr>
          <a:xfrm>
            <a:off x="799200" y="3344399"/>
            <a:ext cx="10593719" cy="288000"/>
          </a:xfrm>
          <a:prstGeom prst="rect">
            <a:avLst/>
          </a:prstGeom>
          <a:noFill/>
        </p:spPr>
        <p:txBody>
          <a:bodyPr wrap="square" anchor="t" lIns="0" rIns="0" tIns="0" bIns="0">
            <a:spAutoFit/>
          </a:bodyPr>
          <a:lstStyle/>
          <a:p>
            <a:pPr algn="l">
              <a:lnSpc>
                <a:spcPct val="125000"/>
              </a:lnSpc>
            </a:pPr>
            <a:r>
              <a:rPr sz="1400" b="0" i="0">
                <a:solidFill>
                  <a:srgbClr val="6B7280"/>
                </a:solidFill>
                <a:latin typeface="Source Han Sans SC"/>
              </a:rPr>
              <a:t>Week 7 · Convolution and weight sharing · Stride, padding, receptive field · Pooling choice · The price of augmentation · Confusion matrix and error analysis · Memory and gradient accumulation · Lab 6</a:t>
            </a:r>
          </a:p>
        </p:txBody>
      </p:sp>
      <p:sp>
        <p:nvSpPr>
          <p:cNvPr id="11" name="Rectangle 10"/>
          <p:cNvSpPr/>
          <p:nvPr/>
        </p:nvSpPr>
        <p:spPr>
          <a:xfrm>
            <a:off x="799200" y="5295600"/>
            <a:ext cx="2255481"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2000" y="5364000"/>
            <a:ext cx="1909881"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Module 2 · W5-8</a:t>
            </a:r>
          </a:p>
        </p:txBody>
      </p:sp>
      <p:sp>
        <p:nvSpPr>
          <p:cNvPr id="13" name="Rectangle 12"/>
          <p:cNvSpPr/>
          <p:nvPr/>
        </p:nvSpPr>
        <p:spPr>
          <a:xfrm>
            <a:off x="3277881" y="5295600"/>
            <a:ext cx="3383222"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50681" y="5364000"/>
            <a:ext cx="3037622"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180 min · Lecture + Lab + Quiz</a:t>
            </a:r>
          </a:p>
        </p:txBody>
      </p:sp>
      <p:sp>
        <p:nvSpPr>
          <p:cNvPr id="15" name="Rectangle 14"/>
          <p:cNvSpPr/>
          <p:nvPr/>
        </p:nvSpPr>
        <p:spPr>
          <a:xfrm>
            <a:off x="6884304" y="5295600"/>
            <a:ext cx="202993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057104" y="5364000"/>
            <a:ext cx="168433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KT13 · KT14</a:t>
            </a:r>
          </a:p>
        </p:txBody>
      </p:sp>
      <p:sp>
        <p:nvSpPr>
          <p:cNvPr id="17" name="Rectangle 16"/>
          <p:cNvSpPr/>
          <p:nvPr/>
        </p:nvSpPr>
        <p:spPr>
          <a:xfrm>
            <a:off x="9137438" y="5295600"/>
            <a:ext cx="2255481"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10238" y="5364000"/>
            <a:ext cx="1909881"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International Students</a:t>
            </a:r>
          </a:p>
        </p:txBody>
      </p:sp>
      <p:sp>
        <p:nvSpPr>
          <p:cNvPr id="19" name="Rectangle 18"/>
          <p:cNvSpPr/>
          <p:nvPr/>
        </p:nvSpPr>
        <p:spPr>
          <a:xfrm>
            <a:off x="799200" y="5868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6800" y="5961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W7</a:t>
            </a:r>
          </a:p>
        </p:txBody>
      </p:sp>
      <p:sp>
        <p:nvSpPr>
          <p:cNvPr id="21" name="TextBox 20"/>
          <p:cNvSpPr txBox="1"/>
          <p:nvPr/>
        </p:nvSpPr>
        <p:spPr>
          <a:xfrm>
            <a:off x="1332000" y="5983200"/>
            <a:ext cx="5760000" cy="2016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Lecturer: ____________  ·  School of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Contents</a:t>
            </a:r>
          </a:p>
        </p:txBody>
      </p:sp>
      <p:sp>
        <p:nvSpPr>
          <p:cNvPr id="6" name="TextBox 5"/>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7" name="TextBox 6"/>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02 / 32</a:t>
            </a:r>
          </a:p>
        </p:txBody>
      </p:sp>
      <p:sp>
        <p:nvSpPr>
          <p:cNvPr id="8" name="Rectangle 7"/>
          <p:cNvSpPr/>
          <p:nvPr/>
        </p:nvSpPr>
        <p:spPr>
          <a:xfrm>
            <a:off x="799200" y="1044000"/>
            <a:ext cx="2858400" cy="49536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47600" y="2163600"/>
            <a:ext cx="2361600" cy="496800"/>
          </a:xfrm>
          <a:prstGeom prst="rect">
            <a:avLst/>
          </a:prstGeom>
          <a:noFill/>
        </p:spPr>
        <p:txBody>
          <a:bodyPr wrap="square" anchor="t" lIns="0" rIns="0" tIns="0" bIns="0">
            <a:spAutoFit/>
          </a:bodyPr>
          <a:lstStyle/>
          <a:p>
            <a:pPr algn="l">
              <a:lnSpc>
                <a:spcPct val="125000"/>
              </a:lnSpc>
            </a:pPr>
            <a:r>
              <a:rPr sz="2600" b="1" i="0">
                <a:solidFill>
                  <a:srgbClr val="0E3F8C"/>
                </a:solidFill>
                <a:latin typeface="Source Han Sans SC"/>
              </a:rPr>
              <a:t>5</a:t>
            </a:r>
          </a:p>
        </p:txBody>
      </p:sp>
      <p:sp>
        <p:nvSpPr>
          <p:cNvPr id="10" name="TextBox 9"/>
          <p:cNvSpPr txBox="1"/>
          <p:nvPr/>
        </p:nvSpPr>
        <p:spPr>
          <a:xfrm>
            <a:off x="1047600" y="2628000"/>
            <a:ext cx="2361600" cy="280800"/>
          </a:xfrm>
          <a:prstGeom prst="rect">
            <a:avLst/>
          </a:prstGeom>
          <a:noFill/>
        </p:spPr>
        <p:txBody>
          <a:bodyPr wrap="square" anchor="t" lIns="0" rIns="0" tIns="0" bIns="0">
            <a:spAutoFit/>
          </a:bodyPr>
          <a:lstStyle/>
          <a:p>
            <a:pPr algn="l">
              <a:lnSpc>
                <a:spcPct val="125000"/>
              </a:lnSpc>
            </a:pPr>
            <a:r>
              <a:rPr sz="1150" b="1" i="0">
                <a:solidFill>
                  <a:srgbClr val="6B7280"/>
                </a:solidFill>
                <a:latin typeface="Source Han Sans SC"/>
              </a:rPr>
              <a:t>PARTS · 180 MINUTES</a:t>
            </a:r>
          </a:p>
        </p:txBody>
      </p:sp>
      <p:sp>
        <p:nvSpPr>
          <p:cNvPr id="11" name="Rectangle 10"/>
          <p:cNvSpPr/>
          <p:nvPr/>
        </p:nvSpPr>
        <p:spPr>
          <a:xfrm>
            <a:off x="1047600" y="2991600"/>
            <a:ext cx="2361600" cy="1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7600" y="3160800"/>
            <a:ext cx="2361600" cy="8964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This week's spine is NOT "the CNN is more accurate" —
the numbers do not support that. It is: the CNN matches a
9x larger MLP and moves better under translation; and the
price of that robustness is paid on the clean test set.</a:t>
            </a:r>
          </a:p>
        </p:txBody>
      </p:sp>
      <p:sp>
        <p:nvSpPr>
          <p:cNvPr id="13" name="Rectangle 12"/>
          <p:cNvSpPr/>
          <p:nvPr/>
        </p:nvSpPr>
        <p:spPr>
          <a:xfrm>
            <a:off x="1047600" y="4208400"/>
            <a:ext cx="2361600" cy="6876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80800" y="4305600"/>
            <a:ext cx="2095200" cy="4967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Review &amp; lead-in 10 min
Lecture 80 min
Lab 80 min
Wrap-up 10 min</a:t>
            </a:r>
          </a:p>
        </p:txBody>
      </p:sp>
      <p:sp>
        <p:nvSpPr>
          <p:cNvPr id="15" name="Rectangle 14"/>
          <p:cNvSpPr/>
          <p:nvPr/>
        </p:nvSpPr>
        <p:spPr>
          <a:xfrm>
            <a:off x="3924000" y="16488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999600" y="17712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99600" y="18720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01</a:t>
            </a:r>
          </a:p>
        </p:txBody>
      </p:sp>
      <p:sp>
        <p:nvSpPr>
          <p:cNvPr id="18" name="TextBox 17"/>
          <p:cNvSpPr txBox="1"/>
          <p:nvPr/>
        </p:nvSpPr>
        <p:spPr>
          <a:xfrm>
            <a:off x="4687200" y="17892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Convolution: from dense layers to weight sharing</a:t>
            </a:r>
          </a:p>
        </p:txBody>
      </p:sp>
      <p:sp>
        <p:nvSpPr>
          <p:cNvPr id="19" name="TextBox 18"/>
          <p:cNvSpPr txBox="1"/>
          <p:nvPr/>
        </p:nvSpPr>
        <p:spPr>
          <a:xfrm>
            <a:off x="4687200" y="20771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Convolution: weight sharing</a:t>
            </a:r>
          </a:p>
        </p:txBody>
      </p:sp>
      <p:sp>
        <p:nvSpPr>
          <p:cNvPr id="20" name="TextBox 19"/>
          <p:cNvSpPr txBox="1"/>
          <p:nvPr/>
        </p:nvSpPr>
        <p:spPr>
          <a:xfrm>
            <a:off x="4687200" y="22680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Why images are not flattened · 17,226 → 1,898 parameters</a:t>
            </a:r>
          </a:p>
        </p:txBody>
      </p:sp>
      <p:sp>
        <p:nvSpPr>
          <p:cNvPr id="21" name="Right Arrow 20"/>
          <p:cNvSpPr/>
          <p:nvPr/>
        </p:nvSpPr>
        <p:spPr>
          <a:xfrm>
            <a:off x="11048400" y="19332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924000" y="24012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999600" y="25236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999600" y="26244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02</a:t>
            </a:r>
          </a:p>
        </p:txBody>
      </p:sp>
      <p:sp>
        <p:nvSpPr>
          <p:cNvPr id="25" name="TextBox 24"/>
          <p:cNvSpPr txBox="1"/>
          <p:nvPr/>
        </p:nvSpPr>
        <p:spPr>
          <a:xfrm>
            <a:off x="4687200" y="25416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The arithmetic of shapes</a:t>
            </a:r>
          </a:p>
        </p:txBody>
      </p:sp>
      <p:sp>
        <p:nvSpPr>
          <p:cNvPr id="26" name="TextBox 25"/>
          <p:cNvSpPr txBox="1"/>
          <p:nvPr/>
        </p:nvSpPr>
        <p:spPr>
          <a:xfrm>
            <a:off x="4687200" y="28296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Stride · padding · pooling · receptive field</a:t>
            </a:r>
          </a:p>
        </p:txBody>
      </p:sp>
      <p:sp>
        <p:nvSpPr>
          <p:cNvPr id="27" name="TextBox 26"/>
          <p:cNvSpPr txBox="1"/>
          <p:nvPr/>
        </p:nvSpPr>
        <p:spPr>
          <a:xfrm>
            <a:off x="4687200" y="30204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Output-size formula checked against real tensors · RF 3 → 4 → 8 → 10 · pooling choice costs 4.1 points</a:t>
            </a:r>
          </a:p>
        </p:txBody>
      </p:sp>
      <p:sp>
        <p:nvSpPr>
          <p:cNvPr id="28" name="Right Arrow 27"/>
          <p:cNvSpPr/>
          <p:nvPr/>
        </p:nvSpPr>
        <p:spPr>
          <a:xfrm>
            <a:off x="11048400" y="26856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924000" y="31536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999600" y="32760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99600" y="33767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03</a:t>
            </a:r>
          </a:p>
        </p:txBody>
      </p:sp>
      <p:sp>
        <p:nvSpPr>
          <p:cNvPr id="32" name="TextBox 31"/>
          <p:cNvSpPr txBox="1"/>
          <p:nvPr/>
        </p:nvSpPr>
        <p:spPr>
          <a:xfrm>
            <a:off x="4687200" y="32940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Training it: curves, augmentation and the price</a:t>
            </a:r>
          </a:p>
        </p:txBody>
      </p:sp>
      <p:sp>
        <p:nvSpPr>
          <p:cNvPr id="33" name="TextBox 32"/>
          <p:cNvSpPr txBox="1"/>
          <p:nvPr/>
        </p:nvSpPr>
        <p:spPr>
          <a:xfrm>
            <a:off x="4687200" y="35819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Curves, augmentation, robustness</a:t>
            </a:r>
          </a:p>
        </p:txBody>
      </p:sp>
      <p:sp>
        <p:nvSpPr>
          <p:cNvPr id="34" name="TextBox 33"/>
          <p:cNvSpPr txBox="1"/>
          <p:nvPr/>
        </p:nvSpPr>
        <p:spPr>
          <a:xfrm>
            <a:off x="4687200" y="37728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5 architectures x 5 seeds · measured translation robustness · the augment ledger</a:t>
            </a:r>
          </a:p>
        </p:txBody>
      </p:sp>
      <p:sp>
        <p:nvSpPr>
          <p:cNvPr id="35" name="Right Arrow 34"/>
          <p:cNvSpPr/>
          <p:nvPr/>
        </p:nvSpPr>
        <p:spPr>
          <a:xfrm>
            <a:off x="11048400" y="34380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24000" y="39060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999600" y="40284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999600" y="41291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04</a:t>
            </a:r>
          </a:p>
        </p:txBody>
      </p:sp>
      <p:sp>
        <p:nvSpPr>
          <p:cNvPr id="39" name="TextBox 38"/>
          <p:cNvSpPr txBox="1"/>
          <p:nvPr/>
        </p:nvSpPr>
        <p:spPr>
          <a:xfrm>
            <a:off x="4687200" y="40464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Where it fails</a:t>
            </a:r>
          </a:p>
        </p:txBody>
      </p:sp>
      <p:sp>
        <p:nvSpPr>
          <p:cNvPr id="40" name="TextBox 39"/>
          <p:cNvSpPr txBox="1"/>
          <p:nvPr/>
        </p:nvSpPr>
        <p:spPr>
          <a:xfrm>
            <a:off x="4687200" y="43344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Confusion matrix and misclassification</a:t>
            </a:r>
          </a:p>
        </p:txBody>
      </p:sp>
      <p:sp>
        <p:nvSpPr>
          <p:cNvPr id="41" name="TextBox 40"/>
          <p:cNvSpPr txBox="1"/>
          <p:nvPr/>
        </p:nvSpPr>
        <p:spPr>
          <a:xfrm>
            <a:off x="4687200" y="45252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Confusion over 1,350 test predictions · the worst class pair · the misclassified digits themselves</a:t>
            </a:r>
          </a:p>
        </p:txBody>
      </p:sp>
      <p:sp>
        <p:nvSpPr>
          <p:cNvPr id="42" name="Right Arrow 41"/>
          <p:cNvSpPr/>
          <p:nvPr/>
        </p:nvSpPr>
        <p:spPr>
          <a:xfrm>
            <a:off x="11048400" y="41904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924000" y="46584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999600" y="47808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999600" y="48816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05</a:t>
            </a:r>
          </a:p>
        </p:txBody>
      </p:sp>
      <p:sp>
        <p:nvSpPr>
          <p:cNvPr id="46" name="TextBox 45"/>
          <p:cNvSpPr txBox="1"/>
          <p:nvPr/>
        </p:nvSpPr>
        <p:spPr>
          <a:xfrm>
            <a:off x="4687200" y="47988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Memory and green computing</a:t>
            </a:r>
          </a:p>
        </p:txBody>
      </p:sp>
      <p:sp>
        <p:nvSpPr>
          <p:cNvPr id="47" name="TextBox 46"/>
          <p:cNvSpPr txBox="1"/>
          <p:nvPr/>
        </p:nvSpPr>
        <p:spPr>
          <a:xfrm>
            <a:off x="4687200" y="50868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Batch size · gradient accumulation</a:t>
            </a:r>
          </a:p>
        </p:txBody>
      </p:sp>
      <p:sp>
        <p:nvSpPr>
          <p:cNvPr id="48" name="TextBox 47"/>
          <p:cNvSpPr txBox="1"/>
          <p:nvPr/>
        </p:nvSpPr>
        <p:spPr>
          <a:xfrm>
            <a:off x="4687200" y="52776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Measured batch → peak memory · three accumulation weightings · compute is finite</a:t>
            </a:r>
          </a:p>
        </p:txBody>
      </p:sp>
      <p:sp>
        <p:nvSpPr>
          <p:cNvPr id="49" name="Right Arrow 48"/>
          <p:cNvSpPr/>
          <p:nvPr/>
        </p:nvSpPr>
        <p:spPr>
          <a:xfrm>
            <a:off x="11048400" y="49428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01</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01</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Convolution</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From dense layers to weight sharing</a:t>
            </a:r>
          </a:p>
        </p:txBody>
      </p:sp>
      <p:sp>
        <p:nvSpPr>
          <p:cNvPr id="9" name="TextBox 8"/>
          <p:cNvSpPr txBox="1"/>
          <p:nvPr/>
        </p:nvSpPr>
        <p:spPr>
          <a:xfrm>
            <a:off x="799200" y="2736000"/>
            <a:ext cx="8640000" cy="11726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Flatten an 8x8 image into 64 numbers and hand it to a dense layer — this collapses on real images. Convolution is not a cleverer classifier; it attacks the NUMBER of parameters.</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Local</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one output sees a patch</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Shared</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one kernel, every position</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Cheap</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params do not scale with width</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Why images are not simply flattened</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Three reasons, each checkable against this week's numbers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Week 7 · lead-in</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04 / 32</a:t>
            </a:r>
          </a:p>
        </p:txBody>
      </p:sp>
      <p:sp>
        <p:nvSpPr>
          <p:cNvPr id="10" name="Rectangle 9"/>
          <p:cNvSpPr/>
          <p:nvPr/>
        </p:nvSpPr>
        <p:spPr>
          <a:xfrm>
            <a:off x="799200"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96000"/>
            <a:ext cx="32400" cy="432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1. Parameters explode</a:t>
            </a:r>
          </a:p>
        </p:txBody>
      </p:sp>
      <p:sp>
        <p:nvSpPr>
          <p:cNvPr id="13" name="TextBox 12"/>
          <p:cNvSpPr txBox="1"/>
          <p:nvPr/>
        </p:nvSpPr>
        <p:spPr>
          <a:xfrm>
            <a:off x="1022400"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17,226 vs 1,898</a:t>
            </a:r>
          </a:p>
        </p:txBody>
      </p:sp>
      <p:sp>
        <p:nvSpPr>
          <p:cNvPr id="14" name="TextBox 13"/>
          <p:cNvSpPr txBox="1"/>
          <p:nvPr/>
        </p:nvSpPr>
        <p:spPr>
          <a:xfrm>
            <a:off x="1022400" y="1915200"/>
            <a:ext cx="2940839" cy="3556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On the same digits data the dense net needs 17,226 parameters; two conv layers need 1,898.</a:t>
            </a:r>
          </a:p>
          <a:p>
            <a:pPr algn="l">
              <a:lnSpc>
                <a:spcPct val="140000"/>
              </a:lnSpc>
              <a:spcAft>
                <a:spcPts val="400"/>
              </a:spcAft>
            </a:pPr>
            <a:r>
              <a:rPr sz="1200" b="0" i="0">
                <a:solidFill>
                  <a:srgbClr val="1F2937"/>
                </a:solidFill>
                <a:latin typeface="Source Han Sans SC"/>
              </a:rPr>
              <a:t>• Not a small saving — 9x. Real images have 1000x that input dimension.</a:t>
            </a:r>
          </a:p>
        </p:txBody>
      </p:sp>
      <p:sp>
        <p:nvSpPr>
          <p:cNvPr id="15" name="Rectangle 14"/>
          <p:cNvSpPr/>
          <p:nvPr/>
        </p:nvSpPr>
        <p:spPr>
          <a:xfrm>
            <a:off x="4402440"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402440" y="1296000"/>
            <a:ext cx="32400" cy="4320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2. Flattening discards layout</a:t>
            </a:r>
          </a:p>
        </p:txBody>
      </p:sp>
      <p:sp>
        <p:nvSpPr>
          <p:cNvPr id="18" name="TextBox 17"/>
          <p:cNvSpPr txBox="1"/>
          <p:nvPr/>
        </p:nvSpPr>
        <p:spPr>
          <a:xfrm>
            <a:off x="462563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neighbourhood is destroyed</a:t>
            </a:r>
          </a:p>
        </p:txBody>
      </p:sp>
      <p:sp>
        <p:nvSpPr>
          <p:cNvPr id="19" name="TextBox 18"/>
          <p:cNvSpPr txBox="1"/>
          <p:nvPr/>
        </p:nvSpPr>
        <p:spPr>
          <a:xfrm>
            <a:off x="4625639" y="1915200"/>
            <a:ext cx="2940839" cy="3556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After flattening, two adjacent pixels and two a whole row apart look identical to a dense layer.</a:t>
            </a:r>
          </a:p>
          <a:p>
            <a:pPr algn="l">
              <a:lnSpc>
                <a:spcPct val="140000"/>
              </a:lnSpc>
              <a:spcAft>
                <a:spcPts val="400"/>
              </a:spcAft>
            </a:pPr>
            <a:r>
              <a:rPr sz="1200" b="0" i="0">
                <a:solidFill>
                  <a:srgbClr val="1F2937"/>
                </a:solidFill>
                <a:latin typeface="Source Han Sans SC"/>
              </a:rPr>
              <a:t>• A conv layer keeps that structure — which is exactly what makes weight sharing possible.</a:t>
            </a:r>
          </a:p>
        </p:txBody>
      </p:sp>
      <p:sp>
        <p:nvSpPr>
          <p:cNvPr id="20" name="Rectangle 19"/>
          <p:cNvSpPr/>
          <p:nvPr/>
        </p:nvSpPr>
        <p:spPr>
          <a:xfrm>
            <a:off x="8005679"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005679" y="1296000"/>
            <a:ext cx="32400" cy="432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3. A shift is not a new object</a:t>
            </a:r>
          </a:p>
        </p:txBody>
      </p:sp>
      <p:sp>
        <p:nvSpPr>
          <p:cNvPr id="23" name="TextBox 22"/>
          <p:cNvSpPr txBox="1"/>
          <p:nvPr/>
        </p:nvSpPr>
        <p:spPr>
          <a:xfrm>
            <a:off x="822887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same digit, shifted 1 column</a:t>
            </a:r>
          </a:p>
        </p:txBody>
      </p:sp>
      <p:sp>
        <p:nvSpPr>
          <p:cNvPr id="24" name="TextBox 23"/>
          <p:cNvSpPr txBox="1"/>
          <p:nvPr/>
        </p:nvSpPr>
        <p:spPr>
          <a:xfrm>
            <a:off x="8228879" y="1915200"/>
            <a:ext cx="2940839" cy="3556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 dense net must relearn it at every position. Measured: shift one column right and accuracy falls 0.9785 → 0.5089.</a:t>
            </a:r>
          </a:p>
          <a:p>
            <a:pPr algn="l">
              <a:lnSpc>
                <a:spcPct val="140000"/>
              </a:lnSpc>
              <a:spcAft>
                <a:spcPts val="400"/>
              </a:spcAft>
            </a:pPr>
            <a:r>
              <a:rPr sz="1200" b="0" i="0">
                <a:solidFill>
                  <a:srgbClr val="1F2937"/>
                </a:solidFill>
                <a:latin typeface="Source Han Sans SC"/>
              </a:rPr>
              <a:t>• Convolution bakes "a pattern, wherever it appears" into the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Convolution: One Sliding Dot Product</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Each landing of the 3x3 kernel produces one output number</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05 / 32</a:t>
            </a:r>
          </a:p>
        </p:txBody>
      </p:sp>
      <p:sp>
        <p:nvSpPr>
          <p:cNvPr id="10" name="TextBox 9"/>
          <p:cNvSpPr txBox="1"/>
          <p:nvPr/>
        </p:nvSpPr>
        <p:spPr>
          <a:xfrm>
            <a:off x="799200" y="1385999"/>
            <a:ext cx="3528000" cy="3365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Input 6x6 (grey level 0-9)</a:t>
            </a:r>
          </a:p>
        </p:txBody>
      </p:sp>
      <p:sp>
        <p:nvSpPr>
          <p:cNvPr id="11" name="TextBox 10"/>
          <p:cNvSpPr txBox="1"/>
          <p:nvPr/>
        </p:nvSpPr>
        <p:spPr>
          <a:xfrm>
            <a:off x="4381200" y="2088000"/>
            <a:ext cx="3528000" cy="3365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Kernel 3x3</a:t>
            </a:r>
          </a:p>
        </p:txBody>
      </p:sp>
      <p:sp>
        <p:nvSpPr>
          <p:cNvPr id="12" name="TextBox 11"/>
          <p:cNvSpPr txBox="1"/>
          <p:nvPr/>
        </p:nvSpPr>
        <p:spPr>
          <a:xfrm>
            <a:off x="6541200" y="1385999"/>
            <a:ext cx="3528000" cy="3365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Output 4x4</a:t>
            </a:r>
          </a:p>
        </p:txBody>
      </p:sp>
      <p:sp>
        <p:nvSpPr>
          <p:cNvPr id="13" name="Rectangle 12"/>
          <p:cNvSpPr/>
          <p:nvPr/>
        </p:nvSpPr>
        <p:spPr>
          <a:xfrm>
            <a:off x="799200" y="172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9200" y="172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5" name="Rectangle 14"/>
          <p:cNvSpPr/>
          <p:nvPr/>
        </p:nvSpPr>
        <p:spPr>
          <a:xfrm>
            <a:off x="1267200" y="172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67200" y="172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7" name="Rectangle 16"/>
          <p:cNvSpPr/>
          <p:nvPr/>
        </p:nvSpPr>
        <p:spPr>
          <a:xfrm>
            <a:off x="1735200" y="1722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35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19" name="Rectangle 18"/>
          <p:cNvSpPr/>
          <p:nvPr/>
        </p:nvSpPr>
        <p:spPr>
          <a:xfrm>
            <a:off x="2203200" y="1722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03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21" name="Rectangle 20"/>
          <p:cNvSpPr/>
          <p:nvPr/>
        </p:nvSpPr>
        <p:spPr>
          <a:xfrm>
            <a:off x="2671200" y="172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71200" y="172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3" name="Rectangle 22"/>
          <p:cNvSpPr/>
          <p:nvPr/>
        </p:nvSpPr>
        <p:spPr>
          <a:xfrm>
            <a:off x="3139200" y="172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139200" y="172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5" name="Rectangle 24"/>
          <p:cNvSpPr/>
          <p:nvPr/>
        </p:nvSpPr>
        <p:spPr>
          <a:xfrm>
            <a:off x="799200" y="2190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9200" y="2190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7" name="Rectangle 26"/>
          <p:cNvSpPr/>
          <p:nvPr/>
        </p:nvSpPr>
        <p:spPr>
          <a:xfrm>
            <a:off x="1267200" y="2190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267200" y="2190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9" name="Rectangle 28"/>
          <p:cNvSpPr/>
          <p:nvPr/>
        </p:nvSpPr>
        <p:spPr>
          <a:xfrm>
            <a:off x="1735200" y="2190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735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31" name="Rectangle 30"/>
          <p:cNvSpPr/>
          <p:nvPr/>
        </p:nvSpPr>
        <p:spPr>
          <a:xfrm>
            <a:off x="2203200" y="2190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03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33" name="Rectangle 32"/>
          <p:cNvSpPr/>
          <p:nvPr/>
        </p:nvSpPr>
        <p:spPr>
          <a:xfrm>
            <a:off x="2671200" y="2190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671200" y="2190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5" name="Rectangle 34"/>
          <p:cNvSpPr/>
          <p:nvPr/>
        </p:nvSpPr>
        <p:spPr>
          <a:xfrm>
            <a:off x="3139200" y="2190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139200" y="2190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7" name="Rectangle 36"/>
          <p:cNvSpPr/>
          <p:nvPr/>
        </p:nvSpPr>
        <p:spPr>
          <a:xfrm>
            <a:off x="799200" y="2658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99200" y="2658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9" name="Rectangle 38"/>
          <p:cNvSpPr/>
          <p:nvPr/>
        </p:nvSpPr>
        <p:spPr>
          <a:xfrm>
            <a:off x="1267200" y="2658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267200" y="2658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1" name="Rectangle 40"/>
          <p:cNvSpPr/>
          <p:nvPr/>
        </p:nvSpPr>
        <p:spPr>
          <a:xfrm>
            <a:off x="1735200" y="2658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735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43" name="Rectangle 42"/>
          <p:cNvSpPr/>
          <p:nvPr/>
        </p:nvSpPr>
        <p:spPr>
          <a:xfrm>
            <a:off x="2203200" y="2658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203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45" name="Rectangle 44"/>
          <p:cNvSpPr/>
          <p:nvPr/>
        </p:nvSpPr>
        <p:spPr>
          <a:xfrm>
            <a:off x="2671200" y="2658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671200" y="2658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7" name="Rectangle 46"/>
          <p:cNvSpPr/>
          <p:nvPr/>
        </p:nvSpPr>
        <p:spPr>
          <a:xfrm>
            <a:off x="3139200" y="2658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139200" y="2658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9" name="Rectangle 48"/>
          <p:cNvSpPr/>
          <p:nvPr/>
        </p:nvSpPr>
        <p:spPr>
          <a:xfrm>
            <a:off x="799200" y="3126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99200" y="3126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1" name="Rectangle 50"/>
          <p:cNvSpPr/>
          <p:nvPr/>
        </p:nvSpPr>
        <p:spPr>
          <a:xfrm>
            <a:off x="1267200" y="3126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1267200" y="3126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3" name="Rectangle 52"/>
          <p:cNvSpPr/>
          <p:nvPr/>
        </p:nvSpPr>
        <p:spPr>
          <a:xfrm>
            <a:off x="1735200" y="3126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735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55" name="Rectangle 54"/>
          <p:cNvSpPr/>
          <p:nvPr/>
        </p:nvSpPr>
        <p:spPr>
          <a:xfrm>
            <a:off x="2203200" y="3126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203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57" name="Rectangle 56"/>
          <p:cNvSpPr/>
          <p:nvPr/>
        </p:nvSpPr>
        <p:spPr>
          <a:xfrm>
            <a:off x="2671200" y="3126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2671200" y="3126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9" name="Rectangle 58"/>
          <p:cNvSpPr/>
          <p:nvPr/>
        </p:nvSpPr>
        <p:spPr>
          <a:xfrm>
            <a:off x="3139200" y="3126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139200" y="3126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1" name="Rectangle 60"/>
          <p:cNvSpPr/>
          <p:nvPr/>
        </p:nvSpPr>
        <p:spPr>
          <a:xfrm>
            <a:off x="799200" y="3594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99200" y="3594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3" name="Rectangle 62"/>
          <p:cNvSpPr/>
          <p:nvPr/>
        </p:nvSpPr>
        <p:spPr>
          <a:xfrm>
            <a:off x="1267200" y="3594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1267200" y="3594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5" name="Rectangle 64"/>
          <p:cNvSpPr/>
          <p:nvPr/>
        </p:nvSpPr>
        <p:spPr>
          <a:xfrm>
            <a:off x="1735200" y="3594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735200" y="3594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67" name="Rectangle 66"/>
          <p:cNvSpPr/>
          <p:nvPr/>
        </p:nvSpPr>
        <p:spPr>
          <a:xfrm>
            <a:off x="2203200" y="35945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2203200" y="3594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69" name="Rectangle 68"/>
          <p:cNvSpPr/>
          <p:nvPr/>
        </p:nvSpPr>
        <p:spPr>
          <a:xfrm>
            <a:off x="2671200" y="3594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2671200" y="3594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1" name="Rectangle 70"/>
          <p:cNvSpPr/>
          <p:nvPr/>
        </p:nvSpPr>
        <p:spPr>
          <a:xfrm>
            <a:off x="3139200" y="3594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3139200" y="3594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3" name="Rectangle 72"/>
          <p:cNvSpPr/>
          <p:nvPr/>
        </p:nvSpPr>
        <p:spPr>
          <a:xfrm>
            <a:off x="799200" y="406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99200" y="406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5" name="Rectangle 74"/>
          <p:cNvSpPr/>
          <p:nvPr/>
        </p:nvSpPr>
        <p:spPr>
          <a:xfrm>
            <a:off x="1267200" y="406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1267200" y="406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7" name="Rectangle 76"/>
          <p:cNvSpPr/>
          <p:nvPr/>
        </p:nvSpPr>
        <p:spPr>
          <a:xfrm>
            <a:off x="1735200" y="4062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1735200" y="406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79" name="Rectangle 78"/>
          <p:cNvSpPr/>
          <p:nvPr/>
        </p:nvSpPr>
        <p:spPr>
          <a:xfrm>
            <a:off x="2203200" y="40625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2203200" y="406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81" name="Rectangle 80"/>
          <p:cNvSpPr/>
          <p:nvPr/>
        </p:nvSpPr>
        <p:spPr>
          <a:xfrm>
            <a:off x="2671200" y="406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2671200" y="406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83" name="Rectangle 82"/>
          <p:cNvSpPr/>
          <p:nvPr/>
        </p:nvSpPr>
        <p:spPr>
          <a:xfrm>
            <a:off x="3139200" y="406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3139200" y="406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85" name="Rectangle 84"/>
          <p:cNvSpPr/>
          <p:nvPr/>
        </p:nvSpPr>
        <p:spPr>
          <a:xfrm>
            <a:off x="1267200" y="2190599"/>
            <a:ext cx="1404000" cy="1404000"/>
          </a:xfrm>
          <a:prstGeom prst="rect">
            <a:avLst/>
          </a:prstGeom>
          <a:noFill/>
          <a:ln w="34925">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6" name="Connector 85"/>
          <p:cNvCxnSpPr/>
          <p:nvPr/>
        </p:nvCxnSpPr>
        <p:spPr>
          <a:xfrm>
            <a:off x="1735200" y="2190599"/>
            <a:ext cx="1404000" cy="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3139200" y="2190599"/>
            <a:ext cx="0" cy="140400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1735200" y="3594599"/>
            <a:ext cx="1404000" cy="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735200" y="2190599"/>
            <a:ext cx="0" cy="140400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679200" y="2892599"/>
            <a:ext cx="576000" cy="0"/>
          </a:xfrm>
          <a:prstGeom prst="line">
            <a:avLst/>
          </a:prstGeom>
          <a:ln w="1905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91" name="Isosceles Triangle 90"/>
          <p:cNvSpPr/>
          <p:nvPr/>
        </p:nvSpPr>
        <p:spPr>
          <a:xfrm rot="5400000">
            <a:off x="4215600" y="281699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4381200" y="2424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4381200" y="2424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94" name="Rectangle 93"/>
          <p:cNvSpPr/>
          <p:nvPr/>
        </p:nvSpPr>
        <p:spPr>
          <a:xfrm>
            <a:off x="4849200" y="2424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4849200" y="2424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96" name="Rectangle 95"/>
          <p:cNvSpPr/>
          <p:nvPr/>
        </p:nvSpPr>
        <p:spPr>
          <a:xfrm>
            <a:off x="5317200" y="2424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5317200" y="2424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98" name="Rectangle 97"/>
          <p:cNvSpPr/>
          <p:nvPr/>
        </p:nvSpPr>
        <p:spPr>
          <a:xfrm>
            <a:off x="4381200" y="2892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4381200" y="289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0" name="Rectangle 99"/>
          <p:cNvSpPr/>
          <p:nvPr/>
        </p:nvSpPr>
        <p:spPr>
          <a:xfrm>
            <a:off x="4849200" y="2892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4849200" y="2892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02" name="Rectangle 101"/>
          <p:cNvSpPr/>
          <p:nvPr/>
        </p:nvSpPr>
        <p:spPr>
          <a:xfrm>
            <a:off x="5317200" y="2892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5317200" y="289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4" name="Rectangle 103"/>
          <p:cNvSpPr/>
          <p:nvPr/>
        </p:nvSpPr>
        <p:spPr>
          <a:xfrm>
            <a:off x="4381200" y="3360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4381200" y="336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6" name="Rectangle 105"/>
          <p:cNvSpPr/>
          <p:nvPr/>
        </p:nvSpPr>
        <p:spPr>
          <a:xfrm>
            <a:off x="4849200" y="33605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TextBox 106"/>
          <p:cNvSpPr txBox="1"/>
          <p:nvPr/>
        </p:nvSpPr>
        <p:spPr>
          <a:xfrm>
            <a:off x="4849200" y="33605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08" name="Rectangle 107"/>
          <p:cNvSpPr/>
          <p:nvPr/>
        </p:nvSpPr>
        <p:spPr>
          <a:xfrm>
            <a:off x="5317200" y="33605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5317200" y="336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10" name="TextBox 109"/>
          <p:cNvSpPr txBox="1"/>
          <p:nvPr/>
        </p:nvSpPr>
        <p:spPr>
          <a:xfrm>
            <a:off x="4381200" y="3936599"/>
            <a:ext cx="2556000" cy="251999"/>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A vertical-edge detector: add the left, subtract the right</a:t>
            </a:r>
          </a:p>
        </p:txBody>
      </p:sp>
      <p:cxnSp>
        <p:nvCxnSpPr>
          <p:cNvPr id="111" name="Connector 110"/>
          <p:cNvCxnSpPr/>
          <p:nvPr/>
        </p:nvCxnSpPr>
        <p:spPr>
          <a:xfrm>
            <a:off x="5857200" y="3126599"/>
            <a:ext cx="522000" cy="0"/>
          </a:xfrm>
          <a:prstGeom prst="line">
            <a:avLst/>
          </a:prstGeom>
          <a:ln w="1905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112" name="Isosceles Triangle 111"/>
          <p:cNvSpPr/>
          <p:nvPr/>
        </p:nvSpPr>
        <p:spPr>
          <a:xfrm rot="5400000">
            <a:off x="6339600" y="305099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6541200" y="1722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TextBox 113"/>
          <p:cNvSpPr txBox="1"/>
          <p:nvPr/>
        </p:nvSpPr>
        <p:spPr>
          <a:xfrm>
            <a:off x="6541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5" name="Rectangle 114"/>
          <p:cNvSpPr/>
          <p:nvPr/>
        </p:nvSpPr>
        <p:spPr>
          <a:xfrm>
            <a:off x="7009200" y="1722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TextBox 115"/>
          <p:cNvSpPr txBox="1"/>
          <p:nvPr/>
        </p:nvSpPr>
        <p:spPr>
          <a:xfrm>
            <a:off x="7009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7" name="Rectangle 116"/>
          <p:cNvSpPr/>
          <p:nvPr/>
        </p:nvSpPr>
        <p:spPr>
          <a:xfrm>
            <a:off x="7477200" y="1722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7477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9" name="Rectangle 118"/>
          <p:cNvSpPr/>
          <p:nvPr/>
        </p:nvSpPr>
        <p:spPr>
          <a:xfrm>
            <a:off x="7945200" y="1722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7945200" y="1722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21" name="Rectangle 120"/>
          <p:cNvSpPr/>
          <p:nvPr/>
        </p:nvSpPr>
        <p:spPr>
          <a:xfrm>
            <a:off x="6541200" y="2190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6541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3" name="Rectangle 122"/>
          <p:cNvSpPr/>
          <p:nvPr/>
        </p:nvSpPr>
        <p:spPr>
          <a:xfrm>
            <a:off x="7009200" y="2190599"/>
            <a:ext cx="468000" cy="468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TextBox 123"/>
          <p:cNvSpPr txBox="1"/>
          <p:nvPr/>
        </p:nvSpPr>
        <p:spPr>
          <a:xfrm>
            <a:off x="7009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5" name="Rectangle 124"/>
          <p:cNvSpPr/>
          <p:nvPr/>
        </p:nvSpPr>
        <p:spPr>
          <a:xfrm>
            <a:off x="7477200" y="2190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TextBox 125"/>
          <p:cNvSpPr txBox="1"/>
          <p:nvPr/>
        </p:nvSpPr>
        <p:spPr>
          <a:xfrm>
            <a:off x="7477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7" name="Rectangle 126"/>
          <p:cNvSpPr/>
          <p:nvPr/>
        </p:nvSpPr>
        <p:spPr>
          <a:xfrm>
            <a:off x="7945200" y="2190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TextBox 127"/>
          <p:cNvSpPr txBox="1"/>
          <p:nvPr/>
        </p:nvSpPr>
        <p:spPr>
          <a:xfrm>
            <a:off x="7945200" y="2190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9" name="Rectangle 128"/>
          <p:cNvSpPr/>
          <p:nvPr/>
        </p:nvSpPr>
        <p:spPr>
          <a:xfrm>
            <a:off x="6541200" y="2658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TextBox 129"/>
          <p:cNvSpPr txBox="1"/>
          <p:nvPr/>
        </p:nvSpPr>
        <p:spPr>
          <a:xfrm>
            <a:off x="6541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1" name="Rectangle 130"/>
          <p:cNvSpPr/>
          <p:nvPr/>
        </p:nvSpPr>
        <p:spPr>
          <a:xfrm>
            <a:off x="7009200" y="2658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TextBox 131"/>
          <p:cNvSpPr txBox="1"/>
          <p:nvPr/>
        </p:nvSpPr>
        <p:spPr>
          <a:xfrm>
            <a:off x="7009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3" name="Rectangle 132"/>
          <p:cNvSpPr/>
          <p:nvPr/>
        </p:nvSpPr>
        <p:spPr>
          <a:xfrm>
            <a:off x="7477200" y="2658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TextBox 133"/>
          <p:cNvSpPr txBox="1"/>
          <p:nvPr/>
        </p:nvSpPr>
        <p:spPr>
          <a:xfrm>
            <a:off x="7477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5" name="Rectangle 134"/>
          <p:cNvSpPr/>
          <p:nvPr/>
        </p:nvSpPr>
        <p:spPr>
          <a:xfrm>
            <a:off x="7945200" y="26585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TextBox 135"/>
          <p:cNvSpPr txBox="1"/>
          <p:nvPr/>
        </p:nvSpPr>
        <p:spPr>
          <a:xfrm>
            <a:off x="7945200" y="2658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7" name="Rectangle 136"/>
          <p:cNvSpPr/>
          <p:nvPr/>
        </p:nvSpPr>
        <p:spPr>
          <a:xfrm>
            <a:off x="6541200" y="3126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TextBox 137"/>
          <p:cNvSpPr txBox="1"/>
          <p:nvPr/>
        </p:nvSpPr>
        <p:spPr>
          <a:xfrm>
            <a:off x="6541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39" name="Rectangle 138"/>
          <p:cNvSpPr/>
          <p:nvPr/>
        </p:nvSpPr>
        <p:spPr>
          <a:xfrm>
            <a:off x="7009200" y="3126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TextBox 139"/>
          <p:cNvSpPr txBox="1"/>
          <p:nvPr/>
        </p:nvSpPr>
        <p:spPr>
          <a:xfrm>
            <a:off x="7009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1" name="Rectangle 140"/>
          <p:cNvSpPr/>
          <p:nvPr/>
        </p:nvSpPr>
        <p:spPr>
          <a:xfrm>
            <a:off x="7477200" y="3126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TextBox 141"/>
          <p:cNvSpPr txBox="1"/>
          <p:nvPr/>
        </p:nvSpPr>
        <p:spPr>
          <a:xfrm>
            <a:off x="7477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3" name="Rectangle 142"/>
          <p:cNvSpPr/>
          <p:nvPr/>
        </p:nvSpPr>
        <p:spPr>
          <a:xfrm>
            <a:off x="7945200" y="31265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TextBox 143"/>
          <p:cNvSpPr txBox="1"/>
          <p:nvPr/>
        </p:nvSpPr>
        <p:spPr>
          <a:xfrm>
            <a:off x="7945200" y="31265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5" name="Rectangle 144"/>
          <p:cNvSpPr/>
          <p:nvPr/>
        </p:nvSpPr>
        <p:spPr>
          <a:xfrm>
            <a:off x="7009200" y="2190599"/>
            <a:ext cx="468000" cy="468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799200" y="4788000"/>
            <a:ext cx="10593719" cy="917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TextBox 146"/>
          <p:cNvSpPr txBox="1"/>
          <p:nvPr/>
        </p:nvSpPr>
        <p:spPr>
          <a:xfrm>
            <a:off x="1015200" y="4924800"/>
            <a:ext cx="3960000" cy="684000"/>
          </a:xfrm>
          <a:prstGeom prst="rect">
            <a:avLst/>
          </a:prstGeom>
          <a:noFill/>
        </p:spPr>
        <p:txBody>
          <a:bodyPr wrap="square" anchor="t" lIns="0" rIns="0" tIns="0" bIns="0">
            <a:spAutoFit/>
          </a:bodyPr>
          <a:lstStyle/>
          <a:p>
            <a:pPr algn="l">
              <a:lnSpc>
                <a:spcPct val="124000"/>
              </a:lnSpc>
            </a:pPr>
            <a:r>
              <a:rPr sz="1250" b="0" i="0">
                <a:solidFill>
                  <a:srgbClr val="E2E8F0"/>
                </a:solidFill>
                <a:latin typeface="Menlo"/>
              </a:rPr>
              <a:t>+1x0 +0x9 -1x9
+1x0 +0x8 -1x8
+1x0 +0x9 -1x9</a:t>
            </a:r>
          </a:p>
        </p:txBody>
      </p:sp>
      <p:sp>
        <p:nvSpPr>
          <p:cNvPr id="148" name="TextBox 147"/>
          <p:cNvSpPr txBox="1"/>
          <p:nvPr/>
        </p:nvSpPr>
        <p:spPr>
          <a:xfrm>
            <a:off x="3823200" y="4924800"/>
            <a:ext cx="1800000" cy="684000"/>
          </a:xfrm>
          <a:prstGeom prst="rect">
            <a:avLst/>
          </a:prstGeom>
          <a:noFill/>
        </p:spPr>
        <p:txBody>
          <a:bodyPr wrap="square" anchor="t" lIns="0" rIns="0" tIns="0" bIns="0">
            <a:spAutoFit/>
          </a:bodyPr>
          <a:lstStyle/>
          <a:p>
            <a:pPr algn="l">
              <a:lnSpc>
                <a:spcPct val="125000"/>
              </a:lnSpc>
            </a:pPr>
            <a:r>
              <a:rPr sz="1400" b="1" i="0">
                <a:solidFill>
                  <a:srgbClr val="93C5FD"/>
                </a:solidFill>
                <a:latin typeface="Menlo"/>
              </a:rPr>
              <a:t>= -26</a:t>
            </a:r>
          </a:p>
        </p:txBody>
      </p:sp>
      <p:sp>
        <p:nvSpPr>
          <p:cNvPr id="149" name="TextBox 148"/>
          <p:cNvSpPr txBox="1"/>
          <p:nvPr/>
        </p:nvSpPr>
        <p:spPr>
          <a:xfrm>
            <a:off x="5803200" y="4939200"/>
            <a:ext cx="5373719" cy="720000"/>
          </a:xfrm>
          <a:prstGeom prst="rect">
            <a:avLst/>
          </a:prstGeom>
          <a:noFill/>
        </p:spPr>
        <p:txBody>
          <a:bodyPr wrap="square" anchor="t" lIns="0" rIns="0" tIns="0" bIns="0">
            <a:spAutoFit/>
          </a:bodyPr>
          <a:lstStyle/>
          <a:p>
            <a:pPr algn="l">
              <a:lnSpc>
                <a:spcPct val="130000"/>
              </a:lnSpc>
            </a:pPr>
            <a:r>
              <a:rPr sz="1150" b="0" i="0">
                <a:solidFill>
                  <a:srgbClr val="E2E8F0"/>
                </a:solidFill>
                <a:latin typeface="Source Han Sans SC"/>
              </a:rPr>
              <a:t>The highlighted window multiplied out element by element gives the number on the right. The dashed square is where the kernel lands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A convolution is one sliding dot product — write it once by hand</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The hand-written version is not what you will ship; it is what makes feature map, stride and padding mean something</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06 / 32</a:t>
            </a:r>
          </a:p>
        </p:txBody>
      </p:sp>
      <p:sp>
        <p:nvSpPr>
          <p:cNvPr id="10" name="Rectangle 9"/>
          <p:cNvSpPr/>
          <p:nvPr/>
        </p:nvSpPr>
        <p:spPr>
          <a:xfrm>
            <a:off x="799200"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1. Naive: one 3x3 kernel over an 8x8 image</a:t>
            </a:r>
          </a:p>
        </p:txBody>
      </p:sp>
      <p:sp>
        <p:nvSpPr>
          <p:cNvPr id="13" name="TextBox 12"/>
          <p:cNvSpPr txBox="1"/>
          <p:nvPr/>
        </p:nvSpPr>
        <p:spPr>
          <a:xfrm>
            <a:off x="997200" y="1584000"/>
            <a:ext cx="4789259" cy="3582000"/>
          </a:xfrm>
          <a:prstGeom prst="rect">
            <a:avLst/>
          </a:prstGeom>
          <a:noFill/>
        </p:spPr>
        <p:txBody>
          <a:bodyPr wrap="square" anchor="t" lIns="0" rIns="0" tIns="0" bIns="0">
            <a:spAutoFit/>
          </a:bodyPr>
          <a:lstStyle/>
          <a:p>
            <a:pPr algn="l">
              <a:lnSpc>
                <a:spcPct val="128000"/>
              </a:lnSpc>
            </a:pPr>
            <a:r>
              <a:rPr sz="1000" b="0" i="0">
                <a:solidFill>
                  <a:srgbClr val="E2E8F0"/>
                </a:solidFill>
                <a:latin typeface="Menlo"/>
              </a:rPr>
              <a:t>def conv2d_naive(img, kernel, stride=1, pad=0):</a:t>
            </a:r>
          </a:p>
          <a:p>
            <a:pPr algn="l">
              <a:lnSpc>
                <a:spcPct val="128000"/>
              </a:lnSpc>
            </a:pPr>
            <a:r>
              <a:rPr sz="1000" b="0" i="0">
                <a:solidFill>
                  <a:srgbClr val="E2E8F0"/>
                </a:solidFill>
                <a:latin typeface="Menlo"/>
              </a:rPr>
              <a:t>    # img: (H, W)   kernel: (kh, kw)</a:t>
            </a:r>
          </a:p>
          <a:p>
            <a:pPr algn="l">
              <a:lnSpc>
                <a:spcPct val="128000"/>
              </a:lnSpc>
            </a:pPr>
            <a:r>
              <a:rPr sz="1000" b="0" i="0">
                <a:solidFill>
                  <a:srgbClr val="E2E8F0"/>
                </a:solidFill>
                <a:latin typeface="Menlo"/>
              </a:rPr>
              <a:t>    H, W = img.shape</a:t>
            </a:r>
          </a:p>
          <a:p>
            <a:pPr algn="l">
              <a:lnSpc>
                <a:spcPct val="128000"/>
              </a:lnSpc>
            </a:pPr>
            <a:r>
              <a:rPr sz="1000" b="0" i="0">
                <a:solidFill>
                  <a:srgbClr val="E2E8F0"/>
                </a:solidFill>
                <a:latin typeface="Menlo"/>
              </a:rPr>
              <a:t>    kh, kw = kernel.shape</a:t>
            </a:r>
          </a:p>
          <a:p>
            <a:pPr algn="l">
              <a:lnSpc>
                <a:spcPct val="128000"/>
              </a:lnSpc>
            </a:pPr>
            <a:r>
              <a:rPr sz="1000" b="0" i="0">
                <a:solidFill>
                  <a:srgbClr val="E2E8F0"/>
                </a:solidFill>
                <a:latin typeface="Menlo"/>
              </a:rPr>
              <a:t>    if pad:</a:t>
            </a:r>
          </a:p>
          <a:p>
            <a:pPr algn="l">
              <a:lnSpc>
                <a:spcPct val="128000"/>
              </a:lnSpc>
            </a:pPr>
            <a:r>
              <a:rPr sz="1000" b="0" i="0">
                <a:solidFill>
                  <a:srgbClr val="E2E8F0"/>
                </a:solidFill>
                <a:latin typeface="Menlo"/>
              </a:rPr>
              <a:t>        img = F.pad(img, (pad,) * 4)</a:t>
            </a:r>
          </a:p>
          <a:p>
            <a:pPr algn="l">
              <a:lnSpc>
                <a:spcPct val="128000"/>
              </a:lnSpc>
            </a:pPr>
            <a:r>
              <a:rPr sz="1000" b="0" i="0">
                <a:solidFill>
                  <a:srgbClr val="E2E8F0"/>
                </a:solidFill>
                <a:latin typeface="Menlo"/>
              </a:rPr>
              <a:t>        H, W = H + 2 * pad, W + 2 * pad</a:t>
            </a:r>
          </a:p>
          <a:p>
            <a:pPr algn="l">
              <a:lnSpc>
                <a:spcPct val="128000"/>
              </a:lnSpc>
            </a:pPr>
            <a:r>
              <a:rPr sz="1000" b="0" i="0">
                <a:solidFill>
                  <a:srgbClr val="E2E8F0"/>
                </a:solidFill>
                <a:latin typeface="Menlo"/>
              </a:rPr>
              <a:t>    oh = (H - kh) // stride + 1</a:t>
            </a:r>
          </a:p>
          <a:p>
            <a:pPr algn="l">
              <a:lnSpc>
                <a:spcPct val="128000"/>
              </a:lnSpc>
            </a:pPr>
            <a:r>
              <a:rPr sz="1000" b="0" i="0">
                <a:solidFill>
                  <a:srgbClr val="E2E8F0"/>
                </a:solidFill>
                <a:latin typeface="Menlo"/>
              </a:rPr>
              <a:t>    ow = (W - kw) // stride + 1</a:t>
            </a:r>
          </a:p>
          <a:p>
            <a:pPr algn="l">
              <a:lnSpc>
                <a:spcPct val="128000"/>
              </a:lnSpc>
            </a:pPr>
            <a:r>
              <a:rPr sz="1000" b="0" i="0">
                <a:solidFill>
                  <a:srgbClr val="E2E8F0"/>
                </a:solidFill>
                <a:latin typeface="Menlo"/>
              </a:rPr>
              <a:t>    out = torch.zeros(oh, ow)</a:t>
            </a:r>
          </a:p>
          <a:p>
            <a:pPr algn="l">
              <a:lnSpc>
                <a:spcPct val="128000"/>
              </a:lnSpc>
            </a:pPr>
            <a:r>
              <a:rPr sz="1000" b="0" i="0">
                <a:solidFill>
                  <a:srgbClr val="E2E8F0"/>
                </a:solidFill>
                <a:latin typeface="Menlo"/>
              </a:rPr>
              <a:t>    for i in range(oh):</a:t>
            </a:r>
          </a:p>
          <a:p>
            <a:pPr algn="l">
              <a:lnSpc>
                <a:spcPct val="128000"/>
              </a:lnSpc>
            </a:pPr>
            <a:r>
              <a:rPr sz="1000" b="0" i="0">
                <a:solidFill>
                  <a:srgbClr val="E2E8F0"/>
                </a:solidFill>
                <a:latin typeface="Menlo"/>
              </a:rPr>
              <a:t>        for j in range(ow):</a:t>
            </a:r>
          </a:p>
          <a:p>
            <a:pPr algn="l">
              <a:lnSpc>
                <a:spcPct val="128000"/>
              </a:lnSpc>
            </a:pPr>
            <a:r>
              <a:rPr sz="1000" b="0" i="0">
                <a:solidFill>
                  <a:srgbClr val="E2E8F0"/>
                </a:solidFill>
                <a:latin typeface="Menlo"/>
              </a:rPr>
              <a:t>            patch = img[i*stride : i*stride+kh,</a:t>
            </a:r>
          </a:p>
          <a:p>
            <a:pPr algn="l">
              <a:lnSpc>
                <a:spcPct val="128000"/>
              </a:lnSpc>
            </a:pPr>
            <a:r>
              <a:rPr sz="1000" b="0" i="0">
                <a:solidFill>
                  <a:srgbClr val="E2E8F0"/>
                </a:solidFill>
                <a:latin typeface="Menlo"/>
              </a:rPr>
              <a:t>                        j*stride : j*stride+kw]</a:t>
            </a:r>
          </a:p>
          <a:p>
            <a:pPr algn="l">
              <a:lnSpc>
                <a:spcPct val="128000"/>
              </a:lnSpc>
            </a:pPr>
            <a:r>
              <a:rPr sz="1000" b="0" i="0">
                <a:solidFill>
                  <a:srgbClr val="E2E8F0"/>
                </a:solidFill>
                <a:latin typeface="Menlo"/>
              </a:rPr>
              <a:t>            out[i, j] = (patch * kernel).sum()</a:t>
            </a:r>
          </a:p>
          <a:p>
            <a:pPr algn="l">
              <a:lnSpc>
                <a:spcPct val="128000"/>
              </a:lnSpc>
            </a:pPr>
            <a:r>
              <a:rPr sz="1000" b="0" i="0">
                <a:solidFill>
                  <a:srgbClr val="E2E8F0"/>
                </a:solidFill>
                <a:latin typeface="Menlo"/>
              </a:rPr>
              <a:t>    return out</a:t>
            </a:r>
          </a:p>
        </p:txBody>
      </p:sp>
      <p:sp>
        <p:nvSpPr>
          <p:cNvPr id="14" name="Rectangle 13"/>
          <p:cNvSpPr/>
          <p:nvPr/>
        </p:nvSpPr>
        <p:spPr>
          <a:xfrm>
            <a:off x="6207659"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2. Check it against nn.Conv2d (assert, do not trust)</a:t>
            </a:r>
          </a:p>
        </p:txBody>
      </p:sp>
      <p:sp>
        <p:nvSpPr>
          <p:cNvPr id="17" name="TextBox 16"/>
          <p:cNvSpPr txBox="1"/>
          <p:nvPr/>
        </p:nvSpPr>
        <p:spPr>
          <a:xfrm>
            <a:off x="6405659" y="1584000"/>
            <a:ext cx="4789259" cy="3582000"/>
          </a:xfrm>
          <a:prstGeom prst="rect">
            <a:avLst/>
          </a:prstGeom>
          <a:noFill/>
        </p:spPr>
        <p:txBody>
          <a:bodyPr wrap="square" anchor="t" lIns="0" rIns="0" tIns="0" bIns="0">
            <a:spAutoFit/>
          </a:bodyPr>
          <a:lstStyle/>
          <a:p>
            <a:pPr algn="l">
              <a:lnSpc>
                <a:spcPct val="128000"/>
              </a:lnSpc>
            </a:pPr>
            <a:r>
              <a:rPr sz="1000" b="0" i="0">
                <a:solidFill>
                  <a:srgbClr val="E2E8F0"/>
                </a:solidFill>
                <a:latin typeface="Menlo"/>
              </a:rPr>
              <a:t>torch.manual_seed(0)</a:t>
            </a:r>
          </a:p>
          <a:p>
            <a:pPr algn="l">
              <a:lnSpc>
                <a:spcPct val="128000"/>
              </a:lnSpc>
            </a:pPr>
            <a:r>
              <a:rPr sz="1000" b="0" i="0">
                <a:solidFill>
                  <a:srgbClr val="E2E8F0"/>
                </a:solidFill>
                <a:latin typeface="Menlo"/>
              </a:rPr>
              <a:t>img    = torch.randn(8, 8)</a:t>
            </a:r>
          </a:p>
          <a:p>
            <a:pPr algn="l">
              <a:lnSpc>
                <a:spcPct val="128000"/>
              </a:lnSpc>
            </a:pPr>
            <a:r>
              <a:rPr sz="1000" b="0" i="0">
                <a:solidFill>
                  <a:srgbClr val="E2E8F0"/>
                </a:solidFill>
                <a:latin typeface="Menlo"/>
              </a:rPr>
              <a:t>kernel = torch.randn(3, 3)</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mine = conv2d_naive(img, kernel, stride=1, pad=1)</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conv = nn.Conv2d(1, 1, 3, stride=1, padding=1,</a:t>
            </a:r>
          </a:p>
          <a:p>
            <a:pPr algn="l">
              <a:lnSpc>
                <a:spcPct val="128000"/>
              </a:lnSpc>
            </a:pPr>
            <a:r>
              <a:rPr sz="1000" b="0" i="0">
                <a:solidFill>
                  <a:srgbClr val="E2E8F0"/>
                </a:solidFill>
                <a:latin typeface="Menlo"/>
              </a:rPr>
              <a:t>                 bias=False)</a:t>
            </a:r>
          </a:p>
          <a:p>
            <a:pPr algn="l">
              <a:lnSpc>
                <a:spcPct val="128000"/>
              </a:lnSpc>
            </a:pPr>
            <a:r>
              <a:rPr sz="1000" b="0" i="0">
                <a:solidFill>
                  <a:srgbClr val="E2E8F0"/>
                </a:solidFill>
                <a:latin typeface="Menlo"/>
              </a:rPr>
              <a:t>conv.weight.data = kernel.view(1, 1, 3, 3)</a:t>
            </a:r>
          </a:p>
          <a:p>
            <a:pPr algn="l">
              <a:lnSpc>
                <a:spcPct val="128000"/>
              </a:lnSpc>
            </a:pPr>
            <a:r>
              <a:rPr sz="1000" b="0" i="0">
                <a:solidFill>
                  <a:srgbClr val="E2E8F0"/>
                </a:solidFill>
                <a:latin typeface="Menlo"/>
              </a:rPr>
              <a:t>ref = conv(img.view(1, 1, 8, 8))[0, 0]</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assert mine.shape == ref.shape == (8, 8)</a:t>
            </a:r>
          </a:p>
          <a:p>
            <a:pPr algn="l">
              <a:lnSpc>
                <a:spcPct val="128000"/>
              </a:lnSpc>
            </a:pPr>
            <a:r>
              <a:rPr sz="1000" b="0" i="0">
                <a:solidFill>
                  <a:srgbClr val="E2E8F0"/>
                </a:solidFill>
                <a:latin typeface="Menlo"/>
              </a:rPr>
              <a:t>assert torch.allclose(mine, ref, atol=1e-5)</a:t>
            </a:r>
          </a:p>
          <a:p>
            <a:pPr algn="l">
              <a:lnSpc>
                <a:spcPct val="128000"/>
              </a:lnSpc>
            </a:pPr>
            <a:r>
              <a:rPr sz="1000" b="0" i="0">
                <a:solidFill>
                  <a:srgbClr val="E2E8F0"/>
                </a:solidFill>
                <a:latin typeface="Menlo"/>
              </a:rPr>
              <a:t>print('hand-written == nn.Conv2d')</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 receptive field: how much input one output sees</a:t>
            </a:r>
          </a:p>
          <a:p>
            <a:pPr algn="l">
              <a:lnSpc>
                <a:spcPct val="128000"/>
              </a:lnSpc>
            </a:pPr>
            <a:r>
              <a:rPr sz="1000" b="0" i="0">
                <a:solidFill>
                  <a:srgbClr val="E2E8F0"/>
                </a:solidFill>
                <a:latin typeface="Menlo"/>
              </a:rPr>
              <a:t># 3x3 -&gt; 3; a second 3x3 -&gt; 5; add pooling -&gt; more</a:t>
            </a:r>
          </a:p>
        </p:txBody>
      </p:sp>
      <p:sp>
        <p:nvSpPr>
          <p:cNvPr id="18" name="TextBox 17"/>
          <p:cNvSpPr txBox="1"/>
          <p:nvPr/>
        </p:nvSpPr>
        <p:spPr>
          <a:xfrm>
            <a:off x="799200" y="5418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Once this page runs you know that all a convolution does is take a patch, multiply element-wise, and sum — repeated. Everything else is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Where the parameters actually are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Same digits 8x8 data, same split. Parameter counts are counted by the code, not estimated</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measured</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07 / 32</a:t>
            </a:r>
          </a:p>
        </p:txBody>
      </p:sp>
      <p:graphicFrame>
        <p:nvGraphicFramePr>
          <p:cNvPr id="10" name="Table 9"/>
          <p:cNvGraphicFramePr>
            <a:graphicFrameLocks noGrp="1"/>
          </p:cNvGraphicFramePr>
          <p:nvPr/>
        </p:nvGraphicFramePr>
        <p:xfrm>
          <a:off x="799200" y="1152000"/>
          <a:ext cx="10584000" cy="3311999"/>
        </p:xfrm>
        <a:graphic>
          <a:graphicData uri="http://schemas.openxmlformats.org/drawingml/2006/table">
            <a:tbl>
              <a:tblPr firstRow="1" bandRow="1">
                <a:tableStyleId>{5C22544A-7EE6-4342-B048-85BDC9FD1C3A}</a:tableStyleId>
              </a:tblPr>
              <a:tblGrid>
                <a:gridCol w="2736000"/>
                <a:gridCol w="2160000"/>
                <a:gridCol w="2664000"/>
                <a:gridCol w="3024000"/>
              </a:tblGrid>
              <a:tr h="413999">
                <a:tc>
                  <a:txBody>
                    <a:bodyPr/>
                    <a:lstStyle/>
                    <a:p>
                      <a:r>
                        <a:rPr sz="1250" b="1">
                          <a:solidFill>
                            <a:srgbClr val="FFFFFF"/>
                          </a:solidFill>
                          <a:latin typeface="Source Han Sans SC"/>
                        </a:rPr>
                        <a:t>Layer</a:t>
                      </a:r>
                    </a:p>
                  </a:txBody>
                  <a:tcPr>
                    <a:solidFill>
                      <a:srgbClr val="0E3F8C"/>
                    </a:solidFill>
                  </a:tcPr>
                </a:tc>
                <a:tc>
                  <a:txBody>
                    <a:bodyPr/>
                    <a:lstStyle/>
                    <a:p>
                      <a:r>
                        <a:rPr sz="1250" b="1">
                          <a:solidFill>
                            <a:srgbClr val="FFFFFF"/>
                          </a:solidFill>
                          <a:latin typeface="Source Han Sans SC"/>
                        </a:rPr>
                        <a:t>Shape</a:t>
                      </a:r>
                    </a:p>
                  </a:txBody>
                  <a:tcPr>
                    <a:solidFill>
                      <a:srgbClr val="0E3F8C"/>
                    </a:solidFill>
                  </a:tcPr>
                </a:tc>
                <a:tc>
                  <a:txBody>
                    <a:bodyPr/>
                    <a:lstStyle/>
                    <a:p>
                      <a:r>
                        <a:rPr sz="1250" b="1">
                          <a:solidFill>
                            <a:srgbClr val="FFFFFF"/>
                          </a:solidFill>
                          <a:latin typeface="Source Han Sans SC"/>
                        </a:rPr>
                        <a:t>Params</a:t>
                      </a:r>
                    </a:p>
                  </a:txBody>
                  <a:tcPr>
                    <a:solidFill>
                      <a:srgbClr val="0E3F8C"/>
                    </a:solidFill>
                  </a:tcPr>
                </a:tc>
                <a:tc>
                  <a:txBody>
                    <a:bodyPr/>
                    <a:lstStyle/>
                    <a:p>
                      <a:r>
                        <a:rPr sz="1250" b="1">
                          <a:solidFill>
                            <a:srgbClr val="FFFFFF"/>
                          </a:solidFill>
                          <a:latin typeface="Source Han Sans SC"/>
                        </a:rPr>
                        <a:t>Running</a:t>
                      </a:r>
                    </a:p>
                  </a:txBody>
                  <a:tcPr>
                    <a:solidFill>
                      <a:srgbClr val="0E3F8C"/>
                    </a:solidFill>
                  </a:tcPr>
                </a:tc>
              </a:tr>
              <a:tr h="413999">
                <a:tc>
                  <a:txBody>
                    <a:bodyPr/>
                    <a:lstStyle/>
                    <a:p>
                      <a:r>
                        <a:rPr sz="1150" b="1">
                          <a:solidFill>
                            <a:srgbClr val="1F2937"/>
                          </a:solidFill>
                          <a:latin typeface="Source Han Sans SC"/>
                        </a:rPr>
                        <a:t>Input</a:t>
                      </a:r>
                    </a:p>
                  </a:txBody>
                  <a:tcPr>
                    <a:solidFill>
                      <a:srgbClr val="FFFFFF"/>
                    </a:solidFill>
                  </a:tcPr>
                </a:tc>
                <a:tc>
                  <a:txBody>
                    <a:bodyPr/>
                    <a:lstStyle/>
                    <a:p>
                      <a:r>
                        <a:rPr sz="1150" b="0">
                          <a:solidFill>
                            <a:srgbClr val="1F2937"/>
                          </a:solidFill>
                          <a:latin typeface="Source Han Sans SC"/>
                        </a:rPr>
                        <a:t>1x8x8</a:t>
                      </a:r>
                    </a:p>
                  </a:txBody>
                  <a:tcPr>
                    <a:solidFill>
                      <a:srgbClr val="FFFFFF"/>
                    </a:solidFill>
                  </a:tcPr>
                </a:tc>
                <a:tc>
                  <a:txBody>
                    <a:bodyPr/>
                    <a:lstStyle/>
                    <a:p>
                      <a:r>
                        <a:rPr sz="1150" b="0">
                          <a:solidFill>
                            <a:srgbClr val="1F2937"/>
                          </a:solidFill>
                          <a:latin typeface="Source Han Sans SC"/>
                        </a:rPr>
                        <a:t>0</a:t>
                      </a:r>
                    </a:p>
                  </a:txBody>
                  <a:tcPr>
                    <a:solidFill>
                      <a:srgbClr val="FFFFFF"/>
                    </a:solidFill>
                  </a:tcPr>
                </a:tc>
                <a:tc>
                  <a:txBody>
                    <a:bodyPr/>
                    <a:lstStyle/>
                    <a:p>
                      <a:r>
                        <a:rPr sz="1150" b="0">
                          <a:solidFill>
                            <a:srgbClr val="1F2937"/>
                          </a:solidFill>
                          <a:latin typeface="Source Han Sans SC"/>
                        </a:rPr>
                        <a:t>0</a:t>
                      </a:r>
                    </a:p>
                  </a:txBody>
                  <a:tcPr>
                    <a:solidFill>
                      <a:srgbClr val="FFFFFF"/>
                    </a:solidFill>
                  </a:tcPr>
                </a:tc>
              </a:tr>
              <a:tr h="413999">
                <a:tc>
                  <a:txBody>
                    <a:bodyPr/>
                    <a:lstStyle/>
                    <a:p>
                      <a:r>
                        <a:rPr sz="1150" b="1">
                          <a:solidFill>
                            <a:srgbClr val="1F2937"/>
                          </a:solidFill>
                          <a:latin typeface="Source Han Sans SC"/>
                        </a:rPr>
                        <a:t>Dense 64→128</a:t>
                      </a:r>
                    </a:p>
                  </a:txBody>
                  <a:tcPr>
                    <a:solidFill>
                      <a:srgbClr val="F0F5FC"/>
                    </a:solidFill>
                  </a:tcPr>
                </a:tc>
                <a:tc>
                  <a:txBody>
                    <a:bodyPr/>
                    <a:lstStyle/>
                    <a:p>
                      <a:r>
                        <a:rPr sz="1150" b="0">
                          <a:solidFill>
                            <a:srgbClr val="1F2937"/>
                          </a:solidFill>
                          <a:latin typeface="Source Han Sans SC"/>
                        </a:rPr>
                        <a:t>64→128</a:t>
                      </a:r>
                    </a:p>
                  </a:txBody>
                  <a:tcPr>
                    <a:solidFill>
                      <a:srgbClr val="F0F5FC"/>
                    </a:solidFill>
                  </a:tcPr>
                </a:tc>
                <a:tc>
                  <a:txBody>
                    <a:bodyPr/>
                    <a:lstStyle/>
                    <a:p>
                      <a:r>
                        <a:rPr sz="1150" b="0">
                          <a:solidFill>
                            <a:srgbClr val="1F2937"/>
                          </a:solidFill>
                          <a:latin typeface="Source Han Sans SC"/>
                        </a:rPr>
                        <a:t>8,320</a:t>
                      </a:r>
                    </a:p>
                  </a:txBody>
                  <a:tcPr>
                    <a:solidFill>
                      <a:srgbClr val="F0F5FC"/>
                    </a:solidFill>
                  </a:tcPr>
                </a:tc>
                <a:tc>
                  <a:txBody>
                    <a:bodyPr/>
                    <a:lstStyle/>
                    <a:p>
                      <a:r>
                        <a:rPr sz="1150" b="0">
                          <a:solidFill>
                            <a:srgbClr val="1F2937"/>
                          </a:solidFill>
                          <a:latin typeface="Source Han Sans SC"/>
                        </a:rPr>
                        <a:t>8,320</a:t>
                      </a:r>
                    </a:p>
                  </a:txBody>
                  <a:tcPr>
                    <a:solidFill>
                      <a:srgbClr val="F0F5FC"/>
                    </a:solidFill>
                  </a:tcPr>
                </a:tc>
              </a:tr>
              <a:tr h="413999">
                <a:tc>
                  <a:txBody>
                    <a:bodyPr/>
                    <a:lstStyle/>
                    <a:p>
                      <a:r>
                        <a:rPr sz="1150" b="1">
                          <a:solidFill>
                            <a:srgbClr val="1F2937"/>
                          </a:solidFill>
                          <a:latin typeface="Source Han Sans SC"/>
                        </a:rPr>
                        <a:t>Dense 128→64</a:t>
                      </a:r>
                    </a:p>
                  </a:txBody>
                  <a:tcPr>
                    <a:solidFill>
                      <a:srgbClr val="FFFFFF"/>
                    </a:solidFill>
                  </a:tcPr>
                </a:tc>
                <a:tc>
                  <a:txBody>
                    <a:bodyPr/>
                    <a:lstStyle/>
                    <a:p>
                      <a:r>
                        <a:rPr sz="1150" b="0">
                          <a:solidFill>
                            <a:srgbClr val="1F2937"/>
                          </a:solidFill>
                          <a:latin typeface="Source Han Sans SC"/>
                        </a:rPr>
                        <a:t>128→64</a:t>
                      </a:r>
                    </a:p>
                  </a:txBody>
                  <a:tcPr>
                    <a:solidFill>
                      <a:srgbClr val="FFFFFF"/>
                    </a:solidFill>
                  </a:tcPr>
                </a:tc>
                <a:tc>
                  <a:txBody>
                    <a:bodyPr/>
                    <a:lstStyle/>
                    <a:p>
                      <a:r>
                        <a:rPr sz="1150" b="0">
                          <a:solidFill>
                            <a:srgbClr val="1F2937"/>
                          </a:solidFill>
                          <a:latin typeface="Source Han Sans SC"/>
                        </a:rPr>
                        <a:t>8,256</a:t>
                      </a:r>
                    </a:p>
                  </a:txBody>
                  <a:tcPr>
                    <a:solidFill>
                      <a:srgbClr val="FFFFFF"/>
                    </a:solidFill>
                  </a:tcPr>
                </a:tc>
                <a:tc>
                  <a:txBody>
                    <a:bodyPr/>
                    <a:lstStyle/>
                    <a:p>
                      <a:r>
                        <a:rPr sz="1150" b="0">
                          <a:solidFill>
                            <a:srgbClr val="1F2937"/>
                          </a:solidFill>
                          <a:latin typeface="Source Han Sans SC"/>
                        </a:rPr>
                        <a:t>16,576</a:t>
                      </a:r>
                    </a:p>
                  </a:txBody>
                  <a:tcPr>
                    <a:solidFill>
                      <a:srgbClr val="FFFFFF"/>
                    </a:solidFill>
                  </a:tcPr>
                </a:tc>
              </a:tr>
              <a:tr h="413999">
                <a:tc>
                  <a:txBody>
                    <a:bodyPr/>
                    <a:lstStyle/>
                    <a:p>
                      <a:r>
                        <a:rPr sz="1150" b="1">
                          <a:solidFill>
                            <a:srgbClr val="1F2937"/>
                          </a:solidFill>
                          <a:latin typeface="Source Han Sans SC"/>
                        </a:rPr>
                        <a:t>Dense 64→10</a:t>
                      </a:r>
                    </a:p>
                  </a:txBody>
                  <a:tcPr>
                    <a:solidFill>
                      <a:srgbClr val="F0F5FC"/>
                    </a:solidFill>
                  </a:tcPr>
                </a:tc>
                <a:tc>
                  <a:txBody>
                    <a:bodyPr/>
                    <a:lstStyle/>
                    <a:p>
                      <a:r>
                        <a:rPr sz="1150" b="0">
                          <a:solidFill>
                            <a:srgbClr val="1F2937"/>
                          </a:solidFill>
                          <a:latin typeface="Source Han Sans SC"/>
                        </a:rPr>
                        <a:t>64→10</a:t>
                      </a:r>
                    </a:p>
                  </a:txBody>
                  <a:tcPr>
                    <a:solidFill>
                      <a:srgbClr val="F0F5FC"/>
                    </a:solidFill>
                  </a:tcPr>
                </a:tc>
                <a:tc>
                  <a:txBody>
                    <a:bodyPr/>
                    <a:lstStyle/>
                    <a:p>
                      <a:r>
                        <a:rPr sz="1150" b="0">
                          <a:solidFill>
                            <a:srgbClr val="1F2937"/>
                          </a:solidFill>
                          <a:latin typeface="Source Han Sans SC"/>
                        </a:rPr>
                        <a:t>650</a:t>
                      </a:r>
                    </a:p>
                  </a:txBody>
                  <a:tcPr>
                    <a:solidFill>
                      <a:srgbClr val="F0F5FC"/>
                    </a:solidFill>
                  </a:tcPr>
                </a:tc>
                <a:tc>
                  <a:txBody>
                    <a:bodyPr/>
                    <a:lstStyle/>
                    <a:p>
                      <a:r>
                        <a:rPr sz="1150" b="0">
                          <a:solidFill>
                            <a:srgbClr val="1F2937"/>
                          </a:solidFill>
                          <a:latin typeface="Source Han Sans SC"/>
                        </a:rPr>
                        <a:t>17,226</a:t>
                      </a:r>
                    </a:p>
                  </a:txBody>
                  <a:tcPr>
                    <a:solidFill>
                      <a:srgbClr val="F0F5FC"/>
                    </a:solidFill>
                  </a:tcPr>
                </a:tc>
              </a:tr>
              <a:tr h="413999">
                <a:tc>
                  <a:txBody>
                    <a:bodyPr/>
                    <a:lstStyle/>
                    <a:p>
                      <a:r>
                        <a:rPr sz="1150" b="1">
                          <a:solidFill>
                            <a:srgbClr val="1F2937"/>
                          </a:solidFill>
                          <a:latin typeface="Source Han Sans SC"/>
                        </a:rPr>
                        <a:t>Conv 1→8, 3x3</a:t>
                      </a:r>
                    </a:p>
                  </a:txBody>
                  <a:tcPr>
                    <a:solidFill>
                      <a:srgbClr val="FFFFFF"/>
                    </a:solidFill>
                  </a:tcPr>
                </a:tc>
                <a:tc>
                  <a:txBody>
                    <a:bodyPr/>
                    <a:lstStyle/>
                    <a:p>
                      <a:r>
                        <a:rPr sz="1150" b="0">
                          <a:solidFill>
                            <a:srgbClr val="1F2937"/>
                          </a:solidFill>
                          <a:latin typeface="Source Han Sans SC"/>
                        </a:rPr>
                        <a:t>8x8x8</a:t>
                      </a:r>
                    </a:p>
                  </a:txBody>
                  <a:tcPr>
                    <a:solidFill>
                      <a:srgbClr val="FFFFFF"/>
                    </a:solidFill>
                  </a:tcPr>
                </a:tc>
                <a:tc>
                  <a:txBody>
                    <a:bodyPr/>
                    <a:lstStyle/>
                    <a:p>
                      <a:r>
                        <a:rPr sz="1150" b="0">
                          <a:solidFill>
                            <a:srgbClr val="1F2937"/>
                          </a:solidFill>
                          <a:latin typeface="Source Han Sans SC"/>
                        </a:rPr>
                        <a:t>80</a:t>
                      </a:r>
                    </a:p>
                  </a:txBody>
                  <a:tcPr>
                    <a:solidFill>
                      <a:srgbClr val="FFFFFF"/>
                    </a:solidFill>
                  </a:tcPr>
                </a:tc>
                <a:tc>
                  <a:txBody>
                    <a:bodyPr/>
                    <a:lstStyle/>
                    <a:p>
                      <a:r>
                        <a:rPr sz="1150" b="0">
                          <a:solidFill>
                            <a:srgbClr val="1F2937"/>
                          </a:solidFill>
                          <a:latin typeface="Source Han Sans SC"/>
                        </a:rPr>
                        <a:t>80</a:t>
                      </a:r>
                    </a:p>
                  </a:txBody>
                  <a:tcPr>
                    <a:solidFill>
                      <a:srgbClr val="FFFFFF"/>
                    </a:solidFill>
                  </a:tcPr>
                </a:tc>
              </a:tr>
              <a:tr h="413999">
                <a:tc>
                  <a:txBody>
                    <a:bodyPr/>
                    <a:lstStyle/>
                    <a:p>
                      <a:r>
                        <a:rPr sz="1150" b="1">
                          <a:solidFill>
                            <a:srgbClr val="1F2937"/>
                          </a:solidFill>
                          <a:latin typeface="Source Han Sans SC"/>
                        </a:rPr>
                        <a:t>Conv 8→16, 3x3</a:t>
                      </a:r>
                    </a:p>
                  </a:txBody>
                  <a:tcPr>
                    <a:solidFill>
                      <a:srgbClr val="F0F5FC"/>
                    </a:solidFill>
                  </a:tcPr>
                </a:tc>
                <a:tc>
                  <a:txBody>
                    <a:bodyPr/>
                    <a:lstStyle/>
                    <a:p>
                      <a:r>
                        <a:rPr sz="1150" b="0">
                          <a:solidFill>
                            <a:srgbClr val="1F2937"/>
                          </a:solidFill>
                          <a:latin typeface="Source Han Sans SC"/>
                        </a:rPr>
                        <a:t>16x4x4</a:t>
                      </a:r>
                    </a:p>
                  </a:txBody>
                  <a:tcPr>
                    <a:solidFill>
                      <a:srgbClr val="F0F5FC"/>
                    </a:solidFill>
                  </a:tcPr>
                </a:tc>
                <a:tc>
                  <a:txBody>
                    <a:bodyPr/>
                    <a:lstStyle/>
                    <a:p>
                      <a:r>
                        <a:rPr sz="1150" b="0">
                          <a:solidFill>
                            <a:srgbClr val="1F2937"/>
                          </a:solidFill>
                          <a:latin typeface="Source Han Sans SC"/>
                        </a:rPr>
                        <a:t>1,168</a:t>
                      </a:r>
                    </a:p>
                  </a:txBody>
                  <a:tcPr>
                    <a:solidFill>
                      <a:srgbClr val="F0F5FC"/>
                    </a:solidFill>
                  </a:tcPr>
                </a:tc>
                <a:tc>
                  <a:txBody>
                    <a:bodyPr/>
                    <a:lstStyle/>
                    <a:p>
                      <a:r>
                        <a:rPr sz="1150" b="0">
                          <a:solidFill>
                            <a:srgbClr val="1F2937"/>
                          </a:solidFill>
                          <a:latin typeface="Source Han Sans SC"/>
                        </a:rPr>
                        <a:t>1,248</a:t>
                      </a:r>
                    </a:p>
                  </a:txBody>
                  <a:tcPr>
                    <a:solidFill>
                      <a:srgbClr val="F0F5FC"/>
                    </a:solidFill>
                  </a:tcPr>
                </a:tc>
              </a:tr>
              <a:tr h="414006">
                <a:tc>
                  <a:txBody>
                    <a:bodyPr/>
                    <a:lstStyle/>
                    <a:p>
                      <a:r>
                        <a:rPr sz="1150" b="1">
                          <a:solidFill>
                            <a:srgbClr val="1F2937"/>
                          </a:solidFill>
                          <a:latin typeface="Source Han Sans SC"/>
                        </a:rPr>
                        <a:t>Dense 64→10</a:t>
                      </a:r>
                    </a:p>
                  </a:txBody>
                  <a:tcPr>
                    <a:solidFill>
                      <a:srgbClr val="FFFFFF"/>
                    </a:solidFill>
                  </a:tcPr>
                </a:tc>
                <a:tc>
                  <a:txBody>
                    <a:bodyPr/>
                    <a:lstStyle/>
                    <a:p>
                      <a:r>
                        <a:rPr sz="1150" b="0">
                          <a:solidFill>
                            <a:srgbClr val="1F2937"/>
                          </a:solidFill>
                          <a:latin typeface="Source Han Sans SC"/>
                        </a:rPr>
                        <a:t>64→10</a:t>
                      </a:r>
                    </a:p>
                  </a:txBody>
                  <a:tcPr>
                    <a:solidFill>
                      <a:srgbClr val="FFFFFF"/>
                    </a:solidFill>
                  </a:tcPr>
                </a:tc>
                <a:tc>
                  <a:txBody>
                    <a:bodyPr/>
                    <a:lstStyle/>
                    <a:p>
                      <a:r>
                        <a:rPr sz="1150" b="0">
                          <a:solidFill>
                            <a:srgbClr val="1F2937"/>
                          </a:solidFill>
                          <a:latin typeface="Source Han Sans SC"/>
                        </a:rPr>
                        <a:t>650</a:t>
                      </a:r>
                    </a:p>
                  </a:txBody>
                  <a:tcPr>
                    <a:solidFill>
                      <a:srgbClr val="FFFFFF"/>
                    </a:solidFill>
                  </a:tcPr>
                </a:tc>
                <a:tc>
                  <a:txBody>
                    <a:bodyPr/>
                    <a:lstStyle/>
                    <a:p>
                      <a:r>
                        <a:rPr sz="1150" b="0">
                          <a:solidFill>
                            <a:srgbClr val="1F2937"/>
                          </a:solidFill>
                          <a:latin typeface="Source Han Sans SC"/>
                        </a:rPr>
                        <a:t>1,898</a:t>
                      </a:r>
                    </a:p>
                  </a:txBody>
                  <a:tcPr>
                    <a:solidFill>
                      <a:srgbClr val="FFFFFF"/>
                    </a:solidFill>
                  </a:tcPr>
                </a:tc>
              </a:tr>
            </a:tbl>
          </a:graphicData>
        </a:graphic>
      </p:graphicFrame>
      <p:sp>
        <p:nvSpPr>
          <p:cNvPr id="11" name="TextBox 10"/>
          <p:cNvSpPr txBox="1"/>
          <p:nvPr/>
        </p:nvSpPr>
        <p:spPr>
          <a:xfrm>
            <a:off x="799200" y="4608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Top block is the dense net used as this week's control, bottom is two conv layers plus a linear head. 17,226 → 1,898, 9x fewer; test accuracy 0.979 against 0.981 — a 0.002 gap, smaller than one standard deviation (0.008).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What weight sharing buys, and what it costs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08 / 32</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What you get</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Parameter count is INDEPENDENT of image width — the same 3x3 kernel walks an 8x8 and a 1024x1024</a:t>
            </a:r>
          </a:p>
          <a:p>
            <a:pPr algn="l">
              <a:lnSpc>
                <a:spcPct val="150000"/>
              </a:lnSpc>
              <a:spcAft>
                <a:spcPts val="800"/>
              </a:spcAft>
            </a:pPr>
            <a:r>
              <a:rPr sz="1250" b="0" i="0">
                <a:solidFill>
                  <a:srgbClr val="1F2937"/>
                </a:solidFill>
                <a:latin typeface="Source Han Sans SC"/>
              </a:rPr>
              <a:t>• "a pattern, anywhere" is built into the architecture instead of learned from data</a:t>
            </a:r>
          </a:p>
          <a:p>
            <a:pPr algn="l">
              <a:lnSpc>
                <a:spcPct val="150000"/>
              </a:lnSpc>
              <a:spcAft>
                <a:spcPts val="800"/>
              </a:spcAft>
            </a:pPr>
            <a:r>
              <a:rPr sz="1250" b="0" i="0">
                <a:solidFill>
                  <a:srgbClr val="1F2937"/>
                </a:solidFill>
                <a:latin typeface="Source Han Sans SC"/>
              </a:rPr>
              <a:t>• Measured: shift one column, 0.6481 for the CNN against 0.4555 for the dense net (+19 points)</a:t>
            </a:r>
          </a:p>
        </p:txBody>
      </p:sp>
      <p:sp>
        <p:nvSpPr>
          <p:cNvPr id="13" name="Rectangle 12"/>
          <p:cNvSpPr/>
          <p:nvPr/>
        </p:nvSpPr>
        <p:spPr>
          <a:xfrm>
            <a:off x="6249059"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What it costs</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Locality is an ASSUMPTION, not a fact. If your pattern is global (the overall brightness histogram), the assumption is wrong</a:t>
            </a:r>
          </a:p>
          <a:p>
            <a:pPr algn="l">
              <a:lnSpc>
                <a:spcPct val="150000"/>
              </a:lnSpc>
              <a:spcAft>
                <a:spcPts val="800"/>
              </a:spcAft>
            </a:pPr>
            <a:r>
              <a:rPr sz="1250" b="0" i="0">
                <a:solidFill>
                  <a:srgbClr val="1F2937"/>
                </a:solidFill>
                <a:latin typeface="Source Han Sans SC"/>
              </a:rPr>
              <a:t>• The receptive field is finite — the last conv here sees the whole 8x8, but real models need many layers to see everything</a:t>
            </a:r>
          </a:p>
          <a:p>
            <a:pPr algn="l">
              <a:lnSpc>
                <a:spcPct val="150000"/>
              </a:lnSpc>
              <a:spcAft>
                <a:spcPts val="800"/>
              </a:spcAft>
            </a:pPr>
            <a:r>
              <a:rPr sz="1250" b="0" i="0">
                <a:solidFill>
                  <a:srgbClr val="1F2937"/>
                </a:solidFill>
                <a:latin typeface="Source Han Sans SC"/>
              </a:rPr>
              <a:t>• Pooling throws away position, and some tasks need position</a:t>
            </a:r>
          </a:p>
        </p:txBody>
      </p:sp>
      <p:sp>
        <p:nvSpPr>
          <p:cNvPr id="17" name="TextBox 16"/>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One line to remember: a conv layer is not a stronger layer, it is parameter efficiency bought with an assumption about the data. When the assumption is wrong, it is worse than dense.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02</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arithmetic of shapes</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Stride, padding, pooling, receptive field</a:t>
            </a:r>
          </a:p>
        </p:txBody>
      </p:sp>
      <p:sp>
        <p:nvSpPr>
          <p:cNvPr id="9" name="TextBox 8"/>
          <p:cNvSpPr txBox="1"/>
          <p:nvPr/>
        </p:nvSpPr>
        <p:spPr>
          <a:xfrm>
            <a:off x="799200" y="2736000"/>
            <a:ext cx="8640000" cy="8297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Shape errors are the most common failure in deep learning and the cheapest to eliminate. Every formula below is checked against a real tensor.</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Output size</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(H+2p-k)/s+1</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Receptive field</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3 → 4 → 8 → 10</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Pooling</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worth 4.1 points</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output-size formula, checked against real tensors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All four formulas match the model's real forward pass — an assertion in the script, not a claim</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 · verifiable</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10 / 32</a:t>
            </a:r>
          </a:p>
        </p:txBody>
      </p:sp>
      <p:sp>
        <p:nvSpPr>
          <p:cNvPr id="10" name="Rectangle 9"/>
          <p:cNvSpPr/>
          <p:nvPr/>
        </p:nvSpPr>
        <p:spPr>
          <a:xfrm>
            <a:off x="799200"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1. The formula</a:t>
            </a:r>
          </a:p>
        </p:txBody>
      </p:sp>
      <p:sp>
        <p:nvSpPr>
          <p:cNvPr id="13" name="TextBox 12"/>
          <p:cNvSpPr txBox="1"/>
          <p:nvPr/>
        </p:nvSpPr>
        <p:spPr>
          <a:xfrm>
            <a:off x="997200" y="1584000"/>
            <a:ext cx="4789259" cy="3582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def out_size(size, k, s, p):</a:t>
            </a:r>
          </a:p>
          <a:p>
            <a:pPr algn="l">
              <a:lnSpc>
                <a:spcPct val="128000"/>
              </a:lnSpc>
            </a:pPr>
            <a:r>
              <a:rPr sz="1100" b="0" i="0">
                <a:solidFill>
                  <a:srgbClr val="E2E8F0"/>
                </a:solidFill>
                <a:latin typeface="Menlo"/>
              </a:rPr>
              <a:t>    return (size + 2 * p - k) // s + 1</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common cases (8x8 input)</a:t>
            </a:r>
          </a:p>
          <a:p>
            <a:pPr algn="l">
              <a:lnSpc>
                <a:spcPct val="128000"/>
              </a:lnSpc>
            </a:pPr>
            <a:r>
              <a:rPr sz="1100" b="0" i="0">
                <a:solidFill>
                  <a:srgbClr val="E2E8F0"/>
                </a:solidFill>
                <a:latin typeface="Menlo"/>
              </a:rPr>
              <a:t>#  k=3, s=1, p=1  -&gt;  8   same size</a:t>
            </a:r>
          </a:p>
          <a:p>
            <a:pPr algn="l">
              <a:lnSpc>
                <a:spcPct val="128000"/>
              </a:lnSpc>
            </a:pPr>
            <a:r>
              <a:rPr sz="1100" b="0" i="0">
                <a:solidFill>
                  <a:srgbClr val="E2E8F0"/>
                </a:solidFill>
                <a:latin typeface="Menlo"/>
              </a:rPr>
              <a:t>#  k=3, s=1, p=0  -&gt;  6   two smaller</a:t>
            </a:r>
          </a:p>
          <a:p>
            <a:pPr algn="l">
              <a:lnSpc>
                <a:spcPct val="128000"/>
              </a:lnSpc>
            </a:pPr>
            <a:r>
              <a:rPr sz="1100" b="0" i="0">
                <a:solidFill>
                  <a:srgbClr val="E2E8F0"/>
                </a:solidFill>
                <a:latin typeface="Menlo"/>
              </a:rPr>
              <a:t>#  k=2, s=2, p=0  -&gt;  4   pooling: halve</a:t>
            </a:r>
          </a:p>
          <a:p>
            <a:pPr algn="l">
              <a:lnSpc>
                <a:spcPct val="128000"/>
              </a:lnSpc>
            </a:pPr>
            <a:r>
              <a:rPr sz="1100" b="0" i="0">
                <a:solidFill>
                  <a:srgbClr val="E2E8F0"/>
                </a:solidFill>
                <a:latin typeface="Menlo"/>
              </a:rPr>
              <a:t>#  k=3, s=2, p=1  -&gt;  4   downsample</a:t>
            </a:r>
          </a:p>
          <a:p>
            <a:pPr algn="l">
              <a:lnSpc>
                <a:spcPct val="128000"/>
              </a:lnSpc>
            </a:pPr>
            <a:r>
              <a:rPr sz="1100" b="0" i="0">
                <a:solidFill>
                  <a:srgbClr val="E2E8F0"/>
                </a:solidFill>
                <a:latin typeface="Menlo"/>
              </a:rPr>
              <a:t>#  k=1, s=1, p=0  -&gt;  8   1x1 conv: channels only</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k, s, p = 3, 1, 1</a:t>
            </a:r>
          </a:p>
          <a:p>
            <a:pPr algn="l">
              <a:lnSpc>
                <a:spcPct val="128000"/>
              </a:lnSpc>
            </a:pPr>
            <a:r>
              <a:rPr sz="1100" b="0" i="0">
                <a:solidFill>
                  <a:srgbClr val="E2E8F0"/>
                </a:solidFill>
                <a:latin typeface="Menlo"/>
              </a:rPr>
              <a:t>print(out_size(8, k, s, p))     # 8</a:t>
            </a:r>
          </a:p>
        </p:txBody>
      </p:sp>
      <p:sp>
        <p:nvSpPr>
          <p:cNvPr id="14" name="Rectangle 13"/>
          <p:cNvSpPr/>
          <p:nvPr/>
        </p:nvSpPr>
        <p:spPr>
          <a:xfrm>
            <a:off x="6207659"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2. Against the real forward (what the script runs)</a:t>
            </a:r>
          </a:p>
        </p:txBody>
      </p:sp>
      <p:sp>
        <p:nvSpPr>
          <p:cNvPr id="17" name="TextBox 16"/>
          <p:cNvSpPr txBox="1"/>
          <p:nvPr/>
        </p:nvSpPr>
        <p:spPr>
          <a:xfrm>
            <a:off x="6405659" y="1584000"/>
            <a:ext cx="4789259" cy="3582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stages = [('conv',3,1,1), ('pool',2,2,0),</a:t>
            </a:r>
          </a:p>
          <a:p>
            <a:pPr algn="l">
              <a:lnSpc>
                <a:spcPct val="128000"/>
              </a:lnSpc>
            </a:pPr>
            <a:r>
              <a:rPr sz="1100" b="0" i="0">
                <a:solidFill>
                  <a:srgbClr val="E2E8F0"/>
                </a:solidFill>
                <a:latin typeface="Menlo"/>
              </a:rPr>
              <a:t>          ('conv',3,1,1), ('pool',2,2,0)]</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size = 8</a:t>
            </a:r>
          </a:p>
          <a:p>
            <a:pPr algn="l">
              <a:lnSpc>
                <a:spcPct val="128000"/>
              </a:lnSpc>
            </a:pPr>
            <a:r>
              <a:rPr sz="1100" b="0" i="0">
                <a:solidFill>
                  <a:srgbClr val="E2E8F0"/>
                </a:solidFill>
                <a:latin typeface="Menlo"/>
              </a:rPr>
              <a:t>for kind, k, s, p in stages:</a:t>
            </a:r>
          </a:p>
          <a:p>
            <a:pPr algn="l">
              <a:lnSpc>
                <a:spcPct val="128000"/>
              </a:lnSpc>
            </a:pPr>
            <a:r>
              <a:rPr sz="1100" b="0" i="0">
                <a:solidFill>
                  <a:srgbClr val="E2E8F0"/>
                </a:solidFill>
                <a:latin typeface="Menlo"/>
              </a:rPr>
              <a:t>    size = out_size(size, k, s, p)</a:t>
            </a:r>
          </a:p>
          <a:p>
            <a:pPr algn="l">
              <a:lnSpc>
                <a:spcPct val="128000"/>
              </a:lnSpc>
            </a:pPr>
            <a:r>
              <a:rPr sz="1100" b="0" i="0">
                <a:solidFill>
                  <a:srgbClr val="E2E8F0"/>
                </a:solidFill>
                <a:latin typeface="Menlo"/>
              </a:rPr>
              <a:t>    print(kind, '-&gt;', size)</a:t>
            </a:r>
          </a:p>
          <a:p>
            <a:pPr algn="l">
              <a:lnSpc>
                <a:spcPct val="128000"/>
              </a:lnSpc>
            </a:pPr>
            <a:r>
              <a:rPr sz="1100" b="0" i="0">
                <a:solidFill>
                  <a:srgbClr val="E2E8F0"/>
                </a:solidFill>
                <a:latin typeface="Menlo"/>
              </a:rPr>
              <a:t># conv -&gt; 8</a:t>
            </a:r>
          </a:p>
          <a:p>
            <a:pPr algn="l">
              <a:lnSpc>
                <a:spcPct val="128000"/>
              </a:lnSpc>
            </a:pPr>
            <a:r>
              <a:rPr sz="1100" b="0" i="0">
                <a:solidFill>
                  <a:srgbClr val="E2E8F0"/>
                </a:solidFill>
                <a:latin typeface="Menlo"/>
              </a:rPr>
              <a:t># pool -&gt; 4</a:t>
            </a:r>
          </a:p>
          <a:p>
            <a:pPr algn="l">
              <a:lnSpc>
                <a:spcPct val="128000"/>
              </a:lnSpc>
            </a:pPr>
            <a:r>
              <a:rPr sz="1100" b="0" i="0">
                <a:solidFill>
                  <a:srgbClr val="E2E8F0"/>
                </a:solidFill>
                <a:latin typeface="Menlo"/>
              </a:rPr>
              <a:t># conv -&gt; 4</a:t>
            </a:r>
          </a:p>
          <a:p>
            <a:pPr algn="l">
              <a:lnSpc>
                <a:spcPct val="128000"/>
              </a:lnSpc>
            </a:pPr>
            <a:r>
              <a:rPr sz="1100" b="0" i="0">
                <a:solidFill>
                  <a:srgbClr val="E2E8F0"/>
                </a:solidFill>
                <a:latin typeface="Menlo"/>
              </a:rPr>
              <a:t># pool -&gt; 2</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measured (asserted by the script):</a:t>
            </a:r>
          </a:p>
          <a:p>
            <a:pPr algn="l">
              <a:lnSpc>
                <a:spcPct val="128000"/>
              </a:lnSpc>
            </a:pPr>
            <a:r>
              <a:rPr sz="1100" b="0" i="0">
                <a:solidFill>
                  <a:srgbClr val="E2E8F0"/>
                </a:solidFill>
                <a:latin typeface="Menlo"/>
              </a:rPr>
              <a:t># conv  formula 8  forward 8   OK</a:t>
            </a:r>
          </a:p>
          <a:p>
            <a:pPr algn="l">
              <a:lnSpc>
                <a:spcPct val="128000"/>
              </a:lnSpc>
            </a:pPr>
            <a:r>
              <a:rPr sz="1100" b="0" i="0">
                <a:solidFill>
                  <a:srgbClr val="E2E8F0"/>
                </a:solidFill>
                <a:latin typeface="Menlo"/>
              </a:rPr>
              <a:t># pool  formula 4  forward 4   OK</a:t>
            </a:r>
          </a:p>
          <a:p>
            <a:pPr algn="l">
              <a:lnSpc>
                <a:spcPct val="128000"/>
              </a:lnSpc>
            </a:pPr>
            <a:r>
              <a:rPr sz="1100" b="0" i="0">
                <a:solidFill>
                  <a:srgbClr val="E2E8F0"/>
                </a:solidFill>
                <a:latin typeface="Menlo"/>
              </a:rPr>
              <a:t># conv  formula 4  forward 4   OK</a:t>
            </a:r>
          </a:p>
          <a:p>
            <a:pPr algn="l">
              <a:lnSpc>
                <a:spcPct val="128000"/>
              </a:lnSpc>
            </a:pPr>
            <a:r>
              <a:rPr sz="1100" b="0" i="0">
                <a:solidFill>
                  <a:srgbClr val="E2E8F0"/>
                </a:solidFill>
                <a:latin typeface="Menlo"/>
              </a:rPr>
              <a:t># pool  formula 2  forward 2   OK</a:t>
            </a:r>
          </a:p>
          <a:p>
            <a:pPr algn="l">
              <a:lnSpc>
                <a:spcPct val="128000"/>
              </a:lnSpc>
            </a:pPr>
            <a:r>
              <a:rPr sz="1100" b="0" i="0">
                <a:solidFill>
                  <a:srgbClr val="E2E8F0"/>
                </a:solidFill>
                <a:latin typeface="Menlo"/>
              </a:rPr>
              <a:t># flatten = 16 * 2 * 2 = 64</a:t>
            </a:r>
          </a:p>
        </p:txBody>
      </p:sp>
      <p:sp>
        <p:nvSpPr>
          <p:cNvPr id="18" name="TextBox 17"/>
          <p:cNvSpPr txBox="1"/>
          <p:nvPr/>
        </p:nvSpPr>
        <p:spPr>
          <a:xfrm>
            <a:off x="799200" y="5418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When a shape mismatch fires, do this page first, not the code. Most shape errors are located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Receptive Field: Two Layers Already See the Whole 8x8</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All three grids are the same 8x8 input; the shading is what one output cell of that stage can see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 · key</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11 / 32</a:t>
            </a:r>
          </a:p>
        </p:txBody>
      </p:sp>
      <p:sp>
        <p:nvSpPr>
          <p:cNvPr id="10" name="TextBox 9"/>
          <p:cNvSpPr txBox="1"/>
          <p:nvPr/>
        </p:nvSpPr>
        <p:spPr>
          <a:xfrm>
            <a:off x="732059"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Conv 1</a:t>
            </a:r>
          </a:p>
        </p:txBody>
      </p:sp>
      <p:sp>
        <p:nvSpPr>
          <p:cNvPr id="11" name="TextBox 10"/>
          <p:cNvSpPr txBox="1"/>
          <p:nvPr/>
        </p:nvSpPr>
        <p:spPr>
          <a:xfrm>
            <a:off x="732059"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k=3, s=1</a:t>
            </a:r>
          </a:p>
        </p:txBody>
      </p:sp>
      <p:sp>
        <p:nvSpPr>
          <p:cNvPr id="12" name="Rectangle 11"/>
          <p:cNvSpPr/>
          <p:nvPr/>
        </p:nvSpPr>
        <p:spPr>
          <a:xfrm>
            <a:off x="94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30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6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02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38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74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10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46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4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30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66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2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8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74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10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46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4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30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66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02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38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74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10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46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4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30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66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02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38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74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10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46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4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130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166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02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38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74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10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46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4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130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66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202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38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274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310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346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94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130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166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202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238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274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310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346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94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30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166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202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238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274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310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346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2028059" y="3256724"/>
            <a:ext cx="1080000" cy="108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2388059"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8" name="Connector 77"/>
          <p:cNvCxnSpPr/>
          <p:nvPr/>
        </p:nvCxnSpPr>
        <p:spPr>
          <a:xfrm>
            <a:off x="3885659" y="3616724"/>
            <a:ext cx="626401" cy="0"/>
          </a:xfrm>
          <a:prstGeom prst="line">
            <a:avLst/>
          </a:prstGeom>
          <a:ln w="2032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79" name="Isosceles Triangle 78"/>
          <p:cNvSpPr/>
          <p:nvPr/>
        </p:nvSpPr>
        <p:spPr>
          <a:xfrm rot="5400000">
            <a:off x="4472460" y="3541124"/>
            <a:ext cx="151200" cy="151200"/>
          </a:xfrm>
          <a:prstGeom prst="triangl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4440060"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 MaxPool</a:t>
            </a:r>
          </a:p>
        </p:txBody>
      </p:sp>
      <p:sp>
        <p:nvSpPr>
          <p:cNvPr id="81" name="TextBox 80"/>
          <p:cNvSpPr txBox="1"/>
          <p:nvPr/>
        </p:nvSpPr>
        <p:spPr>
          <a:xfrm>
            <a:off x="4440060"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k=2, s=2</a:t>
            </a:r>
          </a:p>
        </p:txBody>
      </p:sp>
      <p:sp>
        <p:nvSpPr>
          <p:cNvPr id="82" name="Rectangle 81"/>
          <p:cNvSpPr/>
          <p:nvPr/>
        </p:nvSpPr>
        <p:spPr>
          <a:xfrm>
            <a:off x="465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501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537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573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609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645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681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717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465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501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537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573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609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645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681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717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465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501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537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573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609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645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681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717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465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501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537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573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609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645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681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717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465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501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537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573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609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645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681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717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465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501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537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573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609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645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681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717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465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501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537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573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609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645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681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717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465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501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537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573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609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645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681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717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5736059" y="3256724"/>
            <a:ext cx="1440000" cy="144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Rectangle 146"/>
          <p:cNvSpPr/>
          <p:nvPr/>
        </p:nvSpPr>
        <p:spPr>
          <a:xfrm>
            <a:off x="6096059"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8" name="Connector 147"/>
          <p:cNvCxnSpPr/>
          <p:nvPr/>
        </p:nvCxnSpPr>
        <p:spPr>
          <a:xfrm>
            <a:off x="7593660" y="3616724"/>
            <a:ext cx="626400" cy="0"/>
          </a:xfrm>
          <a:prstGeom prst="line">
            <a:avLst/>
          </a:prstGeom>
          <a:ln w="2032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149" name="Isosceles Triangle 148"/>
          <p:cNvSpPr/>
          <p:nvPr/>
        </p:nvSpPr>
        <p:spPr>
          <a:xfrm rot="5400000">
            <a:off x="8180459" y="3541124"/>
            <a:ext cx="151200" cy="151200"/>
          </a:xfrm>
          <a:prstGeom prst="triangl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0" name="TextBox 149"/>
          <p:cNvSpPr txBox="1"/>
          <p:nvPr/>
        </p:nvSpPr>
        <p:spPr>
          <a:xfrm>
            <a:off x="8148059"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 Conv 2</a:t>
            </a:r>
          </a:p>
        </p:txBody>
      </p:sp>
      <p:sp>
        <p:nvSpPr>
          <p:cNvPr id="151" name="TextBox 150"/>
          <p:cNvSpPr txBox="1"/>
          <p:nvPr/>
        </p:nvSpPr>
        <p:spPr>
          <a:xfrm>
            <a:off x="8148059"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k=3, s=1</a:t>
            </a:r>
          </a:p>
        </p:txBody>
      </p:sp>
      <p:sp>
        <p:nvSpPr>
          <p:cNvPr id="152" name="Rectangle 151"/>
          <p:cNvSpPr/>
          <p:nvPr/>
        </p:nvSpPr>
        <p:spPr>
          <a:xfrm>
            <a:off x="836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 name="Rectangle 152"/>
          <p:cNvSpPr/>
          <p:nvPr/>
        </p:nvSpPr>
        <p:spPr>
          <a:xfrm>
            <a:off x="872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 name="Rectangle 153"/>
          <p:cNvSpPr/>
          <p:nvPr/>
        </p:nvSpPr>
        <p:spPr>
          <a:xfrm>
            <a:off x="908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5" name="Rectangle 154"/>
          <p:cNvSpPr/>
          <p:nvPr/>
        </p:nvSpPr>
        <p:spPr>
          <a:xfrm>
            <a:off x="944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6" name="Rectangle 155"/>
          <p:cNvSpPr/>
          <p:nvPr/>
        </p:nvSpPr>
        <p:spPr>
          <a:xfrm>
            <a:off x="980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7" name="Rectangle 156"/>
          <p:cNvSpPr/>
          <p:nvPr/>
        </p:nvSpPr>
        <p:spPr>
          <a:xfrm>
            <a:off x="1016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8" name="Rectangle 157"/>
          <p:cNvSpPr/>
          <p:nvPr/>
        </p:nvSpPr>
        <p:spPr>
          <a:xfrm>
            <a:off x="1052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9" name="Rectangle 158"/>
          <p:cNvSpPr/>
          <p:nvPr/>
        </p:nvSpPr>
        <p:spPr>
          <a:xfrm>
            <a:off x="1088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0" name="Rectangle 159"/>
          <p:cNvSpPr/>
          <p:nvPr/>
        </p:nvSpPr>
        <p:spPr>
          <a:xfrm>
            <a:off x="836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1" name="Rectangle 160"/>
          <p:cNvSpPr/>
          <p:nvPr/>
        </p:nvSpPr>
        <p:spPr>
          <a:xfrm>
            <a:off x="872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2" name="Rectangle 161"/>
          <p:cNvSpPr/>
          <p:nvPr/>
        </p:nvSpPr>
        <p:spPr>
          <a:xfrm>
            <a:off x="908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3" name="Rectangle 162"/>
          <p:cNvSpPr/>
          <p:nvPr/>
        </p:nvSpPr>
        <p:spPr>
          <a:xfrm>
            <a:off x="944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4" name="Rectangle 163"/>
          <p:cNvSpPr/>
          <p:nvPr/>
        </p:nvSpPr>
        <p:spPr>
          <a:xfrm>
            <a:off x="980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5" name="Rectangle 164"/>
          <p:cNvSpPr/>
          <p:nvPr/>
        </p:nvSpPr>
        <p:spPr>
          <a:xfrm>
            <a:off x="1016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6" name="Rectangle 165"/>
          <p:cNvSpPr/>
          <p:nvPr/>
        </p:nvSpPr>
        <p:spPr>
          <a:xfrm>
            <a:off x="1052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7" name="Rectangle 166"/>
          <p:cNvSpPr/>
          <p:nvPr/>
        </p:nvSpPr>
        <p:spPr>
          <a:xfrm>
            <a:off x="1088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8" name="Rectangle 167"/>
          <p:cNvSpPr/>
          <p:nvPr/>
        </p:nvSpPr>
        <p:spPr>
          <a:xfrm>
            <a:off x="836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9" name="Rectangle 168"/>
          <p:cNvSpPr/>
          <p:nvPr/>
        </p:nvSpPr>
        <p:spPr>
          <a:xfrm>
            <a:off x="872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0" name="Rectangle 169"/>
          <p:cNvSpPr/>
          <p:nvPr/>
        </p:nvSpPr>
        <p:spPr>
          <a:xfrm>
            <a:off x="908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1" name="Rectangle 170"/>
          <p:cNvSpPr/>
          <p:nvPr/>
        </p:nvSpPr>
        <p:spPr>
          <a:xfrm>
            <a:off x="944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2" name="Rectangle 171"/>
          <p:cNvSpPr/>
          <p:nvPr/>
        </p:nvSpPr>
        <p:spPr>
          <a:xfrm>
            <a:off x="980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3" name="Rectangle 172"/>
          <p:cNvSpPr/>
          <p:nvPr/>
        </p:nvSpPr>
        <p:spPr>
          <a:xfrm>
            <a:off x="1016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 name="Rectangle 173"/>
          <p:cNvSpPr/>
          <p:nvPr/>
        </p:nvSpPr>
        <p:spPr>
          <a:xfrm>
            <a:off x="1052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5" name="Rectangle 174"/>
          <p:cNvSpPr/>
          <p:nvPr/>
        </p:nvSpPr>
        <p:spPr>
          <a:xfrm>
            <a:off x="1088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6" name="Rectangle 175"/>
          <p:cNvSpPr/>
          <p:nvPr/>
        </p:nvSpPr>
        <p:spPr>
          <a:xfrm>
            <a:off x="836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7" name="Rectangle 176"/>
          <p:cNvSpPr/>
          <p:nvPr/>
        </p:nvSpPr>
        <p:spPr>
          <a:xfrm>
            <a:off x="872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8" name="Rectangle 177"/>
          <p:cNvSpPr/>
          <p:nvPr/>
        </p:nvSpPr>
        <p:spPr>
          <a:xfrm>
            <a:off x="908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9" name="Rectangle 178"/>
          <p:cNvSpPr/>
          <p:nvPr/>
        </p:nvSpPr>
        <p:spPr>
          <a:xfrm>
            <a:off x="944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0" name="Rectangle 179"/>
          <p:cNvSpPr/>
          <p:nvPr/>
        </p:nvSpPr>
        <p:spPr>
          <a:xfrm>
            <a:off x="980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1" name="Rectangle 180"/>
          <p:cNvSpPr/>
          <p:nvPr/>
        </p:nvSpPr>
        <p:spPr>
          <a:xfrm>
            <a:off x="1016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2" name="Rectangle 181"/>
          <p:cNvSpPr/>
          <p:nvPr/>
        </p:nvSpPr>
        <p:spPr>
          <a:xfrm>
            <a:off x="1052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3" name="Rectangle 182"/>
          <p:cNvSpPr/>
          <p:nvPr/>
        </p:nvSpPr>
        <p:spPr>
          <a:xfrm>
            <a:off x="1088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4" name="Rectangle 183"/>
          <p:cNvSpPr/>
          <p:nvPr/>
        </p:nvSpPr>
        <p:spPr>
          <a:xfrm>
            <a:off x="836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5" name="Rectangle 184"/>
          <p:cNvSpPr/>
          <p:nvPr/>
        </p:nvSpPr>
        <p:spPr>
          <a:xfrm>
            <a:off x="872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6" name="Rectangle 185"/>
          <p:cNvSpPr/>
          <p:nvPr/>
        </p:nvSpPr>
        <p:spPr>
          <a:xfrm>
            <a:off x="908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7" name="Rectangle 186"/>
          <p:cNvSpPr/>
          <p:nvPr/>
        </p:nvSpPr>
        <p:spPr>
          <a:xfrm>
            <a:off x="944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8" name="Rectangle 187"/>
          <p:cNvSpPr/>
          <p:nvPr/>
        </p:nvSpPr>
        <p:spPr>
          <a:xfrm>
            <a:off x="980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9" name="Rectangle 188"/>
          <p:cNvSpPr/>
          <p:nvPr/>
        </p:nvSpPr>
        <p:spPr>
          <a:xfrm>
            <a:off x="1016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0" name="Rectangle 189"/>
          <p:cNvSpPr/>
          <p:nvPr/>
        </p:nvSpPr>
        <p:spPr>
          <a:xfrm>
            <a:off x="1052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1" name="Rectangle 190"/>
          <p:cNvSpPr/>
          <p:nvPr/>
        </p:nvSpPr>
        <p:spPr>
          <a:xfrm>
            <a:off x="1088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2" name="Rectangle 191"/>
          <p:cNvSpPr/>
          <p:nvPr/>
        </p:nvSpPr>
        <p:spPr>
          <a:xfrm>
            <a:off x="836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3" name="Rectangle 192"/>
          <p:cNvSpPr/>
          <p:nvPr/>
        </p:nvSpPr>
        <p:spPr>
          <a:xfrm>
            <a:off x="872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4" name="Rectangle 193"/>
          <p:cNvSpPr/>
          <p:nvPr/>
        </p:nvSpPr>
        <p:spPr>
          <a:xfrm>
            <a:off x="908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5" name="Rectangle 194"/>
          <p:cNvSpPr/>
          <p:nvPr/>
        </p:nvSpPr>
        <p:spPr>
          <a:xfrm>
            <a:off x="944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6" name="Rectangle 195"/>
          <p:cNvSpPr/>
          <p:nvPr/>
        </p:nvSpPr>
        <p:spPr>
          <a:xfrm>
            <a:off x="980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7" name="Rectangle 196"/>
          <p:cNvSpPr/>
          <p:nvPr/>
        </p:nvSpPr>
        <p:spPr>
          <a:xfrm>
            <a:off x="1016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8" name="Rectangle 197"/>
          <p:cNvSpPr/>
          <p:nvPr/>
        </p:nvSpPr>
        <p:spPr>
          <a:xfrm>
            <a:off x="1052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9" name="Rectangle 198"/>
          <p:cNvSpPr/>
          <p:nvPr/>
        </p:nvSpPr>
        <p:spPr>
          <a:xfrm>
            <a:off x="1088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0" name="Rectangle 199"/>
          <p:cNvSpPr/>
          <p:nvPr/>
        </p:nvSpPr>
        <p:spPr>
          <a:xfrm>
            <a:off x="836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1" name="Rectangle 200"/>
          <p:cNvSpPr/>
          <p:nvPr/>
        </p:nvSpPr>
        <p:spPr>
          <a:xfrm>
            <a:off x="872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2" name="Rectangle 201"/>
          <p:cNvSpPr/>
          <p:nvPr/>
        </p:nvSpPr>
        <p:spPr>
          <a:xfrm>
            <a:off x="908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3" name="Rectangle 202"/>
          <p:cNvSpPr/>
          <p:nvPr/>
        </p:nvSpPr>
        <p:spPr>
          <a:xfrm>
            <a:off x="944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4" name="Rectangle 203"/>
          <p:cNvSpPr/>
          <p:nvPr/>
        </p:nvSpPr>
        <p:spPr>
          <a:xfrm>
            <a:off x="980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5" name="Rectangle 204"/>
          <p:cNvSpPr/>
          <p:nvPr/>
        </p:nvSpPr>
        <p:spPr>
          <a:xfrm>
            <a:off x="1016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6" name="Rectangle 205"/>
          <p:cNvSpPr/>
          <p:nvPr/>
        </p:nvSpPr>
        <p:spPr>
          <a:xfrm>
            <a:off x="1052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7" name="Rectangle 206"/>
          <p:cNvSpPr/>
          <p:nvPr/>
        </p:nvSpPr>
        <p:spPr>
          <a:xfrm>
            <a:off x="1088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8" name="Rectangle 207"/>
          <p:cNvSpPr/>
          <p:nvPr/>
        </p:nvSpPr>
        <p:spPr>
          <a:xfrm>
            <a:off x="836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9" name="Rectangle 208"/>
          <p:cNvSpPr/>
          <p:nvPr/>
        </p:nvSpPr>
        <p:spPr>
          <a:xfrm>
            <a:off x="872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0" name="Rectangle 209"/>
          <p:cNvSpPr/>
          <p:nvPr/>
        </p:nvSpPr>
        <p:spPr>
          <a:xfrm>
            <a:off x="908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1" name="Rectangle 210"/>
          <p:cNvSpPr/>
          <p:nvPr/>
        </p:nvSpPr>
        <p:spPr>
          <a:xfrm>
            <a:off x="944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2" name="Rectangle 211"/>
          <p:cNvSpPr/>
          <p:nvPr/>
        </p:nvSpPr>
        <p:spPr>
          <a:xfrm>
            <a:off x="980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3" name="Rectangle 212"/>
          <p:cNvSpPr/>
          <p:nvPr/>
        </p:nvSpPr>
        <p:spPr>
          <a:xfrm>
            <a:off x="1016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4" name="Rectangle 213"/>
          <p:cNvSpPr/>
          <p:nvPr/>
        </p:nvSpPr>
        <p:spPr>
          <a:xfrm>
            <a:off x="1052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5" name="Rectangle 214"/>
          <p:cNvSpPr/>
          <p:nvPr/>
        </p:nvSpPr>
        <p:spPr>
          <a:xfrm>
            <a:off x="1088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6" name="Rectangle 215"/>
          <p:cNvSpPr/>
          <p:nvPr/>
        </p:nvSpPr>
        <p:spPr>
          <a:xfrm>
            <a:off x="8364060" y="2176724"/>
            <a:ext cx="2880000" cy="288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7" name="Rectangle 216"/>
          <p:cNvSpPr/>
          <p:nvPr/>
        </p:nvSpPr>
        <p:spPr>
          <a:xfrm>
            <a:off x="9804060"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8" name="TextBox 217"/>
          <p:cNvSpPr txBox="1"/>
          <p:nvPr/>
        </p:nvSpPr>
        <p:spPr>
          <a:xfrm>
            <a:off x="732059" y="5279924"/>
            <a:ext cx="3311999" cy="432000"/>
          </a:xfrm>
          <a:prstGeom prst="rect">
            <a:avLst/>
          </a:prstGeom>
          <a:noFill/>
        </p:spPr>
        <p:txBody>
          <a:bodyPr wrap="square" anchor="t" lIns="0" rIns="0" tIns="0" bIns="0">
            <a:spAutoFit/>
          </a:bodyPr>
          <a:lstStyle/>
          <a:p>
            <a:pPr algn="ctr">
              <a:lnSpc>
                <a:spcPct val="130000"/>
              </a:lnSpc>
            </a:pPr>
            <a:r>
              <a:rPr sz="1100" b="0" i="0">
                <a:solidFill>
                  <a:srgbClr val="1E4FA8"/>
                </a:solidFill>
                <a:latin typeface="Source Han Sans SC"/>
              </a:rPr>
              <a:t>one cell sees 3x3</a:t>
            </a:r>
          </a:p>
        </p:txBody>
      </p:sp>
      <p:sp>
        <p:nvSpPr>
          <p:cNvPr id="219" name="TextBox 218"/>
          <p:cNvSpPr txBox="1"/>
          <p:nvPr/>
        </p:nvSpPr>
        <p:spPr>
          <a:xfrm>
            <a:off x="4440060" y="5279924"/>
            <a:ext cx="3311999" cy="432000"/>
          </a:xfrm>
          <a:prstGeom prst="rect">
            <a:avLst/>
          </a:prstGeom>
          <a:noFill/>
        </p:spPr>
        <p:txBody>
          <a:bodyPr wrap="square" anchor="t" lIns="0" rIns="0" tIns="0" bIns="0">
            <a:spAutoFit/>
          </a:bodyPr>
          <a:lstStyle/>
          <a:p>
            <a:pPr algn="ctr">
              <a:lnSpc>
                <a:spcPct val="130000"/>
              </a:lnSpc>
            </a:pPr>
            <a:r>
              <a:rPr sz="1100" b="0" i="0">
                <a:solidFill>
                  <a:srgbClr val="059669"/>
                </a:solidFill>
                <a:latin typeface="Source Han Sans SC"/>
              </a:rPr>
              <a:t>4x4 - stride 2 doubles the jump</a:t>
            </a:r>
          </a:p>
        </p:txBody>
      </p:sp>
      <p:sp>
        <p:nvSpPr>
          <p:cNvPr id="220" name="TextBox 219"/>
          <p:cNvSpPr txBox="1"/>
          <p:nvPr/>
        </p:nvSpPr>
        <p:spPr>
          <a:xfrm>
            <a:off x="8148059" y="5279924"/>
            <a:ext cx="3311999" cy="432000"/>
          </a:xfrm>
          <a:prstGeom prst="rect">
            <a:avLst/>
          </a:prstGeom>
          <a:noFill/>
        </p:spPr>
        <p:txBody>
          <a:bodyPr wrap="square" anchor="t" lIns="0" rIns="0" tIns="0" bIns="0">
            <a:spAutoFit/>
          </a:bodyPr>
          <a:lstStyle/>
          <a:p>
            <a:pPr algn="ctr">
              <a:lnSpc>
                <a:spcPct val="130000"/>
              </a:lnSpc>
            </a:pPr>
            <a:r>
              <a:rPr sz="1100" b="0" i="0">
                <a:solidFill>
                  <a:srgbClr val="B91C1C"/>
                </a:solidFill>
                <a:latin typeface="Source Han Sans SC"/>
              </a:rPr>
              <a:t>8x8 - the whole image, and that is the ceiling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Receptive field: how much input each stage can see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RF is built by rf = rf + (k-1) x jump, where jump multiplies by stride each stage; feature-map sizes come from the previous page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 · key</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12 / 32</a:t>
            </a:r>
          </a:p>
        </p:txBody>
      </p:sp>
      <p:graphicFrame>
        <p:nvGraphicFramePr>
          <p:cNvPr id="10" name="Table 9"/>
          <p:cNvGraphicFramePr>
            <a:graphicFrameLocks noGrp="1"/>
          </p:cNvGraphicFramePr>
          <p:nvPr/>
        </p:nvGraphicFramePr>
        <p:xfrm>
          <a:off x="799200" y="1152000"/>
          <a:ext cx="10584000" cy="2484000"/>
        </p:xfrm>
        <a:graphic>
          <a:graphicData uri="http://schemas.openxmlformats.org/drawingml/2006/table">
            <a:tbl>
              <a:tblPr firstRow="1" bandRow="1">
                <a:tableStyleId>{5C22544A-7EE6-4342-B048-85BDC9FD1C3A}</a:tableStyleId>
              </a:tblPr>
              <a:tblGrid>
                <a:gridCol w="1872000"/>
                <a:gridCol w="1224000"/>
                <a:gridCol w="1224000"/>
                <a:gridCol w="2160000"/>
                <a:gridCol w="2304000"/>
                <a:gridCol w="1800000"/>
              </a:tblGrid>
              <a:tr h="414000">
                <a:tc>
                  <a:txBody>
                    <a:bodyPr/>
                    <a:lstStyle/>
                    <a:p>
                      <a:r>
                        <a:rPr sz="1250" b="1">
                          <a:solidFill>
                            <a:srgbClr val="FFFFFF"/>
                          </a:solidFill>
                          <a:latin typeface="Source Han Sans SC"/>
                        </a:rPr>
                        <a:t>Stage</a:t>
                      </a:r>
                    </a:p>
                  </a:txBody>
                  <a:tcPr>
                    <a:solidFill>
                      <a:srgbClr val="0E3F8C"/>
                    </a:solidFill>
                  </a:tcPr>
                </a:tc>
                <a:tc>
                  <a:txBody>
                    <a:bodyPr/>
                    <a:lstStyle/>
                    <a:p>
                      <a:r>
                        <a:rPr sz="1250" b="1">
                          <a:solidFill>
                            <a:srgbClr val="FFFFFF"/>
                          </a:solidFill>
                          <a:latin typeface="Source Han Sans SC"/>
                        </a:rPr>
                        <a:t>k</a:t>
                      </a:r>
                    </a:p>
                  </a:txBody>
                  <a:tcPr>
                    <a:solidFill>
                      <a:srgbClr val="0E3F8C"/>
                    </a:solidFill>
                  </a:tcPr>
                </a:tc>
                <a:tc>
                  <a:txBody>
                    <a:bodyPr/>
                    <a:lstStyle/>
                    <a:p>
                      <a:r>
                        <a:rPr sz="1250" b="1">
                          <a:solidFill>
                            <a:srgbClr val="FFFFFF"/>
                          </a:solidFill>
                          <a:latin typeface="Source Han Sans SC"/>
                        </a:rPr>
                        <a:t>s</a:t>
                      </a:r>
                    </a:p>
                  </a:txBody>
                  <a:tcPr>
                    <a:solidFill>
                      <a:srgbClr val="0E3F8C"/>
                    </a:solidFill>
                  </a:tcPr>
                </a:tc>
                <a:tc>
                  <a:txBody>
                    <a:bodyPr/>
                    <a:lstStyle/>
                    <a:p>
                      <a:r>
                        <a:rPr sz="1250" b="1">
                          <a:solidFill>
                            <a:srgbClr val="FFFFFF"/>
                          </a:solidFill>
                          <a:latin typeface="Source Han Sans SC"/>
                        </a:rPr>
                        <a:t>Feature map</a:t>
                      </a:r>
                    </a:p>
                  </a:txBody>
                  <a:tcPr>
                    <a:solidFill>
                      <a:srgbClr val="0E3F8C"/>
                    </a:solidFill>
                  </a:tcPr>
                </a:tc>
                <a:tc>
                  <a:txBody>
                    <a:bodyPr/>
                    <a:lstStyle/>
                    <a:p>
                      <a:r>
                        <a:rPr sz="1250" b="1">
                          <a:solidFill>
                            <a:srgbClr val="FFFFFF"/>
                          </a:solidFill>
                          <a:latin typeface="Source Han Sans SC"/>
                        </a:rPr>
                        <a:t>Receptive field</a:t>
                      </a:r>
                    </a:p>
                  </a:txBody>
                  <a:tcPr>
                    <a:solidFill>
                      <a:srgbClr val="0E3F8C"/>
                    </a:solidFill>
                  </a:tcPr>
                </a:tc>
                <a:tc>
                  <a:txBody>
                    <a:bodyPr/>
                    <a:lstStyle/>
                    <a:p>
                      <a:r>
                        <a:rPr sz="1250" b="1">
                          <a:solidFill>
                            <a:srgbClr val="FFFFFF"/>
                          </a:solidFill>
                          <a:latin typeface="Source Han Sans SC"/>
                        </a:rPr>
                        <a:t>jump</a:t>
                      </a:r>
                    </a:p>
                  </a:txBody>
                  <a:tcPr>
                    <a:solidFill>
                      <a:srgbClr val="0E3F8C"/>
                    </a:solidFill>
                  </a:tcPr>
                </a:tc>
              </a:tr>
              <a:tr h="414000">
                <a:tc>
                  <a:txBody>
                    <a:bodyPr/>
                    <a:lstStyle/>
                    <a:p>
                      <a:r>
                        <a:rPr sz="1150" b="1">
                          <a:solidFill>
                            <a:srgbClr val="1F2937"/>
                          </a:solidFill>
                          <a:latin typeface="Source Han Sans SC"/>
                        </a:rPr>
                        <a:t>Input</a:t>
                      </a:r>
                    </a:p>
                  </a:txBody>
                  <a:tcPr>
                    <a:solidFill>
                      <a:srgbClr val="FFFFFF"/>
                    </a:solidFill>
                  </a:tcPr>
                </a:tc>
                <a:tc>
                  <a:txBody>
                    <a:bodyPr/>
                    <a:lstStyle/>
                    <a:p>
                      <a:r>
                        <a:rPr sz="1150" b="0">
                          <a:solidFill>
                            <a:srgbClr val="1F2937"/>
                          </a:solidFill>
                          <a:latin typeface="Source Han Sans SC"/>
                        </a:rPr>
                        <a:t>-</a:t>
                      </a:r>
                    </a:p>
                  </a:txBody>
                  <a:tcPr>
                    <a:solidFill>
                      <a:srgbClr val="FFFFFF"/>
                    </a:solidFill>
                  </a:tcPr>
                </a:tc>
                <a:tc>
                  <a:txBody>
                    <a:bodyPr/>
                    <a:lstStyle/>
                    <a:p>
                      <a:r>
                        <a:rPr sz="1150" b="0">
                          <a:solidFill>
                            <a:srgbClr val="1F2937"/>
                          </a:solidFill>
                          <a:latin typeface="Source Han Sans SC"/>
                        </a:rPr>
                        <a:t>-</a:t>
                      </a:r>
                    </a:p>
                  </a:txBody>
                  <a:tcPr>
                    <a:solidFill>
                      <a:srgbClr val="FFFFFF"/>
                    </a:solidFill>
                  </a:tcPr>
                </a:tc>
                <a:tc>
                  <a:txBody>
                    <a:bodyPr/>
                    <a:lstStyle/>
                    <a:p>
                      <a:r>
                        <a:rPr sz="1150" b="0">
                          <a:solidFill>
                            <a:srgbClr val="1F2937"/>
                          </a:solidFill>
                          <a:latin typeface="Source Han Sans SC"/>
                        </a:rPr>
                        <a:t>8×8</a:t>
                      </a:r>
                    </a:p>
                  </a:txBody>
                  <a:tcPr>
                    <a:solidFill>
                      <a:srgbClr val="FFFFFF"/>
                    </a:solidFill>
                  </a:tcPr>
                </a:tc>
                <a:tc>
                  <a:txBody>
                    <a:bodyPr/>
                    <a:lstStyle/>
                    <a:p>
                      <a:r>
                        <a:rPr sz="1150" b="0">
                          <a:solidFill>
                            <a:srgbClr val="1F2937"/>
                          </a:solidFill>
                          <a:latin typeface="Source Han Sans SC"/>
                        </a:rPr>
                        <a:t>1</a:t>
                      </a:r>
                    </a:p>
                  </a:txBody>
                  <a:tcPr>
                    <a:solidFill>
                      <a:srgbClr val="FFFFFF"/>
                    </a:solidFill>
                  </a:tcPr>
                </a:tc>
                <a:tc>
                  <a:txBody>
                    <a:bodyPr/>
                    <a:lstStyle/>
                    <a:p>
                      <a:r>
                        <a:rPr sz="1150" b="0">
                          <a:solidFill>
                            <a:srgbClr val="1F2937"/>
                          </a:solidFill>
                          <a:latin typeface="Source Han Sans SC"/>
                        </a:rPr>
                        <a:t>1</a:t>
                      </a:r>
                    </a:p>
                  </a:txBody>
                  <a:tcPr>
                    <a:solidFill>
                      <a:srgbClr val="FFFFFF"/>
                    </a:solidFill>
                  </a:tcPr>
                </a:tc>
              </a:tr>
              <a:tr h="414000">
                <a:tc>
                  <a:txBody>
                    <a:bodyPr/>
                    <a:lstStyle/>
                    <a:p>
                      <a:r>
                        <a:rPr sz="1150" b="1">
                          <a:solidFill>
                            <a:srgbClr val="1F2937"/>
                          </a:solidFill>
                          <a:latin typeface="Source Han Sans SC"/>
                        </a:rPr>
                        <a:t>Conv 1</a:t>
                      </a:r>
                    </a:p>
                  </a:txBody>
                  <a:tcPr>
                    <a:solidFill>
                      <a:srgbClr val="F0F5FC"/>
                    </a:solidFill>
                  </a:tcPr>
                </a:tc>
                <a:tc>
                  <a:txBody>
                    <a:bodyPr/>
                    <a:lstStyle/>
                    <a:p>
                      <a:r>
                        <a:rPr sz="1150" b="0">
                          <a:solidFill>
                            <a:srgbClr val="1F2937"/>
                          </a:solidFill>
                          <a:latin typeface="Source Han Sans SC"/>
                        </a:rPr>
                        <a:t>3</a:t>
                      </a:r>
                    </a:p>
                  </a:txBody>
                  <a:tcPr>
                    <a:solidFill>
                      <a:srgbClr val="F0F5FC"/>
                    </a:solidFill>
                  </a:tcPr>
                </a:tc>
                <a:tc>
                  <a:txBody>
                    <a:bodyPr/>
                    <a:lstStyle/>
                    <a:p>
                      <a:r>
                        <a:rPr sz="1150" b="0">
                          <a:solidFill>
                            <a:srgbClr val="1F2937"/>
                          </a:solidFill>
                          <a:latin typeface="Source Han Sans SC"/>
                        </a:rPr>
                        <a:t>1</a:t>
                      </a:r>
                    </a:p>
                  </a:txBody>
                  <a:tcPr>
                    <a:solidFill>
                      <a:srgbClr val="F0F5FC"/>
                    </a:solidFill>
                  </a:tcPr>
                </a:tc>
                <a:tc>
                  <a:txBody>
                    <a:bodyPr/>
                    <a:lstStyle/>
                    <a:p>
                      <a:r>
                        <a:rPr sz="1150" b="0">
                          <a:solidFill>
                            <a:srgbClr val="1F2937"/>
                          </a:solidFill>
                          <a:latin typeface="Source Han Sans SC"/>
                        </a:rPr>
                        <a:t>8×8</a:t>
                      </a:r>
                    </a:p>
                  </a:txBody>
                  <a:tcPr>
                    <a:solidFill>
                      <a:srgbClr val="F0F5FC"/>
                    </a:solidFill>
                  </a:tcPr>
                </a:tc>
                <a:tc>
                  <a:txBody>
                    <a:bodyPr/>
                    <a:lstStyle/>
                    <a:p>
                      <a:r>
                        <a:rPr sz="1150" b="0">
                          <a:solidFill>
                            <a:srgbClr val="1F2937"/>
                          </a:solidFill>
                          <a:latin typeface="Source Han Sans SC"/>
                        </a:rPr>
                        <a:t>3</a:t>
                      </a:r>
                    </a:p>
                  </a:txBody>
                  <a:tcPr>
                    <a:solidFill>
                      <a:srgbClr val="F0F5FC"/>
                    </a:solidFill>
                  </a:tcPr>
                </a:tc>
                <a:tc>
                  <a:txBody>
                    <a:bodyPr/>
                    <a:lstStyle/>
                    <a:p>
                      <a:r>
                        <a:rPr sz="1150" b="0">
                          <a:solidFill>
                            <a:srgbClr val="1F2937"/>
                          </a:solidFill>
                          <a:latin typeface="Source Han Sans SC"/>
                        </a:rPr>
                        <a:t>1</a:t>
                      </a:r>
                    </a:p>
                  </a:txBody>
                  <a:tcPr>
                    <a:solidFill>
                      <a:srgbClr val="F0F5FC"/>
                    </a:solidFill>
                  </a:tcPr>
                </a:tc>
              </a:tr>
              <a:tr h="414000">
                <a:tc>
                  <a:txBody>
                    <a:bodyPr/>
                    <a:lstStyle/>
                    <a:p>
                      <a:r>
                        <a:rPr sz="1150" b="1">
                          <a:solidFill>
                            <a:srgbClr val="1F2937"/>
                          </a:solidFill>
                          <a:latin typeface="Source Han Sans SC"/>
                        </a:rPr>
                        <a:t>MaxPool</a:t>
                      </a:r>
                    </a:p>
                  </a:txBody>
                  <a:tcPr>
                    <a:solidFill>
                      <a:srgbClr val="FFFFFF"/>
                    </a:solidFill>
                  </a:tcPr>
                </a:tc>
                <a:tc>
                  <a:txBody>
                    <a:bodyPr/>
                    <a:lstStyle/>
                    <a:p>
                      <a:r>
                        <a:rPr sz="1150" b="0">
                          <a:solidFill>
                            <a:srgbClr val="1F2937"/>
                          </a:solidFill>
                          <a:latin typeface="Source Han Sans SC"/>
                        </a:rPr>
                        <a:t>2</a:t>
                      </a:r>
                    </a:p>
                  </a:txBody>
                  <a:tcPr>
                    <a:solidFill>
                      <a:srgbClr val="FFFFFF"/>
                    </a:solidFill>
                  </a:tcPr>
                </a:tc>
                <a:tc>
                  <a:txBody>
                    <a:bodyPr/>
                    <a:lstStyle/>
                    <a:p>
                      <a:r>
                        <a:rPr sz="1150" b="0">
                          <a:solidFill>
                            <a:srgbClr val="1F2937"/>
                          </a:solidFill>
                          <a:latin typeface="Source Han Sans SC"/>
                        </a:rPr>
                        <a:t>2</a:t>
                      </a:r>
                    </a:p>
                  </a:txBody>
                  <a:tcPr>
                    <a:solidFill>
                      <a:srgbClr val="FFFFFF"/>
                    </a:solidFill>
                  </a:tcPr>
                </a:tc>
                <a:tc>
                  <a:txBody>
                    <a:bodyPr/>
                    <a:lstStyle/>
                    <a:p>
                      <a:r>
                        <a:rPr sz="1150" b="0">
                          <a:solidFill>
                            <a:srgbClr val="1F2937"/>
                          </a:solidFill>
                          <a:latin typeface="Source Han Sans SC"/>
                        </a:rPr>
                        <a:t>4×4</a:t>
                      </a:r>
                    </a:p>
                  </a:txBody>
                  <a:tcPr>
                    <a:solidFill>
                      <a:srgbClr val="FFFFFF"/>
                    </a:solidFill>
                  </a:tcPr>
                </a:tc>
                <a:tc>
                  <a:txBody>
                    <a:bodyPr/>
                    <a:lstStyle/>
                    <a:p>
                      <a:r>
                        <a:rPr sz="1150" b="0">
                          <a:solidFill>
                            <a:srgbClr val="1F2937"/>
                          </a:solidFill>
                          <a:latin typeface="Source Han Sans SC"/>
                        </a:rPr>
                        <a:t>4</a:t>
                      </a:r>
                    </a:p>
                  </a:txBody>
                  <a:tcPr>
                    <a:solidFill>
                      <a:srgbClr val="FFFFFF"/>
                    </a:solidFill>
                  </a:tcPr>
                </a:tc>
                <a:tc>
                  <a:txBody>
                    <a:bodyPr/>
                    <a:lstStyle/>
                    <a:p>
                      <a:r>
                        <a:rPr sz="1150" b="0">
                          <a:solidFill>
                            <a:srgbClr val="1F2937"/>
                          </a:solidFill>
                          <a:latin typeface="Source Han Sans SC"/>
                        </a:rPr>
                        <a:t>2</a:t>
                      </a:r>
                    </a:p>
                  </a:txBody>
                  <a:tcPr>
                    <a:solidFill>
                      <a:srgbClr val="FFFFFF"/>
                    </a:solidFill>
                  </a:tcPr>
                </a:tc>
              </a:tr>
              <a:tr h="414000">
                <a:tc>
                  <a:txBody>
                    <a:bodyPr/>
                    <a:lstStyle/>
                    <a:p>
                      <a:r>
                        <a:rPr sz="1150" b="1">
                          <a:solidFill>
                            <a:srgbClr val="1F2937"/>
                          </a:solidFill>
                          <a:latin typeface="Source Han Sans SC"/>
                        </a:rPr>
                        <a:t>Conv 2</a:t>
                      </a:r>
                    </a:p>
                  </a:txBody>
                  <a:tcPr>
                    <a:solidFill>
                      <a:srgbClr val="F0F5FC"/>
                    </a:solidFill>
                  </a:tcPr>
                </a:tc>
                <a:tc>
                  <a:txBody>
                    <a:bodyPr/>
                    <a:lstStyle/>
                    <a:p>
                      <a:r>
                        <a:rPr sz="1150" b="0">
                          <a:solidFill>
                            <a:srgbClr val="1F2937"/>
                          </a:solidFill>
                          <a:latin typeface="Source Han Sans SC"/>
                        </a:rPr>
                        <a:t>3</a:t>
                      </a:r>
                    </a:p>
                  </a:txBody>
                  <a:tcPr>
                    <a:solidFill>
                      <a:srgbClr val="F0F5FC"/>
                    </a:solidFill>
                  </a:tcPr>
                </a:tc>
                <a:tc>
                  <a:txBody>
                    <a:bodyPr/>
                    <a:lstStyle/>
                    <a:p>
                      <a:r>
                        <a:rPr sz="1150" b="0">
                          <a:solidFill>
                            <a:srgbClr val="1F2937"/>
                          </a:solidFill>
                          <a:latin typeface="Source Han Sans SC"/>
                        </a:rPr>
                        <a:t>1</a:t>
                      </a:r>
                    </a:p>
                  </a:txBody>
                  <a:tcPr>
                    <a:solidFill>
                      <a:srgbClr val="F0F5FC"/>
                    </a:solidFill>
                  </a:tcPr>
                </a:tc>
                <a:tc>
                  <a:txBody>
                    <a:bodyPr/>
                    <a:lstStyle/>
                    <a:p>
                      <a:r>
                        <a:rPr sz="1150" b="0">
                          <a:solidFill>
                            <a:srgbClr val="1F2937"/>
                          </a:solidFill>
                          <a:latin typeface="Source Han Sans SC"/>
                        </a:rPr>
                        <a:t>4×4</a:t>
                      </a:r>
                    </a:p>
                  </a:txBody>
                  <a:tcPr>
                    <a:solidFill>
                      <a:srgbClr val="F0F5FC"/>
                    </a:solidFill>
                  </a:tcPr>
                </a:tc>
                <a:tc>
                  <a:txBody>
                    <a:bodyPr/>
                    <a:lstStyle/>
                    <a:p>
                      <a:r>
                        <a:rPr sz="1150" b="0">
                          <a:solidFill>
                            <a:srgbClr val="1F2937"/>
                          </a:solidFill>
                          <a:latin typeface="Source Han Sans SC"/>
                        </a:rPr>
                        <a:t>**8**</a:t>
                      </a:r>
                    </a:p>
                  </a:txBody>
                  <a:tcPr>
                    <a:solidFill>
                      <a:srgbClr val="F0F5FC"/>
                    </a:solidFill>
                  </a:tcPr>
                </a:tc>
                <a:tc>
                  <a:txBody>
                    <a:bodyPr/>
                    <a:lstStyle/>
                    <a:p>
                      <a:r>
                        <a:rPr sz="1150" b="0">
                          <a:solidFill>
                            <a:srgbClr val="1F2937"/>
                          </a:solidFill>
                          <a:latin typeface="Source Han Sans SC"/>
                        </a:rPr>
                        <a:t>2</a:t>
                      </a:r>
                    </a:p>
                  </a:txBody>
                  <a:tcPr>
                    <a:solidFill>
                      <a:srgbClr val="F0F5FC"/>
                    </a:solidFill>
                  </a:tcPr>
                </a:tc>
              </a:tr>
              <a:tr h="414000">
                <a:tc>
                  <a:txBody>
                    <a:bodyPr/>
                    <a:lstStyle/>
                    <a:p>
                      <a:r>
                        <a:rPr sz="1150" b="1">
                          <a:solidFill>
                            <a:srgbClr val="1F2937"/>
                          </a:solidFill>
                          <a:latin typeface="Source Han Sans SC"/>
                        </a:rPr>
                        <a:t>MaxPool</a:t>
                      </a:r>
                    </a:p>
                  </a:txBody>
                  <a:tcPr>
                    <a:solidFill>
                      <a:srgbClr val="FFFFFF"/>
                    </a:solidFill>
                  </a:tcPr>
                </a:tc>
                <a:tc>
                  <a:txBody>
                    <a:bodyPr/>
                    <a:lstStyle/>
                    <a:p>
                      <a:r>
                        <a:rPr sz="1150" b="0">
                          <a:solidFill>
                            <a:srgbClr val="1F2937"/>
                          </a:solidFill>
                          <a:latin typeface="Source Han Sans SC"/>
                        </a:rPr>
                        <a:t>2</a:t>
                      </a:r>
                    </a:p>
                  </a:txBody>
                  <a:tcPr>
                    <a:solidFill>
                      <a:srgbClr val="FFFFFF"/>
                    </a:solidFill>
                  </a:tcPr>
                </a:tc>
                <a:tc>
                  <a:txBody>
                    <a:bodyPr/>
                    <a:lstStyle/>
                    <a:p>
                      <a:r>
                        <a:rPr sz="1150" b="0">
                          <a:solidFill>
                            <a:srgbClr val="1F2937"/>
                          </a:solidFill>
                          <a:latin typeface="Source Han Sans SC"/>
                        </a:rPr>
                        <a:t>2</a:t>
                      </a:r>
                    </a:p>
                  </a:txBody>
                  <a:tcPr>
                    <a:solidFill>
                      <a:srgbClr val="FFFFFF"/>
                    </a:solidFill>
                  </a:tcPr>
                </a:tc>
                <a:tc>
                  <a:txBody>
                    <a:bodyPr/>
                    <a:lstStyle/>
                    <a:p>
                      <a:r>
                        <a:rPr sz="1150" b="0">
                          <a:solidFill>
                            <a:srgbClr val="1F2937"/>
                          </a:solidFill>
                          <a:latin typeface="Source Han Sans SC"/>
                        </a:rPr>
                        <a:t>2×2</a:t>
                      </a:r>
                    </a:p>
                  </a:txBody>
                  <a:tcPr>
                    <a:solidFill>
                      <a:srgbClr val="FFFFFF"/>
                    </a:solidFill>
                  </a:tcPr>
                </a:tc>
                <a:tc>
                  <a:txBody>
                    <a:bodyPr/>
                    <a:lstStyle/>
                    <a:p>
                      <a:r>
                        <a:rPr sz="1150" b="0">
                          <a:solidFill>
                            <a:srgbClr val="1F2937"/>
                          </a:solidFill>
                          <a:latin typeface="Source Han Sans SC"/>
                        </a:rPr>
                        <a:t>10</a:t>
                      </a:r>
                    </a:p>
                  </a:txBody>
                  <a:tcPr>
                    <a:solidFill>
                      <a:srgbClr val="FFFFFF"/>
                    </a:solidFill>
                  </a:tcPr>
                </a:tc>
                <a:tc>
                  <a:txBody>
                    <a:bodyPr/>
                    <a:lstStyle/>
                    <a:p>
                      <a:r>
                        <a:rPr sz="1150" b="0">
                          <a:solidFill>
                            <a:srgbClr val="1F2937"/>
                          </a:solidFill>
                          <a:latin typeface="Source Han Sans SC"/>
                        </a:rPr>
                        <a:t>4</a:t>
                      </a:r>
                    </a:p>
                  </a:txBody>
                  <a:tcPr>
                    <a:solidFill>
                      <a:srgbClr val="FFFFFF"/>
                    </a:solidFill>
                  </a:tcPr>
                </a:tc>
              </a:tr>
            </a:tbl>
          </a:graphicData>
        </a:graphic>
      </p:graphicFrame>
      <p:sp>
        <p:nvSpPr>
          <p:cNvPr id="11" name="TextBox 10"/>
          <p:cNvSpPr txBox="1"/>
          <p:nvPr/>
        </p:nvSpPr>
        <p:spPr>
          <a:xfrm>
            <a:off x="799200" y="3780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 row that matters is Conv 2: receptive field 8, exactly the whole image. On this 8x8 data the second convolution already sees everything, so no amount of extra depth adds translation invariance. That is the data being small, not the model being weak.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Pooling: Four Numbers Become One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Same 4x4 input, same non-overlapping 2x2 windows — only the rule differs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13 / 32</a:t>
            </a:r>
          </a:p>
        </p:txBody>
      </p:sp>
      <p:sp>
        <p:nvSpPr>
          <p:cNvPr id="10" name="TextBox 9"/>
          <p:cNvSpPr txBox="1"/>
          <p:nvPr/>
        </p:nvSpPr>
        <p:spPr>
          <a:xfrm>
            <a:off x="799200" y="1396800"/>
            <a:ext cx="5382000" cy="374699"/>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Max pooling</a:t>
            </a:r>
          </a:p>
        </p:txBody>
      </p:sp>
      <p:sp>
        <p:nvSpPr>
          <p:cNvPr id="11" name="TextBox 10"/>
          <p:cNvSpPr txBox="1"/>
          <p:nvPr/>
        </p:nvSpPr>
        <p:spPr>
          <a:xfrm>
            <a:off x="799200" y="1721099"/>
            <a:ext cx="5382000" cy="31754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keep the largest of the four</a:t>
            </a:r>
          </a:p>
        </p:txBody>
      </p:sp>
      <p:sp>
        <p:nvSpPr>
          <p:cNvPr id="12" name="Rectangle 11"/>
          <p:cNvSpPr/>
          <p:nvPr/>
        </p:nvSpPr>
        <p:spPr>
          <a:xfrm>
            <a:off x="799200" y="2211449"/>
            <a:ext cx="720000" cy="720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1</a:t>
            </a:r>
          </a:p>
        </p:txBody>
      </p:sp>
      <p:sp>
        <p:nvSpPr>
          <p:cNvPr id="14" name="Rectangle 13"/>
          <p:cNvSpPr/>
          <p:nvPr/>
        </p:nvSpPr>
        <p:spPr>
          <a:xfrm>
            <a:off x="1519200" y="2211449"/>
            <a:ext cx="720000" cy="720000"/>
          </a:xfrm>
          <a:prstGeom prst="rect">
            <a:avLst/>
          </a:prstGeom>
          <a:solidFill>
            <a:srgbClr val="F0F1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51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2</a:t>
            </a:r>
          </a:p>
        </p:txBody>
      </p:sp>
      <p:sp>
        <p:nvSpPr>
          <p:cNvPr id="16" name="Rectangle 15"/>
          <p:cNvSpPr/>
          <p:nvPr/>
        </p:nvSpPr>
        <p:spPr>
          <a:xfrm>
            <a:off x="2239200" y="2211449"/>
            <a:ext cx="720000" cy="720000"/>
          </a:xfrm>
          <a:prstGeom prst="rect">
            <a:avLst/>
          </a:prstGeom>
          <a:solidFill>
            <a:srgbClr val="C3C6C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3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5</a:t>
            </a:r>
          </a:p>
        </p:txBody>
      </p:sp>
      <p:sp>
        <p:nvSpPr>
          <p:cNvPr id="18" name="Rectangle 17"/>
          <p:cNvSpPr/>
          <p:nvPr/>
        </p:nvSpPr>
        <p:spPr>
          <a:xfrm>
            <a:off x="2959200" y="2211449"/>
            <a:ext cx="720000" cy="720000"/>
          </a:xfrm>
          <a:prstGeom prst="rect">
            <a:avLst/>
          </a:prstGeom>
          <a:solidFill>
            <a:srgbClr val="B4B8B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95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6</a:t>
            </a:r>
          </a:p>
        </p:txBody>
      </p:sp>
      <p:sp>
        <p:nvSpPr>
          <p:cNvPr id="20" name="Rectangle 19"/>
          <p:cNvSpPr/>
          <p:nvPr/>
        </p:nvSpPr>
        <p:spPr>
          <a:xfrm>
            <a:off x="799200" y="2931449"/>
            <a:ext cx="720000" cy="720000"/>
          </a:xfrm>
          <a:prstGeom prst="rect">
            <a:avLst/>
          </a:prstGeom>
          <a:solidFill>
            <a:srgbClr val="E1E2E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3</a:t>
            </a:r>
          </a:p>
        </p:txBody>
      </p:sp>
      <p:sp>
        <p:nvSpPr>
          <p:cNvPr id="22" name="Rectangle 21"/>
          <p:cNvSpPr/>
          <p:nvPr/>
        </p:nvSpPr>
        <p:spPr>
          <a:xfrm>
            <a:off x="1519200" y="2931449"/>
            <a:ext cx="720000" cy="720000"/>
          </a:xfrm>
          <a:prstGeom prst="rect">
            <a:avLst/>
          </a:prstGeom>
          <a:solidFill>
            <a:srgbClr val="D2D4D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51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4</a:t>
            </a:r>
          </a:p>
        </p:txBody>
      </p:sp>
      <p:sp>
        <p:nvSpPr>
          <p:cNvPr id="24" name="Rectangle 23"/>
          <p:cNvSpPr/>
          <p:nvPr/>
        </p:nvSpPr>
        <p:spPr>
          <a:xfrm>
            <a:off x="2239200" y="2931449"/>
            <a:ext cx="720000" cy="720000"/>
          </a:xfrm>
          <a:prstGeom prst="rect">
            <a:avLst/>
          </a:prstGeom>
          <a:solidFill>
            <a:srgbClr val="A5A9A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3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7</a:t>
            </a:r>
          </a:p>
        </p:txBody>
      </p:sp>
      <p:sp>
        <p:nvSpPr>
          <p:cNvPr id="26" name="Rectangle 25"/>
          <p:cNvSpPr/>
          <p:nvPr/>
        </p:nvSpPr>
        <p:spPr>
          <a:xfrm>
            <a:off x="2959200" y="2931449"/>
            <a:ext cx="720000" cy="720000"/>
          </a:xfrm>
          <a:prstGeom prst="rect">
            <a:avLst/>
          </a:prstGeom>
          <a:solidFill>
            <a:srgbClr val="969BA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95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8</a:t>
            </a:r>
          </a:p>
        </p:txBody>
      </p:sp>
      <p:sp>
        <p:nvSpPr>
          <p:cNvPr id="28" name="Rectangle 27"/>
          <p:cNvSpPr/>
          <p:nvPr/>
        </p:nvSpPr>
        <p:spPr>
          <a:xfrm>
            <a:off x="799200" y="3651449"/>
            <a:ext cx="720000" cy="720000"/>
          </a:xfrm>
          <a:prstGeom prst="rect">
            <a:avLst/>
          </a:prstGeom>
          <a:solidFill>
            <a:srgbClr val="888D9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9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9</a:t>
            </a:r>
          </a:p>
        </p:txBody>
      </p:sp>
      <p:sp>
        <p:nvSpPr>
          <p:cNvPr id="30" name="Rectangle 29"/>
          <p:cNvSpPr/>
          <p:nvPr/>
        </p:nvSpPr>
        <p:spPr>
          <a:xfrm>
            <a:off x="1519200" y="3651449"/>
            <a:ext cx="720000" cy="720000"/>
          </a:xfrm>
          <a:prstGeom prst="rect">
            <a:avLst/>
          </a:prstGeom>
          <a:solidFill>
            <a:srgbClr val="797F8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51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10</a:t>
            </a:r>
          </a:p>
        </p:txBody>
      </p:sp>
      <p:sp>
        <p:nvSpPr>
          <p:cNvPr id="32" name="Rectangle 31"/>
          <p:cNvSpPr/>
          <p:nvPr/>
        </p:nvSpPr>
        <p:spPr>
          <a:xfrm>
            <a:off x="2239200" y="3651449"/>
            <a:ext cx="720000" cy="720000"/>
          </a:xfrm>
          <a:prstGeom prst="rect">
            <a:avLst/>
          </a:prstGeom>
          <a:solidFill>
            <a:srgbClr val="4C545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3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13</a:t>
            </a:r>
          </a:p>
        </p:txBody>
      </p:sp>
      <p:sp>
        <p:nvSpPr>
          <p:cNvPr id="34" name="Rectangle 33"/>
          <p:cNvSpPr/>
          <p:nvPr/>
        </p:nvSpPr>
        <p:spPr>
          <a:xfrm>
            <a:off x="2959200" y="3651449"/>
            <a:ext cx="720000" cy="720000"/>
          </a:xfrm>
          <a:prstGeom prst="rect">
            <a:avLst/>
          </a:prstGeom>
          <a:solidFill>
            <a:srgbClr val="3D465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95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14</a:t>
            </a:r>
          </a:p>
        </p:txBody>
      </p:sp>
      <p:sp>
        <p:nvSpPr>
          <p:cNvPr id="36" name="Rectangle 35"/>
          <p:cNvSpPr/>
          <p:nvPr/>
        </p:nvSpPr>
        <p:spPr>
          <a:xfrm>
            <a:off x="799200" y="4371449"/>
            <a:ext cx="720000" cy="720000"/>
          </a:xfrm>
          <a:prstGeom prst="rect">
            <a:avLst/>
          </a:prstGeom>
          <a:solidFill>
            <a:srgbClr val="6A707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9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11</a:t>
            </a:r>
          </a:p>
        </p:txBody>
      </p:sp>
      <p:sp>
        <p:nvSpPr>
          <p:cNvPr id="38" name="Rectangle 37"/>
          <p:cNvSpPr/>
          <p:nvPr/>
        </p:nvSpPr>
        <p:spPr>
          <a:xfrm>
            <a:off x="1519200" y="4371449"/>
            <a:ext cx="720000" cy="720000"/>
          </a:xfrm>
          <a:prstGeom prst="rect">
            <a:avLst/>
          </a:prstGeom>
          <a:solidFill>
            <a:srgbClr val="5B626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51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12</a:t>
            </a:r>
          </a:p>
        </p:txBody>
      </p:sp>
      <p:sp>
        <p:nvSpPr>
          <p:cNvPr id="40" name="Rectangle 39"/>
          <p:cNvSpPr/>
          <p:nvPr/>
        </p:nvSpPr>
        <p:spPr>
          <a:xfrm>
            <a:off x="2239200" y="4371449"/>
            <a:ext cx="720000" cy="720000"/>
          </a:xfrm>
          <a:prstGeom prst="rect">
            <a:avLst/>
          </a:prstGeom>
          <a:solidFill>
            <a:srgbClr val="2E374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23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15</a:t>
            </a:r>
          </a:p>
        </p:txBody>
      </p:sp>
      <p:sp>
        <p:nvSpPr>
          <p:cNvPr id="42" name="Rectangle 41"/>
          <p:cNvSpPr/>
          <p:nvPr/>
        </p:nvSpPr>
        <p:spPr>
          <a:xfrm>
            <a:off x="2959200" y="4371449"/>
            <a:ext cx="720000" cy="720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95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16</a:t>
            </a:r>
          </a:p>
        </p:txBody>
      </p:sp>
      <p:sp>
        <p:nvSpPr>
          <p:cNvPr id="44" name="Rectangle 43"/>
          <p:cNvSpPr/>
          <p:nvPr/>
        </p:nvSpPr>
        <p:spPr>
          <a:xfrm>
            <a:off x="799200" y="2211449"/>
            <a:ext cx="1440000" cy="1440000"/>
          </a:xfrm>
          <a:prstGeom prst="rect">
            <a:avLst/>
          </a:prstGeom>
          <a:noFill/>
          <a:ln w="34925">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239200" y="3651449"/>
            <a:ext cx="1440000" cy="1440000"/>
          </a:xfrm>
          <a:prstGeom prst="rect">
            <a:avLst/>
          </a:prstGeom>
          <a:noFill/>
          <a:ln w="12700">
            <a:solidFill>
              <a:srgbClr val="3D7B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6" name="Connector 45"/>
          <p:cNvCxnSpPr/>
          <p:nvPr/>
        </p:nvCxnSpPr>
        <p:spPr>
          <a:xfrm>
            <a:off x="3769200" y="3651449"/>
            <a:ext cx="792000" cy="0"/>
          </a:xfrm>
          <a:prstGeom prst="line">
            <a:avLst/>
          </a:prstGeom>
          <a:ln w="2540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47" name="Isosceles Triangle 46"/>
          <p:cNvSpPr/>
          <p:nvPr/>
        </p:nvSpPr>
        <p:spPr>
          <a:xfrm rot="5400000">
            <a:off x="4521600" y="357584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741200" y="2931449"/>
            <a:ext cx="720000" cy="720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1200" y="2931449"/>
            <a:ext cx="720000" cy="720000"/>
          </a:xfrm>
          <a:prstGeom prst="rect">
            <a:avLst/>
          </a:prstGeom>
          <a:noFill/>
        </p:spPr>
        <p:txBody>
          <a:bodyPr wrap="square" anchor="ctr" lIns="0" rIns="0" tIns="0" bIns="0">
            <a:spAutoFit/>
          </a:bodyPr>
          <a:lstStyle/>
          <a:p>
            <a:pPr algn="ctr">
              <a:lnSpc>
                <a:spcPct val="125000"/>
              </a:lnSpc>
            </a:pPr>
            <a:r>
              <a:rPr sz="1200" b="1" i="0">
                <a:solidFill>
                  <a:srgbClr val="FFFFFF"/>
                </a:solidFill>
                <a:latin typeface="Source Han Sans SC"/>
              </a:rPr>
              <a:t>4</a:t>
            </a:r>
          </a:p>
        </p:txBody>
      </p:sp>
      <p:sp>
        <p:nvSpPr>
          <p:cNvPr id="50" name="Rectangle 49"/>
          <p:cNvSpPr/>
          <p:nvPr/>
        </p:nvSpPr>
        <p:spPr>
          <a:xfrm>
            <a:off x="5461200" y="293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5461200" y="293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8</a:t>
            </a:r>
          </a:p>
        </p:txBody>
      </p:sp>
      <p:sp>
        <p:nvSpPr>
          <p:cNvPr id="52" name="Rectangle 51"/>
          <p:cNvSpPr/>
          <p:nvPr/>
        </p:nvSpPr>
        <p:spPr>
          <a:xfrm>
            <a:off x="4741200" y="365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741200" y="365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12</a:t>
            </a:r>
          </a:p>
        </p:txBody>
      </p:sp>
      <p:sp>
        <p:nvSpPr>
          <p:cNvPr id="54" name="Rectangle 53"/>
          <p:cNvSpPr/>
          <p:nvPr/>
        </p:nvSpPr>
        <p:spPr>
          <a:xfrm>
            <a:off x="5461200" y="365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461200" y="365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16</a:t>
            </a:r>
          </a:p>
        </p:txBody>
      </p:sp>
      <p:sp>
        <p:nvSpPr>
          <p:cNvPr id="56" name="Rectangle 55"/>
          <p:cNvSpPr/>
          <p:nvPr/>
        </p:nvSpPr>
        <p:spPr>
          <a:xfrm>
            <a:off x="4741200" y="2931449"/>
            <a:ext cx="720000" cy="720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99200" y="5253449"/>
            <a:ext cx="5382000" cy="468000"/>
          </a:xfrm>
          <a:prstGeom prst="rect">
            <a:avLst/>
          </a:prstGeom>
          <a:noFill/>
        </p:spPr>
        <p:txBody>
          <a:bodyPr wrap="square" anchor="t" lIns="0" rIns="0" tIns="0" bIns="0">
            <a:spAutoFit/>
          </a:bodyPr>
          <a:lstStyle/>
          <a:p>
            <a:pPr algn="l">
              <a:lnSpc>
                <a:spcPct val="130000"/>
              </a:lnSpc>
            </a:pPr>
            <a:r>
              <a:rPr sz="1100" b="0" i="0">
                <a:solidFill>
                  <a:srgbClr val="6B7280"/>
                </a:solidFill>
                <a:latin typeface="Source Han Sans SC"/>
              </a:rPr>
              <a:t>Keeps the strongest response</a:t>
            </a:r>
          </a:p>
        </p:txBody>
      </p:sp>
      <p:sp>
        <p:nvSpPr>
          <p:cNvPr id="58" name="TextBox 57"/>
          <p:cNvSpPr txBox="1"/>
          <p:nvPr/>
        </p:nvSpPr>
        <p:spPr>
          <a:xfrm>
            <a:off x="6937200" y="1396800"/>
            <a:ext cx="5382000" cy="374699"/>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Average pooling</a:t>
            </a:r>
          </a:p>
        </p:txBody>
      </p:sp>
      <p:sp>
        <p:nvSpPr>
          <p:cNvPr id="59" name="TextBox 58"/>
          <p:cNvSpPr txBox="1"/>
          <p:nvPr/>
        </p:nvSpPr>
        <p:spPr>
          <a:xfrm>
            <a:off x="6937200" y="1721099"/>
            <a:ext cx="5382000" cy="31754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keep the mean of the four</a:t>
            </a:r>
          </a:p>
        </p:txBody>
      </p:sp>
      <p:sp>
        <p:nvSpPr>
          <p:cNvPr id="60" name="Rectangle 59"/>
          <p:cNvSpPr/>
          <p:nvPr/>
        </p:nvSpPr>
        <p:spPr>
          <a:xfrm>
            <a:off x="6937200" y="2211449"/>
            <a:ext cx="720000" cy="720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93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1</a:t>
            </a:r>
          </a:p>
        </p:txBody>
      </p:sp>
      <p:sp>
        <p:nvSpPr>
          <p:cNvPr id="62" name="Rectangle 61"/>
          <p:cNvSpPr/>
          <p:nvPr/>
        </p:nvSpPr>
        <p:spPr>
          <a:xfrm>
            <a:off x="7657200" y="2211449"/>
            <a:ext cx="720000" cy="720000"/>
          </a:xfrm>
          <a:prstGeom prst="rect">
            <a:avLst/>
          </a:prstGeom>
          <a:solidFill>
            <a:srgbClr val="F0F1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65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2</a:t>
            </a:r>
          </a:p>
        </p:txBody>
      </p:sp>
      <p:sp>
        <p:nvSpPr>
          <p:cNvPr id="64" name="Rectangle 63"/>
          <p:cNvSpPr/>
          <p:nvPr/>
        </p:nvSpPr>
        <p:spPr>
          <a:xfrm>
            <a:off x="8377200" y="2211449"/>
            <a:ext cx="720000" cy="720000"/>
          </a:xfrm>
          <a:prstGeom prst="rect">
            <a:avLst/>
          </a:prstGeom>
          <a:solidFill>
            <a:srgbClr val="C3C6C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37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5</a:t>
            </a:r>
          </a:p>
        </p:txBody>
      </p:sp>
      <p:sp>
        <p:nvSpPr>
          <p:cNvPr id="66" name="Rectangle 65"/>
          <p:cNvSpPr/>
          <p:nvPr/>
        </p:nvSpPr>
        <p:spPr>
          <a:xfrm>
            <a:off x="9097200" y="2211449"/>
            <a:ext cx="720000" cy="720000"/>
          </a:xfrm>
          <a:prstGeom prst="rect">
            <a:avLst/>
          </a:prstGeom>
          <a:solidFill>
            <a:srgbClr val="B4B8B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09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6</a:t>
            </a:r>
          </a:p>
        </p:txBody>
      </p:sp>
      <p:sp>
        <p:nvSpPr>
          <p:cNvPr id="68" name="Rectangle 67"/>
          <p:cNvSpPr/>
          <p:nvPr/>
        </p:nvSpPr>
        <p:spPr>
          <a:xfrm>
            <a:off x="6937200" y="2931449"/>
            <a:ext cx="720000" cy="720000"/>
          </a:xfrm>
          <a:prstGeom prst="rect">
            <a:avLst/>
          </a:prstGeom>
          <a:solidFill>
            <a:srgbClr val="E1E2E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693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3</a:t>
            </a:r>
          </a:p>
        </p:txBody>
      </p:sp>
      <p:sp>
        <p:nvSpPr>
          <p:cNvPr id="70" name="Rectangle 69"/>
          <p:cNvSpPr/>
          <p:nvPr/>
        </p:nvSpPr>
        <p:spPr>
          <a:xfrm>
            <a:off x="7657200" y="2931449"/>
            <a:ext cx="720000" cy="720000"/>
          </a:xfrm>
          <a:prstGeom prst="rect">
            <a:avLst/>
          </a:prstGeom>
          <a:solidFill>
            <a:srgbClr val="D2D4D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765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4</a:t>
            </a:r>
          </a:p>
        </p:txBody>
      </p:sp>
      <p:sp>
        <p:nvSpPr>
          <p:cNvPr id="72" name="Rectangle 71"/>
          <p:cNvSpPr/>
          <p:nvPr/>
        </p:nvSpPr>
        <p:spPr>
          <a:xfrm>
            <a:off x="8377200" y="2931449"/>
            <a:ext cx="720000" cy="720000"/>
          </a:xfrm>
          <a:prstGeom prst="rect">
            <a:avLst/>
          </a:prstGeom>
          <a:solidFill>
            <a:srgbClr val="A5A9A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837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7</a:t>
            </a:r>
          </a:p>
        </p:txBody>
      </p:sp>
      <p:sp>
        <p:nvSpPr>
          <p:cNvPr id="74" name="Rectangle 73"/>
          <p:cNvSpPr/>
          <p:nvPr/>
        </p:nvSpPr>
        <p:spPr>
          <a:xfrm>
            <a:off x="9097200" y="2931449"/>
            <a:ext cx="720000" cy="720000"/>
          </a:xfrm>
          <a:prstGeom prst="rect">
            <a:avLst/>
          </a:prstGeom>
          <a:solidFill>
            <a:srgbClr val="969BA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909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8</a:t>
            </a:r>
          </a:p>
        </p:txBody>
      </p:sp>
      <p:sp>
        <p:nvSpPr>
          <p:cNvPr id="76" name="Rectangle 75"/>
          <p:cNvSpPr/>
          <p:nvPr/>
        </p:nvSpPr>
        <p:spPr>
          <a:xfrm>
            <a:off x="6937200" y="3651449"/>
            <a:ext cx="720000" cy="720000"/>
          </a:xfrm>
          <a:prstGeom prst="rect">
            <a:avLst/>
          </a:prstGeom>
          <a:solidFill>
            <a:srgbClr val="888D9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693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9</a:t>
            </a:r>
          </a:p>
        </p:txBody>
      </p:sp>
      <p:sp>
        <p:nvSpPr>
          <p:cNvPr id="78" name="Rectangle 77"/>
          <p:cNvSpPr/>
          <p:nvPr/>
        </p:nvSpPr>
        <p:spPr>
          <a:xfrm>
            <a:off x="7657200" y="3651449"/>
            <a:ext cx="720000" cy="720000"/>
          </a:xfrm>
          <a:prstGeom prst="rect">
            <a:avLst/>
          </a:prstGeom>
          <a:solidFill>
            <a:srgbClr val="797F8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765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10</a:t>
            </a:r>
          </a:p>
        </p:txBody>
      </p:sp>
      <p:sp>
        <p:nvSpPr>
          <p:cNvPr id="80" name="Rectangle 79"/>
          <p:cNvSpPr/>
          <p:nvPr/>
        </p:nvSpPr>
        <p:spPr>
          <a:xfrm>
            <a:off x="8377200" y="3651449"/>
            <a:ext cx="720000" cy="720000"/>
          </a:xfrm>
          <a:prstGeom prst="rect">
            <a:avLst/>
          </a:prstGeom>
          <a:solidFill>
            <a:srgbClr val="4C545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837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13</a:t>
            </a:r>
          </a:p>
        </p:txBody>
      </p:sp>
      <p:sp>
        <p:nvSpPr>
          <p:cNvPr id="82" name="Rectangle 81"/>
          <p:cNvSpPr/>
          <p:nvPr/>
        </p:nvSpPr>
        <p:spPr>
          <a:xfrm>
            <a:off x="9097200" y="3651449"/>
            <a:ext cx="720000" cy="720000"/>
          </a:xfrm>
          <a:prstGeom prst="rect">
            <a:avLst/>
          </a:prstGeom>
          <a:solidFill>
            <a:srgbClr val="3D465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909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14</a:t>
            </a:r>
          </a:p>
        </p:txBody>
      </p:sp>
      <p:sp>
        <p:nvSpPr>
          <p:cNvPr id="84" name="Rectangle 83"/>
          <p:cNvSpPr/>
          <p:nvPr/>
        </p:nvSpPr>
        <p:spPr>
          <a:xfrm>
            <a:off x="6937200" y="4371449"/>
            <a:ext cx="720000" cy="720000"/>
          </a:xfrm>
          <a:prstGeom prst="rect">
            <a:avLst/>
          </a:prstGeom>
          <a:solidFill>
            <a:srgbClr val="6A707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693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11</a:t>
            </a:r>
          </a:p>
        </p:txBody>
      </p:sp>
      <p:sp>
        <p:nvSpPr>
          <p:cNvPr id="86" name="Rectangle 85"/>
          <p:cNvSpPr/>
          <p:nvPr/>
        </p:nvSpPr>
        <p:spPr>
          <a:xfrm>
            <a:off x="7657200" y="4371449"/>
            <a:ext cx="720000" cy="720000"/>
          </a:xfrm>
          <a:prstGeom prst="rect">
            <a:avLst/>
          </a:prstGeom>
          <a:solidFill>
            <a:srgbClr val="5B626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765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12</a:t>
            </a:r>
          </a:p>
        </p:txBody>
      </p:sp>
      <p:sp>
        <p:nvSpPr>
          <p:cNvPr id="88" name="Rectangle 87"/>
          <p:cNvSpPr/>
          <p:nvPr/>
        </p:nvSpPr>
        <p:spPr>
          <a:xfrm>
            <a:off x="8377200" y="4371449"/>
            <a:ext cx="720000" cy="720000"/>
          </a:xfrm>
          <a:prstGeom prst="rect">
            <a:avLst/>
          </a:prstGeom>
          <a:solidFill>
            <a:srgbClr val="2E374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837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15</a:t>
            </a:r>
          </a:p>
        </p:txBody>
      </p:sp>
      <p:sp>
        <p:nvSpPr>
          <p:cNvPr id="90" name="Rectangle 89"/>
          <p:cNvSpPr/>
          <p:nvPr/>
        </p:nvSpPr>
        <p:spPr>
          <a:xfrm>
            <a:off x="9097200" y="4371449"/>
            <a:ext cx="720000" cy="720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909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16</a:t>
            </a:r>
          </a:p>
        </p:txBody>
      </p:sp>
      <p:cxnSp>
        <p:nvCxnSpPr>
          <p:cNvPr id="92" name="Connector 91"/>
          <p:cNvCxnSpPr/>
          <p:nvPr/>
        </p:nvCxnSpPr>
        <p:spPr>
          <a:xfrm>
            <a:off x="9907200" y="3651449"/>
            <a:ext cx="792000" cy="0"/>
          </a:xfrm>
          <a:prstGeom prst="line">
            <a:avLst/>
          </a:prstGeom>
          <a:ln w="2540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93" name="Isosceles Triangle 92"/>
          <p:cNvSpPr/>
          <p:nvPr/>
        </p:nvSpPr>
        <p:spPr>
          <a:xfrm rot="5400000">
            <a:off x="10659599" y="357584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10879200" y="2931449"/>
            <a:ext cx="720000" cy="720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10879200" y="2931449"/>
            <a:ext cx="720000" cy="720000"/>
          </a:xfrm>
          <a:prstGeom prst="rect">
            <a:avLst/>
          </a:prstGeom>
          <a:noFill/>
        </p:spPr>
        <p:txBody>
          <a:bodyPr wrap="square" anchor="ctr" lIns="0" rIns="0" tIns="0" bIns="0">
            <a:spAutoFit/>
          </a:bodyPr>
          <a:lstStyle/>
          <a:p>
            <a:pPr algn="ctr">
              <a:lnSpc>
                <a:spcPct val="125000"/>
              </a:lnSpc>
            </a:pPr>
            <a:r>
              <a:rPr sz="1200" b="1" i="0">
                <a:solidFill>
                  <a:srgbClr val="FFFFFF"/>
                </a:solidFill>
                <a:latin typeface="Source Han Sans SC"/>
              </a:rPr>
              <a:t>2.5</a:t>
            </a:r>
          </a:p>
        </p:txBody>
      </p:sp>
      <p:sp>
        <p:nvSpPr>
          <p:cNvPr id="96" name="Rectangle 95"/>
          <p:cNvSpPr/>
          <p:nvPr/>
        </p:nvSpPr>
        <p:spPr>
          <a:xfrm>
            <a:off x="11599200" y="293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11599200" y="293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6.5</a:t>
            </a:r>
          </a:p>
        </p:txBody>
      </p:sp>
      <p:sp>
        <p:nvSpPr>
          <p:cNvPr id="98" name="Rectangle 97"/>
          <p:cNvSpPr/>
          <p:nvPr/>
        </p:nvSpPr>
        <p:spPr>
          <a:xfrm>
            <a:off x="10879200" y="365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10879200" y="365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10.5</a:t>
            </a:r>
          </a:p>
        </p:txBody>
      </p:sp>
      <p:sp>
        <p:nvSpPr>
          <p:cNvPr id="100" name="Rectangle 99"/>
          <p:cNvSpPr/>
          <p:nvPr/>
        </p:nvSpPr>
        <p:spPr>
          <a:xfrm>
            <a:off x="11599200" y="365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11599200" y="365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14.5</a:t>
            </a:r>
          </a:p>
        </p:txBody>
      </p:sp>
      <p:sp>
        <p:nvSpPr>
          <p:cNvPr id="102" name="Rectangle 101"/>
          <p:cNvSpPr/>
          <p:nvPr/>
        </p:nvSpPr>
        <p:spPr>
          <a:xfrm>
            <a:off x="10879200" y="2931449"/>
            <a:ext cx="720000" cy="720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6937200" y="5253449"/>
            <a:ext cx="5382000" cy="468000"/>
          </a:xfrm>
          <a:prstGeom prst="rect">
            <a:avLst/>
          </a:prstGeom>
          <a:noFill/>
        </p:spPr>
        <p:txBody>
          <a:bodyPr wrap="square" anchor="t" lIns="0" rIns="0" tIns="0" bIns="0">
            <a:spAutoFit/>
          </a:bodyPr>
          <a:lstStyle/>
          <a:p>
            <a:pPr algn="l">
              <a:lnSpc>
                <a:spcPct val="130000"/>
              </a:lnSpc>
            </a:pPr>
            <a:r>
              <a:rPr sz="1100" b="0" i="0">
                <a:solidFill>
                  <a:srgbClr val="6B7280"/>
                </a:solidFill>
                <a:latin typeface="Source Han Sans SC"/>
              </a:rPr>
              <a:t>Smooths all four together</a:t>
            </a:r>
          </a:p>
        </p:txBody>
      </p:sp>
      <p:sp>
        <p:nvSpPr>
          <p:cNvPr id="104" name="TextBox 103"/>
          <p:cNvSpPr txBox="1"/>
          <p:nvPr/>
        </p:nvSpPr>
        <p:spPr>
          <a:xfrm>
            <a:off x="799200" y="5839200"/>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Measured this week: the two architectures are byte-for-byte identical apart from the pooling function, and max pooling wins by 4.1 points — a digit's evidence sits exactly where its stroke is densest, which max keeps and average dilutes.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What pooling does — three jobs, one price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Not "to reduce dimensions" — three concrete jobs; the price is in the last card, measured at 4.1 points this week</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14 / 32</a:t>
            </a:r>
          </a:p>
        </p:txBody>
      </p:sp>
      <p:sp>
        <p:nvSpPr>
          <p:cNvPr id="10" name="Rectangle 9"/>
          <p:cNvSpPr/>
          <p:nvPr/>
        </p:nvSpPr>
        <p:spPr>
          <a:xfrm>
            <a:off x="799200"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332000"/>
            <a:ext cx="32400" cy="4176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1. Shrinks the map</a:t>
            </a:r>
          </a:p>
        </p:txBody>
      </p:sp>
      <p:sp>
        <p:nvSpPr>
          <p:cNvPr id="13" name="TextBox 12"/>
          <p:cNvSpPr txBox="1"/>
          <p:nvPr/>
        </p:nvSpPr>
        <p:spPr>
          <a:xfrm>
            <a:off x="1022400" y="1792800"/>
            <a:ext cx="2940839" cy="3571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8x8 → 4x4 → 2x2. Compute and memory in later layers fall with the area.</a:t>
            </a:r>
          </a:p>
          <a:p>
            <a:pPr algn="l">
              <a:lnSpc>
                <a:spcPct val="140000"/>
              </a:lnSpc>
              <a:spcAft>
                <a:spcPts val="400"/>
              </a:spcAft>
            </a:pPr>
            <a:r>
              <a:rPr sz="1200" b="0" i="0">
                <a:solidFill>
                  <a:srgbClr val="1F2937"/>
                </a:solidFill>
                <a:latin typeface="Source Han Sans SC"/>
              </a:rPr>
              <a:t>• This is the one everyone mistakes for the whole story.</a:t>
            </a:r>
          </a:p>
        </p:txBody>
      </p:sp>
      <p:sp>
        <p:nvSpPr>
          <p:cNvPr id="14" name="Rectangle 13"/>
          <p:cNvSpPr/>
          <p:nvPr/>
        </p:nvSpPr>
        <p:spPr>
          <a:xfrm>
            <a:off x="4402440"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332000"/>
            <a:ext cx="32400" cy="417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2. Grows the receptive field</a:t>
            </a:r>
          </a:p>
        </p:txBody>
      </p:sp>
      <p:sp>
        <p:nvSpPr>
          <p:cNvPr id="17" name="TextBox 16"/>
          <p:cNvSpPr txBox="1"/>
          <p:nvPr/>
        </p:nvSpPr>
        <p:spPr>
          <a:xfrm>
            <a:off x="4625639" y="1792800"/>
            <a:ext cx="2940839" cy="3571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Stride-2 pooling doubles the jump. Without it, stacked 3x3 convs only reach 3, 5, 7...</a:t>
            </a:r>
          </a:p>
          <a:p>
            <a:pPr algn="l">
              <a:lnSpc>
                <a:spcPct val="140000"/>
              </a:lnSpc>
              <a:spcAft>
                <a:spcPts val="400"/>
              </a:spcAft>
            </a:pPr>
            <a:r>
              <a:rPr sz="1200" b="0" i="0">
                <a:solidFill>
                  <a:srgbClr val="1F2937"/>
                </a:solidFill>
                <a:latin typeface="Source Han Sans SC"/>
              </a:rPr>
              <a:t>• See the previous page: with pooling, the second conv already covers the image.</a:t>
            </a:r>
          </a:p>
        </p:txBody>
      </p:sp>
      <p:sp>
        <p:nvSpPr>
          <p:cNvPr id="18" name="Rectangle 17"/>
          <p:cNvSpPr/>
          <p:nvPr/>
        </p:nvSpPr>
        <p:spPr>
          <a:xfrm>
            <a:off x="8005679"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05679" y="1332000"/>
            <a:ext cx="32400" cy="4176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8879"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3. Tolerates small shifts — and loses position</a:t>
            </a:r>
          </a:p>
        </p:txBody>
      </p:sp>
      <p:sp>
        <p:nvSpPr>
          <p:cNvPr id="21" name="TextBox 20"/>
          <p:cNvSpPr txBox="1"/>
          <p:nvPr/>
        </p:nvSpPr>
        <p:spPr>
          <a:xfrm>
            <a:off x="8228879" y="1792800"/>
            <a:ext cx="2940839" cy="3571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 strong response somewhere in this patch" is steadier than "exactly at row 3, column 5".</a:t>
            </a:r>
          </a:p>
          <a:p>
            <a:pPr algn="l">
              <a:lnSpc>
                <a:spcPct val="140000"/>
              </a:lnSpc>
              <a:spcAft>
                <a:spcPts val="400"/>
              </a:spcAft>
            </a:pPr>
            <a:r>
              <a:rPr sz="1200" b="0" i="0">
                <a:solidFill>
                  <a:srgbClr val="1F2937"/>
                </a:solidFill>
                <a:latin typeface="Source Han Sans SC"/>
              </a:rPr>
              <a:t>• The price: tasks that need WHERE (segmentation, detection, keypoints) must restore position. That is later weeks.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pooling choice is worth 4.1 points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Apart from the pooling function the two architectures are byte-for-byte identical: same channels, same kernels, same learning rate and epochs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measured · 5 seeds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15 / 32</a:t>
            </a:r>
          </a:p>
        </p:txBody>
      </p:sp>
      <p:graphicFrame>
        <p:nvGraphicFramePr>
          <p:cNvPr id="10" name="Table 9"/>
          <p:cNvGraphicFramePr>
            <a:graphicFrameLocks noGrp="1"/>
          </p:cNvGraphicFramePr>
          <p:nvPr/>
        </p:nvGraphicFramePr>
        <p:xfrm>
          <a:off x="799200" y="1152000"/>
          <a:ext cx="10583999" cy="1242000"/>
        </p:xfrm>
        <a:graphic>
          <a:graphicData uri="http://schemas.openxmlformats.org/drawingml/2006/table">
            <a:tbl>
              <a:tblPr firstRow="1" bandRow="1">
                <a:tableStyleId>{5C22544A-7EE6-4342-B048-85BDC9FD1C3A}</a:tableStyleId>
              </a:tblPr>
              <a:tblGrid>
                <a:gridCol w="1655999"/>
                <a:gridCol w="1512000"/>
                <a:gridCol w="1584000"/>
                <a:gridCol w="1944000"/>
                <a:gridCol w="1944000"/>
                <a:gridCol w="1944000"/>
              </a:tblGrid>
              <a:tr h="414000">
                <a:tc>
                  <a:txBody>
                    <a:bodyPr/>
                    <a:lstStyle/>
                    <a:p>
                      <a:r>
                        <a:rPr sz="1250" b="1">
                          <a:solidFill>
                            <a:srgbClr val="FFFFFF"/>
                          </a:solidFill>
                          <a:latin typeface="Source Han Sans SC"/>
                        </a:rPr>
                        <a:t>Architecture</a:t>
                      </a:r>
                    </a:p>
                  </a:txBody>
                  <a:tcPr>
                    <a:solidFill>
                      <a:srgbClr val="0E3F8C"/>
                    </a:solidFill>
                  </a:tcPr>
                </a:tc>
                <a:tc>
                  <a:txBody>
                    <a:bodyPr/>
                    <a:lstStyle/>
                    <a:p>
                      <a:r>
                        <a:rPr sz="1250" b="1">
                          <a:solidFill>
                            <a:srgbClr val="FFFFFF"/>
                          </a:solidFill>
                          <a:latin typeface="Source Han Sans SC"/>
                        </a:rPr>
                        <a:t>Pooling</a:t>
                      </a:r>
                    </a:p>
                  </a:txBody>
                  <a:tcPr>
                    <a:solidFill>
                      <a:srgbClr val="0E3F8C"/>
                    </a:solidFill>
                  </a:tcPr>
                </a:tc>
                <a:tc>
                  <a:txBody>
                    <a:bodyPr/>
                    <a:lstStyle/>
                    <a:p>
                      <a:r>
                        <a:rPr sz="1250" b="1">
                          <a:solidFill>
                            <a:srgbClr val="FFFFFF"/>
                          </a:solidFill>
                          <a:latin typeface="Source Han Sans SC"/>
                        </a:rPr>
                        <a:t>Params</a:t>
                      </a:r>
                    </a:p>
                  </a:txBody>
                  <a:tcPr>
                    <a:solidFill>
                      <a:srgbClr val="0E3F8C"/>
                    </a:solidFill>
                  </a:tcPr>
                </a:tc>
                <a:tc>
                  <a:txBody>
                    <a:bodyPr/>
                    <a:lstStyle/>
                    <a:p>
                      <a:r>
                        <a:rPr sz="1250" b="1">
                          <a:solidFill>
                            <a:srgbClr val="FFFFFF"/>
                          </a:solidFill>
                          <a:latin typeface="Source Han Sans SC"/>
                        </a:rPr>
                        <a:t>Train acc</a:t>
                      </a:r>
                    </a:p>
                  </a:txBody>
                  <a:tcPr>
                    <a:solidFill>
                      <a:srgbClr val="0E3F8C"/>
                    </a:solidFill>
                  </a:tcPr>
                </a:tc>
                <a:tc>
                  <a:txBody>
                    <a:bodyPr/>
                    <a:lstStyle/>
                    <a:p>
                      <a:r>
                        <a:rPr sz="1250" b="1">
                          <a:solidFill>
                            <a:srgbClr val="FFFFFF"/>
                          </a:solidFill>
                          <a:latin typeface="Source Han Sans SC"/>
                        </a:rPr>
                        <a:t>Val acc</a:t>
                      </a:r>
                    </a:p>
                  </a:txBody>
                  <a:tcPr>
                    <a:solidFill>
                      <a:srgbClr val="0E3F8C"/>
                    </a:solidFill>
                  </a:tcPr>
                </a:tc>
                <a:tc>
                  <a:txBody>
                    <a:bodyPr/>
                    <a:lstStyle/>
                    <a:p>
                      <a:r>
                        <a:rPr sz="1250" b="1">
                          <a:solidFill>
                            <a:srgbClr val="FFFFFF"/>
                          </a:solidFill>
                          <a:latin typeface="Source Han Sans SC"/>
                        </a:rPr>
                        <a:t>Test acc</a:t>
                      </a:r>
                    </a:p>
                  </a:txBody>
                  <a:tcPr>
                    <a:solidFill>
                      <a:srgbClr val="0E3F8C"/>
                    </a:solidFill>
                  </a:tcPr>
                </a:tc>
              </a:tr>
              <a:tr h="414000">
                <a:tc>
                  <a:txBody>
                    <a:bodyPr/>
                    <a:lstStyle/>
                    <a:p>
                      <a:r>
                        <a:rPr sz="1150" b="1">
                          <a:solidFill>
                            <a:srgbClr val="1F2937"/>
                          </a:solidFill>
                          <a:latin typeface="Source Han Sans SC"/>
                        </a:rPr>
                        <a:t>CNN small</a:t>
                      </a:r>
                    </a:p>
                  </a:txBody>
                  <a:tcPr>
                    <a:solidFill>
                      <a:srgbClr val="FFFFFF"/>
                    </a:solidFill>
                  </a:tcPr>
                </a:tc>
                <a:tc>
                  <a:txBody>
                    <a:bodyPr/>
                    <a:lstStyle/>
                    <a:p>
                      <a:r>
                        <a:rPr sz="1150" b="0">
                          <a:solidFill>
                            <a:srgbClr val="1F2937"/>
                          </a:solidFill>
                          <a:latin typeface="Source Han Sans SC"/>
                        </a:rPr>
                        <a:t>Max</a:t>
                      </a:r>
                    </a:p>
                  </a:txBody>
                  <a:tcPr>
                    <a:solidFill>
                      <a:srgbClr val="FFFFFF"/>
                    </a:solidFill>
                  </a:tcPr>
                </a:tc>
                <a:tc>
                  <a:txBody>
                    <a:bodyPr/>
                    <a:lstStyle/>
                    <a:p>
                      <a:r>
                        <a:rPr sz="1150" b="0">
                          <a:solidFill>
                            <a:srgbClr val="1F2937"/>
                          </a:solidFill>
                          <a:latin typeface="Source Han Sans SC"/>
                        </a:rPr>
                        <a:t>1,898</a:t>
                      </a:r>
                    </a:p>
                  </a:txBody>
                  <a:tcPr>
                    <a:solidFill>
                      <a:srgbClr val="FFFFFF"/>
                    </a:solidFill>
                  </a:tcPr>
                </a:tc>
                <a:tc>
                  <a:txBody>
                    <a:bodyPr/>
                    <a:lstStyle/>
                    <a:p>
                      <a:r>
                        <a:rPr sz="1150" b="0">
                          <a:solidFill>
                            <a:srgbClr val="1F2937"/>
                          </a:solidFill>
                          <a:latin typeface="Source Han Sans SC"/>
                        </a:rPr>
                        <a:t>0.999±0.001</a:t>
                      </a:r>
                    </a:p>
                  </a:txBody>
                  <a:tcPr>
                    <a:solidFill>
                      <a:srgbClr val="FFFFFF"/>
                    </a:solidFill>
                  </a:tcPr>
                </a:tc>
                <a:tc>
                  <a:txBody>
                    <a:bodyPr/>
                    <a:lstStyle/>
                    <a:p>
                      <a:r>
                        <a:rPr sz="1150" b="0">
                          <a:solidFill>
                            <a:srgbClr val="1F2937"/>
                          </a:solidFill>
                          <a:latin typeface="Source Han Sans SC"/>
                        </a:rPr>
                        <a:t>0.970±0.010</a:t>
                      </a:r>
                    </a:p>
                  </a:txBody>
                  <a:tcPr>
                    <a:solidFill>
                      <a:srgbClr val="FFFFFF"/>
                    </a:solidFill>
                  </a:tcPr>
                </a:tc>
                <a:tc>
                  <a:txBody>
                    <a:bodyPr/>
                    <a:lstStyle/>
                    <a:p>
                      <a:r>
                        <a:rPr sz="1150" b="0">
                          <a:solidFill>
                            <a:srgbClr val="1F2937"/>
                          </a:solidFill>
                          <a:latin typeface="Source Han Sans SC"/>
                        </a:rPr>
                        <a:t>**0.981±0.008**</a:t>
                      </a:r>
                    </a:p>
                  </a:txBody>
                  <a:tcPr>
                    <a:solidFill>
                      <a:srgbClr val="FFFFFF"/>
                    </a:solidFill>
                  </a:tcPr>
                </a:tc>
              </a:tr>
              <a:tr h="414000">
                <a:tc>
                  <a:txBody>
                    <a:bodyPr/>
                    <a:lstStyle/>
                    <a:p>
                      <a:r>
                        <a:rPr sz="1150" b="1">
                          <a:solidFill>
                            <a:srgbClr val="1F2937"/>
                          </a:solidFill>
                          <a:latin typeface="Source Han Sans SC"/>
                        </a:rPr>
                        <a:t>CNN small</a:t>
                      </a:r>
                    </a:p>
                  </a:txBody>
                  <a:tcPr>
                    <a:solidFill>
                      <a:srgbClr val="F0F5FC"/>
                    </a:solidFill>
                  </a:tcPr>
                </a:tc>
                <a:tc>
                  <a:txBody>
                    <a:bodyPr/>
                    <a:lstStyle/>
                    <a:p>
                      <a:r>
                        <a:rPr sz="1150" b="0">
                          <a:solidFill>
                            <a:srgbClr val="1F2937"/>
                          </a:solidFill>
                          <a:latin typeface="Source Han Sans SC"/>
                        </a:rPr>
                        <a:t>Average</a:t>
                      </a:r>
                    </a:p>
                  </a:txBody>
                  <a:tcPr>
                    <a:solidFill>
                      <a:srgbClr val="F0F5FC"/>
                    </a:solidFill>
                  </a:tcPr>
                </a:tc>
                <a:tc>
                  <a:txBody>
                    <a:bodyPr/>
                    <a:lstStyle/>
                    <a:p>
                      <a:r>
                        <a:rPr sz="1150" b="0">
                          <a:solidFill>
                            <a:srgbClr val="1F2937"/>
                          </a:solidFill>
                          <a:latin typeface="Source Han Sans SC"/>
                        </a:rPr>
                        <a:t>1,898</a:t>
                      </a:r>
                    </a:p>
                  </a:txBody>
                  <a:tcPr>
                    <a:solidFill>
                      <a:srgbClr val="F0F5FC"/>
                    </a:solidFill>
                  </a:tcPr>
                </a:tc>
                <a:tc>
                  <a:txBody>
                    <a:bodyPr/>
                    <a:lstStyle/>
                    <a:p>
                      <a:r>
                        <a:rPr sz="1150" b="0">
                          <a:solidFill>
                            <a:srgbClr val="1F2937"/>
                          </a:solidFill>
                          <a:latin typeface="Source Han Sans SC"/>
                        </a:rPr>
                        <a:t>0.950±0.009</a:t>
                      </a:r>
                    </a:p>
                  </a:txBody>
                  <a:tcPr>
                    <a:solidFill>
                      <a:srgbClr val="F0F5FC"/>
                    </a:solidFill>
                  </a:tcPr>
                </a:tc>
                <a:tc>
                  <a:txBody>
                    <a:bodyPr/>
                    <a:lstStyle/>
                    <a:p>
                      <a:r>
                        <a:rPr sz="1150" b="0">
                          <a:solidFill>
                            <a:srgbClr val="1F2937"/>
                          </a:solidFill>
                          <a:latin typeface="Source Han Sans SC"/>
                        </a:rPr>
                        <a:t>0.929±0.016</a:t>
                      </a:r>
                    </a:p>
                  </a:txBody>
                  <a:tcPr>
                    <a:solidFill>
                      <a:srgbClr val="F0F5FC"/>
                    </a:solidFill>
                  </a:tcPr>
                </a:tc>
                <a:tc>
                  <a:txBody>
                    <a:bodyPr/>
                    <a:lstStyle/>
                    <a:p>
                      <a:r>
                        <a:rPr sz="1150" b="0">
                          <a:solidFill>
                            <a:srgbClr val="1F2937"/>
                          </a:solidFill>
                          <a:latin typeface="Source Han Sans SC"/>
                        </a:rPr>
                        <a:t>**0.940±0.008**</a:t>
                      </a:r>
                    </a:p>
                  </a:txBody>
                  <a:tcPr>
                    <a:solidFill>
                      <a:srgbClr val="F0F5FC"/>
                    </a:solidFill>
                  </a:tcPr>
                </a:tc>
              </a:tr>
            </a:tbl>
          </a:graphicData>
        </a:graphic>
      </p:graphicFrame>
      <p:sp>
        <p:nvSpPr>
          <p:cNvPr id="11" name="TextBox 10"/>
          <p:cNvSpPr txBox="1"/>
          <p:nvPr/>
        </p:nvSpPr>
        <p:spPr>
          <a:xfrm>
            <a:off x="799200" y="2538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A 0.041 gap, five times the standard deviation — not noise. Average pooling smooths away the strongest response, and for handwritten digits the discriminative information is exactly where the stroke is densest. Choosing a pooling function is choosing what to keep.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03</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03</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Training it</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Curves, augmentation, and the price</a:t>
            </a:r>
          </a:p>
        </p:txBody>
      </p:sp>
      <p:sp>
        <p:nvSpPr>
          <p:cNvPr id="9" name="TextBox 8"/>
          <p:cNvSpPr txBox="1"/>
          <p:nvPr/>
        </p:nvSpPr>
        <p:spPr>
          <a:xfrm>
            <a:off x="799200" y="2736000"/>
            <a:ext cx="8640000" cy="8297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Five architectures, five seeds each. Every difference is reported as mean ± sd; a difference smaller than one sd is written up as not observed.</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5 models</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dense / conv / wide / avgpool / aug</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5 seeds</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42-46, mean ± sd</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1 question</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was it worth it?</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Validation accuracy: three curves, one training protocol</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Curve: validation accuracy of one seed-42 run, one point every 6 epochs (1, 7, ..., 115) | table figures are means over 5 seeds (42-46)</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seed 42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17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All three plateau after ~20 epochs; later wiggles are noise.</a:t>
            </a:r>
          </a:p>
          <a:p>
            <a:pPr algn="l">
              <a:lnSpc>
                <a:spcPct val="145000"/>
              </a:lnSpc>
              <a:spcAft>
                <a:spcPts val="800"/>
              </a:spcAft>
            </a:pPr>
            <a:r>
              <a:rPr sz="1250" b="0" i="0">
                <a:solidFill>
                  <a:srgbClr val="1F2937"/>
                </a:solidFill>
                <a:latin typeface="Source Han Sans SC"/>
              </a:rPr>
              <a:t>• The CNN starts slower (0.31 vs 0.70 at epoch 1) and overtakes by epoch 40.</a:t>
            </a:r>
          </a:p>
          <a:p>
            <a:pPr algn="l">
              <a:lnSpc>
                <a:spcPct val="145000"/>
              </a:lnSpc>
              <a:spcAft>
                <a:spcPts val="800"/>
              </a:spcAft>
            </a:pPr>
            <a:r>
              <a:rPr sz="1250" b="0" i="0">
                <a:solidFill>
                  <a:srgbClr val="1F2937"/>
                </a:solidFill>
                <a:latin typeface="Source Han Sans SC"/>
              </a:rPr>
              <a:t>• The augmented curve is LOWER and steadier — not a training failure, a harder objective.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five architectures, in one table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zh</a:t>
            </a:r>
          </a:p>
          <a:p>
            <a:pPr algn="r">
              <a:lnSpc>
                <a:spcPct val="125000"/>
              </a:lnSpc>
            </a:pPr>
            <a:r>
              <a:rPr sz="1100" b="0" i="0">
                <a:solidFill>
                  <a:srgbClr val="6B7280"/>
                </a:solidFill>
                <a:latin typeface="Source Han Sans SC"/>
              </a:rPr>
              <a:t>en</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18 / 32</a:t>
            </a:r>
          </a:p>
        </p:txBody>
      </p:sp>
      <p:graphicFrame>
        <p:nvGraphicFramePr>
          <p:cNvPr id="9" name="Table 8"/>
          <p:cNvGraphicFramePr>
            <a:graphicFrameLocks noGrp="1"/>
          </p:cNvGraphicFramePr>
          <p:nvPr/>
        </p:nvGraphicFramePr>
        <p:xfrm>
          <a:off x="799200" y="1152000"/>
          <a:ext cx="10583998" cy="2484000"/>
        </p:xfrm>
        <a:graphic>
          <a:graphicData uri="http://schemas.openxmlformats.org/drawingml/2006/table">
            <a:tbl>
              <a:tblPr firstRow="1" bandRow="1">
                <a:tableStyleId>{5C22544A-7EE6-4342-B048-85BDC9FD1C3A}</a:tableStyleId>
              </a:tblPr>
              <a:tblGrid>
                <a:gridCol w="3024000"/>
                <a:gridCol w="1584000"/>
                <a:gridCol w="2015999"/>
                <a:gridCol w="1944000"/>
                <a:gridCol w="2015999"/>
              </a:tblGrid>
              <a:tr h="414000">
                <a:tc>
                  <a:txBody>
                    <a:bodyPr/>
                    <a:lstStyle/>
                    <a:p>
                      <a:r>
                        <a:rPr sz="1250" b="1">
                          <a:solidFill>
                            <a:srgbClr val="FFFFFF"/>
                          </a:solidFill>
                          <a:latin typeface="Source Han Sans SC"/>
                        </a:rPr>
                        <a:t>Architecture</a:t>
                      </a:r>
                    </a:p>
                  </a:txBody>
                  <a:tcPr>
                    <a:solidFill>
                      <a:srgbClr val="0E3F8C"/>
                    </a:solidFill>
                  </a:tcPr>
                </a:tc>
                <a:tc>
                  <a:txBody>
                    <a:bodyPr/>
                    <a:lstStyle/>
                    <a:p>
                      <a:r>
                        <a:rPr sz="1250" b="1">
                          <a:solidFill>
                            <a:srgbClr val="FFFFFF"/>
                          </a:solidFill>
                          <a:latin typeface="Source Han Sans SC"/>
                        </a:rPr>
                        <a:t>Params</a:t>
                      </a:r>
                    </a:p>
                  </a:txBody>
                  <a:tcPr>
                    <a:solidFill>
                      <a:srgbClr val="0E3F8C"/>
                    </a:solidFill>
                  </a:tcPr>
                </a:tc>
                <a:tc>
                  <a:txBody>
                    <a:bodyPr/>
                    <a:lstStyle/>
                    <a:p>
                      <a:r>
                        <a:rPr sz="1250" b="1">
                          <a:solidFill>
                            <a:srgbClr val="FFFFFF"/>
                          </a:solidFill>
                          <a:latin typeface="Source Han Sans SC"/>
                        </a:rPr>
                        <a:t>Train acc</a:t>
                      </a:r>
                    </a:p>
                  </a:txBody>
                  <a:tcPr>
                    <a:solidFill>
                      <a:srgbClr val="0E3F8C"/>
                    </a:solidFill>
                  </a:tcPr>
                </a:tc>
                <a:tc>
                  <a:txBody>
                    <a:bodyPr/>
                    <a:lstStyle/>
                    <a:p>
                      <a:r>
                        <a:rPr sz="1250" b="1">
                          <a:solidFill>
                            <a:srgbClr val="FFFFFF"/>
                          </a:solidFill>
                          <a:latin typeface="Source Han Sans SC"/>
                        </a:rPr>
                        <a:t>Val acc</a:t>
                      </a:r>
                    </a:p>
                  </a:txBody>
                  <a:tcPr>
                    <a:solidFill>
                      <a:srgbClr val="0E3F8C"/>
                    </a:solidFill>
                  </a:tcPr>
                </a:tc>
                <a:tc>
                  <a:txBody>
                    <a:bodyPr/>
                    <a:lstStyle/>
                    <a:p>
                      <a:r>
                        <a:rPr sz="1250" b="1">
                          <a:solidFill>
                            <a:srgbClr val="FFFFFF"/>
                          </a:solidFill>
                          <a:latin typeface="Source Han Sans SC"/>
                        </a:rPr>
                        <a:t>Test acc</a:t>
                      </a:r>
                    </a:p>
                  </a:txBody>
                  <a:tcPr>
                    <a:solidFill>
                      <a:srgbClr val="0E3F8C"/>
                    </a:solidFill>
                  </a:tcPr>
                </a:tc>
              </a:tr>
              <a:tr h="414000">
                <a:tc>
                  <a:txBody>
                    <a:bodyPr/>
                    <a:lstStyle/>
                    <a:p>
                      <a:r>
                        <a:rPr sz="1150" b="1">
                          <a:solidFill>
                            <a:srgbClr val="1F2937"/>
                          </a:solidFill>
                          <a:latin typeface="Source Han Sans SC"/>
                        </a:rPr>
                        <a:t>Dense 64-128-64-10</a:t>
                      </a:r>
                    </a:p>
                  </a:txBody>
                  <a:tcPr>
                    <a:solidFill>
                      <a:srgbClr val="FFFFFF"/>
                    </a:solidFill>
                  </a:tcPr>
                </a:tc>
                <a:tc>
                  <a:txBody>
                    <a:bodyPr/>
                    <a:lstStyle/>
                    <a:p>
                      <a:r>
                        <a:rPr sz="1150" b="0">
                          <a:solidFill>
                            <a:srgbClr val="1F2937"/>
                          </a:solidFill>
                          <a:latin typeface="Source Han Sans SC"/>
                        </a:rPr>
                        <a:t>17,226</a:t>
                      </a:r>
                    </a:p>
                  </a:txBody>
                  <a:tcPr>
                    <a:solidFill>
                      <a:srgbClr val="FFFFFF"/>
                    </a:solidFill>
                  </a:tcPr>
                </a:tc>
                <a:tc>
                  <a:txBody>
                    <a:bodyPr/>
                    <a:lstStyle/>
                    <a:p>
                      <a:r>
                        <a:rPr sz="1150" b="0">
                          <a:solidFill>
                            <a:srgbClr val="1F2937"/>
                          </a:solidFill>
                          <a:latin typeface="Source Han Sans SC"/>
                        </a:rPr>
                        <a:t>1.000±0.000</a:t>
                      </a:r>
                    </a:p>
                  </a:txBody>
                  <a:tcPr>
                    <a:solidFill>
                      <a:srgbClr val="FFFFFF"/>
                    </a:solidFill>
                  </a:tcPr>
                </a:tc>
                <a:tc>
                  <a:txBody>
                    <a:bodyPr/>
                    <a:lstStyle/>
                    <a:p>
                      <a:r>
                        <a:rPr sz="1150" b="0">
                          <a:solidFill>
                            <a:srgbClr val="1F2937"/>
                          </a:solidFill>
                          <a:latin typeface="Source Han Sans SC"/>
                        </a:rPr>
                        <a:t>0.966±0.008</a:t>
                      </a:r>
                    </a:p>
                  </a:txBody>
                  <a:tcPr>
                    <a:solidFill>
                      <a:srgbClr val="FFFFFF"/>
                    </a:solidFill>
                  </a:tcPr>
                </a:tc>
                <a:tc>
                  <a:txBody>
                    <a:bodyPr/>
                    <a:lstStyle/>
                    <a:p>
                      <a:r>
                        <a:rPr sz="1150" b="0">
                          <a:solidFill>
                            <a:srgbClr val="1F2937"/>
                          </a:solidFill>
                          <a:latin typeface="Source Han Sans SC"/>
                        </a:rPr>
                        <a:t>0.979±0.008</a:t>
                      </a:r>
                    </a:p>
                  </a:txBody>
                  <a:tcPr>
                    <a:solidFill>
                      <a:srgbClr val="FFFFFF"/>
                    </a:solidFill>
                  </a:tcPr>
                </a:tc>
              </a:tr>
              <a:tr h="414000">
                <a:tc>
                  <a:txBody>
                    <a:bodyPr/>
                    <a:lstStyle/>
                    <a:p>
                      <a:r>
                        <a:rPr sz="1150" b="1">
                          <a:solidFill>
                            <a:srgbClr val="1F2937"/>
                          </a:solidFill>
                          <a:latin typeface="Source Han Sans SC"/>
                        </a:rPr>
                        <a:t>CNN 8/16 (baseline)</a:t>
                      </a:r>
                    </a:p>
                  </a:txBody>
                  <a:tcPr>
                    <a:solidFill>
                      <a:srgbClr val="F0F5FC"/>
                    </a:solidFill>
                  </a:tcPr>
                </a:tc>
                <a:tc>
                  <a:txBody>
                    <a:bodyPr/>
                    <a:lstStyle/>
                    <a:p>
                      <a:r>
                        <a:rPr sz="1150" b="0">
                          <a:solidFill>
                            <a:srgbClr val="1F2937"/>
                          </a:solidFill>
                          <a:latin typeface="Source Han Sans SC"/>
                        </a:rPr>
                        <a:t>1,898</a:t>
                      </a:r>
                    </a:p>
                  </a:txBody>
                  <a:tcPr>
                    <a:solidFill>
                      <a:srgbClr val="F0F5FC"/>
                    </a:solidFill>
                  </a:tcPr>
                </a:tc>
                <a:tc>
                  <a:txBody>
                    <a:bodyPr/>
                    <a:lstStyle/>
                    <a:p>
                      <a:r>
                        <a:rPr sz="1150" b="0">
                          <a:solidFill>
                            <a:srgbClr val="1F2937"/>
                          </a:solidFill>
                          <a:latin typeface="Source Han Sans SC"/>
                        </a:rPr>
                        <a:t>0.999±0.001</a:t>
                      </a:r>
                    </a:p>
                  </a:txBody>
                  <a:tcPr>
                    <a:solidFill>
                      <a:srgbClr val="F0F5FC"/>
                    </a:solidFill>
                  </a:tcPr>
                </a:tc>
                <a:tc>
                  <a:txBody>
                    <a:bodyPr/>
                    <a:lstStyle/>
                    <a:p>
                      <a:r>
                        <a:rPr sz="1150" b="0">
                          <a:solidFill>
                            <a:srgbClr val="1F2937"/>
                          </a:solidFill>
                          <a:latin typeface="Source Han Sans SC"/>
                        </a:rPr>
                        <a:t>0.970±0.010</a:t>
                      </a:r>
                    </a:p>
                  </a:txBody>
                  <a:tcPr>
                    <a:solidFill>
                      <a:srgbClr val="F0F5FC"/>
                    </a:solidFill>
                  </a:tcPr>
                </a:tc>
                <a:tc>
                  <a:txBody>
                    <a:bodyPr/>
                    <a:lstStyle/>
                    <a:p>
                      <a:r>
                        <a:rPr sz="1150" b="0">
                          <a:solidFill>
                            <a:srgbClr val="1F2937"/>
                          </a:solidFill>
                          <a:latin typeface="Source Han Sans SC"/>
                        </a:rPr>
                        <a:t>**0.981±0.008**</a:t>
                      </a:r>
                    </a:p>
                  </a:txBody>
                  <a:tcPr>
                    <a:solidFill>
                      <a:srgbClr val="F0F5FC"/>
                    </a:solidFill>
                  </a:tcPr>
                </a:tc>
              </a:tr>
              <a:tr h="414000">
                <a:tc>
                  <a:txBody>
                    <a:bodyPr/>
                    <a:lstStyle/>
                    <a:p>
                      <a:r>
                        <a:rPr sz="1150" b="1">
                          <a:solidFill>
                            <a:srgbClr val="1F2937"/>
                          </a:solidFill>
                          <a:latin typeface="Source Han Sans SC"/>
                        </a:rPr>
                        <a:t>CNN wide 16/32</a:t>
                      </a:r>
                    </a:p>
                  </a:txBody>
                  <a:tcPr>
                    <a:solidFill>
                      <a:srgbClr val="FFFFFF"/>
                    </a:solidFill>
                  </a:tcPr>
                </a:tc>
                <a:tc>
                  <a:txBody>
                    <a:bodyPr/>
                    <a:lstStyle/>
                    <a:p>
                      <a:r>
                        <a:rPr sz="1150" b="0">
                          <a:solidFill>
                            <a:srgbClr val="1F2937"/>
                          </a:solidFill>
                          <a:latin typeface="Source Han Sans SC"/>
                        </a:rPr>
                        <a:t>21,312</a:t>
                      </a:r>
                    </a:p>
                  </a:txBody>
                  <a:tcPr>
                    <a:solidFill>
                      <a:srgbClr val="FFFFFF"/>
                    </a:solidFill>
                  </a:tcPr>
                </a:tc>
                <a:tc>
                  <a:txBody>
                    <a:bodyPr/>
                    <a:lstStyle/>
                    <a:p>
                      <a:r>
                        <a:rPr sz="1150" b="0">
                          <a:solidFill>
                            <a:srgbClr val="1F2937"/>
                          </a:solidFill>
                          <a:latin typeface="Source Han Sans SC"/>
                        </a:rPr>
                        <a:t>0.999±0.001</a:t>
                      </a:r>
                    </a:p>
                  </a:txBody>
                  <a:tcPr>
                    <a:solidFill>
                      <a:srgbClr val="FFFFFF"/>
                    </a:solidFill>
                  </a:tcPr>
                </a:tc>
                <a:tc>
                  <a:txBody>
                    <a:bodyPr/>
                    <a:lstStyle/>
                    <a:p>
                      <a:r>
                        <a:rPr sz="1150" b="0">
                          <a:solidFill>
                            <a:srgbClr val="1F2937"/>
                          </a:solidFill>
                          <a:latin typeface="Source Han Sans SC"/>
                        </a:rPr>
                        <a:t>0.976±0.006</a:t>
                      </a:r>
                    </a:p>
                  </a:txBody>
                  <a:tcPr>
                    <a:solidFill>
                      <a:srgbClr val="FFFFFF"/>
                    </a:solidFill>
                  </a:tcPr>
                </a:tc>
                <a:tc>
                  <a:txBody>
                    <a:bodyPr/>
                    <a:lstStyle/>
                    <a:p>
                      <a:r>
                        <a:rPr sz="1150" b="0">
                          <a:solidFill>
                            <a:srgbClr val="1F2937"/>
                          </a:solidFill>
                          <a:latin typeface="Source Han Sans SC"/>
                        </a:rPr>
                        <a:t>0.987±0.008</a:t>
                      </a:r>
                    </a:p>
                  </a:txBody>
                  <a:tcPr>
                    <a:solidFill>
                      <a:srgbClr val="FFFFFF"/>
                    </a:solidFill>
                  </a:tcPr>
                </a:tc>
              </a:tr>
              <a:tr h="414000">
                <a:tc>
                  <a:txBody>
                    <a:bodyPr/>
                    <a:lstStyle/>
                    <a:p>
                      <a:r>
                        <a:rPr sz="1150" b="1">
                          <a:solidFill>
                            <a:srgbClr val="1F2937"/>
                          </a:solidFill>
                          <a:latin typeface="Source Han Sans SC"/>
                        </a:rPr>
                        <a:t>CNN + average pooling</a:t>
                      </a:r>
                    </a:p>
                  </a:txBody>
                  <a:tcPr>
                    <a:solidFill>
                      <a:srgbClr val="F0F5FC"/>
                    </a:solidFill>
                  </a:tcPr>
                </a:tc>
                <a:tc>
                  <a:txBody>
                    <a:bodyPr/>
                    <a:lstStyle/>
                    <a:p>
                      <a:r>
                        <a:rPr sz="1150" b="0">
                          <a:solidFill>
                            <a:srgbClr val="1F2937"/>
                          </a:solidFill>
                          <a:latin typeface="Source Han Sans SC"/>
                        </a:rPr>
                        <a:t>1,898</a:t>
                      </a:r>
                    </a:p>
                  </a:txBody>
                  <a:tcPr>
                    <a:solidFill>
                      <a:srgbClr val="F0F5FC"/>
                    </a:solidFill>
                  </a:tcPr>
                </a:tc>
                <a:tc>
                  <a:txBody>
                    <a:bodyPr/>
                    <a:lstStyle/>
                    <a:p>
                      <a:r>
                        <a:rPr sz="1150" b="0">
                          <a:solidFill>
                            <a:srgbClr val="1F2937"/>
                          </a:solidFill>
                          <a:latin typeface="Source Han Sans SC"/>
                        </a:rPr>
                        <a:t>0.950±0.009</a:t>
                      </a:r>
                    </a:p>
                  </a:txBody>
                  <a:tcPr>
                    <a:solidFill>
                      <a:srgbClr val="F0F5FC"/>
                    </a:solidFill>
                  </a:tcPr>
                </a:tc>
                <a:tc>
                  <a:txBody>
                    <a:bodyPr/>
                    <a:lstStyle/>
                    <a:p>
                      <a:r>
                        <a:rPr sz="1150" b="0">
                          <a:solidFill>
                            <a:srgbClr val="1F2937"/>
                          </a:solidFill>
                          <a:latin typeface="Source Han Sans SC"/>
                        </a:rPr>
                        <a:t>0.929±0.016</a:t>
                      </a:r>
                    </a:p>
                  </a:txBody>
                  <a:tcPr>
                    <a:solidFill>
                      <a:srgbClr val="F0F5FC"/>
                    </a:solidFill>
                  </a:tcPr>
                </a:tc>
                <a:tc>
                  <a:txBody>
                    <a:bodyPr/>
                    <a:lstStyle/>
                    <a:p>
                      <a:r>
                        <a:rPr sz="1150" b="0">
                          <a:solidFill>
                            <a:srgbClr val="1F2937"/>
                          </a:solidFill>
                          <a:latin typeface="Source Han Sans SC"/>
                        </a:rPr>
                        <a:t>0.940±0.008</a:t>
                      </a:r>
                    </a:p>
                  </a:txBody>
                  <a:tcPr>
                    <a:solidFill>
                      <a:srgbClr val="F0F5FC"/>
                    </a:solidFill>
                  </a:tcPr>
                </a:tc>
              </a:tr>
              <a:tr h="414000">
                <a:tc>
                  <a:txBody>
                    <a:bodyPr/>
                    <a:lstStyle/>
                    <a:p>
                      <a:r>
                        <a:rPr sz="1150" b="1">
                          <a:solidFill>
                            <a:srgbClr val="1F2937"/>
                          </a:solidFill>
                          <a:latin typeface="Source Han Sans SC"/>
                        </a:rPr>
                        <a:t>CNN + ±1px augmentation</a:t>
                      </a:r>
                    </a:p>
                  </a:txBody>
                  <a:tcPr>
                    <a:solidFill>
                      <a:srgbClr val="FFFFFF"/>
                    </a:solidFill>
                  </a:tcPr>
                </a:tc>
                <a:tc>
                  <a:txBody>
                    <a:bodyPr/>
                    <a:lstStyle/>
                    <a:p>
                      <a:r>
                        <a:rPr sz="1150" b="0">
                          <a:solidFill>
                            <a:srgbClr val="1F2937"/>
                          </a:solidFill>
                          <a:latin typeface="Source Han Sans SC"/>
                        </a:rPr>
                        <a:t>1,898</a:t>
                      </a:r>
                    </a:p>
                  </a:txBody>
                  <a:tcPr>
                    <a:solidFill>
                      <a:srgbClr val="FFFFFF"/>
                    </a:solidFill>
                  </a:tcPr>
                </a:tc>
                <a:tc>
                  <a:txBody>
                    <a:bodyPr/>
                    <a:lstStyle/>
                    <a:p>
                      <a:r>
                        <a:rPr sz="1150" b="0">
                          <a:solidFill>
                            <a:srgbClr val="1F2937"/>
                          </a:solidFill>
                          <a:latin typeface="Source Han Sans SC"/>
                        </a:rPr>
                        <a:t>0.954±0.012</a:t>
                      </a:r>
                    </a:p>
                  </a:txBody>
                  <a:tcPr>
                    <a:solidFill>
                      <a:srgbClr val="FFFFFF"/>
                    </a:solidFill>
                  </a:tcPr>
                </a:tc>
                <a:tc>
                  <a:txBody>
                    <a:bodyPr/>
                    <a:lstStyle/>
                    <a:p>
                      <a:r>
                        <a:rPr sz="1150" b="0">
                          <a:solidFill>
                            <a:srgbClr val="1F2937"/>
                          </a:solidFill>
                          <a:latin typeface="Source Han Sans SC"/>
                        </a:rPr>
                        <a:t>0.939±0.017</a:t>
                      </a:r>
                    </a:p>
                  </a:txBody>
                  <a:tcPr>
                    <a:solidFill>
                      <a:srgbClr val="FFFFFF"/>
                    </a:solidFill>
                  </a:tcPr>
                </a:tc>
                <a:tc>
                  <a:txBody>
                    <a:bodyPr/>
                    <a:lstStyle/>
                    <a:p>
                      <a:r>
                        <a:rPr sz="1150" b="0">
                          <a:solidFill>
                            <a:srgbClr val="1F2937"/>
                          </a:solidFill>
                          <a:latin typeface="Source Han Sans SC"/>
                        </a:rPr>
                        <a:t>0.950±0.022</a:t>
                      </a:r>
                    </a:p>
                  </a:txBody>
                  <a:tcPr>
                    <a:solidFill>
                      <a:srgbClr val="FFFFFF"/>
                    </a:solidFill>
                  </a:tcPr>
                </a:tc>
              </a:tr>
            </a:tbl>
          </a:graphicData>
        </a:graphic>
      </p:graphicFrame>
      <p:sp>
        <p:nvSpPr>
          <p:cNvPr id="10" name="TextBox 9"/>
          <p:cNvSpPr txBox="1"/>
          <p:nvPr/>
        </p:nvSpPr>
        <p:spPr>
          <a:xfrm>
            <a:off x="799200" y="3780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Three things. (1) Conv against dense is a 0.002 gap against a 0.008 sd, so we write NOT OBSERVED, not "conv wins". (2) Going wide (21,312 params) genuinely helps, 0.987 — but it is now bigger than the dense net; you paid in parameters. (3) Augmentation on its own is WORSE: 0.981 → 0.950. Next page explains why that is not a failure.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Translate the test images and the gap appears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Test images translated by dx columns at test time (zero-filled edges), no weight change; each cell is a mean over 5 seeds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measured · 5 seeds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19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At dx = -1: dense 0.4555, conv 0.6481, augmented 0.9415.</a:t>
            </a:r>
          </a:p>
          <a:p>
            <a:pPr algn="l">
              <a:lnSpc>
                <a:spcPct val="145000"/>
              </a:lnSpc>
              <a:spcAft>
                <a:spcPts val="800"/>
              </a:spcAft>
            </a:pPr>
            <a:r>
              <a:rPr sz="1250" b="0" i="0">
                <a:solidFill>
                  <a:srgbClr val="1F2937"/>
                </a:solidFill>
                <a:latin typeface="Source Han Sans SC"/>
              </a:rPr>
              <a:t>• Look at dx = 0: the augmented model is the LOWEST of the three at 0.9504.</a:t>
            </a:r>
          </a:p>
          <a:p>
            <a:pPr algn="l">
              <a:lnSpc>
                <a:spcPct val="145000"/>
              </a:lnSpc>
              <a:spcAft>
                <a:spcPts val="800"/>
              </a:spcAft>
            </a:pPr>
            <a:r>
              <a:rPr sz="1250" b="0" i="0">
                <a:solidFill>
                  <a:srgbClr val="1F2937"/>
                </a:solidFill>
                <a:latin typeface="Source Han Sans SC"/>
              </a:rPr>
              <a:t>• Augmentation did not raise the ceiling; it flattened the curve.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augmentation ledger: +29 bought, −3 paid</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the page worth remembering</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20 / 32</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Bought (robustness)</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dx = -1: 0.6481 → 0.9415, +29.3 points</a:t>
            </a:r>
          </a:p>
          <a:p>
            <a:pPr algn="l">
              <a:lnSpc>
                <a:spcPct val="150000"/>
              </a:lnSpc>
              <a:spcAft>
                <a:spcPts val="800"/>
              </a:spcAft>
            </a:pPr>
            <a:r>
              <a:rPr sz="1250" b="0" i="0">
                <a:solidFill>
                  <a:srgbClr val="1F2937"/>
                </a:solidFill>
                <a:latin typeface="Source Han Sans SC"/>
              </a:rPr>
              <a:t>• dx = -2: 0.2348 → 0.5170, +28.2 points</a:t>
            </a:r>
          </a:p>
          <a:p>
            <a:pPr algn="l">
              <a:lnSpc>
                <a:spcPct val="150000"/>
              </a:lnSpc>
              <a:spcAft>
                <a:spcPts val="800"/>
              </a:spcAft>
            </a:pPr>
            <a:r>
              <a:rPr sz="1250" b="0" i="0">
                <a:solidFill>
                  <a:srgbClr val="1F2937"/>
                </a:solidFill>
                <a:latin typeface="Source Han Sans SC"/>
              </a:rPr>
              <a:t>• The training curve no longer runs to 1.000 (0.9292 at epoch 115); overfitting is held back</a:t>
            </a:r>
          </a:p>
        </p:txBody>
      </p:sp>
      <p:sp>
        <p:nvSpPr>
          <p:cNvPr id="13" name="Rectangle 12"/>
          <p:cNvSpPr/>
          <p:nvPr/>
        </p:nvSpPr>
        <p:spPr>
          <a:xfrm>
            <a:off x="6249059"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Paid (clean accuracy)</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dx = 0: 0.9808 → 0.9504, -3.0 points</a:t>
            </a:r>
          </a:p>
          <a:p>
            <a:pPr algn="l">
              <a:lnSpc>
                <a:spcPct val="150000"/>
              </a:lnSpc>
              <a:spcAft>
                <a:spcPts val="800"/>
              </a:spcAft>
            </a:pPr>
            <a:r>
              <a:rPr sz="1250" b="0" i="0">
                <a:solidFill>
                  <a:srgbClr val="1F2937"/>
                </a:solidFill>
                <a:latin typeface="Source Han Sans SC"/>
              </a:rPr>
              <a:t>• Training accuracy falls 0.9912 → 0.9292 too — the cost is systematic, not noise</a:t>
            </a:r>
          </a:p>
          <a:p>
            <a:pPr algn="l">
              <a:lnSpc>
                <a:spcPct val="150000"/>
              </a:lnSpc>
              <a:spcAft>
                <a:spcPts val="800"/>
              </a:spcAft>
            </a:pPr>
            <a:r>
              <a:rPr sz="1250" b="0" i="0">
                <a:solidFill>
                  <a:srgbClr val="1F2937"/>
                </a:solidFill>
                <a:latin typeface="Source Han Sans SC"/>
              </a:rPr>
              <a:t>• Time cost is negligible (two RNG shifts per batch); the real cost is re-tuning regularisation and epochs</a:t>
            </a:r>
          </a:p>
        </p:txBody>
      </p:sp>
      <p:sp>
        <p:nvSpPr>
          <p:cNvPr id="17" name="TextBox 16"/>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So there is no universal answer to "should I augment". The question is whether your model will meet translated inputs. If users photograph the thing — yes, buy. If inputs are already cropped and aligned — no, you are buying nothing.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04</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04</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Where it fails</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Confusion matrix and misclassification</a:t>
            </a:r>
          </a:p>
        </p:txBody>
      </p:sp>
      <p:sp>
        <p:nvSpPr>
          <p:cNvPr id="9" name="TextBox 8"/>
          <p:cNvSpPr txBox="1"/>
          <p:nvPr/>
        </p:nvSpPr>
        <p:spPr>
          <a:xfrm>
            <a:off x="799200" y="2736000"/>
            <a:ext cx="8640000" cy="8297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"98%" is not a result, it is an unfinished sentence. The confusion matrix is the table that turns it into "which two classes it hesitates between".</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1350</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test predictions (5 seeds)</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26</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off-diagonal errors</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 digit 8</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worst class, recall 0.9538</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Confusion matrix: 1,350 test predictions over 5 seeds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Row = true label, column = prediction. Diagonal is correct, off-diagonal is wrong. Total 1,350; correct 1,324 (0.9807)</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CNN 8/16</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22 / 32</a:t>
            </a:r>
          </a:p>
        </p:txBody>
      </p:sp>
      <p:graphicFrame>
        <p:nvGraphicFramePr>
          <p:cNvPr id="10" name="Table 9"/>
          <p:cNvGraphicFramePr>
            <a:graphicFrameLocks noGrp="1"/>
          </p:cNvGraphicFramePr>
          <p:nvPr/>
        </p:nvGraphicFramePr>
        <p:xfrm>
          <a:off x="799200" y="1152000"/>
          <a:ext cx="10594800" cy="4553999"/>
        </p:xfrm>
        <a:graphic>
          <a:graphicData uri="http://schemas.openxmlformats.org/drawingml/2006/table">
            <a:tbl>
              <a:tblPr firstRow="1" bandRow="1">
                <a:tableStyleId>{5C22544A-7EE6-4342-B048-85BDC9FD1C3A}</a:tableStyleId>
              </a:tblPr>
              <a:tblGrid>
                <a:gridCol w="1224000"/>
                <a:gridCol w="936000"/>
                <a:gridCol w="936000"/>
                <a:gridCol w="936000"/>
                <a:gridCol w="936000"/>
                <a:gridCol w="936000"/>
                <a:gridCol w="936000"/>
                <a:gridCol w="936000"/>
                <a:gridCol w="936000"/>
                <a:gridCol w="936000"/>
                <a:gridCol w="946800"/>
              </a:tblGrid>
              <a:tr h="413999">
                <a:tc>
                  <a:txBody>
                    <a:bodyPr/>
                    <a:lstStyle/>
                    <a:p>
                      <a:r>
                        <a:rPr sz="1150" b="1">
                          <a:solidFill>
                            <a:srgbClr val="FFFFFF"/>
                          </a:solidFill>
                          <a:latin typeface="Source Han Sans SC"/>
                        </a:rPr>
                        <a:t>true ↓ / pred →</a:t>
                      </a:r>
                    </a:p>
                  </a:txBody>
                  <a:tcPr>
                    <a:solidFill>
                      <a:srgbClr val="0E3F8C"/>
                    </a:solidFill>
                  </a:tcPr>
                </a:tc>
                <a:tc>
                  <a:txBody>
                    <a:bodyPr/>
                    <a:lstStyle/>
                    <a:p>
                      <a:r>
                        <a:rPr sz="1150" b="1">
                          <a:solidFill>
                            <a:srgbClr val="FFFFFF"/>
                          </a:solidFill>
                          <a:latin typeface="Source Han Sans SC"/>
                        </a:rPr>
                        <a:t>0</a:t>
                      </a:r>
                    </a:p>
                  </a:txBody>
                  <a:tcPr>
                    <a:solidFill>
                      <a:srgbClr val="0E3F8C"/>
                    </a:solidFill>
                  </a:tcPr>
                </a:tc>
                <a:tc>
                  <a:txBody>
                    <a:bodyPr/>
                    <a:lstStyle/>
                    <a:p>
                      <a:r>
                        <a:rPr sz="1150" b="1">
                          <a:solidFill>
                            <a:srgbClr val="FFFFFF"/>
                          </a:solidFill>
                          <a:latin typeface="Source Han Sans SC"/>
                        </a:rPr>
                        <a:t>1</a:t>
                      </a:r>
                    </a:p>
                  </a:txBody>
                  <a:tcPr>
                    <a:solidFill>
                      <a:srgbClr val="0E3F8C"/>
                    </a:solidFill>
                  </a:tcPr>
                </a:tc>
                <a:tc>
                  <a:txBody>
                    <a:bodyPr/>
                    <a:lstStyle/>
                    <a:p>
                      <a:r>
                        <a:rPr sz="1150" b="1">
                          <a:solidFill>
                            <a:srgbClr val="FFFFFF"/>
                          </a:solidFill>
                          <a:latin typeface="Source Han Sans SC"/>
                        </a:rPr>
                        <a:t>2</a:t>
                      </a:r>
                    </a:p>
                  </a:txBody>
                  <a:tcPr>
                    <a:solidFill>
                      <a:srgbClr val="0E3F8C"/>
                    </a:solidFill>
                  </a:tcPr>
                </a:tc>
                <a:tc>
                  <a:txBody>
                    <a:bodyPr/>
                    <a:lstStyle/>
                    <a:p>
                      <a:r>
                        <a:rPr sz="1150" b="1">
                          <a:solidFill>
                            <a:srgbClr val="FFFFFF"/>
                          </a:solidFill>
                          <a:latin typeface="Source Han Sans SC"/>
                        </a:rPr>
                        <a:t>3</a:t>
                      </a:r>
                    </a:p>
                  </a:txBody>
                  <a:tcPr>
                    <a:solidFill>
                      <a:srgbClr val="0E3F8C"/>
                    </a:solidFill>
                  </a:tcPr>
                </a:tc>
                <a:tc>
                  <a:txBody>
                    <a:bodyPr/>
                    <a:lstStyle/>
                    <a:p>
                      <a:r>
                        <a:rPr sz="1150" b="1">
                          <a:solidFill>
                            <a:srgbClr val="FFFFFF"/>
                          </a:solidFill>
                          <a:latin typeface="Source Han Sans SC"/>
                        </a:rPr>
                        <a:t>4</a:t>
                      </a:r>
                    </a:p>
                  </a:txBody>
                  <a:tcPr>
                    <a:solidFill>
                      <a:srgbClr val="0E3F8C"/>
                    </a:solidFill>
                  </a:tcPr>
                </a:tc>
                <a:tc>
                  <a:txBody>
                    <a:bodyPr/>
                    <a:lstStyle/>
                    <a:p>
                      <a:r>
                        <a:rPr sz="1150" b="1">
                          <a:solidFill>
                            <a:srgbClr val="FFFFFF"/>
                          </a:solidFill>
                          <a:latin typeface="Source Han Sans SC"/>
                        </a:rPr>
                        <a:t>5</a:t>
                      </a:r>
                    </a:p>
                  </a:txBody>
                  <a:tcPr>
                    <a:solidFill>
                      <a:srgbClr val="0E3F8C"/>
                    </a:solidFill>
                  </a:tcPr>
                </a:tc>
                <a:tc>
                  <a:txBody>
                    <a:bodyPr/>
                    <a:lstStyle/>
                    <a:p>
                      <a:r>
                        <a:rPr sz="1150" b="1">
                          <a:solidFill>
                            <a:srgbClr val="FFFFFF"/>
                          </a:solidFill>
                          <a:latin typeface="Source Han Sans SC"/>
                        </a:rPr>
                        <a:t>6</a:t>
                      </a:r>
                    </a:p>
                  </a:txBody>
                  <a:tcPr>
                    <a:solidFill>
                      <a:srgbClr val="0E3F8C"/>
                    </a:solidFill>
                  </a:tcPr>
                </a:tc>
                <a:tc>
                  <a:txBody>
                    <a:bodyPr/>
                    <a:lstStyle/>
                    <a:p>
                      <a:r>
                        <a:rPr sz="1150" b="1">
                          <a:solidFill>
                            <a:srgbClr val="FFFFFF"/>
                          </a:solidFill>
                          <a:latin typeface="Source Han Sans SC"/>
                        </a:rPr>
                        <a:t>7</a:t>
                      </a:r>
                    </a:p>
                  </a:txBody>
                  <a:tcPr>
                    <a:solidFill>
                      <a:srgbClr val="0E3F8C"/>
                    </a:solidFill>
                  </a:tcPr>
                </a:tc>
                <a:tc>
                  <a:txBody>
                    <a:bodyPr/>
                    <a:lstStyle/>
                    <a:p>
                      <a:r>
                        <a:rPr sz="1150" b="1">
                          <a:solidFill>
                            <a:srgbClr val="FFFFFF"/>
                          </a:solidFill>
                          <a:latin typeface="Source Han Sans SC"/>
                        </a:rPr>
                        <a:t>8</a:t>
                      </a:r>
                    </a:p>
                  </a:txBody>
                  <a:tcPr>
                    <a:solidFill>
                      <a:srgbClr val="0E3F8C"/>
                    </a:solidFill>
                  </a:tcPr>
                </a:tc>
                <a:tc>
                  <a:txBody>
                    <a:bodyPr/>
                    <a:lstStyle/>
                    <a:p>
                      <a:r>
                        <a:rPr sz="1150" b="1">
                          <a:solidFill>
                            <a:srgbClr val="FFFFFF"/>
                          </a:solidFill>
                          <a:latin typeface="Source Han Sans SC"/>
                        </a:rPr>
                        <a:t>9</a:t>
                      </a:r>
                    </a:p>
                  </a:txBody>
                  <a:tcPr>
                    <a:solidFill>
                      <a:srgbClr val="0E3F8C"/>
                    </a:solidFill>
                  </a:tcPr>
                </a:tc>
              </a:tr>
              <a:tr h="413999">
                <a:tc>
                  <a:txBody>
                    <a:bodyPr/>
                    <a:lstStyle/>
                    <a:p>
                      <a:r>
                        <a:rPr sz="1000" b="1">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**135**</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r>
              <a:tr h="413999">
                <a:tc>
                  <a:txBody>
                    <a:bodyPr/>
                    <a:lstStyle/>
                    <a:p>
                      <a:r>
                        <a:rPr sz="1000" b="1">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**132**</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2</a:t>
                      </a:r>
                    </a:p>
                  </a:txBody>
                  <a:tcPr>
                    <a:solidFill>
                      <a:srgbClr val="F0F5FC"/>
                    </a:solidFill>
                  </a:tcPr>
                </a:tc>
                <a:tc>
                  <a:txBody>
                    <a:bodyPr/>
                    <a:lstStyle/>
                    <a:p>
                      <a:r>
                        <a:rPr sz="1000" b="0">
                          <a:solidFill>
                            <a:srgbClr val="1F2937"/>
                          </a:solidFill>
                          <a:latin typeface="Source Han Sans SC"/>
                        </a:rPr>
                        <a:t>2</a:t>
                      </a:r>
                    </a:p>
                  </a:txBody>
                  <a:tcPr>
                    <a:solidFill>
                      <a:srgbClr val="F0F5FC"/>
                    </a:solidFill>
                  </a:tcPr>
                </a:tc>
              </a:tr>
              <a:tr h="413999">
                <a:tc>
                  <a:txBody>
                    <a:bodyPr/>
                    <a:lstStyle/>
                    <a:p>
                      <a:r>
                        <a:rPr sz="1000" b="1">
                          <a:solidFill>
                            <a:srgbClr val="1F2937"/>
                          </a:solidFill>
                          <a:latin typeface="Source Han Sans SC"/>
                        </a:rPr>
                        <a:t>2</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**131**</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r>
              <a:tr h="413999">
                <a:tc>
                  <a:txBody>
                    <a:bodyPr/>
                    <a:lstStyle/>
                    <a:p>
                      <a:r>
                        <a:rPr sz="1000" b="1">
                          <a:solidFill>
                            <a:srgbClr val="1F2937"/>
                          </a:solidFill>
                          <a:latin typeface="Source Han Sans SC"/>
                        </a:rPr>
                        <a:t>3</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**134**</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r>
              <a:tr h="413999">
                <a:tc>
                  <a:txBody>
                    <a:bodyPr/>
                    <a:lstStyle/>
                    <a:p>
                      <a:r>
                        <a:rPr sz="1000" b="1">
                          <a:solidFill>
                            <a:srgbClr val="1F2937"/>
                          </a:solidFill>
                          <a:latin typeface="Source Han Sans SC"/>
                        </a:rPr>
                        <a:t>4</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**133**</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r>
              <a:tr h="413999">
                <a:tc>
                  <a:txBody>
                    <a:bodyPr/>
                    <a:lstStyle/>
                    <a:p>
                      <a:r>
                        <a:rPr sz="1000" b="1">
                          <a:solidFill>
                            <a:srgbClr val="1F2937"/>
                          </a:solidFill>
                          <a:latin typeface="Source Han Sans SC"/>
                        </a:rPr>
                        <a:t>5</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**136**</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r>
              <a:tr h="413999">
                <a:tc>
                  <a:txBody>
                    <a:bodyPr/>
                    <a:lstStyle/>
                    <a:p>
                      <a:r>
                        <a:rPr sz="1000" b="1">
                          <a:solidFill>
                            <a:srgbClr val="1F2937"/>
                          </a:solidFill>
                          <a:latin typeface="Source Han Sans SC"/>
                        </a:rPr>
                        <a:t>6</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**133**</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2</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r>
              <a:tr h="413999">
                <a:tc>
                  <a:txBody>
                    <a:bodyPr/>
                    <a:lstStyle/>
                    <a:p>
                      <a:r>
                        <a:rPr sz="1000" b="1">
                          <a:solidFill>
                            <a:srgbClr val="1F2937"/>
                          </a:solidFill>
                          <a:latin typeface="Source Han Sans SC"/>
                        </a:rPr>
                        <a:t>7</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**133**</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r>
              <a:tr h="413999">
                <a:tc>
                  <a:txBody>
                    <a:bodyPr/>
                    <a:lstStyle/>
                    <a:p>
                      <a:r>
                        <a:rPr sz="1000" b="1">
                          <a:solidFill>
                            <a:srgbClr val="1F2937"/>
                          </a:solidFill>
                          <a:latin typeface="Source Han Sans SC"/>
                        </a:rPr>
                        <a:t>8</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**3**</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c>
                  <a:txBody>
                    <a:bodyPr/>
                    <a:lstStyle/>
                    <a:p>
                      <a:r>
                        <a:rPr sz="1000" b="0">
                          <a:solidFill>
                            <a:srgbClr val="1F2937"/>
                          </a:solidFill>
                          <a:latin typeface="Source Han Sans SC"/>
                        </a:rPr>
                        <a:t>**1**</a:t>
                      </a:r>
                    </a:p>
                  </a:txBody>
                  <a:tcPr>
                    <a:solidFill>
                      <a:srgbClr val="FFFFFF"/>
                    </a:solidFill>
                  </a:tcPr>
                </a:tc>
                <a:tc>
                  <a:txBody>
                    <a:bodyPr/>
                    <a:lstStyle/>
                    <a:p>
                      <a:r>
                        <a:rPr sz="1000" b="0">
                          <a:solidFill>
                            <a:srgbClr val="1F2937"/>
                          </a:solidFill>
                          <a:latin typeface="Source Han Sans SC"/>
                        </a:rPr>
                        <a:t>**124**</a:t>
                      </a:r>
                    </a:p>
                  </a:txBody>
                  <a:tcPr>
                    <a:solidFill>
                      <a:srgbClr val="FFFFFF"/>
                    </a:solidFill>
                  </a:tcPr>
                </a:tc>
                <a:tc>
                  <a:txBody>
                    <a:bodyPr/>
                    <a:lstStyle/>
                    <a:p>
                      <a:r>
                        <a:rPr sz="1000" b="0">
                          <a:solidFill>
                            <a:srgbClr val="1F2937"/>
                          </a:solidFill>
                          <a:latin typeface="Source Han Sans SC"/>
                        </a:rPr>
                        <a:t>0</a:t>
                      </a:r>
                    </a:p>
                  </a:txBody>
                  <a:tcPr>
                    <a:solidFill>
                      <a:srgbClr val="FFFFFF"/>
                    </a:solidFill>
                  </a:tcPr>
                </a:tc>
              </a:tr>
              <a:tr h="414009">
                <a:tc>
                  <a:txBody>
                    <a:bodyPr/>
                    <a:lstStyle/>
                    <a:p>
                      <a:r>
                        <a:rPr sz="1000" b="1">
                          <a:solidFill>
                            <a:srgbClr val="1F2937"/>
                          </a:solidFill>
                          <a:latin typeface="Source Han Sans SC"/>
                        </a:rPr>
                        <a:t>9</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0</a:t>
                      </a:r>
                    </a:p>
                  </a:txBody>
                  <a:tcPr>
                    <a:solidFill>
                      <a:srgbClr val="F0F5FC"/>
                    </a:solidFill>
                  </a:tcPr>
                </a:tc>
                <a:tc>
                  <a:txBody>
                    <a:bodyPr/>
                    <a:lstStyle/>
                    <a:p>
                      <a:r>
                        <a:rPr sz="1000" b="0">
                          <a:solidFill>
                            <a:srgbClr val="1F2937"/>
                          </a:solidFill>
                          <a:latin typeface="Source Han Sans SC"/>
                        </a:rPr>
                        <a:t>1</a:t>
                      </a:r>
                    </a:p>
                  </a:txBody>
                  <a:tcPr>
                    <a:solidFill>
                      <a:srgbClr val="F0F5FC"/>
                    </a:solidFill>
                  </a:tcPr>
                </a:tc>
                <a:tc>
                  <a:txBody>
                    <a:bodyPr/>
                    <a:lstStyle/>
                    <a:p>
                      <a:r>
                        <a:rPr sz="1000" b="0">
                          <a:solidFill>
                            <a:srgbClr val="1F2937"/>
                          </a:solidFill>
                          <a:latin typeface="Source Han Sans SC"/>
                        </a:rPr>
                        <a:t>**133**</a:t>
                      </a:r>
                    </a:p>
                  </a:txBody>
                  <a:tcPr>
                    <a:solidFill>
                      <a:srgbClr val="F0F5FC"/>
                    </a:solidFill>
                  </a:tcPr>
                </a:tc>
              </a:tr>
            </a:tbl>
          </a:graphicData>
        </a:graphic>
      </p:graphicFrame>
      <p:sp>
        <p:nvSpPr>
          <p:cNvPr id="11" name="TextBox 10"/>
          <p:cNvSpPr txBox="1"/>
          <p:nvPr/>
        </p:nvSpPr>
        <p:spPr>
          <a:xfrm>
            <a:off x="799200" y="5849999"/>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One reading rule: look off-diagonal. Digit 0 is perfect (135/135); digit 8 is worst (124/130, recall 0.9538). Worst pairs: 8→1 (3), 1→8 and 1→9 (2 each), 6→8 (2). Of all 26 errors, 12 involve the digit 8 (46.2%).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Draw the misclassified digit itself</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Grey levels as characters: space = 0, @ = brightest. These are the real test pixels, not an illustration</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seed 42 · 5 wrong of 270</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23 / 32</a:t>
            </a:r>
          </a:p>
        </p:txBody>
      </p:sp>
      <p:sp>
        <p:nvSpPr>
          <p:cNvPr id="10" name="Rectangle 9"/>
          <p:cNvSpPr/>
          <p:nvPr/>
        </p:nvSpPr>
        <p:spPr>
          <a:xfrm>
            <a:off x="799200"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True 8, predicted 7 (confidence 0.9829)</a:t>
            </a:r>
          </a:p>
        </p:txBody>
      </p:sp>
      <p:sp>
        <p:nvSpPr>
          <p:cNvPr id="13" name="TextBox 12"/>
          <p:cNvSpPr txBox="1"/>
          <p:nvPr/>
        </p:nvSpPr>
        <p:spPr>
          <a:xfrm>
            <a:off x="997200" y="1584000"/>
            <a:ext cx="4789259" cy="3582000"/>
          </a:xfrm>
          <a:prstGeom prst="rect">
            <a:avLst/>
          </a:prstGeom>
          <a:noFill/>
        </p:spPr>
        <p:txBody>
          <a:bodyPr wrap="square" anchor="t" lIns="0" rIns="0" tIns="0" bIns="0">
            <a:spAutoFit/>
          </a:bodyPr>
          <a:lstStyle/>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a:r>
          </a:p>
          <a:p>
            <a:pPr algn="l">
              <a:lnSpc>
                <a:spcPct val="128000"/>
              </a:lnSpc>
            </a:pPr>
            <a:r>
              <a:rPr sz="1300" b="0" i="0">
                <a:solidFill>
                  <a:srgbClr val="E2E8F0"/>
                </a:solidFill>
                <a:latin typeface="Menlo"/>
              </a:rPr>
              <a:t>true-class prob 0.0144</a:t>
            </a:r>
          </a:p>
          <a:p>
            <a:pPr algn="l">
              <a:lnSpc>
                <a:spcPct val="128000"/>
              </a:lnSpc>
            </a:pPr>
            <a:r>
              <a:rPr sz="1300" b="0" i="0">
                <a:solidFill>
                  <a:srgbClr val="E2E8F0"/>
                </a:solidFill>
                <a:latin typeface="Menlo"/>
              </a:rPr>
              <a:t># the lower loop is broken;</a:t>
            </a:r>
          </a:p>
          <a:p>
            <a:pPr algn="l">
              <a:lnSpc>
                <a:spcPct val="128000"/>
              </a:lnSpc>
            </a:pPr>
            <a:r>
              <a:rPr sz="1300" b="0" i="0">
                <a:solidFill>
                  <a:srgbClr val="E2E8F0"/>
                </a:solidFill>
                <a:latin typeface="Menlo"/>
              </a:rPr>
              <a:t># only the upper stroke</a:t>
            </a:r>
          </a:p>
          <a:p>
            <a:pPr algn="l">
              <a:lnSpc>
                <a:spcPct val="128000"/>
              </a:lnSpc>
            </a:pPr>
            <a:r>
              <a:rPr sz="1300" b="0" i="0">
                <a:solidFill>
                  <a:srgbClr val="E2E8F0"/>
                </a:solidFill>
                <a:latin typeface="Menlo"/>
              </a:rPr>
              <a:t># survives - reads like 7.</a:t>
            </a:r>
          </a:p>
        </p:txBody>
      </p:sp>
      <p:sp>
        <p:nvSpPr>
          <p:cNvPr id="14" name="Rectangle 13"/>
          <p:cNvSpPr/>
          <p:nvPr/>
        </p:nvSpPr>
        <p:spPr>
          <a:xfrm>
            <a:off x="6207659" y="1170000"/>
            <a:ext cx="5185259" cy="406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True 6, predicted 8 (confidence 0.8852)</a:t>
            </a:r>
          </a:p>
        </p:txBody>
      </p:sp>
      <p:sp>
        <p:nvSpPr>
          <p:cNvPr id="17" name="TextBox 16"/>
          <p:cNvSpPr txBox="1"/>
          <p:nvPr/>
        </p:nvSpPr>
        <p:spPr>
          <a:xfrm>
            <a:off x="6405659" y="1584000"/>
            <a:ext cx="4789259" cy="3582000"/>
          </a:xfrm>
          <a:prstGeom prst="rect">
            <a:avLst/>
          </a:prstGeom>
          <a:noFill/>
        </p:spPr>
        <p:txBody>
          <a:bodyPr wrap="square" anchor="t" lIns="0" rIns="0" tIns="0" bIns="0">
            <a:spAutoFit/>
          </a:bodyPr>
          <a:lstStyle/>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a:r>
          </a:p>
          <a:p>
            <a:pPr algn="l">
              <a:lnSpc>
                <a:spcPct val="128000"/>
              </a:lnSpc>
            </a:pPr>
            <a:r>
              <a:rPr sz="1300" b="0" i="0">
                <a:solidFill>
                  <a:srgbClr val="E2E8F0"/>
                </a:solidFill>
                <a:latin typeface="Menlo"/>
              </a:rPr>
              <a:t>true-class prob 0.0271</a:t>
            </a:r>
          </a:p>
          <a:p>
            <a:pPr algn="l">
              <a:lnSpc>
                <a:spcPct val="128000"/>
              </a:lnSpc>
            </a:pPr>
            <a:r>
              <a:rPr sz="1300" b="0" i="0">
                <a:solidFill>
                  <a:srgbClr val="E2E8F0"/>
                </a:solidFill>
                <a:latin typeface="Menlo"/>
              </a:rPr>
              <a:t># this 6 has a CLOSED lower</a:t>
            </a:r>
          </a:p>
          <a:p>
            <a:pPr algn="l">
              <a:lnSpc>
                <a:spcPct val="128000"/>
              </a:lnSpc>
            </a:pPr>
            <a:r>
              <a:rPr sz="1300" b="0" i="0">
                <a:solidFill>
                  <a:srgbClr val="E2E8F0"/>
                </a:solidFill>
                <a:latin typeface="Menlo"/>
              </a:rPr>
              <a:t># loop, which a 6 should not.</a:t>
            </a:r>
          </a:p>
          <a:p>
            <a:pPr algn="l">
              <a:lnSpc>
                <a:spcPct val="128000"/>
              </a:lnSpc>
            </a:pPr>
            <a:r>
              <a:rPr sz="1300" b="0" i="0">
                <a:solidFill>
                  <a:srgbClr val="E2E8F0"/>
                </a:solidFill>
                <a:latin typeface="Menlo"/>
              </a:rPr>
              <a:t># 6-&gt;8 appears twice in the</a:t>
            </a:r>
          </a:p>
          <a:p>
            <a:pPr algn="l">
              <a:lnSpc>
                <a:spcPct val="128000"/>
              </a:lnSpc>
            </a:pPr>
            <a:r>
              <a:rPr sz="1300" b="0" i="0">
                <a:solidFill>
                  <a:srgbClr val="E2E8F0"/>
                </a:solidFill>
                <a:latin typeface="Menlo"/>
              </a:rPr>
              <a:t># matrix; this is what it is.</a:t>
            </a:r>
          </a:p>
        </p:txBody>
      </p:sp>
      <p:sp>
        <p:nvSpPr>
          <p:cNvPr id="18" name="TextBox 17"/>
          <p:cNvSpPr txBox="1"/>
          <p:nvPr/>
        </p:nvSpPr>
        <p:spPr>
          <a:xfrm>
            <a:off x="799200" y="5418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This is error analysis. Not "the model is not good enough" but "it calls 8 on a 6 whose lower loop closes" — the second is fixable (add such samples, or re-weight the loss); the first is not.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What a complete error analysis contains</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Five items. Miss one and you have reported a single aggregate number, which is the single most common way Lab 6 loses marks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Lab 6 requires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24 / 32</a:t>
            </a:r>
          </a:p>
        </p:txBody>
      </p:sp>
      <p:sp>
        <p:nvSpPr>
          <p:cNvPr id="10" name="Rectangle 9"/>
          <p:cNvSpPr/>
          <p:nvPr/>
        </p:nvSpPr>
        <p:spPr>
          <a:xfrm>
            <a:off x="799200" y="11520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79200" y="1339200"/>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9200" y="14112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1. Metric</a:t>
            </a:r>
          </a:p>
        </p:txBody>
      </p:sp>
      <p:sp>
        <p:nvSpPr>
          <p:cNvPr id="14" name="TextBox 13"/>
          <p:cNvSpPr txBox="1"/>
          <p:nvPr/>
        </p:nvSpPr>
        <p:spPr>
          <a:xfrm>
            <a:off x="2023200" y="12671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Print the confusion matrix, not just accuracy</a:t>
            </a:r>
          </a:p>
        </p:txBody>
      </p:sp>
      <p:sp>
        <p:nvSpPr>
          <p:cNvPr id="15" name="TextBox 14"/>
          <p:cNvSpPr txBox="1"/>
          <p:nvPr/>
        </p:nvSpPr>
        <p:spPr>
          <a:xfrm>
            <a:off x="2023200" y="14939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Behind 0.981 sit 26 errors, 12 of them involving the digit 8. The accuracy number says none of this.</a:t>
            </a:r>
          </a:p>
        </p:txBody>
      </p:sp>
      <p:sp>
        <p:nvSpPr>
          <p:cNvPr id="16" name="Rectangle 15"/>
          <p:cNvSpPr/>
          <p:nvPr/>
        </p:nvSpPr>
        <p:spPr>
          <a:xfrm>
            <a:off x="799200" y="20412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99200" y="2041200"/>
            <a:ext cx="32400" cy="737999"/>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79200" y="2228400"/>
            <a:ext cx="900000" cy="32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9200" y="23004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2. Worst pair</a:t>
            </a:r>
          </a:p>
        </p:txBody>
      </p:sp>
      <p:sp>
        <p:nvSpPr>
          <p:cNvPr id="20" name="TextBox 19"/>
          <p:cNvSpPr txBox="1"/>
          <p:nvPr/>
        </p:nvSpPr>
        <p:spPr>
          <a:xfrm>
            <a:off x="2023200" y="21564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Name the worst class pair and its count</a:t>
            </a:r>
          </a:p>
        </p:txBody>
      </p:sp>
      <p:sp>
        <p:nvSpPr>
          <p:cNvPr id="21" name="TextBox 20"/>
          <p:cNvSpPr txBox="1"/>
          <p:nvPr/>
        </p:nvSpPr>
        <p:spPr>
          <a:xfrm>
            <a:off x="2023200" y="2383200"/>
            <a:ext cx="9153719" cy="341999"/>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"8 read as 1, three times" is a hundred times more useful than "the model does worse on some classes".</a:t>
            </a:r>
          </a:p>
        </p:txBody>
      </p:sp>
      <p:sp>
        <p:nvSpPr>
          <p:cNvPr id="22" name="Rectangle 21"/>
          <p:cNvSpPr/>
          <p:nvPr/>
        </p:nvSpPr>
        <p:spPr>
          <a:xfrm>
            <a:off x="799200" y="29303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2930399"/>
            <a:ext cx="32400" cy="737999"/>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79200" y="3117599"/>
            <a:ext cx="900000" cy="324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200" y="31896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3. Examples</a:t>
            </a:r>
          </a:p>
        </p:txBody>
      </p:sp>
      <p:sp>
        <p:nvSpPr>
          <p:cNvPr id="26" name="TextBox 25"/>
          <p:cNvSpPr txBox="1"/>
          <p:nvPr/>
        </p:nvSpPr>
        <p:spPr>
          <a:xfrm>
            <a:off x="2023200" y="30455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At least 3 concrete cases with model probabilities</a:t>
            </a:r>
          </a:p>
        </p:txBody>
      </p:sp>
      <p:sp>
        <p:nvSpPr>
          <p:cNvPr id="27" name="TextBox 26"/>
          <p:cNvSpPr txBox="1"/>
          <p:nvPr/>
        </p:nvSpPr>
        <p:spPr>
          <a:xfrm>
            <a:off x="2023200" y="32723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Sentences like "true 8, predicted 7, confidence 0.9829, true-class probability 0.0144" — the probabilities separate hesitation from confident error.</a:t>
            </a:r>
          </a:p>
        </p:txBody>
      </p:sp>
      <p:sp>
        <p:nvSpPr>
          <p:cNvPr id="28" name="Rectangle 27"/>
          <p:cNvSpPr/>
          <p:nvPr/>
        </p:nvSpPr>
        <p:spPr>
          <a:xfrm>
            <a:off x="799200" y="38196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99200" y="3819600"/>
            <a:ext cx="32400" cy="737999"/>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79200" y="4006799"/>
            <a:ext cx="900000" cy="324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9200" y="40788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4. Hypothesis</a:t>
            </a:r>
          </a:p>
        </p:txBody>
      </p:sp>
      <p:sp>
        <p:nvSpPr>
          <p:cNvPr id="32" name="TextBox 31"/>
          <p:cNvSpPr txBox="1"/>
          <p:nvPr/>
        </p:nvSpPr>
        <p:spPr>
          <a:xfrm>
            <a:off x="2023200" y="39348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Every case gets a testable hypothesis</a:t>
            </a:r>
          </a:p>
        </p:txBody>
      </p:sp>
      <p:sp>
        <p:nvSpPr>
          <p:cNvPr id="33" name="TextBox 32"/>
          <p:cNvSpPr txBox="1"/>
          <p:nvPr/>
        </p:nvSpPr>
        <p:spPr>
          <a:xfrm>
            <a:off x="2023200" y="41615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"this 6 has a closed lower loop" is a hypothesis, and it is checkable: collect such 6s and see whether they all become 8.</a:t>
            </a:r>
          </a:p>
        </p:txBody>
      </p:sp>
      <p:sp>
        <p:nvSpPr>
          <p:cNvPr id="34" name="Rectangle 33"/>
          <p:cNvSpPr/>
          <p:nvPr/>
        </p:nvSpPr>
        <p:spPr>
          <a:xfrm>
            <a:off x="799200" y="47087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9200" y="4708799"/>
            <a:ext cx="32400" cy="737999"/>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79200" y="4895999"/>
            <a:ext cx="900000" cy="324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9200" y="49680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5. Next step</a:t>
            </a:r>
          </a:p>
        </p:txBody>
      </p:sp>
      <p:sp>
        <p:nvSpPr>
          <p:cNvPr id="38" name="TextBox 37"/>
          <p:cNvSpPr txBox="1"/>
          <p:nvPr/>
        </p:nvSpPr>
        <p:spPr>
          <a:xfrm>
            <a:off x="2023200" y="48239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State what you will try and how you will judge it</a:t>
            </a:r>
          </a:p>
        </p:txBody>
      </p:sp>
      <p:sp>
        <p:nvSpPr>
          <p:cNvPr id="39" name="TextBox 38"/>
          <p:cNvSpPr txBox="1"/>
          <p:nvPr/>
        </p:nvSpPr>
        <p:spPr>
          <a:xfrm>
            <a:off x="2023200" y="50507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Same split, same metric, one change at a time — the rule that does not change all semester.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05</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Memory and green computing</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Batch size, gradient accumulation, finite compute</a:t>
            </a:r>
          </a:p>
        </p:txBody>
      </p:sp>
      <p:sp>
        <p:nvSpPr>
          <p:cNvPr id="9" name="TextBox 8"/>
          <p:cNvSpPr txBox="1"/>
          <p:nvPr/>
        </p:nvSpPr>
        <p:spPr>
          <a:xfrm>
            <a:off x="799200" y="2736000"/>
            <a:ext cx="8640000" cy="8297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Out-of-memory is the most common blocker in this week's lab. And it is almost never a hardware problem — it is a batch-size problem.</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Batch first</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the cheapest lever</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Then accumulate</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buy the batch back for free</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Hardware last</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compute is finite</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Batch size against peak memory: measured</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Input nearest-neighbour upsampled to 32x32 (16x the activation volume, the order of a real vision model); one forward+backward per subprocess, peak RSS; ru_maxrss is in BYTES on macOS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measured · separate processes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26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Baseline (torch imported, nothing running): 306.5 MB.</a:t>
            </a:r>
          </a:p>
          <a:p>
            <a:pPr algn="l">
              <a:lnSpc>
                <a:spcPct val="145000"/>
              </a:lnSpc>
              <a:spcAft>
                <a:spcPts val="800"/>
              </a:spcAft>
            </a:pPr>
            <a:r>
              <a:rPr sz="1250" b="0" i="0">
                <a:solidFill>
                  <a:srgbClr val="1F2937"/>
                </a:solidFill>
                <a:latin typeface="Source Han Sans SC"/>
              </a:rPr>
              <a:t>• Batch 32 → 1024: 83.6 → 275.5 MB, 3.3x, growing with batch.</a:t>
            </a:r>
          </a:p>
          <a:p>
            <a:pPr algn="l">
              <a:lnSpc>
                <a:spcPct val="145000"/>
              </a:lnSpc>
              <a:spcAft>
                <a:spcPts val="800"/>
              </a:spcAft>
            </a:pPr>
            <a:r>
              <a:rPr sz="1250" b="0" i="0">
                <a:solidFill>
                  <a:srgbClr val="1F2937"/>
                </a:solidFill>
                <a:latin typeface="Source Han Sans SC"/>
              </a:rPr>
              <a:t>• Dropping the batch is the only knob that changes memory without changing the maths.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Gradient accumulation: the effective batch can be bought back — at the right price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Four variants, identical except for how the accumulated gradient is weighted. The test is whether each reproduces the true batch-128 run seed by seed</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measured · 5 seeds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27 / 32</a:t>
            </a:r>
          </a:p>
        </p:txBody>
      </p:sp>
      <p:graphicFrame>
        <p:nvGraphicFramePr>
          <p:cNvPr id="10" name="Table 9"/>
          <p:cNvGraphicFramePr>
            <a:graphicFrameLocks noGrp="1"/>
          </p:cNvGraphicFramePr>
          <p:nvPr/>
        </p:nvGraphicFramePr>
        <p:xfrm>
          <a:off x="799200" y="1152000"/>
          <a:ext cx="10583999" cy="2070000"/>
        </p:xfrm>
        <a:graphic>
          <a:graphicData uri="http://schemas.openxmlformats.org/drawingml/2006/table">
            <a:tbl>
              <a:tblPr firstRow="1" bandRow="1">
                <a:tableStyleId>{5C22544A-7EE6-4342-B048-85BDC9FD1C3A}</a:tableStyleId>
              </a:tblPr>
              <a:tblGrid>
                <a:gridCol w="2736000"/>
                <a:gridCol w="4896000"/>
                <a:gridCol w="2951999"/>
              </a:tblGrid>
              <a:tr h="414000">
                <a:tc>
                  <a:txBody>
                    <a:bodyPr/>
                    <a:lstStyle/>
                    <a:p>
                      <a:r>
                        <a:rPr sz="1250" b="1">
                          <a:solidFill>
                            <a:srgbClr val="FFFFFF"/>
                          </a:solidFill>
                          <a:latin typeface="Source Han Sans SC"/>
                        </a:rPr>
                        <a:t>Weighting</a:t>
                      </a:r>
                    </a:p>
                  </a:txBody>
                  <a:tcPr>
                    <a:solidFill>
                      <a:srgbClr val="0E3F8C"/>
                    </a:solidFill>
                  </a:tcPr>
                </a:tc>
                <a:tc>
                  <a:txBody>
                    <a:bodyPr/>
                    <a:lstStyle/>
                    <a:p>
                      <a:r>
                        <a:rPr sz="1250" b="1">
                          <a:solidFill>
                            <a:srgbClr val="FFFFFF"/>
                          </a:solidFill>
                          <a:latin typeface="Source Han Sans SC"/>
                        </a:rPr>
                        <a:t>Test accuracy per seed (42-46)</a:t>
                      </a:r>
                    </a:p>
                  </a:txBody>
                  <a:tcPr>
                    <a:solidFill>
                      <a:srgbClr val="0E3F8C"/>
                    </a:solidFill>
                  </a:tcPr>
                </a:tc>
                <a:tc>
                  <a:txBody>
                    <a:bodyPr/>
                    <a:lstStyle/>
                    <a:p>
                      <a:r>
                        <a:rPr sz="1250" b="1">
                          <a:solidFill>
                            <a:srgbClr val="FFFFFF"/>
                          </a:solidFill>
                          <a:latin typeface="Source Han Sans SC"/>
                        </a:rPr>
                        <a:t>Matches true batch 128</a:t>
                      </a:r>
                    </a:p>
                  </a:txBody>
                  <a:tcPr>
                    <a:solidFill>
                      <a:srgbClr val="0E3F8C"/>
                    </a:solidFill>
                  </a:tcPr>
                </a:tc>
              </a:tr>
              <a:tr h="414000">
                <a:tc>
                  <a:txBody>
                    <a:bodyPr/>
                    <a:lstStyle/>
                    <a:p>
                      <a:r>
                        <a:rPr sz="1150" b="1">
                          <a:solidFill>
                            <a:srgbClr val="1F2937"/>
                          </a:solidFill>
                          <a:latin typeface="Source Han Sans SC"/>
                        </a:rPr>
                        <a:t>True batch 128 (reference)</a:t>
                      </a:r>
                    </a:p>
                  </a:txBody>
                  <a:tcPr>
                    <a:solidFill>
                      <a:srgbClr val="FFFFFF"/>
                    </a:solidFill>
                  </a:tcPr>
                </a:tc>
                <a:tc>
                  <a:txBody>
                    <a:bodyPr/>
                    <a:lstStyle/>
                    <a:p>
                      <a:r>
                        <a:rPr sz="1150" b="0">
                          <a:solidFill>
                            <a:srgbClr val="1F2937"/>
                          </a:solidFill>
                          <a:latin typeface="Source Han Sans SC"/>
                        </a:rPr>
                        <a:t>0.9704 / 0.9815 / 0.9778 / 0.9926 / 0.9815</a:t>
                      </a:r>
                    </a:p>
                  </a:txBody>
                  <a:tcPr>
                    <a:solidFill>
                      <a:srgbClr val="FFFFFF"/>
                    </a:solidFill>
                  </a:tcPr>
                </a:tc>
                <a:tc>
                  <a:txBody>
                    <a:bodyPr/>
                    <a:lstStyle/>
                    <a:p>
                      <a:r>
                        <a:rPr sz="1150" b="0">
                          <a:solidFill>
                            <a:srgbClr val="1F2937"/>
                          </a:solidFill>
                          <a:latin typeface="Source Han Sans SC"/>
                        </a:rPr>
                        <a:t>- reference</a:t>
                      </a:r>
                    </a:p>
                  </a:txBody>
                  <a:tcPr>
                    <a:solidFill>
                      <a:srgbClr val="FFFFFF"/>
                    </a:solidFill>
                  </a:tcPr>
                </a:tc>
              </a:tr>
              <a:tr h="414000">
                <a:tc>
                  <a:txBody>
                    <a:bodyPr/>
                    <a:lstStyle/>
                    <a:p>
                      <a:r>
                        <a:rPr sz="1150" b="1">
                          <a:solidFill>
                            <a:srgbClr val="1F2937"/>
                          </a:solidFill>
                          <a:latin typeface="Source Han Sans SC"/>
                        </a:rPr>
                        <a:t>4x32, weight = micro-batch / group size</a:t>
                      </a:r>
                    </a:p>
                  </a:txBody>
                  <a:tcPr>
                    <a:solidFill>
                      <a:srgbClr val="F0F5FC"/>
                    </a:solidFill>
                  </a:tcPr>
                </a:tc>
                <a:tc>
                  <a:txBody>
                    <a:bodyPr/>
                    <a:lstStyle/>
                    <a:p>
                      <a:r>
                        <a:rPr sz="1150" b="0">
                          <a:solidFill>
                            <a:srgbClr val="1F2937"/>
                          </a:solidFill>
                          <a:latin typeface="Source Han Sans SC"/>
                        </a:rPr>
                        <a:t>0.9704 / 0.9815 / 0.9778 / 0.9926 / 0.9815</a:t>
                      </a:r>
                    </a:p>
                  </a:txBody>
                  <a:tcPr>
                    <a:solidFill>
                      <a:srgbClr val="F0F5FC"/>
                    </a:solidFill>
                  </a:tcPr>
                </a:tc>
                <a:tc>
                  <a:txBody>
                    <a:bodyPr/>
                    <a:lstStyle/>
                    <a:p>
                      <a:r>
                        <a:rPr sz="1150" b="0">
                          <a:solidFill>
                            <a:srgbClr val="1F2937"/>
                          </a:solidFill>
                          <a:latin typeface="Source Han Sans SC"/>
                        </a:rPr>
                        <a:t>**5 / 5 identical**</a:t>
                      </a:r>
                    </a:p>
                  </a:txBody>
                  <a:tcPr>
                    <a:solidFill>
                      <a:srgbClr val="F0F5FC"/>
                    </a:solidFill>
                  </a:tcPr>
                </a:tc>
              </a:tr>
              <a:tr h="414000">
                <a:tc>
                  <a:txBody>
                    <a:bodyPr/>
                    <a:lstStyle/>
                    <a:p>
                      <a:r>
                        <a:rPr sz="1150" b="1">
                          <a:solidFill>
                            <a:srgbClr val="1F2937"/>
                          </a:solidFill>
                          <a:latin typeface="Source Han Sans SC"/>
                        </a:rPr>
                        <a:t>4x32, weight = 1 / accumulation steps</a:t>
                      </a:r>
                    </a:p>
                  </a:txBody>
                  <a:tcPr>
                    <a:solidFill>
                      <a:srgbClr val="FFFFFF"/>
                    </a:solidFill>
                  </a:tcPr>
                </a:tc>
                <a:tc>
                  <a:txBody>
                    <a:bodyPr/>
                    <a:lstStyle/>
                    <a:p>
                      <a:r>
                        <a:rPr sz="1150" b="0">
                          <a:solidFill>
                            <a:srgbClr val="1F2937"/>
                          </a:solidFill>
                          <a:latin typeface="Source Han Sans SC"/>
                        </a:rPr>
                        <a:t>0.9704 / 0.9852 / 0.9778 / 0.9889 / 0.9815</a:t>
                      </a:r>
                    </a:p>
                  </a:txBody>
                  <a:tcPr>
                    <a:solidFill>
                      <a:srgbClr val="FFFFFF"/>
                    </a:solidFill>
                  </a:tcPr>
                </a:tc>
                <a:tc>
                  <a:txBody>
                    <a:bodyPr/>
                    <a:lstStyle/>
                    <a:p>
                      <a:r>
                        <a:rPr sz="1150" b="0">
                          <a:solidFill>
                            <a:srgbClr val="1F2937"/>
                          </a:solidFill>
                          <a:latin typeface="Source Han Sans SC"/>
                        </a:rPr>
                        <a:t>3 / 5</a:t>
                      </a:r>
                    </a:p>
                  </a:txBody>
                  <a:tcPr>
                    <a:solidFill>
                      <a:srgbClr val="FFFFFF"/>
                    </a:solidFill>
                  </a:tcPr>
                </a:tc>
              </a:tr>
              <a:tr h="414000">
                <a:tc>
                  <a:txBody>
                    <a:bodyPr/>
                    <a:lstStyle/>
                    <a:p>
                      <a:r>
                        <a:rPr sz="1150" b="1">
                          <a:solidFill>
                            <a:srgbClr val="1F2937"/>
                          </a:solidFill>
                          <a:latin typeface="Source Han Sans SC"/>
                        </a:rPr>
                        <a:t>4x32, weight = 1 (forgot to scale)</a:t>
                      </a:r>
                    </a:p>
                  </a:txBody>
                  <a:tcPr>
                    <a:solidFill>
                      <a:srgbClr val="F0F5FC"/>
                    </a:solidFill>
                  </a:tcPr>
                </a:tc>
                <a:tc>
                  <a:txBody>
                    <a:bodyPr/>
                    <a:lstStyle/>
                    <a:p>
                      <a:r>
                        <a:rPr sz="1150" b="0">
                          <a:solidFill>
                            <a:srgbClr val="1F2937"/>
                          </a:solidFill>
                          <a:latin typeface="Source Han Sans SC"/>
                        </a:rPr>
                        <a:t>0.9704 / 0.9852 / 0.9741 / 0.9889 / 0.9815</a:t>
                      </a:r>
                    </a:p>
                  </a:txBody>
                  <a:tcPr>
                    <a:solidFill>
                      <a:srgbClr val="F0F5FC"/>
                    </a:solidFill>
                  </a:tcPr>
                </a:tc>
                <a:tc>
                  <a:txBody>
                    <a:bodyPr/>
                    <a:lstStyle/>
                    <a:p>
                      <a:r>
                        <a:rPr sz="1150" b="0">
                          <a:solidFill>
                            <a:srgbClr val="1F2937"/>
                          </a:solidFill>
                          <a:latin typeface="Source Han Sans SC"/>
                        </a:rPr>
                        <a:t>2 / 5</a:t>
                      </a:r>
                    </a:p>
                  </a:txBody>
                  <a:tcPr>
                    <a:solidFill>
                      <a:srgbClr val="F0F5FC"/>
                    </a:solidFill>
                  </a:tcPr>
                </a:tc>
              </a:tr>
            </a:tbl>
          </a:graphicData>
        </a:graphic>
      </p:graphicFrame>
      <p:sp>
        <p:nvSpPr>
          <p:cNvPr id="11" name="TextBox 10"/>
          <p:cNvSpPr txBox="1"/>
          <p:nvPr/>
        </p:nvSpPr>
        <p:spPr>
          <a:xfrm>
            <a:off x="799200" y="3366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Row two is the correct form: each micro-batch is weighted by its SHARE of the group, not by 1/accumulation-steps. The two agree only while every micro-batch has the same size, and the last group of an epoch usually does not. Row three's 3/5 mismatch is two seeds hitting that tail. Row four: Adam normalises by the second moment, so a uniform 4x scaling is largely absorbed — with SGD it is nothing like this.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What to do when you run out of memory</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Work down the list. Every step down costs more; the last two are no longer tuning, they are new hardware or a new plan</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KT14 · Lab 6 will hit this</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28 / 32</a:t>
            </a:r>
          </a:p>
        </p:txBody>
      </p:sp>
      <p:sp>
        <p:nvSpPr>
          <p:cNvPr id="10" name="Rectangle 9"/>
          <p:cNvSpPr/>
          <p:nvPr/>
        </p:nvSpPr>
        <p:spPr>
          <a:xfrm>
            <a:off x="799200" y="11520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32400" cy="737999"/>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79200" y="1339200"/>
            <a:ext cx="900000" cy="32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9200" y="14112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1 · free</a:t>
            </a:r>
          </a:p>
        </p:txBody>
      </p:sp>
      <p:sp>
        <p:nvSpPr>
          <p:cNvPr id="14" name="TextBox 13"/>
          <p:cNvSpPr txBox="1"/>
          <p:nvPr/>
        </p:nvSpPr>
        <p:spPr>
          <a:xfrm>
            <a:off x="2023200" y="12671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Halve the batch size first</a:t>
            </a:r>
          </a:p>
        </p:txBody>
      </p:sp>
      <p:sp>
        <p:nvSpPr>
          <p:cNvPr id="15" name="TextBox 14"/>
          <p:cNvSpPr txBox="1"/>
          <p:nvPr/>
        </p:nvSpPr>
        <p:spPr>
          <a:xfrm>
            <a:off x="2023200" y="14939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Changes memory, not maths. The side effect is noisier gradients — compensate with more steps or a higher learning rate. Do this before suspecting the hardware.</a:t>
            </a:r>
          </a:p>
        </p:txBody>
      </p:sp>
      <p:sp>
        <p:nvSpPr>
          <p:cNvPr id="16" name="Rectangle 15"/>
          <p:cNvSpPr/>
          <p:nvPr/>
        </p:nvSpPr>
        <p:spPr>
          <a:xfrm>
            <a:off x="799200" y="20412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99200" y="2041200"/>
            <a:ext cx="32400" cy="737999"/>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79200" y="2228400"/>
            <a:ext cx="900000" cy="32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9200" y="23004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2 · free</a:t>
            </a:r>
          </a:p>
        </p:txBody>
      </p:sp>
      <p:sp>
        <p:nvSpPr>
          <p:cNvPr id="20" name="TextBox 19"/>
          <p:cNvSpPr txBox="1"/>
          <p:nvPr/>
        </p:nvSpPr>
        <p:spPr>
          <a:xfrm>
            <a:off x="2023200" y="21564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Gradient accumulation: buy the effective batch back</a:t>
            </a:r>
          </a:p>
        </p:txBody>
      </p:sp>
      <p:sp>
        <p:nvSpPr>
          <p:cNvPr id="21" name="TextBox 20"/>
          <p:cNvSpPr txBox="1"/>
          <p:nvPr/>
        </p:nvSpPr>
        <p:spPr>
          <a:xfrm>
            <a:off x="2023200" y="2383200"/>
            <a:ext cx="9153719" cy="341999"/>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Measured: 4x32 with the right weighting reproduces true batch 128 exactly, 5/5. You pay in time, not accuracy. See row two of the previous page.</a:t>
            </a:r>
          </a:p>
        </p:txBody>
      </p:sp>
      <p:sp>
        <p:nvSpPr>
          <p:cNvPr id="22" name="Rectangle 21"/>
          <p:cNvSpPr/>
          <p:nvPr/>
        </p:nvSpPr>
        <p:spPr>
          <a:xfrm>
            <a:off x="799200" y="29303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2930399"/>
            <a:ext cx="32400" cy="737999"/>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79200" y="31175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200" y="31896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3 · cheap</a:t>
            </a:r>
          </a:p>
        </p:txBody>
      </p:sp>
      <p:sp>
        <p:nvSpPr>
          <p:cNvPr id="26" name="TextBox 25"/>
          <p:cNvSpPr txBox="1"/>
          <p:nvPr/>
        </p:nvSpPr>
        <p:spPr>
          <a:xfrm>
            <a:off x="2023200" y="30455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Mixed precision (AMP)</a:t>
            </a:r>
          </a:p>
        </p:txBody>
      </p:sp>
      <p:sp>
        <p:nvSpPr>
          <p:cNvPr id="27" name="TextBox 26"/>
          <p:cNvSpPr txBox="1"/>
          <p:nvPr/>
        </p:nvSpPr>
        <p:spPr>
          <a:xfrm>
            <a:off x="2023200" y="32723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torch.amp.autocast plus GradScaler, activations halved. It changes the numerics, so re-confirm the metric — cheap, not free.</a:t>
            </a:r>
          </a:p>
        </p:txBody>
      </p:sp>
      <p:sp>
        <p:nvSpPr>
          <p:cNvPr id="28" name="Rectangle 27"/>
          <p:cNvSpPr/>
          <p:nvPr/>
        </p:nvSpPr>
        <p:spPr>
          <a:xfrm>
            <a:off x="799200" y="3819600"/>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99200" y="3819600"/>
            <a:ext cx="32400" cy="737999"/>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79200" y="4006799"/>
            <a:ext cx="900000" cy="324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9200" y="40788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4 · costs</a:t>
            </a:r>
          </a:p>
        </p:txBody>
      </p:sp>
      <p:sp>
        <p:nvSpPr>
          <p:cNvPr id="32" name="TextBox 31"/>
          <p:cNvSpPr txBox="1"/>
          <p:nvPr/>
        </p:nvSpPr>
        <p:spPr>
          <a:xfrm>
            <a:off x="2023200" y="39348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Gradient checkpointing / smaller input</a:t>
            </a:r>
          </a:p>
        </p:txBody>
      </p:sp>
      <p:sp>
        <p:nvSpPr>
          <p:cNvPr id="33" name="TextBox 32"/>
          <p:cNvSpPr txBox="1"/>
          <p:nvPr/>
        </p:nvSpPr>
        <p:spPr>
          <a:xfrm>
            <a:off x="2023200" y="41615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Time for memory, typically 20-30% slower. Shrinking the input changes the task itself — decide what you are measuring before you change it.</a:t>
            </a:r>
          </a:p>
        </p:txBody>
      </p:sp>
      <p:sp>
        <p:nvSpPr>
          <p:cNvPr id="34" name="Rectangle 33"/>
          <p:cNvSpPr/>
          <p:nvPr/>
        </p:nvSpPr>
        <p:spPr>
          <a:xfrm>
            <a:off x="799200" y="4708799"/>
            <a:ext cx="10593719" cy="7379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9200" y="4708799"/>
            <a:ext cx="32400" cy="737999"/>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79200" y="4895999"/>
            <a:ext cx="900000" cy="324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9200" y="49680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5 · last</a:t>
            </a:r>
          </a:p>
        </p:txBody>
      </p:sp>
      <p:sp>
        <p:nvSpPr>
          <p:cNvPr id="38" name="TextBox 37"/>
          <p:cNvSpPr txBox="1"/>
          <p:nvPr/>
        </p:nvSpPr>
        <p:spPr>
          <a:xfrm>
            <a:off x="2023200" y="48239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Shrink the model, or admit the task does not fit</a:t>
            </a:r>
          </a:p>
        </p:txBody>
      </p:sp>
      <p:sp>
        <p:nvSpPr>
          <p:cNvPr id="39" name="TextBox 38"/>
          <p:cNvSpPr txBox="1"/>
          <p:nvPr/>
        </p:nvSpPr>
        <p:spPr>
          <a:xfrm>
            <a:off x="2023200" y="5050799"/>
            <a:ext cx="9153719" cy="342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Buying a GPU is LAST, not first. Measured this week: this 8x8 model peaks at 390 MB. Compute what you actually need before shopping.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Green computing: compute is finite</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Same data, same accuracy, 9x fewer parameters — measured this week, not a slogan</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civic</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29 / 32</a:t>
            </a:r>
          </a:p>
        </p:txBody>
      </p:sp>
      <p:sp>
        <p:nvSpPr>
          <p:cNvPr id="10" name="Rectangle 9"/>
          <p:cNvSpPr/>
          <p:nvPr/>
        </p:nvSpPr>
        <p:spPr>
          <a:xfrm>
            <a:off x="799200" y="1332000"/>
            <a:ext cx="338723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332000"/>
            <a:ext cx="32400" cy="410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Parameters are a bill</a:t>
            </a:r>
          </a:p>
        </p:txBody>
      </p:sp>
      <p:sp>
        <p:nvSpPr>
          <p:cNvPr id="13" name="TextBox 12"/>
          <p:cNvSpPr txBox="1"/>
          <p:nvPr/>
        </p:nvSpPr>
        <p:spPr>
          <a:xfrm>
            <a:off x="1022400" y="1792800"/>
            <a:ext cx="2940839" cy="3499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17,226 parameters reach 0.979; 1,898 reach 0.981. Those 15,328 extra parameters must be computed, moved and powered, in training and at inference.</a:t>
            </a:r>
          </a:p>
          <a:p>
            <a:pPr algn="l">
              <a:lnSpc>
                <a:spcPct val="140000"/>
              </a:lnSpc>
              <a:spcAft>
                <a:spcPts val="400"/>
              </a:spcAft>
            </a:pPr>
            <a:r>
              <a:rPr sz="1200" b="0" i="0">
                <a:solidFill>
                  <a:srgbClr val="1F2937"/>
                </a:solidFill>
                <a:latin typeface="Source Han Sans SC"/>
              </a:rPr>
              <a:t>• "Reach the goal with less" is not piety; it starts with one question: was this size necessary?</a:t>
            </a:r>
          </a:p>
        </p:txBody>
      </p:sp>
      <p:sp>
        <p:nvSpPr>
          <p:cNvPr id="14" name="Rectangle 13"/>
          <p:cNvSpPr/>
          <p:nvPr/>
        </p:nvSpPr>
        <p:spPr>
          <a:xfrm>
            <a:off x="4402440" y="1332000"/>
            <a:ext cx="338723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332000"/>
            <a:ext cx="32400" cy="410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Measure before you buy</a:t>
            </a:r>
          </a:p>
        </p:txBody>
      </p:sp>
      <p:sp>
        <p:nvSpPr>
          <p:cNvPr id="17" name="TextBox 16"/>
          <p:cNvSpPr txBox="1"/>
          <p:nvPr/>
        </p:nvSpPr>
        <p:spPr>
          <a:xfrm>
            <a:off x="4625639" y="1792800"/>
            <a:ext cx="2940839" cy="3499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Measured: this model peaks at 390 MB, and batch 1024 only reaches 582 MB. It will never OOM.</a:t>
            </a:r>
          </a:p>
          <a:p>
            <a:pPr algn="l">
              <a:lnSpc>
                <a:spcPct val="140000"/>
              </a:lnSpc>
              <a:spcAft>
                <a:spcPts val="400"/>
              </a:spcAft>
            </a:pPr>
            <a:r>
              <a:rPr sz="1200" b="0" i="0">
                <a:solidFill>
                  <a:srgbClr val="1F2937"/>
                </a:solidFill>
                <a:latin typeface="Source Han Sans SC"/>
              </a:rPr>
              <a:t>• Measure the peak before requesting compute. Most "I need a bigger machine" is "I made the input too big".</a:t>
            </a:r>
          </a:p>
        </p:txBody>
      </p:sp>
      <p:sp>
        <p:nvSpPr>
          <p:cNvPr id="18" name="Rectangle 17"/>
          <p:cNvSpPr/>
          <p:nvPr/>
        </p:nvSpPr>
        <p:spPr>
          <a:xfrm>
            <a:off x="8005679" y="1332000"/>
            <a:ext cx="338723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05679" y="1332000"/>
            <a:ext cx="32400" cy="4104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8879" y="1519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Report the optimisations that did not work</a:t>
            </a:r>
          </a:p>
        </p:txBody>
      </p:sp>
      <p:sp>
        <p:nvSpPr>
          <p:cNvPr id="21" name="TextBox 20"/>
          <p:cNvSpPr txBox="1"/>
          <p:nvPr/>
        </p:nvSpPr>
        <p:spPr>
          <a:xfrm>
            <a:off x="8228879" y="1792800"/>
            <a:ext cx="2940839" cy="34992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This week's augmentation is the example: it costs 3 points of clean accuracy. Reporting only the 29-point robustness gain would be selective reporting.</a:t>
            </a:r>
          </a:p>
          <a:p>
            <a:pPr algn="l">
              <a:lnSpc>
                <a:spcPct val="140000"/>
              </a:lnSpc>
              <a:spcAft>
                <a:spcPts val="400"/>
              </a:spcAft>
            </a:pPr>
            <a:r>
              <a:rPr sz="1200" b="0" i="0">
                <a:solidFill>
                  <a:srgbClr val="1F2937"/>
                </a:solidFill>
                <a:latin typeface="Source Han Sans SC"/>
              </a:rPr>
              <a:t>• For AI-suggested memory optimisations, label which ones actually worked and which did not — that is this week's AI-collaboration task.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In-class quiz</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Closed book. Whatever you cannot answer is what to revise this week</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4 items · 5 min</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30 / 32</a:t>
            </a:r>
          </a:p>
        </p:txBody>
      </p:sp>
      <p:sp>
        <p:nvSpPr>
          <p:cNvPr id="10" name="Rectangle 9"/>
          <p:cNvSpPr/>
          <p:nvPr/>
        </p:nvSpPr>
        <p:spPr>
          <a:xfrm>
            <a:off x="799200" y="1134000"/>
            <a:ext cx="5197859" cy="2493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97200" y="1296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7200" y="1342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Q1</a:t>
            </a:r>
          </a:p>
        </p:txBody>
      </p:sp>
      <p:sp>
        <p:nvSpPr>
          <p:cNvPr id="13" name="TextBox 12"/>
          <p:cNvSpPr txBox="1"/>
          <p:nvPr/>
        </p:nvSpPr>
        <p:spPr>
          <a:xfrm>
            <a:off x="2005200" y="1296000"/>
            <a:ext cx="3793859" cy="839518"/>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8x8 input, 3x3 conv with s=1 p=1, then 2x2 max pooling with s=2. What is the feature-map size? And with a 3x3 conv, s=2, p=0?</a:t>
            </a:r>
          </a:p>
        </p:txBody>
      </p:sp>
      <p:sp>
        <p:nvSpPr>
          <p:cNvPr id="14" name="TextBox 13"/>
          <p:cNvSpPr txBox="1"/>
          <p:nvPr/>
        </p:nvSpPr>
        <p:spPr>
          <a:xfrm>
            <a:off x="997200" y="1908000"/>
            <a:ext cx="4801859" cy="1647000"/>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4x4; a further conv gives 2x2</a:t>
            </a:r>
          </a:p>
          <a:p>
            <a:pPr algn="l">
              <a:lnSpc>
                <a:spcPct val="134000"/>
              </a:lnSpc>
              <a:spcAft>
                <a:spcPts val="300"/>
              </a:spcAft>
            </a:pPr>
            <a:r>
              <a:rPr sz="1150" b="0" i="0">
                <a:solidFill>
                  <a:srgbClr val="1F2937"/>
                </a:solidFill>
                <a:latin typeface="Source Han Sans SC"/>
              </a:rPr>
              <a:t>B. stays 8x8; 4x4</a:t>
            </a:r>
          </a:p>
          <a:p>
            <a:pPr algn="l">
              <a:lnSpc>
                <a:spcPct val="134000"/>
              </a:lnSpc>
              <a:spcAft>
                <a:spcPts val="300"/>
              </a:spcAft>
            </a:pPr>
            <a:r>
              <a:rPr sz="1150" b="0" i="0">
                <a:solidFill>
                  <a:srgbClr val="1F2937"/>
                </a:solidFill>
                <a:latin typeface="Source Han Sans SC"/>
              </a:rPr>
              <a:t>C. 4x4; a further conv stays 4x4</a:t>
            </a:r>
          </a:p>
        </p:txBody>
      </p:sp>
      <p:sp>
        <p:nvSpPr>
          <p:cNvPr id="15" name="Rectangle 14"/>
          <p:cNvSpPr/>
          <p:nvPr/>
        </p:nvSpPr>
        <p:spPr>
          <a:xfrm>
            <a:off x="6195059" y="1134000"/>
            <a:ext cx="5197859" cy="2493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393059" y="1296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93059" y="1342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Q2</a:t>
            </a:r>
          </a:p>
        </p:txBody>
      </p:sp>
      <p:sp>
        <p:nvSpPr>
          <p:cNvPr id="18" name="TextBox 17"/>
          <p:cNvSpPr txBox="1"/>
          <p:nvPr/>
        </p:nvSpPr>
        <p:spPr>
          <a:xfrm>
            <a:off x="7401059" y="1296000"/>
            <a:ext cx="3793859" cy="1083358"/>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This week the CNN reaches 0.981 with 1,898 parameters and the dense net reaches 0.979 with 17,226. Is "the CNN is better" correct? What should you write?</a:t>
            </a:r>
          </a:p>
        </p:txBody>
      </p:sp>
      <p:sp>
        <p:nvSpPr>
          <p:cNvPr id="19" name="TextBox 18"/>
          <p:cNvSpPr txBox="1"/>
          <p:nvPr/>
        </p:nvSpPr>
        <p:spPr>
          <a:xfrm>
            <a:off x="6393059" y="1908000"/>
            <a:ext cx="4801859" cy="1647000"/>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Yes, 0.981 &gt; 0.979</a:t>
            </a:r>
          </a:p>
          <a:p>
            <a:pPr algn="l">
              <a:lnSpc>
                <a:spcPct val="134000"/>
              </a:lnSpc>
              <a:spcAft>
                <a:spcPts val="300"/>
              </a:spcAft>
            </a:pPr>
            <a:r>
              <a:rPr sz="1150" b="0" i="0">
                <a:solidFill>
                  <a:srgbClr val="1F2937"/>
                </a:solidFill>
                <a:latin typeface="Source Han Sans SC"/>
              </a:rPr>
              <a:t>B. A 0.002 gap is under the 0.008 sd → not observed, with 9x fewer parameters</a:t>
            </a:r>
          </a:p>
          <a:p>
            <a:pPr algn="l">
              <a:lnSpc>
                <a:spcPct val="134000"/>
              </a:lnSpc>
              <a:spcAft>
                <a:spcPts val="300"/>
              </a:spcAft>
            </a:pPr>
            <a:r>
              <a:rPr sz="1150" b="0" i="0">
                <a:solidFill>
                  <a:srgbClr val="1F2937"/>
                </a:solidFill>
                <a:latin typeface="Source Han Sans SC"/>
              </a:rPr>
              <a:t>C. Cannot tell without training time</a:t>
            </a:r>
          </a:p>
        </p:txBody>
      </p:sp>
      <p:sp>
        <p:nvSpPr>
          <p:cNvPr id="20" name="Rectangle 19"/>
          <p:cNvSpPr/>
          <p:nvPr/>
        </p:nvSpPr>
        <p:spPr>
          <a:xfrm>
            <a:off x="799200" y="3825000"/>
            <a:ext cx="5197859" cy="2493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97200" y="3986999"/>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97200" y="4033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Q3</a:t>
            </a:r>
          </a:p>
        </p:txBody>
      </p:sp>
      <p:sp>
        <p:nvSpPr>
          <p:cNvPr id="23" name="TextBox 22"/>
          <p:cNvSpPr txBox="1"/>
          <p:nvPr/>
        </p:nvSpPr>
        <p:spPr>
          <a:xfrm>
            <a:off x="2005200" y="3986999"/>
            <a:ext cx="3793859" cy="839518"/>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With ±1px augmentation, clean test accuracy drops to 0.9504 but shift-by-(-1) rises from 0.6481 to 0.9415. Did the change help?</a:t>
            </a:r>
          </a:p>
        </p:txBody>
      </p:sp>
      <p:sp>
        <p:nvSpPr>
          <p:cNvPr id="24" name="TextBox 23"/>
          <p:cNvSpPr txBox="1"/>
          <p:nvPr/>
        </p:nvSpPr>
        <p:spPr>
          <a:xfrm>
            <a:off x="997200" y="4599000"/>
            <a:ext cx="4801859" cy="1646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Yes, robustness improved a lot</a:t>
            </a:r>
          </a:p>
          <a:p>
            <a:pPr algn="l">
              <a:lnSpc>
                <a:spcPct val="134000"/>
              </a:lnSpc>
              <a:spcAft>
                <a:spcPts val="300"/>
              </a:spcAft>
            </a:pPr>
            <a:r>
              <a:rPr sz="1150" b="0" i="0">
                <a:solidFill>
                  <a:srgbClr val="1F2937"/>
                </a:solidFill>
                <a:latin typeface="Source Han Sans SC"/>
              </a:rPr>
              <a:t>B. No, clean accuracy dropped</a:t>
            </a:r>
          </a:p>
          <a:p>
            <a:pPr algn="l">
              <a:lnSpc>
                <a:spcPct val="134000"/>
              </a:lnSpc>
              <a:spcAft>
                <a:spcPts val="300"/>
              </a:spcAft>
            </a:pPr>
            <a:r>
              <a:rPr sz="1150" b="0" i="0">
                <a:solidFill>
                  <a:srgbClr val="1F2937"/>
                </a:solidFill>
                <a:latin typeface="Source Han Sans SC"/>
              </a:rPr>
              <a:t>C. It depends on whether real inputs are ever translated — a product question, not a model question</a:t>
            </a:r>
          </a:p>
        </p:txBody>
      </p:sp>
      <p:sp>
        <p:nvSpPr>
          <p:cNvPr id="25" name="Rectangle 24"/>
          <p:cNvSpPr/>
          <p:nvPr/>
        </p:nvSpPr>
        <p:spPr>
          <a:xfrm>
            <a:off x="6195059" y="3825000"/>
            <a:ext cx="5197859" cy="2493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93059" y="3986999"/>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93059" y="4033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Q4</a:t>
            </a:r>
          </a:p>
        </p:txBody>
      </p:sp>
      <p:sp>
        <p:nvSpPr>
          <p:cNvPr id="28" name="TextBox 27"/>
          <p:cNvSpPr txBox="1"/>
          <p:nvPr/>
        </p:nvSpPr>
        <p:spPr>
          <a:xfrm>
            <a:off x="7401059" y="3986999"/>
            <a:ext cx="3793859" cy="839518"/>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You want batch 128 but memory only fits 32. With 4x32 gradient accumulation, why is a weight of 1/4 not correct?</a:t>
            </a:r>
          </a:p>
        </p:txBody>
      </p:sp>
      <p:sp>
        <p:nvSpPr>
          <p:cNvPr id="29" name="TextBox 28"/>
          <p:cNvSpPr txBox="1"/>
          <p:nvPr/>
        </p:nvSpPr>
        <p:spPr>
          <a:xfrm>
            <a:off x="6393059" y="4599000"/>
            <a:ext cx="4801859" cy="1646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The last group of an epoch is unevenly split, so a plain average is biased</a:t>
            </a:r>
          </a:p>
          <a:p>
            <a:pPr algn="l">
              <a:lnSpc>
                <a:spcPct val="134000"/>
              </a:lnSpc>
              <a:spcAft>
                <a:spcPts val="300"/>
              </a:spcAft>
            </a:pPr>
            <a:r>
              <a:rPr sz="1150" b="0" i="0">
                <a:solidFill>
                  <a:srgbClr val="1F2937"/>
                </a:solidFill>
                <a:latin typeface="Source Han Sans SC"/>
              </a:rPr>
              <a:t>B. Because Adam does not converge</a:t>
            </a:r>
          </a:p>
          <a:p>
            <a:pPr algn="l">
              <a:lnSpc>
                <a:spcPct val="134000"/>
              </a:lnSpc>
              <a:spcAft>
                <a:spcPts val="300"/>
              </a:spcAft>
            </a:pPr>
            <a:r>
              <a:rPr sz="1150" b="0" i="0">
                <a:solidFill>
                  <a:srgbClr val="1F2937"/>
                </a:solidFill>
                <a:latin typeface="Source Han Sans SC"/>
              </a:rPr>
              <a:t>C. It is exactly equivalent; 1/4 is fine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Summary</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digits 8x8 · 70/15/15 · n_train=1258 · Adam 1e-3 · batch 64 · 120 epochs · 5 seeds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7</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31 / 32</a:t>
            </a:r>
          </a:p>
        </p:txBody>
      </p:sp>
      <p:sp>
        <p:nvSpPr>
          <p:cNvPr id="10" name="Rectangle 9"/>
          <p:cNvSpPr/>
          <p:nvPr/>
        </p:nvSpPr>
        <p:spPr>
          <a:xfrm>
            <a:off x="799200" y="11520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9200" y="13500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1</a:t>
            </a:r>
          </a:p>
        </p:txBody>
      </p:sp>
      <p:sp>
        <p:nvSpPr>
          <p:cNvPr id="13" name="TextBox 12"/>
          <p:cNvSpPr txBox="1"/>
          <p:nvPr/>
        </p:nvSpPr>
        <p:spPr>
          <a:xfrm>
            <a:off x="1429200" y="12780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A conv layer is not stronger; it trades a locality assumption for parameter efficiency. 9x fewer parameters, 0.002 accuracy difference.</a:t>
            </a:r>
          </a:p>
        </p:txBody>
      </p:sp>
      <p:sp>
        <p:nvSpPr>
          <p:cNvPr id="14" name="Rectangle 13"/>
          <p:cNvSpPr/>
          <p:nvPr/>
        </p:nvSpPr>
        <p:spPr>
          <a:xfrm>
            <a:off x="799200" y="19692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99200" y="19692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9200" y="21672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2</a:t>
            </a:r>
          </a:p>
        </p:txBody>
      </p:sp>
      <p:sp>
        <p:nvSpPr>
          <p:cNvPr id="17" name="TextBox 16"/>
          <p:cNvSpPr txBox="1"/>
          <p:nvPr/>
        </p:nvSpPr>
        <p:spPr>
          <a:xfrm>
            <a:off x="1429200" y="2095199"/>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Do the shape arithmetic before the code. Four formulas match real tensors; the receptive field covers the image by the second conv.</a:t>
            </a:r>
          </a:p>
        </p:txBody>
      </p:sp>
      <p:sp>
        <p:nvSpPr>
          <p:cNvPr id="18" name="Rectangle 17"/>
          <p:cNvSpPr/>
          <p:nvPr/>
        </p:nvSpPr>
        <p:spPr>
          <a:xfrm>
            <a:off x="799200" y="27864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99200" y="27864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9200" y="29844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3</a:t>
            </a:r>
          </a:p>
        </p:txBody>
      </p:sp>
      <p:sp>
        <p:nvSpPr>
          <p:cNvPr id="21" name="TextBox 20"/>
          <p:cNvSpPr txBox="1"/>
          <p:nvPr/>
        </p:nvSpPr>
        <p:spPr>
          <a:xfrm>
            <a:off x="1429200" y="29124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The pooling function is a CHOICE, not a default. Max against average is worth 4.1 points, five standard deviations.</a:t>
            </a:r>
          </a:p>
        </p:txBody>
      </p:sp>
      <p:sp>
        <p:nvSpPr>
          <p:cNvPr id="22" name="Rectangle 21"/>
          <p:cNvSpPr/>
          <p:nvPr/>
        </p:nvSpPr>
        <p:spPr>
          <a:xfrm>
            <a:off x="799200" y="36036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36036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99200" y="38016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4</a:t>
            </a:r>
          </a:p>
        </p:txBody>
      </p:sp>
      <p:sp>
        <p:nvSpPr>
          <p:cNvPr id="25" name="TextBox 24"/>
          <p:cNvSpPr txBox="1"/>
          <p:nvPr/>
        </p:nvSpPr>
        <p:spPr>
          <a:xfrm>
            <a:off x="1429200" y="37296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Augmentation buys robustness and pays clean accuracy: +29 points for -3. Whether to buy depends on whether inputs get translated.</a:t>
            </a:r>
          </a:p>
        </p:txBody>
      </p:sp>
      <p:sp>
        <p:nvSpPr>
          <p:cNvPr id="26" name="Rectangle 25"/>
          <p:cNvSpPr/>
          <p:nvPr/>
        </p:nvSpPr>
        <p:spPr>
          <a:xfrm>
            <a:off x="799200" y="44208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99200" y="44208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9200" y="46188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5</a:t>
            </a:r>
          </a:p>
        </p:txBody>
      </p:sp>
      <p:sp>
        <p:nvSpPr>
          <p:cNvPr id="29" name="TextBox 28"/>
          <p:cNvSpPr txBox="1"/>
          <p:nvPr/>
        </p:nvSpPr>
        <p:spPr>
          <a:xfrm>
            <a:off x="1429200" y="45468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"98%" is not a result. Confusion matrix, worst pair, concrete cases with probabilities, a testable hypothesis — all four, or it is not an error analysis.</a:t>
            </a:r>
          </a:p>
        </p:txBody>
      </p:sp>
      <p:sp>
        <p:nvSpPr>
          <p:cNvPr id="30" name="Rectangle 29"/>
          <p:cNvSpPr/>
          <p:nvPr/>
        </p:nvSpPr>
        <p:spPr>
          <a:xfrm>
            <a:off x="799200" y="52380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99200" y="52380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99200" y="54360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6</a:t>
            </a:r>
          </a:p>
        </p:txBody>
      </p:sp>
      <p:sp>
        <p:nvSpPr>
          <p:cNvPr id="33" name="TextBox 32"/>
          <p:cNvSpPr txBox="1"/>
          <p:nvPr/>
        </p:nvSpPr>
        <p:spPr>
          <a:xfrm>
            <a:off x="1429200" y="5363999"/>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Out of memory: drop the batch, then buy the effective batch back with accumulation. With the share-of-group weighting it reproduces the true batch exactly.</a:t>
            </a:r>
          </a:p>
        </p:txBody>
      </p:sp>
      <p:sp>
        <p:nvSpPr>
          <p:cNvPr id="34" name="Rectangle 33"/>
          <p:cNvSpPr/>
          <p:nvPr/>
        </p:nvSpPr>
        <p:spPr>
          <a:xfrm>
            <a:off x="7801200" y="1152000"/>
            <a:ext cx="3591719" cy="48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17200" y="1281599"/>
            <a:ext cx="3159719" cy="216000"/>
          </a:xfrm>
          <a:prstGeom prst="rect">
            <a:avLst/>
          </a:prstGeom>
          <a:noFill/>
        </p:spPr>
        <p:txBody>
          <a:bodyPr wrap="square" anchor="t" lIns="0" rIns="0" tIns="0" bIns="0">
            <a:spAutoFit/>
          </a:bodyPr>
          <a:lstStyle/>
          <a:p>
            <a:pPr algn="l">
              <a:lnSpc>
                <a:spcPct val="125000"/>
              </a:lnSpc>
            </a:pPr>
            <a:r>
              <a:rPr sz="1400" b="1" i="0">
                <a:solidFill>
                  <a:srgbClr val="FFFFFF"/>
                </a:solidFill>
                <a:latin typeface="Source Han Sans SC"/>
              </a:rPr>
              <a:t>After Class</a:t>
            </a:r>
          </a:p>
        </p:txBody>
      </p:sp>
      <p:sp>
        <p:nvSpPr>
          <p:cNvPr id="36" name="Rectangle 35"/>
          <p:cNvSpPr/>
          <p:nvPr/>
        </p:nvSpPr>
        <p:spPr>
          <a:xfrm>
            <a:off x="7801200" y="1818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17200" y="1969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Lab 6 · required</a:t>
            </a:r>
          </a:p>
        </p:txBody>
      </p:sp>
      <p:sp>
        <p:nvSpPr>
          <p:cNvPr id="38" name="TextBox 37"/>
          <p:cNvSpPr txBox="1"/>
          <p:nvPr/>
        </p:nvSpPr>
        <p:spPr>
          <a:xfrm>
            <a:off x="8017200" y="2221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CNN image classification with augmentation; training curves, confusion matrix, 3+ misclassified cases with probabilities and hypotheses. See the Lab 6 handout.</a:t>
            </a:r>
          </a:p>
        </p:txBody>
      </p:sp>
      <p:sp>
        <p:nvSpPr>
          <p:cNvPr id="39" name="Rectangle 38"/>
          <p:cNvSpPr/>
          <p:nvPr/>
        </p:nvSpPr>
        <p:spPr>
          <a:xfrm>
            <a:off x="7801200" y="2880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17200" y="3031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Capstone milestone M7</a:t>
            </a:r>
          </a:p>
        </p:txBody>
      </p:sp>
      <p:sp>
        <p:nvSpPr>
          <p:cNvPr id="41" name="TextBox 40"/>
          <p:cNvSpPr txBox="1"/>
          <p:nvPr/>
        </p:nvSpPr>
        <p:spPr>
          <a:xfrm>
            <a:off x="8017200" y="3283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Push: `python src/evaluate.py` prints the metric; model provenance recorded (which pretrained weights, which licence); error analysis names the worst class pair.</a:t>
            </a:r>
          </a:p>
        </p:txBody>
      </p:sp>
      <p:sp>
        <p:nvSpPr>
          <p:cNvPr id="42" name="Rectangle 41"/>
          <p:cNvSpPr/>
          <p:nvPr/>
        </p:nvSpPr>
        <p:spPr>
          <a:xfrm>
            <a:off x="7801200" y="3941999"/>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017200" y="4093199"/>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After-class prediction (5 lines)</a:t>
            </a:r>
          </a:p>
        </p:txBody>
      </p:sp>
      <p:sp>
        <p:nvSpPr>
          <p:cNvPr id="44" name="TextBox 43"/>
          <p:cNvSpPr txBox="1"/>
          <p:nvPr/>
        </p:nvSpPr>
        <p:spPr>
          <a:xfrm>
            <a:off x="8017200" y="4345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If my images became 256x256, what new problems would this week's architecture have? Think about receptive field, parameters, memory and the number of pooling steps.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07</a:t>
            </a:r>
          </a:p>
        </p:txBody>
      </p:sp>
      <p:sp>
        <p:nvSpPr>
          <p:cNvPr id="5" name="Rectangle 4"/>
          <p:cNvSpPr/>
          <p:nvPr/>
        </p:nvSpPr>
        <p:spPr>
          <a:xfrm>
            <a:off x="856800" y="936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1029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W7</a:t>
            </a:r>
          </a:p>
        </p:txBody>
      </p:sp>
      <p:sp>
        <p:nvSpPr>
          <p:cNvPr id="7" name="Rectangle 6"/>
          <p:cNvSpPr/>
          <p:nvPr/>
        </p:nvSpPr>
        <p:spPr>
          <a:xfrm>
            <a:off x="799200" y="15840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908000"/>
            <a:ext cx="8640000" cy="1980000"/>
          </a:xfrm>
          <a:prstGeom prst="rect">
            <a:avLst/>
          </a:prstGeom>
          <a:noFill/>
        </p:spPr>
        <p:txBody>
          <a:bodyPr wrap="square" anchor="t" lIns="0" rIns="0" tIns="0" bIns="0">
            <a:spAutoFit/>
          </a:bodyPr>
          <a:lstStyle/>
          <a:p>
            <a:pPr algn="l">
              <a:lnSpc>
                <a:spcPct val="130000"/>
              </a:lnSpc>
            </a:pPr>
            <a:r>
              <a:rPr sz="2700" b="1" i="0">
                <a:solidFill>
                  <a:srgbClr val="0E3F8C"/>
                </a:solidFill>
                <a:latin typeface="Source Han Sans SC"/>
              </a:rPr>
              <a:t>"How accurate is it" is an incomplete question. The complete one: which two classes does it hesitate between, and what do the wrong ones look like?</a:t>
            </a:r>
          </a:p>
        </p:txBody>
      </p:sp>
      <p:sp>
        <p:nvSpPr>
          <p:cNvPr id="9" name="TextBox 8"/>
          <p:cNvSpPr txBox="1"/>
          <p:nvPr/>
        </p:nvSpPr>
        <p:spPr>
          <a:xfrm>
            <a:off x="799200" y="3384000"/>
            <a:ext cx="8640000" cy="432000"/>
          </a:xfrm>
          <a:prstGeom prst="rect">
            <a:avLst/>
          </a:prstGeom>
          <a:noFill/>
        </p:spPr>
        <p:txBody>
          <a:bodyPr wrap="square" anchor="t" lIns="0" rIns="0" tIns="0" bIns="0">
            <a:spAutoFit/>
          </a:bodyPr>
          <a:lstStyle/>
          <a:p>
            <a:pPr algn="l">
              <a:lnSpc>
                <a:spcPct val="125000"/>
              </a:lnSpc>
            </a:pPr>
            <a:r>
              <a:rPr sz="1350" b="0" i="0">
                <a:solidFill>
                  <a:srgbClr val="6B7280"/>
                </a:solidFill>
                <a:latin typeface="Source Han Sans SC"/>
              </a:rPr>
              <a:t>Every number this week comes from `scripts/w7_cnn_experiment.py` -&gt; `outputs/w7_cnn.json` (5 architectures x 5 seeds, plus the shift probe, the confusion matrix, the accumulation probe and the memory sweep).</a:t>
            </a:r>
          </a:p>
        </p:txBody>
      </p:sp>
      <p:sp>
        <p:nvSpPr>
          <p:cNvPr id="10" name="TextBox 9"/>
          <p:cNvSpPr txBox="1"/>
          <p:nvPr/>
        </p:nvSpPr>
        <p:spPr>
          <a:xfrm>
            <a:off x="799200" y="4176000"/>
            <a:ext cx="7920000" cy="324000"/>
          </a:xfrm>
          <a:prstGeom prst="rect">
            <a:avLst/>
          </a:prstGeom>
          <a:noFill/>
        </p:spPr>
        <p:txBody>
          <a:bodyPr wrap="square" anchor="t" lIns="0" rIns="0" tIns="0" bIns="0">
            <a:spAutoFit/>
          </a:bodyPr>
          <a:lstStyle/>
          <a:p>
            <a:pPr algn="l">
              <a:lnSpc>
                <a:spcPct val="125000"/>
              </a:lnSpc>
            </a:pPr>
            <a:r>
              <a:rPr sz="2200" b="1" i="0">
                <a:solidFill>
                  <a:srgbClr val="1F2937"/>
                </a:solidFill>
                <a:latin typeface="Source Han Sans SC"/>
              </a:rPr>
              <a:t>Thank you</a:t>
            </a:r>
          </a:p>
        </p:txBody>
      </p:sp>
      <p:sp>
        <p:nvSpPr>
          <p:cNvPr id="11" name="Rectangle 10"/>
          <p:cNvSpPr/>
          <p:nvPr/>
        </p:nvSpPr>
        <p:spPr>
          <a:xfrm>
            <a:off x="799200" y="4788000"/>
            <a:ext cx="10593719" cy="7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200" y="4903200"/>
            <a:ext cx="10089720" cy="180000"/>
          </a:xfrm>
          <a:prstGeom prst="rect">
            <a:avLst/>
          </a:prstGeom>
          <a:noFill/>
        </p:spPr>
        <p:txBody>
          <a:bodyPr wrap="square" anchor="t" lIns="0" rIns="0" tIns="0" bIns="0">
            <a:spAutoFit/>
          </a:bodyPr>
          <a:lstStyle/>
          <a:p>
            <a:pPr algn="l">
              <a:lnSpc>
                <a:spcPct val="125000"/>
              </a:lnSpc>
            </a:pPr>
            <a:r>
              <a:rPr sz="1100" b="1" i="0">
                <a:solidFill>
                  <a:srgbClr val="1E4FA8"/>
                </a:solidFill>
                <a:latin typeface="Source Han Sans SC"/>
              </a:rPr>
              <a:t>Next week</a:t>
            </a:r>
          </a:p>
        </p:txBody>
      </p:sp>
      <p:sp>
        <p:nvSpPr>
          <p:cNvPr id="13" name="TextBox 12"/>
          <p:cNvSpPr txBox="1"/>
          <p:nvPr/>
        </p:nvSpPr>
        <p:spPr>
          <a:xfrm>
            <a:off x="1051200" y="5094000"/>
            <a:ext cx="10089720" cy="324000"/>
          </a:xfrm>
          <a:prstGeom prst="rect">
            <a:avLst/>
          </a:prstGeom>
          <a:noFill/>
        </p:spPr>
        <p:txBody>
          <a:bodyPr wrap="square" anchor="t" lIns="0" rIns="0" tIns="0" bIns="0">
            <a:spAutoFit/>
          </a:bodyPr>
          <a:lstStyle/>
          <a:p>
            <a:pPr algn="l">
              <a:lnSpc>
                <a:spcPct val="125000"/>
              </a:lnSpc>
            </a:pPr>
            <a:r>
              <a:rPr sz="1400" b="0" i="0">
                <a:solidFill>
                  <a:srgbClr val="0E3F8C"/>
                </a:solidFill>
                <a:latin typeface="Source Han Sans SC"/>
              </a:rPr>
              <a:t>Week 8 · Sequence Models and Text Data — how text becomes a tensor, why padding and masking quietly eat your accuracy, and what LSTM gates solve. Lab 7: tokenise → vocabulary → embeddings → LSTM → classify.</a:t>
            </a:r>
          </a:p>
        </p:txBody>
      </p:sp>
      <p:sp>
        <p:nvSpPr>
          <p:cNvPr id="14" name="TextBox 13"/>
          <p:cNvSpPr txBox="1"/>
          <p:nvPr/>
        </p:nvSpPr>
        <p:spPr>
          <a:xfrm>
            <a:off x="799200" y="6494400"/>
            <a:ext cx="720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 Lecture · 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