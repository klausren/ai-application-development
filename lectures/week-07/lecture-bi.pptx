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Dense 64-128-64-10 / 全连接 64-128-64-10</c:v>
                </c:pt>
              </c:strCache>
            </c:strRef>
          </c:tx>
          <c:spPr>
            <a:ln w="22225">
              <a:solidFill>
                <a:srgbClr val="1E4FA8"/>
              </a:solidFill>
            </a:ln>
          </c:spPr>
          <c:cat>
            <c:strRef>
              <c:f>Sheet1!$A$2:$A$21</c:f>
              <c:strCache>
                <c:ptCount val="20"/>
                <c:pt idx="0">
                  <c:v>1</c:v>
                </c:pt>
                <c:pt idx="1">
                  <c:v>7</c:v>
                </c:pt>
                <c:pt idx="2">
                  <c:v>13</c:v>
                </c:pt>
                <c:pt idx="3">
                  <c:v>19</c:v>
                </c:pt>
                <c:pt idx="4">
                  <c:v>25</c:v>
                </c:pt>
                <c:pt idx="5">
                  <c:v>31</c:v>
                </c:pt>
                <c:pt idx="6">
                  <c:v>37</c:v>
                </c:pt>
                <c:pt idx="7">
                  <c:v>43</c:v>
                </c:pt>
                <c:pt idx="8">
                  <c:v>49</c:v>
                </c:pt>
                <c:pt idx="9">
                  <c:v>55</c:v>
                </c:pt>
                <c:pt idx="10">
                  <c:v>61</c:v>
                </c:pt>
                <c:pt idx="11">
                  <c:v>67</c:v>
                </c:pt>
                <c:pt idx="12">
                  <c:v>73</c:v>
                </c:pt>
                <c:pt idx="13">
                  <c:v>79</c:v>
                </c:pt>
                <c:pt idx="14">
                  <c:v>85</c:v>
                </c:pt>
                <c:pt idx="15">
                  <c:v>91</c:v>
                </c:pt>
                <c:pt idx="16">
                  <c:v>97</c:v>
                </c:pt>
                <c:pt idx="17">
                  <c:v>103</c:v>
                </c:pt>
                <c:pt idx="18">
                  <c:v>109</c:v>
                </c:pt>
                <c:pt idx="19">
                  <c:v>115</c:v>
                </c:pt>
              </c:strCache>
            </c:strRef>
          </c:cat>
          <c:val>
            <c:numRef>
              <c:f>Sheet1!$B$2:$B$21</c:f>
              <c:numCache>
                <c:formatCode>General</c:formatCode>
                <c:ptCount val="20"/>
                <c:pt idx="0">
                  <c:v>0.7037</c:v>
                </c:pt>
                <c:pt idx="1">
                  <c:v>0.9037</c:v>
                </c:pt>
                <c:pt idx="2">
                  <c:v>0.9519</c:v>
                </c:pt>
                <c:pt idx="3">
                  <c:v>0.9593</c:v>
                </c:pt>
                <c:pt idx="4">
                  <c:v>0.9556</c:v>
                </c:pt>
                <c:pt idx="5">
                  <c:v>0.9593</c:v>
                </c:pt>
                <c:pt idx="6">
                  <c:v>0.9704</c:v>
                </c:pt>
                <c:pt idx="7">
                  <c:v>0.9741</c:v>
                </c:pt>
                <c:pt idx="8">
                  <c:v>0.9593</c:v>
                </c:pt>
                <c:pt idx="9">
                  <c:v>0.9741</c:v>
                </c:pt>
                <c:pt idx="10">
                  <c:v>0.9704</c:v>
                </c:pt>
                <c:pt idx="11">
                  <c:v>0.9704</c:v>
                </c:pt>
                <c:pt idx="12">
                  <c:v>0.9704</c:v>
                </c:pt>
                <c:pt idx="13">
                  <c:v>0.9741</c:v>
                </c:pt>
                <c:pt idx="14">
                  <c:v>0.9704</c:v>
                </c:pt>
                <c:pt idx="15">
                  <c:v>0.9741</c:v>
                </c:pt>
                <c:pt idx="16">
                  <c:v>0.9741</c:v>
                </c:pt>
                <c:pt idx="17">
                  <c:v>0.9741</c:v>
                </c:pt>
                <c:pt idx="18">
                  <c:v>0.9741</c:v>
                </c:pt>
                <c:pt idx="19">
                  <c:v>0.9741</c:v>
                </c:pt>
              </c:numCache>
            </c:numRef>
          </c:val>
          <c:smooth val="0"/>
        </c:ser>
        <c:ser>
          <c:idx val="1"/>
          <c:order val="1"/>
          <c:tx>
            <c:strRef>
              <c:f>Sheet1!$C$1</c:f>
              <c:strCache>
                <c:ptCount val="1"/>
                <c:pt idx="0">
                  <c:v>CNN 8/16</c:v>
                </c:pt>
              </c:strCache>
            </c:strRef>
          </c:tx>
          <c:spPr>
            <a:ln w="31750">
              <a:solidFill>
                <a:srgbClr val="059669"/>
              </a:solidFill>
            </a:ln>
          </c:spPr>
          <c:cat>
            <c:strRef>
              <c:f>Sheet1!$A$2:$A$21</c:f>
              <c:strCache>
                <c:ptCount val="20"/>
                <c:pt idx="0">
                  <c:v>1</c:v>
                </c:pt>
                <c:pt idx="1">
                  <c:v>7</c:v>
                </c:pt>
                <c:pt idx="2">
                  <c:v>13</c:v>
                </c:pt>
                <c:pt idx="3">
                  <c:v>19</c:v>
                </c:pt>
                <c:pt idx="4">
                  <c:v>25</c:v>
                </c:pt>
                <c:pt idx="5">
                  <c:v>31</c:v>
                </c:pt>
                <c:pt idx="6">
                  <c:v>37</c:v>
                </c:pt>
                <c:pt idx="7">
                  <c:v>43</c:v>
                </c:pt>
                <c:pt idx="8">
                  <c:v>49</c:v>
                </c:pt>
                <c:pt idx="9">
                  <c:v>55</c:v>
                </c:pt>
                <c:pt idx="10">
                  <c:v>61</c:v>
                </c:pt>
                <c:pt idx="11">
                  <c:v>67</c:v>
                </c:pt>
                <c:pt idx="12">
                  <c:v>73</c:v>
                </c:pt>
                <c:pt idx="13">
                  <c:v>79</c:v>
                </c:pt>
                <c:pt idx="14">
                  <c:v>85</c:v>
                </c:pt>
                <c:pt idx="15">
                  <c:v>91</c:v>
                </c:pt>
                <c:pt idx="16">
                  <c:v>97</c:v>
                </c:pt>
                <c:pt idx="17">
                  <c:v>103</c:v>
                </c:pt>
                <c:pt idx="18">
                  <c:v>109</c:v>
                </c:pt>
                <c:pt idx="19">
                  <c:v>115</c:v>
                </c:pt>
              </c:strCache>
            </c:strRef>
          </c:cat>
          <c:val>
            <c:numRef>
              <c:f>Sheet1!$C$2:$C$21</c:f>
              <c:numCache>
                <c:formatCode>General</c:formatCode>
                <c:ptCount val="20"/>
                <c:pt idx="0">
                  <c:v>0.3111</c:v>
                </c:pt>
                <c:pt idx="1">
                  <c:v>0.8259</c:v>
                </c:pt>
                <c:pt idx="2">
                  <c:v>0.8852</c:v>
                </c:pt>
                <c:pt idx="3">
                  <c:v>0.9296</c:v>
                </c:pt>
                <c:pt idx="4">
                  <c:v>0.9407</c:v>
                </c:pt>
                <c:pt idx="5">
                  <c:v>0.9556</c:v>
                </c:pt>
                <c:pt idx="6">
                  <c:v>0.963</c:v>
                </c:pt>
                <c:pt idx="7">
                  <c:v>0.9704</c:v>
                </c:pt>
                <c:pt idx="8">
                  <c:v>0.9667</c:v>
                </c:pt>
                <c:pt idx="9">
                  <c:v>0.9667</c:v>
                </c:pt>
                <c:pt idx="10">
                  <c:v>0.9704</c:v>
                </c:pt>
                <c:pt idx="11">
                  <c:v>0.9704</c:v>
                </c:pt>
                <c:pt idx="12">
                  <c:v>0.9704</c:v>
                </c:pt>
                <c:pt idx="13">
                  <c:v>0.9667</c:v>
                </c:pt>
                <c:pt idx="14">
                  <c:v>0.9741</c:v>
                </c:pt>
                <c:pt idx="15">
                  <c:v>0.9741</c:v>
                </c:pt>
                <c:pt idx="16">
                  <c:v>0.9667</c:v>
                </c:pt>
                <c:pt idx="17">
                  <c:v>0.9741</c:v>
                </c:pt>
                <c:pt idx="18">
                  <c:v>0.9741</c:v>
                </c:pt>
                <c:pt idx="19">
                  <c:v>0.9741</c:v>
                </c:pt>
              </c:numCache>
            </c:numRef>
          </c:val>
          <c:smooth val="0"/>
        </c:ser>
        <c:ser>
          <c:idx val="2"/>
          <c:order val="2"/>
          <c:tx>
            <c:strRef>
              <c:f>Sheet1!$D$1</c:f>
              <c:strCache>
                <c:ptCount val="1"/>
                <c:pt idx="0">
                  <c:v>CNN + ±1px augmentation / CNN + ±1px 增强</c:v>
                </c:pt>
              </c:strCache>
            </c:strRef>
          </c:tx>
          <c:spPr>
            <a:ln w="22225">
              <a:solidFill>
                <a:srgbClr val="D97706"/>
              </a:solidFill>
            </a:ln>
          </c:spPr>
          <c:cat>
            <c:strRef>
              <c:f>Sheet1!$A$2:$A$21</c:f>
              <c:strCache>
                <c:ptCount val="20"/>
                <c:pt idx="0">
                  <c:v>1</c:v>
                </c:pt>
                <c:pt idx="1">
                  <c:v>7</c:v>
                </c:pt>
                <c:pt idx="2">
                  <c:v>13</c:v>
                </c:pt>
                <c:pt idx="3">
                  <c:v>19</c:v>
                </c:pt>
                <c:pt idx="4">
                  <c:v>25</c:v>
                </c:pt>
                <c:pt idx="5">
                  <c:v>31</c:v>
                </c:pt>
                <c:pt idx="6">
                  <c:v>37</c:v>
                </c:pt>
                <c:pt idx="7">
                  <c:v>43</c:v>
                </c:pt>
                <c:pt idx="8">
                  <c:v>49</c:v>
                </c:pt>
                <c:pt idx="9">
                  <c:v>55</c:v>
                </c:pt>
                <c:pt idx="10">
                  <c:v>61</c:v>
                </c:pt>
                <c:pt idx="11">
                  <c:v>67</c:v>
                </c:pt>
                <c:pt idx="12">
                  <c:v>73</c:v>
                </c:pt>
                <c:pt idx="13">
                  <c:v>79</c:v>
                </c:pt>
                <c:pt idx="14">
                  <c:v>85</c:v>
                </c:pt>
                <c:pt idx="15">
                  <c:v>91</c:v>
                </c:pt>
                <c:pt idx="16">
                  <c:v>97</c:v>
                </c:pt>
                <c:pt idx="17">
                  <c:v>103</c:v>
                </c:pt>
                <c:pt idx="18">
                  <c:v>109</c:v>
                </c:pt>
                <c:pt idx="19">
                  <c:v>115</c:v>
                </c:pt>
              </c:strCache>
            </c:strRef>
          </c:cat>
          <c:val>
            <c:numRef>
              <c:f>Sheet1!$D$2:$D$21</c:f>
              <c:numCache>
                <c:formatCode>General</c:formatCode>
                <c:ptCount val="20"/>
                <c:pt idx="0">
                  <c:v>0.1889</c:v>
                </c:pt>
                <c:pt idx="1">
                  <c:v>0.6407</c:v>
                </c:pt>
                <c:pt idx="2">
                  <c:v>0.7222</c:v>
                </c:pt>
                <c:pt idx="3">
                  <c:v>0.7667</c:v>
                </c:pt>
                <c:pt idx="4">
                  <c:v>0.7519</c:v>
                </c:pt>
                <c:pt idx="5">
                  <c:v>0.8407</c:v>
                </c:pt>
                <c:pt idx="6">
                  <c:v>0.8222</c:v>
                </c:pt>
                <c:pt idx="7">
                  <c:v>0.8037</c:v>
                </c:pt>
                <c:pt idx="8">
                  <c:v>0.8481</c:v>
                </c:pt>
                <c:pt idx="9">
                  <c:v>0.8519</c:v>
                </c:pt>
                <c:pt idx="10">
                  <c:v>0.8444</c:v>
                </c:pt>
                <c:pt idx="11">
                  <c:v>0.8296</c:v>
                </c:pt>
                <c:pt idx="12">
                  <c:v>0.8667</c:v>
                </c:pt>
                <c:pt idx="13">
                  <c:v>0.8667</c:v>
                </c:pt>
                <c:pt idx="14">
                  <c:v>0.8593</c:v>
                </c:pt>
                <c:pt idx="15">
                  <c:v>0.8815</c:v>
                </c:pt>
                <c:pt idx="16">
                  <c:v>0.8667</c:v>
                </c:pt>
                <c:pt idx="17">
                  <c:v>0.8926</c:v>
                </c:pt>
                <c:pt idx="18">
                  <c:v>0.8926</c:v>
                </c:pt>
                <c:pt idx="19">
                  <c:v>0.9</c:v>
                </c:pt>
              </c:numCache>
            </c:numRef>
          </c:val>
          <c:smooth val="0"/>
        </c:ser>
        <c:marker val="1"/>
        <c:smooth val="0"/>
        <c:axId val="2118791784"/>
        <c:axId val="2140495176"/>
      </c:lineChart>
      <c:catAx>
        <c:axId val="2118791784"/>
        <c:scaling>
          <c:orientation val="minMax"/>
        </c:scaling>
        <c:delete val="0"/>
        <c:axPos val="b"/>
        <c:title>
          <c:tx>
            <c:rich>
              <a:bodyPr/>
              <a:lstStyle/>
              <a:p>
                <a:r>
                  <a:t>epoch / 训练轮次 epoch</a:t>
                </a:r>
              </a:p>
            </c:rich>
          </c:tx>
          <c:layout/>
          <c:overlay val="0"/>
        </c:title>
        <c:majorTickMark val="out"/>
        <c:minorTickMark val="none"/>
        <c:tickLblPos val="nextTo"/>
        <c:crossAx val="2140495176"/>
        <c:crosses val="autoZero"/>
        <c:auto val="1"/>
        <c:lblAlgn val="ctr"/>
        <c:lblOffset val="100"/>
        <c:noMultiLvlLbl val="0"/>
      </c:catAx>
      <c:valAx>
        <c:axId val="2140495176"/>
        <c:scaling/>
        <c:delete val="0"/>
        <c:axPos val="l"/>
        <c:majorGridlines/>
        <c:title>
          <c:tx>
            <c:rich>
              <a:bodyPr/>
              <a:lstStyle/>
              <a:p>
                <a:r>
                  <a:t>validation accuracy / 验证准确率</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Dense / 全连接</c:v>
                </c:pt>
              </c:strCache>
            </c:strRef>
          </c:tx>
          <c:spPr>
            <a:ln w="22225">
              <a:solidFill>
                <a:srgbClr val="B91C1C"/>
              </a:solidFill>
            </a:ln>
          </c:spPr>
          <c:cat>
            <c:strRef>
              <c:f>Sheet1!$A$2:$A$6</c:f>
              <c:strCache>
                <c:ptCount val="5"/>
                <c:pt idx="0">
                  <c:v>-2</c:v>
                </c:pt>
                <c:pt idx="1">
                  <c:v>-1</c:v>
                </c:pt>
                <c:pt idx="2">
                  <c:v>0</c:v>
                </c:pt>
                <c:pt idx="3">
                  <c:v>+1</c:v>
                </c:pt>
                <c:pt idx="4">
                  <c:v>+2</c:v>
                </c:pt>
              </c:strCache>
            </c:strRef>
          </c:cat>
          <c:val>
            <c:numRef>
              <c:f>Sheet1!$B$2:$B$6</c:f>
              <c:numCache>
                <c:formatCode>General</c:formatCode>
                <c:ptCount val="5"/>
                <c:pt idx="0">
                  <c:v>0.1667</c:v>
                </c:pt>
                <c:pt idx="1">
                  <c:v>0.4555</c:v>
                </c:pt>
                <c:pt idx="2">
                  <c:v>0.9785</c:v>
                </c:pt>
                <c:pt idx="3">
                  <c:v>0.5089</c:v>
                </c:pt>
                <c:pt idx="4">
                  <c:v>0.1822</c:v>
                </c:pt>
              </c:numCache>
            </c:numRef>
          </c:val>
          <c:smooth val="0"/>
        </c:ser>
        <c:ser>
          <c:idx val="1"/>
          <c:order val="1"/>
          <c:tx>
            <c:strRef>
              <c:f>Sheet1!$C$1</c:f>
              <c:strCache>
                <c:ptCount val="1"/>
                <c:pt idx="0">
                  <c:v>CNN 8/16</c:v>
                </c:pt>
              </c:strCache>
            </c:strRef>
          </c:tx>
          <c:spPr>
            <a:ln w="22225">
              <a:solidFill>
                <a:srgbClr val="1E4FA8"/>
              </a:solidFill>
            </a:ln>
          </c:spPr>
          <c:cat>
            <c:strRef>
              <c:f>Sheet1!$A$2:$A$6</c:f>
              <c:strCache>
                <c:ptCount val="5"/>
                <c:pt idx="0">
                  <c:v>-2</c:v>
                </c:pt>
                <c:pt idx="1">
                  <c:v>-1</c:v>
                </c:pt>
                <c:pt idx="2">
                  <c:v>0</c:v>
                </c:pt>
                <c:pt idx="3">
                  <c:v>+1</c:v>
                </c:pt>
                <c:pt idx="4">
                  <c:v>+2</c:v>
                </c:pt>
              </c:strCache>
            </c:strRef>
          </c:cat>
          <c:val>
            <c:numRef>
              <c:f>Sheet1!$C$2:$C$6</c:f>
              <c:numCache>
                <c:formatCode>General</c:formatCode>
                <c:ptCount val="5"/>
                <c:pt idx="0">
                  <c:v>0.2348</c:v>
                </c:pt>
                <c:pt idx="1">
                  <c:v>0.6481</c:v>
                </c:pt>
                <c:pt idx="2">
                  <c:v>0.9808</c:v>
                </c:pt>
                <c:pt idx="3">
                  <c:v>0.6504</c:v>
                </c:pt>
                <c:pt idx="4">
                  <c:v>0.2778</c:v>
                </c:pt>
              </c:numCache>
            </c:numRef>
          </c:val>
          <c:smooth val="0"/>
        </c:ser>
        <c:ser>
          <c:idx val="2"/>
          <c:order val="2"/>
          <c:tx>
            <c:strRef>
              <c:f>Sheet1!$D$1</c:f>
              <c:strCache>
                <c:ptCount val="1"/>
                <c:pt idx="0">
                  <c:v>CNN + ±1px augmentation / CNN + ±1px 增强</c:v>
                </c:pt>
              </c:strCache>
            </c:strRef>
          </c:tx>
          <c:spPr>
            <a:ln w="31750">
              <a:solidFill>
                <a:srgbClr val="059669"/>
              </a:solidFill>
            </a:ln>
          </c:spPr>
          <c:cat>
            <c:strRef>
              <c:f>Sheet1!$A$2:$A$6</c:f>
              <c:strCache>
                <c:ptCount val="5"/>
                <c:pt idx="0">
                  <c:v>-2</c:v>
                </c:pt>
                <c:pt idx="1">
                  <c:v>-1</c:v>
                </c:pt>
                <c:pt idx="2">
                  <c:v>0</c:v>
                </c:pt>
                <c:pt idx="3">
                  <c:v>+1</c:v>
                </c:pt>
                <c:pt idx="4">
                  <c:v>+2</c:v>
                </c:pt>
              </c:strCache>
            </c:strRef>
          </c:cat>
          <c:val>
            <c:numRef>
              <c:f>Sheet1!$D$2:$D$6</c:f>
              <c:numCache>
                <c:formatCode>General</c:formatCode>
                <c:ptCount val="5"/>
                <c:pt idx="0">
                  <c:v>0.517</c:v>
                </c:pt>
                <c:pt idx="1">
                  <c:v>0.9415</c:v>
                </c:pt>
                <c:pt idx="2">
                  <c:v>0.9504</c:v>
                </c:pt>
                <c:pt idx="3">
                  <c:v>0.9526</c:v>
                </c:pt>
                <c:pt idx="4">
                  <c:v>0.5518</c:v>
                </c:pt>
              </c:numCache>
            </c:numRef>
          </c:val>
          <c:smooth val="0"/>
        </c:ser>
        <c:marker val="1"/>
        <c:smooth val="0"/>
        <c:axId val="2118791784"/>
        <c:axId val="2140495176"/>
      </c:lineChart>
      <c:catAx>
        <c:axId val="2118791784"/>
        <c:scaling>
          <c:orientation val="minMax"/>
        </c:scaling>
        <c:delete val="0"/>
        <c:axPos val="b"/>
        <c:title>
          <c:tx>
            <c:rich>
              <a:bodyPr/>
              <a:lstStyle/>
              <a:p>
                <a:r>
                  <a:t>test-time shift dx (columns) / 测试时平移 dx（列）</a:t>
                </a:r>
              </a:p>
            </c:rich>
          </c:tx>
          <c:layout/>
          <c:overlay val="0"/>
        </c:title>
        <c:majorTickMark val="out"/>
        <c:minorTickMark val="none"/>
        <c:tickLblPos val="nextTo"/>
        <c:crossAx val="2140495176"/>
        <c:crosses val="autoZero"/>
        <c:auto val="1"/>
        <c:lblAlgn val="ctr"/>
        <c:lblOffset val="100"/>
        <c:noMultiLvlLbl val="0"/>
      </c:catAx>
      <c:valAx>
        <c:axId val="2140495176"/>
        <c:scaling>
          <c:max val="1.0"/>
        </c:scaling>
        <c:delete val="0"/>
        <c:axPos val="l"/>
        <c:majorGridlines/>
        <c:title>
          <c:tx>
            <c:rich>
              <a:bodyPr/>
              <a:lstStyle/>
              <a:p>
                <a:r>
                  <a:t>test accuracy / 测试准确率</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peak memory over baseline (MB) / 超出基线的峰值内存（MB）</c:v>
                </c:pt>
              </c:strCache>
            </c:strRef>
          </c:tx>
          <c:spPr>
            <a:ln w="31750">
              <a:solidFill>
                <a:srgbClr val="D97706"/>
              </a:solidFill>
            </a:ln>
          </c:spPr>
          <c:cat>
            <c:strRef>
              <c:f>Sheet1!$A$2:$A$7</c:f>
              <c:strCache>
                <c:ptCount val="6"/>
                <c:pt idx="0">
                  <c:v>32</c:v>
                </c:pt>
                <c:pt idx="1">
                  <c:v>64</c:v>
                </c:pt>
                <c:pt idx="2">
                  <c:v>128</c:v>
                </c:pt>
                <c:pt idx="3">
                  <c:v>256</c:v>
                </c:pt>
                <c:pt idx="4">
                  <c:v>512</c:v>
                </c:pt>
                <c:pt idx="5">
                  <c:v>1024</c:v>
                </c:pt>
              </c:strCache>
            </c:strRef>
          </c:cat>
          <c:val>
            <c:numRef>
              <c:f>Sheet1!$B$2:$B$7</c:f>
              <c:numCache>
                <c:formatCode>General</c:formatCode>
                <c:ptCount val="6"/>
                <c:pt idx="0">
                  <c:v>83.6</c:v>
                </c:pt>
                <c:pt idx="1">
                  <c:v>91.3</c:v>
                </c:pt>
                <c:pt idx="2">
                  <c:v>104.3</c:v>
                </c:pt>
                <c:pt idx="3">
                  <c:v>129.7</c:v>
                </c:pt>
                <c:pt idx="4">
                  <c:v>176.5</c:v>
                </c:pt>
                <c:pt idx="5">
                  <c:v>275.5</c:v>
                </c:pt>
              </c:numCache>
            </c:numRef>
          </c:val>
          <c:smooth val="0"/>
        </c:ser>
        <c:marker val="1"/>
        <c:smooth val="0"/>
        <c:axId val="2118791784"/>
        <c:axId val="2140495176"/>
      </c:lineChart>
      <c:catAx>
        <c:axId val="2118791784"/>
        <c:scaling>
          <c:orientation val="minMax"/>
        </c:scaling>
        <c:delete val="0"/>
        <c:axPos val="b"/>
        <c:title>
          <c:tx>
            <c:rich>
              <a:bodyPr/>
              <a:lstStyle/>
              <a:p>
                <a:r>
                  <a:t>batch size</a:t>
                </a:r>
              </a:p>
            </c:rich>
          </c:tx>
          <c:layout/>
          <c:overlay val="0"/>
        </c:title>
        <c:majorTickMark val="out"/>
        <c:minorTickMark val="none"/>
        <c:tickLblPos val="nextTo"/>
        <c:crossAx val="2140495176"/>
        <c:crosses val="autoZero"/>
        <c:auto val="1"/>
        <c:lblAlgn val="ctr"/>
        <c:lblOffset val="100"/>
        <c:noMultiLvlLbl val="0"/>
      </c:catAx>
      <c:valAx>
        <c:axId val="2140495176"/>
        <c:scaling/>
        <c:delete val="0"/>
        <c:axPos val="l"/>
        <c:majorGridlines/>
        <c:title>
          <c:tx>
            <c:rich>
              <a:bodyPr/>
              <a:lstStyle/>
              <a:p>
                <a:r>
                  <a:t>MB over baseline / 峰值内存增量 MB</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33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33200"/>
            <a:ext cx="12192119" cy="576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096059" y="856800"/>
            <a:ext cx="5296859" cy="4572000"/>
          </a:xfrm>
          <a:prstGeom prst="rect">
            <a:avLst/>
          </a:prstGeom>
          <a:noFill/>
        </p:spPr>
        <p:txBody>
          <a:bodyPr wrap="square" anchor="t" lIns="0" rIns="0" tIns="0" bIns="0">
            <a:spAutoFit/>
          </a:bodyPr>
          <a:lstStyle/>
          <a:p>
            <a:pPr algn="r">
              <a:lnSpc>
                <a:spcPct val="125000"/>
              </a:lnSpc>
            </a:pPr>
            <a:r>
              <a:rPr sz="19000" b="1" i="0">
                <a:solidFill>
                  <a:srgbClr val="F0F5FC"/>
                </a:solidFill>
                <a:latin typeface="Source Han Sans SC"/>
              </a:rPr>
              <a:t>07</a:t>
            </a:r>
          </a:p>
        </p:txBody>
      </p:sp>
      <p:sp>
        <p:nvSpPr>
          <p:cNvPr id="6" name="TextBox 5"/>
          <p:cNvSpPr txBox="1"/>
          <p:nvPr/>
        </p:nvSpPr>
        <p:spPr>
          <a:xfrm>
            <a:off x="799200" y="856800"/>
            <a:ext cx="7200000" cy="216000"/>
          </a:xfrm>
          <a:prstGeom prst="rect">
            <a:avLst/>
          </a:prstGeom>
          <a:noFill/>
        </p:spPr>
        <p:txBody>
          <a:bodyPr wrap="square" anchor="t" lIns="0" rIns="0" tIns="0" bIns="0">
            <a:spAutoFit/>
          </a:bodyPr>
          <a:lstStyle/>
          <a:p>
            <a:pPr algn="l">
              <a:lnSpc>
                <a:spcPct val="125000"/>
              </a:lnSpc>
            </a:pPr>
            <a:r>
              <a:rPr sz="1150" b="1" i="0">
                <a:solidFill>
                  <a:srgbClr val="1E4FA8"/>
                </a:solidFill>
                <a:latin typeface="Source Han Sans SC"/>
              </a:rPr>
              <a:t>52015CC3BV · UNDERGRADUATE · INTERNATIONAL</a:t>
            </a:r>
          </a:p>
          <a:p>
            <a:pPr algn="l">
              <a:lnSpc>
                <a:spcPct val="105000"/>
              </a:lnSpc>
              <a:spcBef>
                <a:spcPts val="150"/>
              </a:spcBef>
            </a:pPr>
            <a:r>
              <a:rPr sz="900" b="0" i="0">
                <a:solidFill>
                  <a:srgbClr val="6B7280"/>
                </a:solidFill>
                <a:latin typeface="Source Han Sans SC"/>
              </a:rPr>
              <a:t>52015CC3BV · 本科 · 来华项目</a:t>
            </a:r>
          </a:p>
        </p:txBody>
      </p:sp>
      <p:sp>
        <p:nvSpPr>
          <p:cNvPr id="7" name="Rectangle 6"/>
          <p:cNvSpPr/>
          <p:nvPr/>
        </p:nvSpPr>
        <p:spPr>
          <a:xfrm>
            <a:off x="799200" y="12672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458000"/>
            <a:ext cx="10593719" cy="468000"/>
          </a:xfrm>
          <a:prstGeom prst="rect">
            <a:avLst/>
          </a:prstGeom>
          <a:noFill/>
        </p:spPr>
        <p:txBody>
          <a:bodyPr wrap="square" anchor="t" lIns="0" rIns="0" tIns="0" bIns="0">
            <a:spAutoFit/>
          </a:bodyPr>
          <a:lstStyle/>
          <a:p>
            <a:pPr algn="l">
              <a:lnSpc>
                <a:spcPct val="125000"/>
              </a:lnSpc>
            </a:pPr>
            <a:r>
              <a:rPr sz="3600" b="1" i="0">
                <a:solidFill>
                  <a:srgbClr val="0E3F8C"/>
                </a:solidFill>
                <a:latin typeface="Source Han Sans SC"/>
              </a:rPr>
              <a:t>CNNs for Computer Vision</a:t>
            </a:r>
          </a:p>
        </p:txBody>
      </p:sp>
      <p:sp>
        <p:nvSpPr>
          <p:cNvPr id="9" name="TextBox 8"/>
          <p:cNvSpPr txBox="1"/>
          <p:nvPr/>
        </p:nvSpPr>
        <p:spPr>
          <a:xfrm>
            <a:off x="799200" y="2106000"/>
            <a:ext cx="10593719" cy="432000"/>
          </a:xfrm>
          <a:prstGeom prst="rect">
            <a:avLst/>
          </a:prstGeom>
          <a:noFill/>
        </p:spPr>
        <p:txBody>
          <a:bodyPr wrap="square" anchor="t" lIns="0" rIns="0" tIns="0" bIns="0">
            <a:spAutoFit/>
          </a:bodyPr>
          <a:lstStyle/>
          <a:p>
            <a:pPr algn="l">
              <a:lnSpc>
                <a:spcPct val="125000"/>
              </a:lnSpc>
            </a:pPr>
            <a:r>
              <a:rPr sz="2300" b="1" i="0">
                <a:solidFill>
                  <a:srgbClr val="1F2937"/>
                </a:solidFill>
                <a:latin typeface="Source Han Sans SC"/>
              </a:rPr>
              <a:t>卷积神经网络与计算机视觉应用</a:t>
            </a:r>
          </a:p>
        </p:txBody>
      </p:sp>
      <p:sp>
        <p:nvSpPr>
          <p:cNvPr id="10" name="TextBox 9"/>
          <p:cNvSpPr txBox="1"/>
          <p:nvPr/>
        </p:nvSpPr>
        <p:spPr>
          <a:xfrm>
            <a:off x="799200" y="2718000"/>
            <a:ext cx="10593719" cy="324000"/>
          </a:xfrm>
          <a:prstGeom prst="rect">
            <a:avLst/>
          </a:prstGeom>
          <a:noFill/>
        </p:spPr>
        <p:txBody>
          <a:bodyPr wrap="square" anchor="t" lIns="0" rIns="0" tIns="0" bIns="0">
            <a:spAutoFit/>
          </a:bodyPr>
          <a:lstStyle/>
          <a:p>
            <a:pPr algn="l">
              <a:lnSpc>
                <a:spcPct val="125000"/>
              </a:lnSpc>
            </a:pPr>
            <a:r>
              <a:rPr sz="1500" b="0" i="0">
                <a:solidFill>
                  <a:srgbClr val="6B7280"/>
                </a:solidFill>
                <a:latin typeface="Source Han Sans SC"/>
              </a:rPr>
              <a:t>Convolution, shape arithmetic, pooling — and where the model is wrong</a:t>
            </a:r>
          </a:p>
        </p:txBody>
      </p:sp>
      <p:sp>
        <p:nvSpPr>
          <p:cNvPr id="11" name="TextBox 10"/>
          <p:cNvSpPr txBox="1"/>
          <p:nvPr/>
        </p:nvSpPr>
        <p:spPr>
          <a:xfrm>
            <a:off x="799200" y="3384000"/>
            <a:ext cx="10593719" cy="792000"/>
          </a:xfrm>
          <a:prstGeom prst="rect">
            <a:avLst/>
          </a:prstGeom>
          <a:noFill/>
        </p:spPr>
        <p:txBody>
          <a:bodyPr wrap="square" anchor="t" lIns="0" rIns="0" tIns="0" bIns="0">
            <a:spAutoFit/>
          </a:bodyPr>
          <a:lstStyle/>
          <a:p>
            <a:pPr algn="l">
              <a:lnSpc>
                <a:spcPct val="125000"/>
              </a:lnSpc>
            </a:pPr>
            <a:r>
              <a:rPr sz="1250" b="0" i="0">
                <a:solidFill>
                  <a:srgbClr val="6B7280"/>
                </a:solidFill>
                <a:latin typeface="Source Han Sans SC"/>
              </a:rPr>
              <a:t>Week 7 · Convolution and weight sharing · Stride, padding, receptive field · Pooling choice · The price of augmentation · Confusion matrix and error analysis · Memory and gradient accumulation · Lab 6</a:t>
            </a:r>
          </a:p>
          <a:p>
            <a:pPr algn="l">
              <a:lnSpc>
                <a:spcPct val="105000"/>
              </a:lnSpc>
              <a:spcBef>
                <a:spcPts val="150"/>
              </a:spcBef>
            </a:pPr>
            <a:r>
              <a:rPr sz="980" b="0" i="0">
                <a:solidFill>
                  <a:srgbClr val="6B7280"/>
                </a:solidFill>
                <a:latin typeface="Source Han Sans SC"/>
              </a:rPr>
              <a:t>Week 7 · 卷积与权值共享 · 步长/填充/感受野 · 池化选择 · 数据增强的代价 · 混淆矩阵与错分分析 · 显存与梯度累积 · 实验 6</a:t>
            </a:r>
          </a:p>
        </p:txBody>
      </p:sp>
      <p:sp>
        <p:nvSpPr>
          <p:cNvPr id="12" name="Rectangle 11"/>
          <p:cNvSpPr/>
          <p:nvPr/>
        </p:nvSpPr>
        <p:spPr>
          <a:xfrm>
            <a:off x="799200" y="5295600"/>
            <a:ext cx="2255481"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72000" y="5364000"/>
            <a:ext cx="1909881"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Module 2 · W5-8</a:t>
            </a:r>
          </a:p>
        </p:txBody>
      </p:sp>
      <p:sp>
        <p:nvSpPr>
          <p:cNvPr id="14" name="Rectangle 13"/>
          <p:cNvSpPr/>
          <p:nvPr/>
        </p:nvSpPr>
        <p:spPr>
          <a:xfrm>
            <a:off x="3277881" y="5295600"/>
            <a:ext cx="3383222"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50681" y="5364000"/>
            <a:ext cx="3037622"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180 min · Lecture + Lab + Quiz</a:t>
            </a:r>
          </a:p>
        </p:txBody>
      </p:sp>
      <p:sp>
        <p:nvSpPr>
          <p:cNvPr id="16" name="Rectangle 15"/>
          <p:cNvSpPr/>
          <p:nvPr/>
        </p:nvSpPr>
        <p:spPr>
          <a:xfrm>
            <a:off x="6884304" y="5295600"/>
            <a:ext cx="2029933"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057104" y="5364000"/>
            <a:ext cx="1684333"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KT13 · KT14</a:t>
            </a:r>
          </a:p>
        </p:txBody>
      </p:sp>
      <p:sp>
        <p:nvSpPr>
          <p:cNvPr id="18" name="Rectangle 17"/>
          <p:cNvSpPr/>
          <p:nvPr/>
        </p:nvSpPr>
        <p:spPr>
          <a:xfrm>
            <a:off x="9137438" y="5295600"/>
            <a:ext cx="2255481"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310238" y="5364000"/>
            <a:ext cx="1909881"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International Students</a:t>
            </a:r>
          </a:p>
        </p:txBody>
      </p:sp>
      <p:sp>
        <p:nvSpPr>
          <p:cNvPr id="20" name="Rectangle 19"/>
          <p:cNvSpPr/>
          <p:nvPr/>
        </p:nvSpPr>
        <p:spPr>
          <a:xfrm>
            <a:off x="799200" y="5868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56800" y="5961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W7</a:t>
            </a:r>
          </a:p>
        </p:txBody>
      </p:sp>
      <p:sp>
        <p:nvSpPr>
          <p:cNvPr id="22" name="TextBox 21"/>
          <p:cNvSpPr txBox="1"/>
          <p:nvPr/>
        </p:nvSpPr>
        <p:spPr>
          <a:xfrm>
            <a:off x="1332000" y="5983200"/>
            <a:ext cx="5760000" cy="2016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Lecturer: ____________  ·  School of Software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Contents</a:t>
            </a:r>
          </a:p>
          <a:p>
            <a:pPr algn="l">
              <a:lnSpc>
                <a:spcPct val="105000"/>
              </a:lnSpc>
              <a:spcBef>
                <a:spcPts val="150"/>
              </a:spcBef>
            </a:pPr>
            <a:r>
              <a:rPr sz="1210" b="0" i="0">
                <a:solidFill>
                  <a:srgbClr val="6B7280"/>
                </a:solidFill>
                <a:latin typeface="Source Han Sans SC"/>
              </a:rPr>
              <a:t>目录</a:t>
            </a:r>
          </a:p>
        </p:txBody>
      </p:sp>
      <p:sp>
        <p:nvSpPr>
          <p:cNvPr id="6" name="TextBox 5"/>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7" name="TextBox 6"/>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02 / 32</a:t>
            </a:r>
          </a:p>
        </p:txBody>
      </p:sp>
      <p:sp>
        <p:nvSpPr>
          <p:cNvPr id="8" name="Rectangle 7"/>
          <p:cNvSpPr/>
          <p:nvPr/>
        </p:nvSpPr>
        <p:spPr>
          <a:xfrm>
            <a:off x="799200" y="1044000"/>
            <a:ext cx="2858400" cy="49536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47600" y="2163600"/>
            <a:ext cx="2361600" cy="559712"/>
          </a:xfrm>
          <a:prstGeom prst="rect">
            <a:avLst/>
          </a:prstGeom>
          <a:noFill/>
        </p:spPr>
        <p:txBody>
          <a:bodyPr wrap="square" anchor="t" lIns="0" rIns="0" tIns="0" bIns="0">
            <a:spAutoFit/>
          </a:bodyPr>
          <a:lstStyle/>
          <a:p>
            <a:pPr algn="l">
              <a:lnSpc>
                <a:spcPct val="125000"/>
              </a:lnSpc>
            </a:pPr>
            <a:r>
              <a:rPr sz="2600" b="1" i="0">
                <a:solidFill>
                  <a:srgbClr val="0E3F8C"/>
                </a:solidFill>
                <a:latin typeface="Source Han Sans SC"/>
              </a:rPr>
              <a:t>5</a:t>
            </a:r>
          </a:p>
        </p:txBody>
      </p:sp>
      <p:sp>
        <p:nvSpPr>
          <p:cNvPr id="10" name="TextBox 9"/>
          <p:cNvSpPr txBox="1"/>
          <p:nvPr/>
        </p:nvSpPr>
        <p:spPr>
          <a:xfrm>
            <a:off x="1047600" y="2687312"/>
            <a:ext cx="2361600" cy="480295"/>
          </a:xfrm>
          <a:prstGeom prst="rect">
            <a:avLst/>
          </a:prstGeom>
          <a:noFill/>
        </p:spPr>
        <p:txBody>
          <a:bodyPr wrap="square" anchor="t" lIns="0" rIns="0" tIns="0" bIns="0">
            <a:spAutoFit/>
          </a:bodyPr>
          <a:lstStyle/>
          <a:p>
            <a:pPr algn="l">
              <a:lnSpc>
                <a:spcPct val="125000"/>
              </a:lnSpc>
            </a:pPr>
            <a:r>
              <a:rPr sz="1150" b="1" i="0">
                <a:solidFill>
                  <a:srgbClr val="6B7280"/>
                </a:solidFill>
                <a:latin typeface="Source Han Sans SC"/>
              </a:rPr>
              <a:t>PARTS · 180 MINUTES</a:t>
            </a:r>
          </a:p>
          <a:p>
            <a:pPr algn="l">
              <a:lnSpc>
                <a:spcPct val="105000"/>
              </a:lnSpc>
              <a:spcBef>
                <a:spcPts val="150"/>
              </a:spcBef>
            </a:pPr>
            <a:r>
              <a:rPr sz="900" b="0" i="0">
                <a:solidFill>
                  <a:srgbClr val="6B7280"/>
                </a:solidFill>
                <a:latin typeface="Source Han Sans SC"/>
              </a:rPr>
              <a:t>个部分 · 一天 180 分钟</a:t>
            </a:r>
          </a:p>
        </p:txBody>
      </p:sp>
      <p:sp>
        <p:nvSpPr>
          <p:cNvPr id="11" name="Rectangle 10"/>
          <p:cNvSpPr/>
          <p:nvPr/>
        </p:nvSpPr>
        <p:spPr>
          <a:xfrm>
            <a:off x="1047600" y="3135208"/>
            <a:ext cx="2361600" cy="1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47600" y="3228808"/>
            <a:ext cx="2361600" cy="1466067"/>
          </a:xfrm>
          <a:prstGeom prst="rect">
            <a:avLst/>
          </a:prstGeom>
          <a:noFill/>
        </p:spPr>
        <p:txBody>
          <a:bodyPr wrap="square" anchor="t" lIns="0" rIns="0" tIns="0" bIns="0">
            <a:spAutoFit/>
          </a:bodyPr>
          <a:lstStyle/>
          <a:p>
            <a:pPr algn="l">
              <a:lnSpc>
                <a:spcPct val="130000"/>
              </a:lnSpc>
            </a:pPr>
            <a:r>
              <a:rPr sz="700" b="0" i="0">
                <a:solidFill>
                  <a:srgbClr val="1F2937"/>
                </a:solidFill>
                <a:latin typeface="Source Han Sans SC"/>
              </a:rPr>
              <a:t>This week's spine is NOT "the CNN is more accurate" — the numbers do not support that. It is: the CNN matches a 9x larger MLP and moves better under translation; and the price of that robustness is paid on the clean test set.</a:t>
            </a:r>
          </a:p>
          <a:p>
            <a:pPr algn="l">
              <a:lnSpc>
                <a:spcPct val="105000"/>
              </a:lnSpc>
              <a:spcBef>
                <a:spcPts val="150"/>
              </a:spcBef>
            </a:pPr>
            <a:r>
              <a:rPr sz="800" b="0" i="0">
                <a:solidFill>
                  <a:srgbClr val="6B7280"/>
                </a:solidFill>
                <a:latin typeface="Source Han Sans SC"/>
              </a:rPr>
              <a:t>本周的主线不是「CNN 更准」——实测不支持这个说法。 主线是：CNN 用 1/9 的参数拿到同样的准确率， 而且更抗平移；但为「抗平移」付的钱， 会直接从干净测试集的分数里扣。</a:t>
            </a:r>
          </a:p>
        </p:txBody>
      </p:sp>
      <p:sp>
        <p:nvSpPr>
          <p:cNvPr id="13" name="Rectangle 12"/>
          <p:cNvSpPr/>
          <p:nvPr/>
        </p:nvSpPr>
        <p:spPr>
          <a:xfrm>
            <a:off x="1047600" y="4584124"/>
            <a:ext cx="2361600" cy="1312675"/>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180800" y="4663324"/>
            <a:ext cx="2095200" cy="1154275"/>
          </a:xfrm>
          <a:prstGeom prst="rect">
            <a:avLst/>
          </a:prstGeom>
          <a:noFill/>
        </p:spPr>
        <p:txBody>
          <a:bodyPr wrap="square" anchor="t" lIns="0" rIns="0" tIns="0" bIns="0">
            <a:spAutoFit/>
          </a:bodyPr>
          <a:lstStyle/>
          <a:p>
            <a:pPr algn="l">
              <a:lnSpc>
                <a:spcPct val="128000"/>
              </a:lnSpc>
            </a:pPr>
            <a:r>
              <a:rPr sz="1100" b="0" i="0">
                <a:solidFill>
                  <a:srgbClr val="6B7280"/>
                </a:solidFill>
                <a:latin typeface="Source Han Sans SC"/>
              </a:rPr>
              <a:t>Review &amp; lead-in 10 min · Lecture 80 min · Lab 80 min · Wrap-up 10 min</a:t>
            </a:r>
          </a:p>
          <a:p>
            <a:pPr algn="l">
              <a:lnSpc>
                <a:spcPct val="105000"/>
              </a:lnSpc>
              <a:spcBef>
                <a:spcPts val="150"/>
              </a:spcBef>
            </a:pPr>
            <a:r>
              <a:rPr sz="860" b="0" i="0">
                <a:solidFill>
                  <a:srgbClr val="6B7280"/>
                </a:solidFill>
                <a:latin typeface="Source Han Sans SC"/>
              </a:rPr>
              <a:t>复习与导入 10 min · 新课讲授 80 min · 随堂实验 80 min · 小结与作业 10 min</a:t>
            </a:r>
          </a:p>
        </p:txBody>
      </p:sp>
      <p:sp>
        <p:nvSpPr>
          <p:cNvPr id="15" name="Rectangle 14"/>
          <p:cNvSpPr/>
          <p:nvPr/>
        </p:nvSpPr>
        <p:spPr>
          <a:xfrm>
            <a:off x="3924000" y="16488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999600" y="17712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999600" y="18720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01</a:t>
            </a:r>
          </a:p>
        </p:txBody>
      </p:sp>
      <p:sp>
        <p:nvSpPr>
          <p:cNvPr id="18" name="TextBox 17"/>
          <p:cNvSpPr txBox="1"/>
          <p:nvPr/>
        </p:nvSpPr>
        <p:spPr>
          <a:xfrm>
            <a:off x="4687200" y="17424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Convolution: from dense layers to weight sharing</a:t>
            </a:r>
            <a:r>
              <a:rPr sz="919" b="0" i="0">
                <a:solidFill>
                  <a:srgbClr val="6B7280"/>
                </a:solidFill>
                <a:latin typeface="Source Han Sans SC"/>
              </a:rPr>
              <a:t> ｜ </a:t>
            </a:r>
            <a:r>
              <a:rPr sz="919" b="0" i="0">
                <a:solidFill>
                  <a:srgbClr val="6B7280"/>
                </a:solidFill>
                <a:latin typeface="Source Han Sans SC"/>
              </a:rPr>
              <a:t>卷积：从全连接到权值共享</a:t>
            </a:r>
          </a:p>
        </p:txBody>
      </p:sp>
      <p:sp>
        <p:nvSpPr>
          <p:cNvPr id="19" name="TextBox 18"/>
          <p:cNvSpPr txBox="1"/>
          <p:nvPr/>
        </p:nvSpPr>
        <p:spPr>
          <a:xfrm>
            <a:off x="4687200" y="20085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Why images are not flattened · 17,226 → 1,898 parameters</a:t>
            </a:r>
            <a:r>
              <a:rPr sz="800" b="0" i="0">
                <a:solidFill>
                  <a:srgbClr val="6B7280"/>
                </a:solidFill>
                <a:latin typeface="Source Han Sans SC"/>
              </a:rPr>
              <a:t> ｜ </a:t>
            </a:r>
            <a:r>
              <a:rPr sz="800" b="0" i="0">
                <a:solidFill>
                  <a:srgbClr val="6B7280"/>
                </a:solidFill>
                <a:latin typeface="Source Han Sans SC"/>
              </a:rPr>
              <a:t>为什么图像不能直接铺平 · 参数量对比 17 226 → 1 898</a:t>
            </a:r>
          </a:p>
        </p:txBody>
      </p:sp>
      <p:sp>
        <p:nvSpPr>
          <p:cNvPr id="20" name="Right Arrow 19"/>
          <p:cNvSpPr/>
          <p:nvPr/>
        </p:nvSpPr>
        <p:spPr>
          <a:xfrm>
            <a:off x="11048400" y="19332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924000" y="24012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999600" y="25236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999600" y="26244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02</a:t>
            </a:r>
          </a:p>
        </p:txBody>
      </p:sp>
      <p:sp>
        <p:nvSpPr>
          <p:cNvPr id="24" name="TextBox 23"/>
          <p:cNvSpPr txBox="1"/>
          <p:nvPr/>
        </p:nvSpPr>
        <p:spPr>
          <a:xfrm>
            <a:off x="4687200" y="24948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The arithmetic of shapes</a:t>
            </a:r>
            <a:r>
              <a:rPr sz="919" b="0" i="0">
                <a:solidFill>
                  <a:srgbClr val="6B7280"/>
                </a:solidFill>
                <a:latin typeface="Source Han Sans SC"/>
              </a:rPr>
              <a:t> ｜ </a:t>
            </a:r>
            <a:r>
              <a:rPr sz="919" b="0" i="0">
                <a:solidFill>
                  <a:srgbClr val="6B7280"/>
                </a:solidFill>
                <a:latin typeface="Source Han Sans SC"/>
              </a:rPr>
              <a:t>形状的算术</a:t>
            </a:r>
          </a:p>
        </p:txBody>
      </p:sp>
      <p:sp>
        <p:nvSpPr>
          <p:cNvPr id="25" name="TextBox 24"/>
          <p:cNvSpPr txBox="1"/>
          <p:nvPr/>
        </p:nvSpPr>
        <p:spPr>
          <a:xfrm>
            <a:off x="4687200" y="27609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Output-size formula checked against real tensors · RF 3 → 4 → 8 → 10 · pooling choice costs 4.1 points</a:t>
            </a:r>
            <a:r>
              <a:rPr sz="800" b="0" i="0">
                <a:solidFill>
                  <a:srgbClr val="6B7280"/>
                </a:solidFill>
                <a:latin typeface="Source Han Sans SC"/>
              </a:rPr>
              <a:t> ｜ </a:t>
            </a:r>
            <a:r>
              <a:rPr sz="800" b="0" i="0">
                <a:solidFill>
                  <a:srgbClr val="6B7280"/>
                </a:solidFill>
                <a:latin typeface="Source Han Sans SC"/>
              </a:rPr>
              <a:t>输出尺寸公式 + 实测校验 · 感受野 3 → 4 → 8 → 10 · 池化的选择值 4.1 个点</a:t>
            </a:r>
          </a:p>
        </p:txBody>
      </p:sp>
      <p:sp>
        <p:nvSpPr>
          <p:cNvPr id="26" name="Right Arrow 25"/>
          <p:cNvSpPr/>
          <p:nvPr/>
        </p:nvSpPr>
        <p:spPr>
          <a:xfrm>
            <a:off x="11048400" y="26856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3924000" y="31536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999600" y="32760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999600" y="33767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03</a:t>
            </a:r>
          </a:p>
        </p:txBody>
      </p:sp>
      <p:sp>
        <p:nvSpPr>
          <p:cNvPr id="30" name="TextBox 29"/>
          <p:cNvSpPr txBox="1"/>
          <p:nvPr/>
        </p:nvSpPr>
        <p:spPr>
          <a:xfrm>
            <a:off x="4687200" y="32472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Training it: curves, augmentation and the price</a:t>
            </a:r>
            <a:r>
              <a:rPr sz="919" b="0" i="0">
                <a:solidFill>
                  <a:srgbClr val="6B7280"/>
                </a:solidFill>
                <a:latin typeface="Source Han Sans SC"/>
              </a:rPr>
              <a:t> ｜ </a:t>
            </a:r>
            <a:r>
              <a:rPr sz="919" b="0" i="0">
                <a:solidFill>
                  <a:srgbClr val="6B7280"/>
                </a:solidFill>
                <a:latin typeface="Source Han Sans SC"/>
              </a:rPr>
              <a:t>训练起来：曲线、增强与代价</a:t>
            </a:r>
          </a:p>
        </p:txBody>
      </p:sp>
      <p:sp>
        <p:nvSpPr>
          <p:cNvPr id="31" name="TextBox 30"/>
          <p:cNvSpPr txBox="1"/>
          <p:nvPr/>
        </p:nvSpPr>
        <p:spPr>
          <a:xfrm>
            <a:off x="4687200" y="35133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5 architectures x 5 seeds · measured translation robustness · the augment ledger</a:t>
            </a:r>
            <a:r>
              <a:rPr sz="800" b="0" i="0">
                <a:solidFill>
                  <a:srgbClr val="6B7280"/>
                </a:solidFill>
                <a:latin typeface="Source Han Sans SC"/>
              </a:rPr>
              <a:t> ｜ </a:t>
            </a:r>
            <a:r>
              <a:rPr sz="800" b="0" i="0">
                <a:solidFill>
                  <a:srgbClr val="6B7280"/>
                </a:solidFill>
                <a:latin typeface="Source Han Sans SC"/>
              </a:rPr>
              <a:t>5 个架构的 5 种子总表 · 平移鲁棒性实测 · 增强的账本</a:t>
            </a:r>
          </a:p>
        </p:txBody>
      </p:sp>
      <p:sp>
        <p:nvSpPr>
          <p:cNvPr id="32" name="Right Arrow 31"/>
          <p:cNvSpPr/>
          <p:nvPr/>
        </p:nvSpPr>
        <p:spPr>
          <a:xfrm>
            <a:off x="11048400" y="34380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24000" y="39060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999600" y="40284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999600" y="41291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04</a:t>
            </a:r>
          </a:p>
        </p:txBody>
      </p:sp>
      <p:sp>
        <p:nvSpPr>
          <p:cNvPr id="36" name="TextBox 35"/>
          <p:cNvSpPr txBox="1"/>
          <p:nvPr/>
        </p:nvSpPr>
        <p:spPr>
          <a:xfrm>
            <a:off x="4687200" y="39996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Where it fails</a:t>
            </a:r>
            <a:r>
              <a:rPr sz="919" b="0" i="0">
                <a:solidFill>
                  <a:srgbClr val="6B7280"/>
                </a:solidFill>
                <a:latin typeface="Source Han Sans SC"/>
              </a:rPr>
              <a:t> ｜ </a:t>
            </a:r>
            <a:r>
              <a:rPr sz="919" b="0" i="0">
                <a:solidFill>
                  <a:srgbClr val="6B7280"/>
                </a:solidFill>
                <a:latin typeface="Source Han Sans SC"/>
              </a:rPr>
              <a:t>看它错在哪</a:t>
            </a:r>
          </a:p>
        </p:txBody>
      </p:sp>
      <p:sp>
        <p:nvSpPr>
          <p:cNvPr id="37" name="TextBox 36"/>
          <p:cNvSpPr txBox="1"/>
          <p:nvPr/>
        </p:nvSpPr>
        <p:spPr>
          <a:xfrm>
            <a:off x="4687200" y="42657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Confusion over 1,350 test predictions · the worst class pair · the misclassified digits themselves</a:t>
            </a:r>
            <a:r>
              <a:rPr sz="800" b="0" i="0">
                <a:solidFill>
                  <a:srgbClr val="6B7280"/>
                </a:solidFill>
                <a:latin typeface="Source Han Sans SC"/>
              </a:rPr>
              <a:t> ｜ </a:t>
            </a:r>
            <a:r>
              <a:rPr sz="800" b="0" i="0">
                <a:solidFill>
                  <a:srgbClr val="6B7280"/>
                </a:solidFill>
                <a:latin typeface="Source Han Sans SC"/>
              </a:rPr>
              <a:t>1350 个测试样本的混淆矩阵 · 最差类对 · 把错分的数字本身画出来</a:t>
            </a:r>
          </a:p>
        </p:txBody>
      </p:sp>
      <p:sp>
        <p:nvSpPr>
          <p:cNvPr id="38" name="Right Arrow 37"/>
          <p:cNvSpPr/>
          <p:nvPr/>
        </p:nvSpPr>
        <p:spPr>
          <a:xfrm>
            <a:off x="11048400" y="41904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924000" y="46584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999600" y="47808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999600" y="48816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05</a:t>
            </a:r>
          </a:p>
        </p:txBody>
      </p:sp>
      <p:sp>
        <p:nvSpPr>
          <p:cNvPr id="42" name="TextBox 41"/>
          <p:cNvSpPr txBox="1"/>
          <p:nvPr/>
        </p:nvSpPr>
        <p:spPr>
          <a:xfrm>
            <a:off x="4687200" y="4752000"/>
            <a:ext cx="6120000" cy="323798"/>
          </a:xfrm>
          <a:prstGeom prst="rect">
            <a:avLst/>
          </a:prstGeom>
          <a:noFill/>
        </p:spPr>
        <p:txBody>
          <a:bodyPr wrap="square" anchor="t" lIns="0" rIns="0" tIns="0" bIns="0">
            <a:spAutoFit/>
          </a:bodyPr>
          <a:lstStyle/>
          <a:p>
            <a:pPr algn="l">
              <a:lnSpc>
                <a:spcPct val="125000"/>
              </a:lnSpc>
            </a:pPr>
            <a:r>
              <a:rPr sz="1180" b="1" i="0">
                <a:solidFill>
                  <a:srgbClr val="0E3F8C"/>
                </a:solidFill>
                <a:latin typeface="Source Han Sans SC"/>
              </a:rPr>
              <a:t>Memory and green computing</a:t>
            </a:r>
            <a:r>
              <a:rPr sz="919" b="0" i="0">
                <a:solidFill>
                  <a:srgbClr val="6B7280"/>
                </a:solidFill>
                <a:latin typeface="Source Han Sans SC"/>
              </a:rPr>
              <a:t> ｜ </a:t>
            </a:r>
            <a:r>
              <a:rPr sz="919" b="0" i="0">
                <a:solidFill>
                  <a:srgbClr val="6B7280"/>
                </a:solidFill>
                <a:latin typeface="Source Han Sans SC"/>
              </a:rPr>
              <a:t>显存与绿色计算</a:t>
            </a:r>
          </a:p>
        </p:txBody>
      </p:sp>
      <p:sp>
        <p:nvSpPr>
          <p:cNvPr id="43" name="TextBox 42"/>
          <p:cNvSpPr txBox="1"/>
          <p:nvPr/>
        </p:nvSpPr>
        <p:spPr>
          <a:xfrm>
            <a:off x="4687200" y="5018198"/>
            <a:ext cx="6249600" cy="396000"/>
          </a:xfrm>
          <a:prstGeom prst="rect">
            <a:avLst/>
          </a:prstGeom>
          <a:noFill/>
        </p:spPr>
        <p:txBody>
          <a:bodyPr wrap="square" anchor="t" lIns="0" rIns="0" tIns="0" bIns="0">
            <a:spAutoFit/>
          </a:bodyPr>
          <a:lstStyle/>
          <a:p>
            <a:pPr algn="l">
              <a:lnSpc>
                <a:spcPct val="125000"/>
              </a:lnSpc>
            </a:pPr>
            <a:r>
              <a:rPr sz="900" b="0" i="0">
                <a:solidFill>
                  <a:srgbClr val="6B7280"/>
                </a:solidFill>
                <a:latin typeface="Source Han Sans SC"/>
              </a:rPr>
              <a:t>Measured batch → peak memory · three accumulation weightings · compute is finite</a:t>
            </a:r>
            <a:r>
              <a:rPr sz="800" b="0" i="0">
                <a:solidFill>
                  <a:srgbClr val="6B7280"/>
                </a:solidFill>
                <a:latin typeface="Source Han Sans SC"/>
              </a:rPr>
              <a:t> ｜ </a:t>
            </a:r>
            <a:r>
              <a:rPr sz="800" b="0" i="0">
                <a:solidFill>
                  <a:srgbClr val="6B7280"/>
                </a:solidFill>
                <a:latin typeface="Source Han Sans SC"/>
              </a:rPr>
              <a:t>batch → 峰值内存实测 · 梯度累积的三种权重 · 算力是有限资源</a:t>
            </a:r>
          </a:p>
        </p:txBody>
      </p:sp>
      <p:sp>
        <p:nvSpPr>
          <p:cNvPr id="44" name="Right Arrow 43"/>
          <p:cNvSpPr/>
          <p:nvPr/>
        </p:nvSpPr>
        <p:spPr>
          <a:xfrm>
            <a:off x="11048400" y="49428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01</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01</a:t>
            </a:r>
          </a:p>
        </p:txBody>
      </p:sp>
      <p:sp>
        <p:nvSpPr>
          <p:cNvPr id="7" name="TextBox 6"/>
          <p:cNvSpPr txBox="1"/>
          <p:nvPr/>
        </p:nvSpPr>
        <p:spPr>
          <a:xfrm>
            <a:off x="2379600" y="1105200"/>
            <a:ext cx="5040000" cy="1098598"/>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Convolution</a:t>
            </a:r>
          </a:p>
          <a:p>
            <a:pPr algn="l">
              <a:lnSpc>
                <a:spcPct val="105000"/>
              </a:lnSpc>
              <a:spcBef>
                <a:spcPts val="150"/>
              </a:spcBef>
            </a:pPr>
            <a:r>
              <a:rPr sz="2340" b="0" i="0">
                <a:solidFill>
                  <a:srgbClr val="6B7280"/>
                </a:solidFill>
                <a:latin typeface="Source Han Sans SC"/>
              </a:rPr>
              <a:t>卷积：从全连接到权值共享</a:t>
            </a:r>
          </a:p>
        </p:txBody>
      </p:sp>
      <p:sp>
        <p:nvSpPr>
          <p:cNvPr id="8" name="TextBox 7"/>
          <p:cNvSpPr txBox="1"/>
          <p:nvPr/>
        </p:nvSpPr>
        <p:spPr>
          <a:xfrm>
            <a:off x="799200" y="2736000"/>
            <a:ext cx="8640000" cy="1637517"/>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Flatten an 8x8 image into 64 numbers and hand it to a dense layer — this collapses on real images. Convolution is not a cleverer classifier; it attacks the NUMBER of parameters.</a:t>
            </a:r>
          </a:p>
          <a:p>
            <a:pPr algn="l">
              <a:lnSpc>
                <a:spcPct val="105000"/>
              </a:lnSpc>
              <a:spcBef>
                <a:spcPts val="150"/>
              </a:spcBef>
            </a:pPr>
            <a:r>
              <a:rPr sz="1170" b="0" i="0">
                <a:solidFill>
                  <a:srgbClr val="6B7280"/>
                </a:solidFill>
                <a:latin typeface="Source Han Sans SC"/>
              </a:rPr>
              <a:t>把 8×8 的图铺平成 64 维向量，喂给全连接层——这在大图上会立刻崩掉。
卷积做的不是「更聪明的分类器」，而是**对参数的数量动手**。</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Local</a:t>
            </a:r>
            <a:r>
              <a:rPr sz="1010" b="0" i="0">
                <a:solidFill>
                  <a:srgbClr val="6B7280"/>
                </a:solidFill>
                <a:latin typeface="Source Han Sans SC"/>
              </a:rPr>
              <a:t> ｜ </a:t>
            </a:r>
            <a:r>
              <a:rPr sz="1010" b="0" i="0">
                <a:solidFill>
                  <a:srgbClr val="6B7280"/>
                </a:solidFill>
                <a:latin typeface="Source Han Sans SC"/>
              </a:rPr>
              <a:t>局部连接</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one output sees a patch</a:t>
            </a:r>
          </a:p>
          <a:p>
            <a:pPr algn="l">
              <a:lnSpc>
                <a:spcPct val="105000"/>
              </a:lnSpc>
              <a:spcBef>
                <a:spcPts val="150"/>
              </a:spcBef>
            </a:pPr>
            <a:r>
              <a:rPr sz="800" b="0" i="0">
                <a:solidFill>
                  <a:srgbClr val="6B7280"/>
                </a:solidFill>
                <a:latin typeface="Source Han Sans SC"/>
              </a:rPr>
              <a:t>一个输出只看一小块</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Shared</a:t>
            </a:r>
            <a:r>
              <a:rPr sz="1010" b="0" i="0">
                <a:solidFill>
                  <a:srgbClr val="6B7280"/>
                </a:solidFill>
                <a:latin typeface="Source Han Sans SC"/>
              </a:rPr>
              <a:t> ｜ </a:t>
            </a:r>
            <a:r>
              <a:rPr sz="1010" b="0" i="0">
                <a:solidFill>
                  <a:srgbClr val="6B7280"/>
                </a:solidFill>
                <a:latin typeface="Source Han Sans SC"/>
              </a:rPr>
              <a:t>权值共享</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one kernel, every position</a:t>
            </a:r>
          </a:p>
          <a:p>
            <a:pPr algn="l">
              <a:lnSpc>
                <a:spcPct val="105000"/>
              </a:lnSpc>
              <a:spcBef>
                <a:spcPts val="150"/>
              </a:spcBef>
            </a:pPr>
            <a:r>
              <a:rPr sz="800" b="0" i="0">
                <a:solidFill>
                  <a:srgbClr val="6B7280"/>
                </a:solidFill>
                <a:latin typeface="Source Han Sans SC"/>
              </a:rPr>
              <a:t>同一个核滑过全图</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Cheap</a:t>
            </a:r>
            <a:r>
              <a:rPr sz="1010" b="0" i="0">
                <a:solidFill>
                  <a:srgbClr val="6B7280"/>
                </a:solidFill>
                <a:latin typeface="Source Han Sans SC"/>
              </a:rPr>
              <a:t> ｜ </a:t>
            </a:r>
            <a:r>
              <a:rPr sz="1010" b="0" i="0">
                <a:solidFill>
                  <a:srgbClr val="6B7280"/>
                </a:solidFill>
                <a:latin typeface="Source Han Sans SC"/>
              </a:rPr>
              <a:t>参数可控</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params do not scale with width</a:t>
            </a:r>
          </a:p>
          <a:p>
            <a:pPr algn="l">
              <a:lnSpc>
                <a:spcPct val="105000"/>
              </a:lnSpc>
              <a:spcBef>
                <a:spcPts val="150"/>
              </a:spcBef>
            </a:pPr>
            <a:r>
              <a:rPr sz="800" b="0" i="0">
                <a:solidFill>
                  <a:srgbClr val="6B7280"/>
                </a:solidFill>
                <a:latin typeface="Source Han Sans SC"/>
              </a:rPr>
              <a:t>参数量与图宽无关</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03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Why images are not simply flattened</a:t>
            </a:r>
          </a:p>
          <a:p>
            <a:pPr algn="l">
              <a:lnSpc>
                <a:spcPct val="105000"/>
              </a:lnSpc>
              <a:spcBef>
                <a:spcPts val="150"/>
              </a:spcBef>
            </a:pPr>
            <a:r>
              <a:rPr sz="1210" b="0" i="0">
                <a:solidFill>
                  <a:srgbClr val="6B7280"/>
                </a:solidFill>
                <a:latin typeface="Source Han Sans SC"/>
              </a:rPr>
              <a:t>为什么不能直接把图像铺平</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Three reasons, each checkable against this week's numbers</a:t>
            </a:r>
          </a:p>
          <a:p>
            <a:pPr algn="l">
              <a:lnSpc>
                <a:spcPct val="105000"/>
              </a:lnSpc>
              <a:spcBef>
                <a:spcPts val="150"/>
              </a:spcBef>
            </a:pPr>
            <a:r>
              <a:rPr sz="800" b="0" i="0">
                <a:solidFill>
                  <a:srgbClr val="6B7280"/>
                </a:solidFill>
                <a:latin typeface="Source Han Sans SC"/>
              </a:rPr>
              <a:t>三个理由，每一个都能用本周的实验数字验证</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Week 7 · lead-in</a:t>
            </a:r>
            <a:r>
              <a:rPr sz="800" b="0" i="0">
                <a:solidFill>
                  <a:srgbClr val="6B7280"/>
                </a:solidFill>
                <a:latin typeface="Source Han Sans SC"/>
              </a:rPr>
              <a:t> ｜ </a:t>
            </a:r>
            <a:r>
              <a:rPr sz="800" b="0" i="0">
                <a:solidFill>
                  <a:srgbClr val="6B7280"/>
                </a:solidFill>
                <a:latin typeface="Source Han Sans SC"/>
              </a:rPr>
              <a:t>Week 7 · 引入</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04 / 32</a:t>
            </a:r>
          </a:p>
        </p:txBody>
      </p:sp>
      <p:sp>
        <p:nvSpPr>
          <p:cNvPr id="10" name="Rectangle 9"/>
          <p:cNvSpPr/>
          <p:nvPr/>
        </p:nvSpPr>
        <p:spPr>
          <a:xfrm>
            <a:off x="799200" y="1296000"/>
            <a:ext cx="3387239" cy="4320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296000"/>
            <a:ext cx="32400" cy="4320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22400"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1. Parameters explode</a:t>
            </a:r>
          </a:p>
          <a:p>
            <a:pPr algn="l">
              <a:lnSpc>
                <a:spcPct val="105000"/>
              </a:lnSpc>
              <a:spcBef>
                <a:spcPts val="150"/>
              </a:spcBef>
            </a:pPr>
            <a:r>
              <a:rPr sz="1130" b="0" i="0">
                <a:solidFill>
                  <a:srgbClr val="6B7280"/>
                </a:solidFill>
                <a:latin typeface="Source Han Sans SC"/>
              </a:rPr>
              <a:t>① 参数会爆炸</a:t>
            </a:r>
          </a:p>
        </p:txBody>
      </p:sp>
      <p:sp>
        <p:nvSpPr>
          <p:cNvPr id="13" name="TextBox 12"/>
          <p:cNvSpPr txBox="1"/>
          <p:nvPr/>
        </p:nvSpPr>
        <p:spPr>
          <a:xfrm>
            <a:off x="1022400" y="2033090"/>
            <a:ext cx="2940839" cy="351090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On the same digits data the dense net needs 17,226 parameters; two conv layers need 1,898.</a:t>
            </a:r>
            <a:r>
              <a:rPr sz="940" b="0" i="0">
                <a:solidFill>
                  <a:srgbClr val="6B7280"/>
                </a:solidFill>
                <a:latin typeface="Source Han Sans SC"/>
              </a:rPr>
              <a:t> ｜ </a:t>
            </a:r>
            <a:r>
              <a:rPr sz="940" b="0" i="0">
                <a:solidFill>
                  <a:srgbClr val="6B7280"/>
                </a:solidFill>
                <a:latin typeface="Source Han Sans SC"/>
              </a:rPr>
              <a:t>• 同一份 digits 数据上，全连接网 17 226 个参数，两层卷积只要 1 898 个。</a:t>
            </a:r>
          </a:p>
          <a:p>
            <a:pPr algn="l">
              <a:lnSpc>
                <a:spcPct val="140000"/>
              </a:lnSpc>
              <a:spcAft>
                <a:spcPts val="400"/>
              </a:spcAft>
            </a:pPr>
            <a:r>
              <a:rPr sz="1200" b="0" i="0">
                <a:solidFill>
                  <a:srgbClr val="1F2937"/>
                </a:solidFill>
                <a:latin typeface="Source Han Sans SC"/>
              </a:rPr>
              <a:t>• Not a small saving — 9x. Real images have 1000x that input dimension.</a:t>
            </a:r>
            <a:r>
              <a:rPr sz="940" b="0" i="0">
                <a:solidFill>
                  <a:srgbClr val="6B7280"/>
                </a:solidFill>
                <a:latin typeface="Source Han Sans SC"/>
              </a:rPr>
              <a:t> ｜ </a:t>
            </a:r>
            <a:r>
              <a:rPr sz="940" b="0" i="0">
                <a:solidFill>
                  <a:srgbClr val="6B7280"/>
                </a:solidFill>
                <a:latin typeface="Source Han Sans SC"/>
              </a:rPr>
              <a:t>• 这不是「省一点」，是差 9 倍。真实图像的输入维度是它的 1000 倍以上。</a:t>
            </a:r>
          </a:p>
        </p:txBody>
      </p:sp>
      <p:sp>
        <p:nvSpPr>
          <p:cNvPr id="14" name="Rectangle 13"/>
          <p:cNvSpPr/>
          <p:nvPr/>
        </p:nvSpPr>
        <p:spPr>
          <a:xfrm>
            <a:off x="4402440" y="1296000"/>
            <a:ext cx="3387239" cy="4320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296000"/>
            <a:ext cx="32400" cy="4320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2. Flattening discards layout</a:t>
            </a:r>
          </a:p>
          <a:p>
            <a:pPr algn="l">
              <a:lnSpc>
                <a:spcPct val="105000"/>
              </a:lnSpc>
              <a:spcBef>
                <a:spcPts val="150"/>
              </a:spcBef>
            </a:pPr>
            <a:r>
              <a:rPr sz="1130" b="0" i="0">
                <a:solidFill>
                  <a:srgbClr val="6B7280"/>
                </a:solidFill>
                <a:latin typeface="Source Han Sans SC"/>
              </a:rPr>
              <a:t>② 铺平会丢掉空间结构</a:t>
            </a:r>
          </a:p>
        </p:txBody>
      </p:sp>
      <p:sp>
        <p:nvSpPr>
          <p:cNvPr id="17" name="TextBox 16"/>
          <p:cNvSpPr txBox="1"/>
          <p:nvPr/>
        </p:nvSpPr>
        <p:spPr>
          <a:xfrm>
            <a:off x="4625639" y="2033090"/>
            <a:ext cx="2940839" cy="351090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After flattening, two adjacent pixels and two a whole row apart look identical to a dense layer.</a:t>
            </a:r>
            <a:r>
              <a:rPr sz="940" b="0" i="0">
                <a:solidFill>
                  <a:srgbClr val="6B7280"/>
                </a:solidFill>
                <a:latin typeface="Source Han Sans SC"/>
              </a:rPr>
              <a:t> ｜ </a:t>
            </a:r>
            <a:r>
              <a:rPr sz="940" b="0" i="0">
                <a:solidFill>
                  <a:srgbClr val="6B7280"/>
                </a:solidFill>
                <a:latin typeface="Source Han Sans SC"/>
              </a:rPr>
              <a:t>• 铺平之后，8×8 里相邻的两个像素和隔着整行的两个像素，在全连接层眼里没有区别。</a:t>
            </a:r>
          </a:p>
          <a:p>
            <a:pPr algn="l">
              <a:lnSpc>
                <a:spcPct val="140000"/>
              </a:lnSpc>
              <a:spcAft>
                <a:spcPts val="400"/>
              </a:spcAft>
            </a:pPr>
            <a:r>
              <a:rPr sz="1200" b="0" i="0">
                <a:solidFill>
                  <a:srgbClr val="1F2937"/>
                </a:solidFill>
                <a:latin typeface="Source Han Sans SC"/>
              </a:rPr>
              <a:t>• A conv layer keeps that structure — which is exactly what makes weight sharing possible.</a:t>
            </a:r>
            <a:r>
              <a:rPr sz="940" b="0" i="0">
                <a:solidFill>
                  <a:srgbClr val="6B7280"/>
                </a:solidFill>
                <a:latin typeface="Source Han Sans SC"/>
              </a:rPr>
              <a:t> ｜ </a:t>
            </a:r>
            <a:r>
              <a:rPr sz="940" b="0" i="0">
                <a:solidFill>
                  <a:srgbClr val="6B7280"/>
                </a:solidFill>
                <a:latin typeface="Source Han Sans SC"/>
              </a:rPr>
              <a:t>• 卷积层保留了这个结构——这正是它能共享权重的前提。</a:t>
            </a:r>
          </a:p>
        </p:txBody>
      </p:sp>
      <p:sp>
        <p:nvSpPr>
          <p:cNvPr id="18" name="Rectangle 17"/>
          <p:cNvSpPr/>
          <p:nvPr/>
        </p:nvSpPr>
        <p:spPr>
          <a:xfrm>
            <a:off x="8005679" y="1296000"/>
            <a:ext cx="3387239" cy="4320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05679" y="1296000"/>
            <a:ext cx="32400" cy="432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8879" y="1447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3. A shift is not a new object</a:t>
            </a:r>
          </a:p>
          <a:p>
            <a:pPr algn="l">
              <a:lnSpc>
                <a:spcPct val="105000"/>
              </a:lnSpc>
              <a:spcBef>
                <a:spcPts val="150"/>
              </a:spcBef>
            </a:pPr>
            <a:r>
              <a:rPr sz="1130" b="0" i="0">
                <a:solidFill>
                  <a:srgbClr val="6B7280"/>
                </a:solidFill>
                <a:latin typeface="Source Han Sans SC"/>
              </a:rPr>
              <a:t>③ 平移不该是「新样本」</a:t>
            </a:r>
          </a:p>
        </p:txBody>
      </p:sp>
      <p:sp>
        <p:nvSpPr>
          <p:cNvPr id="21" name="TextBox 20"/>
          <p:cNvSpPr txBox="1"/>
          <p:nvPr/>
        </p:nvSpPr>
        <p:spPr>
          <a:xfrm>
            <a:off x="8228879" y="2298265"/>
            <a:ext cx="2940839" cy="3245734"/>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 dense net must relearn it at every position. Measured: shift one column right and accuracy falls 0.9785 → 0.5089.</a:t>
            </a:r>
            <a:r>
              <a:rPr sz="940" b="0" i="0">
                <a:solidFill>
                  <a:srgbClr val="6B7280"/>
                </a:solidFill>
                <a:latin typeface="Source Han Sans SC"/>
              </a:rPr>
              <a:t> ｜ </a:t>
            </a:r>
            <a:r>
              <a:rPr sz="940" b="0" i="0">
                <a:solidFill>
                  <a:srgbClr val="6B7280"/>
                </a:solidFill>
                <a:latin typeface="Source Han Sans SC"/>
              </a:rPr>
              <a:t>• 全连接网必须为每个位置单独学一遍。实测：把它右移 1 列，准确率从 0.9785 掉到 0.5089。</a:t>
            </a:r>
          </a:p>
          <a:p>
            <a:pPr algn="l">
              <a:lnSpc>
                <a:spcPct val="140000"/>
              </a:lnSpc>
              <a:spcAft>
                <a:spcPts val="400"/>
              </a:spcAft>
            </a:pPr>
            <a:r>
              <a:rPr sz="1200" b="0" i="0">
                <a:solidFill>
                  <a:srgbClr val="1F2937"/>
                </a:solidFill>
                <a:latin typeface="Source Han Sans SC"/>
              </a:rPr>
              <a:t>• Convolution bakes "a pattern, wherever it appears" into the architecture.</a:t>
            </a:r>
            <a:r>
              <a:rPr sz="940" b="0" i="0">
                <a:solidFill>
                  <a:srgbClr val="6B7280"/>
                </a:solidFill>
                <a:latin typeface="Source Han Sans SC"/>
              </a:rPr>
              <a:t> ｜ </a:t>
            </a:r>
            <a:r>
              <a:rPr sz="940" b="0" i="0">
                <a:solidFill>
                  <a:srgbClr val="6B7280"/>
                </a:solidFill>
                <a:latin typeface="Source Han Sans SC"/>
              </a:rPr>
              <a:t>• 卷积把「同一个模式出现在哪里」这件事，写进了结构里。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Convolution: One Sliding Dot Product</a:t>
            </a:r>
          </a:p>
          <a:p>
            <a:pPr algn="l">
              <a:lnSpc>
                <a:spcPct val="105000"/>
              </a:lnSpc>
              <a:spcBef>
                <a:spcPts val="150"/>
              </a:spcBef>
            </a:pPr>
            <a:r>
              <a:rPr sz="1210" b="0" i="0">
                <a:solidFill>
                  <a:srgbClr val="6B7280"/>
                </a:solidFill>
                <a:latin typeface="Source Han Sans SC"/>
              </a:rPr>
              <a:t>卷积：一次滑动的点积</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Each landing of the 3x3 kernel produces one output number</a:t>
            </a:r>
          </a:p>
          <a:p>
            <a:pPr algn="l">
              <a:lnSpc>
                <a:spcPct val="105000"/>
              </a:lnSpc>
              <a:spcBef>
                <a:spcPts val="150"/>
              </a:spcBef>
            </a:pPr>
            <a:r>
              <a:rPr sz="800" b="0" i="0">
                <a:solidFill>
                  <a:srgbClr val="6B7280"/>
                </a:solidFill>
                <a:latin typeface="Source Han Sans SC"/>
              </a:rPr>
              <a:t>3×3 的核每落一次，就产生一个输出数字</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KT13</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05 / 32</a:t>
            </a:r>
          </a:p>
        </p:txBody>
      </p:sp>
      <p:sp>
        <p:nvSpPr>
          <p:cNvPr id="10" name="TextBox 9"/>
          <p:cNvSpPr txBox="1"/>
          <p:nvPr/>
        </p:nvSpPr>
        <p:spPr>
          <a:xfrm>
            <a:off x="799200" y="1385999"/>
            <a:ext cx="3528000" cy="565199"/>
          </a:xfrm>
          <a:prstGeom prst="rect">
            <a:avLst/>
          </a:prstGeom>
          <a:noFill/>
        </p:spPr>
        <p:txBody>
          <a:bodyPr wrap="square" anchor="t" lIns="0" rIns="0" tIns="0" bIns="0">
            <a:spAutoFit/>
          </a:bodyPr>
          <a:lstStyle/>
          <a:p>
            <a:pPr algn="l">
              <a:lnSpc>
                <a:spcPct val="125000"/>
              </a:lnSpc>
            </a:pPr>
            <a:r>
              <a:rPr sz="1200" b="1" i="0">
                <a:solidFill>
                  <a:srgbClr val="0E3F8C"/>
                </a:solidFill>
                <a:latin typeface="Source Han Sans SC"/>
              </a:rPr>
              <a:t>Input 6x6 (grey level 0-9)</a:t>
            </a:r>
            <a:r>
              <a:rPr sz="940" b="0" i="0">
                <a:solidFill>
                  <a:srgbClr val="6B7280"/>
                </a:solidFill>
                <a:latin typeface="Source Han Sans SC"/>
              </a:rPr>
              <a:t> ｜ </a:t>
            </a:r>
            <a:r>
              <a:rPr sz="940" b="0" i="0">
                <a:solidFill>
                  <a:srgbClr val="6B7280"/>
                </a:solidFill>
                <a:latin typeface="Source Han Sans SC"/>
              </a:rPr>
              <a:t>输入 6×6（灰阶 0–9）</a:t>
            </a:r>
          </a:p>
        </p:txBody>
      </p:sp>
      <p:sp>
        <p:nvSpPr>
          <p:cNvPr id="11" name="TextBox 10"/>
          <p:cNvSpPr txBox="1"/>
          <p:nvPr/>
        </p:nvSpPr>
        <p:spPr>
          <a:xfrm>
            <a:off x="4381200" y="2088000"/>
            <a:ext cx="3528000" cy="565199"/>
          </a:xfrm>
          <a:prstGeom prst="rect">
            <a:avLst/>
          </a:prstGeom>
          <a:noFill/>
        </p:spPr>
        <p:txBody>
          <a:bodyPr wrap="square" anchor="t" lIns="0" rIns="0" tIns="0" bIns="0">
            <a:spAutoFit/>
          </a:bodyPr>
          <a:lstStyle/>
          <a:p>
            <a:pPr algn="l">
              <a:lnSpc>
                <a:spcPct val="125000"/>
              </a:lnSpc>
            </a:pPr>
            <a:r>
              <a:rPr sz="1200" b="1" i="0">
                <a:solidFill>
                  <a:srgbClr val="0E3F8C"/>
                </a:solidFill>
                <a:latin typeface="Source Han Sans SC"/>
              </a:rPr>
              <a:t>Kernel 3x3</a:t>
            </a:r>
            <a:r>
              <a:rPr sz="940" b="0" i="0">
                <a:solidFill>
                  <a:srgbClr val="6B7280"/>
                </a:solidFill>
                <a:latin typeface="Source Han Sans SC"/>
              </a:rPr>
              <a:t> ｜ </a:t>
            </a:r>
            <a:r>
              <a:rPr sz="940" b="0" i="0">
                <a:solidFill>
                  <a:srgbClr val="6B7280"/>
                </a:solidFill>
                <a:latin typeface="Source Han Sans SC"/>
              </a:rPr>
              <a:t>卷积核 3×3</a:t>
            </a:r>
          </a:p>
        </p:txBody>
      </p:sp>
      <p:sp>
        <p:nvSpPr>
          <p:cNvPr id="12" name="TextBox 11"/>
          <p:cNvSpPr txBox="1"/>
          <p:nvPr/>
        </p:nvSpPr>
        <p:spPr>
          <a:xfrm>
            <a:off x="6541200" y="1385999"/>
            <a:ext cx="3528000" cy="565199"/>
          </a:xfrm>
          <a:prstGeom prst="rect">
            <a:avLst/>
          </a:prstGeom>
          <a:noFill/>
        </p:spPr>
        <p:txBody>
          <a:bodyPr wrap="square" anchor="t" lIns="0" rIns="0" tIns="0" bIns="0">
            <a:spAutoFit/>
          </a:bodyPr>
          <a:lstStyle/>
          <a:p>
            <a:pPr algn="l">
              <a:lnSpc>
                <a:spcPct val="125000"/>
              </a:lnSpc>
            </a:pPr>
            <a:r>
              <a:rPr sz="1200" b="1" i="0">
                <a:solidFill>
                  <a:srgbClr val="0E3F8C"/>
                </a:solidFill>
                <a:latin typeface="Source Han Sans SC"/>
              </a:rPr>
              <a:t>Output 4x4</a:t>
            </a:r>
            <a:r>
              <a:rPr sz="940" b="0" i="0">
                <a:solidFill>
                  <a:srgbClr val="6B7280"/>
                </a:solidFill>
                <a:latin typeface="Source Han Sans SC"/>
              </a:rPr>
              <a:t> ｜ </a:t>
            </a:r>
            <a:r>
              <a:rPr sz="940" b="0" i="0">
                <a:solidFill>
                  <a:srgbClr val="6B7280"/>
                </a:solidFill>
                <a:latin typeface="Source Han Sans SC"/>
              </a:rPr>
              <a:t>输出 4×4</a:t>
            </a:r>
          </a:p>
        </p:txBody>
      </p:sp>
      <p:sp>
        <p:nvSpPr>
          <p:cNvPr id="13" name="Rectangle 12"/>
          <p:cNvSpPr/>
          <p:nvPr/>
        </p:nvSpPr>
        <p:spPr>
          <a:xfrm>
            <a:off x="799200" y="1951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99200" y="1951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15" name="Rectangle 14"/>
          <p:cNvSpPr/>
          <p:nvPr/>
        </p:nvSpPr>
        <p:spPr>
          <a:xfrm>
            <a:off x="1267200" y="1951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267200" y="1951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17" name="Rectangle 16"/>
          <p:cNvSpPr/>
          <p:nvPr/>
        </p:nvSpPr>
        <p:spPr>
          <a:xfrm>
            <a:off x="1735200" y="19511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735200" y="195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19" name="Rectangle 18"/>
          <p:cNvSpPr/>
          <p:nvPr/>
        </p:nvSpPr>
        <p:spPr>
          <a:xfrm>
            <a:off x="2203200" y="19511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203200" y="195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21" name="Rectangle 20"/>
          <p:cNvSpPr/>
          <p:nvPr/>
        </p:nvSpPr>
        <p:spPr>
          <a:xfrm>
            <a:off x="2671200" y="1951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671200" y="1951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23" name="Rectangle 22"/>
          <p:cNvSpPr/>
          <p:nvPr/>
        </p:nvSpPr>
        <p:spPr>
          <a:xfrm>
            <a:off x="3139200" y="1951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139200" y="1951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25" name="Rectangle 24"/>
          <p:cNvSpPr/>
          <p:nvPr/>
        </p:nvSpPr>
        <p:spPr>
          <a:xfrm>
            <a:off x="799200" y="2419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99200" y="2419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27" name="Rectangle 26"/>
          <p:cNvSpPr/>
          <p:nvPr/>
        </p:nvSpPr>
        <p:spPr>
          <a:xfrm>
            <a:off x="1267200" y="2419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267200" y="2419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29" name="Rectangle 28"/>
          <p:cNvSpPr/>
          <p:nvPr/>
        </p:nvSpPr>
        <p:spPr>
          <a:xfrm>
            <a:off x="1735200" y="24191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735200" y="2419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31" name="Rectangle 30"/>
          <p:cNvSpPr/>
          <p:nvPr/>
        </p:nvSpPr>
        <p:spPr>
          <a:xfrm>
            <a:off x="2203200" y="24191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203200" y="2419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33" name="Rectangle 32"/>
          <p:cNvSpPr/>
          <p:nvPr/>
        </p:nvSpPr>
        <p:spPr>
          <a:xfrm>
            <a:off x="2671200" y="2419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671200" y="2419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35" name="Rectangle 34"/>
          <p:cNvSpPr/>
          <p:nvPr/>
        </p:nvSpPr>
        <p:spPr>
          <a:xfrm>
            <a:off x="3139200" y="2419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139200" y="2419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37" name="Rectangle 36"/>
          <p:cNvSpPr/>
          <p:nvPr/>
        </p:nvSpPr>
        <p:spPr>
          <a:xfrm>
            <a:off x="799200" y="2887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99200" y="2887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39" name="Rectangle 38"/>
          <p:cNvSpPr/>
          <p:nvPr/>
        </p:nvSpPr>
        <p:spPr>
          <a:xfrm>
            <a:off x="1267200" y="2887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267200" y="2887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41" name="Rectangle 40"/>
          <p:cNvSpPr/>
          <p:nvPr/>
        </p:nvSpPr>
        <p:spPr>
          <a:xfrm>
            <a:off x="1735200" y="28871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735200" y="2887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43" name="Rectangle 42"/>
          <p:cNvSpPr/>
          <p:nvPr/>
        </p:nvSpPr>
        <p:spPr>
          <a:xfrm>
            <a:off x="2203200" y="28871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2203200" y="2887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45" name="Rectangle 44"/>
          <p:cNvSpPr/>
          <p:nvPr/>
        </p:nvSpPr>
        <p:spPr>
          <a:xfrm>
            <a:off x="2671200" y="2887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671200" y="2887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47" name="Rectangle 46"/>
          <p:cNvSpPr/>
          <p:nvPr/>
        </p:nvSpPr>
        <p:spPr>
          <a:xfrm>
            <a:off x="3139200" y="2887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139200" y="2887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49" name="Rectangle 48"/>
          <p:cNvSpPr/>
          <p:nvPr/>
        </p:nvSpPr>
        <p:spPr>
          <a:xfrm>
            <a:off x="799200" y="3355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99200" y="3355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51" name="Rectangle 50"/>
          <p:cNvSpPr/>
          <p:nvPr/>
        </p:nvSpPr>
        <p:spPr>
          <a:xfrm>
            <a:off x="1267200" y="3355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1267200" y="3355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53" name="Rectangle 52"/>
          <p:cNvSpPr/>
          <p:nvPr/>
        </p:nvSpPr>
        <p:spPr>
          <a:xfrm>
            <a:off x="1735200" y="33551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735200" y="3355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55" name="Rectangle 54"/>
          <p:cNvSpPr/>
          <p:nvPr/>
        </p:nvSpPr>
        <p:spPr>
          <a:xfrm>
            <a:off x="2203200" y="33551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2203200" y="3355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57" name="Rectangle 56"/>
          <p:cNvSpPr/>
          <p:nvPr/>
        </p:nvSpPr>
        <p:spPr>
          <a:xfrm>
            <a:off x="2671200" y="3355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2671200" y="3355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59" name="Rectangle 58"/>
          <p:cNvSpPr/>
          <p:nvPr/>
        </p:nvSpPr>
        <p:spPr>
          <a:xfrm>
            <a:off x="3139200" y="3355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3139200" y="3355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61" name="Rectangle 60"/>
          <p:cNvSpPr/>
          <p:nvPr/>
        </p:nvSpPr>
        <p:spPr>
          <a:xfrm>
            <a:off x="799200" y="3823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799200" y="3823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63" name="Rectangle 62"/>
          <p:cNvSpPr/>
          <p:nvPr/>
        </p:nvSpPr>
        <p:spPr>
          <a:xfrm>
            <a:off x="1267200" y="3823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1267200" y="3823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65" name="Rectangle 64"/>
          <p:cNvSpPr/>
          <p:nvPr/>
        </p:nvSpPr>
        <p:spPr>
          <a:xfrm>
            <a:off x="1735200" y="38231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1735200" y="3823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67" name="Rectangle 66"/>
          <p:cNvSpPr/>
          <p:nvPr/>
        </p:nvSpPr>
        <p:spPr>
          <a:xfrm>
            <a:off x="2203200" y="3823199"/>
            <a:ext cx="468000" cy="468000"/>
          </a:xfrm>
          <a:prstGeom prst="rect">
            <a:avLst/>
          </a:prstGeom>
          <a:solidFill>
            <a:srgbClr val="38414D"/>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2203200" y="3823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8</a:t>
            </a:r>
          </a:p>
        </p:txBody>
      </p:sp>
      <p:sp>
        <p:nvSpPr>
          <p:cNvPr id="69" name="Rectangle 68"/>
          <p:cNvSpPr/>
          <p:nvPr/>
        </p:nvSpPr>
        <p:spPr>
          <a:xfrm>
            <a:off x="2671200" y="3823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2671200" y="3823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71" name="Rectangle 70"/>
          <p:cNvSpPr/>
          <p:nvPr/>
        </p:nvSpPr>
        <p:spPr>
          <a:xfrm>
            <a:off x="3139200" y="3823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3139200" y="3823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73" name="Rectangle 72"/>
          <p:cNvSpPr/>
          <p:nvPr/>
        </p:nvSpPr>
        <p:spPr>
          <a:xfrm>
            <a:off x="799200" y="4291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799200" y="4291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75" name="Rectangle 74"/>
          <p:cNvSpPr/>
          <p:nvPr/>
        </p:nvSpPr>
        <p:spPr>
          <a:xfrm>
            <a:off x="1267200" y="4291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1267200" y="4291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77" name="Rectangle 76"/>
          <p:cNvSpPr/>
          <p:nvPr/>
        </p:nvSpPr>
        <p:spPr>
          <a:xfrm>
            <a:off x="1735200" y="42911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1735200" y="429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79" name="Rectangle 78"/>
          <p:cNvSpPr/>
          <p:nvPr/>
        </p:nvSpPr>
        <p:spPr>
          <a:xfrm>
            <a:off x="2203200" y="4291199"/>
            <a:ext cx="468000" cy="468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2203200" y="429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9</a:t>
            </a:r>
          </a:p>
        </p:txBody>
      </p:sp>
      <p:sp>
        <p:nvSpPr>
          <p:cNvPr id="81" name="Rectangle 80"/>
          <p:cNvSpPr/>
          <p:nvPr/>
        </p:nvSpPr>
        <p:spPr>
          <a:xfrm>
            <a:off x="2671200" y="4291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2671200" y="4291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83" name="Rectangle 82"/>
          <p:cNvSpPr/>
          <p:nvPr/>
        </p:nvSpPr>
        <p:spPr>
          <a:xfrm>
            <a:off x="3139200" y="4291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3139200" y="4291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85" name="Rectangle 84"/>
          <p:cNvSpPr/>
          <p:nvPr/>
        </p:nvSpPr>
        <p:spPr>
          <a:xfrm>
            <a:off x="1267200" y="2419199"/>
            <a:ext cx="1404000" cy="1404000"/>
          </a:xfrm>
          <a:prstGeom prst="rect">
            <a:avLst/>
          </a:prstGeom>
          <a:noFill/>
          <a:ln w="34925">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86" name="Connector 85"/>
          <p:cNvCxnSpPr/>
          <p:nvPr/>
        </p:nvCxnSpPr>
        <p:spPr>
          <a:xfrm>
            <a:off x="1735200" y="2419199"/>
            <a:ext cx="1404000" cy="0"/>
          </a:xfrm>
          <a:prstGeom prst="line">
            <a:avLst/>
          </a:prstGeom>
          <a:ln w="22225">
            <a:solidFill>
              <a:srgbClr val="3D7BD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3139200" y="2419199"/>
            <a:ext cx="0" cy="1404000"/>
          </a:xfrm>
          <a:prstGeom prst="line">
            <a:avLst/>
          </a:prstGeom>
          <a:ln w="22225">
            <a:solidFill>
              <a:srgbClr val="3D7BD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1735200" y="3823199"/>
            <a:ext cx="1404000" cy="0"/>
          </a:xfrm>
          <a:prstGeom prst="line">
            <a:avLst/>
          </a:prstGeom>
          <a:ln w="22225">
            <a:solidFill>
              <a:srgbClr val="3D7BD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735200" y="2419199"/>
            <a:ext cx="0" cy="1404000"/>
          </a:xfrm>
          <a:prstGeom prst="line">
            <a:avLst/>
          </a:prstGeom>
          <a:ln w="22225">
            <a:solidFill>
              <a:srgbClr val="3D7BD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679200" y="3121199"/>
            <a:ext cx="576000" cy="0"/>
          </a:xfrm>
          <a:prstGeom prst="line">
            <a:avLst/>
          </a:prstGeom>
          <a:ln w="19050">
            <a:solidFill>
              <a:srgbClr val="3D7BD9"/>
            </a:solidFill>
          </a:ln>
          <a:effectLst/>
        </p:spPr>
        <p:style>
          <a:lnRef idx="2">
            <a:schemeClr val="accent1"/>
          </a:lnRef>
          <a:fillRef idx="0">
            <a:schemeClr val="accent1"/>
          </a:fillRef>
          <a:effectRef idx="1">
            <a:schemeClr val="accent1"/>
          </a:effectRef>
          <a:fontRef idx="minor">
            <a:schemeClr val="tx1"/>
          </a:fontRef>
        </p:style>
      </p:cxnSp>
      <p:sp>
        <p:nvSpPr>
          <p:cNvPr id="91" name="Isosceles Triangle 90"/>
          <p:cNvSpPr/>
          <p:nvPr/>
        </p:nvSpPr>
        <p:spPr>
          <a:xfrm rot="5400000">
            <a:off x="4215600" y="3045599"/>
            <a:ext cx="151200" cy="151200"/>
          </a:xfrm>
          <a:prstGeom prst="triangle">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4381200" y="26531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4381200" y="2653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94" name="Rectangle 93"/>
          <p:cNvSpPr/>
          <p:nvPr/>
        </p:nvSpPr>
        <p:spPr>
          <a:xfrm>
            <a:off x="4849200" y="2653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TextBox 94"/>
          <p:cNvSpPr txBox="1"/>
          <p:nvPr/>
        </p:nvSpPr>
        <p:spPr>
          <a:xfrm>
            <a:off x="4849200" y="2653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96" name="Rectangle 95"/>
          <p:cNvSpPr/>
          <p:nvPr/>
        </p:nvSpPr>
        <p:spPr>
          <a:xfrm>
            <a:off x="5317200" y="26531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5317200" y="2653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98" name="Rectangle 97"/>
          <p:cNvSpPr/>
          <p:nvPr/>
        </p:nvSpPr>
        <p:spPr>
          <a:xfrm>
            <a:off x="4381200" y="31211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TextBox 98"/>
          <p:cNvSpPr txBox="1"/>
          <p:nvPr/>
        </p:nvSpPr>
        <p:spPr>
          <a:xfrm>
            <a:off x="4381200" y="312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100" name="Rectangle 99"/>
          <p:cNvSpPr/>
          <p:nvPr/>
        </p:nvSpPr>
        <p:spPr>
          <a:xfrm>
            <a:off x="4849200" y="3121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TextBox 100"/>
          <p:cNvSpPr txBox="1"/>
          <p:nvPr/>
        </p:nvSpPr>
        <p:spPr>
          <a:xfrm>
            <a:off x="4849200" y="3121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102" name="Rectangle 101"/>
          <p:cNvSpPr/>
          <p:nvPr/>
        </p:nvSpPr>
        <p:spPr>
          <a:xfrm>
            <a:off x="5317200" y="31211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TextBox 102"/>
          <p:cNvSpPr txBox="1"/>
          <p:nvPr/>
        </p:nvSpPr>
        <p:spPr>
          <a:xfrm>
            <a:off x="5317200" y="312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104" name="Rectangle 103"/>
          <p:cNvSpPr/>
          <p:nvPr/>
        </p:nvSpPr>
        <p:spPr>
          <a:xfrm>
            <a:off x="4381200" y="35891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TextBox 104"/>
          <p:cNvSpPr txBox="1"/>
          <p:nvPr/>
        </p:nvSpPr>
        <p:spPr>
          <a:xfrm>
            <a:off x="4381200" y="3589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106" name="Rectangle 105"/>
          <p:cNvSpPr/>
          <p:nvPr/>
        </p:nvSpPr>
        <p:spPr>
          <a:xfrm>
            <a:off x="4849200" y="3589199"/>
            <a:ext cx="468000" cy="468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TextBox 106"/>
          <p:cNvSpPr txBox="1"/>
          <p:nvPr/>
        </p:nvSpPr>
        <p:spPr>
          <a:xfrm>
            <a:off x="4849200" y="3589199"/>
            <a:ext cx="468000" cy="468000"/>
          </a:xfrm>
          <a:prstGeom prst="rect">
            <a:avLst/>
          </a:prstGeom>
          <a:noFill/>
        </p:spPr>
        <p:txBody>
          <a:bodyPr wrap="square" anchor="ctr" lIns="0" rIns="0" tIns="0" bIns="0">
            <a:spAutoFit/>
          </a:bodyPr>
          <a:lstStyle/>
          <a:p>
            <a:pPr algn="ctr">
              <a:lnSpc>
                <a:spcPct val="125000"/>
              </a:lnSpc>
            </a:pPr>
            <a:r>
              <a:rPr sz="950" b="0" i="0">
                <a:solidFill>
                  <a:srgbClr val="1F2937"/>
                </a:solidFill>
                <a:latin typeface="Source Han Sans SC"/>
              </a:rPr>
              <a:t>0</a:t>
            </a:r>
          </a:p>
        </p:txBody>
      </p:sp>
      <p:sp>
        <p:nvSpPr>
          <p:cNvPr id="108" name="Rectangle 107"/>
          <p:cNvSpPr/>
          <p:nvPr/>
        </p:nvSpPr>
        <p:spPr>
          <a:xfrm>
            <a:off x="5317200" y="3589199"/>
            <a:ext cx="468000" cy="468000"/>
          </a:xfrm>
          <a:prstGeom prst="rect">
            <a:avLst/>
          </a:prstGeom>
          <a:solidFill>
            <a:srgbClr val="D97706"/>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TextBox 108"/>
          <p:cNvSpPr txBox="1"/>
          <p:nvPr/>
        </p:nvSpPr>
        <p:spPr>
          <a:xfrm>
            <a:off x="5317200" y="3589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-1</a:t>
            </a:r>
          </a:p>
        </p:txBody>
      </p:sp>
      <p:sp>
        <p:nvSpPr>
          <p:cNvPr id="110" name="TextBox 109"/>
          <p:cNvSpPr txBox="1"/>
          <p:nvPr/>
        </p:nvSpPr>
        <p:spPr>
          <a:xfrm>
            <a:off x="4381200" y="4165199"/>
            <a:ext cx="2556000" cy="251999"/>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A vertical-edge detector: add the left, subtract the right</a:t>
            </a:r>
            <a:r>
              <a:rPr sz="819" b="0" i="0">
                <a:solidFill>
                  <a:srgbClr val="6B7280"/>
                </a:solidFill>
                <a:latin typeface="Source Han Sans SC"/>
              </a:rPr>
              <a:t> ｜ </a:t>
            </a:r>
            <a:r>
              <a:rPr sz="819" b="0" i="0">
                <a:solidFill>
                  <a:srgbClr val="6B7280"/>
                </a:solidFill>
                <a:latin typeface="Source Han Sans SC"/>
              </a:rPr>
              <a:t>竖直边缘检测核：左加右减</a:t>
            </a:r>
          </a:p>
        </p:txBody>
      </p:sp>
      <p:cxnSp>
        <p:nvCxnSpPr>
          <p:cNvPr id="111" name="Connector 110"/>
          <p:cNvCxnSpPr/>
          <p:nvPr/>
        </p:nvCxnSpPr>
        <p:spPr>
          <a:xfrm>
            <a:off x="5857200" y="3355199"/>
            <a:ext cx="522000" cy="0"/>
          </a:xfrm>
          <a:prstGeom prst="line">
            <a:avLst/>
          </a:prstGeom>
          <a:ln w="19050">
            <a:solidFill>
              <a:srgbClr val="3D7BD9"/>
            </a:solidFill>
          </a:ln>
          <a:effectLst/>
        </p:spPr>
        <p:style>
          <a:lnRef idx="2">
            <a:schemeClr val="accent1"/>
          </a:lnRef>
          <a:fillRef idx="0">
            <a:schemeClr val="accent1"/>
          </a:fillRef>
          <a:effectRef idx="1">
            <a:schemeClr val="accent1"/>
          </a:effectRef>
          <a:fontRef idx="minor">
            <a:schemeClr val="tx1"/>
          </a:fontRef>
        </p:style>
      </p:cxnSp>
      <p:sp>
        <p:nvSpPr>
          <p:cNvPr id="112" name="Isosceles Triangle 111"/>
          <p:cNvSpPr/>
          <p:nvPr/>
        </p:nvSpPr>
        <p:spPr>
          <a:xfrm rot="5400000">
            <a:off x="6339600" y="3279599"/>
            <a:ext cx="151200" cy="151200"/>
          </a:xfrm>
          <a:prstGeom prst="triangle">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6541200" y="19511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TextBox 113"/>
          <p:cNvSpPr txBox="1"/>
          <p:nvPr/>
        </p:nvSpPr>
        <p:spPr>
          <a:xfrm>
            <a:off x="6541200" y="195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15" name="Rectangle 114"/>
          <p:cNvSpPr/>
          <p:nvPr/>
        </p:nvSpPr>
        <p:spPr>
          <a:xfrm>
            <a:off x="7009200" y="19511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TextBox 115"/>
          <p:cNvSpPr txBox="1"/>
          <p:nvPr/>
        </p:nvSpPr>
        <p:spPr>
          <a:xfrm>
            <a:off x="7009200" y="195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17" name="Rectangle 116"/>
          <p:cNvSpPr/>
          <p:nvPr/>
        </p:nvSpPr>
        <p:spPr>
          <a:xfrm>
            <a:off x="7477200" y="19511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TextBox 117"/>
          <p:cNvSpPr txBox="1"/>
          <p:nvPr/>
        </p:nvSpPr>
        <p:spPr>
          <a:xfrm>
            <a:off x="7477200" y="195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19" name="Rectangle 118"/>
          <p:cNvSpPr/>
          <p:nvPr/>
        </p:nvSpPr>
        <p:spPr>
          <a:xfrm>
            <a:off x="7945200" y="19511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TextBox 119"/>
          <p:cNvSpPr txBox="1"/>
          <p:nvPr/>
        </p:nvSpPr>
        <p:spPr>
          <a:xfrm>
            <a:off x="7945200" y="1951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21" name="Rectangle 120"/>
          <p:cNvSpPr/>
          <p:nvPr/>
        </p:nvSpPr>
        <p:spPr>
          <a:xfrm>
            <a:off x="6541200" y="24191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TextBox 121"/>
          <p:cNvSpPr txBox="1"/>
          <p:nvPr/>
        </p:nvSpPr>
        <p:spPr>
          <a:xfrm>
            <a:off x="6541200" y="2419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23" name="Rectangle 122"/>
          <p:cNvSpPr/>
          <p:nvPr/>
        </p:nvSpPr>
        <p:spPr>
          <a:xfrm>
            <a:off x="7009200" y="2419199"/>
            <a:ext cx="468000" cy="468000"/>
          </a:xfrm>
          <a:prstGeom prst="rect">
            <a:avLst/>
          </a:prstGeom>
          <a:solidFill>
            <a:srgbClr val="0E3F8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TextBox 123"/>
          <p:cNvSpPr txBox="1"/>
          <p:nvPr/>
        </p:nvSpPr>
        <p:spPr>
          <a:xfrm>
            <a:off x="7009200" y="2419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25" name="Rectangle 124"/>
          <p:cNvSpPr/>
          <p:nvPr/>
        </p:nvSpPr>
        <p:spPr>
          <a:xfrm>
            <a:off x="7477200" y="24191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TextBox 125"/>
          <p:cNvSpPr txBox="1"/>
          <p:nvPr/>
        </p:nvSpPr>
        <p:spPr>
          <a:xfrm>
            <a:off x="7477200" y="2419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27" name="Rectangle 126"/>
          <p:cNvSpPr/>
          <p:nvPr/>
        </p:nvSpPr>
        <p:spPr>
          <a:xfrm>
            <a:off x="7945200" y="24191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TextBox 127"/>
          <p:cNvSpPr txBox="1"/>
          <p:nvPr/>
        </p:nvSpPr>
        <p:spPr>
          <a:xfrm>
            <a:off x="7945200" y="2419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29" name="Rectangle 128"/>
          <p:cNvSpPr/>
          <p:nvPr/>
        </p:nvSpPr>
        <p:spPr>
          <a:xfrm>
            <a:off x="6541200" y="28871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TextBox 129"/>
          <p:cNvSpPr txBox="1"/>
          <p:nvPr/>
        </p:nvSpPr>
        <p:spPr>
          <a:xfrm>
            <a:off x="6541200" y="2887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31" name="Rectangle 130"/>
          <p:cNvSpPr/>
          <p:nvPr/>
        </p:nvSpPr>
        <p:spPr>
          <a:xfrm>
            <a:off x="7009200" y="28871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TextBox 131"/>
          <p:cNvSpPr txBox="1"/>
          <p:nvPr/>
        </p:nvSpPr>
        <p:spPr>
          <a:xfrm>
            <a:off x="7009200" y="2887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33" name="Rectangle 132"/>
          <p:cNvSpPr/>
          <p:nvPr/>
        </p:nvSpPr>
        <p:spPr>
          <a:xfrm>
            <a:off x="7477200" y="28871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TextBox 133"/>
          <p:cNvSpPr txBox="1"/>
          <p:nvPr/>
        </p:nvSpPr>
        <p:spPr>
          <a:xfrm>
            <a:off x="7477200" y="2887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35" name="Rectangle 134"/>
          <p:cNvSpPr/>
          <p:nvPr/>
        </p:nvSpPr>
        <p:spPr>
          <a:xfrm>
            <a:off x="7945200" y="2887199"/>
            <a:ext cx="468000" cy="468000"/>
          </a:xfrm>
          <a:prstGeom prst="rect">
            <a:avLst/>
          </a:prstGeom>
          <a:solidFill>
            <a:srgbClr val="E1953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TextBox 135"/>
          <p:cNvSpPr txBox="1"/>
          <p:nvPr/>
        </p:nvSpPr>
        <p:spPr>
          <a:xfrm>
            <a:off x="7945200" y="2887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+25</a:t>
            </a:r>
          </a:p>
        </p:txBody>
      </p:sp>
      <p:sp>
        <p:nvSpPr>
          <p:cNvPr id="137" name="Rectangle 136"/>
          <p:cNvSpPr/>
          <p:nvPr/>
        </p:nvSpPr>
        <p:spPr>
          <a:xfrm>
            <a:off x="6541200" y="33551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TextBox 137"/>
          <p:cNvSpPr txBox="1"/>
          <p:nvPr/>
        </p:nvSpPr>
        <p:spPr>
          <a:xfrm>
            <a:off x="6541200" y="3355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39" name="Rectangle 138"/>
          <p:cNvSpPr/>
          <p:nvPr/>
        </p:nvSpPr>
        <p:spPr>
          <a:xfrm>
            <a:off x="7009200" y="33551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TextBox 139"/>
          <p:cNvSpPr txBox="1"/>
          <p:nvPr/>
        </p:nvSpPr>
        <p:spPr>
          <a:xfrm>
            <a:off x="7009200" y="3355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41" name="Rectangle 140"/>
          <p:cNvSpPr/>
          <p:nvPr/>
        </p:nvSpPr>
        <p:spPr>
          <a:xfrm>
            <a:off x="7477200" y="33551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2" name="TextBox 141"/>
          <p:cNvSpPr txBox="1"/>
          <p:nvPr/>
        </p:nvSpPr>
        <p:spPr>
          <a:xfrm>
            <a:off x="7477200" y="3355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43" name="Rectangle 142"/>
          <p:cNvSpPr/>
          <p:nvPr/>
        </p:nvSpPr>
        <p:spPr>
          <a:xfrm>
            <a:off x="7945200" y="3355199"/>
            <a:ext cx="468000" cy="468000"/>
          </a:xfrm>
          <a:prstGeom prst="rect">
            <a:avLst/>
          </a:prstGeom>
          <a:solidFill>
            <a:srgbClr val="E0903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TextBox 143"/>
          <p:cNvSpPr txBox="1"/>
          <p:nvPr/>
        </p:nvSpPr>
        <p:spPr>
          <a:xfrm>
            <a:off x="7945200" y="3355199"/>
            <a:ext cx="468000" cy="468000"/>
          </a:xfrm>
          <a:prstGeom prst="rect">
            <a:avLst/>
          </a:prstGeom>
          <a:noFill/>
        </p:spPr>
        <p:txBody>
          <a:bodyPr wrap="square" anchor="ctr" lIns="0" rIns="0" tIns="0" bIns="0">
            <a:spAutoFit/>
          </a:bodyPr>
          <a:lstStyle/>
          <a:p>
            <a:pPr algn="ctr">
              <a:lnSpc>
                <a:spcPct val="125000"/>
              </a:lnSpc>
            </a:pPr>
            <a:r>
              <a:rPr sz="950" b="0" i="0">
                <a:solidFill>
                  <a:srgbClr val="FFFFFF"/>
                </a:solidFill>
                <a:latin typeface="Source Han Sans SC"/>
              </a:rPr>
              <a:t>+26</a:t>
            </a:r>
          </a:p>
        </p:txBody>
      </p:sp>
      <p:sp>
        <p:nvSpPr>
          <p:cNvPr id="145" name="Rectangle 144"/>
          <p:cNvSpPr/>
          <p:nvPr/>
        </p:nvSpPr>
        <p:spPr>
          <a:xfrm>
            <a:off x="7009200" y="2419199"/>
            <a:ext cx="468000" cy="468000"/>
          </a:xfrm>
          <a:prstGeom prst="rect">
            <a:avLst/>
          </a:prstGeom>
          <a:noFill/>
          <a:ln w="34925">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6" name="Rectangle 145"/>
          <p:cNvSpPr/>
          <p:nvPr/>
        </p:nvSpPr>
        <p:spPr>
          <a:xfrm>
            <a:off x="799200" y="4788000"/>
            <a:ext cx="10593719" cy="917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7" name="TextBox 146"/>
          <p:cNvSpPr txBox="1"/>
          <p:nvPr/>
        </p:nvSpPr>
        <p:spPr>
          <a:xfrm>
            <a:off x="1015200" y="4924800"/>
            <a:ext cx="3960000" cy="684000"/>
          </a:xfrm>
          <a:prstGeom prst="rect">
            <a:avLst/>
          </a:prstGeom>
          <a:noFill/>
        </p:spPr>
        <p:txBody>
          <a:bodyPr wrap="square" anchor="t" lIns="0" rIns="0" tIns="0" bIns="0">
            <a:spAutoFit/>
          </a:bodyPr>
          <a:lstStyle/>
          <a:p>
            <a:pPr algn="l">
              <a:lnSpc>
                <a:spcPct val="124000"/>
              </a:lnSpc>
            </a:pPr>
            <a:r>
              <a:rPr sz="1250" b="0" i="0">
                <a:solidFill>
                  <a:srgbClr val="E2E8F0"/>
                </a:solidFill>
                <a:latin typeface="Menlo"/>
              </a:rPr>
              <a:t>+1x0 +0x9 -1x9
+1x0 +0x8 -1x8
+1x0 +0x9 -1x9</a:t>
            </a:r>
          </a:p>
        </p:txBody>
      </p:sp>
      <p:sp>
        <p:nvSpPr>
          <p:cNvPr id="148" name="TextBox 147"/>
          <p:cNvSpPr txBox="1"/>
          <p:nvPr/>
        </p:nvSpPr>
        <p:spPr>
          <a:xfrm>
            <a:off x="3823200" y="4924800"/>
            <a:ext cx="1800000" cy="684000"/>
          </a:xfrm>
          <a:prstGeom prst="rect">
            <a:avLst/>
          </a:prstGeom>
          <a:noFill/>
        </p:spPr>
        <p:txBody>
          <a:bodyPr wrap="square" anchor="t" lIns="0" rIns="0" tIns="0" bIns="0">
            <a:spAutoFit/>
          </a:bodyPr>
          <a:lstStyle/>
          <a:p>
            <a:pPr algn="l">
              <a:lnSpc>
                <a:spcPct val="125000"/>
              </a:lnSpc>
            </a:pPr>
            <a:r>
              <a:rPr sz="1400" b="1" i="0">
                <a:solidFill>
                  <a:srgbClr val="93C5FD"/>
                </a:solidFill>
                <a:latin typeface="Menlo"/>
              </a:rPr>
              <a:t>= -26</a:t>
            </a:r>
          </a:p>
        </p:txBody>
      </p:sp>
      <p:sp>
        <p:nvSpPr>
          <p:cNvPr id="149" name="TextBox 148"/>
          <p:cNvSpPr txBox="1"/>
          <p:nvPr/>
        </p:nvSpPr>
        <p:spPr>
          <a:xfrm>
            <a:off x="5803200" y="4939200"/>
            <a:ext cx="5373719" cy="720000"/>
          </a:xfrm>
          <a:prstGeom prst="rect">
            <a:avLst/>
          </a:prstGeom>
          <a:noFill/>
        </p:spPr>
        <p:txBody>
          <a:bodyPr wrap="square" anchor="t" lIns="0" rIns="0" tIns="0" bIns="0">
            <a:spAutoFit/>
          </a:bodyPr>
          <a:lstStyle/>
          <a:p>
            <a:pPr algn="l">
              <a:lnSpc>
                <a:spcPct val="130000"/>
              </a:lnSpc>
            </a:pPr>
            <a:r>
              <a:rPr sz="1150" b="0" i="0">
                <a:solidFill>
                  <a:srgbClr val="E2E8F0"/>
                </a:solidFill>
                <a:latin typeface="Source Han Sans SC"/>
              </a:rPr>
              <a:t>The highlighted window multiplied out element by element gives the number on the right. The dashed square is where the kernel lands next.</a:t>
            </a:r>
            <a:r>
              <a:rPr sz="900" b="0" i="0">
                <a:solidFill>
                  <a:srgbClr val="6B7280"/>
                </a:solidFill>
                <a:latin typeface="Source Han Sans SC"/>
              </a:rPr>
              <a:t> ｜ </a:t>
            </a:r>
            <a:r>
              <a:rPr sz="900" b="0" i="0">
                <a:solidFill>
                  <a:srgbClr val="6B7280"/>
                </a:solidFill>
                <a:latin typeface="Source Han Sans SC"/>
              </a:rPr>
              <a:t>高亮窗口逐元素相乘再求和，就是右边那个数字。虚框是核下一步要落的位置。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206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20686"/>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13924"/>
          </a:xfrm>
          <a:prstGeom prst="rect">
            <a:avLst/>
          </a:prstGeom>
          <a:noFill/>
        </p:spPr>
        <p:txBody>
          <a:bodyPr wrap="square" anchor="t" lIns="0" rIns="0" tIns="0" bIns="0">
            <a:spAutoFit/>
          </a:bodyPr>
          <a:lstStyle/>
          <a:p>
            <a:pPr algn="l">
              <a:lnSpc>
                <a:spcPct val="114000"/>
              </a:lnSpc>
            </a:pPr>
            <a:r>
              <a:rPr sz="1400" b="1" i="0">
                <a:solidFill>
                  <a:srgbClr val="0E3F8C"/>
                </a:solidFill>
                <a:latin typeface="Source Han Sans SC"/>
              </a:rPr>
              <a:t>A convolution is one sliding dot product — write it once by hand</a:t>
            </a:r>
          </a:p>
          <a:p>
            <a:pPr algn="l">
              <a:lnSpc>
                <a:spcPct val="105000"/>
              </a:lnSpc>
              <a:spcBef>
                <a:spcPts val="150"/>
              </a:spcBef>
            </a:pPr>
            <a:r>
              <a:rPr sz="1090" b="0" i="0">
                <a:solidFill>
                  <a:srgbClr val="6B7280"/>
                </a:solidFill>
                <a:latin typeface="Source Han Sans SC"/>
              </a:rPr>
              <a:t>卷积就是一次滑动点积——先把这句话写成代码</a:t>
            </a:r>
          </a:p>
        </p:txBody>
      </p:sp>
      <p:sp>
        <p:nvSpPr>
          <p:cNvPr id="6" name="TextBox 5"/>
          <p:cNvSpPr txBox="1"/>
          <p:nvPr/>
        </p:nvSpPr>
        <p:spPr>
          <a:xfrm>
            <a:off x="799200" y="635524"/>
            <a:ext cx="7713719" cy="442761"/>
          </a:xfrm>
          <a:prstGeom prst="rect">
            <a:avLst/>
          </a:prstGeom>
          <a:noFill/>
        </p:spPr>
        <p:txBody>
          <a:bodyPr wrap="square" anchor="t" lIns="0" rIns="0" tIns="0" bIns="0">
            <a:spAutoFit/>
          </a:bodyPr>
          <a:lstStyle/>
          <a:p>
            <a:pPr algn="l">
              <a:lnSpc>
                <a:spcPct val="114000"/>
              </a:lnSpc>
            </a:pPr>
            <a:r>
              <a:rPr sz="940" b="0" i="0">
                <a:solidFill>
                  <a:srgbClr val="6B7280"/>
                </a:solidFill>
                <a:latin typeface="Source Han Sans SC"/>
              </a:rPr>
              <a:t>The hand-written version is not what you will ship; it is what makes feature map, stride and padding mean something</a:t>
            </a:r>
          </a:p>
          <a:p>
            <a:pPr algn="l">
              <a:lnSpc>
                <a:spcPct val="105000"/>
              </a:lnSpc>
              <a:spcBef>
                <a:spcPts val="150"/>
              </a:spcBef>
            </a:pPr>
            <a:r>
              <a:rPr sz="800" b="0" i="0">
                <a:solidFill>
                  <a:srgbClr val="6B7280"/>
                </a:solidFill>
                <a:latin typeface="Source Han Sans SC"/>
              </a:rPr>
              <a:t>手写实现不是让你以后都手写，是为了让「特征图」「步长」「填充」这三个词有具体含义</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KT13</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06 / 32</a:t>
            </a:r>
          </a:p>
        </p:txBody>
      </p:sp>
      <p:sp>
        <p:nvSpPr>
          <p:cNvPr id="10" name="Rectangle 9"/>
          <p:cNvSpPr/>
          <p:nvPr/>
        </p:nvSpPr>
        <p:spPr>
          <a:xfrm>
            <a:off x="799200" y="1170000"/>
            <a:ext cx="5185259" cy="406929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1. Naive: one 3x3 kernel over an 8x8 image</a:t>
            </a:r>
          </a:p>
          <a:p>
            <a:pPr algn="l">
              <a:lnSpc>
                <a:spcPct val="105000"/>
              </a:lnSpc>
              <a:spcBef>
                <a:spcPts val="150"/>
              </a:spcBef>
            </a:pPr>
            <a:r>
              <a:rPr sz="900" b="0" i="0">
                <a:solidFill>
                  <a:srgbClr val="6B7280"/>
                </a:solidFill>
                <a:latin typeface="Source Han Sans SC"/>
              </a:rPr>
              <a:t>① 朴素实现：一个 3×3 核滑过 8×8</a:t>
            </a:r>
          </a:p>
        </p:txBody>
      </p:sp>
      <p:sp>
        <p:nvSpPr>
          <p:cNvPr id="13" name="TextBox 12"/>
          <p:cNvSpPr txBox="1"/>
          <p:nvPr/>
        </p:nvSpPr>
        <p:spPr>
          <a:xfrm>
            <a:off x="997200" y="1584000"/>
            <a:ext cx="4789259" cy="3583290"/>
          </a:xfrm>
          <a:prstGeom prst="rect">
            <a:avLst/>
          </a:prstGeom>
          <a:noFill/>
        </p:spPr>
        <p:txBody>
          <a:bodyPr wrap="square" anchor="t" lIns="0" rIns="0" tIns="0" bIns="0">
            <a:spAutoFit/>
          </a:bodyPr>
          <a:lstStyle/>
          <a:p>
            <a:pPr algn="l">
              <a:lnSpc>
                <a:spcPct val="128000"/>
              </a:lnSpc>
            </a:pPr>
            <a:r>
              <a:rPr sz="1000" b="0" i="0">
                <a:solidFill>
                  <a:srgbClr val="E2E8F0"/>
                </a:solidFill>
                <a:latin typeface="Menlo"/>
              </a:rPr>
              <a:t>def conv2d_naive(img, kernel, stride=1, pad=0):</a:t>
            </a:r>
          </a:p>
          <a:p>
            <a:pPr algn="l">
              <a:lnSpc>
                <a:spcPct val="128000"/>
              </a:lnSpc>
            </a:pPr>
            <a:r>
              <a:rPr sz="1000" b="0" i="0">
                <a:solidFill>
                  <a:srgbClr val="E2E8F0"/>
                </a:solidFill>
                <a:latin typeface="Menlo"/>
              </a:rPr>
              <a:t>    # img: (H, W)   kernel: (kh, kw)</a:t>
            </a:r>
          </a:p>
          <a:p>
            <a:pPr algn="l">
              <a:lnSpc>
                <a:spcPct val="128000"/>
              </a:lnSpc>
            </a:pPr>
            <a:r>
              <a:rPr sz="1000" b="0" i="0">
                <a:solidFill>
                  <a:srgbClr val="E2E8F0"/>
                </a:solidFill>
                <a:latin typeface="Menlo"/>
              </a:rPr>
              <a:t>    H, W = img.shape</a:t>
            </a:r>
          </a:p>
          <a:p>
            <a:pPr algn="l">
              <a:lnSpc>
                <a:spcPct val="128000"/>
              </a:lnSpc>
            </a:pPr>
            <a:r>
              <a:rPr sz="1000" b="0" i="0">
                <a:solidFill>
                  <a:srgbClr val="E2E8F0"/>
                </a:solidFill>
                <a:latin typeface="Menlo"/>
              </a:rPr>
              <a:t>    kh, kw = kernel.shape</a:t>
            </a:r>
          </a:p>
          <a:p>
            <a:pPr algn="l">
              <a:lnSpc>
                <a:spcPct val="128000"/>
              </a:lnSpc>
            </a:pPr>
            <a:r>
              <a:rPr sz="1000" b="0" i="0">
                <a:solidFill>
                  <a:srgbClr val="E2E8F0"/>
                </a:solidFill>
                <a:latin typeface="Menlo"/>
              </a:rPr>
              <a:t>    if pad:</a:t>
            </a:r>
          </a:p>
          <a:p>
            <a:pPr algn="l">
              <a:lnSpc>
                <a:spcPct val="128000"/>
              </a:lnSpc>
            </a:pPr>
            <a:r>
              <a:rPr sz="1000" b="0" i="0">
                <a:solidFill>
                  <a:srgbClr val="E2E8F0"/>
                </a:solidFill>
                <a:latin typeface="Menlo"/>
              </a:rPr>
              <a:t>        img = F.pad(img, (pad,) * 4)</a:t>
            </a:r>
          </a:p>
          <a:p>
            <a:pPr algn="l">
              <a:lnSpc>
                <a:spcPct val="128000"/>
              </a:lnSpc>
            </a:pPr>
            <a:r>
              <a:rPr sz="1000" b="0" i="0">
                <a:solidFill>
                  <a:srgbClr val="E2E8F0"/>
                </a:solidFill>
                <a:latin typeface="Menlo"/>
              </a:rPr>
              <a:t>        H, W = H + 2 * pad, W + 2 * pad</a:t>
            </a:r>
          </a:p>
          <a:p>
            <a:pPr algn="l">
              <a:lnSpc>
                <a:spcPct val="128000"/>
              </a:lnSpc>
            </a:pPr>
            <a:r>
              <a:rPr sz="1000" b="0" i="0">
                <a:solidFill>
                  <a:srgbClr val="E2E8F0"/>
                </a:solidFill>
                <a:latin typeface="Menlo"/>
              </a:rPr>
              <a:t>    oh = (H - kh) // stride + 1</a:t>
            </a:r>
          </a:p>
          <a:p>
            <a:pPr algn="l">
              <a:lnSpc>
                <a:spcPct val="128000"/>
              </a:lnSpc>
            </a:pPr>
            <a:r>
              <a:rPr sz="1000" b="0" i="0">
                <a:solidFill>
                  <a:srgbClr val="E2E8F0"/>
                </a:solidFill>
                <a:latin typeface="Menlo"/>
              </a:rPr>
              <a:t>    ow = (W - kw) // stride + 1</a:t>
            </a:r>
          </a:p>
          <a:p>
            <a:pPr algn="l">
              <a:lnSpc>
                <a:spcPct val="128000"/>
              </a:lnSpc>
            </a:pPr>
            <a:r>
              <a:rPr sz="1000" b="0" i="0">
                <a:solidFill>
                  <a:srgbClr val="E2E8F0"/>
                </a:solidFill>
                <a:latin typeface="Menlo"/>
              </a:rPr>
              <a:t>    out = torch.zeros(oh, ow)</a:t>
            </a:r>
          </a:p>
          <a:p>
            <a:pPr algn="l">
              <a:lnSpc>
                <a:spcPct val="128000"/>
              </a:lnSpc>
            </a:pPr>
            <a:r>
              <a:rPr sz="1000" b="0" i="0">
                <a:solidFill>
                  <a:srgbClr val="E2E8F0"/>
                </a:solidFill>
                <a:latin typeface="Menlo"/>
              </a:rPr>
              <a:t>    for i in range(oh):</a:t>
            </a:r>
          </a:p>
          <a:p>
            <a:pPr algn="l">
              <a:lnSpc>
                <a:spcPct val="128000"/>
              </a:lnSpc>
            </a:pPr>
            <a:r>
              <a:rPr sz="1000" b="0" i="0">
                <a:solidFill>
                  <a:srgbClr val="E2E8F0"/>
                </a:solidFill>
                <a:latin typeface="Menlo"/>
              </a:rPr>
              <a:t>        for j in range(ow):</a:t>
            </a:r>
          </a:p>
          <a:p>
            <a:pPr algn="l">
              <a:lnSpc>
                <a:spcPct val="128000"/>
              </a:lnSpc>
            </a:pPr>
            <a:r>
              <a:rPr sz="1000" b="0" i="0">
                <a:solidFill>
                  <a:srgbClr val="E2E8F0"/>
                </a:solidFill>
                <a:latin typeface="Menlo"/>
              </a:rPr>
              <a:t>            patch = img[i*stride : i*stride+kh,</a:t>
            </a:r>
          </a:p>
          <a:p>
            <a:pPr algn="l">
              <a:lnSpc>
                <a:spcPct val="128000"/>
              </a:lnSpc>
            </a:pPr>
            <a:r>
              <a:rPr sz="1000" b="0" i="0">
                <a:solidFill>
                  <a:srgbClr val="E2E8F0"/>
                </a:solidFill>
                <a:latin typeface="Menlo"/>
              </a:rPr>
              <a:t>                        j*stride : j*stride+kw]</a:t>
            </a:r>
          </a:p>
          <a:p>
            <a:pPr algn="l">
              <a:lnSpc>
                <a:spcPct val="128000"/>
              </a:lnSpc>
            </a:pPr>
            <a:r>
              <a:rPr sz="1000" b="0" i="0">
                <a:solidFill>
                  <a:srgbClr val="E2E8F0"/>
                </a:solidFill>
                <a:latin typeface="Menlo"/>
              </a:rPr>
              <a:t>            out[i, j] = (patch * kernel).sum()</a:t>
            </a:r>
          </a:p>
          <a:p>
            <a:pPr algn="l">
              <a:lnSpc>
                <a:spcPct val="128000"/>
              </a:lnSpc>
            </a:pPr>
            <a:r>
              <a:rPr sz="1000" b="0" i="0">
                <a:solidFill>
                  <a:srgbClr val="E2E8F0"/>
                </a:solidFill>
                <a:latin typeface="Menlo"/>
              </a:rPr>
              <a:t>    return out</a:t>
            </a:r>
          </a:p>
        </p:txBody>
      </p:sp>
      <p:sp>
        <p:nvSpPr>
          <p:cNvPr id="14" name="Rectangle 13"/>
          <p:cNvSpPr/>
          <p:nvPr/>
        </p:nvSpPr>
        <p:spPr>
          <a:xfrm>
            <a:off x="6207659" y="1170000"/>
            <a:ext cx="5185259" cy="406929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7659"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69659"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2. Check it against nn.Conv2d (assert, do not trust)</a:t>
            </a:r>
          </a:p>
          <a:p>
            <a:pPr algn="l">
              <a:lnSpc>
                <a:spcPct val="105000"/>
              </a:lnSpc>
              <a:spcBef>
                <a:spcPts val="150"/>
              </a:spcBef>
            </a:pPr>
            <a:r>
              <a:rPr sz="900" b="0" i="0">
                <a:solidFill>
                  <a:srgbClr val="6B7280"/>
                </a:solidFill>
                <a:latin typeface="Source Han Sans SC"/>
              </a:rPr>
              <a:t>② 与 nn.Conv2d 对齐（断言，不是相信）</a:t>
            </a:r>
          </a:p>
        </p:txBody>
      </p:sp>
      <p:sp>
        <p:nvSpPr>
          <p:cNvPr id="17" name="TextBox 16"/>
          <p:cNvSpPr txBox="1"/>
          <p:nvPr/>
        </p:nvSpPr>
        <p:spPr>
          <a:xfrm>
            <a:off x="6405659" y="1584000"/>
            <a:ext cx="4789259" cy="3583290"/>
          </a:xfrm>
          <a:prstGeom prst="rect">
            <a:avLst/>
          </a:prstGeom>
          <a:noFill/>
        </p:spPr>
        <p:txBody>
          <a:bodyPr wrap="square" anchor="t" lIns="0" rIns="0" tIns="0" bIns="0">
            <a:spAutoFit/>
          </a:bodyPr>
          <a:lstStyle/>
          <a:p>
            <a:pPr algn="l">
              <a:lnSpc>
                <a:spcPct val="128000"/>
              </a:lnSpc>
            </a:pPr>
            <a:r>
              <a:rPr sz="1000" b="0" i="0">
                <a:solidFill>
                  <a:srgbClr val="E2E8F0"/>
                </a:solidFill>
                <a:latin typeface="Menlo"/>
              </a:rPr>
              <a:t>torch.manual_seed(0)</a:t>
            </a:r>
          </a:p>
          <a:p>
            <a:pPr algn="l">
              <a:lnSpc>
                <a:spcPct val="128000"/>
              </a:lnSpc>
            </a:pPr>
            <a:r>
              <a:rPr sz="1000" b="0" i="0">
                <a:solidFill>
                  <a:srgbClr val="E2E8F0"/>
                </a:solidFill>
                <a:latin typeface="Menlo"/>
              </a:rPr>
              <a:t>img    = torch.randn(8, 8)</a:t>
            </a:r>
          </a:p>
          <a:p>
            <a:pPr algn="l">
              <a:lnSpc>
                <a:spcPct val="128000"/>
              </a:lnSpc>
            </a:pPr>
            <a:r>
              <a:rPr sz="1000" b="0" i="0">
                <a:solidFill>
                  <a:srgbClr val="E2E8F0"/>
                </a:solidFill>
                <a:latin typeface="Menlo"/>
              </a:rPr>
              <a:t>kernel = torch.randn(3, 3)</a:t>
            </a:r>
          </a:p>
          <a:p>
            <a:pPr algn="l">
              <a:lnSpc>
                <a:spcPct val="128000"/>
              </a:lnSpc>
            </a:pPr>
            <a:r>
              <a:rPr sz="1000" b="0" i="0">
                <a:solidFill>
                  <a:srgbClr val="E2E8F0"/>
                </a:solidFill>
                <a:latin typeface="Menlo"/>
              </a:rPr>
              <a:t/>
            </a:r>
          </a:p>
          <a:p>
            <a:pPr algn="l">
              <a:lnSpc>
                <a:spcPct val="128000"/>
              </a:lnSpc>
            </a:pPr>
            <a:r>
              <a:rPr sz="1000" b="0" i="0">
                <a:solidFill>
                  <a:srgbClr val="E2E8F0"/>
                </a:solidFill>
                <a:latin typeface="Menlo"/>
              </a:rPr>
              <a:t>mine = conv2d_naive(img, kernel, stride=1, pad=1)</a:t>
            </a:r>
          </a:p>
          <a:p>
            <a:pPr algn="l">
              <a:lnSpc>
                <a:spcPct val="128000"/>
              </a:lnSpc>
            </a:pPr>
            <a:r>
              <a:rPr sz="1000" b="0" i="0">
                <a:solidFill>
                  <a:srgbClr val="E2E8F0"/>
                </a:solidFill>
                <a:latin typeface="Menlo"/>
              </a:rPr>
              <a:t/>
            </a:r>
          </a:p>
          <a:p>
            <a:pPr algn="l">
              <a:lnSpc>
                <a:spcPct val="128000"/>
              </a:lnSpc>
            </a:pPr>
            <a:r>
              <a:rPr sz="1000" b="0" i="0">
                <a:solidFill>
                  <a:srgbClr val="E2E8F0"/>
                </a:solidFill>
                <a:latin typeface="Menlo"/>
              </a:rPr>
              <a:t>conv = nn.Conv2d(1, 1, 3, stride=1, padding=1,</a:t>
            </a:r>
          </a:p>
          <a:p>
            <a:pPr algn="l">
              <a:lnSpc>
                <a:spcPct val="128000"/>
              </a:lnSpc>
            </a:pPr>
            <a:r>
              <a:rPr sz="1000" b="0" i="0">
                <a:solidFill>
                  <a:srgbClr val="E2E8F0"/>
                </a:solidFill>
                <a:latin typeface="Menlo"/>
              </a:rPr>
              <a:t>                 bias=False)</a:t>
            </a:r>
          </a:p>
          <a:p>
            <a:pPr algn="l">
              <a:lnSpc>
                <a:spcPct val="128000"/>
              </a:lnSpc>
            </a:pPr>
            <a:r>
              <a:rPr sz="1000" b="0" i="0">
                <a:solidFill>
                  <a:srgbClr val="E2E8F0"/>
                </a:solidFill>
                <a:latin typeface="Menlo"/>
              </a:rPr>
              <a:t>conv.weight.data = kernel.view(1, 1, 3, 3)</a:t>
            </a:r>
          </a:p>
          <a:p>
            <a:pPr algn="l">
              <a:lnSpc>
                <a:spcPct val="128000"/>
              </a:lnSpc>
            </a:pPr>
            <a:r>
              <a:rPr sz="1000" b="0" i="0">
                <a:solidFill>
                  <a:srgbClr val="E2E8F0"/>
                </a:solidFill>
                <a:latin typeface="Menlo"/>
              </a:rPr>
              <a:t>ref = conv(img.view(1, 1, 8, 8))[0, 0]</a:t>
            </a:r>
          </a:p>
          <a:p>
            <a:pPr algn="l">
              <a:lnSpc>
                <a:spcPct val="128000"/>
              </a:lnSpc>
            </a:pPr>
            <a:r>
              <a:rPr sz="1000" b="0" i="0">
                <a:solidFill>
                  <a:srgbClr val="E2E8F0"/>
                </a:solidFill>
                <a:latin typeface="Menlo"/>
              </a:rPr>
              <a:t/>
            </a:r>
          </a:p>
          <a:p>
            <a:pPr algn="l">
              <a:lnSpc>
                <a:spcPct val="128000"/>
              </a:lnSpc>
            </a:pPr>
            <a:r>
              <a:rPr sz="1000" b="0" i="0">
                <a:solidFill>
                  <a:srgbClr val="E2E8F0"/>
                </a:solidFill>
                <a:latin typeface="Menlo"/>
              </a:rPr>
              <a:t>assert mine.shape == ref.shape == (8, 8)</a:t>
            </a:r>
          </a:p>
          <a:p>
            <a:pPr algn="l">
              <a:lnSpc>
                <a:spcPct val="128000"/>
              </a:lnSpc>
            </a:pPr>
            <a:r>
              <a:rPr sz="1000" b="0" i="0">
                <a:solidFill>
                  <a:srgbClr val="E2E8F0"/>
                </a:solidFill>
                <a:latin typeface="Menlo"/>
              </a:rPr>
              <a:t>assert torch.allclose(mine, ref, atol=1e-5)</a:t>
            </a:r>
          </a:p>
          <a:p>
            <a:pPr algn="l">
              <a:lnSpc>
                <a:spcPct val="128000"/>
              </a:lnSpc>
            </a:pPr>
            <a:r>
              <a:rPr sz="1000" b="0" i="0">
                <a:solidFill>
                  <a:srgbClr val="E2E8F0"/>
                </a:solidFill>
                <a:latin typeface="Menlo"/>
              </a:rPr>
              <a:t>print('hand-written == nn.Conv2d')</a:t>
            </a:r>
          </a:p>
          <a:p>
            <a:pPr algn="l">
              <a:lnSpc>
                <a:spcPct val="128000"/>
              </a:lnSpc>
            </a:pPr>
            <a:r>
              <a:rPr sz="1000" b="0" i="0">
                <a:solidFill>
                  <a:srgbClr val="E2E8F0"/>
                </a:solidFill>
                <a:latin typeface="Menlo"/>
              </a:rPr>
              <a:t/>
            </a:r>
          </a:p>
          <a:p>
            <a:pPr algn="l">
              <a:lnSpc>
                <a:spcPct val="128000"/>
              </a:lnSpc>
            </a:pPr>
            <a:r>
              <a:rPr sz="1000" b="0" i="0">
                <a:solidFill>
                  <a:srgbClr val="E2E8F0"/>
                </a:solidFill>
                <a:latin typeface="Menlo"/>
              </a:rPr>
              <a:t># receptive field: how much input one output sees</a:t>
            </a:r>
          </a:p>
          <a:p>
            <a:pPr algn="l">
              <a:lnSpc>
                <a:spcPct val="128000"/>
              </a:lnSpc>
            </a:pPr>
            <a:r>
              <a:rPr sz="1000" b="0" i="0">
                <a:solidFill>
                  <a:srgbClr val="E2E8F0"/>
                </a:solidFill>
                <a:latin typeface="Menlo"/>
              </a:rPr>
              <a:t># 3x3 -&gt; 3; a second 3x3 -&gt; 5; add pooling -&gt; more</a:t>
            </a:r>
          </a:p>
        </p:txBody>
      </p:sp>
      <p:sp>
        <p:nvSpPr>
          <p:cNvPr id="18" name="TextBox 17"/>
          <p:cNvSpPr txBox="1"/>
          <p:nvPr/>
        </p:nvSpPr>
        <p:spPr>
          <a:xfrm>
            <a:off x="799200" y="541929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Once this page runs you know that all a convolution does is take a patch, multiply element-wise, and sum — repeated. Everything else is engineering.</a:t>
            </a:r>
          </a:p>
          <a:p>
            <a:pPr algn="l">
              <a:lnSpc>
                <a:spcPct val="105000"/>
              </a:lnSpc>
              <a:spcBef>
                <a:spcPts val="150"/>
              </a:spcBef>
            </a:pPr>
            <a:r>
              <a:rPr sz="940" b="0" i="0">
                <a:solidFill>
                  <a:srgbClr val="6B7280"/>
                </a:solidFill>
                <a:latin typeface="Source Han Sans SC"/>
              </a:rPr>
              <a:t>跑通这一页你就知道了：所谓「卷积」的全部算术，就是「取一块、逐元素相乘、求和」重复若干次。剩下的都是工程。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Where the parameters actually are</a:t>
            </a:r>
          </a:p>
          <a:p>
            <a:pPr algn="l">
              <a:lnSpc>
                <a:spcPct val="105000"/>
              </a:lnSpc>
              <a:spcBef>
                <a:spcPts val="150"/>
              </a:spcBef>
            </a:pPr>
            <a:r>
              <a:rPr sz="1210" b="0" i="0">
                <a:solidFill>
                  <a:srgbClr val="6B7280"/>
                </a:solidFill>
                <a:latin typeface="Source Han Sans SC"/>
              </a:rPr>
              <a:t>参数量：逐层对账</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Same digits 8x8 data, same split. Parameter counts are counted by the code, not estimated</a:t>
            </a:r>
          </a:p>
          <a:p>
            <a:pPr algn="l">
              <a:lnSpc>
                <a:spcPct val="105000"/>
              </a:lnSpc>
              <a:spcBef>
                <a:spcPts val="150"/>
              </a:spcBef>
            </a:pPr>
            <a:r>
              <a:rPr sz="800" b="0" i="0">
                <a:solidFill>
                  <a:srgbClr val="6B7280"/>
                </a:solidFill>
                <a:latin typeface="Source Han Sans SC"/>
              </a:rPr>
              <a:t>同一份 digits 8×8 数据，同一个切分。参数量由代码数出来，不是估算</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measured</a:t>
            </a:r>
            <a:r>
              <a:rPr sz="800" b="0" i="0">
                <a:solidFill>
                  <a:srgbClr val="6B7280"/>
                </a:solidFill>
                <a:latin typeface="Source Han Sans SC"/>
              </a:rPr>
              <a:t> ｜ </a:t>
            </a:r>
            <a:r>
              <a:rPr sz="800" b="0" i="0">
                <a:solidFill>
                  <a:srgbClr val="6B7280"/>
                </a:solidFill>
                <a:latin typeface="Source Han Sans SC"/>
              </a:rPr>
              <a:t>实测</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07 / 32</a:t>
            </a:r>
          </a:p>
        </p:txBody>
      </p:sp>
      <p:graphicFrame>
        <p:nvGraphicFramePr>
          <p:cNvPr id="10" name="Table 9"/>
          <p:cNvGraphicFramePr>
            <a:graphicFrameLocks noGrp="1"/>
          </p:cNvGraphicFramePr>
          <p:nvPr/>
        </p:nvGraphicFramePr>
        <p:xfrm>
          <a:off x="799200" y="1152000"/>
          <a:ext cx="10584000" cy="3852594"/>
        </p:xfrm>
        <a:graphic>
          <a:graphicData uri="http://schemas.openxmlformats.org/drawingml/2006/table">
            <a:tbl>
              <a:tblPr firstRow="1" bandRow="1">
                <a:tableStyleId>{5C22544A-7EE6-4342-B048-85BDC9FD1C3A}</a:tableStyleId>
              </a:tblPr>
              <a:tblGrid>
                <a:gridCol w="2736000"/>
                <a:gridCol w="2160000"/>
                <a:gridCol w="2664000"/>
                <a:gridCol w="3024000"/>
              </a:tblGrid>
              <a:tr h="481574">
                <a:tc>
                  <a:txBody>
                    <a:bodyPr/>
                    <a:lstStyle/>
                    <a:p>
                      <a:r>
                        <a:rPr sz="1180" b="1">
                          <a:solidFill>
                            <a:srgbClr val="FFFFFF"/>
                          </a:solidFill>
                          <a:latin typeface="Source Han Sans SC"/>
                        </a:rPr>
                        <a:t>Layer</a:t>
                      </a:r>
                    </a:p>
                    <a:p>
                      <a:pPr>
                        <a:lnSpc>
                          <a:spcPct val="100000"/>
                        </a:lnSpc>
                      </a:pPr>
                      <a:r>
                        <a:rPr sz="1000" b="0">
                          <a:solidFill>
                            <a:srgbClr val="C3D4EF"/>
                          </a:solidFill>
                          <a:latin typeface="Source Han Sans SC"/>
                        </a:rPr>
                        <a:t>层</a:t>
                      </a:r>
                    </a:p>
                  </a:txBody>
                  <a:tcPr>
                    <a:solidFill>
                      <a:srgbClr val="0E3F8C"/>
                    </a:solidFill>
                  </a:tcPr>
                </a:tc>
                <a:tc>
                  <a:txBody>
                    <a:bodyPr/>
                    <a:lstStyle/>
                    <a:p>
                      <a:r>
                        <a:rPr sz="1180" b="1">
                          <a:solidFill>
                            <a:srgbClr val="FFFFFF"/>
                          </a:solidFill>
                          <a:latin typeface="Source Han Sans SC"/>
                        </a:rPr>
                        <a:t>Shape</a:t>
                      </a:r>
                    </a:p>
                    <a:p>
                      <a:pPr>
                        <a:lnSpc>
                          <a:spcPct val="100000"/>
                        </a:lnSpc>
                      </a:pPr>
                      <a:r>
                        <a:rPr sz="1000" b="0">
                          <a:solidFill>
                            <a:srgbClr val="C3D4EF"/>
                          </a:solidFill>
                          <a:latin typeface="Source Han Sans SC"/>
                        </a:rPr>
                        <a:t>形状</a:t>
                      </a:r>
                    </a:p>
                  </a:txBody>
                  <a:tcPr>
                    <a:solidFill>
                      <a:srgbClr val="0E3F8C"/>
                    </a:solidFill>
                  </a:tcPr>
                </a:tc>
                <a:tc>
                  <a:txBody>
                    <a:bodyPr/>
                    <a:lstStyle/>
                    <a:p>
                      <a:r>
                        <a:rPr sz="1180" b="1">
                          <a:solidFill>
                            <a:srgbClr val="FFFFFF"/>
                          </a:solidFill>
                          <a:latin typeface="Source Han Sans SC"/>
                        </a:rPr>
                        <a:t>Params</a:t>
                      </a:r>
                    </a:p>
                    <a:p>
                      <a:pPr>
                        <a:lnSpc>
                          <a:spcPct val="100000"/>
                        </a:lnSpc>
                      </a:pPr>
                      <a:r>
                        <a:rPr sz="1000" b="0">
                          <a:solidFill>
                            <a:srgbClr val="C3D4EF"/>
                          </a:solidFill>
                          <a:latin typeface="Source Han Sans SC"/>
                        </a:rPr>
                        <a:t>参数</a:t>
                      </a:r>
                    </a:p>
                  </a:txBody>
                  <a:tcPr>
                    <a:solidFill>
                      <a:srgbClr val="0E3F8C"/>
                    </a:solidFill>
                  </a:tcPr>
                </a:tc>
                <a:tc>
                  <a:txBody>
                    <a:bodyPr/>
                    <a:lstStyle/>
                    <a:p>
                      <a:r>
                        <a:rPr sz="1180" b="1">
                          <a:solidFill>
                            <a:srgbClr val="FFFFFF"/>
                          </a:solidFill>
                          <a:latin typeface="Source Han Sans SC"/>
                        </a:rPr>
                        <a:t>Running</a:t>
                      </a:r>
                    </a:p>
                    <a:p>
                      <a:pPr>
                        <a:lnSpc>
                          <a:spcPct val="100000"/>
                        </a:lnSpc>
                      </a:pPr>
                      <a:r>
                        <a:rPr sz="1000" b="0">
                          <a:solidFill>
                            <a:srgbClr val="C3D4EF"/>
                          </a:solidFill>
                          <a:latin typeface="Source Han Sans SC"/>
                        </a:rPr>
                        <a:t>累计</a:t>
                      </a:r>
                    </a:p>
                  </a:txBody>
                  <a:tcPr>
                    <a:solidFill>
                      <a:srgbClr val="0E3F8C"/>
                    </a:solidFill>
                  </a:tcPr>
                </a:tc>
              </a:tr>
              <a:tr h="481574">
                <a:tc>
                  <a:txBody>
                    <a:bodyPr/>
                    <a:lstStyle/>
                    <a:p>
                      <a:r>
                        <a:rPr sz="1060" b="1">
                          <a:solidFill>
                            <a:srgbClr val="1F2937"/>
                          </a:solidFill>
                          <a:latin typeface="Source Han Sans SC"/>
                        </a:rPr>
                        <a:t>Input</a:t>
                      </a:r>
                    </a:p>
                    <a:p>
                      <a:pPr>
                        <a:lnSpc>
                          <a:spcPct val="100000"/>
                        </a:lnSpc>
                      </a:pPr>
                      <a:r>
                        <a:rPr sz="900" b="0">
                          <a:solidFill>
                            <a:srgbClr val="6B7280"/>
                          </a:solidFill>
                          <a:latin typeface="Source Han Sans SC"/>
                        </a:rPr>
                        <a:t>输入</a:t>
                      </a:r>
                    </a:p>
                  </a:txBody>
                  <a:tcPr>
                    <a:solidFill>
                      <a:srgbClr val="FFFFFF"/>
                    </a:solidFill>
                  </a:tcPr>
                </a:tc>
                <a:tc>
                  <a:txBody>
                    <a:bodyPr/>
                    <a:lstStyle/>
                    <a:p>
                      <a:r>
                        <a:rPr sz="1060" b="0">
                          <a:solidFill>
                            <a:srgbClr val="1F2937"/>
                          </a:solidFill>
                          <a:latin typeface="Source Han Sans SC"/>
                        </a:rPr>
                        <a:t>1x8x8</a:t>
                      </a:r>
                    </a:p>
                    <a:p>
                      <a:pPr>
                        <a:lnSpc>
                          <a:spcPct val="100000"/>
                        </a:lnSpc>
                      </a:pPr>
                      <a:r>
                        <a:rPr sz="900" b="0">
                          <a:solidFill>
                            <a:srgbClr val="6B7280"/>
                          </a:solidFill>
                          <a:latin typeface="Source Han Sans SC"/>
                        </a:rPr>
                        <a:t>1×8×8</a:t>
                      </a:r>
                    </a:p>
                  </a:txBody>
                  <a:tcPr>
                    <a:solidFill>
                      <a:srgbClr val="FFFFFF"/>
                    </a:solidFill>
                  </a:tcPr>
                </a:tc>
                <a:tc>
                  <a:txBody>
                    <a:bodyPr/>
                    <a:lstStyle/>
                    <a:p>
                      <a:r>
                        <a:rPr sz="1060" b="0">
                          <a:solidFill>
                            <a:srgbClr val="1F2937"/>
                          </a:solidFill>
                          <a:latin typeface="Source Han Sans SC"/>
                        </a:rPr>
                        <a:t>0</a:t>
                      </a:r>
                    </a:p>
                  </a:txBody>
                  <a:tcPr>
                    <a:solidFill>
                      <a:srgbClr val="FFFFFF"/>
                    </a:solidFill>
                  </a:tcPr>
                </a:tc>
                <a:tc>
                  <a:txBody>
                    <a:bodyPr/>
                    <a:lstStyle/>
                    <a:p>
                      <a:r>
                        <a:rPr sz="1060" b="0">
                          <a:solidFill>
                            <a:srgbClr val="1F2937"/>
                          </a:solidFill>
                          <a:latin typeface="Source Han Sans SC"/>
                        </a:rPr>
                        <a:t>0</a:t>
                      </a:r>
                    </a:p>
                  </a:txBody>
                  <a:tcPr>
                    <a:solidFill>
                      <a:srgbClr val="FFFFFF"/>
                    </a:solidFill>
                  </a:tcPr>
                </a:tc>
              </a:tr>
              <a:tr h="481574">
                <a:tc>
                  <a:txBody>
                    <a:bodyPr/>
                    <a:lstStyle/>
                    <a:p>
                      <a:r>
                        <a:rPr sz="1060" b="1">
                          <a:solidFill>
                            <a:srgbClr val="1F2937"/>
                          </a:solidFill>
                          <a:latin typeface="Source Han Sans SC"/>
                        </a:rPr>
                        <a:t>Dense 64→128</a:t>
                      </a:r>
                    </a:p>
                    <a:p>
                      <a:pPr>
                        <a:lnSpc>
                          <a:spcPct val="100000"/>
                        </a:lnSpc>
                      </a:pPr>
                      <a:r>
                        <a:rPr sz="900" b="0">
                          <a:solidFill>
                            <a:srgbClr val="6B7280"/>
                          </a:solidFill>
                          <a:latin typeface="Source Han Sans SC"/>
                        </a:rPr>
                        <a:t>全连接 64→128</a:t>
                      </a:r>
                    </a:p>
                  </a:txBody>
                  <a:tcPr>
                    <a:solidFill>
                      <a:srgbClr val="F0F5FC"/>
                    </a:solidFill>
                  </a:tcPr>
                </a:tc>
                <a:tc>
                  <a:txBody>
                    <a:bodyPr/>
                    <a:lstStyle/>
                    <a:p>
                      <a:r>
                        <a:rPr sz="1060" b="0">
                          <a:solidFill>
                            <a:srgbClr val="1F2937"/>
                          </a:solidFill>
                          <a:latin typeface="Source Han Sans SC"/>
                        </a:rPr>
                        <a:t>64→128</a:t>
                      </a:r>
                    </a:p>
                  </a:txBody>
                  <a:tcPr>
                    <a:solidFill>
                      <a:srgbClr val="F0F5FC"/>
                    </a:solidFill>
                  </a:tcPr>
                </a:tc>
                <a:tc>
                  <a:txBody>
                    <a:bodyPr/>
                    <a:lstStyle/>
                    <a:p>
                      <a:r>
                        <a:rPr sz="1060" b="0">
                          <a:solidFill>
                            <a:srgbClr val="1F2937"/>
                          </a:solidFill>
                          <a:latin typeface="Source Han Sans SC"/>
                        </a:rPr>
                        <a:t>8 320</a:t>
                      </a:r>
                    </a:p>
                  </a:txBody>
                  <a:tcPr>
                    <a:solidFill>
                      <a:srgbClr val="F0F5FC"/>
                    </a:solidFill>
                  </a:tcPr>
                </a:tc>
                <a:tc>
                  <a:txBody>
                    <a:bodyPr/>
                    <a:lstStyle/>
                    <a:p>
                      <a:r>
                        <a:rPr sz="1060" b="0">
                          <a:solidFill>
                            <a:srgbClr val="1F2937"/>
                          </a:solidFill>
                          <a:latin typeface="Source Han Sans SC"/>
                        </a:rPr>
                        <a:t>8 320</a:t>
                      </a:r>
                    </a:p>
                  </a:txBody>
                  <a:tcPr>
                    <a:solidFill>
                      <a:srgbClr val="F0F5FC"/>
                    </a:solidFill>
                  </a:tcPr>
                </a:tc>
              </a:tr>
              <a:tr h="481574">
                <a:tc>
                  <a:txBody>
                    <a:bodyPr/>
                    <a:lstStyle/>
                    <a:p>
                      <a:r>
                        <a:rPr sz="1060" b="1">
                          <a:solidFill>
                            <a:srgbClr val="1F2937"/>
                          </a:solidFill>
                          <a:latin typeface="Source Han Sans SC"/>
                        </a:rPr>
                        <a:t>Dense 128→64</a:t>
                      </a:r>
                    </a:p>
                    <a:p>
                      <a:pPr>
                        <a:lnSpc>
                          <a:spcPct val="100000"/>
                        </a:lnSpc>
                      </a:pPr>
                      <a:r>
                        <a:rPr sz="900" b="0">
                          <a:solidFill>
                            <a:srgbClr val="6B7280"/>
                          </a:solidFill>
                          <a:latin typeface="Source Han Sans SC"/>
                        </a:rPr>
                        <a:t>全连接 128→64</a:t>
                      </a:r>
                    </a:p>
                  </a:txBody>
                  <a:tcPr>
                    <a:solidFill>
                      <a:srgbClr val="FFFFFF"/>
                    </a:solidFill>
                  </a:tcPr>
                </a:tc>
                <a:tc>
                  <a:txBody>
                    <a:bodyPr/>
                    <a:lstStyle/>
                    <a:p>
                      <a:r>
                        <a:rPr sz="1060" b="0">
                          <a:solidFill>
                            <a:srgbClr val="1F2937"/>
                          </a:solidFill>
                          <a:latin typeface="Source Han Sans SC"/>
                        </a:rPr>
                        <a:t>128→64</a:t>
                      </a:r>
                    </a:p>
                  </a:txBody>
                  <a:tcPr>
                    <a:solidFill>
                      <a:srgbClr val="FFFFFF"/>
                    </a:solidFill>
                  </a:tcPr>
                </a:tc>
                <a:tc>
                  <a:txBody>
                    <a:bodyPr/>
                    <a:lstStyle/>
                    <a:p>
                      <a:r>
                        <a:rPr sz="1060" b="0">
                          <a:solidFill>
                            <a:srgbClr val="1F2937"/>
                          </a:solidFill>
                          <a:latin typeface="Source Han Sans SC"/>
                        </a:rPr>
                        <a:t>8 256</a:t>
                      </a:r>
                    </a:p>
                  </a:txBody>
                  <a:tcPr>
                    <a:solidFill>
                      <a:srgbClr val="FFFFFF"/>
                    </a:solidFill>
                  </a:tcPr>
                </a:tc>
                <a:tc>
                  <a:txBody>
                    <a:bodyPr/>
                    <a:lstStyle/>
                    <a:p>
                      <a:r>
                        <a:rPr sz="1060" b="0">
                          <a:solidFill>
                            <a:srgbClr val="1F2937"/>
                          </a:solidFill>
                          <a:latin typeface="Source Han Sans SC"/>
                        </a:rPr>
                        <a:t>16 576</a:t>
                      </a:r>
                    </a:p>
                  </a:txBody>
                  <a:tcPr>
                    <a:solidFill>
                      <a:srgbClr val="FFFFFF"/>
                    </a:solidFill>
                  </a:tcPr>
                </a:tc>
              </a:tr>
              <a:tr h="481574">
                <a:tc>
                  <a:txBody>
                    <a:bodyPr/>
                    <a:lstStyle/>
                    <a:p>
                      <a:r>
                        <a:rPr sz="1060" b="1">
                          <a:solidFill>
                            <a:srgbClr val="1F2937"/>
                          </a:solidFill>
                          <a:latin typeface="Source Han Sans SC"/>
                        </a:rPr>
                        <a:t>Dense 64→10</a:t>
                      </a:r>
                    </a:p>
                    <a:p>
                      <a:pPr>
                        <a:lnSpc>
                          <a:spcPct val="100000"/>
                        </a:lnSpc>
                      </a:pPr>
                      <a:r>
                        <a:rPr sz="900" b="0">
                          <a:solidFill>
                            <a:srgbClr val="6B7280"/>
                          </a:solidFill>
                          <a:latin typeface="Source Han Sans SC"/>
                        </a:rPr>
                        <a:t>全连接 64→10</a:t>
                      </a:r>
                    </a:p>
                  </a:txBody>
                  <a:tcPr>
                    <a:solidFill>
                      <a:srgbClr val="F0F5FC"/>
                    </a:solidFill>
                  </a:tcPr>
                </a:tc>
                <a:tc>
                  <a:txBody>
                    <a:bodyPr/>
                    <a:lstStyle/>
                    <a:p>
                      <a:r>
                        <a:rPr sz="1060" b="0">
                          <a:solidFill>
                            <a:srgbClr val="1F2937"/>
                          </a:solidFill>
                          <a:latin typeface="Source Han Sans SC"/>
                        </a:rPr>
                        <a:t>64→10</a:t>
                      </a:r>
                    </a:p>
                  </a:txBody>
                  <a:tcPr>
                    <a:solidFill>
                      <a:srgbClr val="F0F5FC"/>
                    </a:solidFill>
                  </a:tcPr>
                </a:tc>
                <a:tc>
                  <a:txBody>
                    <a:bodyPr/>
                    <a:lstStyle/>
                    <a:p>
                      <a:r>
                        <a:rPr sz="1060" b="0">
                          <a:solidFill>
                            <a:srgbClr val="1F2937"/>
                          </a:solidFill>
                          <a:latin typeface="Source Han Sans SC"/>
                        </a:rPr>
                        <a:t>650</a:t>
                      </a:r>
                    </a:p>
                  </a:txBody>
                  <a:tcPr>
                    <a:solidFill>
                      <a:srgbClr val="F0F5FC"/>
                    </a:solidFill>
                  </a:tcPr>
                </a:tc>
                <a:tc>
                  <a:txBody>
                    <a:bodyPr/>
                    <a:lstStyle/>
                    <a:p>
                      <a:r>
                        <a:rPr sz="1060" b="0">
                          <a:solidFill>
                            <a:srgbClr val="1F2937"/>
                          </a:solidFill>
                          <a:latin typeface="Source Han Sans SC"/>
                        </a:rPr>
                        <a:t>17 226</a:t>
                      </a:r>
                    </a:p>
                  </a:txBody>
                  <a:tcPr>
                    <a:solidFill>
                      <a:srgbClr val="F0F5FC"/>
                    </a:solidFill>
                  </a:tcPr>
                </a:tc>
              </a:tr>
              <a:tr h="481574">
                <a:tc>
                  <a:txBody>
                    <a:bodyPr/>
                    <a:lstStyle/>
                    <a:p>
                      <a:r>
                        <a:rPr sz="1060" b="1">
                          <a:solidFill>
                            <a:srgbClr val="1F2937"/>
                          </a:solidFill>
                          <a:latin typeface="Source Han Sans SC"/>
                        </a:rPr>
                        <a:t>Conv 1→8, 3x3</a:t>
                      </a:r>
                    </a:p>
                    <a:p>
                      <a:pPr>
                        <a:lnSpc>
                          <a:spcPct val="100000"/>
                        </a:lnSpc>
                      </a:pPr>
                      <a:r>
                        <a:rPr sz="900" b="0">
                          <a:solidFill>
                            <a:srgbClr val="6B7280"/>
                          </a:solidFill>
                          <a:latin typeface="Source Han Sans SC"/>
                        </a:rPr>
                        <a:t>卷积 1→8，3×3</a:t>
                      </a:r>
                    </a:p>
                  </a:txBody>
                  <a:tcPr>
                    <a:solidFill>
                      <a:srgbClr val="FFFFFF"/>
                    </a:solidFill>
                  </a:tcPr>
                </a:tc>
                <a:tc>
                  <a:txBody>
                    <a:bodyPr/>
                    <a:lstStyle/>
                    <a:p>
                      <a:r>
                        <a:rPr sz="1060" b="0">
                          <a:solidFill>
                            <a:srgbClr val="1F2937"/>
                          </a:solidFill>
                          <a:latin typeface="Source Han Sans SC"/>
                        </a:rPr>
                        <a:t>8x8x8</a:t>
                      </a:r>
                    </a:p>
                    <a:p>
                      <a:pPr>
                        <a:lnSpc>
                          <a:spcPct val="100000"/>
                        </a:lnSpc>
                      </a:pPr>
                      <a:r>
                        <a:rPr sz="900" b="0">
                          <a:solidFill>
                            <a:srgbClr val="6B7280"/>
                          </a:solidFill>
                          <a:latin typeface="Source Han Sans SC"/>
                        </a:rPr>
                        <a:t>8×8×8</a:t>
                      </a:r>
                    </a:p>
                  </a:txBody>
                  <a:tcPr>
                    <a:solidFill>
                      <a:srgbClr val="FFFFFF"/>
                    </a:solidFill>
                  </a:tcPr>
                </a:tc>
                <a:tc>
                  <a:txBody>
                    <a:bodyPr/>
                    <a:lstStyle/>
                    <a:p>
                      <a:r>
                        <a:rPr sz="1060" b="0">
                          <a:solidFill>
                            <a:srgbClr val="1F2937"/>
                          </a:solidFill>
                          <a:latin typeface="Source Han Sans SC"/>
                        </a:rPr>
                        <a:t>80</a:t>
                      </a:r>
                    </a:p>
                  </a:txBody>
                  <a:tcPr>
                    <a:solidFill>
                      <a:srgbClr val="FFFFFF"/>
                    </a:solidFill>
                  </a:tcPr>
                </a:tc>
                <a:tc>
                  <a:txBody>
                    <a:bodyPr/>
                    <a:lstStyle/>
                    <a:p>
                      <a:r>
                        <a:rPr sz="1060" b="0">
                          <a:solidFill>
                            <a:srgbClr val="1F2937"/>
                          </a:solidFill>
                          <a:latin typeface="Source Han Sans SC"/>
                        </a:rPr>
                        <a:t>80</a:t>
                      </a:r>
                    </a:p>
                  </a:txBody>
                  <a:tcPr>
                    <a:solidFill>
                      <a:srgbClr val="FFFFFF"/>
                    </a:solidFill>
                  </a:tcPr>
                </a:tc>
              </a:tr>
              <a:tr h="481574">
                <a:tc>
                  <a:txBody>
                    <a:bodyPr/>
                    <a:lstStyle/>
                    <a:p>
                      <a:r>
                        <a:rPr sz="1060" b="1">
                          <a:solidFill>
                            <a:srgbClr val="1F2937"/>
                          </a:solidFill>
                          <a:latin typeface="Source Han Sans SC"/>
                        </a:rPr>
                        <a:t>Conv 8→16, 3x3</a:t>
                      </a:r>
                    </a:p>
                    <a:p>
                      <a:pPr>
                        <a:lnSpc>
                          <a:spcPct val="100000"/>
                        </a:lnSpc>
                      </a:pPr>
                      <a:r>
                        <a:rPr sz="900" b="0">
                          <a:solidFill>
                            <a:srgbClr val="6B7280"/>
                          </a:solidFill>
                          <a:latin typeface="Source Han Sans SC"/>
                        </a:rPr>
                        <a:t>卷积 8→16，3×3</a:t>
                      </a:r>
                    </a:p>
                  </a:txBody>
                  <a:tcPr>
                    <a:solidFill>
                      <a:srgbClr val="F0F5FC"/>
                    </a:solidFill>
                  </a:tcPr>
                </a:tc>
                <a:tc>
                  <a:txBody>
                    <a:bodyPr/>
                    <a:lstStyle/>
                    <a:p>
                      <a:r>
                        <a:rPr sz="1060" b="0">
                          <a:solidFill>
                            <a:srgbClr val="1F2937"/>
                          </a:solidFill>
                          <a:latin typeface="Source Han Sans SC"/>
                        </a:rPr>
                        <a:t>16x4x4</a:t>
                      </a:r>
                    </a:p>
                    <a:p>
                      <a:pPr>
                        <a:lnSpc>
                          <a:spcPct val="100000"/>
                        </a:lnSpc>
                      </a:pPr>
                      <a:r>
                        <a:rPr sz="900" b="0">
                          <a:solidFill>
                            <a:srgbClr val="6B7280"/>
                          </a:solidFill>
                          <a:latin typeface="Source Han Sans SC"/>
                        </a:rPr>
                        <a:t>16×4×4</a:t>
                      </a:r>
                    </a:p>
                  </a:txBody>
                  <a:tcPr>
                    <a:solidFill>
                      <a:srgbClr val="F0F5FC"/>
                    </a:solidFill>
                  </a:tcPr>
                </a:tc>
                <a:tc>
                  <a:txBody>
                    <a:bodyPr/>
                    <a:lstStyle/>
                    <a:p>
                      <a:r>
                        <a:rPr sz="1060" b="0">
                          <a:solidFill>
                            <a:srgbClr val="1F2937"/>
                          </a:solidFill>
                          <a:latin typeface="Source Han Sans SC"/>
                        </a:rPr>
                        <a:t>1 168</a:t>
                      </a:r>
                    </a:p>
                  </a:txBody>
                  <a:tcPr>
                    <a:solidFill>
                      <a:srgbClr val="F0F5FC"/>
                    </a:solidFill>
                  </a:tcPr>
                </a:tc>
                <a:tc>
                  <a:txBody>
                    <a:bodyPr/>
                    <a:lstStyle/>
                    <a:p>
                      <a:r>
                        <a:rPr sz="1060" b="0">
                          <a:solidFill>
                            <a:srgbClr val="1F2937"/>
                          </a:solidFill>
                          <a:latin typeface="Source Han Sans SC"/>
                        </a:rPr>
                        <a:t>1 248</a:t>
                      </a:r>
                    </a:p>
                  </a:txBody>
                  <a:tcPr>
                    <a:solidFill>
                      <a:srgbClr val="F0F5FC"/>
                    </a:solidFill>
                  </a:tcPr>
                </a:tc>
              </a:tr>
              <a:tr h="481576">
                <a:tc>
                  <a:txBody>
                    <a:bodyPr/>
                    <a:lstStyle/>
                    <a:p>
                      <a:r>
                        <a:rPr sz="1060" b="1">
                          <a:solidFill>
                            <a:srgbClr val="1F2937"/>
                          </a:solidFill>
                          <a:latin typeface="Source Han Sans SC"/>
                        </a:rPr>
                        <a:t>Dense 64→10</a:t>
                      </a:r>
                    </a:p>
                    <a:p>
                      <a:pPr>
                        <a:lnSpc>
                          <a:spcPct val="100000"/>
                        </a:lnSpc>
                      </a:pPr>
                      <a:r>
                        <a:rPr sz="900" b="0">
                          <a:solidFill>
                            <a:srgbClr val="6B7280"/>
                          </a:solidFill>
                          <a:latin typeface="Source Han Sans SC"/>
                        </a:rPr>
                        <a:t>全连接 64→10</a:t>
                      </a:r>
                    </a:p>
                  </a:txBody>
                  <a:tcPr>
                    <a:solidFill>
                      <a:srgbClr val="FFFFFF"/>
                    </a:solidFill>
                  </a:tcPr>
                </a:tc>
                <a:tc>
                  <a:txBody>
                    <a:bodyPr/>
                    <a:lstStyle/>
                    <a:p>
                      <a:r>
                        <a:rPr sz="1060" b="0">
                          <a:solidFill>
                            <a:srgbClr val="1F2937"/>
                          </a:solidFill>
                          <a:latin typeface="Source Han Sans SC"/>
                        </a:rPr>
                        <a:t>64→10</a:t>
                      </a:r>
                    </a:p>
                  </a:txBody>
                  <a:tcPr>
                    <a:solidFill>
                      <a:srgbClr val="FFFFFF"/>
                    </a:solidFill>
                  </a:tcPr>
                </a:tc>
                <a:tc>
                  <a:txBody>
                    <a:bodyPr/>
                    <a:lstStyle/>
                    <a:p>
                      <a:r>
                        <a:rPr sz="1060" b="0">
                          <a:solidFill>
                            <a:srgbClr val="1F2937"/>
                          </a:solidFill>
                          <a:latin typeface="Source Han Sans SC"/>
                        </a:rPr>
                        <a:t>650</a:t>
                      </a:r>
                    </a:p>
                  </a:txBody>
                  <a:tcPr>
                    <a:solidFill>
                      <a:srgbClr val="FFFFFF"/>
                    </a:solidFill>
                  </a:tcPr>
                </a:tc>
                <a:tc>
                  <a:txBody>
                    <a:bodyPr/>
                    <a:lstStyle/>
                    <a:p>
                      <a:r>
                        <a:rPr sz="1060" b="0">
                          <a:solidFill>
                            <a:srgbClr val="1F2937"/>
                          </a:solidFill>
                          <a:latin typeface="Source Han Sans SC"/>
                        </a:rPr>
                        <a:t>1 898</a:t>
                      </a:r>
                    </a:p>
                  </a:txBody>
                  <a:tcPr>
                    <a:solidFill>
                      <a:srgbClr val="FFFFFF"/>
                    </a:solidFill>
                  </a:tcPr>
                </a:tc>
              </a:tr>
            </a:tbl>
          </a:graphicData>
        </a:graphic>
      </p:graphicFrame>
      <p:sp>
        <p:nvSpPr>
          <p:cNvPr id="11" name="TextBox 10"/>
          <p:cNvSpPr txBox="1"/>
          <p:nvPr/>
        </p:nvSpPr>
        <p:spPr>
          <a:xfrm>
            <a:off x="799200" y="5130594"/>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Top block is the dense net used as this week's control, bottom is two conv layers plus a linear head. 17,226 → 1,898, 9x fewer; test accuracy 0.979 against 0.981 — a 0.002 gap, smaller than one standard deviation (0.008).</a:t>
            </a:r>
          </a:p>
          <a:p>
            <a:pPr algn="l">
              <a:lnSpc>
                <a:spcPct val="105000"/>
              </a:lnSpc>
              <a:spcBef>
                <a:spcPts val="150"/>
              </a:spcBef>
            </a:pPr>
            <a:r>
              <a:rPr sz="900" b="0" i="0">
                <a:solidFill>
                  <a:srgbClr val="6B7280"/>
                </a:solidFill>
                <a:latin typeface="Source Han Sans SC"/>
              </a:rPr>
              <a:t>上半是本周对照用的全连接网，下半是两层卷积加一个线性头。17 226 → 1 898，少 9 倍；而两者的测试准确率是 0.979 与 0.981——差 0.002，不到一个标准差（0.008）。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What weight sharing buys, and what it costs</a:t>
            </a:r>
          </a:p>
          <a:p>
            <a:pPr algn="l">
              <a:lnSpc>
                <a:spcPct val="105000"/>
              </a:lnSpc>
              <a:spcBef>
                <a:spcPts val="150"/>
              </a:spcBef>
            </a:pPr>
            <a:r>
              <a:rPr sz="1210" b="0" i="0">
                <a:solidFill>
                  <a:srgbClr val="6B7280"/>
                </a:solidFill>
                <a:latin typeface="Source Han Sans SC"/>
              </a:rPr>
              <a:t>权值共享买到了什么，又付出了什么</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KT13</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08 / 32</a:t>
            </a:r>
          </a:p>
        </p:txBody>
      </p:sp>
      <p:sp>
        <p:nvSpPr>
          <p:cNvPr id="9" name="Rectangle 8"/>
          <p:cNvSpPr/>
          <p:nvPr/>
        </p:nvSpPr>
        <p:spPr>
          <a:xfrm>
            <a:off x="799200"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70000"/>
            <a:ext cx="5143859"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15200"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What you get</a:t>
            </a:r>
          </a:p>
          <a:p>
            <a:pPr algn="l">
              <a:lnSpc>
                <a:spcPct val="105000"/>
              </a:lnSpc>
              <a:spcBef>
                <a:spcPts val="150"/>
              </a:spcBef>
            </a:pPr>
            <a:r>
              <a:rPr sz="1250" b="0" i="0">
                <a:solidFill>
                  <a:srgbClr val="CFDDF2"/>
                </a:solidFill>
                <a:latin typeface="Source Han Sans SC"/>
              </a:rPr>
              <a:t>买到的</a:t>
            </a:r>
          </a:p>
        </p:txBody>
      </p:sp>
      <p:sp>
        <p:nvSpPr>
          <p:cNvPr id="12" name="TextBox 11"/>
          <p:cNvSpPr txBox="1"/>
          <p:nvPr/>
        </p:nvSpPr>
        <p:spPr>
          <a:xfrm>
            <a:off x="1015200" y="1890000"/>
            <a:ext cx="4711859" cy="3276000"/>
          </a:xfrm>
          <a:prstGeom prst="rect">
            <a:avLst/>
          </a:prstGeom>
          <a:noFill/>
        </p:spPr>
        <p:txBody>
          <a:bodyPr wrap="square" anchor="t" lIns="0" rIns="0" tIns="0" bIns="0">
            <a:spAutoFit/>
          </a:bodyPr>
          <a:lstStyle/>
          <a:p>
            <a:pPr algn="l">
              <a:lnSpc>
                <a:spcPct val="140000"/>
              </a:lnSpc>
              <a:spcAft>
                <a:spcPts val="800"/>
              </a:spcAft>
            </a:pPr>
            <a:r>
              <a:rPr sz="1150" b="0" i="0">
                <a:solidFill>
                  <a:srgbClr val="1F2937"/>
                </a:solidFill>
                <a:latin typeface="Source Han Sans SC"/>
              </a:rPr>
              <a:t>• Parameter count is INDEPENDENT of image width — the same 3x3 kernel walks an 8x8 and a 1024x1024</a:t>
            </a:r>
            <a:r>
              <a:rPr sz="900" b="0" i="0">
                <a:solidFill>
                  <a:srgbClr val="6B7280"/>
                </a:solidFill>
                <a:latin typeface="Source Han Sans SC"/>
              </a:rPr>
              <a:t> ｜ </a:t>
            </a:r>
            <a:r>
              <a:rPr sz="900" b="0" i="0">
                <a:solidFill>
                  <a:srgbClr val="6B7280"/>
                </a:solidFill>
                <a:latin typeface="Source Han Sans SC"/>
              </a:rPr>
              <a:t>• 参数量与图像宽度**无关**——同一个 3×3 核滑过 8×8 和 1024×1024</a:t>
            </a:r>
          </a:p>
          <a:p>
            <a:pPr algn="l">
              <a:lnSpc>
                <a:spcPct val="140000"/>
              </a:lnSpc>
              <a:spcAft>
                <a:spcPts val="800"/>
              </a:spcAft>
            </a:pPr>
            <a:r>
              <a:rPr sz="1150" b="0" i="0">
                <a:solidFill>
                  <a:srgbClr val="1F2937"/>
                </a:solidFill>
                <a:latin typeface="Source Han Sans SC"/>
              </a:rPr>
              <a:t>• "a pattern, anywhere" is built into the architecture instead of learned from data</a:t>
            </a:r>
            <a:r>
              <a:rPr sz="900" b="0" i="0">
                <a:solidFill>
                  <a:srgbClr val="6B7280"/>
                </a:solidFill>
                <a:latin typeface="Source Han Sans SC"/>
              </a:rPr>
              <a:t> ｜ </a:t>
            </a:r>
            <a:r>
              <a:rPr sz="900" b="0" i="0">
                <a:solidFill>
                  <a:srgbClr val="6B7280"/>
                </a:solidFill>
                <a:latin typeface="Source Han Sans SC"/>
              </a:rPr>
              <a:t>• 「同一个模式在任何位置」被写进结构，而不是靠数据学出来</a:t>
            </a:r>
          </a:p>
          <a:p>
            <a:pPr algn="l">
              <a:lnSpc>
                <a:spcPct val="140000"/>
              </a:lnSpc>
              <a:spcAft>
                <a:spcPts val="800"/>
              </a:spcAft>
            </a:pPr>
            <a:r>
              <a:rPr sz="1150" b="0" i="0">
                <a:solidFill>
                  <a:srgbClr val="1F2937"/>
                </a:solidFill>
                <a:latin typeface="Source Han Sans SC"/>
              </a:rPr>
              <a:t>• Measured: shift one column, 0.6481 for the CNN against 0.4555 for the dense net (+19 points)</a:t>
            </a:r>
            <a:r>
              <a:rPr sz="900" b="0" i="0">
                <a:solidFill>
                  <a:srgbClr val="6B7280"/>
                </a:solidFill>
                <a:latin typeface="Source Han Sans SC"/>
              </a:rPr>
              <a:t> ｜ </a:t>
            </a:r>
            <a:r>
              <a:rPr sz="900" b="0" i="0">
                <a:solidFill>
                  <a:srgbClr val="6B7280"/>
                </a:solidFill>
                <a:latin typeface="Source Han Sans SC"/>
              </a:rPr>
              <a:t>• 实测：平移一列，卷积网 0.6481，全连接 0.4555（+19 个点）</a:t>
            </a:r>
          </a:p>
        </p:txBody>
      </p:sp>
      <p:sp>
        <p:nvSpPr>
          <p:cNvPr id="13" name="Rectangle 12"/>
          <p:cNvSpPr/>
          <p:nvPr/>
        </p:nvSpPr>
        <p:spPr>
          <a:xfrm>
            <a:off x="6249059"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9059" y="1170000"/>
            <a:ext cx="5143859" cy="540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5059"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What it costs</a:t>
            </a:r>
          </a:p>
          <a:p>
            <a:pPr algn="l">
              <a:lnSpc>
                <a:spcPct val="105000"/>
              </a:lnSpc>
              <a:spcBef>
                <a:spcPts val="150"/>
              </a:spcBef>
            </a:pPr>
            <a:r>
              <a:rPr sz="1250" b="0" i="0">
                <a:solidFill>
                  <a:srgbClr val="CFDDF2"/>
                </a:solidFill>
                <a:latin typeface="Source Han Sans SC"/>
              </a:rPr>
              <a:t>付出的</a:t>
            </a:r>
          </a:p>
        </p:txBody>
      </p:sp>
      <p:sp>
        <p:nvSpPr>
          <p:cNvPr id="16" name="TextBox 15"/>
          <p:cNvSpPr txBox="1"/>
          <p:nvPr/>
        </p:nvSpPr>
        <p:spPr>
          <a:xfrm>
            <a:off x="6465059" y="1890000"/>
            <a:ext cx="4711859" cy="3276000"/>
          </a:xfrm>
          <a:prstGeom prst="rect">
            <a:avLst/>
          </a:prstGeom>
          <a:noFill/>
        </p:spPr>
        <p:txBody>
          <a:bodyPr wrap="square" anchor="t" lIns="0" rIns="0" tIns="0" bIns="0">
            <a:spAutoFit/>
          </a:bodyPr>
          <a:lstStyle/>
          <a:p>
            <a:pPr algn="l">
              <a:lnSpc>
                <a:spcPct val="140000"/>
              </a:lnSpc>
              <a:spcAft>
                <a:spcPts val="800"/>
              </a:spcAft>
            </a:pPr>
            <a:r>
              <a:rPr sz="1150" b="0" i="0">
                <a:solidFill>
                  <a:srgbClr val="1F2937"/>
                </a:solidFill>
                <a:latin typeface="Source Han Sans SC"/>
              </a:rPr>
              <a:t>• Locality is an ASSUMPTION, not a fact. If your pattern is global (the overall brightness histogram), the assumption is wrong</a:t>
            </a:r>
            <a:r>
              <a:rPr sz="900" b="0" i="0">
                <a:solidFill>
                  <a:srgbClr val="6B7280"/>
                </a:solidFill>
                <a:latin typeface="Source Han Sans SC"/>
              </a:rPr>
              <a:t> ｜ </a:t>
            </a:r>
            <a:r>
              <a:rPr sz="900" b="0" i="0">
                <a:solidFill>
                  <a:srgbClr val="6B7280"/>
                </a:solidFill>
                <a:latin typeface="Source Han Sans SC"/>
              </a:rPr>
              <a:t>• 局部性是**假设**，不是真理。如果你的模式是全局的（比如「整张图的亮度分布」），这个假设就是错的</a:t>
            </a:r>
          </a:p>
          <a:p>
            <a:pPr algn="l">
              <a:lnSpc>
                <a:spcPct val="140000"/>
              </a:lnSpc>
              <a:spcAft>
                <a:spcPts val="800"/>
              </a:spcAft>
            </a:pPr>
            <a:r>
              <a:rPr sz="1150" b="0" i="0">
                <a:solidFill>
                  <a:srgbClr val="1F2937"/>
                </a:solidFill>
                <a:latin typeface="Source Han Sans SC"/>
              </a:rPr>
              <a:t>• The receptive field is finite — the last conv here sees the whole 8x8, but real models need many layers to see everything</a:t>
            </a:r>
            <a:r>
              <a:rPr sz="900" b="0" i="0">
                <a:solidFill>
                  <a:srgbClr val="6B7280"/>
                </a:solidFill>
                <a:latin typeface="Source Han Sans SC"/>
              </a:rPr>
              <a:t> ｜ </a:t>
            </a:r>
            <a:r>
              <a:rPr sz="900" b="0" i="0">
                <a:solidFill>
                  <a:srgbClr val="6B7280"/>
                </a:solidFill>
                <a:latin typeface="Source Han Sans SC"/>
              </a:rPr>
              <a:t>• 感受野是有限的——最后一层卷积只看得到 8×8 的输入（正好整图），但真实模型需要很多层才能看全</a:t>
            </a:r>
          </a:p>
          <a:p>
            <a:pPr algn="l">
              <a:lnSpc>
                <a:spcPct val="140000"/>
              </a:lnSpc>
              <a:spcAft>
                <a:spcPts val="800"/>
              </a:spcAft>
            </a:pPr>
            <a:r>
              <a:rPr sz="1150" b="0" i="0">
                <a:solidFill>
                  <a:srgbClr val="1F2937"/>
                </a:solidFill>
                <a:latin typeface="Source Han Sans SC"/>
              </a:rPr>
              <a:t>• Pooling throws away position, and some tasks need position</a:t>
            </a:r>
            <a:r>
              <a:rPr sz="900" b="0" i="0">
                <a:solidFill>
                  <a:srgbClr val="6B7280"/>
                </a:solidFill>
                <a:latin typeface="Source Han Sans SC"/>
              </a:rPr>
              <a:t> ｜ </a:t>
            </a:r>
            <a:r>
              <a:rPr sz="900" b="0" i="0">
                <a:solidFill>
                  <a:srgbClr val="6B7280"/>
                </a:solidFill>
                <a:latin typeface="Source Han Sans SC"/>
              </a:rPr>
              <a:t>• 池化会丢位置信息，而有些任务恰恰要位置</a:t>
            </a:r>
          </a:p>
        </p:txBody>
      </p:sp>
      <p:sp>
        <p:nvSpPr>
          <p:cNvPr id="17" name="TextBox 16"/>
          <p:cNvSpPr txBox="1"/>
          <p:nvPr/>
        </p:nvSpPr>
        <p:spPr>
          <a:xfrm>
            <a:off x="799200" y="5436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One line to remember: a conv layer is not a stronger layer, it is parameter efficiency bought with an assumption about the data. When the assumption is wrong, it is worse than dense.</a:t>
            </a:r>
          </a:p>
          <a:p>
            <a:pPr algn="l">
              <a:lnSpc>
                <a:spcPct val="105000"/>
              </a:lnSpc>
              <a:spcBef>
                <a:spcPts val="150"/>
              </a:spcBef>
            </a:pPr>
            <a:r>
              <a:rPr sz="980" b="0" i="0">
                <a:solidFill>
                  <a:srgbClr val="6B7280"/>
                </a:solidFill>
                <a:latin typeface="Source Han Sans SC"/>
              </a:rPr>
              <a:t>一句话记法：卷积不是「更强的层」，是「一个关于数据结构的假设换来的参数效率」。假设错了，它比全连接更差。</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02</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02</a:t>
            </a:r>
          </a:p>
        </p:txBody>
      </p:sp>
      <p:sp>
        <p:nvSpPr>
          <p:cNvPr id="7" name="TextBox 6"/>
          <p:cNvSpPr txBox="1"/>
          <p:nvPr/>
        </p:nvSpPr>
        <p:spPr>
          <a:xfrm>
            <a:off x="2379600" y="1105200"/>
            <a:ext cx="5040000" cy="1098598"/>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The arithmetic of shapes</a:t>
            </a:r>
          </a:p>
          <a:p>
            <a:pPr algn="l">
              <a:lnSpc>
                <a:spcPct val="105000"/>
              </a:lnSpc>
              <a:spcBef>
                <a:spcPts val="150"/>
              </a:spcBef>
            </a:pPr>
            <a:r>
              <a:rPr sz="2340" b="0" i="0">
                <a:solidFill>
                  <a:srgbClr val="6B7280"/>
                </a:solidFill>
                <a:latin typeface="Source Han Sans SC"/>
              </a:rPr>
              <a:t>形状的算术</a:t>
            </a:r>
          </a:p>
        </p:txBody>
      </p:sp>
      <p:sp>
        <p:nvSpPr>
          <p:cNvPr id="8" name="TextBox 7"/>
          <p:cNvSpPr txBox="1"/>
          <p:nvPr/>
        </p:nvSpPr>
        <p:spPr>
          <a:xfrm>
            <a:off x="799200" y="2736000"/>
            <a:ext cx="8640000" cy="129461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Shape errors are the most common failure in deep learning and the cheapest to eliminate. Every formula below is checked against a real tensor.</a:t>
            </a:r>
          </a:p>
          <a:p>
            <a:pPr algn="l">
              <a:lnSpc>
                <a:spcPct val="105000"/>
              </a:lnSpc>
              <a:spcBef>
                <a:spcPts val="150"/>
              </a:spcBef>
            </a:pPr>
            <a:r>
              <a:rPr sz="1170" b="0" i="0">
                <a:solidFill>
                  <a:srgbClr val="6B7280"/>
                </a:solidFill>
                <a:latin typeface="Source Han Sans SC"/>
              </a:rPr>
              <a:t>形状错误是深度学习里最常见的报错，也是最容易一次学会的。
下面每一条公式，都在真实张量上验算过。</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Output size</a:t>
            </a:r>
            <a:r>
              <a:rPr sz="1010" b="0" i="0">
                <a:solidFill>
                  <a:srgbClr val="6B7280"/>
                </a:solidFill>
                <a:latin typeface="Source Han Sans SC"/>
              </a:rPr>
              <a:t> ｜ </a:t>
            </a:r>
            <a:r>
              <a:rPr sz="1010" b="0" i="0">
                <a:solidFill>
                  <a:srgbClr val="6B7280"/>
                </a:solidFill>
                <a:latin typeface="Source Han Sans SC"/>
              </a:rPr>
              <a:t>输出尺寸</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(H+2p-k)/s+1</a:t>
            </a:r>
          </a:p>
          <a:p>
            <a:pPr algn="l">
              <a:lnSpc>
                <a:spcPct val="105000"/>
              </a:lnSpc>
              <a:spcBef>
                <a:spcPts val="150"/>
              </a:spcBef>
            </a:pPr>
            <a:r>
              <a:rPr sz="800" b="0" i="0">
                <a:solidFill>
                  <a:srgbClr val="6B7280"/>
                </a:solidFill>
                <a:latin typeface="Source Han Sans SC"/>
              </a:rPr>
              <a:t>(H+2p−k)/s+1</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Receptive field</a:t>
            </a:r>
            <a:r>
              <a:rPr sz="1010" b="0" i="0">
                <a:solidFill>
                  <a:srgbClr val="6B7280"/>
                </a:solidFill>
                <a:latin typeface="Source Han Sans SC"/>
              </a:rPr>
              <a:t> ｜ </a:t>
            </a:r>
            <a:r>
              <a:rPr sz="1010" b="0" i="0">
                <a:solidFill>
                  <a:srgbClr val="6B7280"/>
                </a:solidFill>
                <a:latin typeface="Source Han Sans SC"/>
              </a:rPr>
              <a:t>感受野</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3 → 4 → 8 → 10</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Pooling</a:t>
            </a:r>
            <a:r>
              <a:rPr sz="1010" b="0" i="0">
                <a:solidFill>
                  <a:srgbClr val="6B7280"/>
                </a:solidFill>
                <a:latin typeface="Source Han Sans SC"/>
              </a:rPr>
              <a:t> ｜ </a:t>
            </a:r>
            <a:r>
              <a:rPr sz="1010" b="0" i="0">
                <a:solidFill>
                  <a:srgbClr val="6B7280"/>
                </a:solidFill>
                <a:latin typeface="Source Han Sans SC"/>
              </a:rPr>
              <a:t>池化</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worth 4.1 points</a:t>
            </a:r>
          </a:p>
          <a:p>
            <a:pPr algn="l">
              <a:lnSpc>
                <a:spcPct val="105000"/>
              </a:lnSpc>
              <a:spcBef>
                <a:spcPts val="150"/>
              </a:spcBef>
            </a:pPr>
            <a:r>
              <a:rPr sz="800" b="0" i="0">
                <a:solidFill>
                  <a:srgbClr val="6B7280"/>
                </a:solidFill>
                <a:latin typeface="Source Han Sans SC"/>
              </a:rPr>
              <a:t>选择值 4.1 个点</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09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The output-size formula, checked against real tensors</a:t>
            </a:r>
          </a:p>
          <a:p>
            <a:pPr algn="l">
              <a:lnSpc>
                <a:spcPct val="105000"/>
              </a:lnSpc>
              <a:spcBef>
                <a:spcPts val="150"/>
              </a:spcBef>
            </a:pPr>
            <a:r>
              <a:rPr sz="1210" b="0" i="0">
                <a:solidFill>
                  <a:srgbClr val="6B7280"/>
                </a:solidFill>
                <a:latin typeface="Source Han Sans SC"/>
              </a:rPr>
              <a:t>输出尺寸公式，与真实张量逐项核对</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All four formulas match the model's real forward pass — an assertion in the script, not a claim</a:t>
            </a:r>
          </a:p>
          <a:p>
            <a:pPr algn="l">
              <a:lnSpc>
                <a:spcPct val="105000"/>
              </a:lnSpc>
              <a:spcBef>
                <a:spcPts val="150"/>
              </a:spcBef>
            </a:pPr>
            <a:r>
              <a:rPr sz="800" b="0" i="0">
                <a:solidFill>
                  <a:srgbClr val="6B7280"/>
                </a:solidFill>
                <a:latin typeface="Source Han Sans SC"/>
              </a:rPr>
              <a:t>四条公式全部与模型真实前向的形状一致（脚本里的断言，不是我说的一致）</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KT13 · verifiable</a:t>
            </a:r>
            <a:r>
              <a:rPr sz="800" b="0" i="0">
                <a:solidFill>
                  <a:srgbClr val="6B7280"/>
                </a:solidFill>
                <a:latin typeface="Source Han Sans SC"/>
              </a:rPr>
              <a:t> ｜ </a:t>
            </a:r>
            <a:r>
              <a:rPr sz="800" b="0" i="0">
                <a:solidFill>
                  <a:srgbClr val="6B7280"/>
                </a:solidFill>
                <a:latin typeface="Source Han Sans SC"/>
              </a:rPr>
              <a:t>KT13 · 可验证</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10 / 32</a:t>
            </a:r>
          </a:p>
        </p:txBody>
      </p:sp>
      <p:sp>
        <p:nvSpPr>
          <p:cNvPr id="10" name="Rectangle 9"/>
          <p:cNvSpPr/>
          <p:nvPr/>
        </p:nvSpPr>
        <p:spPr>
          <a:xfrm>
            <a:off x="799200" y="1170000"/>
            <a:ext cx="5185259" cy="44496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1. The formula</a:t>
            </a:r>
          </a:p>
          <a:p>
            <a:pPr algn="l">
              <a:lnSpc>
                <a:spcPct val="105000"/>
              </a:lnSpc>
              <a:spcBef>
                <a:spcPts val="150"/>
              </a:spcBef>
            </a:pPr>
            <a:r>
              <a:rPr sz="900" b="0" i="0">
                <a:solidFill>
                  <a:srgbClr val="6B7280"/>
                </a:solidFill>
                <a:latin typeface="Source Han Sans SC"/>
              </a:rPr>
              <a:t>① 公式</a:t>
            </a:r>
          </a:p>
        </p:txBody>
      </p:sp>
      <p:sp>
        <p:nvSpPr>
          <p:cNvPr id="13" name="TextBox 12"/>
          <p:cNvSpPr txBox="1"/>
          <p:nvPr/>
        </p:nvSpPr>
        <p:spPr>
          <a:xfrm>
            <a:off x="997200" y="1584000"/>
            <a:ext cx="4789259" cy="3963680"/>
          </a:xfrm>
          <a:prstGeom prst="rect">
            <a:avLst/>
          </a:prstGeom>
          <a:noFill/>
        </p:spPr>
        <p:txBody>
          <a:bodyPr wrap="square" anchor="t" lIns="0" rIns="0" tIns="0" bIns="0">
            <a:spAutoFit/>
          </a:bodyPr>
          <a:lstStyle/>
          <a:p>
            <a:pPr algn="l">
              <a:lnSpc>
                <a:spcPct val="128000"/>
              </a:lnSpc>
            </a:pPr>
            <a:r>
              <a:rPr sz="1050" b="0" i="0">
                <a:solidFill>
                  <a:srgbClr val="E2E8F0"/>
                </a:solidFill>
                <a:latin typeface="Menlo"/>
              </a:rPr>
              <a:t>def out_size(size, k, s, p):</a:t>
            </a:r>
          </a:p>
          <a:p>
            <a:pPr algn="l">
              <a:lnSpc>
                <a:spcPct val="128000"/>
              </a:lnSpc>
            </a:pPr>
            <a:r>
              <a:rPr sz="1050" b="0" i="0">
                <a:solidFill>
                  <a:srgbClr val="E2E8F0"/>
                </a:solidFill>
                <a:latin typeface="Menlo"/>
              </a:rPr>
              <a:t>    return (size + 2 * p - k) // s + 1</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 common cases (8x8 input)</a:t>
            </a:r>
          </a:p>
          <a:p>
            <a:pPr algn="l">
              <a:lnSpc>
                <a:spcPct val="128000"/>
              </a:lnSpc>
            </a:pPr>
            <a:r>
              <a:rPr sz="1050" b="0" i="0">
                <a:solidFill>
                  <a:srgbClr val="E2E8F0"/>
                </a:solidFill>
                <a:latin typeface="Menlo"/>
              </a:rPr>
              <a:t>#  k=3, s=1, p=1  -&gt;  8   same size</a:t>
            </a:r>
          </a:p>
          <a:p>
            <a:pPr algn="l">
              <a:lnSpc>
                <a:spcPct val="128000"/>
              </a:lnSpc>
            </a:pPr>
            <a:r>
              <a:rPr sz="1050" b="0" i="0">
                <a:solidFill>
                  <a:srgbClr val="E2E8F0"/>
                </a:solidFill>
                <a:latin typeface="Menlo"/>
              </a:rPr>
              <a:t>#  k=3, s=1, p=0  -&gt;  6   two smaller</a:t>
            </a:r>
          </a:p>
          <a:p>
            <a:pPr algn="l">
              <a:lnSpc>
                <a:spcPct val="128000"/>
              </a:lnSpc>
            </a:pPr>
            <a:r>
              <a:rPr sz="1050" b="0" i="0">
                <a:solidFill>
                  <a:srgbClr val="E2E8F0"/>
                </a:solidFill>
                <a:latin typeface="Menlo"/>
              </a:rPr>
              <a:t>#  k=2, s=2, p=0  -&gt;  4   pooling: halve</a:t>
            </a:r>
          </a:p>
          <a:p>
            <a:pPr algn="l">
              <a:lnSpc>
                <a:spcPct val="128000"/>
              </a:lnSpc>
            </a:pPr>
            <a:r>
              <a:rPr sz="1050" b="0" i="0">
                <a:solidFill>
                  <a:srgbClr val="E2E8F0"/>
                </a:solidFill>
                <a:latin typeface="Menlo"/>
              </a:rPr>
              <a:t>#  k=3, s=2, p=1  -&gt;  4   downsample</a:t>
            </a:r>
          </a:p>
          <a:p>
            <a:pPr algn="l">
              <a:lnSpc>
                <a:spcPct val="128000"/>
              </a:lnSpc>
            </a:pPr>
            <a:r>
              <a:rPr sz="1050" b="0" i="0">
                <a:solidFill>
                  <a:srgbClr val="E2E8F0"/>
                </a:solidFill>
                <a:latin typeface="Menlo"/>
              </a:rPr>
              <a:t>#  k=1, s=1, p=0  -&gt;  8   1x1 conv: channels only</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k, s, p = 3, 1, 1</a:t>
            </a:r>
          </a:p>
          <a:p>
            <a:pPr algn="l">
              <a:lnSpc>
                <a:spcPct val="128000"/>
              </a:lnSpc>
            </a:pPr>
            <a:r>
              <a:rPr sz="1050" b="0" i="0">
                <a:solidFill>
                  <a:srgbClr val="E2E8F0"/>
                </a:solidFill>
                <a:latin typeface="Menlo"/>
              </a:rPr>
              <a:t>print(out_size(8, k, s, p))     # 8</a:t>
            </a:r>
          </a:p>
        </p:txBody>
      </p:sp>
      <p:sp>
        <p:nvSpPr>
          <p:cNvPr id="14" name="Rectangle 13"/>
          <p:cNvSpPr/>
          <p:nvPr/>
        </p:nvSpPr>
        <p:spPr>
          <a:xfrm>
            <a:off x="6207659" y="1170000"/>
            <a:ext cx="5185259" cy="44496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7659"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69659"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2. Against the real forward (what the script runs)</a:t>
            </a:r>
          </a:p>
          <a:p>
            <a:pPr algn="l">
              <a:lnSpc>
                <a:spcPct val="105000"/>
              </a:lnSpc>
              <a:spcBef>
                <a:spcPts val="150"/>
              </a:spcBef>
            </a:pPr>
            <a:r>
              <a:rPr sz="900" b="0" i="0">
                <a:solidFill>
                  <a:srgbClr val="6B7280"/>
                </a:solidFill>
                <a:latin typeface="Source Han Sans SC"/>
              </a:rPr>
              <a:t>② 与真实前向对照（脚本实际跑的）</a:t>
            </a:r>
          </a:p>
        </p:txBody>
      </p:sp>
      <p:sp>
        <p:nvSpPr>
          <p:cNvPr id="17" name="TextBox 16"/>
          <p:cNvSpPr txBox="1"/>
          <p:nvPr/>
        </p:nvSpPr>
        <p:spPr>
          <a:xfrm>
            <a:off x="6405659" y="1584000"/>
            <a:ext cx="4789259" cy="3963680"/>
          </a:xfrm>
          <a:prstGeom prst="rect">
            <a:avLst/>
          </a:prstGeom>
          <a:noFill/>
        </p:spPr>
        <p:txBody>
          <a:bodyPr wrap="square" anchor="t" lIns="0" rIns="0" tIns="0" bIns="0">
            <a:spAutoFit/>
          </a:bodyPr>
          <a:lstStyle/>
          <a:p>
            <a:pPr algn="l">
              <a:lnSpc>
                <a:spcPct val="128000"/>
              </a:lnSpc>
            </a:pPr>
            <a:r>
              <a:rPr sz="1050" b="0" i="0">
                <a:solidFill>
                  <a:srgbClr val="E2E8F0"/>
                </a:solidFill>
                <a:latin typeface="Menlo"/>
              </a:rPr>
              <a:t>stages = [('conv',3,1,1), ('pool',2,2,0),</a:t>
            </a:r>
          </a:p>
          <a:p>
            <a:pPr algn="l">
              <a:lnSpc>
                <a:spcPct val="128000"/>
              </a:lnSpc>
            </a:pPr>
            <a:r>
              <a:rPr sz="1050" b="0" i="0">
                <a:solidFill>
                  <a:srgbClr val="E2E8F0"/>
                </a:solidFill>
                <a:latin typeface="Menlo"/>
              </a:rPr>
              <a:t>          ('conv',3,1,1), ('pool',2,2,0)]</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size = 8</a:t>
            </a:r>
          </a:p>
          <a:p>
            <a:pPr algn="l">
              <a:lnSpc>
                <a:spcPct val="128000"/>
              </a:lnSpc>
            </a:pPr>
            <a:r>
              <a:rPr sz="1050" b="0" i="0">
                <a:solidFill>
                  <a:srgbClr val="E2E8F0"/>
                </a:solidFill>
                <a:latin typeface="Menlo"/>
              </a:rPr>
              <a:t>for kind, k, s, p in stages:</a:t>
            </a:r>
          </a:p>
          <a:p>
            <a:pPr algn="l">
              <a:lnSpc>
                <a:spcPct val="128000"/>
              </a:lnSpc>
            </a:pPr>
            <a:r>
              <a:rPr sz="1050" b="0" i="0">
                <a:solidFill>
                  <a:srgbClr val="E2E8F0"/>
                </a:solidFill>
                <a:latin typeface="Menlo"/>
              </a:rPr>
              <a:t>    size = out_size(size, k, s, p)</a:t>
            </a:r>
          </a:p>
          <a:p>
            <a:pPr algn="l">
              <a:lnSpc>
                <a:spcPct val="128000"/>
              </a:lnSpc>
            </a:pPr>
            <a:r>
              <a:rPr sz="1050" b="0" i="0">
                <a:solidFill>
                  <a:srgbClr val="E2E8F0"/>
                </a:solidFill>
                <a:latin typeface="Menlo"/>
              </a:rPr>
              <a:t>    print(kind, '-&gt;', size)</a:t>
            </a:r>
          </a:p>
          <a:p>
            <a:pPr algn="l">
              <a:lnSpc>
                <a:spcPct val="128000"/>
              </a:lnSpc>
            </a:pPr>
            <a:r>
              <a:rPr sz="1050" b="0" i="0">
                <a:solidFill>
                  <a:srgbClr val="E2E8F0"/>
                </a:solidFill>
                <a:latin typeface="Menlo"/>
              </a:rPr>
              <a:t># conv -&gt; 8</a:t>
            </a:r>
          </a:p>
          <a:p>
            <a:pPr algn="l">
              <a:lnSpc>
                <a:spcPct val="128000"/>
              </a:lnSpc>
            </a:pPr>
            <a:r>
              <a:rPr sz="1050" b="0" i="0">
                <a:solidFill>
                  <a:srgbClr val="E2E8F0"/>
                </a:solidFill>
                <a:latin typeface="Menlo"/>
              </a:rPr>
              <a:t># pool -&gt; 4</a:t>
            </a:r>
          </a:p>
          <a:p>
            <a:pPr algn="l">
              <a:lnSpc>
                <a:spcPct val="128000"/>
              </a:lnSpc>
            </a:pPr>
            <a:r>
              <a:rPr sz="1050" b="0" i="0">
                <a:solidFill>
                  <a:srgbClr val="E2E8F0"/>
                </a:solidFill>
                <a:latin typeface="Menlo"/>
              </a:rPr>
              <a:t># conv -&gt; 4</a:t>
            </a:r>
          </a:p>
          <a:p>
            <a:pPr algn="l">
              <a:lnSpc>
                <a:spcPct val="128000"/>
              </a:lnSpc>
            </a:pPr>
            <a:r>
              <a:rPr sz="1050" b="0" i="0">
                <a:solidFill>
                  <a:srgbClr val="E2E8F0"/>
                </a:solidFill>
                <a:latin typeface="Menlo"/>
              </a:rPr>
              <a:t># pool -&gt; 2</a:t>
            </a:r>
          </a:p>
          <a:p>
            <a:pPr algn="l">
              <a:lnSpc>
                <a:spcPct val="128000"/>
              </a:lnSpc>
            </a:pPr>
            <a:r>
              <a:rPr sz="1050" b="0" i="0">
                <a:solidFill>
                  <a:srgbClr val="E2E8F0"/>
                </a:solidFill>
                <a:latin typeface="Menlo"/>
              </a:rPr>
              <a:t/>
            </a:r>
          </a:p>
          <a:p>
            <a:pPr algn="l">
              <a:lnSpc>
                <a:spcPct val="128000"/>
              </a:lnSpc>
            </a:pPr>
            <a:r>
              <a:rPr sz="1050" b="0" i="0">
                <a:solidFill>
                  <a:srgbClr val="E2E8F0"/>
                </a:solidFill>
                <a:latin typeface="Menlo"/>
              </a:rPr>
              <a:t># measured (asserted by the script):</a:t>
            </a:r>
          </a:p>
          <a:p>
            <a:pPr algn="l">
              <a:lnSpc>
                <a:spcPct val="128000"/>
              </a:lnSpc>
            </a:pPr>
            <a:r>
              <a:rPr sz="1050" b="0" i="0">
                <a:solidFill>
                  <a:srgbClr val="E2E8F0"/>
                </a:solidFill>
                <a:latin typeface="Menlo"/>
              </a:rPr>
              <a:t># conv  formula 8  forward 8   OK</a:t>
            </a:r>
          </a:p>
          <a:p>
            <a:pPr algn="l">
              <a:lnSpc>
                <a:spcPct val="128000"/>
              </a:lnSpc>
            </a:pPr>
            <a:r>
              <a:rPr sz="1050" b="0" i="0">
                <a:solidFill>
                  <a:srgbClr val="E2E8F0"/>
                </a:solidFill>
                <a:latin typeface="Menlo"/>
              </a:rPr>
              <a:t># pool  formula 4  forward 4   OK</a:t>
            </a:r>
          </a:p>
          <a:p>
            <a:pPr algn="l">
              <a:lnSpc>
                <a:spcPct val="128000"/>
              </a:lnSpc>
            </a:pPr>
            <a:r>
              <a:rPr sz="1050" b="0" i="0">
                <a:solidFill>
                  <a:srgbClr val="E2E8F0"/>
                </a:solidFill>
                <a:latin typeface="Menlo"/>
              </a:rPr>
              <a:t># conv  formula 4  forward 4   OK</a:t>
            </a:r>
          </a:p>
          <a:p>
            <a:pPr algn="l">
              <a:lnSpc>
                <a:spcPct val="128000"/>
              </a:lnSpc>
            </a:pPr>
            <a:r>
              <a:rPr sz="1050" b="0" i="0">
                <a:solidFill>
                  <a:srgbClr val="E2E8F0"/>
                </a:solidFill>
                <a:latin typeface="Menlo"/>
              </a:rPr>
              <a:t># pool  formula 2  forward 2   OK</a:t>
            </a:r>
          </a:p>
          <a:p>
            <a:pPr algn="l">
              <a:lnSpc>
                <a:spcPct val="128000"/>
              </a:lnSpc>
            </a:pPr>
            <a:r>
              <a:rPr sz="1050" b="0" i="0">
                <a:solidFill>
                  <a:srgbClr val="E2E8F0"/>
                </a:solidFill>
                <a:latin typeface="Menlo"/>
              </a:rPr>
              <a:t># flatten = 16 * 2 * 2 = 64</a:t>
            </a:r>
          </a:p>
        </p:txBody>
      </p:sp>
      <p:sp>
        <p:nvSpPr>
          <p:cNvPr id="18" name="TextBox 17"/>
          <p:cNvSpPr txBox="1"/>
          <p:nvPr/>
        </p:nvSpPr>
        <p:spPr>
          <a:xfrm>
            <a:off x="799200" y="579968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When a shape mismatch fires, do this page first, not the code. Most shape errors are located here.</a:t>
            </a:r>
          </a:p>
          <a:p>
            <a:pPr algn="l">
              <a:lnSpc>
                <a:spcPct val="105000"/>
              </a:lnSpc>
              <a:spcBef>
                <a:spcPts val="150"/>
              </a:spcBef>
            </a:pPr>
            <a:r>
              <a:rPr sz="940" b="0" i="0">
                <a:solidFill>
                  <a:srgbClr val="6B7280"/>
                </a:solidFill>
                <a:latin typeface="Source Han Sans SC"/>
              </a:rPr>
              <a:t>报「shape mismatch」时先算这一页，不要先改代码。90% 的形状错误在这一页就能定位。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Receptive Field: Two Layers Already See the Whole 8x8</a:t>
            </a:r>
          </a:p>
          <a:p>
            <a:pPr algn="l">
              <a:lnSpc>
                <a:spcPct val="105000"/>
              </a:lnSpc>
              <a:spcBef>
                <a:spcPts val="150"/>
              </a:spcBef>
            </a:pPr>
            <a:r>
              <a:rPr sz="1210" b="0" i="0">
                <a:solidFill>
                  <a:srgbClr val="6B7280"/>
                </a:solidFill>
                <a:latin typeface="Source Han Sans SC"/>
              </a:rPr>
              <a:t>感受野：一张 8×8 的图，两层就看完了</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All three grids are the same 8x8 input; the shading is what one output cell of that stage can see</a:t>
            </a:r>
          </a:p>
          <a:p>
            <a:pPr algn="l">
              <a:lnSpc>
                <a:spcPct val="105000"/>
              </a:lnSpc>
              <a:spcBef>
                <a:spcPts val="150"/>
              </a:spcBef>
            </a:pPr>
            <a:r>
              <a:rPr sz="800" b="0" i="0">
                <a:solidFill>
                  <a:srgbClr val="6B7280"/>
                </a:solidFill>
                <a:latin typeface="Source Han Sans SC"/>
              </a:rPr>
              <a:t>三个格子都是同一张 8×8 输入；阴影是那一层「一格的输出」能看见的区域</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KT13 · key</a:t>
            </a:r>
            <a:r>
              <a:rPr sz="800" b="0" i="0">
                <a:solidFill>
                  <a:srgbClr val="6B7280"/>
                </a:solidFill>
                <a:latin typeface="Source Han Sans SC"/>
              </a:rPr>
              <a:t> ｜ </a:t>
            </a:r>
            <a:r>
              <a:rPr sz="800" b="0" i="0">
                <a:solidFill>
                  <a:srgbClr val="6B7280"/>
                </a:solidFill>
                <a:latin typeface="Source Han Sans SC"/>
              </a:rPr>
              <a:t>KT13 · 关键</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11 / 32</a:t>
            </a:r>
          </a:p>
        </p:txBody>
      </p:sp>
      <p:sp>
        <p:nvSpPr>
          <p:cNvPr id="10" name="TextBox 9"/>
          <p:cNvSpPr txBox="1"/>
          <p:nvPr/>
        </p:nvSpPr>
        <p:spPr>
          <a:xfrm>
            <a:off x="732059" y="1404000"/>
            <a:ext cx="3311999" cy="365174"/>
          </a:xfrm>
          <a:prstGeom prst="rect">
            <a:avLst/>
          </a:prstGeom>
          <a:noFill/>
        </p:spPr>
        <p:txBody>
          <a:bodyPr wrap="square" anchor="t" lIns="0" rIns="0" tIns="0" bIns="0">
            <a:spAutoFit/>
          </a:bodyPr>
          <a:lstStyle/>
          <a:p>
            <a:pPr algn="ctr">
              <a:lnSpc>
                <a:spcPct val="125000"/>
              </a:lnSpc>
            </a:pPr>
            <a:r>
              <a:rPr sz="1350" b="1" i="0">
                <a:solidFill>
                  <a:srgbClr val="0E3F8C"/>
                </a:solidFill>
                <a:latin typeface="Source Han Sans SC"/>
              </a:rPr>
              <a:t>Conv 1</a:t>
            </a:r>
            <a:r>
              <a:rPr sz="1050" b="0" i="0">
                <a:solidFill>
                  <a:srgbClr val="6B7280"/>
                </a:solidFill>
                <a:latin typeface="Source Han Sans SC"/>
              </a:rPr>
              <a:t> ｜ </a:t>
            </a:r>
            <a:r>
              <a:rPr sz="1050" b="0" i="0">
                <a:solidFill>
                  <a:srgbClr val="6B7280"/>
                </a:solidFill>
                <a:latin typeface="Source Han Sans SC"/>
              </a:rPr>
              <a:t>卷积 1</a:t>
            </a:r>
          </a:p>
        </p:txBody>
      </p:sp>
      <p:sp>
        <p:nvSpPr>
          <p:cNvPr id="11" name="TextBox 10"/>
          <p:cNvSpPr txBox="1"/>
          <p:nvPr/>
        </p:nvSpPr>
        <p:spPr>
          <a:xfrm>
            <a:off x="732059" y="1718774"/>
            <a:ext cx="3311999" cy="317549"/>
          </a:xfrm>
          <a:prstGeom prst="rect">
            <a:avLst/>
          </a:prstGeom>
          <a:noFill/>
        </p:spPr>
        <p:txBody>
          <a:bodyPr wrap="square" anchor="t" lIns="0" rIns="0" tIns="0" bIns="0">
            <a:spAutoFit/>
          </a:bodyPr>
          <a:lstStyle/>
          <a:p>
            <a:pPr algn="ctr">
              <a:lnSpc>
                <a:spcPct val="125000"/>
              </a:lnSpc>
            </a:pPr>
            <a:r>
              <a:rPr sz="1100" b="0" i="0">
                <a:solidFill>
                  <a:srgbClr val="6B7280"/>
                </a:solidFill>
                <a:latin typeface="Source Han Sans SC"/>
              </a:rPr>
              <a:t>k=3, s=1</a:t>
            </a:r>
          </a:p>
        </p:txBody>
      </p:sp>
      <p:sp>
        <p:nvSpPr>
          <p:cNvPr id="12" name="Rectangle 11"/>
          <p:cNvSpPr/>
          <p:nvPr/>
        </p:nvSpPr>
        <p:spPr>
          <a:xfrm>
            <a:off x="94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30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6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202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38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74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10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468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4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30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66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2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38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74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10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3468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4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130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66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02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38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74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10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468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4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130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166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202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238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274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310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3468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4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130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166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202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238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274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310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468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94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130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166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202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238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274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310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3468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94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130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166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202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238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274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310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3468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94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130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ectangle 69"/>
          <p:cNvSpPr/>
          <p:nvPr/>
        </p:nvSpPr>
        <p:spPr>
          <a:xfrm>
            <a:off x="166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202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238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274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310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3468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a:off x="2028059" y="3256724"/>
            <a:ext cx="1080000" cy="1080000"/>
          </a:xfrm>
          <a:prstGeom prst="rect">
            <a:avLst/>
          </a:prstGeom>
          <a:solidFill>
            <a:srgbClr val="E2E8F4"/>
          </a:solidFill>
          <a:ln w="1778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2388059" y="3616724"/>
            <a:ext cx="360000" cy="360000"/>
          </a:xfrm>
          <a:prstGeom prst="rect">
            <a:avLst/>
          </a:prstGeom>
          <a:solidFill>
            <a:srgbClr val="0E3F8C"/>
          </a:solidFill>
          <a:ln w="1270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8" name="Connector 77"/>
          <p:cNvCxnSpPr/>
          <p:nvPr/>
        </p:nvCxnSpPr>
        <p:spPr>
          <a:xfrm>
            <a:off x="3885659" y="3616724"/>
            <a:ext cx="626401" cy="0"/>
          </a:xfrm>
          <a:prstGeom prst="line">
            <a:avLst/>
          </a:prstGeom>
          <a:ln w="2032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79" name="Isosceles Triangle 78"/>
          <p:cNvSpPr/>
          <p:nvPr/>
        </p:nvSpPr>
        <p:spPr>
          <a:xfrm rot="5400000">
            <a:off x="4472460" y="3541124"/>
            <a:ext cx="151200" cy="151200"/>
          </a:xfrm>
          <a:prstGeom prst="triangl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4440060" y="1404000"/>
            <a:ext cx="3311999" cy="365174"/>
          </a:xfrm>
          <a:prstGeom prst="rect">
            <a:avLst/>
          </a:prstGeom>
          <a:noFill/>
        </p:spPr>
        <p:txBody>
          <a:bodyPr wrap="square" anchor="t" lIns="0" rIns="0" tIns="0" bIns="0">
            <a:spAutoFit/>
          </a:bodyPr>
          <a:lstStyle/>
          <a:p>
            <a:pPr algn="ctr">
              <a:lnSpc>
                <a:spcPct val="125000"/>
              </a:lnSpc>
            </a:pPr>
            <a:r>
              <a:rPr sz="1350" b="1" i="0">
                <a:solidFill>
                  <a:srgbClr val="0E3F8C"/>
                </a:solidFill>
                <a:latin typeface="Source Han Sans SC"/>
              </a:rPr>
              <a:t>+ MaxPool</a:t>
            </a:r>
            <a:r>
              <a:rPr sz="1050" b="0" i="0">
                <a:solidFill>
                  <a:srgbClr val="6B7280"/>
                </a:solidFill>
                <a:latin typeface="Source Han Sans SC"/>
              </a:rPr>
              <a:t> ｜ </a:t>
            </a:r>
            <a:r>
              <a:rPr sz="1050" b="0" i="0">
                <a:solidFill>
                  <a:srgbClr val="6B7280"/>
                </a:solidFill>
                <a:latin typeface="Source Han Sans SC"/>
              </a:rPr>
              <a:t>最大池化</a:t>
            </a:r>
          </a:p>
        </p:txBody>
      </p:sp>
      <p:sp>
        <p:nvSpPr>
          <p:cNvPr id="81" name="TextBox 80"/>
          <p:cNvSpPr txBox="1"/>
          <p:nvPr/>
        </p:nvSpPr>
        <p:spPr>
          <a:xfrm>
            <a:off x="4440060" y="1718774"/>
            <a:ext cx="3311999" cy="317549"/>
          </a:xfrm>
          <a:prstGeom prst="rect">
            <a:avLst/>
          </a:prstGeom>
          <a:noFill/>
        </p:spPr>
        <p:txBody>
          <a:bodyPr wrap="square" anchor="t" lIns="0" rIns="0" tIns="0" bIns="0">
            <a:spAutoFit/>
          </a:bodyPr>
          <a:lstStyle/>
          <a:p>
            <a:pPr algn="ctr">
              <a:lnSpc>
                <a:spcPct val="125000"/>
              </a:lnSpc>
            </a:pPr>
            <a:r>
              <a:rPr sz="1100" b="0" i="0">
                <a:solidFill>
                  <a:srgbClr val="6B7280"/>
                </a:solidFill>
                <a:latin typeface="Source Han Sans SC"/>
              </a:rPr>
              <a:t>k=2, s=2</a:t>
            </a:r>
          </a:p>
        </p:txBody>
      </p:sp>
      <p:sp>
        <p:nvSpPr>
          <p:cNvPr id="82" name="Rectangle 81"/>
          <p:cNvSpPr/>
          <p:nvPr/>
        </p:nvSpPr>
        <p:spPr>
          <a:xfrm>
            <a:off x="465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a:off x="501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537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ectangle 84"/>
          <p:cNvSpPr/>
          <p:nvPr/>
        </p:nvSpPr>
        <p:spPr>
          <a:xfrm>
            <a:off x="573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609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645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681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7176059"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465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a:off x="501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537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573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609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645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a:off x="681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7176059"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465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501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537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ectangle 100"/>
          <p:cNvSpPr/>
          <p:nvPr/>
        </p:nvSpPr>
        <p:spPr>
          <a:xfrm>
            <a:off x="573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Rectangle 101"/>
          <p:cNvSpPr/>
          <p:nvPr/>
        </p:nvSpPr>
        <p:spPr>
          <a:xfrm>
            <a:off x="609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645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ectangle 103"/>
          <p:cNvSpPr/>
          <p:nvPr/>
        </p:nvSpPr>
        <p:spPr>
          <a:xfrm>
            <a:off x="681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Rectangle 104"/>
          <p:cNvSpPr/>
          <p:nvPr/>
        </p:nvSpPr>
        <p:spPr>
          <a:xfrm>
            <a:off x="7176059"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Rectangle 105"/>
          <p:cNvSpPr/>
          <p:nvPr/>
        </p:nvSpPr>
        <p:spPr>
          <a:xfrm>
            <a:off x="465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501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Rectangle 107"/>
          <p:cNvSpPr/>
          <p:nvPr/>
        </p:nvSpPr>
        <p:spPr>
          <a:xfrm>
            <a:off x="537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Rectangle 108"/>
          <p:cNvSpPr/>
          <p:nvPr/>
        </p:nvSpPr>
        <p:spPr>
          <a:xfrm>
            <a:off x="573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Rectangle 109"/>
          <p:cNvSpPr/>
          <p:nvPr/>
        </p:nvSpPr>
        <p:spPr>
          <a:xfrm>
            <a:off x="609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Rectangle 110"/>
          <p:cNvSpPr/>
          <p:nvPr/>
        </p:nvSpPr>
        <p:spPr>
          <a:xfrm>
            <a:off x="645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2" name="Rectangle 111"/>
          <p:cNvSpPr/>
          <p:nvPr/>
        </p:nvSpPr>
        <p:spPr>
          <a:xfrm>
            <a:off x="681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7176059"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ectangle 113"/>
          <p:cNvSpPr/>
          <p:nvPr/>
        </p:nvSpPr>
        <p:spPr>
          <a:xfrm>
            <a:off x="465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Rectangle 114"/>
          <p:cNvSpPr/>
          <p:nvPr/>
        </p:nvSpPr>
        <p:spPr>
          <a:xfrm>
            <a:off x="501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Rectangle 115"/>
          <p:cNvSpPr/>
          <p:nvPr/>
        </p:nvSpPr>
        <p:spPr>
          <a:xfrm>
            <a:off x="537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Rectangle 116"/>
          <p:cNvSpPr/>
          <p:nvPr/>
        </p:nvSpPr>
        <p:spPr>
          <a:xfrm>
            <a:off x="573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Rectangle 117"/>
          <p:cNvSpPr/>
          <p:nvPr/>
        </p:nvSpPr>
        <p:spPr>
          <a:xfrm>
            <a:off x="609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Rectangle 118"/>
          <p:cNvSpPr/>
          <p:nvPr/>
        </p:nvSpPr>
        <p:spPr>
          <a:xfrm>
            <a:off x="645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Rectangle 119"/>
          <p:cNvSpPr/>
          <p:nvPr/>
        </p:nvSpPr>
        <p:spPr>
          <a:xfrm>
            <a:off x="681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ectangle 120"/>
          <p:cNvSpPr/>
          <p:nvPr/>
        </p:nvSpPr>
        <p:spPr>
          <a:xfrm>
            <a:off x="7176059"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465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Rectangle 122"/>
          <p:cNvSpPr/>
          <p:nvPr/>
        </p:nvSpPr>
        <p:spPr>
          <a:xfrm>
            <a:off x="501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Rectangle 123"/>
          <p:cNvSpPr/>
          <p:nvPr/>
        </p:nvSpPr>
        <p:spPr>
          <a:xfrm>
            <a:off x="537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Rectangle 124"/>
          <p:cNvSpPr/>
          <p:nvPr/>
        </p:nvSpPr>
        <p:spPr>
          <a:xfrm>
            <a:off x="573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Rectangle 125"/>
          <p:cNvSpPr/>
          <p:nvPr/>
        </p:nvSpPr>
        <p:spPr>
          <a:xfrm>
            <a:off x="609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Rectangle 126"/>
          <p:cNvSpPr/>
          <p:nvPr/>
        </p:nvSpPr>
        <p:spPr>
          <a:xfrm>
            <a:off x="645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Rectangle 127"/>
          <p:cNvSpPr/>
          <p:nvPr/>
        </p:nvSpPr>
        <p:spPr>
          <a:xfrm>
            <a:off x="681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9" name="Rectangle 128"/>
          <p:cNvSpPr/>
          <p:nvPr/>
        </p:nvSpPr>
        <p:spPr>
          <a:xfrm>
            <a:off x="7176059"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Rectangle 129"/>
          <p:cNvSpPr/>
          <p:nvPr/>
        </p:nvSpPr>
        <p:spPr>
          <a:xfrm>
            <a:off x="465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1" name="Rectangle 130"/>
          <p:cNvSpPr/>
          <p:nvPr/>
        </p:nvSpPr>
        <p:spPr>
          <a:xfrm>
            <a:off x="501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Rectangle 131"/>
          <p:cNvSpPr/>
          <p:nvPr/>
        </p:nvSpPr>
        <p:spPr>
          <a:xfrm>
            <a:off x="537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3" name="Rectangle 132"/>
          <p:cNvSpPr/>
          <p:nvPr/>
        </p:nvSpPr>
        <p:spPr>
          <a:xfrm>
            <a:off x="573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Rectangle 133"/>
          <p:cNvSpPr/>
          <p:nvPr/>
        </p:nvSpPr>
        <p:spPr>
          <a:xfrm>
            <a:off x="609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5" name="Rectangle 134"/>
          <p:cNvSpPr/>
          <p:nvPr/>
        </p:nvSpPr>
        <p:spPr>
          <a:xfrm>
            <a:off x="645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Rectangle 135"/>
          <p:cNvSpPr/>
          <p:nvPr/>
        </p:nvSpPr>
        <p:spPr>
          <a:xfrm>
            <a:off x="681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7" name="Rectangle 136"/>
          <p:cNvSpPr/>
          <p:nvPr/>
        </p:nvSpPr>
        <p:spPr>
          <a:xfrm>
            <a:off x="7176059"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Rectangle 137"/>
          <p:cNvSpPr/>
          <p:nvPr/>
        </p:nvSpPr>
        <p:spPr>
          <a:xfrm>
            <a:off x="465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9" name="Rectangle 138"/>
          <p:cNvSpPr/>
          <p:nvPr/>
        </p:nvSpPr>
        <p:spPr>
          <a:xfrm>
            <a:off x="501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Rectangle 139"/>
          <p:cNvSpPr/>
          <p:nvPr/>
        </p:nvSpPr>
        <p:spPr>
          <a:xfrm>
            <a:off x="537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1" name="Rectangle 140"/>
          <p:cNvSpPr/>
          <p:nvPr/>
        </p:nvSpPr>
        <p:spPr>
          <a:xfrm>
            <a:off x="573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2" name="Rectangle 141"/>
          <p:cNvSpPr/>
          <p:nvPr/>
        </p:nvSpPr>
        <p:spPr>
          <a:xfrm>
            <a:off x="609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3" name="Rectangle 142"/>
          <p:cNvSpPr/>
          <p:nvPr/>
        </p:nvSpPr>
        <p:spPr>
          <a:xfrm>
            <a:off x="645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Rectangle 143"/>
          <p:cNvSpPr/>
          <p:nvPr/>
        </p:nvSpPr>
        <p:spPr>
          <a:xfrm>
            <a:off x="681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5" name="Rectangle 144"/>
          <p:cNvSpPr/>
          <p:nvPr/>
        </p:nvSpPr>
        <p:spPr>
          <a:xfrm>
            <a:off x="7176059"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6" name="Rectangle 145"/>
          <p:cNvSpPr/>
          <p:nvPr/>
        </p:nvSpPr>
        <p:spPr>
          <a:xfrm>
            <a:off x="5736059" y="3256724"/>
            <a:ext cx="1440000" cy="1440000"/>
          </a:xfrm>
          <a:prstGeom prst="rect">
            <a:avLst/>
          </a:prstGeom>
          <a:solidFill>
            <a:srgbClr val="E2E8F4"/>
          </a:solidFill>
          <a:ln w="1778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7" name="Rectangle 146"/>
          <p:cNvSpPr/>
          <p:nvPr/>
        </p:nvSpPr>
        <p:spPr>
          <a:xfrm>
            <a:off x="6096059" y="3616724"/>
            <a:ext cx="360000" cy="360000"/>
          </a:xfrm>
          <a:prstGeom prst="rect">
            <a:avLst/>
          </a:prstGeom>
          <a:solidFill>
            <a:srgbClr val="0E3F8C"/>
          </a:solidFill>
          <a:ln w="1270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48" name="Connector 147"/>
          <p:cNvCxnSpPr/>
          <p:nvPr/>
        </p:nvCxnSpPr>
        <p:spPr>
          <a:xfrm>
            <a:off x="7593660" y="3616724"/>
            <a:ext cx="626400" cy="0"/>
          </a:xfrm>
          <a:prstGeom prst="line">
            <a:avLst/>
          </a:prstGeom>
          <a:ln w="2032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149" name="Isosceles Triangle 148"/>
          <p:cNvSpPr/>
          <p:nvPr/>
        </p:nvSpPr>
        <p:spPr>
          <a:xfrm rot="5400000">
            <a:off x="8180459" y="3541124"/>
            <a:ext cx="151200" cy="151200"/>
          </a:xfrm>
          <a:prstGeom prst="triangl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0" name="TextBox 149"/>
          <p:cNvSpPr txBox="1"/>
          <p:nvPr/>
        </p:nvSpPr>
        <p:spPr>
          <a:xfrm>
            <a:off x="8148059" y="1404000"/>
            <a:ext cx="3311999" cy="365174"/>
          </a:xfrm>
          <a:prstGeom prst="rect">
            <a:avLst/>
          </a:prstGeom>
          <a:noFill/>
        </p:spPr>
        <p:txBody>
          <a:bodyPr wrap="square" anchor="t" lIns="0" rIns="0" tIns="0" bIns="0">
            <a:spAutoFit/>
          </a:bodyPr>
          <a:lstStyle/>
          <a:p>
            <a:pPr algn="ctr">
              <a:lnSpc>
                <a:spcPct val="125000"/>
              </a:lnSpc>
            </a:pPr>
            <a:r>
              <a:rPr sz="1350" b="1" i="0">
                <a:solidFill>
                  <a:srgbClr val="0E3F8C"/>
                </a:solidFill>
                <a:latin typeface="Source Han Sans SC"/>
              </a:rPr>
              <a:t>+ Conv 2</a:t>
            </a:r>
            <a:r>
              <a:rPr sz="1050" b="0" i="0">
                <a:solidFill>
                  <a:srgbClr val="6B7280"/>
                </a:solidFill>
                <a:latin typeface="Source Han Sans SC"/>
              </a:rPr>
              <a:t> ｜ </a:t>
            </a:r>
            <a:r>
              <a:rPr sz="1050" b="0" i="0">
                <a:solidFill>
                  <a:srgbClr val="6B7280"/>
                </a:solidFill>
                <a:latin typeface="Source Han Sans SC"/>
              </a:rPr>
              <a:t>卷积 2</a:t>
            </a:r>
          </a:p>
        </p:txBody>
      </p:sp>
      <p:sp>
        <p:nvSpPr>
          <p:cNvPr id="151" name="TextBox 150"/>
          <p:cNvSpPr txBox="1"/>
          <p:nvPr/>
        </p:nvSpPr>
        <p:spPr>
          <a:xfrm>
            <a:off x="8148059" y="1718774"/>
            <a:ext cx="3311999" cy="317549"/>
          </a:xfrm>
          <a:prstGeom prst="rect">
            <a:avLst/>
          </a:prstGeom>
          <a:noFill/>
        </p:spPr>
        <p:txBody>
          <a:bodyPr wrap="square" anchor="t" lIns="0" rIns="0" tIns="0" bIns="0">
            <a:spAutoFit/>
          </a:bodyPr>
          <a:lstStyle/>
          <a:p>
            <a:pPr algn="ctr">
              <a:lnSpc>
                <a:spcPct val="125000"/>
              </a:lnSpc>
            </a:pPr>
            <a:r>
              <a:rPr sz="1100" b="0" i="0">
                <a:solidFill>
                  <a:srgbClr val="6B7280"/>
                </a:solidFill>
                <a:latin typeface="Source Han Sans SC"/>
              </a:rPr>
              <a:t>k=3, s=1</a:t>
            </a:r>
          </a:p>
        </p:txBody>
      </p:sp>
      <p:sp>
        <p:nvSpPr>
          <p:cNvPr id="152" name="Rectangle 151"/>
          <p:cNvSpPr/>
          <p:nvPr/>
        </p:nvSpPr>
        <p:spPr>
          <a:xfrm>
            <a:off x="836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 name="Rectangle 152"/>
          <p:cNvSpPr/>
          <p:nvPr/>
        </p:nvSpPr>
        <p:spPr>
          <a:xfrm>
            <a:off x="872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 name="Rectangle 153"/>
          <p:cNvSpPr/>
          <p:nvPr/>
        </p:nvSpPr>
        <p:spPr>
          <a:xfrm>
            <a:off x="908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5" name="Rectangle 154"/>
          <p:cNvSpPr/>
          <p:nvPr/>
        </p:nvSpPr>
        <p:spPr>
          <a:xfrm>
            <a:off x="944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6" name="Rectangle 155"/>
          <p:cNvSpPr/>
          <p:nvPr/>
        </p:nvSpPr>
        <p:spPr>
          <a:xfrm>
            <a:off x="980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7" name="Rectangle 156"/>
          <p:cNvSpPr/>
          <p:nvPr/>
        </p:nvSpPr>
        <p:spPr>
          <a:xfrm>
            <a:off x="1016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8" name="Rectangle 157"/>
          <p:cNvSpPr/>
          <p:nvPr/>
        </p:nvSpPr>
        <p:spPr>
          <a:xfrm>
            <a:off x="1052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9" name="Rectangle 158"/>
          <p:cNvSpPr/>
          <p:nvPr/>
        </p:nvSpPr>
        <p:spPr>
          <a:xfrm>
            <a:off x="10884060" y="21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0" name="Rectangle 159"/>
          <p:cNvSpPr/>
          <p:nvPr/>
        </p:nvSpPr>
        <p:spPr>
          <a:xfrm>
            <a:off x="836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1" name="Rectangle 160"/>
          <p:cNvSpPr/>
          <p:nvPr/>
        </p:nvSpPr>
        <p:spPr>
          <a:xfrm>
            <a:off x="872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2" name="Rectangle 161"/>
          <p:cNvSpPr/>
          <p:nvPr/>
        </p:nvSpPr>
        <p:spPr>
          <a:xfrm>
            <a:off x="908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3" name="Rectangle 162"/>
          <p:cNvSpPr/>
          <p:nvPr/>
        </p:nvSpPr>
        <p:spPr>
          <a:xfrm>
            <a:off x="944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4" name="Rectangle 163"/>
          <p:cNvSpPr/>
          <p:nvPr/>
        </p:nvSpPr>
        <p:spPr>
          <a:xfrm>
            <a:off x="980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5" name="Rectangle 164"/>
          <p:cNvSpPr/>
          <p:nvPr/>
        </p:nvSpPr>
        <p:spPr>
          <a:xfrm>
            <a:off x="1016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6" name="Rectangle 165"/>
          <p:cNvSpPr/>
          <p:nvPr/>
        </p:nvSpPr>
        <p:spPr>
          <a:xfrm>
            <a:off x="1052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7" name="Rectangle 166"/>
          <p:cNvSpPr/>
          <p:nvPr/>
        </p:nvSpPr>
        <p:spPr>
          <a:xfrm>
            <a:off x="10884060" y="25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8" name="Rectangle 167"/>
          <p:cNvSpPr/>
          <p:nvPr/>
        </p:nvSpPr>
        <p:spPr>
          <a:xfrm>
            <a:off x="836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9" name="Rectangle 168"/>
          <p:cNvSpPr/>
          <p:nvPr/>
        </p:nvSpPr>
        <p:spPr>
          <a:xfrm>
            <a:off x="872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0" name="Rectangle 169"/>
          <p:cNvSpPr/>
          <p:nvPr/>
        </p:nvSpPr>
        <p:spPr>
          <a:xfrm>
            <a:off x="908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1" name="Rectangle 170"/>
          <p:cNvSpPr/>
          <p:nvPr/>
        </p:nvSpPr>
        <p:spPr>
          <a:xfrm>
            <a:off x="944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2" name="Rectangle 171"/>
          <p:cNvSpPr/>
          <p:nvPr/>
        </p:nvSpPr>
        <p:spPr>
          <a:xfrm>
            <a:off x="980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3" name="Rectangle 172"/>
          <p:cNvSpPr/>
          <p:nvPr/>
        </p:nvSpPr>
        <p:spPr>
          <a:xfrm>
            <a:off x="1016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 name="Rectangle 173"/>
          <p:cNvSpPr/>
          <p:nvPr/>
        </p:nvSpPr>
        <p:spPr>
          <a:xfrm>
            <a:off x="1052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5" name="Rectangle 174"/>
          <p:cNvSpPr/>
          <p:nvPr/>
        </p:nvSpPr>
        <p:spPr>
          <a:xfrm>
            <a:off x="10884060" y="28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6" name="Rectangle 175"/>
          <p:cNvSpPr/>
          <p:nvPr/>
        </p:nvSpPr>
        <p:spPr>
          <a:xfrm>
            <a:off x="836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7" name="Rectangle 176"/>
          <p:cNvSpPr/>
          <p:nvPr/>
        </p:nvSpPr>
        <p:spPr>
          <a:xfrm>
            <a:off x="872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8" name="Rectangle 177"/>
          <p:cNvSpPr/>
          <p:nvPr/>
        </p:nvSpPr>
        <p:spPr>
          <a:xfrm>
            <a:off x="908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9" name="Rectangle 178"/>
          <p:cNvSpPr/>
          <p:nvPr/>
        </p:nvSpPr>
        <p:spPr>
          <a:xfrm>
            <a:off x="944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0" name="Rectangle 179"/>
          <p:cNvSpPr/>
          <p:nvPr/>
        </p:nvSpPr>
        <p:spPr>
          <a:xfrm>
            <a:off x="980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1" name="Rectangle 180"/>
          <p:cNvSpPr/>
          <p:nvPr/>
        </p:nvSpPr>
        <p:spPr>
          <a:xfrm>
            <a:off x="1016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2" name="Rectangle 181"/>
          <p:cNvSpPr/>
          <p:nvPr/>
        </p:nvSpPr>
        <p:spPr>
          <a:xfrm>
            <a:off x="1052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3" name="Rectangle 182"/>
          <p:cNvSpPr/>
          <p:nvPr/>
        </p:nvSpPr>
        <p:spPr>
          <a:xfrm>
            <a:off x="10884060" y="325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4" name="Rectangle 183"/>
          <p:cNvSpPr/>
          <p:nvPr/>
        </p:nvSpPr>
        <p:spPr>
          <a:xfrm>
            <a:off x="836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5" name="Rectangle 184"/>
          <p:cNvSpPr/>
          <p:nvPr/>
        </p:nvSpPr>
        <p:spPr>
          <a:xfrm>
            <a:off x="872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6" name="Rectangle 185"/>
          <p:cNvSpPr/>
          <p:nvPr/>
        </p:nvSpPr>
        <p:spPr>
          <a:xfrm>
            <a:off x="908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7" name="Rectangle 186"/>
          <p:cNvSpPr/>
          <p:nvPr/>
        </p:nvSpPr>
        <p:spPr>
          <a:xfrm>
            <a:off x="944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8" name="Rectangle 187"/>
          <p:cNvSpPr/>
          <p:nvPr/>
        </p:nvSpPr>
        <p:spPr>
          <a:xfrm>
            <a:off x="980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9" name="Rectangle 188"/>
          <p:cNvSpPr/>
          <p:nvPr/>
        </p:nvSpPr>
        <p:spPr>
          <a:xfrm>
            <a:off x="1016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0" name="Rectangle 189"/>
          <p:cNvSpPr/>
          <p:nvPr/>
        </p:nvSpPr>
        <p:spPr>
          <a:xfrm>
            <a:off x="1052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1" name="Rectangle 190"/>
          <p:cNvSpPr/>
          <p:nvPr/>
        </p:nvSpPr>
        <p:spPr>
          <a:xfrm>
            <a:off x="10884060" y="361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2" name="Rectangle 191"/>
          <p:cNvSpPr/>
          <p:nvPr/>
        </p:nvSpPr>
        <p:spPr>
          <a:xfrm>
            <a:off x="836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3" name="Rectangle 192"/>
          <p:cNvSpPr/>
          <p:nvPr/>
        </p:nvSpPr>
        <p:spPr>
          <a:xfrm>
            <a:off x="872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4" name="Rectangle 193"/>
          <p:cNvSpPr/>
          <p:nvPr/>
        </p:nvSpPr>
        <p:spPr>
          <a:xfrm>
            <a:off x="908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5" name="Rectangle 194"/>
          <p:cNvSpPr/>
          <p:nvPr/>
        </p:nvSpPr>
        <p:spPr>
          <a:xfrm>
            <a:off x="944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6" name="Rectangle 195"/>
          <p:cNvSpPr/>
          <p:nvPr/>
        </p:nvSpPr>
        <p:spPr>
          <a:xfrm>
            <a:off x="980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7" name="Rectangle 196"/>
          <p:cNvSpPr/>
          <p:nvPr/>
        </p:nvSpPr>
        <p:spPr>
          <a:xfrm>
            <a:off x="1016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8" name="Rectangle 197"/>
          <p:cNvSpPr/>
          <p:nvPr/>
        </p:nvSpPr>
        <p:spPr>
          <a:xfrm>
            <a:off x="1052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9" name="Rectangle 198"/>
          <p:cNvSpPr/>
          <p:nvPr/>
        </p:nvSpPr>
        <p:spPr>
          <a:xfrm>
            <a:off x="10884060" y="397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0" name="Rectangle 199"/>
          <p:cNvSpPr/>
          <p:nvPr/>
        </p:nvSpPr>
        <p:spPr>
          <a:xfrm>
            <a:off x="836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1" name="Rectangle 200"/>
          <p:cNvSpPr/>
          <p:nvPr/>
        </p:nvSpPr>
        <p:spPr>
          <a:xfrm>
            <a:off x="872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2" name="Rectangle 201"/>
          <p:cNvSpPr/>
          <p:nvPr/>
        </p:nvSpPr>
        <p:spPr>
          <a:xfrm>
            <a:off x="908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3" name="Rectangle 202"/>
          <p:cNvSpPr/>
          <p:nvPr/>
        </p:nvSpPr>
        <p:spPr>
          <a:xfrm>
            <a:off x="944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4" name="Rectangle 203"/>
          <p:cNvSpPr/>
          <p:nvPr/>
        </p:nvSpPr>
        <p:spPr>
          <a:xfrm>
            <a:off x="980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5" name="Rectangle 204"/>
          <p:cNvSpPr/>
          <p:nvPr/>
        </p:nvSpPr>
        <p:spPr>
          <a:xfrm>
            <a:off x="1016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6" name="Rectangle 205"/>
          <p:cNvSpPr/>
          <p:nvPr/>
        </p:nvSpPr>
        <p:spPr>
          <a:xfrm>
            <a:off x="1052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7" name="Rectangle 206"/>
          <p:cNvSpPr/>
          <p:nvPr/>
        </p:nvSpPr>
        <p:spPr>
          <a:xfrm>
            <a:off x="10884060" y="433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8" name="Rectangle 207"/>
          <p:cNvSpPr/>
          <p:nvPr/>
        </p:nvSpPr>
        <p:spPr>
          <a:xfrm>
            <a:off x="836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9" name="Rectangle 208"/>
          <p:cNvSpPr/>
          <p:nvPr/>
        </p:nvSpPr>
        <p:spPr>
          <a:xfrm>
            <a:off x="872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0" name="Rectangle 209"/>
          <p:cNvSpPr/>
          <p:nvPr/>
        </p:nvSpPr>
        <p:spPr>
          <a:xfrm>
            <a:off x="908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1" name="Rectangle 210"/>
          <p:cNvSpPr/>
          <p:nvPr/>
        </p:nvSpPr>
        <p:spPr>
          <a:xfrm>
            <a:off x="944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2" name="Rectangle 211"/>
          <p:cNvSpPr/>
          <p:nvPr/>
        </p:nvSpPr>
        <p:spPr>
          <a:xfrm>
            <a:off x="980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3" name="Rectangle 212"/>
          <p:cNvSpPr/>
          <p:nvPr/>
        </p:nvSpPr>
        <p:spPr>
          <a:xfrm>
            <a:off x="1016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4" name="Rectangle 213"/>
          <p:cNvSpPr/>
          <p:nvPr/>
        </p:nvSpPr>
        <p:spPr>
          <a:xfrm>
            <a:off x="1052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5" name="Rectangle 214"/>
          <p:cNvSpPr/>
          <p:nvPr/>
        </p:nvSpPr>
        <p:spPr>
          <a:xfrm>
            <a:off x="10884060" y="4696724"/>
            <a:ext cx="360000" cy="360000"/>
          </a:xfrm>
          <a:prstGeom prst="rect">
            <a:avLst/>
          </a:prstGeom>
          <a:solidFill>
            <a:srgbClr val="FFFFFF"/>
          </a:solidFill>
          <a:ln w="762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6" name="Rectangle 215"/>
          <p:cNvSpPr/>
          <p:nvPr/>
        </p:nvSpPr>
        <p:spPr>
          <a:xfrm>
            <a:off x="8364060" y="2176724"/>
            <a:ext cx="2880000" cy="2880000"/>
          </a:xfrm>
          <a:prstGeom prst="rect">
            <a:avLst/>
          </a:prstGeom>
          <a:solidFill>
            <a:srgbClr val="E2E8F4"/>
          </a:solidFill>
          <a:ln w="1778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7" name="Rectangle 216"/>
          <p:cNvSpPr/>
          <p:nvPr/>
        </p:nvSpPr>
        <p:spPr>
          <a:xfrm>
            <a:off x="9804060" y="3616724"/>
            <a:ext cx="360000" cy="360000"/>
          </a:xfrm>
          <a:prstGeom prst="rect">
            <a:avLst/>
          </a:prstGeom>
          <a:solidFill>
            <a:srgbClr val="0E3F8C"/>
          </a:solidFill>
          <a:ln w="1270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8" name="TextBox 217"/>
          <p:cNvSpPr txBox="1"/>
          <p:nvPr/>
        </p:nvSpPr>
        <p:spPr>
          <a:xfrm>
            <a:off x="732059" y="5279924"/>
            <a:ext cx="3311999" cy="432000"/>
          </a:xfrm>
          <a:prstGeom prst="rect">
            <a:avLst/>
          </a:prstGeom>
          <a:noFill/>
        </p:spPr>
        <p:txBody>
          <a:bodyPr wrap="square" anchor="t" lIns="0" rIns="0" tIns="0" bIns="0">
            <a:spAutoFit/>
          </a:bodyPr>
          <a:lstStyle/>
          <a:p>
            <a:pPr algn="ctr">
              <a:lnSpc>
                <a:spcPct val="130000"/>
              </a:lnSpc>
            </a:pPr>
            <a:r>
              <a:rPr sz="1100" b="0" i="0">
                <a:solidFill>
                  <a:srgbClr val="1E4FA8"/>
                </a:solidFill>
                <a:latin typeface="Source Han Sans SC"/>
              </a:rPr>
              <a:t>one cell sees 3x3</a:t>
            </a:r>
            <a:r>
              <a:rPr sz="860" b="0" i="0">
                <a:solidFill>
                  <a:srgbClr val="6B7280"/>
                </a:solidFill>
                <a:latin typeface="Source Han Sans SC"/>
              </a:rPr>
              <a:t> ｜ </a:t>
            </a:r>
            <a:r>
              <a:rPr sz="860" b="0" i="0">
                <a:solidFill>
                  <a:srgbClr val="6B7280"/>
                </a:solidFill>
                <a:latin typeface="Source Han Sans SC"/>
              </a:rPr>
              <a:t>一格看到 3×3</a:t>
            </a:r>
          </a:p>
        </p:txBody>
      </p:sp>
      <p:sp>
        <p:nvSpPr>
          <p:cNvPr id="219" name="TextBox 218"/>
          <p:cNvSpPr txBox="1"/>
          <p:nvPr/>
        </p:nvSpPr>
        <p:spPr>
          <a:xfrm>
            <a:off x="4440060" y="5279924"/>
            <a:ext cx="3311999" cy="432000"/>
          </a:xfrm>
          <a:prstGeom prst="rect">
            <a:avLst/>
          </a:prstGeom>
          <a:noFill/>
        </p:spPr>
        <p:txBody>
          <a:bodyPr wrap="square" anchor="t" lIns="0" rIns="0" tIns="0" bIns="0">
            <a:spAutoFit/>
          </a:bodyPr>
          <a:lstStyle/>
          <a:p>
            <a:pPr algn="ctr">
              <a:lnSpc>
                <a:spcPct val="130000"/>
              </a:lnSpc>
            </a:pPr>
            <a:r>
              <a:rPr sz="1100" b="0" i="0">
                <a:solidFill>
                  <a:srgbClr val="059669"/>
                </a:solidFill>
                <a:latin typeface="Source Han Sans SC"/>
              </a:rPr>
              <a:t>4x4 - stride 2 doubles the jump</a:t>
            </a:r>
            <a:r>
              <a:rPr sz="860" b="0" i="0">
                <a:solidFill>
                  <a:srgbClr val="6B7280"/>
                </a:solidFill>
                <a:latin typeface="Source Han Sans SC"/>
              </a:rPr>
              <a:t> ｜ </a:t>
            </a:r>
            <a:r>
              <a:rPr sz="860" b="0" i="0">
                <a:solidFill>
                  <a:srgbClr val="6B7280"/>
                </a:solidFill>
                <a:latin typeface="Source Han Sans SC"/>
              </a:rPr>
              <a:t>4×4 —— 步长 2 把 jump 翻倍</a:t>
            </a:r>
          </a:p>
        </p:txBody>
      </p:sp>
      <p:sp>
        <p:nvSpPr>
          <p:cNvPr id="220" name="TextBox 219"/>
          <p:cNvSpPr txBox="1"/>
          <p:nvPr/>
        </p:nvSpPr>
        <p:spPr>
          <a:xfrm>
            <a:off x="8148059" y="5279924"/>
            <a:ext cx="3311999" cy="432000"/>
          </a:xfrm>
          <a:prstGeom prst="rect">
            <a:avLst/>
          </a:prstGeom>
          <a:noFill/>
        </p:spPr>
        <p:txBody>
          <a:bodyPr wrap="square" anchor="t" lIns="0" rIns="0" tIns="0" bIns="0">
            <a:spAutoFit/>
          </a:bodyPr>
          <a:lstStyle/>
          <a:p>
            <a:pPr algn="ctr">
              <a:lnSpc>
                <a:spcPct val="130000"/>
              </a:lnSpc>
            </a:pPr>
            <a:r>
              <a:rPr sz="1100" b="0" i="0">
                <a:solidFill>
                  <a:srgbClr val="B91C1C"/>
                </a:solidFill>
                <a:latin typeface="Source Han Sans SC"/>
              </a:rPr>
              <a:t>8x8 - the whole image, and that is the ceiling</a:t>
            </a:r>
            <a:r>
              <a:rPr sz="860" b="0" i="0">
                <a:solidFill>
                  <a:srgbClr val="6B7280"/>
                </a:solidFill>
                <a:latin typeface="Source Han Sans SC"/>
              </a:rPr>
              <a:t> ｜ </a:t>
            </a:r>
            <a:r>
              <a:rPr sz="860" b="0" i="0">
                <a:solidFill>
                  <a:srgbClr val="6B7280"/>
                </a:solidFill>
                <a:latin typeface="Source Han Sans SC"/>
              </a:rPr>
              <a:t>8×8 —— 整张图，到此为止</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279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3279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550602"/>
          </a:xfrm>
          <a:prstGeom prst="rect">
            <a:avLst/>
          </a:prstGeom>
          <a:noFill/>
        </p:spPr>
        <p:txBody>
          <a:bodyPr wrap="square" anchor="t" lIns="0" rIns="0" tIns="0" bIns="0">
            <a:spAutoFit/>
          </a:bodyPr>
          <a:lstStyle/>
          <a:p>
            <a:pPr algn="l">
              <a:lnSpc>
                <a:spcPct val="114000"/>
              </a:lnSpc>
            </a:pPr>
            <a:r>
              <a:rPr sz="1200" b="1" i="0">
                <a:solidFill>
                  <a:srgbClr val="0E3F8C"/>
                </a:solidFill>
                <a:latin typeface="Source Han Sans SC"/>
              </a:rPr>
              <a:t>Receptive field: how much input each stage can see</a:t>
            </a:r>
          </a:p>
          <a:p>
            <a:pPr algn="l">
              <a:lnSpc>
                <a:spcPct val="105000"/>
              </a:lnSpc>
              <a:spcBef>
                <a:spcPts val="150"/>
              </a:spcBef>
            </a:pPr>
            <a:r>
              <a:rPr sz="940" b="0" i="0">
                <a:solidFill>
                  <a:srgbClr val="6B7280"/>
                </a:solidFill>
                <a:latin typeface="Source Han Sans SC"/>
              </a:rPr>
              <a:t>感受野：每一层的输出，到底看了输入多少</a:t>
            </a:r>
          </a:p>
        </p:txBody>
      </p:sp>
      <p:sp>
        <p:nvSpPr>
          <p:cNvPr id="6" name="TextBox 5"/>
          <p:cNvSpPr txBox="1"/>
          <p:nvPr/>
        </p:nvSpPr>
        <p:spPr>
          <a:xfrm>
            <a:off x="799200" y="565002"/>
            <a:ext cx="7713719" cy="425387"/>
          </a:xfrm>
          <a:prstGeom prst="rect">
            <a:avLst/>
          </a:prstGeom>
          <a:noFill/>
        </p:spPr>
        <p:txBody>
          <a:bodyPr wrap="square" anchor="t" lIns="0" rIns="0" tIns="0" bIns="0">
            <a:spAutoFit/>
          </a:bodyPr>
          <a:lstStyle/>
          <a:p>
            <a:pPr algn="l">
              <a:lnSpc>
                <a:spcPct val="114000"/>
              </a:lnSpc>
            </a:pPr>
            <a:r>
              <a:rPr sz="840" b="0" i="0">
                <a:solidFill>
                  <a:srgbClr val="6B7280"/>
                </a:solidFill>
                <a:latin typeface="Source Han Sans SC"/>
              </a:rPr>
              <a:t>RF is built by rf = rf + (k-1) x jump, where jump multiplies by stride each stage; feature-map sizes come from the previous page</a:t>
            </a:r>
          </a:p>
          <a:p>
            <a:pPr algn="l">
              <a:lnSpc>
                <a:spcPct val="105000"/>
              </a:lnSpc>
              <a:spcBef>
                <a:spcPts val="150"/>
              </a:spcBef>
            </a:pPr>
            <a:r>
              <a:rPr sz="800" b="0" i="0">
                <a:solidFill>
                  <a:srgbClr val="6B7280"/>
                </a:solidFill>
                <a:latin typeface="Source Han Sans SC"/>
              </a:rPr>
              <a:t>RF 按 rf = rf + (k−1)×jump 递推，jump 每层乘 stride；特征图尺寸由上一页的公式给出</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KT13 · key</a:t>
            </a:r>
            <a:r>
              <a:rPr sz="800" b="0" i="0">
                <a:solidFill>
                  <a:srgbClr val="6B7280"/>
                </a:solidFill>
                <a:latin typeface="Source Han Sans SC"/>
              </a:rPr>
              <a:t> ｜ </a:t>
            </a:r>
            <a:r>
              <a:rPr sz="800" b="0" i="0">
                <a:solidFill>
                  <a:srgbClr val="6B7280"/>
                </a:solidFill>
                <a:latin typeface="Source Han Sans SC"/>
              </a:rPr>
              <a:t>KT13 · 关键</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12 / 32</a:t>
            </a:r>
          </a:p>
        </p:txBody>
      </p:sp>
      <p:graphicFrame>
        <p:nvGraphicFramePr>
          <p:cNvPr id="10" name="Table 9"/>
          <p:cNvGraphicFramePr>
            <a:graphicFrameLocks noGrp="1"/>
          </p:cNvGraphicFramePr>
          <p:nvPr/>
        </p:nvGraphicFramePr>
        <p:xfrm>
          <a:off x="799200" y="1152000"/>
          <a:ext cx="10584000" cy="2900876"/>
        </p:xfrm>
        <a:graphic>
          <a:graphicData uri="http://schemas.openxmlformats.org/drawingml/2006/table">
            <a:tbl>
              <a:tblPr firstRow="1" bandRow="1">
                <a:tableStyleId>{5C22544A-7EE6-4342-B048-85BDC9FD1C3A}</a:tableStyleId>
              </a:tblPr>
              <a:tblGrid>
                <a:gridCol w="1872000"/>
                <a:gridCol w="1224000"/>
                <a:gridCol w="1224000"/>
                <a:gridCol w="2160000"/>
                <a:gridCol w="2304000"/>
                <a:gridCol w="1800000"/>
              </a:tblGrid>
              <a:tr h="483479">
                <a:tc>
                  <a:txBody>
                    <a:bodyPr/>
                    <a:lstStyle/>
                    <a:p>
                      <a:r>
                        <a:rPr sz="1180" b="1">
                          <a:solidFill>
                            <a:srgbClr val="FFFFFF"/>
                          </a:solidFill>
                          <a:latin typeface="Source Han Sans SC"/>
                        </a:rPr>
                        <a:t>Stage</a:t>
                      </a:r>
                    </a:p>
                    <a:p>
                      <a:pPr>
                        <a:lnSpc>
                          <a:spcPct val="100000"/>
                        </a:lnSpc>
                      </a:pPr>
                      <a:r>
                        <a:rPr sz="1000" b="0">
                          <a:solidFill>
                            <a:srgbClr val="C3D4EF"/>
                          </a:solidFill>
                          <a:latin typeface="Source Han Sans SC"/>
                        </a:rPr>
                        <a:t>阶段</a:t>
                      </a:r>
                    </a:p>
                  </a:txBody>
                  <a:tcPr>
                    <a:solidFill>
                      <a:srgbClr val="0E3F8C"/>
                    </a:solidFill>
                  </a:tcPr>
                </a:tc>
                <a:tc>
                  <a:txBody>
                    <a:bodyPr/>
                    <a:lstStyle/>
                    <a:p>
                      <a:r>
                        <a:rPr sz="1180" b="1">
                          <a:solidFill>
                            <a:srgbClr val="FFFFFF"/>
                          </a:solidFill>
                          <a:latin typeface="Source Han Sans SC"/>
                        </a:rPr>
                        <a:t>k</a:t>
                      </a:r>
                    </a:p>
                  </a:txBody>
                  <a:tcPr>
                    <a:solidFill>
                      <a:srgbClr val="0E3F8C"/>
                    </a:solidFill>
                  </a:tcPr>
                </a:tc>
                <a:tc>
                  <a:txBody>
                    <a:bodyPr/>
                    <a:lstStyle/>
                    <a:p>
                      <a:r>
                        <a:rPr sz="1180" b="1">
                          <a:solidFill>
                            <a:srgbClr val="FFFFFF"/>
                          </a:solidFill>
                          <a:latin typeface="Source Han Sans SC"/>
                        </a:rPr>
                        <a:t>s</a:t>
                      </a:r>
                    </a:p>
                  </a:txBody>
                  <a:tcPr>
                    <a:solidFill>
                      <a:srgbClr val="0E3F8C"/>
                    </a:solidFill>
                  </a:tcPr>
                </a:tc>
                <a:tc>
                  <a:txBody>
                    <a:bodyPr/>
                    <a:lstStyle/>
                    <a:p>
                      <a:r>
                        <a:rPr sz="1180" b="1">
                          <a:solidFill>
                            <a:srgbClr val="FFFFFF"/>
                          </a:solidFill>
                          <a:latin typeface="Source Han Sans SC"/>
                        </a:rPr>
                        <a:t>Feature map</a:t>
                      </a:r>
                    </a:p>
                    <a:p>
                      <a:pPr>
                        <a:lnSpc>
                          <a:spcPct val="100000"/>
                        </a:lnSpc>
                      </a:pPr>
                      <a:r>
                        <a:rPr sz="1000" b="0">
                          <a:solidFill>
                            <a:srgbClr val="C3D4EF"/>
                          </a:solidFill>
                          <a:latin typeface="Source Han Sans SC"/>
                        </a:rPr>
                        <a:t>特征图</a:t>
                      </a:r>
                    </a:p>
                  </a:txBody>
                  <a:tcPr>
                    <a:solidFill>
                      <a:srgbClr val="0E3F8C"/>
                    </a:solidFill>
                  </a:tcPr>
                </a:tc>
                <a:tc>
                  <a:txBody>
                    <a:bodyPr/>
                    <a:lstStyle/>
                    <a:p>
                      <a:r>
                        <a:rPr sz="1180" b="1">
                          <a:solidFill>
                            <a:srgbClr val="FFFFFF"/>
                          </a:solidFill>
                          <a:latin typeface="Source Han Sans SC"/>
                        </a:rPr>
                        <a:t>Receptive field</a:t>
                      </a:r>
                    </a:p>
                    <a:p>
                      <a:pPr>
                        <a:lnSpc>
                          <a:spcPct val="100000"/>
                        </a:lnSpc>
                      </a:pPr>
                      <a:r>
                        <a:rPr sz="1000" b="0">
                          <a:solidFill>
                            <a:srgbClr val="C3D4EF"/>
                          </a:solidFill>
                          <a:latin typeface="Source Han Sans SC"/>
                        </a:rPr>
                        <a:t>感受野</a:t>
                      </a:r>
                    </a:p>
                  </a:txBody>
                  <a:tcPr>
                    <a:solidFill>
                      <a:srgbClr val="0E3F8C"/>
                    </a:solidFill>
                  </a:tcPr>
                </a:tc>
                <a:tc>
                  <a:txBody>
                    <a:bodyPr/>
                    <a:lstStyle/>
                    <a:p>
                      <a:r>
                        <a:rPr sz="1180" b="1">
                          <a:solidFill>
                            <a:srgbClr val="FFFFFF"/>
                          </a:solidFill>
                          <a:latin typeface="Source Han Sans SC"/>
                        </a:rPr>
                        <a:t>jump</a:t>
                      </a:r>
                    </a:p>
                  </a:txBody>
                  <a:tcPr>
                    <a:solidFill>
                      <a:srgbClr val="0E3F8C"/>
                    </a:solidFill>
                  </a:tcPr>
                </a:tc>
              </a:tr>
              <a:tr h="483479">
                <a:tc>
                  <a:txBody>
                    <a:bodyPr/>
                    <a:lstStyle/>
                    <a:p>
                      <a:r>
                        <a:rPr sz="1060" b="1">
                          <a:solidFill>
                            <a:srgbClr val="1F2937"/>
                          </a:solidFill>
                          <a:latin typeface="Source Han Sans SC"/>
                        </a:rPr>
                        <a:t>Input</a:t>
                      </a:r>
                    </a:p>
                    <a:p>
                      <a:pPr>
                        <a:lnSpc>
                          <a:spcPct val="100000"/>
                        </a:lnSpc>
                      </a:pPr>
                      <a:r>
                        <a:rPr sz="900" b="0">
                          <a:solidFill>
                            <a:srgbClr val="6B7280"/>
                          </a:solidFill>
                          <a:latin typeface="Source Han Sans SC"/>
                        </a:rPr>
                        <a:t>输入</a:t>
                      </a:r>
                    </a:p>
                  </a:txBody>
                  <a:tcPr>
                    <a:solidFill>
                      <a:srgbClr val="FFFFFF"/>
                    </a:solidFill>
                  </a:tcPr>
                </a:tc>
                <a:tc>
                  <a:txBody>
                    <a:bodyPr/>
                    <a:lstStyle/>
                    <a:p>
                      <a:r>
                        <a:rPr sz="1060" b="0">
                          <a:solidFill>
                            <a:srgbClr val="1F2937"/>
                          </a:solidFill>
                          <a:latin typeface="Source Han Sans SC"/>
                        </a:rPr>
                        <a:t>-</a:t>
                      </a:r>
                    </a:p>
                    <a:p>
                      <a:pPr>
                        <a:lnSpc>
                          <a:spcPct val="100000"/>
                        </a:lnSpc>
                      </a:pPr>
                      <a:r>
                        <a:rPr sz="900" b="0">
                          <a:solidFill>
                            <a:srgbClr val="6B7280"/>
                          </a:solidFill>
                          <a:latin typeface="Source Han Sans SC"/>
                        </a:rPr>
                        <a:t>—</a:t>
                      </a:r>
                    </a:p>
                  </a:txBody>
                  <a:tcPr>
                    <a:solidFill>
                      <a:srgbClr val="FFFFFF"/>
                    </a:solidFill>
                  </a:tcPr>
                </a:tc>
                <a:tc>
                  <a:txBody>
                    <a:bodyPr/>
                    <a:lstStyle/>
                    <a:p>
                      <a:r>
                        <a:rPr sz="1060" b="0">
                          <a:solidFill>
                            <a:srgbClr val="1F2937"/>
                          </a:solidFill>
                          <a:latin typeface="Source Han Sans SC"/>
                        </a:rPr>
                        <a:t>-</a:t>
                      </a:r>
                    </a:p>
                    <a:p>
                      <a:pPr>
                        <a:lnSpc>
                          <a:spcPct val="100000"/>
                        </a:lnSpc>
                      </a:pPr>
                      <a:r>
                        <a:rPr sz="900" b="0">
                          <a:solidFill>
                            <a:srgbClr val="6B7280"/>
                          </a:solidFill>
                          <a:latin typeface="Source Han Sans SC"/>
                        </a:rPr>
                        <a:t>—</a:t>
                      </a:r>
                    </a:p>
                  </a:txBody>
                  <a:tcPr>
                    <a:solidFill>
                      <a:srgbClr val="FFFFFF"/>
                    </a:solidFill>
                  </a:tcPr>
                </a:tc>
                <a:tc>
                  <a:txBody>
                    <a:bodyPr/>
                    <a:lstStyle/>
                    <a:p>
                      <a:r>
                        <a:rPr sz="1060" b="0">
                          <a:solidFill>
                            <a:srgbClr val="1F2937"/>
                          </a:solidFill>
                          <a:latin typeface="Source Han Sans SC"/>
                        </a:rPr>
                        <a:t>8×8</a:t>
                      </a:r>
                    </a:p>
                  </a:txBody>
                  <a:tcPr>
                    <a:solidFill>
                      <a:srgbClr val="FFFFFF"/>
                    </a:solidFill>
                  </a:tcPr>
                </a:tc>
                <a:tc>
                  <a:txBody>
                    <a:bodyPr/>
                    <a:lstStyle/>
                    <a:p>
                      <a:r>
                        <a:rPr sz="1060" b="0">
                          <a:solidFill>
                            <a:srgbClr val="1F2937"/>
                          </a:solidFill>
                          <a:latin typeface="Source Han Sans SC"/>
                        </a:rPr>
                        <a:t>1</a:t>
                      </a:r>
                    </a:p>
                  </a:txBody>
                  <a:tcPr>
                    <a:solidFill>
                      <a:srgbClr val="FFFFFF"/>
                    </a:solidFill>
                  </a:tcPr>
                </a:tc>
                <a:tc>
                  <a:txBody>
                    <a:bodyPr/>
                    <a:lstStyle/>
                    <a:p>
                      <a:r>
                        <a:rPr sz="1060" b="0">
                          <a:solidFill>
                            <a:srgbClr val="1F2937"/>
                          </a:solidFill>
                          <a:latin typeface="Source Han Sans SC"/>
                        </a:rPr>
                        <a:t>1</a:t>
                      </a:r>
                    </a:p>
                  </a:txBody>
                  <a:tcPr>
                    <a:solidFill>
                      <a:srgbClr val="FFFFFF"/>
                    </a:solidFill>
                  </a:tcPr>
                </a:tc>
              </a:tr>
              <a:tr h="483479">
                <a:tc>
                  <a:txBody>
                    <a:bodyPr/>
                    <a:lstStyle/>
                    <a:p>
                      <a:r>
                        <a:rPr sz="1060" b="1">
                          <a:solidFill>
                            <a:srgbClr val="1F2937"/>
                          </a:solidFill>
                          <a:latin typeface="Source Han Sans SC"/>
                        </a:rPr>
                        <a:t>Conv 1</a:t>
                      </a:r>
                    </a:p>
                    <a:p>
                      <a:pPr>
                        <a:lnSpc>
                          <a:spcPct val="100000"/>
                        </a:lnSpc>
                      </a:pPr>
                      <a:r>
                        <a:rPr sz="900" b="0">
                          <a:solidFill>
                            <a:srgbClr val="6B7280"/>
                          </a:solidFill>
                          <a:latin typeface="Source Han Sans SC"/>
                        </a:rPr>
                        <a:t>卷积 1</a:t>
                      </a:r>
                    </a:p>
                  </a:txBody>
                  <a:tcPr>
                    <a:solidFill>
                      <a:srgbClr val="F0F5FC"/>
                    </a:solidFill>
                  </a:tcPr>
                </a:tc>
                <a:tc>
                  <a:txBody>
                    <a:bodyPr/>
                    <a:lstStyle/>
                    <a:p>
                      <a:r>
                        <a:rPr sz="1060" b="0">
                          <a:solidFill>
                            <a:srgbClr val="1F2937"/>
                          </a:solidFill>
                          <a:latin typeface="Source Han Sans SC"/>
                        </a:rPr>
                        <a:t>3</a:t>
                      </a:r>
                    </a:p>
                  </a:txBody>
                  <a:tcPr>
                    <a:solidFill>
                      <a:srgbClr val="F0F5FC"/>
                    </a:solidFill>
                  </a:tcPr>
                </a:tc>
                <a:tc>
                  <a:txBody>
                    <a:bodyPr/>
                    <a:lstStyle/>
                    <a:p>
                      <a:r>
                        <a:rPr sz="1060" b="0">
                          <a:solidFill>
                            <a:srgbClr val="1F2937"/>
                          </a:solidFill>
                          <a:latin typeface="Source Han Sans SC"/>
                        </a:rPr>
                        <a:t>1</a:t>
                      </a:r>
                    </a:p>
                  </a:txBody>
                  <a:tcPr>
                    <a:solidFill>
                      <a:srgbClr val="F0F5FC"/>
                    </a:solidFill>
                  </a:tcPr>
                </a:tc>
                <a:tc>
                  <a:txBody>
                    <a:bodyPr/>
                    <a:lstStyle/>
                    <a:p>
                      <a:r>
                        <a:rPr sz="1060" b="0">
                          <a:solidFill>
                            <a:srgbClr val="1F2937"/>
                          </a:solidFill>
                          <a:latin typeface="Source Han Sans SC"/>
                        </a:rPr>
                        <a:t>8×8</a:t>
                      </a:r>
                    </a:p>
                  </a:txBody>
                  <a:tcPr>
                    <a:solidFill>
                      <a:srgbClr val="F0F5FC"/>
                    </a:solidFill>
                  </a:tcPr>
                </a:tc>
                <a:tc>
                  <a:txBody>
                    <a:bodyPr/>
                    <a:lstStyle/>
                    <a:p>
                      <a:r>
                        <a:rPr sz="1060" b="0">
                          <a:solidFill>
                            <a:srgbClr val="1F2937"/>
                          </a:solidFill>
                          <a:latin typeface="Source Han Sans SC"/>
                        </a:rPr>
                        <a:t>3</a:t>
                      </a:r>
                    </a:p>
                  </a:txBody>
                  <a:tcPr>
                    <a:solidFill>
                      <a:srgbClr val="F0F5FC"/>
                    </a:solidFill>
                  </a:tcPr>
                </a:tc>
                <a:tc>
                  <a:txBody>
                    <a:bodyPr/>
                    <a:lstStyle/>
                    <a:p>
                      <a:r>
                        <a:rPr sz="1060" b="0">
                          <a:solidFill>
                            <a:srgbClr val="1F2937"/>
                          </a:solidFill>
                          <a:latin typeface="Source Han Sans SC"/>
                        </a:rPr>
                        <a:t>1</a:t>
                      </a:r>
                    </a:p>
                  </a:txBody>
                  <a:tcPr>
                    <a:solidFill>
                      <a:srgbClr val="F0F5FC"/>
                    </a:solidFill>
                  </a:tcPr>
                </a:tc>
              </a:tr>
              <a:tr h="483479">
                <a:tc>
                  <a:txBody>
                    <a:bodyPr/>
                    <a:lstStyle/>
                    <a:p>
                      <a:r>
                        <a:rPr sz="1060" b="1">
                          <a:solidFill>
                            <a:srgbClr val="1F2937"/>
                          </a:solidFill>
                          <a:latin typeface="Source Han Sans SC"/>
                        </a:rPr>
                        <a:t>MaxPool</a:t>
                      </a:r>
                    </a:p>
                    <a:p>
                      <a:pPr>
                        <a:lnSpc>
                          <a:spcPct val="100000"/>
                        </a:lnSpc>
                      </a:pPr>
                      <a:r>
                        <a:rPr sz="900" b="0">
                          <a:solidFill>
                            <a:srgbClr val="6B7280"/>
                          </a:solidFill>
                          <a:latin typeface="Source Han Sans SC"/>
                        </a:rPr>
                        <a:t>最大池化</a:t>
                      </a:r>
                    </a:p>
                  </a:txBody>
                  <a:tcPr>
                    <a:solidFill>
                      <a:srgbClr val="FFFFFF"/>
                    </a:solidFill>
                  </a:tcPr>
                </a:tc>
                <a:tc>
                  <a:txBody>
                    <a:bodyPr/>
                    <a:lstStyle/>
                    <a:p>
                      <a:r>
                        <a:rPr sz="1060" b="0">
                          <a:solidFill>
                            <a:srgbClr val="1F2937"/>
                          </a:solidFill>
                          <a:latin typeface="Source Han Sans SC"/>
                        </a:rPr>
                        <a:t>2</a:t>
                      </a:r>
                    </a:p>
                  </a:txBody>
                  <a:tcPr>
                    <a:solidFill>
                      <a:srgbClr val="FFFFFF"/>
                    </a:solidFill>
                  </a:tcPr>
                </a:tc>
                <a:tc>
                  <a:txBody>
                    <a:bodyPr/>
                    <a:lstStyle/>
                    <a:p>
                      <a:r>
                        <a:rPr sz="1060" b="0">
                          <a:solidFill>
                            <a:srgbClr val="1F2937"/>
                          </a:solidFill>
                          <a:latin typeface="Source Han Sans SC"/>
                        </a:rPr>
                        <a:t>2</a:t>
                      </a:r>
                    </a:p>
                  </a:txBody>
                  <a:tcPr>
                    <a:solidFill>
                      <a:srgbClr val="FFFFFF"/>
                    </a:solidFill>
                  </a:tcPr>
                </a:tc>
                <a:tc>
                  <a:txBody>
                    <a:bodyPr/>
                    <a:lstStyle/>
                    <a:p>
                      <a:r>
                        <a:rPr sz="1060" b="0">
                          <a:solidFill>
                            <a:srgbClr val="1F2937"/>
                          </a:solidFill>
                          <a:latin typeface="Source Han Sans SC"/>
                        </a:rPr>
                        <a:t>4×4</a:t>
                      </a:r>
                    </a:p>
                  </a:txBody>
                  <a:tcPr>
                    <a:solidFill>
                      <a:srgbClr val="FFFFFF"/>
                    </a:solidFill>
                  </a:tcPr>
                </a:tc>
                <a:tc>
                  <a:txBody>
                    <a:bodyPr/>
                    <a:lstStyle/>
                    <a:p>
                      <a:r>
                        <a:rPr sz="1060" b="0">
                          <a:solidFill>
                            <a:srgbClr val="1F2937"/>
                          </a:solidFill>
                          <a:latin typeface="Source Han Sans SC"/>
                        </a:rPr>
                        <a:t>4</a:t>
                      </a:r>
                    </a:p>
                  </a:txBody>
                  <a:tcPr>
                    <a:solidFill>
                      <a:srgbClr val="FFFFFF"/>
                    </a:solidFill>
                  </a:tcPr>
                </a:tc>
                <a:tc>
                  <a:txBody>
                    <a:bodyPr/>
                    <a:lstStyle/>
                    <a:p>
                      <a:r>
                        <a:rPr sz="1060" b="0">
                          <a:solidFill>
                            <a:srgbClr val="1F2937"/>
                          </a:solidFill>
                          <a:latin typeface="Source Han Sans SC"/>
                        </a:rPr>
                        <a:t>2</a:t>
                      </a:r>
                    </a:p>
                  </a:txBody>
                  <a:tcPr>
                    <a:solidFill>
                      <a:srgbClr val="FFFFFF"/>
                    </a:solidFill>
                  </a:tcPr>
                </a:tc>
              </a:tr>
              <a:tr h="483479">
                <a:tc>
                  <a:txBody>
                    <a:bodyPr/>
                    <a:lstStyle/>
                    <a:p>
                      <a:r>
                        <a:rPr sz="1060" b="1">
                          <a:solidFill>
                            <a:srgbClr val="1F2937"/>
                          </a:solidFill>
                          <a:latin typeface="Source Han Sans SC"/>
                        </a:rPr>
                        <a:t>Conv 2</a:t>
                      </a:r>
                    </a:p>
                    <a:p>
                      <a:pPr>
                        <a:lnSpc>
                          <a:spcPct val="100000"/>
                        </a:lnSpc>
                      </a:pPr>
                      <a:r>
                        <a:rPr sz="900" b="0">
                          <a:solidFill>
                            <a:srgbClr val="6B7280"/>
                          </a:solidFill>
                          <a:latin typeface="Source Han Sans SC"/>
                        </a:rPr>
                        <a:t>卷积 2</a:t>
                      </a:r>
                    </a:p>
                  </a:txBody>
                  <a:tcPr>
                    <a:solidFill>
                      <a:srgbClr val="F0F5FC"/>
                    </a:solidFill>
                  </a:tcPr>
                </a:tc>
                <a:tc>
                  <a:txBody>
                    <a:bodyPr/>
                    <a:lstStyle/>
                    <a:p>
                      <a:r>
                        <a:rPr sz="1060" b="0">
                          <a:solidFill>
                            <a:srgbClr val="1F2937"/>
                          </a:solidFill>
                          <a:latin typeface="Source Han Sans SC"/>
                        </a:rPr>
                        <a:t>3</a:t>
                      </a:r>
                    </a:p>
                  </a:txBody>
                  <a:tcPr>
                    <a:solidFill>
                      <a:srgbClr val="F0F5FC"/>
                    </a:solidFill>
                  </a:tcPr>
                </a:tc>
                <a:tc>
                  <a:txBody>
                    <a:bodyPr/>
                    <a:lstStyle/>
                    <a:p>
                      <a:r>
                        <a:rPr sz="1060" b="0">
                          <a:solidFill>
                            <a:srgbClr val="1F2937"/>
                          </a:solidFill>
                          <a:latin typeface="Source Han Sans SC"/>
                        </a:rPr>
                        <a:t>1</a:t>
                      </a:r>
                    </a:p>
                  </a:txBody>
                  <a:tcPr>
                    <a:solidFill>
                      <a:srgbClr val="F0F5FC"/>
                    </a:solidFill>
                  </a:tcPr>
                </a:tc>
                <a:tc>
                  <a:txBody>
                    <a:bodyPr/>
                    <a:lstStyle/>
                    <a:p>
                      <a:r>
                        <a:rPr sz="1060" b="0">
                          <a:solidFill>
                            <a:srgbClr val="1F2937"/>
                          </a:solidFill>
                          <a:latin typeface="Source Han Sans SC"/>
                        </a:rPr>
                        <a:t>4×4</a:t>
                      </a:r>
                    </a:p>
                  </a:txBody>
                  <a:tcPr>
                    <a:solidFill>
                      <a:srgbClr val="F0F5FC"/>
                    </a:solidFill>
                  </a:tcPr>
                </a:tc>
                <a:tc>
                  <a:txBody>
                    <a:bodyPr/>
                    <a:lstStyle/>
                    <a:p>
                      <a:r>
                        <a:rPr sz="1060" b="0">
                          <a:solidFill>
                            <a:srgbClr val="1F2937"/>
                          </a:solidFill>
                          <a:latin typeface="Source Han Sans SC"/>
                        </a:rPr>
                        <a:t>**8**</a:t>
                      </a:r>
                    </a:p>
                  </a:txBody>
                  <a:tcPr>
                    <a:solidFill>
                      <a:srgbClr val="F0F5FC"/>
                    </a:solidFill>
                  </a:tcPr>
                </a:tc>
                <a:tc>
                  <a:txBody>
                    <a:bodyPr/>
                    <a:lstStyle/>
                    <a:p>
                      <a:r>
                        <a:rPr sz="1060" b="0">
                          <a:solidFill>
                            <a:srgbClr val="1F2937"/>
                          </a:solidFill>
                          <a:latin typeface="Source Han Sans SC"/>
                        </a:rPr>
                        <a:t>2</a:t>
                      </a:r>
                    </a:p>
                  </a:txBody>
                  <a:tcPr>
                    <a:solidFill>
                      <a:srgbClr val="F0F5FC"/>
                    </a:solidFill>
                  </a:tcPr>
                </a:tc>
              </a:tr>
              <a:tr h="483481">
                <a:tc>
                  <a:txBody>
                    <a:bodyPr/>
                    <a:lstStyle/>
                    <a:p>
                      <a:r>
                        <a:rPr sz="1060" b="1">
                          <a:solidFill>
                            <a:srgbClr val="1F2937"/>
                          </a:solidFill>
                          <a:latin typeface="Source Han Sans SC"/>
                        </a:rPr>
                        <a:t>MaxPool</a:t>
                      </a:r>
                    </a:p>
                    <a:p>
                      <a:pPr>
                        <a:lnSpc>
                          <a:spcPct val="100000"/>
                        </a:lnSpc>
                      </a:pPr>
                      <a:r>
                        <a:rPr sz="900" b="0">
                          <a:solidFill>
                            <a:srgbClr val="6B7280"/>
                          </a:solidFill>
                          <a:latin typeface="Source Han Sans SC"/>
                        </a:rPr>
                        <a:t>最大池化</a:t>
                      </a:r>
                    </a:p>
                  </a:txBody>
                  <a:tcPr>
                    <a:solidFill>
                      <a:srgbClr val="FFFFFF"/>
                    </a:solidFill>
                  </a:tcPr>
                </a:tc>
                <a:tc>
                  <a:txBody>
                    <a:bodyPr/>
                    <a:lstStyle/>
                    <a:p>
                      <a:r>
                        <a:rPr sz="1060" b="0">
                          <a:solidFill>
                            <a:srgbClr val="1F2937"/>
                          </a:solidFill>
                          <a:latin typeface="Source Han Sans SC"/>
                        </a:rPr>
                        <a:t>2</a:t>
                      </a:r>
                    </a:p>
                  </a:txBody>
                  <a:tcPr>
                    <a:solidFill>
                      <a:srgbClr val="FFFFFF"/>
                    </a:solidFill>
                  </a:tcPr>
                </a:tc>
                <a:tc>
                  <a:txBody>
                    <a:bodyPr/>
                    <a:lstStyle/>
                    <a:p>
                      <a:r>
                        <a:rPr sz="1060" b="0">
                          <a:solidFill>
                            <a:srgbClr val="1F2937"/>
                          </a:solidFill>
                          <a:latin typeface="Source Han Sans SC"/>
                        </a:rPr>
                        <a:t>2</a:t>
                      </a:r>
                    </a:p>
                  </a:txBody>
                  <a:tcPr>
                    <a:solidFill>
                      <a:srgbClr val="FFFFFF"/>
                    </a:solidFill>
                  </a:tcPr>
                </a:tc>
                <a:tc>
                  <a:txBody>
                    <a:bodyPr/>
                    <a:lstStyle/>
                    <a:p>
                      <a:r>
                        <a:rPr sz="1060" b="0">
                          <a:solidFill>
                            <a:srgbClr val="1F2937"/>
                          </a:solidFill>
                          <a:latin typeface="Source Han Sans SC"/>
                        </a:rPr>
                        <a:t>2×2</a:t>
                      </a:r>
                    </a:p>
                  </a:txBody>
                  <a:tcPr>
                    <a:solidFill>
                      <a:srgbClr val="FFFFFF"/>
                    </a:solidFill>
                  </a:tcPr>
                </a:tc>
                <a:tc>
                  <a:txBody>
                    <a:bodyPr/>
                    <a:lstStyle/>
                    <a:p>
                      <a:r>
                        <a:rPr sz="1060" b="0">
                          <a:solidFill>
                            <a:srgbClr val="1F2937"/>
                          </a:solidFill>
                          <a:latin typeface="Source Han Sans SC"/>
                        </a:rPr>
                        <a:t>10</a:t>
                      </a:r>
                    </a:p>
                  </a:txBody>
                  <a:tcPr>
                    <a:solidFill>
                      <a:srgbClr val="FFFFFF"/>
                    </a:solidFill>
                  </a:tcPr>
                </a:tc>
                <a:tc>
                  <a:txBody>
                    <a:bodyPr/>
                    <a:lstStyle/>
                    <a:p>
                      <a:r>
                        <a:rPr sz="1060" b="0">
                          <a:solidFill>
                            <a:srgbClr val="1F2937"/>
                          </a:solidFill>
                          <a:latin typeface="Source Han Sans SC"/>
                        </a:rPr>
                        <a:t>4</a:t>
                      </a:r>
                    </a:p>
                  </a:txBody>
                  <a:tcPr>
                    <a:solidFill>
                      <a:srgbClr val="FFFFFF"/>
                    </a:solidFill>
                  </a:tcPr>
                </a:tc>
              </a:tr>
            </a:tbl>
          </a:graphicData>
        </a:graphic>
      </p:graphicFrame>
      <p:sp>
        <p:nvSpPr>
          <p:cNvPr id="11" name="TextBox 10"/>
          <p:cNvSpPr txBox="1"/>
          <p:nvPr/>
        </p:nvSpPr>
        <p:spPr>
          <a:xfrm>
            <a:off x="799200" y="4178876"/>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The row that matters is Conv 2: receptive field 8, exactly the whole image. On this 8x8 data the second convolution already sees everything, so no amount of extra depth adds translation invariance. That is the data being small, not the model being weak.</a:t>
            </a:r>
          </a:p>
          <a:p>
            <a:pPr algn="l">
              <a:lnSpc>
                <a:spcPct val="105000"/>
              </a:lnSpc>
              <a:spcBef>
                <a:spcPts val="150"/>
              </a:spcBef>
            </a:pPr>
            <a:r>
              <a:rPr sz="900" b="0" i="0">
                <a:solidFill>
                  <a:srgbClr val="6B7280"/>
                </a:solidFill>
                <a:latin typeface="Source Han Sans SC"/>
              </a:rPr>
              <a:t>**关键一行是「卷积 2」：感受野 8，正好等于整张图。** 换句话说，在本周这个 8×8 的数据上，第二层卷积已经能看到全图——网络不可能再靠「多叠卷积」获得更多平移不变性。这不是模型不好，是数据太小。</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Pooling: Four Numbers Become One</a:t>
            </a:r>
          </a:p>
          <a:p>
            <a:pPr algn="l">
              <a:lnSpc>
                <a:spcPct val="105000"/>
              </a:lnSpc>
              <a:spcBef>
                <a:spcPts val="150"/>
              </a:spcBef>
            </a:pPr>
            <a:r>
              <a:rPr sz="1210" b="0" i="0">
                <a:solidFill>
                  <a:srgbClr val="6B7280"/>
                </a:solidFill>
                <a:latin typeface="Source Han Sans SC"/>
              </a:rPr>
              <a:t>池化：四个数变成一个</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Same 4x4 input, same non-overlapping 2x2 windows — only the rule differs</a:t>
            </a:r>
          </a:p>
          <a:p>
            <a:pPr algn="l">
              <a:lnSpc>
                <a:spcPct val="105000"/>
              </a:lnSpc>
              <a:spcBef>
                <a:spcPts val="150"/>
              </a:spcBef>
            </a:pPr>
            <a:r>
              <a:rPr sz="800" b="0" i="0">
                <a:solidFill>
                  <a:srgbClr val="6B7280"/>
                </a:solidFill>
                <a:latin typeface="Source Han Sans SC"/>
              </a:rPr>
              <a:t>同一个 4×4 输入、同一个 2×2 不重叠窗口，只有规则不同</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KT13</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13 / 32</a:t>
            </a:r>
          </a:p>
        </p:txBody>
      </p:sp>
      <p:sp>
        <p:nvSpPr>
          <p:cNvPr id="10" name="TextBox 9"/>
          <p:cNvSpPr txBox="1"/>
          <p:nvPr/>
        </p:nvSpPr>
        <p:spPr>
          <a:xfrm>
            <a:off x="799200" y="1396800"/>
            <a:ext cx="5382000" cy="374699"/>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Max pooling</a:t>
            </a:r>
            <a:r>
              <a:rPr sz="1090" b="0" i="0">
                <a:solidFill>
                  <a:srgbClr val="6B7280"/>
                </a:solidFill>
                <a:latin typeface="Source Han Sans SC"/>
              </a:rPr>
              <a:t> ｜ </a:t>
            </a:r>
            <a:r>
              <a:rPr sz="1090" b="0" i="0">
                <a:solidFill>
                  <a:srgbClr val="6B7280"/>
                </a:solidFill>
                <a:latin typeface="Source Han Sans SC"/>
              </a:rPr>
              <a:t>最大池化</a:t>
            </a:r>
          </a:p>
        </p:txBody>
      </p:sp>
      <p:sp>
        <p:nvSpPr>
          <p:cNvPr id="11" name="TextBox 10"/>
          <p:cNvSpPr txBox="1"/>
          <p:nvPr/>
        </p:nvSpPr>
        <p:spPr>
          <a:xfrm>
            <a:off x="799200" y="1721099"/>
            <a:ext cx="5382000" cy="317549"/>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keep the largest of the four</a:t>
            </a:r>
            <a:r>
              <a:rPr sz="860" b="0" i="0">
                <a:solidFill>
                  <a:srgbClr val="6B7280"/>
                </a:solidFill>
                <a:latin typeface="Source Han Sans SC"/>
              </a:rPr>
              <a:t> ｜ </a:t>
            </a:r>
            <a:r>
              <a:rPr sz="860" b="0" i="0">
                <a:solidFill>
                  <a:srgbClr val="6B7280"/>
                </a:solidFill>
                <a:latin typeface="Source Han Sans SC"/>
              </a:rPr>
              <a:t>取四个里最大的</a:t>
            </a:r>
          </a:p>
        </p:txBody>
      </p:sp>
      <p:sp>
        <p:nvSpPr>
          <p:cNvPr id="12" name="Rectangle 11"/>
          <p:cNvSpPr/>
          <p:nvPr/>
        </p:nvSpPr>
        <p:spPr>
          <a:xfrm>
            <a:off x="799200" y="2211449"/>
            <a:ext cx="720000" cy="720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99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1</a:t>
            </a:r>
          </a:p>
        </p:txBody>
      </p:sp>
      <p:sp>
        <p:nvSpPr>
          <p:cNvPr id="14" name="Rectangle 13"/>
          <p:cNvSpPr/>
          <p:nvPr/>
        </p:nvSpPr>
        <p:spPr>
          <a:xfrm>
            <a:off x="1519200" y="2211449"/>
            <a:ext cx="720000" cy="720000"/>
          </a:xfrm>
          <a:prstGeom prst="rect">
            <a:avLst/>
          </a:prstGeom>
          <a:solidFill>
            <a:srgbClr val="F0F1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519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2</a:t>
            </a:r>
          </a:p>
        </p:txBody>
      </p:sp>
      <p:sp>
        <p:nvSpPr>
          <p:cNvPr id="16" name="Rectangle 15"/>
          <p:cNvSpPr/>
          <p:nvPr/>
        </p:nvSpPr>
        <p:spPr>
          <a:xfrm>
            <a:off x="2239200" y="2211449"/>
            <a:ext cx="720000" cy="720000"/>
          </a:xfrm>
          <a:prstGeom prst="rect">
            <a:avLst/>
          </a:prstGeom>
          <a:solidFill>
            <a:srgbClr val="C3C6C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39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5</a:t>
            </a:r>
          </a:p>
        </p:txBody>
      </p:sp>
      <p:sp>
        <p:nvSpPr>
          <p:cNvPr id="18" name="Rectangle 17"/>
          <p:cNvSpPr/>
          <p:nvPr/>
        </p:nvSpPr>
        <p:spPr>
          <a:xfrm>
            <a:off x="2959200" y="2211449"/>
            <a:ext cx="720000" cy="720000"/>
          </a:xfrm>
          <a:prstGeom prst="rect">
            <a:avLst/>
          </a:prstGeom>
          <a:solidFill>
            <a:srgbClr val="B4B8B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959200" y="221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6</a:t>
            </a:r>
          </a:p>
        </p:txBody>
      </p:sp>
      <p:sp>
        <p:nvSpPr>
          <p:cNvPr id="20" name="Rectangle 19"/>
          <p:cNvSpPr/>
          <p:nvPr/>
        </p:nvSpPr>
        <p:spPr>
          <a:xfrm>
            <a:off x="799200" y="2931449"/>
            <a:ext cx="720000" cy="720000"/>
          </a:xfrm>
          <a:prstGeom prst="rect">
            <a:avLst/>
          </a:prstGeom>
          <a:solidFill>
            <a:srgbClr val="E1E2E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9200" y="293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3</a:t>
            </a:r>
          </a:p>
        </p:txBody>
      </p:sp>
      <p:sp>
        <p:nvSpPr>
          <p:cNvPr id="22" name="Rectangle 21"/>
          <p:cNvSpPr/>
          <p:nvPr/>
        </p:nvSpPr>
        <p:spPr>
          <a:xfrm>
            <a:off x="1519200" y="2931449"/>
            <a:ext cx="720000" cy="720000"/>
          </a:xfrm>
          <a:prstGeom prst="rect">
            <a:avLst/>
          </a:prstGeom>
          <a:solidFill>
            <a:srgbClr val="D2D4D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519200" y="293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4</a:t>
            </a:r>
          </a:p>
        </p:txBody>
      </p:sp>
      <p:sp>
        <p:nvSpPr>
          <p:cNvPr id="24" name="Rectangle 23"/>
          <p:cNvSpPr/>
          <p:nvPr/>
        </p:nvSpPr>
        <p:spPr>
          <a:xfrm>
            <a:off x="2239200" y="2931449"/>
            <a:ext cx="720000" cy="720000"/>
          </a:xfrm>
          <a:prstGeom prst="rect">
            <a:avLst/>
          </a:prstGeom>
          <a:solidFill>
            <a:srgbClr val="A5A9A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39200" y="293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7</a:t>
            </a:r>
          </a:p>
        </p:txBody>
      </p:sp>
      <p:sp>
        <p:nvSpPr>
          <p:cNvPr id="26" name="Rectangle 25"/>
          <p:cNvSpPr/>
          <p:nvPr/>
        </p:nvSpPr>
        <p:spPr>
          <a:xfrm>
            <a:off x="2959200" y="2931449"/>
            <a:ext cx="720000" cy="720000"/>
          </a:xfrm>
          <a:prstGeom prst="rect">
            <a:avLst/>
          </a:prstGeom>
          <a:solidFill>
            <a:srgbClr val="969BA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959200" y="293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8</a:t>
            </a:r>
          </a:p>
        </p:txBody>
      </p:sp>
      <p:sp>
        <p:nvSpPr>
          <p:cNvPr id="28" name="Rectangle 27"/>
          <p:cNvSpPr/>
          <p:nvPr/>
        </p:nvSpPr>
        <p:spPr>
          <a:xfrm>
            <a:off x="799200" y="3651449"/>
            <a:ext cx="720000" cy="720000"/>
          </a:xfrm>
          <a:prstGeom prst="rect">
            <a:avLst/>
          </a:prstGeom>
          <a:solidFill>
            <a:srgbClr val="888D9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99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9</a:t>
            </a:r>
          </a:p>
        </p:txBody>
      </p:sp>
      <p:sp>
        <p:nvSpPr>
          <p:cNvPr id="30" name="Rectangle 29"/>
          <p:cNvSpPr/>
          <p:nvPr/>
        </p:nvSpPr>
        <p:spPr>
          <a:xfrm>
            <a:off x="1519200" y="3651449"/>
            <a:ext cx="720000" cy="720000"/>
          </a:xfrm>
          <a:prstGeom prst="rect">
            <a:avLst/>
          </a:prstGeom>
          <a:solidFill>
            <a:srgbClr val="797F8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519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10</a:t>
            </a:r>
          </a:p>
        </p:txBody>
      </p:sp>
      <p:sp>
        <p:nvSpPr>
          <p:cNvPr id="32" name="Rectangle 31"/>
          <p:cNvSpPr/>
          <p:nvPr/>
        </p:nvSpPr>
        <p:spPr>
          <a:xfrm>
            <a:off x="2239200" y="3651449"/>
            <a:ext cx="720000" cy="720000"/>
          </a:xfrm>
          <a:prstGeom prst="rect">
            <a:avLst/>
          </a:prstGeom>
          <a:solidFill>
            <a:srgbClr val="4C545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39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13</a:t>
            </a:r>
          </a:p>
        </p:txBody>
      </p:sp>
      <p:sp>
        <p:nvSpPr>
          <p:cNvPr id="34" name="Rectangle 33"/>
          <p:cNvSpPr/>
          <p:nvPr/>
        </p:nvSpPr>
        <p:spPr>
          <a:xfrm>
            <a:off x="2959200" y="3651449"/>
            <a:ext cx="720000" cy="720000"/>
          </a:xfrm>
          <a:prstGeom prst="rect">
            <a:avLst/>
          </a:prstGeom>
          <a:solidFill>
            <a:srgbClr val="3D465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959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14</a:t>
            </a:r>
          </a:p>
        </p:txBody>
      </p:sp>
      <p:sp>
        <p:nvSpPr>
          <p:cNvPr id="36" name="Rectangle 35"/>
          <p:cNvSpPr/>
          <p:nvPr/>
        </p:nvSpPr>
        <p:spPr>
          <a:xfrm>
            <a:off x="799200" y="4371449"/>
            <a:ext cx="720000" cy="720000"/>
          </a:xfrm>
          <a:prstGeom prst="rect">
            <a:avLst/>
          </a:prstGeom>
          <a:solidFill>
            <a:srgbClr val="6A707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99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11</a:t>
            </a:r>
          </a:p>
        </p:txBody>
      </p:sp>
      <p:sp>
        <p:nvSpPr>
          <p:cNvPr id="38" name="Rectangle 37"/>
          <p:cNvSpPr/>
          <p:nvPr/>
        </p:nvSpPr>
        <p:spPr>
          <a:xfrm>
            <a:off x="1519200" y="4371449"/>
            <a:ext cx="720000" cy="720000"/>
          </a:xfrm>
          <a:prstGeom prst="rect">
            <a:avLst/>
          </a:prstGeom>
          <a:solidFill>
            <a:srgbClr val="5B626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519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12</a:t>
            </a:r>
          </a:p>
        </p:txBody>
      </p:sp>
      <p:sp>
        <p:nvSpPr>
          <p:cNvPr id="40" name="Rectangle 39"/>
          <p:cNvSpPr/>
          <p:nvPr/>
        </p:nvSpPr>
        <p:spPr>
          <a:xfrm>
            <a:off x="2239200" y="4371449"/>
            <a:ext cx="720000" cy="720000"/>
          </a:xfrm>
          <a:prstGeom prst="rect">
            <a:avLst/>
          </a:prstGeom>
          <a:solidFill>
            <a:srgbClr val="2E374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239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15</a:t>
            </a:r>
          </a:p>
        </p:txBody>
      </p:sp>
      <p:sp>
        <p:nvSpPr>
          <p:cNvPr id="42" name="Rectangle 41"/>
          <p:cNvSpPr/>
          <p:nvPr/>
        </p:nvSpPr>
        <p:spPr>
          <a:xfrm>
            <a:off x="2959200" y="4371449"/>
            <a:ext cx="720000" cy="720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959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16</a:t>
            </a:r>
          </a:p>
        </p:txBody>
      </p:sp>
      <p:sp>
        <p:nvSpPr>
          <p:cNvPr id="44" name="Rectangle 43"/>
          <p:cNvSpPr/>
          <p:nvPr/>
        </p:nvSpPr>
        <p:spPr>
          <a:xfrm>
            <a:off x="799200" y="2211449"/>
            <a:ext cx="1440000" cy="1440000"/>
          </a:xfrm>
          <a:prstGeom prst="rect">
            <a:avLst/>
          </a:prstGeom>
          <a:noFill/>
          <a:ln w="34925">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2239200" y="3651449"/>
            <a:ext cx="1440000" cy="1440000"/>
          </a:xfrm>
          <a:prstGeom prst="rect">
            <a:avLst/>
          </a:prstGeom>
          <a:noFill/>
          <a:ln w="12700">
            <a:solidFill>
              <a:srgbClr val="3D7B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6" name="Connector 45"/>
          <p:cNvCxnSpPr/>
          <p:nvPr/>
        </p:nvCxnSpPr>
        <p:spPr>
          <a:xfrm>
            <a:off x="3769200" y="3651449"/>
            <a:ext cx="792000" cy="0"/>
          </a:xfrm>
          <a:prstGeom prst="line">
            <a:avLst/>
          </a:prstGeom>
          <a:ln w="25400">
            <a:solidFill>
              <a:srgbClr val="3D7BD9"/>
            </a:solidFill>
          </a:ln>
          <a:effectLst/>
        </p:spPr>
        <p:style>
          <a:lnRef idx="2">
            <a:schemeClr val="accent1"/>
          </a:lnRef>
          <a:fillRef idx="0">
            <a:schemeClr val="accent1"/>
          </a:fillRef>
          <a:effectRef idx="1">
            <a:schemeClr val="accent1"/>
          </a:effectRef>
          <a:fontRef idx="minor">
            <a:schemeClr val="tx1"/>
          </a:fontRef>
        </p:style>
      </p:cxnSp>
      <p:sp>
        <p:nvSpPr>
          <p:cNvPr id="47" name="Isosceles Triangle 46"/>
          <p:cNvSpPr/>
          <p:nvPr/>
        </p:nvSpPr>
        <p:spPr>
          <a:xfrm rot="5400000">
            <a:off x="4521600" y="3575849"/>
            <a:ext cx="151200" cy="151200"/>
          </a:xfrm>
          <a:prstGeom prst="triangle">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4741200" y="2931449"/>
            <a:ext cx="720000" cy="720000"/>
          </a:xfrm>
          <a:prstGeom prst="rect">
            <a:avLst/>
          </a:prstGeom>
          <a:solidFill>
            <a:srgbClr val="0E3F8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4741200" y="2931449"/>
            <a:ext cx="720000" cy="720000"/>
          </a:xfrm>
          <a:prstGeom prst="rect">
            <a:avLst/>
          </a:prstGeom>
          <a:noFill/>
        </p:spPr>
        <p:txBody>
          <a:bodyPr wrap="square" anchor="ctr" lIns="0" rIns="0" tIns="0" bIns="0">
            <a:spAutoFit/>
          </a:bodyPr>
          <a:lstStyle/>
          <a:p>
            <a:pPr algn="ctr">
              <a:lnSpc>
                <a:spcPct val="125000"/>
              </a:lnSpc>
            </a:pPr>
            <a:r>
              <a:rPr sz="1200" b="1" i="0">
                <a:solidFill>
                  <a:srgbClr val="FFFFFF"/>
                </a:solidFill>
                <a:latin typeface="Source Han Sans SC"/>
              </a:rPr>
              <a:t>4</a:t>
            </a:r>
          </a:p>
        </p:txBody>
      </p:sp>
      <p:sp>
        <p:nvSpPr>
          <p:cNvPr id="50" name="Rectangle 49"/>
          <p:cNvSpPr/>
          <p:nvPr/>
        </p:nvSpPr>
        <p:spPr>
          <a:xfrm>
            <a:off x="5461200" y="2931449"/>
            <a:ext cx="720000" cy="720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5461200" y="2931449"/>
            <a:ext cx="720000" cy="720000"/>
          </a:xfrm>
          <a:prstGeom prst="rect">
            <a:avLst/>
          </a:prstGeom>
          <a:noFill/>
        </p:spPr>
        <p:txBody>
          <a:bodyPr wrap="square" anchor="ctr" lIns="0" rIns="0" tIns="0" bIns="0">
            <a:spAutoFit/>
          </a:bodyPr>
          <a:lstStyle/>
          <a:p>
            <a:pPr algn="ctr">
              <a:lnSpc>
                <a:spcPct val="125000"/>
              </a:lnSpc>
            </a:pPr>
            <a:r>
              <a:rPr sz="1200" b="1" i="0">
                <a:solidFill>
                  <a:srgbClr val="059669"/>
                </a:solidFill>
                <a:latin typeface="Source Han Sans SC"/>
              </a:rPr>
              <a:t>8</a:t>
            </a:r>
          </a:p>
        </p:txBody>
      </p:sp>
      <p:sp>
        <p:nvSpPr>
          <p:cNvPr id="52" name="Rectangle 51"/>
          <p:cNvSpPr/>
          <p:nvPr/>
        </p:nvSpPr>
        <p:spPr>
          <a:xfrm>
            <a:off x="4741200" y="3651449"/>
            <a:ext cx="720000" cy="720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741200" y="3651449"/>
            <a:ext cx="720000" cy="720000"/>
          </a:xfrm>
          <a:prstGeom prst="rect">
            <a:avLst/>
          </a:prstGeom>
          <a:noFill/>
        </p:spPr>
        <p:txBody>
          <a:bodyPr wrap="square" anchor="ctr" lIns="0" rIns="0" tIns="0" bIns="0">
            <a:spAutoFit/>
          </a:bodyPr>
          <a:lstStyle/>
          <a:p>
            <a:pPr algn="ctr">
              <a:lnSpc>
                <a:spcPct val="125000"/>
              </a:lnSpc>
            </a:pPr>
            <a:r>
              <a:rPr sz="1200" b="1" i="0">
                <a:solidFill>
                  <a:srgbClr val="059669"/>
                </a:solidFill>
                <a:latin typeface="Source Han Sans SC"/>
              </a:rPr>
              <a:t>12</a:t>
            </a:r>
          </a:p>
        </p:txBody>
      </p:sp>
      <p:sp>
        <p:nvSpPr>
          <p:cNvPr id="54" name="Rectangle 53"/>
          <p:cNvSpPr/>
          <p:nvPr/>
        </p:nvSpPr>
        <p:spPr>
          <a:xfrm>
            <a:off x="5461200" y="3651449"/>
            <a:ext cx="720000" cy="720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5461200" y="3651449"/>
            <a:ext cx="720000" cy="720000"/>
          </a:xfrm>
          <a:prstGeom prst="rect">
            <a:avLst/>
          </a:prstGeom>
          <a:noFill/>
        </p:spPr>
        <p:txBody>
          <a:bodyPr wrap="square" anchor="ctr" lIns="0" rIns="0" tIns="0" bIns="0">
            <a:spAutoFit/>
          </a:bodyPr>
          <a:lstStyle/>
          <a:p>
            <a:pPr algn="ctr">
              <a:lnSpc>
                <a:spcPct val="125000"/>
              </a:lnSpc>
            </a:pPr>
            <a:r>
              <a:rPr sz="1200" b="1" i="0">
                <a:solidFill>
                  <a:srgbClr val="059669"/>
                </a:solidFill>
                <a:latin typeface="Source Han Sans SC"/>
              </a:rPr>
              <a:t>16</a:t>
            </a:r>
          </a:p>
        </p:txBody>
      </p:sp>
      <p:sp>
        <p:nvSpPr>
          <p:cNvPr id="56" name="Rectangle 55"/>
          <p:cNvSpPr/>
          <p:nvPr/>
        </p:nvSpPr>
        <p:spPr>
          <a:xfrm>
            <a:off x="4741200" y="2931449"/>
            <a:ext cx="720000" cy="720000"/>
          </a:xfrm>
          <a:prstGeom prst="rect">
            <a:avLst/>
          </a:prstGeom>
          <a:noFill/>
          <a:ln w="34925">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99200" y="5253449"/>
            <a:ext cx="5382000" cy="468000"/>
          </a:xfrm>
          <a:prstGeom prst="rect">
            <a:avLst/>
          </a:prstGeom>
          <a:noFill/>
        </p:spPr>
        <p:txBody>
          <a:bodyPr wrap="square" anchor="t" lIns="0" rIns="0" tIns="0" bIns="0">
            <a:spAutoFit/>
          </a:bodyPr>
          <a:lstStyle/>
          <a:p>
            <a:pPr algn="l">
              <a:lnSpc>
                <a:spcPct val="130000"/>
              </a:lnSpc>
            </a:pPr>
            <a:r>
              <a:rPr sz="1100" b="0" i="0">
                <a:solidFill>
                  <a:srgbClr val="6B7280"/>
                </a:solidFill>
                <a:latin typeface="Source Han Sans SC"/>
              </a:rPr>
              <a:t>Keeps the strongest response</a:t>
            </a:r>
            <a:r>
              <a:rPr sz="860" b="0" i="0">
                <a:solidFill>
                  <a:srgbClr val="6B7280"/>
                </a:solidFill>
                <a:latin typeface="Source Han Sans SC"/>
              </a:rPr>
              <a:t> ｜ </a:t>
            </a:r>
            <a:r>
              <a:rPr sz="860" b="0" i="0">
                <a:solidFill>
                  <a:srgbClr val="6B7280"/>
                </a:solidFill>
                <a:latin typeface="Source Han Sans SC"/>
              </a:rPr>
              <a:t>保留最强的响应</a:t>
            </a:r>
          </a:p>
        </p:txBody>
      </p:sp>
      <p:sp>
        <p:nvSpPr>
          <p:cNvPr id="58" name="TextBox 57"/>
          <p:cNvSpPr txBox="1"/>
          <p:nvPr/>
        </p:nvSpPr>
        <p:spPr>
          <a:xfrm>
            <a:off x="6937200" y="1396800"/>
            <a:ext cx="5382000" cy="374699"/>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Average pooling</a:t>
            </a:r>
            <a:r>
              <a:rPr sz="1090" b="0" i="0">
                <a:solidFill>
                  <a:srgbClr val="6B7280"/>
                </a:solidFill>
                <a:latin typeface="Source Han Sans SC"/>
              </a:rPr>
              <a:t> ｜ </a:t>
            </a:r>
            <a:r>
              <a:rPr sz="1090" b="0" i="0">
                <a:solidFill>
                  <a:srgbClr val="6B7280"/>
                </a:solidFill>
                <a:latin typeface="Source Han Sans SC"/>
              </a:rPr>
              <a:t>平均池化</a:t>
            </a:r>
          </a:p>
        </p:txBody>
      </p:sp>
      <p:sp>
        <p:nvSpPr>
          <p:cNvPr id="59" name="TextBox 58"/>
          <p:cNvSpPr txBox="1"/>
          <p:nvPr/>
        </p:nvSpPr>
        <p:spPr>
          <a:xfrm>
            <a:off x="6937200" y="1721099"/>
            <a:ext cx="5382000" cy="317549"/>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keep the mean of the four</a:t>
            </a:r>
            <a:r>
              <a:rPr sz="860" b="0" i="0">
                <a:solidFill>
                  <a:srgbClr val="6B7280"/>
                </a:solidFill>
                <a:latin typeface="Source Han Sans SC"/>
              </a:rPr>
              <a:t> ｜ </a:t>
            </a:r>
            <a:r>
              <a:rPr sz="860" b="0" i="0">
                <a:solidFill>
                  <a:srgbClr val="6B7280"/>
                </a:solidFill>
                <a:latin typeface="Source Han Sans SC"/>
              </a:rPr>
              <a:t>取四个的平均</a:t>
            </a:r>
          </a:p>
        </p:txBody>
      </p:sp>
      <p:sp>
        <p:nvSpPr>
          <p:cNvPr id="60" name="Rectangle 59"/>
          <p:cNvSpPr/>
          <p:nvPr/>
        </p:nvSpPr>
        <p:spPr>
          <a:xfrm>
            <a:off x="6937200" y="2211449"/>
            <a:ext cx="720000" cy="720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6937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1</a:t>
            </a:r>
          </a:p>
        </p:txBody>
      </p:sp>
      <p:sp>
        <p:nvSpPr>
          <p:cNvPr id="62" name="Rectangle 61"/>
          <p:cNvSpPr/>
          <p:nvPr/>
        </p:nvSpPr>
        <p:spPr>
          <a:xfrm>
            <a:off x="7657200" y="2211449"/>
            <a:ext cx="720000" cy="720000"/>
          </a:xfrm>
          <a:prstGeom prst="rect">
            <a:avLst/>
          </a:prstGeom>
          <a:solidFill>
            <a:srgbClr val="F0F1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657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2</a:t>
            </a:r>
          </a:p>
        </p:txBody>
      </p:sp>
      <p:sp>
        <p:nvSpPr>
          <p:cNvPr id="64" name="Rectangle 63"/>
          <p:cNvSpPr/>
          <p:nvPr/>
        </p:nvSpPr>
        <p:spPr>
          <a:xfrm>
            <a:off x="8377200" y="2211449"/>
            <a:ext cx="720000" cy="720000"/>
          </a:xfrm>
          <a:prstGeom prst="rect">
            <a:avLst/>
          </a:prstGeom>
          <a:solidFill>
            <a:srgbClr val="C3C6C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8377200" y="221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5</a:t>
            </a:r>
          </a:p>
        </p:txBody>
      </p:sp>
      <p:sp>
        <p:nvSpPr>
          <p:cNvPr id="66" name="Rectangle 65"/>
          <p:cNvSpPr/>
          <p:nvPr/>
        </p:nvSpPr>
        <p:spPr>
          <a:xfrm>
            <a:off x="9097200" y="2211449"/>
            <a:ext cx="720000" cy="720000"/>
          </a:xfrm>
          <a:prstGeom prst="rect">
            <a:avLst/>
          </a:prstGeom>
          <a:solidFill>
            <a:srgbClr val="B4B8B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097200" y="221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6</a:t>
            </a:r>
          </a:p>
        </p:txBody>
      </p:sp>
      <p:sp>
        <p:nvSpPr>
          <p:cNvPr id="68" name="Rectangle 67"/>
          <p:cNvSpPr/>
          <p:nvPr/>
        </p:nvSpPr>
        <p:spPr>
          <a:xfrm>
            <a:off x="6937200" y="2931449"/>
            <a:ext cx="720000" cy="720000"/>
          </a:xfrm>
          <a:prstGeom prst="rect">
            <a:avLst/>
          </a:prstGeom>
          <a:solidFill>
            <a:srgbClr val="E1E2E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6937200" y="293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3</a:t>
            </a:r>
          </a:p>
        </p:txBody>
      </p:sp>
      <p:sp>
        <p:nvSpPr>
          <p:cNvPr id="70" name="Rectangle 69"/>
          <p:cNvSpPr/>
          <p:nvPr/>
        </p:nvSpPr>
        <p:spPr>
          <a:xfrm>
            <a:off x="7657200" y="2931449"/>
            <a:ext cx="720000" cy="720000"/>
          </a:xfrm>
          <a:prstGeom prst="rect">
            <a:avLst/>
          </a:prstGeom>
          <a:solidFill>
            <a:srgbClr val="D2D4D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7657200" y="2931449"/>
            <a:ext cx="720000" cy="720000"/>
          </a:xfrm>
          <a:prstGeom prst="rect">
            <a:avLst/>
          </a:prstGeom>
          <a:noFill/>
        </p:spPr>
        <p:txBody>
          <a:bodyPr wrap="square" anchor="ctr" lIns="0" rIns="0" tIns="0" bIns="0">
            <a:spAutoFit/>
          </a:bodyPr>
          <a:lstStyle/>
          <a:p>
            <a:pPr algn="ctr">
              <a:lnSpc>
                <a:spcPct val="125000"/>
              </a:lnSpc>
            </a:pPr>
            <a:r>
              <a:rPr sz="1100" b="0" i="0">
                <a:solidFill>
                  <a:srgbClr val="1F2937"/>
                </a:solidFill>
                <a:latin typeface="Source Han Sans SC"/>
              </a:rPr>
              <a:t>4</a:t>
            </a:r>
          </a:p>
        </p:txBody>
      </p:sp>
      <p:sp>
        <p:nvSpPr>
          <p:cNvPr id="72" name="Rectangle 71"/>
          <p:cNvSpPr/>
          <p:nvPr/>
        </p:nvSpPr>
        <p:spPr>
          <a:xfrm>
            <a:off x="8377200" y="2931449"/>
            <a:ext cx="720000" cy="720000"/>
          </a:xfrm>
          <a:prstGeom prst="rect">
            <a:avLst/>
          </a:prstGeom>
          <a:solidFill>
            <a:srgbClr val="A5A9A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8377200" y="293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7</a:t>
            </a:r>
          </a:p>
        </p:txBody>
      </p:sp>
      <p:sp>
        <p:nvSpPr>
          <p:cNvPr id="74" name="Rectangle 73"/>
          <p:cNvSpPr/>
          <p:nvPr/>
        </p:nvSpPr>
        <p:spPr>
          <a:xfrm>
            <a:off x="9097200" y="2931449"/>
            <a:ext cx="720000" cy="720000"/>
          </a:xfrm>
          <a:prstGeom prst="rect">
            <a:avLst/>
          </a:prstGeom>
          <a:solidFill>
            <a:srgbClr val="969BA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9097200" y="293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8</a:t>
            </a:r>
          </a:p>
        </p:txBody>
      </p:sp>
      <p:sp>
        <p:nvSpPr>
          <p:cNvPr id="76" name="Rectangle 75"/>
          <p:cNvSpPr/>
          <p:nvPr/>
        </p:nvSpPr>
        <p:spPr>
          <a:xfrm>
            <a:off x="6937200" y="3651449"/>
            <a:ext cx="720000" cy="720000"/>
          </a:xfrm>
          <a:prstGeom prst="rect">
            <a:avLst/>
          </a:prstGeom>
          <a:solidFill>
            <a:srgbClr val="888D9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6937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9</a:t>
            </a:r>
          </a:p>
        </p:txBody>
      </p:sp>
      <p:sp>
        <p:nvSpPr>
          <p:cNvPr id="78" name="Rectangle 77"/>
          <p:cNvSpPr/>
          <p:nvPr/>
        </p:nvSpPr>
        <p:spPr>
          <a:xfrm>
            <a:off x="7657200" y="3651449"/>
            <a:ext cx="720000" cy="720000"/>
          </a:xfrm>
          <a:prstGeom prst="rect">
            <a:avLst/>
          </a:prstGeom>
          <a:solidFill>
            <a:srgbClr val="797F8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7657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10</a:t>
            </a:r>
          </a:p>
        </p:txBody>
      </p:sp>
      <p:sp>
        <p:nvSpPr>
          <p:cNvPr id="80" name="Rectangle 79"/>
          <p:cNvSpPr/>
          <p:nvPr/>
        </p:nvSpPr>
        <p:spPr>
          <a:xfrm>
            <a:off x="8377200" y="3651449"/>
            <a:ext cx="720000" cy="720000"/>
          </a:xfrm>
          <a:prstGeom prst="rect">
            <a:avLst/>
          </a:prstGeom>
          <a:solidFill>
            <a:srgbClr val="4C545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8377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13</a:t>
            </a:r>
          </a:p>
        </p:txBody>
      </p:sp>
      <p:sp>
        <p:nvSpPr>
          <p:cNvPr id="82" name="Rectangle 81"/>
          <p:cNvSpPr/>
          <p:nvPr/>
        </p:nvSpPr>
        <p:spPr>
          <a:xfrm>
            <a:off x="9097200" y="3651449"/>
            <a:ext cx="720000" cy="720000"/>
          </a:xfrm>
          <a:prstGeom prst="rect">
            <a:avLst/>
          </a:prstGeom>
          <a:solidFill>
            <a:srgbClr val="3D465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9097200" y="365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14</a:t>
            </a:r>
          </a:p>
        </p:txBody>
      </p:sp>
      <p:sp>
        <p:nvSpPr>
          <p:cNvPr id="84" name="Rectangle 83"/>
          <p:cNvSpPr/>
          <p:nvPr/>
        </p:nvSpPr>
        <p:spPr>
          <a:xfrm>
            <a:off x="6937200" y="4371449"/>
            <a:ext cx="720000" cy="720000"/>
          </a:xfrm>
          <a:prstGeom prst="rect">
            <a:avLst/>
          </a:prstGeom>
          <a:solidFill>
            <a:srgbClr val="6A707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6937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11</a:t>
            </a:r>
          </a:p>
        </p:txBody>
      </p:sp>
      <p:sp>
        <p:nvSpPr>
          <p:cNvPr id="86" name="Rectangle 85"/>
          <p:cNvSpPr/>
          <p:nvPr/>
        </p:nvSpPr>
        <p:spPr>
          <a:xfrm>
            <a:off x="7657200" y="4371449"/>
            <a:ext cx="720000" cy="720000"/>
          </a:xfrm>
          <a:prstGeom prst="rect">
            <a:avLst/>
          </a:prstGeom>
          <a:solidFill>
            <a:srgbClr val="5B626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7657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12</a:t>
            </a:r>
          </a:p>
        </p:txBody>
      </p:sp>
      <p:sp>
        <p:nvSpPr>
          <p:cNvPr id="88" name="Rectangle 87"/>
          <p:cNvSpPr/>
          <p:nvPr/>
        </p:nvSpPr>
        <p:spPr>
          <a:xfrm>
            <a:off x="8377200" y="4371449"/>
            <a:ext cx="720000" cy="720000"/>
          </a:xfrm>
          <a:prstGeom prst="rect">
            <a:avLst/>
          </a:prstGeom>
          <a:solidFill>
            <a:srgbClr val="2E3744"/>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8377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15</a:t>
            </a:r>
          </a:p>
        </p:txBody>
      </p:sp>
      <p:sp>
        <p:nvSpPr>
          <p:cNvPr id="90" name="Rectangle 89"/>
          <p:cNvSpPr/>
          <p:nvPr/>
        </p:nvSpPr>
        <p:spPr>
          <a:xfrm>
            <a:off x="9097200" y="4371449"/>
            <a:ext cx="720000" cy="720000"/>
          </a:xfrm>
          <a:prstGeom prst="rect">
            <a:avLst/>
          </a:prstGeom>
          <a:solidFill>
            <a:srgbClr val="1F2937"/>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9097200" y="4371449"/>
            <a:ext cx="720000" cy="720000"/>
          </a:xfrm>
          <a:prstGeom prst="rect">
            <a:avLst/>
          </a:prstGeom>
          <a:noFill/>
        </p:spPr>
        <p:txBody>
          <a:bodyPr wrap="square" anchor="ctr" lIns="0" rIns="0" tIns="0" bIns="0">
            <a:spAutoFit/>
          </a:bodyPr>
          <a:lstStyle/>
          <a:p>
            <a:pPr algn="ctr">
              <a:lnSpc>
                <a:spcPct val="125000"/>
              </a:lnSpc>
            </a:pPr>
            <a:r>
              <a:rPr sz="1100" b="0" i="0">
                <a:solidFill>
                  <a:srgbClr val="FFFFFF"/>
                </a:solidFill>
                <a:latin typeface="Source Han Sans SC"/>
              </a:rPr>
              <a:t>16</a:t>
            </a:r>
          </a:p>
        </p:txBody>
      </p:sp>
      <p:cxnSp>
        <p:nvCxnSpPr>
          <p:cNvPr id="92" name="Connector 91"/>
          <p:cNvCxnSpPr/>
          <p:nvPr/>
        </p:nvCxnSpPr>
        <p:spPr>
          <a:xfrm>
            <a:off x="9907200" y="3651449"/>
            <a:ext cx="792000" cy="0"/>
          </a:xfrm>
          <a:prstGeom prst="line">
            <a:avLst/>
          </a:prstGeom>
          <a:ln w="25400">
            <a:solidFill>
              <a:srgbClr val="3D7BD9"/>
            </a:solidFill>
          </a:ln>
          <a:effectLst/>
        </p:spPr>
        <p:style>
          <a:lnRef idx="2">
            <a:schemeClr val="accent1"/>
          </a:lnRef>
          <a:fillRef idx="0">
            <a:schemeClr val="accent1"/>
          </a:fillRef>
          <a:effectRef idx="1">
            <a:schemeClr val="accent1"/>
          </a:effectRef>
          <a:fontRef idx="minor">
            <a:schemeClr val="tx1"/>
          </a:fontRef>
        </p:style>
      </p:cxnSp>
      <p:sp>
        <p:nvSpPr>
          <p:cNvPr id="93" name="Isosceles Triangle 92"/>
          <p:cNvSpPr/>
          <p:nvPr/>
        </p:nvSpPr>
        <p:spPr>
          <a:xfrm rot="5400000">
            <a:off x="10659599" y="3575849"/>
            <a:ext cx="151200" cy="151200"/>
          </a:xfrm>
          <a:prstGeom prst="triangle">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10879200" y="2931449"/>
            <a:ext cx="720000" cy="720000"/>
          </a:xfrm>
          <a:prstGeom prst="rect">
            <a:avLst/>
          </a:prstGeom>
          <a:solidFill>
            <a:srgbClr val="0E3F8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TextBox 94"/>
          <p:cNvSpPr txBox="1"/>
          <p:nvPr/>
        </p:nvSpPr>
        <p:spPr>
          <a:xfrm>
            <a:off x="10879200" y="2931449"/>
            <a:ext cx="720000" cy="720000"/>
          </a:xfrm>
          <a:prstGeom prst="rect">
            <a:avLst/>
          </a:prstGeom>
          <a:noFill/>
        </p:spPr>
        <p:txBody>
          <a:bodyPr wrap="square" anchor="ctr" lIns="0" rIns="0" tIns="0" bIns="0">
            <a:spAutoFit/>
          </a:bodyPr>
          <a:lstStyle/>
          <a:p>
            <a:pPr algn="ctr">
              <a:lnSpc>
                <a:spcPct val="125000"/>
              </a:lnSpc>
            </a:pPr>
            <a:r>
              <a:rPr sz="1200" b="1" i="0">
                <a:solidFill>
                  <a:srgbClr val="FFFFFF"/>
                </a:solidFill>
                <a:latin typeface="Source Han Sans SC"/>
              </a:rPr>
              <a:t>2.5</a:t>
            </a:r>
          </a:p>
        </p:txBody>
      </p:sp>
      <p:sp>
        <p:nvSpPr>
          <p:cNvPr id="96" name="Rectangle 95"/>
          <p:cNvSpPr/>
          <p:nvPr/>
        </p:nvSpPr>
        <p:spPr>
          <a:xfrm>
            <a:off x="11599200" y="2931449"/>
            <a:ext cx="720000" cy="720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11599200" y="2931449"/>
            <a:ext cx="720000" cy="720000"/>
          </a:xfrm>
          <a:prstGeom prst="rect">
            <a:avLst/>
          </a:prstGeom>
          <a:noFill/>
        </p:spPr>
        <p:txBody>
          <a:bodyPr wrap="square" anchor="ctr" lIns="0" rIns="0" tIns="0" bIns="0">
            <a:spAutoFit/>
          </a:bodyPr>
          <a:lstStyle/>
          <a:p>
            <a:pPr algn="ctr">
              <a:lnSpc>
                <a:spcPct val="125000"/>
              </a:lnSpc>
            </a:pPr>
            <a:r>
              <a:rPr sz="1200" b="1" i="0">
                <a:solidFill>
                  <a:srgbClr val="D97706"/>
                </a:solidFill>
                <a:latin typeface="Source Han Sans SC"/>
              </a:rPr>
              <a:t>6.5</a:t>
            </a:r>
          </a:p>
        </p:txBody>
      </p:sp>
      <p:sp>
        <p:nvSpPr>
          <p:cNvPr id="98" name="Rectangle 97"/>
          <p:cNvSpPr/>
          <p:nvPr/>
        </p:nvSpPr>
        <p:spPr>
          <a:xfrm>
            <a:off x="10879200" y="3651449"/>
            <a:ext cx="720000" cy="720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TextBox 98"/>
          <p:cNvSpPr txBox="1"/>
          <p:nvPr/>
        </p:nvSpPr>
        <p:spPr>
          <a:xfrm>
            <a:off x="10879200" y="3651449"/>
            <a:ext cx="720000" cy="720000"/>
          </a:xfrm>
          <a:prstGeom prst="rect">
            <a:avLst/>
          </a:prstGeom>
          <a:noFill/>
        </p:spPr>
        <p:txBody>
          <a:bodyPr wrap="square" anchor="ctr" lIns="0" rIns="0" tIns="0" bIns="0">
            <a:spAutoFit/>
          </a:bodyPr>
          <a:lstStyle/>
          <a:p>
            <a:pPr algn="ctr">
              <a:lnSpc>
                <a:spcPct val="125000"/>
              </a:lnSpc>
            </a:pPr>
            <a:r>
              <a:rPr sz="1200" b="1" i="0">
                <a:solidFill>
                  <a:srgbClr val="D97706"/>
                </a:solidFill>
                <a:latin typeface="Source Han Sans SC"/>
              </a:rPr>
              <a:t>10.5</a:t>
            </a:r>
          </a:p>
        </p:txBody>
      </p:sp>
      <p:sp>
        <p:nvSpPr>
          <p:cNvPr id="100" name="Rectangle 99"/>
          <p:cNvSpPr/>
          <p:nvPr/>
        </p:nvSpPr>
        <p:spPr>
          <a:xfrm>
            <a:off x="11599200" y="3651449"/>
            <a:ext cx="720000" cy="720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TextBox 100"/>
          <p:cNvSpPr txBox="1"/>
          <p:nvPr/>
        </p:nvSpPr>
        <p:spPr>
          <a:xfrm>
            <a:off x="11599200" y="3651449"/>
            <a:ext cx="720000" cy="720000"/>
          </a:xfrm>
          <a:prstGeom prst="rect">
            <a:avLst/>
          </a:prstGeom>
          <a:noFill/>
        </p:spPr>
        <p:txBody>
          <a:bodyPr wrap="square" anchor="ctr" lIns="0" rIns="0" tIns="0" bIns="0">
            <a:spAutoFit/>
          </a:bodyPr>
          <a:lstStyle/>
          <a:p>
            <a:pPr algn="ctr">
              <a:lnSpc>
                <a:spcPct val="125000"/>
              </a:lnSpc>
            </a:pPr>
            <a:r>
              <a:rPr sz="1200" b="1" i="0">
                <a:solidFill>
                  <a:srgbClr val="D97706"/>
                </a:solidFill>
                <a:latin typeface="Source Han Sans SC"/>
              </a:rPr>
              <a:t>14.5</a:t>
            </a:r>
          </a:p>
        </p:txBody>
      </p:sp>
      <p:sp>
        <p:nvSpPr>
          <p:cNvPr id="102" name="Rectangle 101"/>
          <p:cNvSpPr/>
          <p:nvPr/>
        </p:nvSpPr>
        <p:spPr>
          <a:xfrm>
            <a:off x="10879200" y="2931449"/>
            <a:ext cx="720000" cy="720000"/>
          </a:xfrm>
          <a:prstGeom prst="rect">
            <a:avLst/>
          </a:prstGeom>
          <a:noFill/>
          <a:ln w="34925">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TextBox 102"/>
          <p:cNvSpPr txBox="1"/>
          <p:nvPr/>
        </p:nvSpPr>
        <p:spPr>
          <a:xfrm>
            <a:off x="6937200" y="5253449"/>
            <a:ext cx="5382000" cy="468000"/>
          </a:xfrm>
          <a:prstGeom prst="rect">
            <a:avLst/>
          </a:prstGeom>
          <a:noFill/>
        </p:spPr>
        <p:txBody>
          <a:bodyPr wrap="square" anchor="t" lIns="0" rIns="0" tIns="0" bIns="0">
            <a:spAutoFit/>
          </a:bodyPr>
          <a:lstStyle/>
          <a:p>
            <a:pPr algn="l">
              <a:lnSpc>
                <a:spcPct val="130000"/>
              </a:lnSpc>
            </a:pPr>
            <a:r>
              <a:rPr sz="1100" b="0" i="0">
                <a:solidFill>
                  <a:srgbClr val="6B7280"/>
                </a:solidFill>
                <a:latin typeface="Source Han Sans SC"/>
              </a:rPr>
              <a:t>Smooths all four together</a:t>
            </a:r>
            <a:r>
              <a:rPr sz="860" b="0" i="0">
                <a:solidFill>
                  <a:srgbClr val="6B7280"/>
                </a:solidFill>
                <a:latin typeface="Source Han Sans SC"/>
              </a:rPr>
              <a:t> ｜ </a:t>
            </a:r>
            <a:r>
              <a:rPr sz="860" b="0" i="0">
                <a:solidFill>
                  <a:srgbClr val="6B7280"/>
                </a:solidFill>
                <a:latin typeface="Source Han Sans SC"/>
              </a:rPr>
              <a:t>把四个一起抹平</a:t>
            </a:r>
          </a:p>
        </p:txBody>
      </p:sp>
      <p:sp>
        <p:nvSpPr>
          <p:cNvPr id="104" name="TextBox 103"/>
          <p:cNvSpPr txBox="1"/>
          <p:nvPr/>
        </p:nvSpPr>
        <p:spPr>
          <a:xfrm>
            <a:off x="799200" y="5644105"/>
            <a:ext cx="10593719" cy="648000"/>
          </a:xfrm>
          <a:prstGeom prst="rect">
            <a:avLst/>
          </a:prstGeom>
          <a:noFill/>
        </p:spPr>
        <p:txBody>
          <a:bodyPr wrap="square" anchor="t" lIns="0" rIns="0" tIns="0" bIns="0">
            <a:spAutoFit/>
          </a:bodyPr>
          <a:lstStyle/>
          <a:p>
            <a:pPr algn="l">
              <a:lnSpc>
                <a:spcPct val="135000"/>
              </a:lnSpc>
            </a:pPr>
            <a:r>
              <a:rPr sz="1200" b="0" i="0">
                <a:solidFill>
                  <a:srgbClr val="6B7280"/>
                </a:solidFill>
                <a:latin typeface="Source Han Sans SC"/>
              </a:rPr>
              <a:t>Measured this week: the two architectures are byte-for-byte identical apart from the pooling function, and max pooling wins by 4.1 points — a digit's evidence sits exactly where its stroke is densest, which max keeps and average dilutes.</a:t>
            </a:r>
          </a:p>
          <a:p>
            <a:pPr algn="l">
              <a:lnSpc>
                <a:spcPct val="105000"/>
              </a:lnSpc>
              <a:spcBef>
                <a:spcPts val="150"/>
              </a:spcBef>
            </a:pPr>
            <a:r>
              <a:rPr sz="940" b="0" i="0">
                <a:solidFill>
                  <a:srgbClr val="6B7280"/>
                </a:solidFill>
                <a:latin typeface="Source Han Sans SC"/>
              </a:rPr>
              <a:t>本周实测：除池化函数外两个架构逐字节相同，最大池化比平均池化高 4.1 个点——手写数字的判别信息正好落在「笔画最集中的地方」，取最大保住了它，取平均把它摊薄了。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206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20686"/>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13924"/>
          </a:xfrm>
          <a:prstGeom prst="rect">
            <a:avLst/>
          </a:prstGeom>
          <a:noFill/>
        </p:spPr>
        <p:txBody>
          <a:bodyPr wrap="square" anchor="t" lIns="0" rIns="0" tIns="0" bIns="0">
            <a:spAutoFit/>
          </a:bodyPr>
          <a:lstStyle/>
          <a:p>
            <a:pPr algn="l">
              <a:lnSpc>
                <a:spcPct val="114000"/>
              </a:lnSpc>
            </a:pPr>
            <a:r>
              <a:rPr sz="1400" b="1" i="0">
                <a:solidFill>
                  <a:srgbClr val="0E3F8C"/>
                </a:solidFill>
                <a:latin typeface="Source Han Sans SC"/>
              </a:rPr>
              <a:t>What pooling does — three jobs, one price</a:t>
            </a:r>
          </a:p>
          <a:p>
            <a:pPr algn="l">
              <a:lnSpc>
                <a:spcPct val="105000"/>
              </a:lnSpc>
              <a:spcBef>
                <a:spcPts val="150"/>
              </a:spcBef>
            </a:pPr>
            <a:r>
              <a:rPr sz="1090" b="0" i="0">
                <a:solidFill>
                  <a:srgbClr val="6B7280"/>
                </a:solidFill>
                <a:latin typeface="Source Han Sans SC"/>
              </a:rPr>
              <a:t>池化在做什么——三个作用，一个代价</a:t>
            </a:r>
          </a:p>
        </p:txBody>
      </p:sp>
      <p:sp>
        <p:nvSpPr>
          <p:cNvPr id="6" name="TextBox 5"/>
          <p:cNvSpPr txBox="1"/>
          <p:nvPr/>
        </p:nvSpPr>
        <p:spPr>
          <a:xfrm>
            <a:off x="799200" y="635524"/>
            <a:ext cx="7713719" cy="442761"/>
          </a:xfrm>
          <a:prstGeom prst="rect">
            <a:avLst/>
          </a:prstGeom>
          <a:noFill/>
        </p:spPr>
        <p:txBody>
          <a:bodyPr wrap="square" anchor="t" lIns="0" rIns="0" tIns="0" bIns="0">
            <a:spAutoFit/>
          </a:bodyPr>
          <a:lstStyle/>
          <a:p>
            <a:pPr algn="l">
              <a:lnSpc>
                <a:spcPct val="114000"/>
              </a:lnSpc>
            </a:pPr>
            <a:r>
              <a:rPr sz="940" b="0" i="0">
                <a:solidFill>
                  <a:srgbClr val="6B7280"/>
                </a:solidFill>
                <a:latin typeface="Source Han Sans SC"/>
              </a:rPr>
              <a:t>Not "to reduce dimensions" — three concrete jobs; the price is in the last card, measured at 4.1 points this week</a:t>
            </a:r>
          </a:p>
          <a:p>
            <a:pPr algn="l">
              <a:lnSpc>
                <a:spcPct val="105000"/>
              </a:lnSpc>
              <a:spcBef>
                <a:spcPts val="150"/>
              </a:spcBef>
            </a:pPr>
            <a:r>
              <a:rPr sz="800" b="0" i="0">
                <a:solidFill>
                  <a:srgbClr val="6B7280"/>
                </a:solidFill>
                <a:latin typeface="Source Han Sans SC"/>
              </a:rPr>
              <a:t>不是「为了降维」，是三个具体作用；而代价在最后一格里，本周实测 4.1 个点</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KT13</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14 / 32</a:t>
            </a:r>
          </a:p>
        </p:txBody>
      </p:sp>
      <p:sp>
        <p:nvSpPr>
          <p:cNvPr id="10" name="Rectangle 9"/>
          <p:cNvSpPr/>
          <p:nvPr/>
        </p:nvSpPr>
        <p:spPr>
          <a:xfrm>
            <a:off x="799200" y="1332000"/>
            <a:ext cx="3387239" cy="41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332000"/>
            <a:ext cx="32400" cy="4176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22400" y="1483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1. Shrinks the map</a:t>
            </a:r>
          </a:p>
          <a:p>
            <a:pPr algn="l">
              <a:lnSpc>
                <a:spcPct val="105000"/>
              </a:lnSpc>
              <a:spcBef>
                <a:spcPts val="150"/>
              </a:spcBef>
            </a:pPr>
            <a:r>
              <a:rPr sz="1130" b="0" i="0">
                <a:solidFill>
                  <a:srgbClr val="6B7280"/>
                </a:solidFill>
                <a:latin typeface="Source Han Sans SC"/>
              </a:rPr>
              <a:t>① 缩小特征图</a:t>
            </a:r>
          </a:p>
        </p:txBody>
      </p:sp>
      <p:sp>
        <p:nvSpPr>
          <p:cNvPr id="13" name="TextBox 12"/>
          <p:cNvSpPr txBox="1"/>
          <p:nvPr/>
        </p:nvSpPr>
        <p:spPr>
          <a:xfrm>
            <a:off x="1022400" y="2069090"/>
            <a:ext cx="2940839" cy="336690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8x8 → 4x4 → 2x2. Compute and memory in later layers fall with the area.</a:t>
            </a:r>
            <a:r>
              <a:rPr sz="940" b="0" i="0">
                <a:solidFill>
                  <a:srgbClr val="6B7280"/>
                </a:solidFill>
                <a:latin typeface="Source Han Sans SC"/>
              </a:rPr>
              <a:t> ｜ </a:t>
            </a:r>
            <a:r>
              <a:rPr sz="940" b="0" i="0">
                <a:solidFill>
                  <a:srgbClr val="6B7280"/>
                </a:solidFill>
                <a:latin typeface="Source Han Sans SC"/>
              </a:rPr>
              <a:t>• 8×8 → 4×4 → 2×2。后续层的算力与显存按面积下降。</a:t>
            </a:r>
          </a:p>
          <a:p>
            <a:pPr algn="l">
              <a:lnSpc>
                <a:spcPct val="140000"/>
              </a:lnSpc>
              <a:spcAft>
                <a:spcPts val="400"/>
              </a:spcAft>
            </a:pPr>
            <a:r>
              <a:rPr sz="1200" b="0" i="0">
                <a:solidFill>
                  <a:srgbClr val="1F2937"/>
                </a:solidFill>
                <a:latin typeface="Source Han Sans SC"/>
              </a:rPr>
              <a:t>• This is the one everyone mistakes for the whole story.</a:t>
            </a:r>
            <a:r>
              <a:rPr sz="940" b="0" i="0">
                <a:solidFill>
                  <a:srgbClr val="6B7280"/>
                </a:solidFill>
                <a:latin typeface="Source Han Sans SC"/>
              </a:rPr>
              <a:t> ｜ </a:t>
            </a:r>
            <a:r>
              <a:rPr sz="940" b="0" i="0">
                <a:solidFill>
                  <a:srgbClr val="6B7280"/>
                </a:solidFill>
                <a:latin typeface="Source Han Sans SC"/>
              </a:rPr>
              <a:t>• 这是最常被当成全部的那个作用。</a:t>
            </a:r>
          </a:p>
        </p:txBody>
      </p:sp>
      <p:sp>
        <p:nvSpPr>
          <p:cNvPr id="14" name="Rectangle 13"/>
          <p:cNvSpPr/>
          <p:nvPr/>
        </p:nvSpPr>
        <p:spPr>
          <a:xfrm>
            <a:off x="4402440" y="1332000"/>
            <a:ext cx="3387239" cy="41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332000"/>
            <a:ext cx="32400" cy="4176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83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2. Grows the receptive field</a:t>
            </a:r>
          </a:p>
          <a:p>
            <a:pPr algn="l">
              <a:lnSpc>
                <a:spcPct val="105000"/>
              </a:lnSpc>
              <a:spcBef>
                <a:spcPts val="150"/>
              </a:spcBef>
            </a:pPr>
            <a:r>
              <a:rPr sz="1130" b="0" i="0">
                <a:solidFill>
                  <a:srgbClr val="6B7280"/>
                </a:solidFill>
                <a:latin typeface="Source Han Sans SC"/>
              </a:rPr>
              <a:t>② 扩大感受野</a:t>
            </a:r>
          </a:p>
        </p:txBody>
      </p:sp>
      <p:sp>
        <p:nvSpPr>
          <p:cNvPr id="17" name="TextBox 16"/>
          <p:cNvSpPr txBox="1"/>
          <p:nvPr/>
        </p:nvSpPr>
        <p:spPr>
          <a:xfrm>
            <a:off x="4625639" y="2069090"/>
            <a:ext cx="2940839" cy="336690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Stride-2 pooling doubles the jump. Without it, stacked 3x3 convs only reach 3, 5, 7...</a:t>
            </a:r>
            <a:r>
              <a:rPr sz="940" b="0" i="0">
                <a:solidFill>
                  <a:srgbClr val="6B7280"/>
                </a:solidFill>
                <a:latin typeface="Source Han Sans SC"/>
              </a:rPr>
              <a:t> ｜ </a:t>
            </a:r>
            <a:r>
              <a:rPr sz="940" b="0" i="0">
                <a:solidFill>
                  <a:srgbClr val="6B7280"/>
                </a:solidFill>
                <a:latin typeface="Source Han Sans SC"/>
              </a:rPr>
              <a:t>• stride 2 的池化让 jump 翻倍。没有它，叠再多 3×3 也只有 3、5、7…</a:t>
            </a:r>
          </a:p>
          <a:p>
            <a:pPr algn="l">
              <a:lnSpc>
                <a:spcPct val="140000"/>
              </a:lnSpc>
              <a:spcAft>
                <a:spcPts val="400"/>
              </a:spcAft>
            </a:pPr>
            <a:r>
              <a:rPr sz="1200" b="0" i="0">
                <a:solidFill>
                  <a:srgbClr val="1F2937"/>
                </a:solidFill>
                <a:latin typeface="Source Han Sans SC"/>
              </a:rPr>
              <a:t>• See the previous page: with pooling, the second conv already covers the image.</a:t>
            </a:r>
            <a:r>
              <a:rPr sz="940" b="0" i="0">
                <a:solidFill>
                  <a:srgbClr val="6B7280"/>
                </a:solidFill>
                <a:latin typeface="Source Han Sans SC"/>
              </a:rPr>
              <a:t> ｜ </a:t>
            </a:r>
            <a:r>
              <a:rPr sz="940" b="0" i="0">
                <a:solidFill>
                  <a:srgbClr val="6B7280"/>
                </a:solidFill>
                <a:latin typeface="Source Han Sans SC"/>
              </a:rPr>
              <a:t>• 看上一页：加上池化后，第二层卷积就覆盖了整张图。</a:t>
            </a:r>
          </a:p>
        </p:txBody>
      </p:sp>
      <p:sp>
        <p:nvSpPr>
          <p:cNvPr id="18" name="Rectangle 17"/>
          <p:cNvSpPr/>
          <p:nvPr/>
        </p:nvSpPr>
        <p:spPr>
          <a:xfrm>
            <a:off x="8005679" y="1332000"/>
            <a:ext cx="3387239" cy="41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05679" y="1332000"/>
            <a:ext cx="32400" cy="4176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8879" y="1483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3. Tolerates small shifts — and loses position</a:t>
            </a:r>
          </a:p>
          <a:p>
            <a:pPr algn="l">
              <a:lnSpc>
                <a:spcPct val="105000"/>
              </a:lnSpc>
              <a:spcBef>
                <a:spcPts val="150"/>
              </a:spcBef>
            </a:pPr>
            <a:r>
              <a:rPr sz="1130" b="0" i="0">
                <a:solidFill>
                  <a:srgbClr val="6B7280"/>
                </a:solidFill>
                <a:latin typeface="Source Han Sans SC"/>
              </a:rPr>
              <a:t>③ 引入小范围容忍，代价：丢位置</a:t>
            </a:r>
          </a:p>
        </p:txBody>
      </p:sp>
      <p:sp>
        <p:nvSpPr>
          <p:cNvPr id="21" name="TextBox 20"/>
          <p:cNvSpPr txBox="1"/>
          <p:nvPr/>
        </p:nvSpPr>
        <p:spPr>
          <a:xfrm>
            <a:off x="8228879" y="2334265"/>
            <a:ext cx="2940839" cy="3101734"/>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 strong response somewhere in this patch" is steadier than "exactly at row 3, column 5".</a:t>
            </a:r>
            <a:r>
              <a:rPr sz="940" b="0" i="0">
                <a:solidFill>
                  <a:srgbClr val="6B7280"/>
                </a:solidFill>
                <a:latin typeface="Source Han Sans SC"/>
              </a:rPr>
              <a:t> ｜ </a:t>
            </a:r>
            <a:r>
              <a:rPr sz="940" b="0" i="0">
                <a:solidFill>
                  <a:srgbClr val="6B7280"/>
                </a:solidFill>
                <a:latin typeface="Source Han Sans SC"/>
              </a:rPr>
              <a:t>• 「这一片里有强响应」比「正好第 3 行第 5 列有强响应」更稳。</a:t>
            </a:r>
          </a:p>
          <a:p>
            <a:pPr algn="l">
              <a:lnSpc>
                <a:spcPct val="140000"/>
              </a:lnSpc>
              <a:spcAft>
                <a:spcPts val="400"/>
              </a:spcAft>
            </a:pPr>
            <a:r>
              <a:rPr sz="1200" b="0" i="0">
                <a:solidFill>
                  <a:srgbClr val="1F2937"/>
                </a:solidFill>
                <a:latin typeface="Source Han Sans SC"/>
              </a:rPr>
              <a:t>• The price: tasks that need WHERE (segmentation, detection, keypoints) must restore position. That is later weeks.</a:t>
            </a:r>
            <a:r>
              <a:rPr sz="940" b="0" i="0">
                <a:solidFill>
                  <a:srgbClr val="6B7280"/>
                </a:solidFill>
                <a:latin typeface="Source Han Sans SC"/>
              </a:rPr>
              <a:t> ｜ </a:t>
            </a:r>
            <a:r>
              <a:rPr sz="940" b="0" i="0">
                <a:solidFill>
                  <a:srgbClr val="6B7280"/>
                </a:solidFill>
                <a:latin typeface="Source Han Sans SC"/>
              </a:rPr>
              <a:t>• 代价：需要「在哪里」的任务（分割、检测、关键点）必须把位置信息补回来——这是后面几周的事。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78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78728"/>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550602"/>
          </a:xfrm>
          <a:prstGeom prst="rect">
            <a:avLst/>
          </a:prstGeom>
          <a:noFill/>
        </p:spPr>
        <p:txBody>
          <a:bodyPr wrap="square" anchor="t" lIns="0" rIns="0" tIns="0" bIns="0">
            <a:spAutoFit/>
          </a:bodyPr>
          <a:lstStyle/>
          <a:p>
            <a:pPr algn="l">
              <a:lnSpc>
                <a:spcPct val="114000"/>
              </a:lnSpc>
            </a:pPr>
            <a:r>
              <a:rPr sz="1200" b="1" i="0">
                <a:solidFill>
                  <a:srgbClr val="0E3F8C"/>
                </a:solidFill>
                <a:latin typeface="Source Han Sans SC"/>
              </a:rPr>
              <a:t>The pooling choice is worth 4.1 points</a:t>
            </a:r>
          </a:p>
          <a:p>
            <a:pPr algn="l">
              <a:lnSpc>
                <a:spcPct val="105000"/>
              </a:lnSpc>
              <a:spcBef>
                <a:spcPts val="150"/>
              </a:spcBef>
            </a:pPr>
            <a:r>
              <a:rPr sz="940" b="0" i="0">
                <a:solidFill>
                  <a:srgbClr val="6B7280"/>
                </a:solidFill>
                <a:latin typeface="Source Han Sans SC"/>
              </a:rPr>
              <a:t>池化方式的选择，值 4.1 个点</a:t>
            </a:r>
          </a:p>
        </p:txBody>
      </p:sp>
      <p:sp>
        <p:nvSpPr>
          <p:cNvPr id="6" name="TextBox 5"/>
          <p:cNvSpPr txBox="1"/>
          <p:nvPr/>
        </p:nvSpPr>
        <p:spPr>
          <a:xfrm>
            <a:off x="799200" y="565002"/>
            <a:ext cx="7713719" cy="571325"/>
          </a:xfrm>
          <a:prstGeom prst="rect">
            <a:avLst/>
          </a:prstGeom>
          <a:noFill/>
        </p:spPr>
        <p:txBody>
          <a:bodyPr wrap="square" anchor="t" lIns="0" rIns="0" tIns="0" bIns="0">
            <a:spAutoFit/>
          </a:bodyPr>
          <a:lstStyle/>
          <a:p>
            <a:pPr algn="l">
              <a:lnSpc>
                <a:spcPct val="114000"/>
              </a:lnSpc>
            </a:pPr>
            <a:r>
              <a:rPr sz="840" b="0" i="0">
                <a:solidFill>
                  <a:srgbClr val="6B7280"/>
                </a:solidFill>
                <a:latin typeface="Source Han Sans SC"/>
              </a:rPr>
              <a:t>Apart from the pooling function the two architectures are byte-for-byte identical: same channels, same kernels, same learning rate and epochs</a:t>
            </a:r>
          </a:p>
          <a:p>
            <a:pPr algn="l">
              <a:lnSpc>
                <a:spcPct val="105000"/>
              </a:lnSpc>
              <a:spcBef>
                <a:spcPts val="150"/>
              </a:spcBef>
            </a:pPr>
            <a:r>
              <a:rPr sz="800" b="0" i="0">
                <a:solidFill>
                  <a:srgbClr val="6B7280"/>
                </a:solidFill>
                <a:latin typeface="Source Han Sans SC"/>
              </a:rPr>
              <a:t>除池化方式外，两个架构**逐字节相同**：同样的通道数、同样的核、同样的学习率与轮数</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measured · 5 seeds</a:t>
            </a:r>
            <a:r>
              <a:rPr sz="800" b="0" i="0">
                <a:solidFill>
                  <a:srgbClr val="6B7280"/>
                </a:solidFill>
                <a:latin typeface="Source Han Sans SC"/>
              </a:rPr>
              <a:t> ｜ </a:t>
            </a:r>
            <a:r>
              <a:rPr sz="800" b="0" i="0">
                <a:solidFill>
                  <a:srgbClr val="6B7280"/>
                </a:solidFill>
                <a:latin typeface="Source Han Sans SC"/>
              </a:rPr>
              <a:t>实测 · 5 种子</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15 / 32</a:t>
            </a:r>
          </a:p>
        </p:txBody>
      </p:sp>
      <p:graphicFrame>
        <p:nvGraphicFramePr>
          <p:cNvPr id="10" name="Table 9"/>
          <p:cNvGraphicFramePr>
            <a:graphicFrameLocks noGrp="1"/>
          </p:cNvGraphicFramePr>
          <p:nvPr/>
        </p:nvGraphicFramePr>
        <p:xfrm>
          <a:off x="799200" y="1152000"/>
          <a:ext cx="10583999" cy="1473298"/>
        </p:xfrm>
        <a:graphic>
          <a:graphicData uri="http://schemas.openxmlformats.org/drawingml/2006/table">
            <a:tbl>
              <a:tblPr firstRow="1" bandRow="1">
                <a:tableStyleId>{5C22544A-7EE6-4342-B048-85BDC9FD1C3A}</a:tableStyleId>
              </a:tblPr>
              <a:tblGrid>
                <a:gridCol w="1655999"/>
                <a:gridCol w="1512000"/>
                <a:gridCol w="1584000"/>
                <a:gridCol w="1944000"/>
                <a:gridCol w="1944000"/>
                <a:gridCol w="1944000"/>
              </a:tblGrid>
              <a:tr h="491099">
                <a:tc>
                  <a:txBody>
                    <a:bodyPr/>
                    <a:lstStyle/>
                    <a:p>
                      <a:r>
                        <a:rPr sz="1180" b="1">
                          <a:solidFill>
                            <a:srgbClr val="FFFFFF"/>
                          </a:solidFill>
                          <a:latin typeface="Source Han Sans SC"/>
                        </a:rPr>
                        <a:t>Architecture</a:t>
                      </a:r>
                    </a:p>
                    <a:p>
                      <a:pPr>
                        <a:lnSpc>
                          <a:spcPct val="100000"/>
                        </a:lnSpc>
                      </a:pPr>
                      <a:r>
                        <a:rPr sz="1000" b="0">
                          <a:solidFill>
                            <a:srgbClr val="C3D4EF"/>
                          </a:solidFill>
                          <a:latin typeface="Source Han Sans SC"/>
                        </a:rPr>
                        <a:t>架构</a:t>
                      </a:r>
                    </a:p>
                  </a:txBody>
                  <a:tcPr>
                    <a:solidFill>
                      <a:srgbClr val="0E3F8C"/>
                    </a:solidFill>
                  </a:tcPr>
                </a:tc>
                <a:tc>
                  <a:txBody>
                    <a:bodyPr/>
                    <a:lstStyle/>
                    <a:p>
                      <a:r>
                        <a:rPr sz="1180" b="1">
                          <a:solidFill>
                            <a:srgbClr val="FFFFFF"/>
                          </a:solidFill>
                          <a:latin typeface="Source Han Sans SC"/>
                        </a:rPr>
                        <a:t>Pooling</a:t>
                      </a:r>
                    </a:p>
                    <a:p>
                      <a:pPr>
                        <a:lnSpc>
                          <a:spcPct val="100000"/>
                        </a:lnSpc>
                      </a:pPr>
                      <a:r>
                        <a:rPr sz="1000" b="0">
                          <a:solidFill>
                            <a:srgbClr val="C3D4EF"/>
                          </a:solidFill>
                          <a:latin typeface="Source Han Sans SC"/>
                        </a:rPr>
                        <a:t>池化</a:t>
                      </a:r>
                    </a:p>
                  </a:txBody>
                  <a:tcPr>
                    <a:solidFill>
                      <a:srgbClr val="0E3F8C"/>
                    </a:solidFill>
                  </a:tcPr>
                </a:tc>
                <a:tc>
                  <a:txBody>
                    <a:bodyPr/>
                    <a:lstStyle/>
                    <a:p>
                      <a:r>
                        <a:rPr sz="1180" b="1">
                          <a:solidFill>
                            <a:srgbClr val="FFFFFF"/>
                          </a:solidFill>
                          <a:latin typeface="Source Han Sans SC"/>
                        </a:rPr>
                        <a:t>Params</a:t>
                      </a:r>
                    </a:p>
                    <a:p>
                      <a:pPr>
                        <a:lnSpc>
                          <a:spcPct val="100000"/>
                        </a:lnSpc>
                      </a:pPr>
                      <a:r>
                        <a:rPr sz="1000" b="0">
                          <a:solidFill>
                            <a:srgbClr val="C3D4EF"/>
                          </a:solidFill>
                          <a:latin typeface="Source Han Sans SC"/>
                        </a:rPr>
                        <a:t>参数量</a:t>
                      </a:r>
                    </a:p>
                  </a:txBody>
                  <a:tcPr>
                    <a:solidFill>
                      <a:srgbClr val="0E3F8C"/>
                    </a:solidFill>
                  </a:tcPr>
                </a:tc>
                <a:tc>
                  <a:txBody>
                    <a:bodyPr/>
                    <a:lstStyle/>
                    <a:p>
                      <a:r>
                        <a:rPr sz="1180" b="1">
                          <a:solidFill>
                            <a:srgbClr val="FFFFFF"/>
                          </a:solidFill>
                          <a:latin typeface="Source Han Sans SC"/>
                        </a:rPr>
                        <a:t>Train acc</a:t>
                      </a:r>
                    </a:p>
                    <a:p>
                      <a:pPr>
                        <a:lnSpc>
                          <a:spcPct val="100000"/>
                        </a:lnSpc>
                      </a:pPr>
                      <a:r>
                        <a:rPr sz="1000" b="0">
                          <a:solidFill>
                            <a:srgbClr val="C3D4EF"/>
                          </a:solidFill>
                          <a:latin typeface="Source Han Sans SC"/>
                        </a:rPr>
                        <a:t>训练 acc</a:t>
                      </a:r>
                    </a:p>
                  </a:txBody>
                  <a:tcPr>
                    <a:solidFill>
                      <a:srgbClr val="0E3F8C"/>
                    </a:solidFill>
                  </a:tcPr>
                </a:tc>
                <a:tc>
                  <a:txBody>
                    <a:bodyPr/>
                    <a:lstStyle/>
                    <a:p>
                      <a:r>
                        <a:rPr sz="1180" b="1">
                          <a:solidFill>
                            <a:srgbClr val="FFFFFF"/>
                          </a:solidFill>
                          <a:latin typeface="Source Han Sans SC"/>
                        </a:rPr>
                        <a:t>Val acc</a:t>
                      </a:r>
                    </a:p>
                    <a:p>
                      <a:pPr>
                        <a:lnSpc>
                          <a:spcPct val="100000"/>
                        </a:lnSpc>
                      </a:pPr>
                      <a:r>
                        <a:rPr sz="1000" b="0">
                          <a:solidFill>
                            <a:srgbClr val="C3D4EF"/>
                          </a:solidFill>
                          <a:latin typeface="Source Han Sans SC"/>
                        </a:rPr>
                        <a:t>验证 acc</a:t>
                      </a:r>
                    </a:p>
                  </a:txBody>
                  <a:tcPr>
                    <a:solidFill>
                      <a:srgbClr val="0E3F8C"/>
                    </a:solidFill>
                  </a:tcPr>
                </a:tc>
                <a:tc>
                  <a:txBody>
                    <a:bodyPr/>
                    <a:lstStyle/>
                    <a:p>
                      <a:r>
                        <a:rPr sz="1180" b="1">
                          <a:solidFill>
                            <a:srgbClr val="FFFFFF"/>
                          </a:solidFill>
                          <a:latin typeface="Source Han Sans SC"/>
                        </a:rPr>
                        <a:t>Test acc</a:t>
                      </a:r>
                    </a:p>
                    <a:p>
                      <a:pPr>
                        <a:lnSpc>
                          <a:spcPct val="100000"/>
                        </a:lnSpc>
                      </a:pPr>
                      <a:r>
                        <a:rPr sz="1000" b="0">
                          <a:solidFill>
                            <a:srgbClr val="C3D4EF"/>
                          </a:solidFill>
                          <a:latin typeface="Source Han Sans SC"/>
                        </a:rPr>
                        <a:t>测试 acc</a:t>
                      </a:r>
                    </a:p>
                  </a:txBody>
                  <a:tcPr>
                    <a:solidFill>
                      <a:srgbClr val="0E3F8C"/>
                    </a:solidFill>
                  </a:tcPr>
                </a:tc>
              </a:tr>
              <a:tr h="491099">
                <a:tc>
                  <a:txBody>
                    <a:bodyPr/>
                    <a:lstStyle/>
                    <a:p>
                      <a:r>
                        <a:rPr sz="1060" b="1">
                          <a:solidFill>
                            <a:srgbClr val="1F2937"/>
                          </a:solidFill>
                          <a:latin typeface="Source Han Sans SC"/>
                        </a:rPr>
                        <a:t>CNN small</a:t>
                      </a:r>
                    </a:p>
                    <a:p>
                      <a:pPr>
                        <a:lnSpc>
                          <a:spcPct val="100000"/>
                        </a:lnSpc>
                      </a:pPr>
                      <a:r>
                        <a:rPr sz="900" b="0">
                          <a:solidFill>
                            <a:srgbClr val="6B7280"/>
                          </a:solidFill>
                          <a:latin typeface="Source Han Sans SC"/>
                        </a:rPr>
                        <a:t>CNN 小</a:t>
                      </a:r>
                    </a:p>
                  </a:txBody>
                  <a:tcPr>
                    <a:solidFill>
                      <a:srgbClr val="FFFFFF"/>
                    </a:solidFill>
                  </a:tcPr>
                </a:tc>
                <a:tc>
                  <a:txBody>
                    <a:bodyPr/>
                    <a:lstStyle/>
                    <a:p>
                      <a:r>
                        <a:rPr sz="1060" b="0">
                          <a:solidFill>
                            <a:srgbClr val="1F2937"/>
                          </a:solidFill>
                          <a:latin typeface="Source Han Sans SC"/>
                        </a:rPr>
                        <a:t>Max</a:t>
                      </a:r>
                    </a:p>
                    <a:p>
                      <a:pPr>
                        <a:lnSpc>
                          <a:spcPct val="100000"/>
                        </a:lnSpc>
                      </a:pPr>
                      <a:r>
                        <a:rPr sz="900" b="0">
                          <a:solidFill>
                            <a:srgbClr val="6B7280"/>
                          </a:solidFill>
                          <a:latin typeface="Source Han Sans SC"/>
                        </a:rPr>
                        <a:t>最大池化</a:t>
                      </a:r>
                    </a:p>
                  </a:txBody>
                  <a:tcPr>
                    <a:solidFill>
                      <a:srgbClr val="FFFFFF"/>
                    </a:solidFill>
                  </a:tcPr>
                </a:tc>
                <a:tc>
                  <a:txBody>
                    <a:bodyPr/>
                    <a:lstStyle/>
                    <a:p>
                      <a:r>
                        <a:rPr sz="1060" b="0">
                          <a:solidFill>
                            <a:srgbClr val="1F2937"/>
                          </a:solidFill>
                          <a:latin typeface="Source Han Sans SC"/>
                        </a:rPr>
                        <a:t>1 898</a:t>
                      </a:r>
                    </a:p>
                  </a:txBody>
                  <a:tcPr>
                    <a:solidFill>
                      <a:srgbClr val="FFFFFF"/>
                    </a:solidFill>
                  </a:tcPr>
                </a:tc>
                <a:tc>
                  <a:txBody>
                    <a:bodyPr/>
                    <a:lstStyle/>
                    <a:p>
                      <a:r>
                        <a:rPr sz="1060" b="0">
                          <a:solidFill>
                            <a:srgbClr val="1F2937"/>
                          </a:solidFill>
                          <a:latin typeface="Source Han Sans SC"/>
                        </a:rPr>
                        <a:t>0.999±0.001</a:t>
                      </a:r>
                    </a:p>
                  </a:txBody>
                  <a:tcPr>
                    <a:solidFill>
                      <a:srgbClr val="FFFFFF"/>
                    </a:solidFill>
                  </a:tcPr>
                </a:tc>
                <a:tc>
                  <a:txBody>
                    <a:bodyPr/>
                    <a:lstStyle/>
                    <a:p>
                      <a:r>
                        <a:rPr sz="1060" b="0">
                          <a:solidFill>
                            <a:srgbClr val="1F2937"/>
                          </a:solidFill>
                          <a:latin typeface="Source Han Sans SC"/>
                        </a:rPr>
                        <a:t>0.970±0.010</a:t>
                      </a:r>
                    </a:p>
                  </a:txBody>
                  <a:tcPr>
                    <a:solidFill>
                      <a:srgbClr val="FFFFFF"/>
                    </a:solidFill>
                  </a:tcPr>
                </a:tc>
                <a:tc>
                  <a:txBody>
                    <a:bodyPr/>
                    <a:lstStyle/>
                    <a:p>
                      <a:r>
                        <a:rPr sz="1060" b="0">
                          <a:solidFill>
                            <a:srgbClr val="1F2937"/>
                          </a:solidFill>
                          <a:latin typeface="Source Han Sans SC"/>
                        </a:rPr>
                        <a:t>**0.981±0.008**</a:t>
                      </a:r>
                    </a:p>
                  </a:txBody>
                  <a:tcPr>
                    <a:solidFill>
                      <a:srgbClr val="FFFFFF"/>
                    </a:solidFill>
                  </a:tcPr>
                </a:tc>
              </a:tr>
              <a:tr h="491100">
                <a:tc>
                  <a:txBody>
                    <a:bodyPr/>
                    <a:lstStyle/>
                    <a:p>
                      <a:r>
                        <a:rPr sz="1060" b="1">
                          <a:solidFill>
                            <a:srgbClr val="1F2937"/>
                          </a:solidFill>
                          <a:latin typeface="Source Han Sans SC"/>
                        </a:rPr>
                        <a:t>CNN small</a:t>
                      </a:r>
                    </a:p>
                    <a:p>
                      <a:pPr>
                        <a:lnSpc>
                          <a:spcPct val="100000"/>
                        </a:lnSpc>
                      </a:pPr>
                      <a:r>
                        <a:rPr sz="900" b="0">
                          <a:solidFill>
                            <a:srgbClr val="6B7280"/>
                          </a:solidFill>
                          <a:latin typeface="Source Han Sans SC"/>
                        </a:rPr>
                        <a:t>CNN 小</a:t>
                      </a:r>
                    </a:p>
                  </a:txBody>
                  <a:tcPr>
                    <a:solidFill>
                      <a:srgbClr val="F0F5FC"/>
                    </a:solidFill>
                  </a:tcPr>
                </a:tc>
                <a:tc>
                  <a:txBody>
                    <a:bodyPr/>
                    <a:lstStyle/>
                    <a:p>
                      <a:r>
                        <a:rPr sz="1060" b="0">
                          <a:solidFill>
                            <a:srgbClr val="1F2937"/>
                          </a:solidFill>
                          <a:latin typeface="Source Han Sans SC"/>
                        </a:rPr>
                        <a:t>Average</a:t>
                      </a:r>
                    </a:p>
                    <a:p>
                      <a:pPr>
                        <a:lnSpc>
                          <a:spcPct val="100000"/>
                        </a:lnSpc>
                      </a:pPr>
                      <a:r>
                        <a:rPr sz="900" b="0">
                          <a:solidFill>
                            <a:srgbClr val="6B7280"/>
                          </a:solidFill>
                          <a:latin typeface="Source Han Sans SC"/>
                        </a:rPr>
                        <a:t>平均池化</a:t>
                      </a:r>
                    </a:p>
                  </a:txBody>
                  <a:tcPr>
                    <a:solidFill>
                      <a:srgbClr val="F0F5FC"/>
                    </a:solidFill>
                  </a:tcPr>
                </a:tc>
                <a:tc>
                  <a:txBody>
                    <a:bodyPr/>
                    <a:lstStyle/>
                    <a:p>
                      <a:r>
                        <a:rPr sz="1060" b="0">
                          <a:solidFill>
                            <a:srgbClr val="1F2937"/>
                          </a:solidFill>
                          <a:latin typeface="Source Han Sans SC"/>
                        </a:rPr>
                        <a:t>1 898</a:t>
                      </a:r>
                    </a:p>
                  </a:txBody>
                  <a:tcPr>
                    <a:solidFill>
                      <a:srgbClr val="F0F5FC"/>
                    </a:solidFill>
                  </a:tcPr>
                </a:tc>
                <a:tc>
                  <a:txBody>
                    <a:bodyPr/>
                    <a:lstStyle/>
                    <a:p>
                      <a:r>
                        <a:rPr sz="1060" b="0">
                          <a:solidFill>
                            <a:srgbClr val="1F2937"/>
                          </a:solidFill>
                          <a:latin typeface="Source Han Sans SC"/>
                        </a:rPr>
                        <a:t>0.950±0.009</a:t>
                      </a:r>
                    </a:p>
                  </a:txBody>
                  <a:tcPr>
                    <a:solidFill>
                      <a:srgbClr val="F0F5FC"/>
                    </a:solidFill>
                  </a:tcPr>
                </a:tc>
                <a:tc>
                  <a:txBody>
                    <a:bodyPr/>
                    <a:lstStyle/>
                    <a:p>
                      <a:r>
                        <a:rPr sz="1060" b="0">
                          <a:solidFill>
                            <a:srgbClr val="1F2937"/>
                          </a:solidFill>
                          <a:latin typeface="Source Han Sans SC"/>
                        </a:rPr>
                        <a:t>0.929±0.016</a:t>
                      </a:r>
                    </a:p>
                  </a:txBody>
                  <a:tcPr>
                    <a:solidFill>
                      <a:srgbClr val="F0F5FC"/>
                    </a:solidFill>
                  </a:tcPr>
                </a:tc>
                <a:tc>
                  <a:txBody>
                    <a:bodyPr/>
                    <a:lstStyle/>
                    <a:p>
                      <a:r>
                        <a:rPr sz="1060" b="0">
                          <a:solidFill>
                            <a:srgbClr val="1F2937"/>
                          </a:solidFill>
                          <a:latin typeface="Source Han Sans SC"/>
                        </a:rPr>
                        <a:t>**0.940±0.008**</a:t>
                      </a:r>
                    </a:p>
                  </a:txBody>
                  <a:tcPr>
                    <a:solidFill>
                      <a:srgbClr val="F0F5FC"/>
                    </a:solidFill>
                  </a:tcPr>
                </a:tc>
              </a:tr>
            </a:tbl>
          </a:graphicData>
        </a:graphic>
      </p:graphicFrame>
      <p:sp>
        <p:nvSpPr>
          <p:cNvPr id="11" name="TextBox 10"/>
          <p:cNvSpPr txBox="1"/>
          <p:nvPr/>
        </p:nvSpPr>
        <p:spPr>
          <a:xfrm>
            <a:off x="799200" y="2751298"/>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A 0.041 gap, five times the standard deviation — not noise. Average pooling smooths away the strongest response, and for handwritten digits the discriminative information is exactly where the stroke is densest. Choosing a pooling function is choosing what to keep.</a:t>
            </a:r>
          </a:p>
          <a:p>
            <a:pPr algn="l">
              <a:lnSpc>
                <a:spcPct val="105000"/>
              </a:lnSpc>
              <a:spcBef>
                <a:spcPts val="150"/>
              </a:spcBef>
            </a:pPr>
            <a:r>
              <a:rPr sz="900" b="0" i="0">
                <a:solidFill>
                  <a:srgbClr val="6B7280"/>
                </a:solidFill>
                <a:latin typeface="Source Han Sans SC"/>
              </a:rPr>
              <a:t>差 0.041，是 5 个标准差的 5 倍——这不是噪声。平均池化在这个任务上把「最强的那个响应」抹平了，而手写数字的判别信息恰恰在「笔画最集中的地方」。选池化函数是在选择你愿意保留什么。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03</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03</a:t>
            </a:r>
          </a:p>
        </p:txBody>
      </p:sp>
      <p:sp>
        <p:nvSpPr>
          <p:cNvPr id="7" name="TextBox 6"/>
          <p:cNvSpPr txBox="1"/>
          <p:nvPr/>
        </p:nvSpPr>
        <p:spPr>
          <a:xfrm>
            <a:off x="2379600" y="1105200"/>
            <a:ext cx="5040000" cy="1098598"/>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Training it</a:t>
            </a:r>
          </a:p>
          <a:p>
            <a:pPr algn="l">
              <a:lnSpc>
                <a:spcPct val="105000"/>
              </a:lnSpc>
              <a:spcBef>
                <a:spcPts val="150"/>
              </a:spcBef>
            </a:pPr>
            <a:r>
              <a:rPr sz="2340" b="0" i="0">
                <a:solidFill>
                  <a:srgbClr val="6B7280"/>
                </a:solidFill>
                <a:latin typeface="Source Han Sans SC"/>
              </a:rPr>
              <a:t>训练起来：曲线、增强与代价</a:t>
            </a:r>
          </a:p>
        </p:txBody>
      </p:sp>
      <p:sp>
        <p:nvSpPr>
          <p:cNvPr id="8" name="TextBox 7"/>
          <p:cNvSpPr txBox="1"/>
          <p:nvPr/>
        </p:nvSpPr>
        <p:spPr>
          <a:xfrm>
            <a:off x="799200" y="2736000"/>
            <a:ext cx="8640000" cy="129461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Five architectures, five seeds each. Every difference is reported as mean ± sd; a difference smaller than one sd is written up as not observed.</a:t>
            </a:r>
          </a:p>
          <a:p>
            <a:pPr algn="l">
              <a:lnSpc>
                <a:spcPct val="105000"/>
              </a:lnSpc>
              <a:spcBef>
                <a:spcPts val="150"/>
              </a:spcBef>
            </a:pPr>
            <a:r>
              <a:rPr sz="1170" b="0" i="0">
                <a:solidFill>
                  <a:srgbClr val="6B7280"/>
                </a:solidFill>
                <a:latin typeface="Source Han Sans SC"/>
              </a:rPr>
              <a:t>本周 5 个架构、每个 5 个随机种子。所有差异都写成「均值 ± 标准差」，
差异不到一个标准差就写「未观察到显著差异」。</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5 models</a:t>
            </a:r>
            <a:r>
              <a:rPr sz="1010" b="0" i="0">
                <a:solidFill>
                  <a:srgbClr val="6B7280"/>
                </a:solidFill>
                <a:latin typeface="Source Han Sans SC"/>
              </a:rPr>
              <a:t> ｜ </a:t>
            </a:r>
            <a:r>
              <a:rPr sz="1010" b="0" i="0">
                <a:solidFill>
                  <a:srgbClr val="6B7280"/>
                </a:solidFill>
                <a:latin typeface="Source Han Sans SC"/>
              </a:rPr>
              <a:t>5 架构</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dense / conv / wide / avgpool / aug</a:t>
            </a:r>
          </a:p>
          <a:p>
            <a:pPr algn="l">
              <a:lnSpc>
                <a:spcPct val="105000"/>
              </a:lnSpc>
              <a:spcBef>
                <a:spcPts val="150"/>
              </a:spcBef>
            </a:pPr>
            <a:r>
              <a:rPr sz="800" b="0" i="0">
                <a:solidFill>
                  <a:srgbClr val="6B7280"/>
                </a:solidFill>
                <a:latin typeface="Source Han Sans SC"/>
              </a:rPr>
              <a:t>全连接 / 卷积 / 宽 / 平均池化 / 增强</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5 seeds</a:t>
            </a:r>
            <a:r>
              <a:rPr sz="1010" b="0" i="0">
                <a:solidFill>
                  <a:srgbClr val="6B7280"/>
                </a:solidFill>
                <a:latin typeface="Source Han Sans SC"/>
              </a:rPr>
              <a:t> ｜ </a:t>
            </a:r>
            <a:r>
              <a:rPr sz="1010" b="0" i="0">
                <a:solidFill>
                  <a:srgbClr val="6B7280"/>
                </a:solidFill>
                <a:latin typeface="Source Han Sans SC"/>
              </a:rPr>
              <a:t>5 种子</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42-46, mean ± sd</a:t>
            </a:r>
          </a:p>
          <a:p>
            <a:pPr algn="l">
              <a:lnSpc>
                <a:spcPct val="105000"/>
              </a:lnSpc>
              <a:spcBef>
                <a:spcPts val="150"/>
              </a:spcBef>
            </a:pPr>
            <a:r>
              <a:rPr sz="800" b="0" i="0">
                <a:solidFill>
                  <a:srgbClr val="6B7280"/>
                </a:solidFill>
                <a:latin typeface="Source Han Sans SC"/>
              </a:rPr>
              <a:t>42–46，均值 ± 标准差</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1 question</a:t>
            </a:r>
            <a:r>
              <a:rPr sz="1010" b="0" i="0">
                <a:solidFill>
                  <a:srgbClr val="6B7280"/>
                </a:solidFill>
                <a:latin typeface="Source Han Sans SC"/>
              </a:rPr>
              <a:t> ｜ </a:t>
            </a:r>
            <a:r>
              <a:rPr sz="1010" b="0" i="0">
                <a:solidFill>
                  <a:srgbClr val="6B7280"/>
                </a:solidFill>
                <a:latin typeface="Source Han Sans SC"/>
              </a:rPr>
              <a:t>1 个对照问题</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was it worth it?</a:t>
            </a:r>
          </a:p>
          <a:p>
            <a:pPr algn="l">
              <a:lnSpc>
                <a:spcPct val="105000"/>
              </a:lnSpc>
              <a:spcBef>
                <a:spcPts val="150"/>
              </a:spcBef>
            </a:pPr>
            <a:r>
              <a:rPr sz="800" b="0" i="0">
                <a:solidFill>
                  <a:srgbClr val="6B7280"/>
                </a:solidFill>
                <a:latin typeface="Source Han Sans SC"/>
              </a:rPr>
              <a:t>这个改动值不值？</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78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78728"/>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550602"/>
          </a:xfrm>
          <a:prstGeom prst="rect">
            <a:avLst/>
          </a:prstGeom>
          <a:noFill/>
        </p:spPr>
        <p:txBody>
          <a:bodyPr wrap="square" anchor="t" lIns="0" rIns="0" tIns="0" bIns="0">
            <a:spAutoFit/>
          </a:bodyPr>
          <a:lstStyle/>
          <a:p>
            <a:pPr algn="l">
              <a:lnSpc>
                <a:spcPct val="114000"/>
              </a:lnSpc>
            </a:pPr>
            <a:r>
              <a:rPr sz="1200" b="1" i="0">
                <a:solidFill>
                  <a:srgbClr val="0E3F8C"/>
                </a:solidFill>
                <a:latin typeface="Source Han Sans SC"/>
              </a:rPr>
              <a:t>Validation accuracy: three curves, one training protocol</a:t>
            </a:r>
          </a:p>
          <a:p>
            <a:pPr algn="l">
              <a:lnSpc>
                <a:spcPct val="105000"/>
              </a:lnSpc>
              <a:spcBef>
                <a:spcPts val="150"/>
              </a:spcBef>
            </a:pPr>
            <a:r>
              <a:rPr sz="940" b="0" i="0">
                <a:solidFill>
                  <a:srgbClr val="6B7280"/>
                </a:solidFill>
                <a:latin typeface="Source Han Sans SC"/>
              </a:rPr>
              <a:t>验证准确率：三条曲线，同一个训练协议</a:t>
            </a:r>
          </a:p>
        </p:txBody>
      </p:sp>
      <p:sp>
        <p:nvSpPr>
          <p:cNvPr id="6" name="TextBox 5"/>
          <p:cNvSpPr txBox="1"/>
          <p:nvPr/>
        </p:nvSpPr>
        <p:spPr>
          <a:xfrm>
            <a:off x="799200" y="565002"/>
            <a:ext cx="7713719" cy="571325"/>
          </a:xfrm>
          <a:prstGeom prst="rect">
            <a:avLst/>
          </a:prstGeom>
          <a:noFill/>
        </p:spPr>
        <p:txBody>
          <a:bodyPr wrap="square" anchor="t" lIns="0" rIns="0" tIns="0" bIns="0">
            <a:spAutoFit/>
          </a:bodyPr>
          <a:lstStyle/>
          <a:p>
            <a:pPr algn="l">
              <a:lnSpc>
                <a:spcPct val="114000"/>
              </a:lnSpc>
            </a:pPr>
            <a:r>
              <a:rPr sz="840" b="0" i="0">
                <a:solidFill>
                  <a:srgbClr val="6B7280"/>
                </a:solidFill>
                <a:latin typeface="Source Han Sans SC"/>
              </a:rPr>
              <a:t>Curve: validation accuracy of one seed-42 run, one point every 6 epochs (1, 7, ..., 115) | table figures are means over 5 seeds (42-46)</a:t>
            </a:r>
          </a:p>
          <a:p>
            <a:pPr algn="l">
              <a:lnSpc>
                <a:spcPct val="105000"/>
              </a:lnSpc>
              <a:spcBef>
                <a:spcPts val="150"/>
              </a:spcBef>
            </a:pPr>
            <a:r>
              <a:rPr sz="800" b="0" i="0">
                <a:solidFill>
                  <a:srgbClr val="6B7280"/>
                </a:solidFill>
                <a:latin typeface="Source Han Sans SC"/>
              </a:rPr>
              <a:t>曲线：seed 42 单次运行的验证准确率，每 6 轮取一点（第 1, 7, …, 115 轮）｜表中统计量为 5 个种子（42–46）的均值</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seed 42</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17 / 32</a:t>
            </a:r>
          </a:p>
        </p:txBody>
      </p:sp>
      <p:graphicFrame>
        <p:nvGraphicFramePr>
          <p:cNvPr id="10" name="Chart 9"/>
          <p:cNvGraphicFramePr>
            <a:graphicFrameLocks noGrp="1"/>
          </p:cNvGraphicFramePr>
          <p:nvPr/>
        </p:nvGraphicFramePr>
        <p:xfrm>
          <a:off x="799200" y="1152000"/>
          <a:ext cx="6840000" cy="4031999"/>
        </p:xfrm>
        <a:graphic>
          <a:graphicData uri="http://schemas.openxmlformats.org/drawingml/2006/chart">
            <c:chart xmlns:c="http://schemas.openxmlformats.org/drawingml/2006/chart" r:id="rId2"/>
          </a:graphicData>
        </a:graphic>
      </p:graphicFrame>
      <p:sp>
        <p:nvSpPr>
          <p:cNvPr id="11" name="TextBox 10"/>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150" b="0" i="0">
                <a:solidFill>
                  <a:srgbClr val="1F2937"/>
                </a:solidFill>
                <a:latin typeface="Source Han Sans SC"/>
              </a:rPr>
              <a:t>• All three plateau after ~20 epochs; later wiggles are noise.</a:t>
            </a:r>
            <a:r>
              <a:rPr sz="900" b="0" i="0">
                <a:solidFill>
                  <a:srgbClr val="6B7280"/>
                </a:solidFill>
                <a:latin typeface="Source Han Sans SC"/>
              </a:rPr>
              <a:t> ｜ </a:t>
            </a:r>
            <a:r>
              <a:rPr sz="900" b="0" i="0">
                <a:solidFill>
                  <a:srgbClr val="6B7280"/>
                </a:solidFill>
                <a:latin typeface="Source Han Sans SC"/>
              </a:rPr>
              <a:t>• 三条曲线在 20 轮后全部进入平台，之后翻转都是噪声。</a:t>
            </a:r>
          </a:p>
          <a:p>
            <a:pPr algn="l">
              <a:lnSpc>
                <a:spcPct val="145000"/>
              </a:lnSpc>
              <a:spcAft>
                <a:spcPts val="800"/>
              </a:spcAft>
            </a:pPr>
            <a:r>
              <a:rPr sz="1150" b="0" i="0">
                <a:solidFill>
                  <a:srgbClr val="1F2937"/>
                </a:solidFill>
                <a:latin typeface="Source Han Sans SC"/>
              </a:rPr>
              <a:t>• The CNN starts slower (0.31 vs 0.70 at epoch 1) and overtakes by epoch 40.</a:t>
            </a:r>
            <a:r>
              <a:rPr sz="900" b="0" i="0">
                <a:solidFill>
                  <a:srgbClr val="6B7280"/>
                </a:solidFill>
                <a:latin typeface="Source Han Sans SC"/>
              </a:rPr>
              <a:t> ｜ </a:t>
            </a:r>
            <a:r>
              <a:rPr sz="900" b="0" i="0">
                <a:solidFill>
                  <a:srgbClr val="6B7280"/>
                </a:solidFill>
                <a:latin typeface="Source Han Sans SC"/>
              </a:rPr>
              <a:t>• 卷积网起步更慢（第 1 轮 0.31 vs 0.70），40 轮后反超。</a:t>
            </a:r>
          </a:p>
          <a:p>
            <a:pPr algn="l">
              <a:lnSpc>
                <a:spcPct val="145000"/>
              </a:lnSpc>
              <a:spcAft>
                <a:spcPts val="800"/>
              </a:spcAft>
            </a:pPr>
            <a:r>
              <a:rPr sz="1150" b="0" i="0">
                <a:solidFill>
                  <a:srgbClr val="1F2937"/>
                </a:solidFill>
                <a:latin typeface="Source Han Sans SC"/>
              </a:rPr>
              <a:t>• The augmented curve is LOWER and steadier — not a training failure, a harder objective.</a:t>
            </a:r>
            <a:r>
              <a:rPr sz="900" b="0" i="0">
                <a:solidFill>
                  <a:srgbClr val="6B7280"/>
                </a:solidFill>
                <a:latin typeface="Source Han Sans SC"/>
              </a:rPr>
              <a:t> ｜ </a:t>
            </a:r>
            <a:r>
              <a:rPr sz="900" b="0" i="0">
                <a:solidFill>
                  <a:srgbClr val="6B7280"/>
                </a:solidFill>
                <a:latin typeface="Source Han Sans SC"/>
              </a:rPr>
              <a:t>• 增强那条曲线**更低但更稳**——这不是训练失败，是它在解一个更难的问题。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The five architectures, in one table</a:t>
            </a:r>
          </a:p>
          <a:p>
            <a:pPr algn="l">
              <a:lnSpc>
                <a:spcPct val="105000"/>
              </a:lnSpc>
              <a:spcBef>
                <a:spcPts val="150"/>
              </a:spcBef>
            </a:pPr>
            <a:r>
              <a:rPr sz="1210" b="0" i="0">
                <a:solidFill>
                  <a:srgbClr val="6B7280"/>
                </a:solidFill>
                <a:latin typeface="Source Han Sans SC"/>
              </a:rPr>
              <a:t>五个架构的总账</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zh</a:t>
            </a:r>
          </a:p>
          <a:p>
            <a:pPr algn="r">
              <a:lnSpc>
                <a:spcPct val="116000"/>
              </a:lnSpc>
            </a:pPr>
            <a:r>
              <a:rPr sz="1000" b="0" i="0">
                <a:solidFill>
                  <a:srgbClr val="6B7280"/>
                </a:solidFill>
                <a:latin typeface="Source Han Sans SC"/>
              </a:rPr>
              <a:t>en</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18 / 32</a:t>
            </a:r>
          </a:p>
        </p:txBody>
      </p:sp>
      <p:graphicFrame>
        <p:nvGraphicFramePr>
          <p:cNvPr id="9" name="Table 8"/>
          <p:cNvGraphicFramePr>
            <a:graphicFrameLocks noGrp="1"/>
          </p:cNvGraphicFramePr>
          <p:nvPr/>
        </p:nvGraphicFramePr>
        <p:xfrm>
          <a:off x="799200" y="1152000"/>
          <a:ext cx="10583998" cy="2900876"/>
        </p:xfrm>
        <a:graphic>
          <a:graphicData uri="http://schemas.openxmlformats.org/drawingml/2006/table">
            <a:tbl>
              <a:tblPr firstRow="1" bandRow="1">
                <a:tableStyleId>{5C22544A-7EE6-4342-B048-85BDC9FD1C3A}</a:tableStyleId>
              </a:tblPr>
              <a:tblGrid>
                <a:gridCol w="3024000"/>
                <a:gridCol w="1584000"/>
                <a:gridCol w="2015999"/>
                <a:gridCol w="1944000"/>
                <a:gridCol w="2015999"/>
              </a:tblGrid>
              <a:tr h="483479">
                <a:tc>
                  <a:txBody>
                    <a:bodyPr/>
                    <a:lstStyle/>
                    <a:p>
                      <a:r>
                        <a:rPr sz="1180" b="1">
                          <a:solidFill>
                            <a:srgbClr val="FFFFFF"/>
                          </a:solidFill>
                          <a:latin typeface="Source Han Sans SC"/>
                        </a:rPr>
                        <a:t>Architecture</a:t>
                      </a:r>
                    </a:p>
                    <a:p>
                      <a:pPr>
                        <a:lnSpc>
                          <a:spcPct val="100000"/>
                        </a:lnSpc>
                      </a:pPr>
                      <a:r>
                        <a:rPr sz="1000" b="0">
                          <a:solidFill>
                            <a:srgbClr val="C3D4EF"/>
                          </a:solidFill>
                          <a:latin typeface="Source Han Sans SC"/>
                        </a:rPr>
                        <a:t>架构</a:t>
                      </a:r>
                    </a:p>
                  </a:txBody>
                  <a:tcPr>
                    <a:solidFill>
                      <a:srgbClr val="0E3F8C"/>
                    </a:solidFill>
                  </a:tcPr>
                </a:tc>
                <a:tc>
                  <a:txBody>
                    <a:bodyPr/>
                    <a:lstStyle/>
                    <a:p>
                      <a:r>
                        <a:rPr sz="1180" b="1">
                          <a:solidFill>
                            <a:srgbClr val="FFFFFF"/>
                          </a:solidFill>
                          <a:latin typeface="Source Han Sans SC"/>
                        </a:rPr>
                        <a:t>Params</a:t>
                      </a:r>
                    </a:p>
                    <a:p>
                      <a:pPr>
                        <a:lnSpc>
                          <a:spcPct val="100000"/>
                        </a:lnSpc>
                      </a:pPr>
                      <a:r>
                        <a:rPr sz="1000" b="0">
                          <a:solidFill>
                            <a:srgbClr val="C3D4EF"/>
                          </a:solidFill>
                          <a:latin typeface="Source Han Sans SC"/>
                        </a:rPr>
                        <a:t>参数量</a:t>
                      </a:r>
                    </a:p>
                  </a:txBody>
                  <a:tcPr>
                    <a:solidFill>
                      <a:srgbClr val="0E3F8C"/>
                    </a:solidFill>
                  </a:tcPr>
                </a:tc>
                <a:tc>
                  <a:txBody>
                    <a:bodyPr/>
                    <a:lstStyle/>
                    <a:p>
                      <a:r>
                        <a:rPr sz="1180" b="1">
                          <a:solidFill>
                            <a:srgbClr val="FFFFFF"/>
                          </a:solidFill>
                          <a:latin typeface="Source Han Sans SC"/>
                        </a:rPr>
                        <a:t>Train acc</a:t>
                      </a:r>
                    </a:p>
                    <a:p>
                      <a:pPr>
                        <a:lnSpc>
                          <a:spcPct val="100000"/>
                        </a:lnSpc>
                      </a:pPr>
                      <a:r>
                        <a:rPr sz="1000" b="0">
                          <a:solidFill>
                            <a:srgbClr val="C3D4EF"/>
                          </a:solidFill>
                          <a:latin typeface="Source Han Sans SC"/>
                        </a:rPr>
                        <a:t>训练 acc</a:t>
                      </a:r>
                    </a:p>
                  </a:txBody>
                  <a:tcPr>
                    <a:solidFill>
                      <a:srgbClr val="0E3F8C"/>
                    </a:solidFill>
                  </a:tcPr>
                </a:tc>
                <a:tc>
                  <a:txBody>
                    <a:bodyPr/>
                    <a:lstStyle/>
                    <a:p>
                      <a:r>
                        <a:rPr sz="1180" b="1">
                          <a:solidFill>
                            <a:srgbClr val="FFFFFF"/>
                          </a:solidFill>
                          <a:latin typeface="Source Han Sans SC"/>
                        </a:rPr>
                        <a:t>Val acc</a:t>
                      </a:r>
                    </a:p>
                    <a:p>
                      <a:pPr>
                        <a:lnSpc>
                          <a:spcPct val="100000"/>
                        </a:lnSpc>
                      </a:pPr>
                      <a:r>
                        <a:rPr sz="1000" b="0">
                          <a:solidFill>
                            <a:srgbClr val="C3D4EF"/>
                          </a:solidFill>
                          <a:latin typeface="Source Han Sans SC"/>
                        </a:rPr>
                        <a:t>验证 acc</a:t>
                      </a:r>
                    </a:p>
                  </a:txBody>
                  <a:tcPr>
                    <a:solidFill>
                      <a:srgbClr val="0E3F8C"/>
                    </a:solidFill>
                  </a:tcPr>
                </a:tc>
                <a:tc>
                  <a:txBody>
                    <a:bodyPr/>
                    <a:lstStyle/>
                    <a:p>
                      <a:r>
                        <a:rPr sz="1180" b="1">
                          <a:solidFill>
                            <a:srgbClr val="FFFFFF"/>
                          </a:solidFill>
                          <a:latin typeface="Source Han Sans SC"/>
                        </a:rPr>
                        <a:t>Test acc</a:t>
                      </a:r>
                    </a:p>
                    <a:p>
                      <a:pPr>
                        <a:lnSpc>
                          <a:spcPct val="100000"/>
                        </a:lnSpc>
                      </a:pPr>
                      <a:r>
                        <a:rPr sz="1000" b="0">
                          <a:solidFill>
                            <a:srgbClr val="C3D4EF"/>
                          </a:solidFill>
                          <a:latin typeface="Source Han Sans SC"/>
                        </a:rPr>
                        <a:t>测试 acc</a:t>
                      </a:r>
                    </a:p>
                  </a:txBody>
                  <a:tcPr>
                    <a:solidFill>
                      <a:srgbClr val="0E3F8C"/>
                    </a:solidFill>
                  </a:tcPr>
                </a:tc>
              </a:tr>
              <a:tr h="483479">
                <a:tc>
                  <a:txBody>
                    <a:bodyPr/>
                    <a:lstStyle/>
                    <a:p>
                      <a:r>
                        <a:rPr sz="1060" b="1">
                          <a:solidFill>
                            <a:srgbClr val="1F2937"/>
                          </a:solidFill>
                          <a:latin typeface="Source Han Sans SC"/>
                        </a:rPr>
                        <a:t>Dense 64-128-64-10</a:t>
                      </a:r>
                    </a:p>
                    <a:p>
                      <a:pPr>
                        <a:lnSpc>
                          <a:spcPct val="100000"/>
                        </a:lnSpc>
                      </a:pPr>
                      <a:r>
                        <a:rPr sz="900" b="0">
                          <a:solidFill>
                            <a:srgbClr val="6B7280"/>
                          </a:solidFill>
                          <a:latin typeface="Source Han Sans SC"/>
                        </a:rPr>
                        <a:t>全连接 64-128-64-10</a:t>
                      </a:r>
                    </a:p>
                  </a:txBody>
                  <a:tcPr>
                    <a:solidFill>
                      <a:srgbClr val="FFFFFF"/>
                    </a:solidFill>
                  </a:tcPr>
                </a:tc>
                <a:tc>
                  <a:txBody>
                    <a:bodyPr/>
                    <a:lstStyle/>
                    <a:p>
                      <a:r>
                        <a:rPr sz="1060" b="0">
                          <a:solidFill>
                            <a:srgbClr val="1F2937"/>
                          </a:solidFill>
                          <a:latin typeface="Source Han Sans SC"/>
                        </a:rPr>
                        <a:t>17 226</a:t>
                      </a:r>
                    </a:p>
                  </a:txBody>
                  <a:tcPr>
                    <a:solidFill>
                      <a:srgbClr val="FFFFFF"/>
                    </a:solidFill>
                  </a:tcPr>
                </a:tc>
                <a:tc>
                  <a:txBody>
                    <a:bodyPr/>
                    <a:lstStyle/>
                    <a:p>
                      <a:r>
                        <a:rPr sz="1060" b="0">
                          <a:solidFill>
                            <a:srgbClr val="1F2937"/>
                          </a:solidFill>
                          <a:latin typeface="Source Han Sans SC"/>
                        </a:rPr>
                        <a:t>1.000±0.000</a:t>
                      </a:r>
                    </a:p>
                  </a:txBody>
                  <a:tcPr>
                    <a:solidFill>
                      <a:srgbClr val="FFFFFF"/>
                    </a:solidFill>
                  </a:tcPr>
                </a:tc>
                <a:tc>
                  <a:txBody>
                    <a:bodyPr/>
                    <a:lstStyle/>
                    <a:p>
                      <a:r>
                        <a:rPr sz="1060" b="0">
                          <a:solidFill>
                            <a:srgbClr val="1F2937"/>
                          </a:solidFill>
                          <a:latin typeface="Source Han Sans SC"/>
                        </a:rPr>
                        <a:t>0.966±0.008</a:t>
                      </a:r>
                    </a:p>
                  </a:txBody>
                  <a:tcPr>
                    <a:solidFill>
                      <a:srgbClr val="FFFFFF"/>
                    </a:solidFill>
                  </a:tcPr>
                </a:tc>
                <a:tc>
                  <a:txBody>
                    <a:bodyPr/>
                    <a:lstStyle/>
                    <a:p>
                      <a:r>
                        <a:rPr sz="1060" b="0">
                          <a:solidFill>
                            <a:srgbClr val="1F2937"/>
                          </a:solidFill>
                          <a:latin typeface="Source Han Sans SC"/>
                        </a:rPr>
                        <a:t>0.979±0.008</a:t>
                      </a:r>
                    </a:p>
                  </a:txBody>
                  <a:tcPr>
                    <a:solidFill>
                      <a:srgbClr val="FFFFFF"/>
                    </a:solidFill>
                  </a:tcPr>
                </a:tc>
              </a:tr>
              <a:tr h="483479">
                <a:tc>
                  <a:txBody>
                    <a:bodyPr/>
                    <a:lstStyle/>
                    <a:p>
                      <a:r>
                        <a:rPr sz="1060" b="1">
                          <a:solidFill>
                            <a:srgbClr val="1F2937"/>
                          </a:solidFill>
                          <a:latin typeface="Source Han Sans SC"/>
                        </a:rPr>
                        <a:t>CNN 8/16 (baseline)</a:t>
                      </a:r>
                    </a:p>
                    <a:p>
                      <a:pPr>
                        <a:lnSpc>
                          <a:spcPct val="100000"/>
                        </a:lnSpc>
                      </a:pPr>
                      <a:r>
                        <a:rPr sz="900" b="0">
                          <a:solidFill>
                            <a:srgbClr val="6B7280"/>
                          </a:solidFill>
                          <a:latin typeface="Source Han Sans SC"/>
                        </a:rPr>
                        <a:t>CNN 8/16（基准）</a:t>
                      </a:r>
                    </a:p>
                  </a:txBody>
                  <a:tcPr>
                    <a:solidFill>
                      <a:srgbClr val="F0F5FC"/>
                    </a:solidFill>
                  </a:tcPr>
                </a:tc>
                <a:tc>
                  <a:txBody>
                    <a:bodyPr/>
                    <a:lstStyle/>
                    <a:p>
                      <a:r>
                        <a:rPr sz="1060" b="0">
                          <a:solidFill>
                            <a:srgbClr val="1F2937"/>
                          </a:solidFill>
                          <a:latin typeface="Source Han Sans SC"/>
                        </a:rPr>
                        <a:t>1 898</a:t>
                      </a:r>
                    </a:p>
                  </a:txBody>
                  <a:tcPr>
                    <a:solidFill>
                      <a:srgbClr val="F0F5FC"/>
                    </a:solidFill>
                  </a:tcPr>
                </a:tc>
                <a:tc>
                  <a:txBody>
                    <a:bodyPr/>
                    <a:lstStyle/>
                    <a:p>
                      <a:r>
                        <a:rPr sz="1060" b="0">
                          <a:solidFill>
                            <a:srgbClr val="1F2937"/>
                          </a:solidFill>
                          <a:latin typeface="Source Han Sans SC"/>
                        </a:rPr>
                        <a:t>0.999±0.001</a:t>
                      </a:r>
                    </a:p>
                  </a:txBody>
                  <a:tcPr>
                    <a:solidFill>
                      <a:srgbClr val="F0F5FC"/>
                    </a:solidFill>
                  </a:tcPr>
                </a:tc>
                <a:tc>
                  <a:txBody>
                    <a:bodyPr/>
                    <a:lstStyle/>
                    <a:p>
                      <a:r>
                        <a:rPr sz="1060" b="0">
                          <a:solidFill>
                            <a:srgbClr val="1F2937"/>
                          </a:solidFill>
                          <a:latin typeface="Source Han Sans SC"/>
                        </a:rPr>
                        <a:t>0.970±0.010</a:t>
                      </a:r>
                    </a:p>
                  </a:txBody>
                  <a:tcPr>
                    <a:solidFill>
                      <a:srgbClr val="F0F5FC"/>
                    </a:solidFill>
                  </a:tcPr>
                </a:tc>
                <a:tc>
                  <a:txBody>
                    <a:bodyPr/>
                    <a:lstStyle/>
                    <a:p>
                      <a:r>
                        <a:rPr sz="1060" b="0">
                          <a:solidFill>
                            <a:srgbClr val="1F2937"/>
                          </a:solidFill>
                          <a:latin typeface="Source Han Sans SC"/>
                        </a:rPr>
                        <a:t>**0.981±0.008**</a:t>
                      </a:r>
                    </a:p>
                  </a:txBody>
                  <a:tcPr>
                    <a:solidFill>
                      <a:srgbClr val="F0F5FC"/>
                    </a:solidFill>
                  </a:tcPr>
                </a:tc>
              </a:tr>
              <a:tr h="483479">
                <a:tc>
                  <a:txBody>
                    <a:bodyPr/>
                    <a:lstStyle/>
                    <a:p>
                      <a:r>
                        <a:rPr sz="1060" b="1">
                          <a:solidFill>
                            <a:srgbClr val="1F2937"/>
                          </a:solidFill>
                          <a:latin typeface="Source Han Sans SC"/>
                        </a:rPr>
                        <a:t>CNN wide 16/32</a:t>
                      </a:r>
                    </a:p>
                    <a:p>
                      <a:pPr>
                        <a:lnSpc>
                          <a:spcPct val="100000"/>
                        </a:lnSpc>
                      </a:pPr>
                      <a:r>
                        <a:rPr sz="900" b="0">
                          <a:solidFill>
                            <a:srgbClr val="6B7280"/>
                          </a:solidFill>
                          <a:latin typeface="Source Han Sans SC"/>
                        </a:rPr>
                        <a:t>CNN 宽 16/32</a:t>
                      </a:r>
                    </a:p>
                  </a:txBody>
                  <a:tcPr>
                    <a:solidFill>
                      <a:srgbClr val="FFFFFF"/>
                    </a:solidFill>
                  </a:tcPr>
                </a:tc>
                <a:tc>
                  <a:txBody>
                    <a:bodyPr/>
                    <a:lstStyle/>
                    <a:p>
                      <a:r>
                        <a:rPr sz="1060" b="0">
                          <a:solidFill>
                            <a:srgbClr val="1F2937"/>
                          </a:solidFill>
                          <a:latin typeface="Source Han Sans SC"/>
                        </a:rPr>
                        <a:t>21 312</a:t>
                      </a:r>
                    </a:p>
                  </a:txBody>
                  <a:tcPr>
                    <a:solidFill>
                      <a:srgbClr val="FFFFFF"/>
                    </a:solidFill>
                  </a:tcPr>
                </a:tc>
                <a:tc>
                  <a:txBody>
                    <a:bodyPr/>
                    <a:lstStyle/>
                    <a:p>
                      <a:r>
                        <a:rPr sz="1060" b="0">
                          <a:solidFill>
                            <a:srgbClr val="1F2937"/>
                          </a:solidFill>
                          <a:latin typeface="Source Han Sans SC"/>
                        </a:rPr>
                        <a:t>0.999±0.001</a:t>
                      </a:r>
                    </a:p>
                  </a:txBody>
                  <a:tcPr>
                    <a:solidFill>
                      <a:srgbClr val="FFFFFF"/>
                    </a:solidFill>
                  </a:tcPr>
                </a:tc>
                <a:tc>
                  <a:txBody>
                    <a:bodyPr/>
                    <a:lstStyle/>
                    <a:p>
                      <a:r>
                        <a:rPr sz="1060" b="0">
                          <a:solidFill>
                            <a:srgbClr val="1F2937"/>
                          </a:solidFill>
                          <a:latin typeface="Source Han Sans SC"/>
                        </a:rPr>
                        <a:t>0.976±0.006</a:t>
                      </a:r>
                    </a:p>
                  </a:txBody>
                  <a:tcPr>
                    <a:solidFill>
                      <a:srgbClr val="FFFFFF"/>
                    </a:solidFill>
                  </a:tcPr>
                </a:tc>
                <a:tc>
                  <a:txBody>
                    <a:bodyPr/>
                    <a:lstStyle/>
                    <a:p>
                      <a:r>
                        <a:rPr sz="1060" b="0">
                          <a:solidFill>
                            <a:srgbClr val="1F2937"/>
                          </a:solidFill>
                          <a:latin typeface="Source Han Sans SC"/>
                        </a:rPr>
                        <a:t>0.987±0.008</a:t>
                      </a:r>
                    </a:p>
                  </a:txBody>
                  <a:tcPr>
                    <a:solidFill>
                      <a:srgbClr val="FFFFFF"/>
                    </a:solidFill>
                  </a:tcPr>
                </a:tc>
              </a:tr>
              <a:tr h="483479">
                <a:tc>
                  <a:txBody>
                    <a:bodyPr/>
                    <a:lstStyle/>
                    <a:p>
                      <a:r>
                        <a:rPr sz="1060" b="1">
                          <a:solidFill>
                            <a:srgbClr val="1F2937"/>
                          </a:solidFill>
                          <a:latin typeface="Source Han Sans SC"/>
                        </a:rPr>
                        <a:t>CNN + average pooling</a:t>
                      </a:r>
                    </a:p>
                    <a:p>
                      <a:pPr>
                        <a:lnSpc>
                          <a:spcPct val="100000"/>
                        </a:lnSpc>
                      </a:pPr>
                      <a:r>
                        <a:rPr sz="900" b="0">
                          <a:solidFill>
                            <a:srgbClr val="6B7280"/>
                          </a:solidFill>
                          <a:latin typeface="Source Han Sans SC"/>
                        </a:rPr>
                        <a:t>CNN + 平均池化</a:t>
                      </a:r>
                    </a:p>
                  </a:txBody>
                  <a:tcPr>
                    <a:solidFill>
                      <a:srgbClr val="F0F5FC"/>
                    </a:solidFill>
                  </a:tcPr>
                </a:tc>
                <a:tc>
                  <a:txBody>
                    <a:bodyPr/>
                    <a:lstStyle/>
                    <a:p>
                      <a:r>
                        <a:rPr sz="1060" b="0">
                          <a:solidFill>
                            <a:srgbClr val="1F2937"/>
                          </a:solidFill>
                          <a:latin typeface="Source Han Sans SC"/>
                        </a:rPr>
                        <a:t>1 898</a:t>
                      </a:r>
                    </a:p>
                  </a:txBody>
                  <a:tcPr>
                    <a:solidFill>
                      <a:srgbClr val="F0F5FC"/>
                    </a:solidFill>
                  </a:tcPr>
                </a:tc>
                <a:tc>
                  <a:txBody>
                    <a:bodyPr/>
                    <a:lstStyle/>
                    <a:p>
                      <a:r>
                        <a:rPr sz="1060" b="0">
                          <a:solidFill>
                            <a:srgbClr val="1F2937"/>
                          </a:solidFill>
                          <a:latin typeface="Source Han Sans SC"/>
                        </a:rPr>
                        <a:t>0.950±0.009</a:t>
                      </a:r>
                    </a:p>
                  </a:txBody>
                  <a:tcPr>
                    <a:solidFill>
                      <a:srgbClr val="F0F5FC"/>
                    </a:solidFill>
                  </a:tcPr>
                </a:tc>
                <a:tc>
                  <a:txBody>
                    <a:bodyPr/>
                    <a:lstStyle/>
                    <a:p>
                      <a:r>
                        <a:rPr sz="1060" b="0">
                          <a:solidFill>
                            <a:srgbClr val="1F2937"/>
                          </a:solidFill>
                          <a:latin typeface="Source Han Sans SC"/>
                        </a:rPr>
                        <a:t>0.929±0.016</a:t>
                      </a:r>
                    </a:p>
                  </a:txBody>
                  <a:tcPr>
                    <a:solidFill>
                      <a:srgbClr val="F0F5FC"/>
                    </a:solidFill>
                  </a:tcPr>
                </a:tc>
                <a:tc>
                  <a:txBody>
                    <a:bodyPr/>
                    <a:lstStyle/>
                    <a:p>
                      <a:r>
                        <a:rPr sz="1060" b="0">
                          <a:solidFill>
                            <a:srgbClr val="1F2937"/>
                          </a:solidFill>
                          <a:latin typeface="Source Han Sans SC"/>
                        </a:rPr>
                        <a:t>0.940±0.008</a:t>
                      </a:r>
                    </a:p>
                  </a:txBody>
                  <a:tcPr>
                    <a:solidFill>
                      <a:srgbClr val="F0F5FC"/>
                    </a:solidFill>
                  </a:tcPr>
                </a:tc>
              </a:tr>
              <a:tr h="483481">
                <a:tc>
                  <a:txBody>
                    <a:bodyPr/>
                    <a:lstStyle/>
                    <a:p>
                      <a:r>
                        <a:rPr sz="1060" b="1">
                          <a:solidFill>
                            <a:srgbClr val="1F2937"/>
                          </a:solidFill>
                          <a:latin typeface="Source Han Sans SC"/>
                        </a:rPr>
                        <a:t>CNN + ±1px augmentation</a:t>
                      </a:r>
                    </a:p>
                    <a:p>
                      <a:pPr>
                        <a:lnSpc>
                          <a:spcPct val="100000"/>
                        </a:lnSpc>
                      </a:pPr>
                      <a:r>
                        <a:rPr sz="900" b="0">
                          <a:solidFill>
                            <a:srgbClr val="6B7280"/>
                          </a:solidFill>
                          <a:latin typeface="Source Han Sans SC"/>
                        </a:rPr>
                        <a:t>CNN + ±1px 增强</a:t>
                      </a:r>
                    </a:p>
                  </a:txBody>
                  <a:tcPr>
                    <a:solidFill>
                      <a:srgbClr val="FFFFFF"/>
                    </a:solidFill>
                  </a:tcPr>
                </a:tc>
                <a:tc>
                  <a:txBody>
                    <a:bodyPr/>
                    <a:lstStyle/>
                    <a:p>
                      <a:r>
                        <a:rPr sz="1060" b="0">
                          <a:solidFill>
                            <a:srgbClr val="1F2937"/>
                          </a:solidFill>
                          <a:latin typeface="Source Han Sans SC"/>
                        </a:rPr>
                        <a:t>1 898</a:t>
                      </a:r>
                    </a:p>
                  </a:txBody>
                  <a:tcPr>
                    <a:solidFill>
                      <a:srgbClr val="FFFFFF"/>
                    </a:solidFill>
                  </a:tcPr>
                </a:tc>
                <a:tc>
                  <a:txBody>
                    <a:bodyPr/>
                    <a:lstStyle/>
                    <a:p>
                      <a:r>
                        <a:rPr sz="1060" b="0">
                          <a:solidFill>
                            <a:srgbClr val="1F2937"/>
                          </a:solidFill>
                          <a:latin typeface="Source Han Sans SC"/>
                        </a:rPr>
                        <a:t>0.954±0.012</a:t>
                      </a:r>
                    </a:p>
                  </a:txBody>
                  <a:tcPr>
                    <a:solidFill>
                      <a:srgbClr val="FFFFFF"/>
                    </a:solidFill>
                  </a:tcPr>
                </a:tc>
                <a:tc>
                  <a:txBody>
                    <a:bodyPr/>
                    <a:lstStyle/>
                    <a:p>
                      <a:r>
                        <a:rPr sz="1060" b="0">
                          <a:solidFill>
                            <a:srgbClr val="1F2937"/>
                          </a:solidFill>
                          <a:latin typeface="Source Han Sans SC"/>
                        </a:rPr>
                        <a:t>0.939±0.017</a:t>
                      </a:r>
                    </a:p>
                  </a:txBody>
                  <a:tcPr>
                    <a:solidFill>
                      <a:srgbClr val="FFFFFF"/>
                    </a:solidFill>
                  </a:tcPr>
                </a:tc>
                <a:tc>
                  <a:txBody>
                    <a:bodyPr/>
                    <a:lstStyle/>
                    <a:p>
                      <a:r>
                        <a:rPr sz="1060" b="0">
                          <a:solidFill>
                            <a:srgbClr val="1F2937"/>
                          </a:solidFill>
                          <a:latin typeface="Source Han Sans SC"/>
                        </a:rPr>
                        <a:t>0.950±0.022</a:t>
                      </a:r>
                    </a:p>
                  </a:txBody>
                  <a:tcPr>
                    <a:solidFill>
                      <a:srgbClr val="FFFFFF"/>
                    </a:solidFill>
                  </a:tcPr>
                </a:tc>
              </a:tr>
            </a:tbl>
          </a:graphicData>
        </a:graphic>
      </p:graphicFrame>
      <p:sp>
        <p:nvSpPr>
          <p:cNvPr id="10" name="TextBox 9"/>
          <p:cNvSpPr txBox="1"/>
          <p:nvPr/>
        </p:nvSpPr>
        <p:spPr>
          <a:xfrm>
            <a:off x="799200" y="4178876"/>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Three things. (1) Conv against dense is a 0.002 gap against a 0.008 sd, so we write NOT OBSERVED, not "conv wins". (2) Going wide (21,312 params) genuinely helps, 0.987 — but it is now bigger than the dense net; you paid in parameters. (3) Augmentation on its own is WORSE: 0.981 → 0.950. Next page explains why that is not a failure.</a:t>
            </a:r>
          </a:p>
          <a:p>
            <a:pPr algn="l">
              <a:lnSpc>
                <a:spcPct val="105000"/>
              </a:lnSpc>
              <a:spcBef>
                <a:spcPts val="150"/>
              </a:spcBef>
            </a:pPr>
            <a:r>
              <a:rPr sz="900" b="0" i="0">
                <a:solidFill>
                  <a:srgbClr val="6B7280"/>
                </a:solidFill>
                <a:latin typeface="Source Han Sans SC"/>
              </a:rPr>
              <a:t>三件事：① 卷积与全连接的测试差 0.002 &lt; 一个标准差 0.008 → **写「未观察到显著差异」**，不写「卷积更好」。② 变宽（21 312 参数）确实更好，0.987，但它已经比全连接还大——你付出的是参数。③ 增强单独看是**变差**的：0.981 → 0.950。下一页解释为什么这不是失败。</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9742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97429"/>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597617"/>
          </a:xfrm>
          <a:prstGeom prst="rect">
            <a:avLst/>
          </a:prstGeom>
          <a:noFill/>
        </p:spPr>
        <p:txBody>
          <a:bodyPr wrap="square" anchor="t" lIns="0" rIns="0" tIns="0" bIns="0">
            <a:spAutoFit/>
          </a:bodyPr>
          <a:lstStyle/>
          <a:p>
            <a:pPr algn="l">
              <a:lnSpc>
                <a:spcPct val="114000"/>
              </a:lnSpc>
            </a:pPr>
            <a:r>
              <a:rPr sz="1350" b="1" i="0">
                <a:solidFill>
                  <a:srgbClr val="0E3F8C"/>
                </a:solidFill>
                <a:latin typeface="Source Han Sans SC"/>
              </a:rPr>
              <a:t>Translate the test images and the gap appears</a:t>
            </a:r>
          </a:p>
          <a:p>
            <a:pPr algn="l">
              <a:lnSpc>
                <a:spcPct val="105000"/>
              </a:lnSpc>
              <a:spcBef>
                <a:spcPts val="150"/>
              </a:spcBef>
            </a:pPr>
            <a:r>
              <a:rPr sz="1050" b="0" i="0">
                <a:solidFill>
                  <a:srgbClr val="6B7280"/>
                </a:solidFill>
                <a:latin typeface="Source Han Sans SC"/>
              </a:rPr>
              <a:t>把测试图平移一下，差距就出来了</a:t>
            </a:r>
          </a:p>
        </p:txBody>
      </p:sp>
      <p:sp>
        <p:nvSpPr>
          <p:cNvPr id="6" name="TextBox 5"/>
          <p:cNvSpPr txBox="1"/>
          <p:nvPr/>
        </p:nvSpPr>
        <p:spPr>
          <a:xfrm>
            <a:off x="799200" y="619217"/>
            <a:ext cx="7713719" cy="435811"/>
          </a:xfrm>
          <a:prstGeom prst="rect">
            <a:avLst/>
          </a:prstGeom>
          <a:noFill/>
        </p:spPr>
        <p:txBody>
          <a:bodyPr wrap="square" anchor="t" lIns="0" rIns="0" tIns="0" bIns="0">
            <a:spAutoFit/>
          </a:bodyPr>
          <a:lstStyle/>
          <a:p>
            <a:pPr algn="l">
              <a:lnSpc>
                <a:spcPct val="114000"/>
              </a:lnSpc>
            </a:pPr>
            <a:r>
              <a:rPr sz="900" b="0" i="0">
                <a:solidFill>
                  <a:srgbClr val="6B7280"/>
                </a:solidFill>
                <a:latin typeface="Source Han Sans SC"/>
              </a:rPr>
              <a:t>Test images translated by dx columns at test time (zero-filled edges), no weight change; each cell is a mean over 5 seeds</a:t>
            </a:r>
          </a:p>
          <a:p>
            <a:pPr algn="l">
              <a:lnSpc>
                <a:spcPct val="105000"/>
              </a:lnSpc>
              <a:spcBef>
                <a:spcPts val="150"/>
              </a:spcBef>
            </a:pPr>
            <a:r>
              <a:rPr sz="800" b="0" i="0">
                <a:solidFill>
                  <a:srgbClr val="6B7280"/>
                </a:solidFill>
                <a:latin typeface="Source Han Sans SC"/>
              </a:rPr>
              <a:t>测试时把整张图平移 dx 列（用 0 填充边缘），不动任何权重；每个格是 5 个种子的均值</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measured · 5 seeds</a:t>
            </a:r>
            <a:r>
              <a:rPr sz="800" b="0" i="0">
                <a:solidFill>
                  <a:srgbClr val="6B7280"/>
                </a:solidFill>
                <a:latin typeface="Source Han Sans SC"/>
              </a:rPr>
              <a:t> ｜ </a:t>
            </a:r>
            <a:r>
              <a:rPr sz="800" b="0" i="0">
                <a:solidFill>
                  <a:srgbClr val="6B7280"/>
                </a:solidFill>
                <a:latin typeface="Source Han Sans SC"/>
              </a:rPr>
              <a:t>实测 · 5 种子</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19 / 32</a:t>
            </a:r>
          </a:p>
        </p:txBody>
      </p:sp>
      <p:graphicFrame>
        <p:nvGraphicFramePr>
          <p:cNvPr id="10" name="Chart 9"/>
          <p:cNvGraphicFramePr>
            <a:graphicFrameLocks noGrp="1"/>
          </p:cNvGraphicFramePr>
          <p:nvPr/>
        </p:nvGraphicFramePr>
        <p:xfrm>
          <a:off x="799200" y="1152000"/>
          <a:ext cx="6840000" cy="4031999"/>
        </p:xfrm>
        <a:graphic>
          <a:graphicData uri="http://schemas.openxmlformats.org/drawingml/2006/chart">
            <c:chart xmlns:c="http://schemas.openxmlformats.org/drawingml/2006/chart" r:id="rId2"/>
          </a:graphicData>
        </a:graphic>
      </p:graphicFrame>
      <p:sp>
        <p:nvSpPr>
          <p:cNvPr id="11" name="TextBox 10"/>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150" b="0" i="0">
                <a:solidFill>
                  <a:srgbClr val="1F2937"/>
                </a:solidFill>
                <a:latin typeface="Source Han Sans SC"/>
              </a:rPr>
              <a:t>• At dx = -1: dense 0.4555, conv 0.6481, augmented 0.9415.</a:t>
            </a:r>
            <a:r>
              <a:rPr sz="900" b="0" i="0">
                <a:solidFill>
                  <a:srgbClr val="6B7280"/>
                </a:solidFill>
                <a:latin typeface="Source Han Sans SC"/>
              </a:rPr>
              <a:t> ｜ </a:t>
            </a:r>
            <a:r>
              <a:rPr sz="900" b="0" i="0">
                <a:solidFill>
                  <a:srgbClr val="6B7280"/>
                </a:solidFill>
                <a:latin typeface="Source Han Sans SC"/>
              </a:rPr>
              <a:t>• dx = −1：全连接 0.4555 / 卷积 0.6481 / 增强 0.9415。</a:t>
            </a:r>
          </a:p>
          <a:p>
            <a:pPr algn="l">
              <a:lnSpc>
                <a:spcPct val="145000"/>
              </a:lnSpc>
              <a:spcAft>
                <a:spcPts val="800"/>
              </a:spcAft>
            </a:pPr>
            <a:r>
              <a:rPr sz="1150" b="0" i="0">
                <a:solidFill>
                  <a:srgbClr val="1F2937"/>
                </a:solidFill>
                <a:latin typeface="Source Han Sans SC"/>
              </a:rPr>
              <a:t>• Look at dx = 0: the augmented model is the LOWEST of the three at 0.9504.</a:t>
            </a:r>
            <a:r>
              <a:rPr sz="900" b="0" i="0">
                <a:solidFill>
                  <a:srgbClr val="6B7280"/>
                </a:solidFill>
                <a:latin typeface="Source Han Sans SC"/>
              </a:rPr>
              <a:t> ｜ </a:t>
            </a:r>
            <a:r>
              <a:rPr sz="900" b="0" i="0">
                <a:solidFill>
                  <a:srgbClr val="6B7280"/>
                </a:solidFill>
                <a:latin typeface="Source Han Sans SC"/>
              </a:rPr>
              <a:t>• 注意 dx = 0 那一列：增强只有 0.9504，是三条里**最低**的。</a:t>
            </a:r>
          </a:p>
          <a:p>
            <a:pPr algn="l">
              <a:lnSpc>
                <a:spcPct val="145000"/>
              </a:lnSpc>
              <a:spcAft>
                <a:spcPts val="800"/>
              </a:spcAft>
            </a:pPr>
            <a:r>
              <a:rPr sz="1150" b="0" i="0">
                <a:solidFill>
                  <a:srgbClr val="1F2937"/>
                </a:solidFill>
                <a:latin typeface="Source Han Sans SC"/>
              </a:rPr>
              <a:t>• Augmentation did not raise the ceiling; it flattened the curve.</a:t>
            </a:r>
            <a:r>
              <a:rPr sz="900" b="0" i="0">
                <a:solidFill>
                  <a:srgbClr val="6B7280"/>
                </a:solidFill>
                <a:latin typeface="Source Han Sans SC"/>
              </a:rPr>
              <a:t> ｜ </a:t>
            </a:r>
            <a:r>
              <a:rPr sz="900" b="0" i="0">
                <a:solidFill>
                  <a:srgbClr val="6B7280"/>
                </a:solidFill>
                <a:latin typeface="Source Han Sans SC"/>
              </a:rPr>
              <a:t>• 增强没有提升上限，它把曲线**压平**了。</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The augmentation ledger: +29 bought, −3 paid</a:t>
            </a:r>
          </a:p>
          <a:p>
            <a:pPr algn="l">
              <a:lnSpc>
                <a:spcPct val="105000"/>
              </a:lnSpc>
              <a:spcBef>
                <a:spcPts val="150"/>
              </a:spcBef>
            </a:pPr>
            <a:r>
              <a:rPr sz="1210" b="0" i="0">
                <a:solidFill>
                  <a:srgbClr val="6B7280"/>
                </a:solidFill>
                <a:latin typeface="Source Han Sans SC"/>
              </a:rPr>
              <a:t>增强的账本：买 +29 个点，付 −3 个点</a:t>
            </a:r>
          </a:p>
        </p:txBody>
      </p:sp>
      <p:sp>
        <p:nvSpPr>
          <p:cNvPr id="6" name="TextBox 5"/>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the page worth remembering</a:t>
            </a:r>
            <a:r>
              <a:rPr sz="800" b="0" i="0">
                <a:solidFill>
                  <a:srgbClr val="6B7280"/>
                </a:solidFill>
                <a:latin typeface="Source Han Sans SC"/>
              </a:rPr>
              <a:t> ｜ </a:t>
            </a:r>
            <a:r>
              <a:rPr sz="800" b="0" i="0">
                <a:solidFill>
                  <a:srgbClr val="6B7280"/>
                </a:solidFill>
                <a:latin typeface="Source Han Sans SC"/>
              </a:rPr>
              <a:t>本周最值得记住的一页</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20 / 32</a:t>
            </a:r>
          </a:p>
        </p:txBody>
      </p:sp>
      <p:sp>
        <p:nvSpPr>
          <p:cNvPr id="9" name="Rectangle 8"/>
          <p:cNvSpPr/>
          <p:nvPr/>
        </p:nvSpPr>
        <p:spPr>
          <a:xfrm>
            <a:off x="799200"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70000"/>
            <a:ext cx="5143859"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15200"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Bought (robustness)</a:t>
            </a:r>
          </a:p>
          <a:p>
            <a:pPr algn="l">
              <a:lnSpc>
                <a:spcPct val="105000"/>
              </a:lnSpc>
              <a:spcBef>
                <a:spcPts val="150"/>
              </a:spcBef>
            </a:pPr>
            <a:r>
              <a:rPr sz="1250" b="0" i="0">
                <a:solidFill>
                  <a:srgbClr val="CFDDF2"/>
                </a:solidFill>
                <a:latin typeface="Source Han Sans SC"/>
              </a:rPr>
              <a:t>买到（鲁棒性）</a:t>
            </a:r>
          </a:p>
        </p:txBody>
      </p:sp>
      <p:sp>
        <p:nvSpPr>
          <p:cNvPr id="12" name="TextBox 11"/>
          <p:cNvSpPr txBox="1"/>
          <p:nvPr/>
        </p:nvSpPr>
        <p:spPr>
          <a:xfrm>
            <a:off x="1015200" y="1890000"/>
            <a:ext cx="4711859" cy="3276000"/>
          </a:xfrm>
          <a:prstGeom prst="rect">
            <a:avLst/>
          </a:prstGeom>
          <a:noFill/>
        </p:spPr>
        <p:txBody>
          <a:bodyPr wrap="square" anchor="t" lIns="0" rIns="0" tIns="0" bIns="0">
            <a:spAutoFit/>
          </a:bodyPr>
          <a:lstStyle/>
          <a:p>
            <a:pPr algn="l">
              <a:lnSpc>
                <a:spcPct val="140000"/>
              </a:lnSpc>
              <a:spcAft>
                <a:spcPts val="800"/>
              </a:spcAft>
            </a:pPr>
            <a:r>
              <a:rPr sz="1150" b="0" i="0">
                <a:solidFill>
                  <a:srgbClr val="1F2937"/>
                </a:solidFill>
                <a:latin typeface="Source Han Sans SC"/>
              </a:rPr>
              <a:t>• dx = -1: 0.6481 → 0.9415, +29.3 points</a:t>
            </a:r>
            <a:r>
              <a:rPr sz="900" b="0" i="0">
                <a:solidFill>
                  <a:srgbClr val="6B7280"/>
                </a:solidFill>
                <a:latin typeface="Source Han Sans SC"/>
              </a:rPr>
              <a:t> ｜ </a:t>
            </a:r>
            <a:r>
              <a:rPr sz="900" b="0" i="0">
                <a:solidFill>
                  <a:srgbClr val="6B7280"/>
                </a:solidFill>
                <a:latin typeface="Source Han Sans SC"/>
              </a:rPr>
              <a:t>• dx = −1：0.6481 → **0.9415**，+29.3 个点</a:t>
            </a:r>
          </a:p>
          <a:p>
            <a:pPr algn="l">
              <a:lnSpc>
                <a:spcPct val="140000"/>
              </a:lnSpc>
              <a:spcAft>
                <a:spcPts val="800"/>
              </a:spcAft>
            </a:pPr>
            <a:r>
              <a:rPr sz="1150" b="0" i="0">
                <a:solidFill>
                  <a:srgbClr val="1F2937"/>
                </a:solidFill>
                <a:latin typeface="Source Han Sans SC"/>
              </a:rPr>
              <a:t>• dx = -2: 0.2348 → 0.5170, +28.2 points</a:t>
            </a:r>
            <a:r>
              <a:rPr sz="900" b="0" i="0">
                <a:solidFill>
                  <a:srgbClr val="6B7280"/>
                </a:solidFill>
                <a:latin typeface="Source Han Sans SC"/>
              </a:rPr>
              <a:t> ｜ </a:t>
            </a:r>
            <a:r>
              <a:rPr sz="900" b="0" i="0">
                <a:solidFill>
                  <a:srgbClr val="6B7280"/>
                </a:solidFill>
                <a:latin typeface="Source Han Sans SC"/>
              </a:rPr>
              <a:t>• dx = −2：0.2348 → **0.5170**，+28.2 个点</a:t>
            </a:r>
          </a:p>
          <a:p>
            <a:pPr algn="l">
              <a:lnSpc>
                <a:spcPct val="140000"/>
              </a:lnSpc>
              <a:spcAft>
                <a:spcPts val="800"/>
              </a:spcAft>
            </a:pPr>
            <a:r>
              <a:rPr sz="1150" b="0" i="0">
                <a:solidFill>
                  <a:srgbClr val="1F2937"/>
                </a:solidFill>
                <a:latin typeface="Source Han Sans SC"/>
              </a:rPr>
              <a:t>• The training curve no longer runs to 1.000 (0.9292 at epoch 115); overfitting is held back</a:t>
            </a:r>
            <a:r>
              <a:rPr sz="900" b="0" i="0">
                <a:solidFill>
                  <a:srgbClr val="6B7280"/>
                </a:solidFill>
                <a:latin typeface="Source Han Sans SC"/>
              </a:rPr>
              <a:t> ｜ </a:t>
            </a:r>
            <a:r>
              <a:rPr sz="900" b="0" i="0">
                <a:solidFill>
                  <a:srgbClr val="6B7280"/>
                </a:solidFill>
                <a:latin typeface="Source Han Sans SC"/>
              </a:rPr>
              <a:t>• 训练曲线不再冲上 1.000（第 115 轮 0.9292），过拟合被压住</a:t>
            </a:r>
          </a:p>
        </p:txBody>
      </p:sp>
      <p:sp>
        <p:nvSpPr>
          <p:cNvPr id="13" name="Rectangle 12"/>
          <p:cNvSpPr/>
          <p:nvPr/>
        </p:nvSpPr>
        <p:spPr>
          <a:xfrm>
            <a:off x="6249059"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9059" y="1170000"/>
            <a:ext cx="5143859" cy="540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5059"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Paid (clean accuracy)</a:t>
            </a:r>
          </a:p>
          <a:p>
            <a:pPr algn="l">
              <a:lnSpc>
                <a:spcPct val="105000"/>
              </a:lnSpc>
              <a:spcBef>
                <a:spcPts val="150"/>
              </a:spcBef>
            </a:pPr>
            <a:r>
              <a:rPr sz="1250" b="0" i="0">
                <a:solidFill>
                  <a:srgbClr val="CFDDF2"/>
                </a:solidFill>
                <a:latin typeface="Source Han Sans SC"/>
              </a:rPr>
              <a:t>付出（干净精度）</a:t>
            </a:r>
          </a:p>
        </p:txBody>
      </p:sp>
      <p:sp>
        <p:nvSpPr>
          <p:cNvPr id="16" name="TextBox 15"/>
          <p:cNvSpPr txBox="1"/>
          <p:nvPr/>
        </p:nvSpPr>
        <p:spPr>
          <a:xfrm>
            <a:off x="6465059" y="1890000"/>
            <a:ext cx="4711859" cy="3276000"/>
          </a:xfrm>
          <a:prstGeom prst="rect">
            <a:avLst/>
          </a:prstGeom>
          <a:noFill/>
        </p:spPr>
        <p:txBody>
          <a:bodyPr wrap="square" anchor="t" lIns="0" rIns="0" tIns="0" bIns="0">
            <a:spAutoFit/>
          </a:bodyPr>
          <a:lstStyle/>
          <a:p>
            <a:pPr algn="l">
              <a:lnSpc>
                <a:spcPct val="140000"/>
              </a:lnSpc>
              <a:spcAft>
                <a:spcPts val="800"/>
              </a:spcAft>
            </a:pPr>
            <a:r>
              <a:rPr sz="1150" b="0" i="0">
                <a:solidFill>
                  <a:srgbClr val="1F2937"/>
                </a:solidFill>
                <a:latin typeface="Source Han Sans SC"/>
              </a:rPr>
              <a:t>• dx = 0: 0.9808 → 0.9504, -3.0 points</a:t>
            </a:r>
            <a:r>
              <a:rPr sz="900" b="0" i="0">
                <a:solidFill>
                  <a:srgbClr val="6B7280"/>
                </a:solidFill>
                <a:latin typeface="Source Han Sans SC"/>
              </a:rPr>
              <a:t> ｜ </a:t>
            </a:r>
            <a:r>
              <a:rPr sz="900" b="0" i="0">
                <a:solidFill>
                  <a:srgbClr val="6B7280"/>
                </a:solidFill>
                <a:latin typeface="Source Han Sans SC"/>
              </a:rPr>
              <a:t>• dx = 0：0.9808 → **0.9504**，−3.0 个点</a:t>
            </a:r>
          </a:p>
          <a:p>
            <a:pPr algn="l">
              <a:lnSpc>
                <a:spcPct val="140000"/>
              </a:lnSpc>
              <a:spcAft>
                <a:spcPts val="800"/>
              </a:spcAft>
            </a:pPr>
            <a:r>
              <a:rPr sz="1150" b="0" i="0">
                <a:solidFill>
                  <a:srgbClr val="1F2937"/>
                </a:solidFill>
                <a:latin typeface="Source Han Sans SC"/>
              </a:rPr>
              <a:t>• Training accuracy falls 0.9912 → 0.9292 too — the cost is systematic, not noise</a:t>
            </a:r>
            <a:r>
              <a:rPr sz="900" b="0" i="0">
                <a:solidFill>
                  <a:srgbClr val="6B7280"/>
                </a:solidFill>
                <a:latin typeface="Source Han Sans SC"/>
              </a:rPr>
              <a:t> ｜ </a:t>
            </a:r>
            <a:r>
              <a:rPr sz="900" b="0" i="0">
                <a:solidFill>
                  <a:srgbClr val="6B7280"/>
                </a:solidFill>
                <a:latin typeface="Source Han Sans SC"/>
              </a:rPr>
              <a:t>• 训练准确率也从 0.9912 掉到 0.9292——**代价不是噪声，是系统性的**</a:t>
            </a:r>
          </a:p>
          <a:p>
            <a:pPr algn="l">
              <a:lnSpc>
                <a:spcPct val="140000"/>
              </a:lnSpc>
              <a:spcAft>
                <a:spcPts val="800"/>
              </a:spcAft>
            </a:pPr>
            <a:r>
              <a:rPr sz="1150" b="0" i="0">
                <a:solidFill>
                  <a:srgbClr val="1F2937"/>
                </a:solidFill>
                <a:latin typeface="Source Han Sans SC"/>
              </a:rPr>
              <a:t>• Time cost is negligible (two RNG shifts per batch); the real cost is re-tuning regularisation and epochs</a:t>
            </a:r>
            <a:r>
              <a:rPr sz="900" b="0" i="0">
                <a:solidFill>
                  <a:srgbClr val="6B7280"/>
                </a:solidFill>
                <a:latin typeface="Source Han Sans SC"/>
              </a:rPr>
              <a:t> ｜ </a:t>
            </a:r>
            <a:r>
              <a:rPr sz="900" b="0" i="0">
                <a:solidFill>
                  <a:srgbClr val="6B7280"/>
                </a:solidFill>
                <a:latin typeface="Source Han Sans SC"/>
              </a:rPr>
              <a:t>• 多花的时间：120 轮里每轮多做两次随机平移（可忽略）；真正贵的是你要重新调正则与轮数</a:t>
            </a:r>
          </a:p>
        </p:txBody>
      </p:sp>
      <p:sp>
        <p:nvSpPr>
          <p:cNvPr id="17" name="TextBox 16"/>
          <p:cNvSpPr txBox="1"/>
          <p:nvPr/>
        </p:nvSpPr>
        <p:spPr>
          <a:xfrm>
            <a:off x="799200" y="5436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So there is no universal answer to "should I augment". The question is whether your model will meet translated inputs. If users photograph the thing — yes, buy. If inputs are already cropped and aligned — no, you are buying nothing.</a:t>
            </a:r>
          </a:p>
          <a:p>
            <a:pPr algn="l">
              <a:lnSpc>
                <a:spcPct val="105000"/>
              </a:lnSpc>
              <a:spcBef>
                <a:spcPts val="150"/>
              </a:spcBef>
            </a:pPr>
            <a:r>
              <a:rPr sz="980" b="0" i="0">
                <a:solidFill>
                  <a:srgbClr val="6B7280"/>
                </a:solidFill>
                <a:latin typeface="Source Han Sans SC"/>
              </a:rPr>
              <a:t>**所以「加增强对不对」没有统一答案。** 问的是：你的模型会遇到平移过的输入吗？如果用户是拿手机拍的——会，那就买。如果输入已经被裁齐对齐——不会，那你只是在白买。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04</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04</a:t>
            </a:r>
          </a:p>
        </p:txBody>
      </p:sp>
      <p:sp>
        <p:nvSpPr>
          <p:cNvPr id="7" name="TextBox 6"/>
          <p:cNvSpPr txBox="1"/>
          <p:nvPr/>
        </p:nvSpPr>
        <p:spPr>
          <a:xfrm>
            <a:off x="2379600" y="1105200"/>
            <a:ext cx="5040000" cy="1098598"/>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Where it fails</a:t>
            </a:r>
          </a:p>
          <a:p>
            <a:pPr algn="l">
              <a:lnSpc>
                <a:spcPct val="105000"/>
              </a:lnSpc>
              <a:spcBef>
                <a:spcPts val="150"/>
              </a:spcBef>
            </a:pPr>
            <a:r>
              <a:rPr sz="2340" b="0" i="0">
                <a:solidFill>
                  <a:srgbClr val="6B7280"/>
                </a:solidFill>
                <a:latin typeface="Source Han Sans SC"/>
              </a:rPr>
              <a:t>看它错在哪</a:t>
            </a:r>
          </a:p>
        </p:txBody>
      </p:sp>
      <p:sp>
        <p:nvSpPr>
          <p:cNvPr id="8" name="TextBox 7"/>
          <p:cNvSpPr txBox="1"/>
          <p:nvPr/>
        </p:nvSpPr>
        <p:spPr>
          <a:xfrm>
            <a:off x="799200" y="2736000"/>
            <a:ext cx="8640000" cy="129461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"98%" is not a result, it is an unfinished sentence. The confusion matrix is the table that turns it into "which two classes it hesitates between".</a:t>
            </a:r>
          </a:p>
          <a:p>
            <a:pPr algn="l">
              <a:lnSpc>
                <a:spcPct val="105000"/>
              </a:lnSpc>
              <a:spcBef>
                <a:spcPts val="150"/>
              </a:spcBef>
            </a:pPr>
            <a:r>
              <a:rPr sz="1170" b="0" i="0">
                <a:solidFill>
                  <a:srgbClr val="6B7280"/>
                </a:solidFill>
                <a:latin typeface="Source Han Sans SC"/>
              </a:rPr>
              <a:t>「98%」不是一个结果，是一个不完整的句子。
混淆矩阵才是把「98%」翻译成「它在哪两类之间犹豫」的那张表。</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1350</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test predictions (5 seeds)</a:t>
            </a:r>
          </a:p>
          <a:p>
            <a:pPr algn="l">
              <a:lnSpc>
                <a:spcPct val="105000"/>
              </a:lnSpc>
              <a:spcBef>
                <a:spcPts val="150"/>
              </a:spcBef>
            </a:pPr>
            <a:r>
              <a:rPr sz="800" b="0" i="0">
                <a:solidFill>
                  <a:srgbClr val="6B7280"/>
                </a:solidFill>
                <a:latin typeface="Source Han Sans SC"/>
              </a:rPr>
              <a:t>个测试预测（5 种子合计）</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26</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off-diagonal errors</a:t>
            </a:r>
          </a:p>
          <a:p>
            <a:pPr algn="l">
              <a:lnSpc>
                <a:spcPct val="105000"/>
              </a:lnSpc>
              <a:spcBef>
                <a:spcPts val="150"/>
              </a:spcBef>
            </a:pPr>
            <a:r>
              <a:rPr sz="800" b="0" i="0">
                <a:solidFill>
                  <a:srgbClr val="6B7280"/>
                </a:solidFill>
                <a:latin typeface="Source Han Sans SC"/>
              </a:rPr>
              <a:t>个非对角错误</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the digit 8</a:t>
            </a:r>
            <a:r>
              <a:rPr sz="1010" b="0" i="0">
                <a:solidFill>
                  <a:srgbClr val="6B7280"/>
                </a:solidFill>
                <a:latin typeface="Source Han Sans SC"/>
              </a:rPr>
              <a:t> ｜ </a:t>
            </a:r>
            <a:r>
              <a:rPr sz="1010" b="0" i="0">
                <a:solidFill>
                  <a:srgbClr val="6B7280"/>
                </a:solidFill>
                <a:latin typeface="Source Han Sans SC"/>
              </a:rPr>
              <a:t>数字 8</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worst class, recall 0.9538</a:t>
            </a:r>
          </a:p>
          <a:p>
            <a:pPr algn="l">
              <a:lnSpc>
                <a:spcPct val="105000"/>
              </a:lnSpc>
              <a:spcBef>
                <a:spcPts val="150"/>
              </a:spcBef>
            </a:pPr>
            <a:r>
              <a:rPr sz="800" b="0" i="0">
                <a:solidFill>
                  <a:srgbClr val="6B7280"/>
                </a:solidFill>
                <a:latin typeface="Source Han Sans SC"/>
              </a:rPr>
              <a:t>最差类，召回 0.9538</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21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9742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97429"/>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597617"/>
          </a:xfrm>
          <a:prstGeom prst="rect">
            <a:avLst/>
          </a:prstGeom>
          <a:noFill/>
        </p:spPr>
        <p:txBody>
          <a:bodyPr wrap="square" anchor="t" lIns="0" rIns="0" tIns="0" bIns="0">
            <a:spAutoFit/>
          </a:bodyPr>
          <a:lstStyle/>
          <a:p>
            <a:pPr algn="l">
              <a:lnSpc>
                <a:spcPct val="114000"/>
              </a:lnSpc>
            </a:pPr>
            <a:r>
              <a:rPr sz="1350" b="1" i="0">
                <a:solidFill>
                  <a:srgbClr val="0E3F8C"/>
                </a:solidFill>
                <a:latin typeface="Source Han Sans SC"/>
              </a:rPr>
              <a:t>Confusion matrix: 1,350 test predictions over 5 seeds</a:t>
            </a:r>
          </a:p>
          <a:p>
            <a:pPr algn="l">
              <a:lnSpc>
                <a:spcPct val="105000"/>
              </a:lnSpc>
              <a:spcBef>
                <a:spcPts val="150"/>
              </a:spcBef>
            </a:pPr>
            <a:r>
              <a:rPr sz="1050" b="0" i="0">
                <a:solidFill>
                  <a:srgbClr val="6B7280"/>
                </a:solidFill>
                <a:latin typeface="Source Han Sans SC"/>
              </a:rPr>
              <a:t>混淆矩阵：5 个种子、1350 个测试预测之和</a:t>
            </a:r>
          </a:p>
        </p:txBody>
      </p:sp>
      <p:sp>
        <p:nvSpPr>
          <p:cNvPr id="6" name="TextBox 5"/>
          <p:cNvSpPr txBox="1"/>
          <p:nvPr/>
        </p:nvSpPr>
        <p:spPr>
          <a:xfrm>
            <a:off x="799200" y="619217"/>
            <a:ext cx="7713719" cy="435811"/>
          </a:xfrm>
          <a:prstGeom prst="rect">
            <a:avLst/>
          </a:prstGeom>
          <a:noFill/>
        </p:spPr>
        <p:txBody>
          <a:bodyPr wrap="square" anchor="t" lIns="0" rIns="0" tIns="0" bIns="0">
            <a:spAutoFit/>
          </a:bodyPr>
          <a:lstStyle/>
          <a:p>
            <a:pPr algn="l">
              <a:lnSpc>
                <a:spcPct val="114000"/>
              </a:lnSpc>
            </a:pPr>
            <a:r>
              <a:rPr sz="900" b="0" i="0">
                <a:solidFill>
                  <a:srgbClr val="6B7280"/>
                </a:solidFill>
                <a:latin typeface="Source Han Sans SC"/>
              </a:rPr>
              <a:t>Row = true label, column = prediction. Diagonal is correct, off-diagonal is wrong. Total 1,350; correct 1,324 (0.9807)</a:t>
            </a:r>
          </a:p>
          <a:p>
            <a:pPr algn="l">
              <a:lnSpc>
                <a:spcPct val="105000"/>
              </a:lnSpc>
              <a:spcBef>
                <a:spcPts val="150"/>
              </a:spcBef>
            </a:pPr>
            <a:r>
              <a:rPr sz="800" b="0" i="0">
                <a:solidFill>
                  <a:srgbClr val="6B7280"/>
                </a:solidFill>
                <a:latin typeface="Source Han Sans SC"/>
              </a:rPr>
              <a:t>行＝真实标签，列＝模型判断。对角是正确，非对角是错误。合计 1350，正确 1324（0.9807）</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CNN 8/16</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22 / 32</a:t>
            </a:r>
          </a:p>
        </p:txBody>
      </p:sp>
      <p:graphicFrame>
        <p:nvGraphicFramePr>
          <p:cNvPr id="10" name="Table 9"/>
          <p:cNvGraphicFramePr>
            <a:graphicFrameLocks noGrp="1"/>
          </p:cNvGraphicFramePr>
          <p:nvPr/>
        </p:nvGraphicFramePr>
        <p:xfrm>
          <a:off x="799200" y="1152000"/>
          <a:ext cx="10594800" cy="3161816"/>
        </p:xfrm>
        <a:graphic>
          <a:graphicData uri="http://schemas.openxmlformats.org/drawingml/2006/table">
            <a:tbl>
              <a:tblPr firstRow="1" bandRow="1">
                <a:tableStyleId>{5C22544A-7EE6-4342-B048-85BDC9FD1C3A}</a:tableStyleId>
              </a:tblPr>
              <a:tblGrid>
                <a:gridCol w="1224000"/>
                <a:gridCol w="936000"/>
                <a:gridCol w="936000"/>
                <a:gridCol w="936000"/>
                <a:gridCol w="936000"/>
                <a:gridCol w="936000"/>
                <a:gridCol w="936000"/>
                <a:gridCol w="936000"/>
                <a:gridCol w="936000"/>
                <a:gridCol w="936000"/>
                <a:gridCol w="946800"/>
              </a:tblGrid>
              <a:tr h="287437">
                <a:tc>
                  <a:txBody>
                    <a:bodyPr/>
                    <a:lstStyle/>
                    <a:p>
                      <a:r>
                        <a:rPr sz="1080" b="1">
                          <a:solidFill>
                            <a:srgbClr val="FFFFFF"/>
                          </a:solidFill>
                          <a:latin typeface="Source Han Sans SC"/>
                        </a:rPr>
                        <a:t>true ↓ / pred →</a:t>
                      </a:r>
                    </a:p>
                    <a:p>
                      <a:pPr>
                        <a:lnSpc>
                          <a:spcPct val="100000"/>
                        </a:lnSpc>
                      </a:pPr>
                      <a:r>
                        <a:rPr sz="919" b="0">
                          <a:solidFill>
                            <a:srgbClr val="C3D4EF"/>
                          </a:solidFill>
                          <a:latin typeface="Source Han Sans SC"/>
                        </a:rPr>
                        <a:t>真↓ 判→</a:t>
                      </a:r>
                    </a:p>
                  </a:txBody>
                  <a:tcPr>
                    <a:solidFill>
                      <a:srgbClr val="0E3F8C"/>
                    </a:solidFill>
                  </a:tcPr>
                </a:tc>
                <a:tc>
                  <a:txBody>
                    <a:bodyPr/>
                    <a:lstStyle/>
                    <a:p>
                      <a:r>
                        <a:rPr sz="1080" b="1">
                          <a:solidFill>
                            <a:srgbClr val="FFFFFF"/>
                          </a:solidFill>
                          <a:latin typeface="Source Han Sans SC"/>
                        </a:rPr>
                        <a:t>0</a:t>
                      </a:r>
                    </a:p>
                  </a:txBody>
                  <a:tcPr>
                    <a:solidFill>
                      <a:srgbClr val="0E3F8C"/>
                    </a:solidFill>
                  </a:tcPr>
                </a:tc>
                <a:tc>
                  <a:txBody>
                    <a:bodyPr/>
                    <a:lstStyle/>
                    <a:p>
                      <a:r>
                        <a:rPr sz="1080" b="1">
                          <a:solidFill>
                            <a:srgbClr val="FFFFFF"/>
                          </a:solidFill>
                          <a:latin typeface="Source Han Sans SC"/>
                        </a:rPr>
                        <a:t>1</a:t>
                      </a:r>
                    </a:p>
                  </a:txBody>
                  <a:tcPr>
                    <a:solidFill>
                      <a:srgbClr val="0E3F8C"/>
                    </a:solidFill>
                  </a:tcPr>
                </a:tc>
                <a:tc>
                  <a:txBody>
                    <a:bodyPr/>
                    <a:lstStyle/>
                    <a:p>
                      <a:r>
                        <a:rPr sz="1080" b="1">
                          <a:solidFill>
                            <a:srgbClr val="FFFFFF"/>
                          </a:solidFill>
                          <a:latin typeface="Source Han Sans SC"/>
                        </a:rPr>
                        <a:t>2</a:t>
                      </a:r>
                    </a:p>
                  </a:txBody>
                  <a:tcPr>
                    <a:solidFill>
                      <a:srgbClr val="0E3F8C"/>
                    </a:solidFill>
                  </a:tcPr>
                </a:tc>
                <a:tc>
                  <a:txBody>
                    <a:bodyPr/>
                    <a:lstStyle/>
                    <a:p>
                      <a:r>
                        <a:rPr sz="1080" b="1">
                          <a:solidFill>
                            <a:srgbClr val="FFFFFF"/>
                          </a:solidFill>
                          <a:latin typeface="Source Han Sans SC"/>
                        </a:rPr>
                        <a:t>3</a:t>
                      </a:r>
                    </a:p>
                  </a:txBody>
                  <a:tcPr>
                    <a:solidFill>
                      <a:srgbClr val="0E3F8C"/>
                    </a:solidFill>
                  </a:tcPr>
                </a:tc>
                <a:tc>
                  <a:txBody>
                    <a:bodyPr/>
                    <a:lstStyle/>
                    <a:p>
                      <a:r>
                        <a:rPr sz="1080" b="1">
                          <a:solidFill>
                            <a:srgbClr val="FFFFFF"/>
                          </a:solidFill>
                          <a:latin typeface="Source Han Sans SC"/>
                        </a:rPr>
                        <a:t>4</a:t>
                      </a:r>
                    </a:p>
                  </a:txBody>
                  <a:tcPr>
                    <a:solidFill>
                      <a:srgbClr val="0E3F8C"/>
                    </a:solidFill>
                  </a:tcPr>
                </a:tc>
                <a:tc>
                  <a:txBody>
                    <a:bodyPr/>
                    <a:lstStyle/>
                    <a:p>
                      <a:r>
                        <a:rPr sz="1080" b="1">
                          <a:solidFill>
                            <a:srgbClr val="FFFFFF"/>
                          </a:solidFill>
                          <a:latin typeface="Source Han Sans SC"/>
                        </a:rPr>
                        <a:t>5</a:t>
                      </a:r>
                    </a:p>
                  </a:txBody>
                  <a:tcPr>
                    <a:solidFill>
                      <a:srgbClr val="0E3F8C"/>
                    </a:solidFill>
                  </a:tcPr>
                </a:tc>
                <a:tc>
                  <a:txBody>
                    <a:bodyPr/>
                    <a:lstStyle/>
                    <a:p>
                      <a:r>
                        <a:rPr sz="1080" b="1">
                          <a:solidFill>
                            <a:srgbClr val="FFFFFF"/>
                          </a:solidFill>
                          <a:latin typeface="Source Han Sans SC"/>
                        </a:rPr>
                        <a:t>6</a:t>
                      </a:r>
                    </a:p>
                  </a:txBody>
                  <a:tcPr>
                    <a:solidFill>
                      <a:srgbClr val="0E3F8C"/>
                    </a:solidFill>
                  </a:tcPr>
                </a:tc>
                <a:tc>
                  <a:txBody>
                    <a:bodyPr/>
                    <a:lstStyle/>
                    <a:p>
                      <a:r>
                        <a:rPr sz="1080" b="1">
                          <a:solidFill>
                            <a:srgbClr val="FFFFFF"/>
                          </a:solidFill>
                          <a:latin typeface="Source Han Sans SC"/>
                        </a:rPr>
                        <a:t>7</a:t>
                      </a:r>
                    </a:p>
                  </a:txBody>
                  <a:tcPr>
                    <a:solidFill>
                      <a:srgbClr val="0E3F8C"/>
                    </a:solidFill>
                  </a:tcPr>
                </a:tc>
                <a:tc>
                  <a:txBody>
                    <a:bodyPr/>
                    <a:lstStyle/>
                    <a:p>
                      <a:r>
                        <a:rPr sz="1080" b="1">
                          <a:solidFill>
                            <a:srgbClr val="FFFFFF"/>
                          </a:solidFill>
                          <a:latin typeface="Source Han Sans SC"/>
                        </a:rPr>
                        <a:t>8</a:t>
                      </a:r>
                    </a:p>
                  </a:txBody>
                  <a:tcPr>
                    <a:solidFill>
                      <a:srgbClr val="0E3F8C"/>
                    </a:solidFill>
                  </a:tcPr>
                </a:tc>
                <a:tc>
                  <a:txBody>
                    <a:bodyPr/>
                    <a:lstStyle/>
                    <a:p>
                      <a:r>
                        <a:rPr sz="1080" b="1">
                          <a:solidFill>
                            <a:srgbClr val="FFFFFF"/>
                          </a:solidFill>
                          <a:latin typeface="Source Han Sans SC"/>
                        </a:rPr>
                        <a:t>9</a:t>
                      </a:r>
                    </a:p>
                  </a:txBody>
                  <a:tcPr>
                    <a:solidFill>
                      <a:srgbClr val="0E3F8C"/>
                    </a:solidFill>
                  </a:tcPr>
                </a:tc>
              </a:tr>
              <a:tr h="287437">
                <a:tc>
                  <a:txBody>
                    <a:bodyPr/>
                    <a:lstStyle/>
                    <a:p>
                      <a:r>
                        <a:rPr sz="919" b="1">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**135**</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r>
              <a:tr h="287437">
                <a:tc>
                  <a:txBody>
                    <a:bodyPr/>
                    <a:lstStyle/>
                    <a:p>
                      <a:r>
                        <a:rPr sz="919" b="1">
                          <a:solidFill>
                            <a:srgbClr val="1F2937"/>
                          </a:solidFill>
                          <a:latin typeface="Source Han Sans SC"/>
                        </a:rPr>
                        <a:t>1</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**132**</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2</a:t>
                      </a:r>
                    </a:p>
                  </a:txBody>
                  <a:tcPr>
                    <a:solidFill>
                      <a:srgbClr val="F0F5FC"/>
                    </a:solidFill>
                  </a:tcPr>
                </a:tc>
                <a:tc>
                  <a:txBody>
                    <a:bodyPr/>
                    <a:lstStyle/>
                    <a:p>
                      <a:r>
                        <a:rPr sz="919" b="0">
                          <a:solidFill>
                            <a:srgbClr val="1F2937"/>
                          </a:solidFill>
                          <a:latin typeface="Source Han Sans SC"/>
                        </a:rPr>
                        <a:t>2</a:t>
                      </a:r>
                    </a:p>
                  </a:txBody>
                  <a:tcPr>
                    <a:solidFill>
                      <a:srgbClr val="F0F5FC"/>
                    </a:solidFill>
                  </a:tcPr>
                </a:tc>
              </a:tr>
              <a:tr h="287437">
                <a:tc>
                  <a:txBody>
                    <a:bodyPr/>
                    <a:lstStyle/>
                    <a:p>
                      <a:r>
                        <a:rPr sz="919" b="1">
                          <a:solidFill>
                            <a:srgbClr val="1F2937"/>
                          </a:solidFill>
                          <a:latin typeface="Source Han Sans SC"/>
                        </a:rPr>
                        <a:t>2</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**131**</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1</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r>
              <a:tr h="287437">
                <a:tc>
                  <a:txBody>
                    <a:bodyPr/>
                    <a:lstStyle/>
                    <a:p>
                      <a:r>
                        <a:rPr sz="919" b="1">
                          <a:solidFill>
                            <a:srgbClr val="1F2937"/>
                          </a:solidFill>
                          <a:latin typeface="Source Han Sans SC"/>
                        </a:rPr>
                        <a:t>3</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**134**</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r>
              <a:tr h="287437">
                <a:tc>
                  <a:txBody>
                    <a:bodyPr/>
                    <a:lstStyle/>
                    <a:p>
                      <a:r>
                        <a:rPr sz="919" b="1">
                          <a:solidFill>
                            <a:srgbClr val="1F2937"/>
                          </a:solidFill>
                          <a:latin typeface="Source Han Sans SC"/>
                        </a:rPr>
                        <a:t>4</a:t>
                      </a:r>
                    </a:p>
                  </a:txBody>
                  <a:tcPr>
                    <a:solidFill>
                      <a:srgbClr val="FFFFFF"/>
                    </a:solidFill>
                  </a:tcPr>
                </a:tc>
                <a:tc>
                  <a:txBody>
                    <a:bodyPr/>
                    <a:lstStyle/>
                    <a:p>
                      <a:r>
                        <a:rPr sz="919" b="0">
                          <a:solidFill>
                            <a:srgbClr val="1F2937"/>
                          </a:solidFill>
                          <a:latin typeface="Source Han Sans SC"/>
                        </a:rPr>
                        <a:t>1</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**133**</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1</a:t>
                      </a:r>
                    </a:p>
                  </a:txBody>
                  <a:tcPr>
                    <a:solidFill>
                      <a:srgbClr val="FFFFFF"/>
                    </a:solidFill>
                  </a:tcPr>
                </a:tc>
              </a:tr>
              <a:tr h="287437">
                <a:tc>
                  <a:txBody>
                    <a:bodyPr/>
                    <a:lstStyle/>
                    <a:p>
                      <a:r>
                        <a:rPr sz="919" b="1">
                          <a:solidFill>
                            <a:srgbClr val="1F2937"/>
                          </a:solidFill>
                          <a:latin typeface="Source Han Sans SC"/>
                        </a:rPr>
                        <a:t>5</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**136**</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r>
              <a:tr h="287437">
                <a:tc>
                  <a:txBody>
                    <a:bodyPr/>
                    <a:lstStyle/>
                    <a:p>
                      <a:r>
                        <a:rPr sz="919" b="1">
                          <a:solidFill>
                            <a:srgbClr val="1F2937"/>
                          </a:solidFill>
                          <a:latin typeface="Source Han Sans SC"/>
                        </a:rPr>
                        <a:t>6</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**133**</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2</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r>
              <a:tr h="287437">
                <a:tc>
                  <a:txBody>
                    <a:bodyPr/>
                    <a:lstStyle/>
                    <a:p>
                      <a:r>
                        <a:rPr sz="919" b="1">
                          <a:solidFill>
                            <a:srgbClr val="1F2937"/>
                          </a:solidFill>
                          <a:latin typeface="Source Han Sans SC"/>
                        </a:rPr>
                        <a:t>7</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**133**</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r>
              <a:tr h="287437">
                <a:tc>
                  <a:txBody>
                    <a:bodyPr/>
                    <a:lstStyle/>
                    <a:p>
                      <a:r>
                        <a:rPr sz="919" b="1">
                          <a:solidFill>
                            <a:srgbClr val="1F2937"/>
                          </a:solidFill>
                          <a:latin typeface="Source Han Sans SC"/>
                        </a:rPr>
                        <a:t>8</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**3**</a:t>
                      </a:r>
                    </a:p>
                  </a:txBody>
                  <a:tcPr>
                    <a:solidFill>
                      <a:srgbClr val="FFFFFF"/>
                    </a:solidFill>
                  </a:tcPr>
                </a:tc>
                <a:tc>
                  <a:txBody>
                    <a:bodyPr/>
                    <a:lstStyle/>
                    <a:p>
                      <a:r>
                        <a:rPr sz="919" b="0">
                          <a:solidFill>
                            <a:srgbClr val="1F2937"/>
                          </a:solidFill>
                          <a:latin typeface="Source Han Sans SC"/>
                        </a:rPr>
                        <a:t>**1**</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**1**</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c>
                  <a:txBody>
                    <a:bodyPr/>
                    <a:lstStyle/>
                    <a:p>
                      <a:r>
                        <a:rPr sz="919" b="0">
                          <a:solidFill>
                            <a:srgbClr val="1F2937"/>
                          </a:solidFill>
                          <a:latin typeface="Source Han Sans SC"/>
                        </a:rPr>
                        <a:t>**1**</a:t>
                      </a:r>
                    </a:p>
                  </a:txBody>
                  <a:tcPr>
                    <a:solidFill>
                      <a:srgbClr val="FFFFFF"/>
                    </a:solidFill>
                  </a:tcPr>
                </a:tc>
                <a:tc>
                  <a:txBody>
                    <a:bodyPr/>
                    <a:lstStyle/>
                    <a:p>
                      <a:r>
                        <a:rPr sz="919" b="0">
                          <a:solidFill>
                            <a:srgbClr val="1F2937"/>
                          </a:solidFill>
                          <a:latin typeface="Source Han Sans SC"/>
                        </a:rPr>
                        <a:t>**124**</a:t>
                      </a:r>
                    </a:p>
                  </a:txBody>
                  <a:tcPr>
                    <a:solidFill>
                      <a:srgbClr val="FFFFFF"/>
                    </a:solidFill>
                  </a:tcPr>
                </a:tc>
                <a:tc>
                  <a:txBody>
                    <a:bodyPr/>
                    <a:lstStyle/>
                    <a:p>
                      <a:r>
                        <a:rPr sz="919" b="0">
                          <a:solidFill>
                            <a:srgbClr val="1F2937"/>
                          </a:solidFill>
                          <a:latin typeface="Source Han Sans SC"/>
                        </a:rPr>
                        <a:t>0</a:t>
                      </a:r>
                    </a:p>
                  </a:txBody>
                  <a:tcPr>
                    <a:solidFill>
                      <a:srgbClr val="FFFFFF"/>
                    </a:solidFill>
                  </a:tcPr>
                </a:tc>
              </a:tr>
              <a:tr h="287446">
                <a:tc>
                  <a:txBody>
                    <a:bodyPr/>
                    <a:lstStyle/>
                    <a:p>
                      <a:r>
                        <a:rPr sz="919" b="1">
                          <a:solidFill>
                            <a:srgbClr val="1F2937"/>
                          </a:solidFill>
                          <a:latin typeface="Source Han Sans SC"/>
                        </a:rPr>
                        <a:t>9</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0</a:t>
                      </a:r>
                    </a:p>
                  </a:txBody>
                  <a:tcPr>
                    <a:solidFill>
                      <a:srgbClr val="F0F5FC"/>
                    </a:solidFill>
                  </a:tcPr>
                </a:tc>
                <a:tc>
                  <a:txBody>
                    <a:bodyPr/>
                    <a:lstStyle/>
                    <a:p>
                      <a:r>
                        <a:rPr sz="919" b="0">
                          <a:solidFill>
                            <a:srgbClr val="1F2937"/>
                          </a:solidFill>
                          <a:latin typeface="Source Han Sans SC"/>
                        </a:rPr>
                        <a:t>1</a:t>
                      </a:r>
                    </a:p>
                  </a:txBody>
                  <a:tcPr>
                    <a:solidFill>
                      <a:srgbClr val="F0F5FC"/>
                    </a:solidFill>
                  </a:tcPr>
                </a:tc>
                <a:tc>
                  <a:txBody>
                    <a:bodyPr/>
                    <a:lstStyle/>
                    <a:p>
                      <a:r>
                        <a:rPr sz="919" b="0">
                          <a:solidFill>
                            <a:srgbClr val="1F2937"/>
                          </a:solidFill>
                          <a:latin typeface="Source Han Sans SC"/>
                        </a:rPr>
                        <a:t>**133**</a:t>
                      </a:r>
                    </a:p>
                  </a:txBody>
                  <a:tcPr>
                    <a:solidFill>
                      <a:srgbClr val="F0F5FC"/>
                    </a:solidFill>
                  </a:tcPr>
                </a:tc>
              </a:tr>
            </a:tbl>
          </a:graphicData>
        </a:graphic>
      </p:graphicFrame>
      <p:sp>
        <p:nvSpPr>
          <p:cNvPr id="11" name="TextBox 10"/>
          <p:cNvSpPr txBox="1"/>
          <p:nvPr/>
        </p:nvSpPr>
        <p:spPr>
          <a:xfrm>
            <a:off x="799200" y="4439816"/>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One reading rule: look off-diagonal. Digit 0 is perfect (135/135); digit 8 is worst (124/130, recall 0.9538). Worst pairs: 8→1 (3), 1→8 and 1→9 (2 each), 6→8 (2). Of all 26 errors, 12 involve the digit 8 (46.2%).</a:t>
            </a:r>
          </a:p>
          <a:p>
            <a:pPr algn="l">
              <a:lnSpc>
                <a:spcPct val="105000"/>
              </a:lnSpc>
              <a:spcBef>
                <a:spcPts val="150"/>
              </a:spcBef>
            </a:pPr>
            <a:r>
              <a:rPr sz="900" b="0" i="0">
                <a:solidFill>
                  <a:srgbClr val="6B7280"/>
                </a:solidFill>
                <a:latin typeface="Source Han Sans SC"/>
              </a:rPr>
              <a:t>读法只有一句：**看非对角**。数字 0 是满分（135/135），数字 8 最差（124/130，召回 0.9538）。最差的类对是 8→1（3 次）、1→8 与 1→9（各 2 次）、6→8（2 次）。**全部 26 个错误里，有 12 个与数字 8 有关（46.2%）。**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Draw the misclassified digit itself</a:t>
            </a:r>
          </a:p>
          <a:p>
            <a:pPr algn="l">
              <a:lnSpc>
                <a:spcPct val="105000"/>
              </a:lnSpc>
              <a:spcBef>
                <a:spcPts val="150"/>
              </a:spcBef>
            </a:pPr>
            <a:r>
              <a:rPr sz="1210" b="0" i="0">
                <a:solidFill>
                  <a:srgbClr val="6B7280"/>
                </a:solidFill>
                <a:latin typeface="Source Han Sans SC"/>
              </a:rPr>
              <a:t>把错分的那个数字本身画出来</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Grey levels as characters: space = 0, @ = brightest. These are the real test pixels, not an illustration</a:t>
            </a:r>
          </a:p>
          <a:p>
            <a:pPr algn="l">
              <a:lnSpc>
                <a:spcPct val="105000"/>
              </a:lnSpc>
              <a:spcBef>
                <a:spcPts val="150"/>
              </a:spcBef>
            </a:pPr>
            <a:r>
              <a:rPr sz="800" b="0" i="0">
                <a:solidFill>
                  <a:srgbClr val="6B7280"/>
                </a:solidFill>
                <a:latin typeface="Source Han Sans SC"/>
              </a:rPr>
              <a:t>灰度用字符表示：空格=0，@=最亮。这些是真实测试样本的像素，不是示意图</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seed 42 · 5 wrong of 270</a:t>
            </a:r>
            <a:r>
              <a:rPr sz="800" b="0" i="0">
                <a:solidFill>
                  <a:srgbClr val="6B7280"/>
                </a:solidFill>
                <a:latin typeface="Source Han Sans SC"/>
              </a:rPr>
              <a:t> ｜ </a:t>
            </a:r>
            <a:r>
              <a:rPr sz="800" b="0" i="0">
                <a:solidFill>
                  <a:srgbClr val="6B7280"/>
                </a:solidFill>
                <a:latin typeface="Source Han Sans SC"/>
              </a:rPr>
              <a:t>seed 42 · 5 / 270 错</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23 / 32</a:t>
            </a:r>
          </a:p>
        </p:txBody>
      </p:sp>
      <p:sp>
        <p:nvSpPr>
          <p:cNvPr id="10" name="Rectangle 9"/>
          <p:cNvSpPr/>
          <p:nvPr/>
        </p:nvSpPr>
        <p:spPr>
          <a:xfrm>
            <a:off x="799200" y="1170000"/>
            <a:ext cx="5185259" cy="436189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200"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True 8, predicted 7 (confidence 0.9829)</a:t>
            </a:r>
          </a:p>
          <a:p>
            <a:pPr algn="l">
              <a:lnSpc>
                <a:spcPct val="105000"/>
              </a:lnSpc>
              <a:spcBef>
                <a:spcPts val="150"/>
              </a:spcBef>
            </a:pPr>
            <a:r>
              <a:rPr sz="900" b="0" i="0">
                <a:solidFill>
                  <a:srgbClr val="6B7280"/>
                </a:solidFill>
                <a:latin typeface="Source Han Sans SC"/>
              </a:rPr>
              <a:t>真 8，被判成 7（置信 0.9829）</a:t>
            </a:r>
          </a:p>
        </p:txBody>
      </p:sp>
      <p:sp>
        <p:nvSpPr>
          <p:cNvPr id="13" name="TextBox 12"/>
          <p:cNvSpPr txBox="1"/>
          <p:nvPr/>
        </p:nvSpPr>
        <p:spPr>
          <a:xfrm>
            <a:off x="997200" y="1584000"/>
            <a:ext cx="4789259" cy="3875898"/>
          </a:xfrm>
          <a:prstGeom prst="rect">
            <a:avLst/>
          </a:prstGeom>
          <a:noFill/>
        </p:spPr>
        <p:txBody>
          <a:bodyPr wrap="square" anchor="t" lIns="0" rIns="0" tIns="0" bIns="0">
            <a:spAutoFit/>
          </a:bodyPr>
          <a:lstStyle/>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a:r>
          </a:p>
          <a:p>
            <a:pPr algn="l">
              <a:lnSpc>
                <a:spcPct val="128000"/>
              </a:lnSpc>
            </a:pPr>
            <a:r>
              <a:rPr sz="1300" b="0" i="0">
                <a:solidFill>
                  <a:srgbClr val="E2E8F0"/>
                </a:solidFill>
                <a:latin typeface="Menlo"/>
              </a:rPr>
              <a:t>true-class prob 0.0144</a:t>
            </a:r>
          </a:p>
          <a:p>
            <a:pPr algn="l">
              <a:lnSpc>
                <a:spcPct val="128000"/>
              </a:lnSpc>
            </a:pPr>
            <a:r>
              <a:rPr sz="1300" b="0" i="0">
                <a:solidFill>
                  <a:srgbClr val="E2E8F0"/>
                </a:solidFill>
                <a:latin typeface="Menlo"/>
              </a:rPr>
              <a:t># the lower loop is broken;</a:t>
            </a:r>
          </a:p>
          <a:p>
            <a:pPr algn="l">
              <a:lnSpc>
                <a:spcPct val="128000"/>
              </a:lnSpc>
            </a:pPr>
            <a:r>
              <a:rPr sz="1300" b="0" i="0">
                <a:solidFill>
                  <a:srgbClr val="E2E8F0"/>
                </a:solidFill>
                <a:latin typeface="Menlo"/>
              </a:rPr>
              <a:t># only the upper stroke</a:t>
            </a:r>
          </a:p>
          <a:p>
            <a:pPr algn="l">
              <a:lnSpc>
                <a:spcPct val="128000"/>
              </a:lnSpc>
            </a:pPr>
            <a:r>
              <a:rPr sz="1300" b="0" i="0">
                <a:solidFill>
                  <a:srgbClr val="E2E8F0"/>
                </a:solidFill>
                <a:latin typeface="Menlo"/>
              </a:rPr>
              <a:t># survives - reads like 7.</a:t>
            </a:r>
          </a:p>
        </p:txBody>
      </p:sp>
      <p:sp>
        <p:nvSpPr>
          <p:cNvPr id="14" name="Rectangle 13"/>
          <p:cNvSpPr/>
          <p:nvPr/>
        </p:nvSpPr>
        <p:spPr>
          <a:xfrm>
            <a:off x="6207659" y="1170000"/>
            <a:ext cx="5185259" cy="4361898"/>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7659" y="1170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69659" y="1256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True 6, predicted 8 (confidence 0.8852)</a:t>
            </a:r>
          </a:p>
          <a:p>
            <a:pPr algn="l">
              <a:lnSpc>
                <a:spcPct val="105000"/>
              </a:lnSpc>
              <a:spcBef>
                <a:spcPts val="150"/>
              </a:spcBef>
            </a:pPr>
            <a:r>
              <a:rPr sz="900" b="0" i="0">
                <a:solidFill>
                  <a:srgbClr val="6B7280"/>
                </a:solidFill>
                <a:latin typeface="Source Han Sans SC"/>
              </a:rPr>
              <a:t>真 6，被判成 8（置信 0.8852）</a:t>
            </a:r>
          </a:p>
        </p:txBody>
      </p:sp>
      <p:sp>
        <p:nvSpPr>
          <p:cNvPr id="17" name="TextBox 16"/>
          <p:cNvSpPr txBox="1"/>
          <p:nvPr/>
        </p:nvSpPr>
        <p:spPr>
          <a:xfrm>
            <a:off x="6405659" y="1584000"/>
            <a:ext cx="4789259" cy="3875898"/>
          </a:xfrm>
          <a:prstGeom prst="rect">
            <a:avLst/>
          </a:prstGeom>
          <a:noFill/>
        </p:spPr>
        <p:txBody>
          <a:bodyPr wrap="square" anchor="t" lIns="0" rIns="0" tIns="0" bIns="0">
            <a:spAutoFit/>
          </a:bodyPr>
          <a:lstStyle/>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   </a:t>
            </a:r>
          </a:p>
          <a:p>
            <a:pPr algn="l">
              <a:lnSpc>
                <a:spcPct val="128000"/>
              </a:lnSpc>
            </a:pPr>
            <a:r>
              <a:rPr sz="1300" b="0" i="0">
                <a:solidFill>
                  <a:srgbClr val="E2E8F0"/>
                </a:solidFill>
                <a:latin typeface="Menlo"/>
              </a:rPr>
              <a:t/>
            </a:r>
          </a:p>
          <a:p>
            <a:pPr algn="l">
              <a:lnSpc>
                <a:spcPct val="128000"/>
              </a:lnSpc>
            </a:pPr>
            <a:r>
              <a:rPr sz="1300" b="0" i="0">
                <a:solidFill>
                  <a:srgbClr val="E2E8F0"/>
                </a:solidFill>
                <a:latin typeface="Menlo"/>
              </a:rPr>
              <a:t>true-class prob 0.0271</a:t>
            </a:r>
          </a:p>
          <a:p>
            <a:pPr algn="l">
              <a:lnSpc>
                <a:spcPct val="128000"/>
              </a:lnSpc>
            </a:pPr>
            <a:r>
              <a:rPr sz="1300" b="0" i="0">
                <a:solidFill>
                  <a:srgbClr val="E2E8F0"/>
                </a:solidFill>
                <a:latin typeface="Menlo"/>
              </a:rPr>
              <a:t># this 6 has a CLOSED lower</a:t>
            </a:r>
          </a:p>
          <a:p>
            <a:pPr algn="l">
              <a:lnSpc>
                <a:spcPct val="128000"/>
              </a:lnSpc>
            </a:pPr>
            <a:r>
              <a:rPr sz="1300" b="0" i="0">
                <a:solidFill>
                  <a:srgbClr val="E2E8F0"/>
                </a:solidFill>
                <a:latin typeface="Menlo"/>
              </a:rPr>
              <a:t># loop, which a 6 should not.</a:t>
            </a:r>
          </a:p>
          <a:p>
            <a:pPr algn="l">
              <a:lnSpc>
                <a:spcPct val="128000"/>
              </a:lnSpc>
            </a:pPr>
            <a:r>
              <a:rPr sz="1300" b="0" i="0">
                <a:solidFill>
                  <a:srgbClr val="E2E8F0"/>
                </a:solidFill>
                <a:latin typeface="Menlo"/>
              </a:rPr>
              <a:t># 6-&gt;8 appears twice in the</a:t>
            </a:r>
          </a:p>
          <a:p>
            <a:pPr algn="l">
              <a:lnSpc>
                <a:spcPct val="128000"/>
              </a:lnSpc>
            </a:pPr>
            <a:r>
              <a:rPr sz="1300" b="0" i="0">
                <a:solidFill>
                  <a:srgbClr val="E2E8F0"/>
                </a:solidFill>
                <a:latin typeface="Menlo"/>
              </a:rPr>
              <a:t># matrix; this is what it is.</a:t>
            </a:r>
          </a:p>
        </p:txBody>
      </p:sp>
      <p:sp>
        <p:nvSpPr>
          <p:cNvPr id="18" name="TextBox 17"/>
          <p:cNvSpPr txBox="1"/>
          <p:nvPr/>
        </p:nvSpPr>
        <p:spPr>
          <a:xfrm>
            <a:off x="799200" y="5694505"/>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This is error analysis. Not "the model is not good enough" but "it calls 8 on a 6 whose lower loop closes" — the second is fixable (add such samples, or re-weight the loss); the first is not.</a:t>
            </a:r>
          </a:p>
          <a:p>
            <a:pPr algn="l">
              <a:lnSpc>
                <a:spcPct val="105000"/>
              </a:lnSpc>
              <a:spcBef>
                <a:spcPts val="150"/>
              </a:spcBef>
            </a:pPr>
            <a:r>
              <a:rPr sz="940" b="0" i="0">
                <a:solidFill>
                  <a:srgbClr val="6B7280"/>
                </a:solidFill>
                <a:latin typeface="Source Han Sans SC"/>
              </a:rPr>
              <a:t>这才是「错分分析」。不是「模型还不够好」，而是「**它在一个下半环闭合的 6 上会把 8 叫出来**」——后者是一个可以修的东西（补这类样本、或者换损失权重），前者不是。</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70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70448"/>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581311"/>
          </a:xfrm>
          <a:prstGeom prst="rect">
            <a:avLst/>
          </a:prstGeom>
          <a:noFill/>
        </p:spPr>
        <p:txBody>
          <a:bodyPr wrap="square" anchor="t" lIns="0" rIns="0" tIns="0" bIns="0">
            <a:spAutoFit/>
          </a:bodyPr>
          <a:lstStyle/>
          <a:p>
            <a:pPr algn="l">
              <a:lnSpc>
                <a:spcPct val="114000"/>
              </a:lnSpc>
            </a:pPr>
            <a:r>
              <a:rPr sz="1300" b="1" i="0">
                <a:solidFill>
                  <a:srgbClr val="0E3F8C"/>
                </a:solidFill>
                <a:latin typeface="Source Han Sans SC"/>
              </a:rPr>
              <a:t>What a complete error analysis contains</a:t>
            </a:r>
          </a:p>
          <a:p>
            <a:pPr algn="l">
              <a:lnSpc>
                <a:spcPct val="105000"/>
              </a:lnSpc>
              <a:spcBef>
                <a:spcPts val="150"/>
              </a:spcBef>
            </a:pPr>
            <a:r>
              <a:rPr sz="1010" b="0" i="0">
                <a:solidFill>
                  <a:srgbClr val="6B7280"/>
                </a:solidFill>
                <a:latin typeface="Source Han Sans SC"/>
              </a:rPr>
              <a:t>错分分析的交付标准</a:t>
            </a:r>
          </a:p>
        </p:txBody>
      </p:sp>
      <p:sp>
        <p:nvSpPr>
          <p:cNvPr id="6" name="TextBox 5"/>
          <p:cNvSpPr txBox="1"/>
          <p:nvPr/>
        </p:nvSpPr>
        <p:spPr>
          <a:xfrm>
            <a:off x="799200" y="595711"/>
            <a:ext cx="7713719" cy="432337"/>
          </a:xfrm>
          <a:prstGeom prst="rect">
            <a:avLst/>
          </a:prstGeom>
          <a:noFill/>
        </p:spPr>
        <p:txBody>
          <a:bodyPr wrap="square" anchor="t" lIns="0" rIns="0" tIns="0" bIns="0">
            <a:spAutoFit/>
          </a:bodyPr>
          <a:lstStyle/>
          <a:p>
            <a:pPr algn="l">
              <a:lnSpc>
                <a:spcPct val="114000"/>
              </a:lnSpc>
            </a:pPr>
            <a:r>
              <a:rPr sz="880" b="0" i="0">
                <a:solidFill>
                  <a:srgbClr val="6B7280"/>
                </a:solidFill>
                <a:latin typeface="Source Han Sans SC"/>
              </a:rPr>
              <a:t>Five items. Miss one and you have reported a single aggregate number, which is the single most common way Lab 6 loses marks</a:t>
            </a:r>
          </a:p>
          <a:p>
            <a:pPr algn="l">
              <a:lnSpc>
                <a:spcPct val="105000"/>
              </a:lnSpc>
              <a:spcBef>
                <a:spcPts val="150"/>
              </a:spcBef>
            </a:pPr>
            <a:r>
              <a:rPr sz="800" b="0" i="0">
                <a:solidFill>
                  <a:srgbClr val="6B7280"/>
                </a:solidFill>
                <a:latin typeface="Source Han Sans SC"/>
              </a:rPr>
              <a:t>五条，缺一条就是「只报了一个总数」——这正是本周实验报告最常见的失分点</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Lab 6 requires</a:t>
            </a:r>
            <a:r>
              <a:rPr sz="800" b="0" i="0">
                <a:solidFill>
                  <a:srgbClr val="6B7280"/>
                </a:solidFill>
                <a:latin typeface="Source Han Sans SC"/>
              </a:rPr>
              <a:t> ｜ </a:t>
            </a:r>
            <a:r>
              <a:rPr sz="800" b="0" i="0">
                <a:solidFill>
                  <a:srgbClr val="6B7280"/>
                </a:solidFill>
                <a:latin typeface="Source Han Sans SC"/>
              </a:rPr>
              <a:t>实验 6 要求</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24 / 32</a:t>
            </a:r>
          </a:p>
        </p:txBody>
      </p:sp>
      <p:sp>
        <p:nvSpPr>
          <p:cNvPr id="10" name="Rectangle 9"/>
          <p:cNvSpPr/>
          <p:nvPr/>
        </p:nvSpPr>
        <p:spPr>
          <a:xfrm>
            <a:off x="799200" y="1152000"/>
            <a:ext cx="10593719" cy="78433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52000"/>
            <a:ext cx="32400" cy="784332"/>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979200" y="1332315"/>
            <a:ext cx="900000" cy="423701"/>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79200" y="1332315"/>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1. Metric</a:t>
            </a:r>
          </a:p>
          <a:p>
            <a:pPr algn="ctr">
              <a:lnSpc>
                <a:spcPct val="105000"/>
              </a:lnSpc>
              <a:spcBef>
                <a:spcPts val="150"/>
              </a:spcBef>
            </a:pPr>
            <a:r>
              <a:rPr sz="860" b="0" i="0">
                <a:solidFill>
                  <a:srgbClr val="CFDDF2"/>
                </a:solidFill>
                <a:latin typeface="Source Han Sans SC"/>
              </a:rPr>
              <a:t>① 指标</a:t>
            </a:r>
          </a:p>
        </p:txBody>
      </p:sp>
      <p:sp>
        <p:nvSpPr>
          <p:cNvPr id="14" name="TextBox 13"/>
          <p:cNvSpPr txBox="1"/>
          <p:nvPr/>
        </p:nvSpPr>
        <p:spPr>
          <a:xfrm>
            <a:off x="2023200" y="1259999"/>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Print the confusion matrix, not just accuracy</a:t>
            </a:r>
            <a:r>
              <a:rPr sz="800" b="0" i="0">
                <a:solidFill>
                  <a:srgbClr val="6B7280"/>
                </a:solidFill>
                <a:latin typeface="Source Han Sans SC"/>
              </a:rPr>
              <a:t> ｜ </a:t>
            </a:r>
            <a:r>
              <a:rPr sz="800" b="0" i="0">
                <a:solidFill>
                  <a:srgbClr val="6B7280"/>
                </a:solidFill>
                <a:latin typeface="Source Han Sans SC"/>
              </a:rPr>
              <a:t>打印混淆矩阵，不是只打印准确率</a:t>
            </a:r>
          </a:p>
        </p:txBody>
      </p:sp>
      <p:sp>
        <p:nvSpPr>
          <p:cNvPr id="15" name="TextBox 14"/>
          <p:cNvSpPr txBox="1"/>
          <p:nvPr/>
        </p:nvSpPr>
        <p:spPr>
          <a:xfrm>
            <a:off x="2023200" y="1496937"/>
            <a:ext cx="9153719" cy="385395"/>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Behind 0.981 sit 26 errors, 12 of them involving the digit 8. The accuracy number says none of this.</a:t>
            </a:r>
          </a:p>
          <a:p>
            <a:pPr algn="l">
              <a:lnSpc>
                <a:spcPct val="105000"/>
              </a:lnSpc>
              <a:spcBef>
                <a:spcPts val="150"/>
              </a:spcBef>
            </a:pPr>
            <a:r>
              <a:rPr sz="800" b="0" i="0">
                <a:solidFill>
                  <a:srgbClr val="6B7280"/>
                </a:solidFill>
                <a:latin typeface="Source Han Sans SC"/>
              </a:rPr>
              <a:t>本周 0.981 的准确率底下藏着 26 个错误，其中 12 个与数字 8 有关。准确率一个字都没提。</a:t>
            </a:r>
          </a:p>
        </p:txBody>
      </p:sp>
      <p:sp>
        <p:nvSpPr>
          <p:cNvPr id="16" name="Rectangle 15"/>
          <p:cNvSpPr/>
          <p:nvPr/>
        </p:nvSpPr>
        <p:spPr>
          <a:xfrm>
            <a:off x="799200" y="2044332"/>
            <a:ext cx="10593719" cy="78433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99200" y="2044332"/>
            <a:ext cx="32400" cy="78433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979200" y="2136636"/>
            <a:ext cx="900000" cy="599723"/>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79200" y="2136636"/>
            <a:ext cx="900000" cy="599723"/>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2. Worst pair</a:t>
            </a:r>
          </a:p>
          <a:p>
            <a:pPr algn="ctr">
              <a:lnSpc>
                <a:spcPct val="105000"/>
              </a:lnSpc>
              <a:spcBef>
                <a:spcPts val="150"/>
              </a:spcBef>
            </a:pPr>
            <a:r>
              <a:rPr sz="860" b="0" i="0">
                <a:solidFill>
                  <a:srgbClr val="CFDDF2"/>
                </a:solidFill>
                <a:latin typeface="Source Han Sans SC"/>
              </a:rPr>
              <a:t>② 最差类对</a:t>
            </a:r>
          </a:p>
        </p:txBody>
      </p:sp>
      <p:sp>
        <p:nvSpPr>
          <p:cNvPr id="20" name="TextBox 19"/>
          <p:cNvSpPr txBox="1"/>
          <p:nvPr/>
        </p:nvSpPr>
        <p:spPr>
          <a:xfrm>
            <a:off x="2023200" y="2152332"/>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Name the worst class pair and its count</a:t>
            </a:r>
            <a:r>
              <a:rPr sz="800" b="0" i="0">
                <a:solidFill>
                  <a:srgbClr val="6B7280"/>
                </a:solidFill>
                <a:latin typeface="Source Han Sans SC"/>
              </a:rPr>
              <a:t> ｜ </a:t>
            </a:r>
            <a:r>
              <a:rPr sz="800" b="0" i="0">
                <a:solidFill>
                  <a:srgbClr val="6B7280"/>
                </a:solidFill>
                <a:latin typeface="Source Han Sans SC"/>
              </a:rPr>
              <a:t>点名最差的两个类，并给出次数</a:t>
            </a:r>
          </a:p>
        </p:txBody>
      </p:sp>
      <p:sp>
        <p:nvSpPr>
          <p:cNvPr id="21" name="TextBox 20"/>
          <p:cNvSpPr txBox="1"/>
          <p:nvPr/>
        </p:nvSpPr>
        <p:spPr>
          <a:xfrm>
            <a:off x="2023200" y="2389269"/>
            <a:ext cx="9153719" cy="385395"/>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"8 read as 1, three times" is a hundred times more useful than "the model does worse on some classes".</a:t>
            </a:r>
          </a:p>
          <a:p>
            <a:pPr algn="l">
              <a:lnSpc>
                <a:spcPct val="105000"/>
              </a:lnSpc>
              <a:spcBef>
                <a:spcPts val="150"/>
              </a:spcBef>
            </a:pPr>
            <a:r>
              <a:rPr sz="800" b="0" i="0">
                <a:solidFill>
                  <a:srgbClr val="6B7280"/>
                </a:solidFill>
                <a:latin typeface="Source Han Sans SC"/>
              </a:rPr>
              <a:t>「8 被当成 1，3 次」比「模型在某些类上表现较差」有用一百倍。</a:t>
            </a:r>
          </a:p>
        </p:txBody>
      </p:sp>
      <p:sp>
        <p:nvSpPr>
          <p:cNvPr id="22" name="Rectangle 21"/>
          <p:cNvSpPr/>
          <p:nvPr/>
        </p:nvSpPr>
        <p:spPr>
          <a:xfrm>
            <a:off x="799200" y="2936664"/>
            <a:ext cx="10593719" cy="78433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99200" y="2936664"/>
            <a:ext cx="32400" cy="78433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979200" y="3028969"/>
            <a:ext cx="900000" cy="599723"/>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200" y="3028969"/>
            <a:ext cx="900000" cy="599723"/>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3. Examples</a:t>
            </a:r>
          </a:p>
          <a:p>
            <a:pPr algn="ctr">
              <a:lnSpc>
                <a:spcPct val="105000"/>
              </a:lnSpc>
              <a:spcBef>
                <a:spcPts val="150"/>
              </a:spcBef>
            </a:pPr>
            <a:r>
              <a:rPr sz="860" b="0" i="0">
                <a:solidFill>
                  <a:srgbClr val="CFDDF2"/>
                </a:solidFill>
                <a:latin typeface="Source Han Sans SC"/>
              </a:rPr>
              <a:t>③ 具体样本</a:t>
            </a:r>
          </a:p>
        </p:txBody>
      </p:sp>
      <p:sp>
        <p:nvSpPr>
          <p:cNvPr id="26" name="TextBox 25"/>
          <p:cNvSpPr txBox="1"/>
          <p:nvPr/>
        </p:nvSpPr>
        <p:spPr>
          <a:xfrm>
            <a:off x="2023200" y="3044664"/>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At least 3 concrete cases with model probabilities</a:t>
            </a:r>
            <a:r>
              <a:rPr sz="800" b="0" i="0">
                <a:solidFill>
                  <a:srgbClr val="6B7280"/>
                </a:solidFill>
                <a:latin typeface="Source Han Sans SC"/>
              </a:rPr>
              <a:t> ｜ </a:t>
            </a:r>
            <a:r>
              <a:rPr sz="800" b="0" i="0">
                <a:solidFill>
                  <a:srgbClr val="6B7280"/>
                </a:solidFill>
                <a:latin typeface="Source Han Sans SC"/>
              </a:rPr>
              <a:t>至少 3 个具体错分样本，附上模型概率</a:t>
            </a:r>
          </a:p>
        </p:txBody>
      </p:sp>
      <p:sp>
        <p:nvSpPr>
          <p:cNvPr id="27" name="TextBox 26"/>
          <p:cNvSpPr txBox="1"/>
          <p:nvPr/>
        </p:nvSpPr>
        <p:spPr>
          <a:xfrm>
            <a:off x="2023200" y="3281602"/>
            <a:ext cx="9153719" cy="385395"/>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Sentences like "true 8, predicted 7, confidence 0.9829, true-class probability 0.0144" — the probabilities separate hesitation from confident error.</a:t>
            </a:r>
          </a:p>
          <a:p>
            <a:pPr algn="l">
              <a:lnSpc>
                <a:spcPct val="105000"/>
              </a:lnSpc>
              <a:spcBef>
                <a:spcPts val="150"/>
              </a:spcBef>
            </a:pPr>
            <a:r>
              <a:rPr sz="800" b="0" i="0">
                <a:solidFill>
                  <a:srgbClr val="6B7280"/>
                </a:solidFill>
                <a:latin typeface="Source Han Sans SC"/>
              </a:rPr>
              <a:t>要的是「真 8 判 7，置信 0.9829，真类概率 0.0144」这种句子——概率能区分「犹豫」和「错了还自信」。</a:t>
            </a:r>
          </a:p>
        </p:txBody>
      </p:sp>
      <p:sp>
        <p:nvSpPr>
          <p:cNvPr id="28" name="Rectangle 27"/>
          <p:cNvSpPr/>
          <p:nvPr/>
        </p:nvSpPr>
        <p:spPr>
          <a:xfrm>
            <a:off x="799200" y="3828997"/>
            <a:ext cx="10593719" cy="78433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99200" y="3828997"/>
            <a:ext cx="32400" cy="78433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79200" y="3921301"/>
            <a:ext cx="900000" cy="599723"/>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79200" y="3921301"/>
            <a:ext cx="900000" cy="599723"/>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4. Hypothesis</a:t>
            </a:r>
          </a:p>
          <a:p>
            <a:pPr algn="ctr">
              <a:lnSpc>
                <a:spcPct val="105000"/>
              </a:lnSpc>
              <a:spcBef>
                <a:spcPts val="150"/>
              </a:spcBef>
            </a:pPr>
            <a:r>
              <a:rPr sz="860" b="0" i="0">
                <a:solidFill>
                  <a:srgbClr val="CFDDF2"/>
                </a:solidFill>
                <a:latin typeface="Source Han Sans SC"/>
              </a:rPr>
              <a:t>④ 假设</a:t>
            </a:r>
          </a:p>
        </p:txBody>
      </p:sp>
      <p:sp>
        <p:nvSpPr>
          <p:cNvPr id="32" name="TextBox 31"/>
          <p:cNvSpPr txBox="1"/>
          <p:nvPr/>
        </p:nvSpPr>
        <p:spPr>
          <a:xfrm>
            <a:off x="2023200" y="3936997"/>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Every case gets a testable hypothesis</a:t>
            </a:r>
            <a:r>
              <a:rPr sz="800" b="0" i="0">
                <a:solidFill>
                  <a:srgbClr val="6B7280"/>
                </a:solidFill>
                <a:latin typeface="Source Han Sans SC"/>
              </a:rPr>
              <a:t> ｜ </a:t>
            </a:r>
            <a:r>
              <a:rPr sz="800" b="0" i="0">
                <a:solidFill>
                  <a:srgbClr val="6B7280"/>
                </a:solidFill>
                <a:latin typeface="Source Han Sans SC"/>
              </a:rPr>
              <a:t>每条错误配一个可检验的原因假设</a:t>
            </a:r>
          </a:p>
        </p:txBody>
      </p:sp>
      <p:sp>
        <p:nvSpPr>
          <p:cNvPr id="33" name="TextBox 32"/>
          <p:cNvSpPr txBox="1"/>
          <p:nvPr/>
        </p:nvSpPr>
        <p:spPr>
          <a:xfrm>
            <a:off x="2023200" y="4173934"/>
            <a:ext cx="9153719" cy="385395"/>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"this 6 has a closed lower loop" is a hypothesis, and it is checkable: collect such 6s and see whether they all become 8.</a:t>
            </a:r>
          </a:p>
          <a:p>
            <a:pPr algn="l">
              <a:lnSpc>
                <a:spcPct val="105000"/>
              </a:lnSpc>
              <a:spcBef>
                <a:spcPts val="150"/>
              </a:spcBef>
            </a:pPr>
            <a:r>
              <a:rPr sz="800" b="0" i="0">
                <a:solidFill>
                  <a:srgbClr val="6B7280"/>
                </a:solidFill>
                <a:latin typeface="Source Han Sans SC"/>
              </a:rPr>
              <a:t>「这个 6 的下半环闭合」是假设，而且可以检验：找一批下半环闭合的 6，看是否都被判成 8。</a:t>
            </a:r>
          </a:p>
        </p:txBody>
      </p:sp>
      <p:sp>
        <p:nvSpPr>
          <p:cNvPr id="34" name="Rectangle 33"/>
          <p:cNvSpPr/>
          <p:nvPr/>
        </p:nvSpPr>
        <p:spPr>
          <a:xfrm>
            <a:off x="799200" y="4721329"/>
            <a:ext cx="10593719" cy="784332"/>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99200" y="4721329"/>
            <a:ext cx="32400" cy="784332"/>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79200" y="4813634"/>
            <a:ext cx="900000" cy="599723"/>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79200" y="4813634"/>
            <a:ext cx="900000" cy="599723"/>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5. Next step</a:t>
            </a:r>
          </a:p>
          <a:p>
            <a:pPr algn="ctr">
              <a:lnSpc>
                <a:spcPct val="105000"/>
              </a:lnSpc>
              <a:spcBef>
                <a:spcPts val="150"/>
              </a:spcBef>
            </a:pPr>
            <a:r>
              <a:rPr sz="860" b="0" i="0">
                <a:solidFill>
                  <a:srgbClr val="CFDDF2"/>
                </a:solidFill>
                <a:latin typeface="Source Han Sans SC"/>
              </a:rPr>
              <a:t>⑤ 下一步</a:t>
            </a:r>
          </a:p>
        </p:txBody>
      </p:sp>
      <p:sp>
        <p:nvSpPr>
          <p:cNvPr id="38" name="TextBox 37"/>
          <p:cNvSpPr txBox="1"/>
          <p:nvPr/>
        </p:nvSpPr>
        <p:spPr>
          <a:xfrm>
            <a:off x="2023200" y="4829329"/>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State what you will try and how you will judge it</a:t>
            </a:r>
            <a:r>
              <a:rPr sz="800" b="0" i="0">
                <a:solidFill>
                  <a:srgbClr val="6B7280"/>
                </a:solidFill>
                <a:latin typeface="Source Han Sans SC"/>
              </a:rPr>
              <a:t> ｜ </a:t>
            </a:r>
            <a:r>
              <a:rPr sz="800" b="0" i="0">
                <a:solidFill>
                  <a:srgbClr val="6B7280"/>
                </a:solidFill>
                <a:latin typeface="Source Han Sans SC"/>
              </a:rPr>
              <a:t>写出「我打算试什么」和「怎么判断有没有用」</a:t>
            </a:r>
          </a:p>
        </p:txBody>
      </p:sp>
      <p:sp>
        <p:nvSpPr>
          <p:cNvPr id="39" name="TextBox 38"/>
          <p:cNvSpPr txBox="1"/>
          <p:nvPr/>
        </p:nvSpPr>
        <p:spPr>
          <a:xfrm>
            <a:off x="2023200" y="5066266"/>
            <a:ext cx="9153719" cy="385395"/>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Same split, same metric, one change at a time — the rule that does not change all semester.</a:t>
            </a:r>
          </a:p>
          <a:p>
            <a:pPr algn="l">
              <a:lnSpc>
                <a:spcPct val="105000"/>
              </a:lnSpc>
              <a:spcBef>
                <a:spcPts val="150"/>
              </a:spcBef>
            </a:pPr>
            <a:r>
              <a:rPr sz="800" b="0" i="0">
                <a:solidFill>
                  <a:srgbClr val="6B7280"/>
                </a:solidFill>
                <a:latin typeface="Source Han Sans SC"/>
              </a:rPr>
              <a:t>同一个切分、同一个指标、一次只改一处——这是全课程不变的那条规则。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05</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05</a:t>
            </a:r>
          </a:p>
        </p:txBody>
      </p:sp>
      <p:sp>
        <p:nvSpPr>
          <p:cNvPr id="7" name="TextBox 6"/>
          <p:cNvSpPr txBox="1"/>
          <p:nvPr/>
        </p:nvSpPr>
        <p:spPr>
          <a:xfrm>
            <a:off x="2379600" y="1105200"/>
            <a:ext cx="5040000" cy="1624377"/>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Memory and green computing</a:t>
            </a:r>
          </a:p>
          <a:p>
            <a:pPr algn="l">
              <a:lnSpc>
                <a:spcPct val="105000"/>
              </a:lnSpc>
              <a:spcBef>
                <a:spcPts val="150"/>
              </a:spcBef>
            </a:pPr>
            <a:r>
              <a:rPr sz="2340" b="0" i="0">
                <a:solidFill>
                  <a:srgbClr val="6B7280"/>
                </a:solidFill>
                <a:latin typeface="Source Han Sans SC"/>
              </a:rPr>
              <a:t>显存与绿色计算</a:t>
            </a:r>
          </a:p>
        </p:txBody>
      </p:sp>
      <p:sp>
        <p:nvSpPr>
          <p:cNvPr id="8" name="TextBox 7"/>
          <p:cNvSpPr txBox="1"/>
          <p:nvPr/>
        </p:nvSpPr>
        <p:spPr>
          <a:xfrm>
            <a:off x="799200" y="2801577"/>
            <a:ext cx="8640000" cy="129461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Out-of-memory is the most common blocker in this week's lab. And it is almost never a hardware problem — it is a batch-size problem.</a:t>
            </a:r>
          </a:p>
          <a:p>
            <a:pPr algn="l">
              <a:lnSpc>
                <a:spcPct val="105000"/>
              </a:lnSpc>
              <a:spcBef>
                <a:spcPts val="150"/>
              </a:spcBef>
            </a:pPr>
            <a:r>
              <a:rPr sz="1170" b="0" i="0">
                <a:solidFill>
                  <a:srgbClr val="6B7280"/>
                </a:solidFill>
                <a:latin typeface="Source Han Sans SC"/>
              </a:rPr>
              <a:t>显存不足（OOM）是本周最常见的实验卡点。
但「显存不够」几乎从来不是硬件问题，是 batch size 的问题。</a:t>
            </a:r>
          </a:p>
        </p:txBody>
      </p:sp>
      <p:sp>
        <p:nvSpPr>
          <p:cNvPr id="9" name="Rectangle 8"/>
          <p:cNvSpPr/>
          <p:nvPr/>
        </p:nvSpPr>
        <p:spPr>
          <a:xfrm>
            <a:off x="79920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800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Batch first</a:t>
            </a:r>
            <a:r>
              <a:rPr sz="1010" b="0" i="0">
                <a:solidFill>
                  <a:srgbClr val="6B7280"/>
                </a:solidFill>
                <a:latin typeface="Source Han Sans SC"/>
              </a:rPr>
              <a:t> ｜ </a:t>
            </a:r>
            <a:r>
              <a:rPr sz="1010" b="0" i="0">
                <a:solidFill>
                  <a:srgbClr val="6B7280"/>
                </a:solidFill>
                <a:latin typeface="Source Han Sans SC"/>
              </a:rPr>
              <a:t>先降 batch</a:t>
            </a:r>
          </a:p>
        </p:txBody>
      </p:sp>
      <p:sp>
        <p:nvSpPr>
          <p:cNvPr id="12" name="TextBox 11"/>
          <p:cNvSpPr txBox="1"/>
          <p:nvPr/>
        </p:nvSpPr>
        <p:spPr>
          <a:xfrm>
            <a:off x="100800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the cheapest lever</a:t>
            </a:r>
          </a:p>
          <a:p>
            <a:pPr algn="l">
              <a:lnSpc>
                <a:spcPct val="105000"/>
              </a:lnSpc>
              <a:spcBef>
                <a:spcPts val="150"/>
              </a:spcBef>
            </a:pPr>
            <a:r>
              <a:rPr sz="800" b="0" i="0">
                <a:solidFill>
                  <a:srgbClr val="6B7280"/>
                </a:solidFill>
                <a:latin typeface="Source Han Sans SC"/>
              </a:rPr>
              <a:t>最便宜的一刀</a:t>
            </a:r>
          </a:p>
        </p:txBody>
      </p:sp>
      <p:sp>
        <p:nvSpPr>
          <p:cNvPr id="13" name="Rectangle 12"/>
          <p:cNvSpPr/>
          <p:nvPr/>
        </p:nvSpPr>
        <p:spPr>
          <a:xfrm>
            <a:off x="4406040"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14840"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Then accumulate</a:t>
            </a:r>
            <a:r>
              <a:rPr sz="1010" b="0" i="0">
                <a:solidFill>
                  <a:srgbClr val="6B7280"/>
                </a:solidFill>
                <a:latin typeface="Source Han Sans SC"/>
              </a:rPr>
              <a:t> ｜ </a:t>
            </a:r>
            <a:r>
              <a:rPr sz="1010" b="0" i="0">
                <a:solidFill>
                  <a:srgbClr val="6B7280"/>
                </a:solidFill>
                <a:latin typeface="Source Han Sans SC"/>
              </a:rPr>
              <a:t>再累积</a:t>
            </a:r>
          </a:p>
        </p:txBody>
      </p:sp>
      <p:sp>
        <p:nvSpPr>
          <p:cNvPr id="16" name="TextBox 15"/>
          <p:cNvSpPr txBox="1"/>
          <p:nvPr/>
        </p:nvSpPr>
        <p:spPr>
          <a:xfrm>
            <a:off x="4614840"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buy the batch back for free</a:t>
            </a:r>
          </a:p>
          <a:p>
            <a:pPr algn="l">
              <a:lnSpc>
                <a:spcPct val="105000"/>
              </a:lnSpc>
              <a:spcBef>
                <a:spcPts val="150"/>
              </a:spcBef>
            </a:pPr>
            <a:r>
              <a:rPr sz="800" b="0" i="0">
                <a:solidFill>
                  <a:srgbClr val="6B7280"/>
                </a:solidFill>
                <a:latin typeface="Source Han Sans SC"/>
              </a:rPr>
              <a:t>免费换回等效 batch</a:t>
            </a:r>
          </a:p>
        </p:txBody>
      </p:sp>
      <p:sp>
        <p:nvSpPr>
          <p:cNvPr id="17" name="Rectangle 16"/>
          <p:cNvSpPr/>
          <p:nvPr/>
        </p:nvSpPr>
        <p:spPr>
          <a:xfrm>
            <a:off x="8012879" y="5000400"/>
            <a:ext cx="3380039" cy="1062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1679" y="5148000"/>
            <a:ext cx="2962439" cy="345743"/>
          </a:xfrm>
          <a:prstGeom prst="rect">
            <a:avLst/>
          </a:prstGeom>
          <a:noFill/>
        </p:spPr>
        <p:txBody>
          <a:bodyPr wrap="square" anchor="t" lIns="0" rIns="0" tIns="0" bIns="0">
            <a:spAutoFit/>
          </a:bodyPr>
          <a:lstStyle/>
          <a:p>
            <a:pPr algn="l">
              <a:lnSpc>
                <a:spcPct val="125000"/>
              </a:lnSpc>
            </a:pPr>
            <a:r>
              <a:rPr sz="1300" b="1" i="0">
                <a:solidFill>
                  <a:srgbClr val="0E3F8C"/>
                </a:solidFill>
                <a:latin typeface="Source Han Sans SC"/>
              </a:rPr>
              <a:t>Hardware last</a:t>
            </a:r>
            <a:r>
              <a:rPr sz="1010" b="0" i="0">
                <a:solidFill>
                  <a:srgbClr val="6B7280"/>
                </a:solidFill>
                <a:latin typeface="Source Han Sans SC"/>
              </a:rPr>
              <a:t> ｜ </a:t>
            </a:r>
            <a:r>
              <a:rPr sz="1010" b="0" i="0">
                <a:solidFill>
                  <a:srgbClr val="6B7280"/>
                </a:solidFill>
                <a:latin typeface="Source Han Sans SC"/>
              </a:rPr>
              <a:t>最后才加显存</a:t>
            </a:r>
          </a:p>
        </p:txBody>
      </p:sp>
      <p:sp>
        <p:nvSpPr>
          <p:cNvPr id="20" name="TextBox 19"/>
          <p:cNvSpPr txBox="1"/>
          <p:nvPr/>
        </p:nvSpPr>
        <p:spPr>
          <a:xfrm>
            <a:off x="8221679" y="5428943"/>
            <a:ext cx="2962439" cy="633456"/>
          </a:xfrm>
          <a:prstGeom prst="rect">
            <a:avLst/>
          </a:prstGeom>
          <a:noFill/>
        </p:spPr>
        <p:txBody>
          <a:bodyPr wrap="square" anchor="t" lIns="0" rIns="0" tIns="0" bIns="0">
            <a:spAutoFit/>
          </a:bodyPr>
          <a:lstStyle/>
          <a:p>
            <a:pPr algn="l">
              <a:lnSpc>
                <a:spcPct val="125000"/>
              </a:lnSpc>
            </a:pPr>
            <a:r>
              <a:rPr sz="950" b="0" i="0">
                <a:solidFill>
                  <a:srgbClr val="6B7280"/>
                </a:solidFill>
                <a:latin typeface="Source Han Sans SC"/>
              </a:rPr>
              <a:t>compute is finite</a:t>
            </a:r>
          </a:p>
          <a:p>
            <a:pPr algn="l">
              <a:lnSpc>
                <a:spcPct val="105000"/>
              </a:lnSpc>
              <a:spcBef>
                <a:spcPts val="150"/>
              </a:spcBef>
            </a:pPr>
            <a:r>
              <a:rPr sz="800" b="0" i="0">
                <a:solidFill>
                  <a:srgbClr val="6B7280"/>
                </a:solidFill>
                <a:latin typeface="Source Han Sans SC"/>
              </a:rPr>
              <a:t>算力是有限资源</a:t>
            </a:r>
          </a:p>
        </p:txBody>
      </p:sp>
      <p:sp>
        <p:nvSpPr>
          <p:cNvPr id="21" name="TextBox 20"/>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22" name="TextBox 21"/>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25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78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78728"/>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550602"/>
          </a:xfrm>
          <a:prstGeom prst="rect">
            <a:avLst/>
          </a:prstGeom>
          <a:noFill/>
        </p:spPr>
        <p:txBody>
          <a:bodyPr wrap="square" anchor="t" lIns="0" rIns="0" tIns="0" bIns="0">
            <a:spAutoFit/>
          </a:bodyPr>
          <a:lstStyle/>
          <a:p>
            <a:pPr algn="l">
              <a:lnSpc>
                <a:spcPct val="114000"/>
              </a:lnSpc>
            </a:pPr>
            <a:r>
              <a:rPr sz="1200" b="1" i="0">
                <a:solidFill>
                  <a:srgbClr val="0E3F8C"/>
                </a:solidFill>
                <a:latin typeface="Source Han Sans SC"/>
              </a:rPr>
              <a:t>Batch size against peak memory: measured</a:t>
            </a:r>
          </a:p>
          <a:p>
            <a:pPr algn="l">
              <a:lnSpc>
                <a:spcPct val="105000"/>
              </a:lnSpc>
              <a:spcBef>
                <a:spcPts val="150"/>
              </a:spcBef>
            </a:pPr>
            <a:r>
              <a:rPr sz="940" b="0" i="0">
                <a:solidFill>
                  <a:srgbClr val="6B7280"/>
                </a:solidFill>
                <a:latin typeface="Source Han Sans SC"/>
              </a:rPr>
              <a:t>batch size 与峰值内存：实测的线性关系</a:t>
            </a:r>
          </a:p>
        </p:txBody>
      </p:sp>
      <p:sp>
        <p:nvSpPr>
          <p:cNvPr id="6" name="TextBox 5"/>
          <p:cNvSpPr txBox="1"/>
          <p:nvPr/>
        </p:nvSpPr>
        <p:spPr>
          <a:xfrm>
            <a:off x="799200" y="565002"/>
            <a:ext cx="7713719" cy="571325"/>
          </a:xfrm>
          <a:prstGeom prst="rect">
            <a:avLst/>
          </a:prstGeom>
          <a:noFill/>
        </p:spPr>
        <p:txBody>
          <a:bodyPr wrap="square" anchor="t" lIns="0" rIns="0" tIns="0" bIns="0">
            <a:spAutoFit/>
          </a:bodyPr>
          <a:lstStyle/>
          <a:p>
            <a:pPr algn="l">
              <a:lnSpc>
                <a:spcPct val="114000"/>
              </a:lnSpc>
            </a:pPr>
            <a:r>
              <a:rPr sz="840" b="0" i="0">
                <a:solidFill>
                  <a:srgbClr val="6B7280"/>
                </a:solidFill>
                <a:latin typeface="Source Han Sans SC"/>
              </a:rPr>
              <a:t>Input nearest-neighbour upsampled to 32x32 (16x the activation volume, the order of a real vision model); one forward+backward per subprocess, peak RSS; ru_maxrss is in BYTES on macOS</a:t>
            </a:r>
          </a:p>
          <a:p>
            <a:pPr algn="l">
              <a:lnSpc>
                <a:spcPct val="105000"/>
              </a:lnSpc>
              <a:spcBef>
                <a:spcPts val="150"/>
              </a:spcBef>
            </a:pPr>
            <a:r>
              <a:rPr sz="800" b="0" i="0">
                <a:solidFill>
                  <a:srgbClr val="6B7280"/>
                </a:solidFill>
                <a:latin typeface="Source Han Sans SC"/>
              </a:rPr>
              <a:t>输入用最近邻上采样到 32×32（激活体量 ×16，与真实视觉模型同量级），单次前向+反向，独立子进程测峰值 RSS；macOS 的 ru_maxrss 单位是字节</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measured · separate processes</a:t>
            </a:r>
            <a:r>
              <a:rPr sz="800" b="0" i="0">
                <a:solidFill>
                  <a:srgbClr val="6B7280"/>
                </a:solidFill>
                <a:latin typeface="Source Han Sans SC"/>
              </a:rPr>
              <a:t> ｜ </a:t>
            </a:r>
            <a:r>
              <a:rPr sz="800" b="0" i="0">
                <a:solidFill>
                  <a:srgbClr val="6B7280"/>
                </a:solidFill>
                <a:latin typeface="Source Han Sans SC"/>
              </a:rPr>
              <a:t>实测 · 独立子进程</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26 / 32</a:t>
            </a:r>
          </a:p>
        </p:txBody>
      </p:sp>
      <p:graphicFrame>
        <p:nvGraphicFramePr>
          <p:cNvPr id="10" name="Chart 9"/>
          <p:cNvGraphicFramePr>
            <a:graphicFrameLocks noGrp="1"/>
          </p:cNvGraphicFramePr>
          <p:nvPr/>
        </p:nvGraphicFramePr>
        <p:xfrm>
          <a:off x="799200" y="1152000"/>
          <a:ext cx="6840000" cy="4031999"/>
        </p:xfrm>
        <a:graphic>
          <a:graphicData uri="http://schemas.openxmlformats.org/drawingml/2006/chart">
            <c:chart xmlns:c="http://schemas.openxmlformats.org/drawingml/2006/chart" r:id="rId2"/>
          </a:graphicData>
        </a:graphic>
      </p:graphicFrame>
      <p:sp>
        <p:nvSpPr>
          <p:cNvPr id="11" name="TextBox 10"/>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150" b="0" i="0">
                <a:solidFill>
                  <a:srgbClr val="1F2937"/>
                </a:solidFill>
                <a:latin typeface="Source Han Sans SC"/>
              </a:rPr>
              <a:t>• Baseline (torch imported, nothing running): 306.5 MB.</a:t>
            </a:r>
            <a:r>
              <a:rPr sz="900" b="0" i="0">
                <a:solidFill>
                  <a:srgbClr val="6B7280"/>
                </a:solidFill>
                <a:latin typeface="Source Han Sans SC"/>
              </a:rPr>
              <a:t> ｜ </a:t>
            </a:r>
            <a:r>
              <a:rPr sz="900" b="0" i="0">
                <a:solidFill>
                  <a:srgbClr val="6B7280"/>
                </a:solidFill>
                <a:latin typeface="Source Han Sans SC"/>
              </a:rPr>
              <a:t>• 基线（只导入 torch）306.5 MB。</a:t>
            </a:r>
          </a:p>
          <a:p>
            <a:pPr algn="l">
              <a:lnSpc>
                <a:spcPct val="145000"/>
              </a:lnSpc>
              <a:spcAft>
                <a:spcPts val="800"/>
              </a:spcAft>
            </a:pPr>
            <a:r>
              <a:rPr sz="1150" b="0" i="0">
                <a:solidFill>
                  <a:srgbClr val="1F2937"/>
                </a:solidFill>
                <a:latin typeface="Source Han Sans SC"/>
              </a:rPr>
              <a:t>• Batch 32 → 1024: 83.6 → 275.5 MB, 3.3x, growing with batch.</a:t>
            </a:r>
            <a:r>
              <a:rPr sz="900" b="0" i="0">
                <a:solidFill>
                  <a:srgbClr val="6B7280"/>
                </a:solidFill>
                <a:latin typeface="Source Han Sans SC"/>
              </a:rPr>
              <a:t> ｜ </a:t>
            </a:r>
            <a:r>
              <a:rPr sz="900" b="0" i="0">
                <a:solidFill>
                  <a:srgbClr val="6B7280"/>
                </a:solidFill>
                <a:latin typeface="Source Han Sans SC"/>
              </a:rPr>
              <a:t>• batch 32 → 1024：增量 83.6 → 275.5 MB，3.3 倍，与 batch 同步增长。</a:t>
            </a:r>
          </a:p>
          <a:p>
            <a:pPr algn="l">
              <a:lnSpc>
                <a:spcPct val="145000"/>
              </a:lnSpc>
              <a:spcAft>
                <a:spcPts val="800"/>
              </a:spcAft>
            </a:pPr>
            <a:r>
              <a:rPr sz="1150" b="0" i="0">
                <a:solidFill>
                  <a:srgbClr val="1F2937"/>
                </a:solidFill>
                <a:latin typeface="Source Han Sans SC"/>
              </a:rPr>
              <a:t>• Dropping the batch is the only knob that changes memory without changing the maths.</a:t>
            </a:r>
            <a:r>
              <a:rPr sz="900" b="0" i="0">
                <a:solidFill>
                  <a:srgbClr val="6B7280"/>
                </a:solidFill>
                <a:latin typeface="Source Han Sans SC"/>
              </a:rPr>
              <a:t> ｜ </a:t>
            </a:r>
            <a:r>
              <a:rPr sz="900" b="0" i="0">
                <a:solidFill>
                  <a:srgbClr val="6B7280"/>
                </a:solidFill>
                <a:latin typeface="Source Han Sans SC"/>
              </a:rPr>
              <a:t>• **下降 batch 是唯一一个「不改变数学、只改变内存」的旋钮。**</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78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78728"/>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550602"/>
          </a:xfrm>
          <a:prstGeom prst="rect">
            <a:avLst/>
          </a:prstGeom>
          <a:noFill/>
        </p:spPr>
        <p:txBody>
          <a:bodyPr wrap="square" anchor="t" lIns="0" rIns="0" tIns="0" bIns="0">
            <a:spAutoFit/>
          </a:bodyPr>
          <a:lstStyle/>
          <a:p>
            <a:pPr algn="l">
              <a:lnSpc>
                <a:spcPct val="114000"/>
              </a:lnSpc>
            </a:pPr>
            <a:r>
              <a:rPr sz="1200" b="1" i="0">
                <a:solidFill>
                  <a:srgbClr val="0E3F8C"/>
                </a:solidFill>
                <a:latin typeface="Source Han Sans SC"/>
              </a:rPr>
              <a:t>Gradient accumulation: the effective batch can be bought back — at the right price</a:t>
            </a:r>
          </a:p>
          <a:p>
            <a:pPr algn="l">
              <a:lnSpc>
                <a:spcPct val="105000"/>
              </a:lnSpc>
              <a:spcBef>
                <a:spcPts val="150"/>
              </a:spcBef>
            </a:pPr>
            <a:r>
              <a:rPr sz="940" b="0" i="0">
                <a:solidFill>
                  <a:srgbClr val="6B7280"/>
                </a:solidFill>
                <a:latin typeface="Source Han Sans SC"/>
              </a:rPr>
              <a:t>梯度累积：等效 batch 可以被买回来，但要付对价钱</a:t>
            </a:r>
          </a:p>
        </p:txBody>
      </p:sp>
      <p:sp>
        <p:nvSpPr>
          <p:cNvPr id="6" name="TextBox 5"/>
          <p:cNvSpPr txBox="1"/>
          <p:nvPr/>
        </p:nvSpPr>
        <p:spPr>
          <a:xfrm>
            <a:off x="799200" y="565002"/>
            <a:ext cx="7713719" cy="571325"/>
          </a:xfrm>
          <a:prstGeom prst="rect">
            <a:avLst/>
          </a:prstGeom>
          <a:noFill/>
        </p:spPr>
        <p:txBody>
          <a:bodyPr wrap="square" anchor="t" lIns="0" rIns="0" tIns="0" bIns="0">
            <a:spAutoFit/>
          </a:bodyPr>
          <a:lstStyle/>
          <a:p>
            <a:pPr algn="l">
              <a:lnSpc>
                <a:spcPct val="114000"/>
              </a:lnSpc>
            </a:pPr>
            <a:r>
              <a:rPr sz="840" b="0" i="0">
                <a:solidFill>
                  <a:srgbClr val="6B7280"/>
                </a:solidFill>
                <a:latin typeface="Source Han Sans SC"/>
              </a:rPr>
              <a:t>Four variants, identical except for how the accumulated gradient is weighted. The test is whether each reproduces the true batch-128 run seed by seed</a:t>
            </a:r>
          </a:p>
          <a:p>
            <a:pPr algn="l">
              <a:lnSpc>
                <a:spcPct val="105000"/>
              </a:lnSpc>
              <a:spcBef>
                <a:spcPts val="150"/>
              </a:spcBef>
            </a:pPr>
            <a:r>
              <a:rPr sz="800" b="0" i="0">
                <a:solidFill>
                  <a:srgbClr val="6B7280"/>
                </a:solidFill>
                <a:latin typeface="Source Han Sans SC"/>
              </a:rPr>
              <a:t>四种写法，除最后一步的梯度权重外完全相同。判定标准是「与真 batch 128 是否逐项一致」</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measured · 5 seeds</a:t>
            </a:r>
            <a:r>
              <a:rPr sz="800" b="0" i="0">
                <a:solidFill>
                  <a:srgbClr val="6B7280"/>
                </a:solidFill>
                <a:latin typeface="Source Han Sans SC"/>
              </a:rPr>
              <a:t> ｜ </a:t>
            </a:r>
            <a:r>
              <a:rPr sz="800" b="0" i="0">
                <a:solidFill>
                  <a:srgbClr val="6B7280"/>
                </a:solidFill>
                <a:latin typeface="Source Han Sans SC"/>
              </a:rPr>
              <a:t>实测 · 5 种子</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27 / 32</a:t>
            </a:r>
          </a:p>
        </p:txBody>
      </p:sp>
      <p:graphicFrame>
        <p:nvGraphicFramePr>
          <p:cNvPr id="10" name="Table 9"/>
          <p:cNvGraphicFramePr>
            <a:graphicFrameLocks noGrp="1"/>
          </p:cNvGraphicFramePr>
          <p:nvPr/>
        </p:nvGraphicFramePr>
        <p:xfrm>
          <a:off x="799200" y="1152000"/>
          <a:ext cx="10583999" cy="3030805"/>
        </p:xfrm>
        <a:graphic>
          <a:graphicData uri="http://schemas.openxmlformats.org/drawingml/2006/table">
            <a:tbl>
              <a:tblPr firstRow="1" bandRow="1">
                <a:tableStyleId>{5C22544A-7EE6-4342-B048-85BDC9FD1C3A}</a:tableStyleId>
              </a:tblPr>
              <a:tblGrid>
                <a:gridCol w="2736000"/>
                <a:gridCol w="4896000"/>
                <a:gridCol w="2951999"/>
              </a:tblGrid>
              <a:tr h="606161">
                <a:tc>
                  <a:txBody>
                    <a:bodyPr/>
                    <a:lstStyle/>
                    <a:p>
                      <a:r>
                        <a:rPr sz="1180" b="1">
                          <a:solidFill>
                            <a:srgbClr val="FFFFFF"/>
                          </a:solidFill>
                          <a:latin typeface="Source Han Sans SC"/>
                        </a:rPr>
                        <a:t>Weighting</a:t>
                      </a:r>
                    </a:p>
                    <a:p>
                      <a:pPr>
                        <a:lnSpc>
                          <a:spcPct val="100000"/>
                        </a:lnSpc>
                      </a:pPr>
                      <a:r>
                        <a:rPr sz="1000" b="0">
                          <a:solidFill>
                            <a:srgbClr val="C3D4EF"/>
                          </a:solidFill>
                          <a:latin typeface="Source Han Sans SC"/>
                        </a:rPr>
                        <a:t>写法</a:t>
                      </a:r>
                    </a:p>
                  </a:txBody>
                  <a:tcPr>
                    <a:solidFill>
                      <a:srgbClr val="0E3F8C"/>
                    </a:solidFill>
                  </a:tcPr>
                </a:tc>
                <a:tc>
                  <a:txBody>
                    <a:bodyPr/>
                    <a:lstStyle/>
                    <a:p>
                      <a:r>
                        <a:rPr sz="1180" b="1">
                          <a:solidFill>
                            <a:srgbClr val="FFFFFF"/>
                          </a:solidFill>
                          <a:latin typeface="Source Han Sans SC"/>
                        </a:rPr>
                        <a:t>Test accuracy per seed (42-46)</a:t>
                      </a:r>
                    </a:p>
                    <a:p>
                      <a:pPr>
                        <a:lnSpc>
                          <a:spcPct val="100000"/>
                        </a:lnSpc>
                      </a:pPr>
                      <a:r>
                        <a:rPr sz="1000" b="0">
                          <a:solidFill>
                            <a:srgbClr val="C3D4EF"/>
                          </a:solidFill>
                          <a:latin typeface="Source Han Sans SC"/>
                        </a:rPr>
                        <a:t>5 个种子的测试精度（42–46）</a:t>
                      </a:r>
                    </a:p>
                  </a:txBody>
                  <a:tcPr>
                    <a:solidFill>
                      <a:srgbClr val="0E3F8C"/>
                    </a:solidFill>
                  </a:tcPr>
                </a:tc>
                <a:tc>
                  <a:txBody>
                    <a:bodyPr/>
                    <a:lstStyle/>
                    <a:p>
                      <a:r>
                        <a:rPr sz="1180" b="1">
                          <a:solidFill>
                            <a:srgbClr val="FFFFFF"/>
                          </a:solidFill>
                          <a:latin typeface="Source Han Sans SC"/>
                        </a:rPr>
                        <a:t>Matches true batch 128</a:t>
                      </a:r>
                    </a:p>
                    <a:p>
                      <a:pPr>
                        <a:lnSpc>
                          <a:spcPct val="100000"/>
                        </a:lnSpc>
                      </a:pPr>
                      <a:r>
                        <a:rPr sz="1000" b="0">
                          <a:solidFill>
                            <a:srgbClr val="C3D4EF"/>
                          </a:solidFill>
                          <a:latin typeface="Source Han Sans SC"/>
                        </a:rPr>
                        <a:t>与真 batch 128 一致</a:t>
                      </a:r>
                    </a:p>
                  </a:txBody>
                  <a:tcPr>
                    <a:solidFill>
                      <a:srgbClr val="0E3F8C"/>
                    </a:solidFill>
                  </a:tcPr>
                </a:tc>
              </a:tr>
              <a:tr h="606161">
                <a:tc>
                  <a:txBody>
                    <a:bodyPr/>
                    <a:lstStyle/>
                    <a:p>
                      <a:r>
                        <a:rPr sz="1060" b="1">
                          <a:solidFill>
                            <a:srgbClr val="1F2937"/>
                          </a:solidFill>
                          <a:latin typeface="Source Han Sans SC"/>
                        </a:rPr>
                        <a:t>True batch 128 (reference)</a:t>
                      </a:r>
                    </a:p>
                    <a:p>
                      <a:pPr>
                        <a:lnSpc>
                          <a:spcPct val="100000"/>
                        </a:lnSpc>
                      </a:pPr>
                      <a:r>
                        <a:rPr sz="900" b="0">
                          <a:solidFill>
                            <a:srgbClr val="6B7280"/>
                          </a:solidFill>
                          <a:latin typeface="Source Han Sans SC"/>
                        </a:rPr>
                        <a:t>真 batch 128（基准）</a:t>
                      </a:r>
                    </a:p>
                  </a:txBody>
                  <a:tcPr>
                    <a:solidFill>
                      <a:srgbClr val="FFFFFF"/>
                    </a:solidFill>
                  </a:tcPr>
                </a:tc>
                <a:tc>
                  <a:txBody>
                    <a:bodyPr/>
                    <a:lstStyle/>
                    <a:p>
                      <a:r>
                        <a:rPr sz="1060" b="0">
                          <a:solidFill>
                            <a:srgbClr val="1F2937"/>
                          </a:solidFill>
                          <a:latin typeface="Source Han Sans SC"/>
                        </a:rPr>
                        <a:t>0.9704 / 0.9815 / 0.9778 / 0.9926 / 0.9815</a:t>
                      </a:r>
                    </a:p>
                  </a:txBody>
                  <a:tcPr>
                    <a:solidFill>
                      <a:srgbClr val="FFFFFF"/>
                    </a:solidFill>
                  </a:tcPr>
                </a:tc>
                <a:tc>
                  <a:txBody>
                    <a:bodyPr/>
                    <a:lstStyle/>
                    <a:p>
                      <a:r>
                        <a:rPr sz="1060" b="0">
                          <a:solidFill>
                            <a:srgbClr val="1F2937"/>
                          </a:solidFill>
                          <a:latin typeface="Source Han Sans SC"/>
                        </a:rPr>
                        <a:t>- reference</a:t>
                      </a:r>
                    </a:p>
                    <a:p>
                      <a:pPr>
                        <a:lnSpc>
                          <a:spcPct val="100000"/>
                        </a:lnSpc>
                      </a:pPr>
                      <a:r>
                        <a:rPr sz="900" b="0">
                          <a:solidFill>
                            <a:srgbClr val="6B7280"/>
                          </a:solidFill>
                          <a:latin typeface="Source Han Sans SC"/>
                        </a:rPr>
                        <a:t>— 基准</a:t>
                      </a:r>
                    </a:p>
                  </a:txBody>
                  <a:tcPr>
                    <a:solidFill>
                      <a:srgbClr val="FFFFFF"/>
                    </a:solidFill>
                  </a:tcPr>
                </a:tc>
              </a:tr>
              <a:tr h="606161">
                <a:tc>
                  <a:txBody>
                    <a:bodyPr/>
                    <a:lstStyle/>
                    <a:p>
                      <a:r>
                        <a:rPr sz="1060" b="1">
                          <a:solidFill>
                            <a:srgbClr val="1F2937"/>
                          </a:solidFill>
                          <a:latin typeface="Source Han Sans SC"/>
                        </a:rPr>
                        <a:t>4x32, weight = micro-batch / group size</a:t>
                      </a:r>
                    </a:p>
                    <a:p>
                      <a:pPr>
                        <a:lnSpc>
                          <a:spcPct val="100000"/>
                        </a:lnSpc>
                      </a:pPr>
                      <a:r>
                        <a:rPr sz="900" b="0">
                          <a:solidFill>
                            <a:srgbClr val="6B7280"/>
                          </a:solidFill>
                          <a:latin typeface="Source Han Sans SC"/>
                        </a:rPr>
                        <a:t>4×32，权重 = 微批大小 / 组大小</a:t>
                      </a:r>
                    </a:p>
                  </a:txBody>
                  <a:tcPr>
                    <a:solidFill>
                      <a:srgbClr val="F0F5FC"/>
                    </a:solidFill>
                  </a:tcPr>
                </a:tc>
                <a:tc>
                  <a:txBody>
                    <a:bodyPr/>
                    <a:lstStyle/>
                    <a:p>
                      <a:r>
                        <a:rPr sz="1060" b="0">
                          <a:solidFill>
                            <a:srgbClr val="1F2937"/>
                          </a:solidFill>
                          <a:latin typeface="Source Han Sans SC"/>
                        </a:rPr>
                        <a:t>0.9704 / 0.9815 / 0.9778 / 0.9926 / 0.9815</a:t>
                      </a:r>
                    </a:p>
                  </a:txBody>
                  <a:tcPr>
                    <a:solidFill>
                      <a:srgbClr val="F0F5FC"/>
                    </a:solidFill>
                  </a:tcPr>
                </a:tc>
                <a:tc>
                  <a:txBody>
                    <a:bodyPr/>
                    <a:lstStyle/>
                    <a:p>
                      <a:r>
                        <a:rPr sz="1060" b="0">
                          <a:solidFill>
                            <a:srgbClr val="1F2937"/>
                          </a:solidFill>
                          <a:latin typeface="Source Han Sans SC"/>
                        </a:rPr>
                        <a:t>**5 / 5 identical**</a:t>
                      </a:r>
                    </a:p>
                    <a:p>
                      <a:pPr>
                        <a:lnSpc>
                          <a:spcPct val="100000"/>
                        </a:lnSpc>
                      </a:pPr>
                      <a:r>
                        <a:rPr sz="900" b="0">
                          <a:solidFill>
                            <a:srgbClr val="6B7280"/>
                          </a:solidFill>
                          <a:latin typeface="Source Han Sans SC"/>
                        </a:rPr>
                        <a:t>**5 / 5 完全一致**</a:t>
                      </a:r>
                    </a:p>
                  </a:txBody>
                  <a:tcPr>
                    <a:solidFill>
                      <a:srgbClr val="F0F5FC"/>
                    </a:solidFill>
                  </a:tcPr>
                </a:tc>
              </a:tr>
              <a:tr h="606161">
                <a:tc>
                  <a:txBody>
                    <a:bodyPr/>
                    <a:lstStyle/>
                    <a:p>
                      <a:r>
                        <a:rPr sz="1060" b="1">
                          <a:solidFill>
                            <a:srgbClr val="1F2937"/>
                          </a:solidFill>
                          <a:latin typeface="Source Han Sans SC"/>
                        </a:rPr>
                        <a:t>4x32, weight = 1 / accumulation steps</a:t>
                      </a:r>
                    </a:p>
                    <a:p>
                      <a:pPr>
                        <a:lnSpc>
                          <a:spcPct val="100000"/>
                        </a:lnSpc>
                      </a:pPr>
                      <a:r>
                        <a:rPr sz="900" b="0">
                          <a:solidFill>
                            <a:srgbClr val="6B7280"/>
                          </a:solidFill>
                          <a:latin typeface="Source Han Sans SC"/>
                        </a:rPr>
                        <a:t>4×32，权重 = 1 / 累积步数</a:t>
                      </a:r>
                    </a:p>
                  </a:txBody>
                  <a:tcPr>
                    <a:solidFill>
                      <a:srgbClr val="FFFFFF"/>
                    </a:solidFill>
                  </a:tcPr>
                </a:tc>
                <a:tc>
                  <a:txBody>
                    <a:bodyPr/>
                    <a:lstStyle/>
                    <a:p>
                      <a:r>
                        <a:rPr sz="1060" b="0">
                          <a:solidFill>
                            <a:srgbClr val="1F2937"/>
                          </a:solidFill>
                          <a:latin typeface="Source Han Sans SC"/>
                        </a:rPr>
                        <a:t>0.9704 / 0.9852 / 0.9778 / 0.9889 / 0.9815</a:t>
                      </a:r>
                    </a:p>
                  </a:txBody>
                  <a:tcPr>
                    <a:solidFill>
                      <a:srgbClr val="FFFFFF"/>
                    </a:solidFill>
                  </a:tcPr>
                </a:tc>
                <a:tc>
                  <a:txBody>
                    <a:bodyPr/>
                    <a:lstStyle/>
                    <a:p>
                      <a:r>
                        <a:rPr sz="1060" b="0">
                          <a:solidFill>
                            <a:srgbClr val="1F2937"/>
                          </a:solidFill>
                          <a:latin typeface="Source Han Sans SC"/>
                        </a:rPr>
                        <a:t>3 / 5</a:t>
                      </a:r>
                    </a:p>
                  </a:txBody>
                  <a:tcPr>
                    <a:solidFill>
                      <a:srgbClr val="FFFFFF"/>
                    </a:solidFill>
                  </a:tcPr>
                </a:tc>
              </a:tr>
              <a:tr h="606161">
                <a:tc>
                  <a:txBody>
                    <a:bodyPr/>
                    <a:lstStyle/>
                    <a:p>
                      <a:r>
                        <a:rPr sz="1060" b="1">
                          <a:solidFill>
                            <a:srgbClr val="1F2937"/>
                          </a:solidFill>
                          <a:latin typeface="Source Han Sans SC"/>
                        </a:rPr>
                        <a:t>4x32, weight = 1 (forgot to scale)</a:t>
                      </a:r>
                    </a:p>
                    <a:p>
                      <a:pPr>
                        <a:lnSpc>
                          <a:spcPct val="100000"/>
                        </a:lnSpc>
                      </a:pPr>
                      <a:r>
                        <a:rPr sz="900" b="0">
                          <a:solidFill>
                            <a:srgbClr val="6B7280"/>
                          </a:solidFill>
                          <a:latin typeface="Source Han Sans SC"/>
                        </a:rPr>
                        <a:t>4×32，权重 = 1（忘了缩放）</a:t>
                      </a:r>
                    </a:p>
                  </a:txBody>
                  <a:tcPr>
                    <a:solidFill>
                      <a:srgbClr val="F0F5FC"/>
                    </a:solidFill>
                  </a:tcPr>
                </a:tc>
                <a:tc>
                  <a:txBody>
                    <a:bodyPr/>
                    <a:lstStyle/>
                    <a:p>
                      <a:r>
                        <a:rPr sz="1060" b="0">
                          <a:solidFill>
                            <a:srgbClr val="1F2937"/>
                          </a:solidFill>
                          <a:latin typeface="Source Han Sans SC"/>
                        </a:rPr>
                        <a:t>0.9704 / 0.9852 / 0.9741 / 0.9889 / 0.9815</a:t>
                      </a:r>
                    </a:p>
                  </a:txBody>
                  <a:tcPr>
                    <a:solidFill>
                      <a:srgbClr val="F0F5FC"/>
                    </a:solidFill>
                  </a:tcPr>
                </a:tc>
                <a:tc>
                  <a:txBody>
                    <a:bodyPr/>
                    <a:lstStyle/>
                    <a:p>
                      <a:r>
                        <a:rPr sz="1060" b="0">
                          <a:solidFill>
                            <a:srgbClr val="1F2937"/>
                          </a:solidFill>
                          <a:latin typeface="Source Han Sans SC"/>
                        </a:rPr>
                        <a:t>2 / 5</a:t>
                      </a:r>
                    </a:p>
                  </a:txBody>
                  <a:tcPr>
                    <a:solidFill>
                      <a:srgbClr val="F0F5FC"/>
                    </a:solidFill>
                  </a:tcPr>
                </a:tc>
              </a:tr>
            </a:tbl>
          </a:graphicData>
        </a:graphic>
      </p:graphicFrame>
      <p:sp>
        <p:nvSpPr>
          <p:cNvPr id="11" name="TextBox 10"/>
          <p:cNvSpPr txBox="1"/>
          <p:nvPr/>
        </p:nvSpPr>
        <p:spPr>
          <a:xfrm>
            <a:off x="799200" y="4308805"/>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Row two is the correct form: each micro-batch is weighted by its SHARE of the group, not by 1/accumulation-steps. The two agree only while every micro-batch has the same size, and the last group of an epoch usually does not. Row three's 3/5 mismatch is two seeds hitting that tail. Row four: Adam normalises by the second moment, so a uniform 4x scaling is largely absorbed — with SGD it is nothing like this.</a:t>
            </a:r>
          </a:p>
          <a:p>
            <a:pPr algn="l">
              <a:lnSpc>
                <a:spcPct val="105000"/>
              </a:lnSpc>
              <a:spcBef>
                <a:spcPts val="150"/>
              </a:spcBef>
            </a:pPr>
            <a:r>
              <a:rPr sz="900" b="0" i="0">
                <a:solidFill>
                  <a:srgbClr val="6B7280"/>
                </a:solidFill>
                <a:latin typeface="Source Han Sans SC"/>
              </a:rPr>
              <a:t>第二行才是正确的写法：**每一微批的权重是「它占这一组样本的比例」，不是「1/累积步数」。** 两者只在「所有微批一样大」时才等价——而每个 epoch 的最后一组往往不一样大。第三行那 2/5 的不一致，就是这 2 个种子踩到了那个尾巴。至于第四行：Adam 会按梯度的二阶矩归一化，所以「整体放大 4 倍」几乎被它吃掉——用 SGD 就完全不是这样了。</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9742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97429"/>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597617"/>
          </a:xfrm>
          <a:prstGeom prst="rect">
            <a:avLst/>
          </a:prstGeom>
          <a:noFill/>
        </p:spPr>
        <p:txBody>
          <a:bodyPr wrap="square" anchor="t" lIns="0" rIns="0" tIns="0" bIns="0">
            <a:spAutoFit/>
          </a:bodyPr>
          <a:lstStyle/>
          <a:p>
            <a:pPr algn="l">
              <a:lnSpc>
                <a:spcPct val="114000"/>
              </a:lnSpc>
            </a:pPr>
            <a:r>
              <a:rPr sz="1350" b="1" i="0">
                <a:solidFill>
                  <a:srgbClr val="0E3F8C"/>
                </a:solidFill>
                <a:latin typeface="Source Han Sans SC"/>
              </a:rPr>
              <a:t>What to do when you run out of memory</a:t>
            </a:r>
          </a:p>
          <a:p>
            <a:pPr algn="l">
              <a:lnSpc>
                <a:spcPct val="105000"/>
              </a:lnSpc>
              <a:spcBef>
                <a:spcPts val="150"/>
              </a:spcBef>
            </a:pPr>
            <a:r>
              <a:rPr sz="1050" b="0" i="0">
                <a:solidFill>
                  <a:srgbClr val="6B7280"/>
                </a:solidFill>
                <a:latin typeface="Source Han Sans SC"/>
              </a:rPr>
              <a:t>OOM 的处置顺序</a:t>
            </a:r>
          </a:p>
        </p:txBody>
      </p:sp>
      <p:sp>
        <p:nvSpPr>
          <p:cNvPr id="6" name="TextBox 5"/>
          <p:cNvSpPr txBox="1"/>
          <p:nvPr/>
        </p:nvSpPr>
        <p:spPr>
          <a:xfrm>
            <a:off x="799200" y="619217"/>
            <a:ext cx="7713719" cy="435811"/>
          </a:xfrm>
          <a:prstGeom prst="rect">
            <a:avLst/>
          </a:prstGeom>
          <a:noFill/>
        </p:spPr>
        <p:txBody>
          <a:bodyPr wrap="square" anchor="t" lIns="0" rIns="0" tIns="0" bIns="0">
            <a:spAutoFit/>
          </a:bodyPr>
          <a:lstStyle/>
          <a:p>
            <a:pPr algn="l">
              <a:lnSpc>
                <a:spcPct val="114000"/>
              </a:lnSpc>
            </a:pPr>
            <a:r>
              <a:rPr sz="900" b="0" i="0">
                <a:solidFill>
                  <a:srgbClr val="6B7280"/>
                </a:solidFill>
                <a:latin typeface="Source Han Sans SC"/>
              </a:rPr>
              <a:t>Work down the list. Every step down costs more; the last two are no longer tuning, they are new hardware or a new plan</a:t>
            </a:r>
          </a:p>
          <a:p>
            <a:pPr algn="l">
              <a:lnSpc>
                <a:spcPct val="105000"/>
              </a:lnSpc>
              <a:spcBef>
                <a:spcPts val="150"/>
              </a:spcBef>
            </a:pPr>
            <a:r>
              <a:rPr sz="800" b="0" i="0">
                <a:solidFill>
                  <a:srgbClr val="6B7280"/>
                </a:solidFill>
                <a:latin typeface="Source Han Sans SC"/>
              </a:rPr>
              <a:t>从上往下试。越往下，代价越大——最后两条已经不是「调参」，是换硬件或换方案</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KT14 · Lab 6 will hit this</a:t>
            </a:r>
            <a:r>
              <a:rPr sz="800" b="0" i="0">
                <a:solidFill>
                  <a:srgbClr val="6B7280"/>
                </a:solidFill>
                <a:latin typeface="Source Han Sans SC"/>
              </a:rPr>
              <a:t> ｜ </a:t>
            </a:r>
            <a:r>
              <a:rPr sz="800" b="0" i="0">
                <a:solidFill>
                  <a:srgbClr val="6B7280"/>
                </a:solidFill>
                <a:latin typeface="Source Han Sans SC"/>
              </a:rPr>
              <a:t>KT14 · 实验 6 必踩</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28 / 32</a:t>
            </a:r>
          </a:p>
        </p:txBody>
      </p:sp>
      <p:sp>
        <p:nvSpPr>
          <p:cNvPr id="10" name="Rectangle 9"/>
          <p:cNvSpPr/>
          <p:nvPr/>
        </p:nvSpPr>
        <p:spPr>
          <a:xfrm>
            <a:off x="799200" y="1152000"/>
            <a:ext cx="10593719" cy="958677"/>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52000"/>
            <a:ext cx="32400" cy="958677"/>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979200" y="1419488"/>
            <a:ext cx="900000" cy="42370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79200" y="1419488"/>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1 · free</a:t>
            </a:r>
          </a:p>
          <a:p>
            <a:pPr algn="ctr">
              <a:lnSpc>
                <a:spcPct val="105000"/>
              </a:lnSpc>
              <a:spcBef>
                <a:spcPts val="150"/>
              </a:spcBef>
            </a:pPr>
            <a:r>
              <a:rPr sz="860" b="0" i="0">
                <a:solidFill>
                  <a:srgbClr val="CFDDF2"/>
                </a:solidFill>
                <a:latin typeface="Source Han Sans SC"/>
              </a:rPr>
              <a:t>1 · 免费</a:t>
            </a:r>
          </a:p>
        </p:txBody>
      </p:sp>
      <p:sp>
        <p:nvSpPr>
          <p:cNvPr id="14" name="TextBox 13"/>
          <p:cNvSpPr txBox="1"/>
          <p:nvPr/>
        </p:nvSpPr>
        <p:spPr>
          <a:xfrm>
            <a:off x="2023200" y="1259999"/>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Halve the batch size first</a:t>
            </a:r>
            <a:r>
              <a:rPr sz="800" b="0" i="0">
                <a:solidFill>
                  <a:srgbClr val="6B7280"/>
                </a:solidFill>
                <a:latin typeface="Source Han Sans SC"/>
              </a:rPr>
              <a:t> ｜ </a:t>
            </a:r>
            <a:r>
              <a:rPr sz="800" b="0" i="0">
                <a:solidFill>
                  <a:srgbClr val="6B7280"/>
                </a:solidFill>
                <a:latin typeface="Source Han Sans SC"/>
              </a:rPr>
              <a:t>先把 batch size 减半</a:t>
            </a:r>
          </a:p>
        </p:txBody>
      </p:sp>
      <p:sp>
        <p:nvSpPr>
          <p:cNvPr id="15" name="TextBox 14"/>
          <p:cNvSpPr txBox="1"/>
          <p:nvPr/>
        </p:nvSpPr>
        <p:spPr>
          <a:xfrm>
            <a:off x="2023200" y="1496937"/>
            <a:ext cx="9153719" cy="559740"/>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Changes memory, not maths. The side effect is noisier gradients — compensate with more steps or a higher learning rate. Do this before suspecting the hardware.</a:t>
            </a:r>
          </a:p>
          <a:p>
            <a:pPr algn="l">
              <a:lnSpc>
                <a:spcPct val="105000"/>
              </a:lnSpc>
              <a:spcBef>
                <a:spcPts val="150"/>
              </a:spcBef>
            </a:pPr>
            <a:r>
              <a:rPr sz="800" b="0" i="0">
                <a:solidFill>
                  <a:srgbClr val="6B7280"/>
                </a:solidFill>
                <a:latin typeface="Source Han Sans SC"/>
              </a:rPr>
              <a:t>不改变任何数学，只改变内存。副作用是梯度更吵——用 2 倍步数或更高的学习率补偿。先做这个，别先怀疑硬件。</a:t>
            </a:r>
          </a:p>
        </p:txBody>
      </p:sp>
      <p:sp>
        <p:nvSpPr>
          <p:cNvPr id="16" name="Rectangle 15"/>
          <p:cNvSpPr/>
          <p:nvPr/>
        </p:nvSpPr>
        <p:spPr>
          <a:xfrm>
            <a:off x="799200" y="2218677"/>
            <a:ext cx="10593719" cy="958677"/>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99200" y="2218677"/>
            <a:ext cx="32400" cy="958677"/>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979200" y="2486165"/>
            <a:ext cx="900000" cy="42370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79200" y="2486165"/>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2 · free</a:t>
            </a:r>
          </a:p>
          <a:p>
            <a:pPr algn="ctr">
              <a:lnSpc>
                <a:spcPct val="105000"/>
              </a:lnSpc>
              <a:spcBef>
                <a:spcPts val="150"/>
              </a:spcBef>
            </a:pPr>
            <a:r>
              <a:rPr sz="860" b="0" i="0">
                <a:solidFill>
                  <a:srgbClr val="CFDDF2"/>
                </a:solidFill>
                <a:latin typeface="Source Han Sans SC"/>
              </a:rPr>
              <a:t>2 · 免费</a:t>
            </a:r>
          </a:p>
        </p:txBody>
      </p:sp>
      <p:sp>
        <p:nvSpPr>
          <p:cNvPr id="20" name="TextBox 19"/>
          <p:cNvSpPr txBox="1"/>
          <p:nvPr/>
        </p:nvSpPr>
        <p:spPr>
          <a:xfrm>
            <a:off x="2023200" y="2326677"/>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Gradient accumulation: buy the effective batch back</a:t>
            </a:r>
            <a:r>
              <a:rPr sz="800" b="0" i="0">
                <a:solidFill>
                  <a:srgbClr val="6B7280"/>
                </a:solidFill>
                <a:latin typeface="Source Han Sans SC"/>
              </a:rPr>
              <a:t> ｜ </a:t>
            </a:r>
            <a:r>
              <a:rPr sz="800" b="0" i="0">
                <a:solidFill>
                  <a:srgbClr val="6B7280"/>
                </a:solidFill>
                <a:latin typeface="Source Han Sans SC"/>
              </a:rPr>
              <a:t>梯度累积：把等效 batch 买回来</a:t>
            </a:r>
          </a:p>
        </p:txBody>
      </p:sp>
      <p:sp>
        <p:nvSpPr>
          <p:cNvPr id="21" name="TextBox 20"/>
          <p:cNvSpPr txBox="1"/>
          <p:nvPr/>
        </p:nvSpPr>
        <p:spPr>
          <a:xfrm>
            <a:off x="2023200" y="2563615"/>
            <a:ext cx="9153719" cy="559740"/>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Measured: 4x32 with the right weighting reproduces true batch 128 exactly, 5/5. You pay in time, not accuracy. See row two of the previous page.</a:t>
            </a:r>
          </a:p>
          <a:p>
            <a:pPr algn="l">
              <a:lnSpc>
                <a:spcPct val="105000"/>
              </a:lnSpc>
              <a:spcBef>
                <a:spcPts val="150"/>
              </a:spcBef>
            </a:pPr>
            <a:r>
              <a:rPr sz="800" b="0" i="0">
                <a:solidFill>
                  <a:srgbClr val="6B7280"/>
                </a:solidFill>
                <a:latin typeface="Source Han Sans SC"/>
              </a:rPr>
              <a:t>实测：4×32 用对权重时与真 batch 128 **逐项一致（5/5）**。代价是时间，不是精度。见上一页第 2 行。</a:t>
            </a:r>
          </a:p>
        </p:txBody>
      </p:sp>
      <p:sp>
        <p:nvSpPr>
          <p:cNvPr id="22" name="Rectangle 21"/>
          <p:cNvSpPr/>
          <p:nvPr/>
        </p:nvSpPr>
        <p:spPr>
          <a:xfrm>
            <a:off x="799200" y="3285355"/>
            <a:ext cx="10593719" cy="958677"/>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99200" y="3285355"/>
            <a:ext cx="32400" cy="958677"/>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979200" y="3552843"/>
            <a:ext cx="900000" cy="423701"/>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9200" y="3552843"/>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3 · cheap</a:t>
            </a:r>
          </a:p>
          <a:p>
            <a:pPr algn="ctr">
              <a:lnSpc>
                <a:spcPct val="105000"/>
              </a:lnSpc>
              <a:spcBef>
                <a:spcPts val="150"/>
              </a:spcBef>
            </a:pPr>
            <a:r>
              <a:rPr sz="860" b="0" i="0">
                <a:solidFill>
                  <a:srgbClr val="CFDDF2"/>
                </a:solidFill>
                <a:latin typeface="Source Han Sans SC"/>
              </a:rPr>
              <a:t>3 · 便宜</a:t>
            </a:r>
          </a:p>
        </p:txBody>
      </p:sp>
      <p:sp>
        <p:nvSpPr>
          <p:cNvPr id="26" name="TextBox 25"/>
          <p:cNvSpPr txBox="1"/>
          <p:nvPr/>
        </p:nvSpPr>
        <p:spPr>
          <a:xfrm>
            <a:off x="2023200" y="3393355"/>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Mixed precision (AMP)</a:t>
            </a:r>
            <a:r>
              <a:rPr sz="800" b="0" i="0">
                <a:solidFill>
                  <a:srgbClr val="6B7280"/>
                </a:solidFill>
                <a:latin typeface="Source Han Sans SC"/>
              </a:rPr>
              <a:t> ｜ </a:t>
            </a:r>
            <a:r>
              <a:rPr sz="800" b="0" i="0">
                <a:solidFill>
                  <a:srgbClr val="6B7280"/>
                </a:solidFill>
                <a:latin typeface="Source Han Sans SC"/>
              </a:rPr>
              <a:t>混合精度（AMP）</a:t>
            </a:r>
          </a:p>
        </p:txBody>
      </p:sp>
      <p:sp>
        <p:nvSpPr>
          <p:cNvPr id="27" name="TextBox 26"/>
          <p:cNvSpPr txBox="1"/>
          <p:nvPr/>
        </p:nvSpPr>
        <p:spPr>
          <a:xfrm>
            <a:off x="2023200" y="3630292"/>
            <a:ext cx="9153719" cy="559740"/>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torch.amp.autocast plus GradScaler, activations halved. It changes the numerics, so re-confirm the metric — cheap, not free.</a:t>
            </a:r>
          </a:p>
          <a:p>
            <a:pPr algn="l">
              <a:lnSpc>
                <a:spcPct val="105000"/>
              </a:lnSpc>
              <a:spcBef>
                <a:spcPts val="150"/>
              </a:spcBef>
            </a:pPr>
            <a:r>
              <a:rPr sz="800" b="0" i="0">
                <a:solidFill>
                  <a:srgbClr val="6B7280"/>
                </a:solidFill>
                <a:latin typeface="Source Han Sans SC"/>
              </a:rPr>
              <a:t>torch.amp.autocast + GradScaler，激活占半。注意：它改变数值，所以要重新确认指标没漂——不是免费，是便宜。</a:t>
            </a:r>
          </a:p>
        </p:txBody>
      </p:sp>
      <p:sp>
        <p:nvSpPr>
          <p:cNvPr id="28" name="Rectangle 27"/>
          <p:cNvSpPr/>
          <p:nvPr/>
        </p:nvSpPr>
        <p:spPr>
          <a:xfrm>
            <a:off x="799200" y="4352033"/>
            <a:ext cx="10593719" cy="958677"/>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99200" y="4352033"/>
            <a:ext cx="32400" cy="958677"/>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79200" y="4619521"/>
            <a:ext cx="900000" cy="42370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79200" y="4619521"/>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4 · costs</a:t>
            </a:r>
          </a:p>
          <a:p>
            <a:pPr algn="ctr">
              <a:lnSpc>
                <a:spcPct val="105000"/>
              </a:lnSpc>
              <a:spcBef>
                <a:spcPts val="150"/>
              </a:spcBef>
            </a:pPr>
            <a:r>
              <a:rPr sz="860" b="0" i="0">
                <a:solidFill>
                  <a:srgbClr val="CFDDF2"/>
                </a:solidFill>
                <a:latin typeface="Source Han Sans SC"/>
              </a:rPr>
              <a:t>4 · 有代价</a:t>
            </a:r>
          </a:p>
        </p:txBody>
      </p:sp>
      <p:sp>
        <p:nvSpPr>
          <p:cNvPr id="32" name="TextBox 31"/>
          <p:cNvSpPr txBox="1"/>
          <p:nvPr/>
        </p:nvSpPr>
        <p:spPr>
          <a:xfrm>
            <a:off x="2023200" y="4460033"/>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Gradient checkpointing / smaller input</a:t>
            </a:r>
            <a:r>
              <a:rPr sz="800" b="0" i="0">
                <a:solidFill>
                  <a:srgbClr val="6B7280"/>
                </a:solidFill>
                <a:latin typeface="Source Han Sans SC"/>
              </a:rPr>
              <a:t> ｜ </a:t>
            </a:r>
            <a:r>
              <a:rPr sz="800" b="0" i="0">
                <a:solidFill>
                  <a:srgbClr val="6B7280"/>
                </a:solidFill>
                <a:latin typeface="Source Han Sans SC"/>
              </a:rPr>
              <a:t>梯度检查点 / 更小的输入</a:t>
            </a:r>
          </a:p>
        </p:txBody>
      </p:sp>
      <p:sp>
        <p:nvSpPr>
          <p:cNvPr id="33" name="TextBox 32"/>
          <p:cNvSpPr txBox="1"/>
          <p:nvPr/>
        </p:nvSpPr>
        <p:spPr>
          <a:xfrm>
            <a:off x="2023200" y="4696970"/>
            <a:ext cx="9153719" cy="559740"/>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Time for memory, typically 20-30% slower. Shrinking the input changes the task itself — decide what you are measuring before you change it.</a:t>
            </a:r>
          </a:p>
          <a:p>
            <a:pPr algn="l">
              <a:lnSpc>
                <a:spcPct val="105000"/>
              </a:lnSpc>
              <a:spcBef>
                <a:spcPts val="150"/>
              </a:spcBef>
            </a:pPr>
            <a:r>
              <a:rPr sz="800" b="0" i="0">
                <a:solidFill>
                  <a:srgbClr val="6B7280"/>
                </a:solidFill>
                <a:latin typeface="Source Han Sans SC"/>
              </a:rPr>
              <a:t>用时间换内存，通常慢 20–30%。缩小输入分辨率会改变任务本身——改之前想清楚你在测什么。</a:t>
            </a:r>
          </a:p>
        </p:txBody>
      </p:sp>
      <p:sp>
        <p:nvSpPr>
          <p:cNvPr id="34" name="Rectangle 33"/>
          <p:cNvSpPr/>
          <p:nvPr/>
        </p:nvSpPr>
        <p:spPr>
          <a:xfrm>
            <a:off x="799200" y="5418710"/>
            <a:ext cx="10593719" cy="958677"/>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99200" y="5418710"/>
            <a:ext cx="32400" cy="958677"/>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79200" y="5686199"/>
            <a:ext cx="900000" cy="423701"/>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79200" y="5686199"/>
            <a:ext cx="900000" cy="423701"/>
          </a:xfrm>
          <a:prstGeom prst="rect">
            <a:avLst/>
          </a:prstGeom>
          <a:noFill/>
        </p:spPr>
        <p:txBody>
          <a:bodyPr wrap="square" anchor="ctr" lIns="0" rIns="0" tIns="0" bIns="0">
            <a:spAutoFit/>
          </a:bodyPr>
          <a:lstStyle/>
          <a:p>
            <a:pPr algn="ctr">
              <a:lnSpc>
                <a:spcPct val="105000"/>
              </a:lnSpc>
            </a:pPr>
            <a:r>
              <a:rPr sz="1100" b="1" i="0">
                <a:solidFill>
                  <a:srgbClr val="FFFFFF"/>
                </a:solidFill>
                <a:latin typeface="Source Han Sans SC"/>
              </a:rPr>
              <a:t>5 · last</a:t>
            </a:r>
          </a:p>
          <a:p>
            <a:pPr algn="ctr">
              <a:lnSpc>
                <a:spcPct val="105000"/>
              </a:lnSpc>
              <a:spcBef>
                <a:spcPts val="150"/>
              </a:spcBef>
            </a:pPr>
            <a:r>
              <a:rPr sz="860" b="0" i="0">
                <a:solidFill>
                  <a:srgbClr val="CFDDF2"/>
                </a:solidFill>
                <a:latin typeface="Source Han Sans SC"/>
              </a:rPr>
              <a:t>5 · 最后</a:t>
            </a:r>
          </a:p>
        </p:txBody>
      </p:sp>
      <p:sp>
        <p:nvSpPr>
          <p:cNvPr id="38" name="TextBox 37"/>
          <p:cNvSpPr txBox="1"/>
          <p:nvPr/>
        </p:nvSpPr>
        <p:spPr>
          <a:xfrm>
            <a:off x="2023200" y="5526710"/>
            <a:ext cx="9153719" cy="294537"/>
          </a:xfrm>
          <a:prstGeom prst="rect">
            <a:avLst/>
          </a:prstGeom>
          <a:noFill/>
        </p:spPr>
        <p:txBody>
          <a:bodyPr wrap="square" anchor="t" lIns="0" rIns="0" tIns="0" bIns="0">
            <a:spAutoFit/>
          </a:bodyPr>
          <a:lstStyle/>
          <a:p>
            <a:pPr algn="l">
              <a:lnSpc>
                <a:spcPct val="125000"/>
              </a:lnSpc>
            </a:pPr>
            <a:r>
              <a:rPr sz="1019" b="1" i="0">
                <a:solidFill>
                  <a:srgbClr val="0E3F8C"/>
                </a:solidFill>
                <a:latin typeface="Source Han Sans SC"/>
              </a:rPr>
              <a:t>Shrink the model, or admit the task does not fit</a:t>
            </a:r>
            <a:r>
              <a:rPr sz="800" b="0" i="0">
                <a:solidFill>
                  <a:srgbClr val="6B7280"/>
                </a:solidFill>
                <a:latin typeface="Source Han Sans SC"/>
              </a:rPr>
              <a:t> ｜ </a:t>
            </a:r>
            <a:r>
              <a:rPr sz="800" b="0" i="0">
                <a:solidFill>
                  <a:srgbClr val="6B7280"/>
                </a:solidFill>
                <a:latin typeface="Source Han Sans SC"/>
              </a:rPr>
              <a:t>降模型规模，或者承认这个任务本机做不了</a:t>
            </a:r>
          </a:p>
        </p:txBody>
      </p:sp>
      <p:sp>
        <p:nvSpPr>
          <p:cNvPr id="39" name="TextBox 38"/>
          <p:cNvSpPr txBox="1"/>
          <p:nvPr/>
        </p:nvSpPr>
        <p:spPr>
          <a:xfrm>
            <a:off x="2023200" y="5763648"/>
            <a:ext cx="9153719" cy="559740"/>
          </a:xfrm>
          <a:prstGeom prst="rect">
            <a:avLst/>
          </a:prstGeom>
          <a:noFill/>
        </p:spPr>
        <p:txBody>
          <a:bodyPr wrap="square" anchor="t" lIns="0" rIns="0" tIns="0" bIns="0">
            <a:spAutoFit/>
          </a:bodyPr>
          <a:lstStyle/>
          <a:p>
            <a:pPr algn="l">
              <a:lnSpc>
                <a:spcPct val="130000"/>
              </a:lnSpc>
            </a:pPr>
            <a:r>
              <a:rPr sz="880" b="0" i="0">
                <a:solidFill>
                  <a:srgbClr val="6B7280"/>
                </a:solidFill>
                <a:latin typeface="Source Han Sans SC"/>
              </a:rPr>
              <a:t>Buying a GPU is LAST, not first. Measured this week: this 8x8 model peaks at 390 MB. Compute what you actually need before shopping.</a:t>
            </a:r>
          </a:p>
          <a:p>
            <a:pPr algn="l">
              <a:lnSpc>
                <a:spcPct val="105000"/>
              </a:lnSpc>
              <a:spcBef>
                <a:spcPts val="150"/>
              </a:spcBef>
            </a:pPr>
            <a:r>
              <a:rPr sz="800" b="0" i="0">
                <a:solidFill>
                  <a:srgbClr val="6B7280"/>
                </a:solidFill>
                <a:latin typeface="Source Han Sans SC"/>
              </a:rPr>
              <a:t>**加显存是最后一条，不是第一条。** 本周实测：这个 8×8 模型峰值才 390 MB——先算清楚你到底需要多少，再谈买卡。</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Green computing: compute is finite</a:t>
            </a:r>
          </a:p>
          <a:p>
            <a:pPr algn="l">
              <a:lnSpc>
                <a:spcPct val="105000"/>
              </a:lnSpc>
              <a:spcBef>
                <a:spcPts val="150"/>
              </a:spcBef>
            </a:pPr>
            <a:r>
              <a:rPr sz="1210" b="0" i="0">
                <a:solidFill>
                  <a:srgbClr val="6B7280"/>
                </a:solidFill>
                <a:latin typeface="Source Han Sans SC"/>
              </a:rPr>
              <a:t>绿色计算：算力是有限资源</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Same data, same accuracy, 9x fewer parameters — measured this week, not a slogan</a:t>
            </a:r>
          </a:p>
          <a:p>
            <a:pPr algn="l">
              <a:lnSpc>
                <a:spcPct val="105000"/>
              </a:lnSpc>
              <a:spcBef>
                <a:spcPts val="150"/>
              </a:spcBef>
            </a:pPr>
            <a:r>
              <a:rPr sz="800" b="0" i="0">
                <a:solidFill>
                  <a:srgbClr val="6B7280"/>
                </a:solidFill>
                <a:latin typeface="Source Han Sans SC"/>
              </a:rPr>
              <a:t>同一份数据，同一个准确率，参数量差 9 倍——这句话在本周有实测支撑，不是口号</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civic</a:t>
            </a:r>
            <a:r>
              <a:rPr sz="800" b="0" i="0">
                <a:solidFill>
                  <a:srgbClr val="6B7280"/>
                </a:solidFill>
                <a:latin typeface="Source Han Sans SC"/>
              </a:rPr>
              <a:t> ｜ </a:t>
            </a:r>
            <a:r>
              <a:rPr sz="800" b="0" i="0">
                <a:solidFill>
                  <a:srgbClr val="6B7280"/>
                </a:solidFill>
                <a:latin typeface="Source Han Sans SC"/>
              </a:rPr>
              <a:t>思政</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29 / 32</a:t>
            </a:r>
          </a:p>
        </p:txBody>
      </p:sp>
      <p:sp>
        <p:nvSpPr>
          <p:cNvPr id="10" name="Rectangle 9"/>
          <p:cNvSpPr/>
          <p:nvPr/>
        </p:nvSpPr>
        <p:spPr>
          <a:xfrm>
            <a:off x="799200" y="1332000"/>
            <a:ext cx="3387239" cy="4540276"/>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332000"/>
            <a:ext cx="32400" cy="4540276"/>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22400" y="1483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Parameters are a bill</a:t>
            </a:r>
          </a:p>
          <a:p>
            <a:pPr algn="l">
              <a:lnSpc>
                <a:spcPct val="105000"/>
              </a:lnSpc>
              <a:spcBef>
                <a:spcPts val="150"/>
              </a:spcBef>
            </a:pPr>
            <a:r>
              <a:rPr sz="1130" b="0" i="0">
                <a:solidFill>
                  <a:srgbClr val="6B7280"/>
                </a:solidFill>
                <a:latin typeface="Source Han Sans SC"/>
              </a:rPr>
              <a:t>参数量就是电费</a:t>
            </a:r>
          </a:p>
        </p:txBody>
      </p:sp>
      <p:sp>
        <p:nvSpPr>
          <p:cNvPr id="13" name="TextBox 12"/>
          <p:cNvSpPr txBox="1"/>
          <p:nvPr/>
        </p:nvSpPr>
        <p:spPr>
          <a:xfrm>
            <a:off x="1022400" y="2069090"/>
            <a:ext cx="2940839" cy="3731186"/>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17,226 parameters reach 0.979; 1,898 reach 0.981. Those 15,328 extra parameters must be computed, moved and powered, in training and at inference.</a:t>
            </a:r>
            <a:r>
              <a:rPr sz="940" b="0" i="0">
                <a:solidFill>
                  <a:srgbClr val="6B7280"/>
                </a:solidFill>
                <a:latin typeface="Source Han Sans SC"/>
              </a:rPr>
              <a:t> ｜ </a:t>
            </a:r>
            <a:r>
              <a:rPr sz="940" b="0" i="0">
                <a:solidFill>
                  <a:srgbClr val="6B7280"/>
                </a:solidFill>
                <a:latin typeface="Source Han Sans SC"/>
              </a:rPr>
              <a:t>• 17 226 参数拿 0.979，1 898 参数拿 0.981。多出来的 15 328 个参数，在训练和推理里都要算、要传、要供电。</a:t>
            </a:r>
          </a:p>
          <a:p>
            <a:pPr algn="l">
              <a:lnSpc>
                <a:spcPct val="140000"/>
              </a:lnSpc>
              <a:spcAft>
                <a:spcPts val="400"/>
              </a:spcAft>
            </a:pPr>
            <a:r>
              <a:rPr sz="1200" b="0" i="0">
                <a:solidFill>
                  <a:srgbClr val="1F2937"/>
                </a:solidFill>
                <a:latin typeface="Source Han Sans SC"/>
              </a:rPr>
              <a:t>• "Reach the goal with less" is not piety; it starts with one question: was this size necessary?</a:t>
            </a:r>
            <a:r>
              <a:rPr sz="940" b="0" i="0">
                <a:solidFill>
                  <a:srgbClr val="6B7280"/>
                </a:solidFill>
                <a:latin typeface="Source Han Sans SC"/>
              </a:rPr>
              <a:t> ｜ </a:t>
            </a:r>
            <a:r>
              <a:rPr sz="940" b="0" i="0">
                <a:solidFill>
                  <a:srgbClr val="6B7280"/>
                </a:solidFill>
                <a:latin typeface="Source Han Sans SC"/>
              </a:rPr>
              <a:t>• 「用更少的成本达成目标」不是清高，是先问一句：这个规模是必要的吗？</a:t>
            </a:r>
          </a:p>
        </p:txBody>
      </p:sp>
      <p:sp>
        <p:nvSpPr>
          <p:cNvPr id="14" name="Rectangle 13"/>
          <p:cNvSpPr/>
          <p:nvPr/>
        </p:nvSpPr>
        <p:spPr>
          <a:xfrm>
            <a:off x="4402440" y="1332000"/>
            <a:ext cx="3387239" cy="4540276"/>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332000"/>
            <a:ext cx="32400" cy="454027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83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Measure before you buy</a:t>
            </a:r>
          </a:p>
          <a:p>
            <a:pPr algn="l">
              <a:lnSpc>
                <a:spcPct val="105000"/>
              </a:lnSpc>
              <a:spcBef>
                <a:spcPts val="150"/>
              </a:spcBef>
            </a:pPr>
            <a:r>
              <a:rPr sz="1130" b="0" i="0">
                <a:solidFill>
                  <a:srgbClr val="6B7280"/>
                </a:solidFill>
                <a:latin typeface="Source Han Sans SC"/>
              </a:rPr>
              <a:t>先量，再买</a:t>
            </a:r>
          </a:p>
        </p:txBody>
      </p:sp>
      <p:sp>
        <p:nvSpPr>
          <p:cNvPr id="17" name="TextBox 16"/>
          <p:cNvSpPr txBox="1"/>
          <p:nvPr/>
        </p:nvSpPr>
        <p:spPr>
          <a:xfrm>
            <a:off x="4625639" y="2069090"/>
            <a:ext cx="2940839" cy="3731186"/>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Measured: this model peaks at 390 MB, and batch 1024 only reaches 582 MB. It will never OOM.</a:t>
            </a:r>
            <a:r>
              <a:rPr sz="940" b="0" i="0">
                <a:solidFill>
                  <a:srgbClr val="6B7280"/>
                </a:solidFill>
                <a:latin typeface="Source Han Sans SC"/>
              </a:rPr>
              <a:t> ｜ </a:t>
            </a:r>
            <a:r>
              <a:rPr sz="940" b="0" i="0">
                <a:solidFill>
                  <a:srgbClr val="6B7280"/>
                </a:solidFill>
                <a:latin typeface="Source Han Sans SC"/>
              </a:rPr>
              <a:t>• 本周实测这个模型峰值 390 MB，batch 1024 也只要 582 MB。**它永远不会 OOM。**</a:t>
            </a:r>
          </a:p>
          <a:p>
            <a:pPr algn="l">
              <a:lnSpc>
                <a:spcPct val="140000"/>
              </a:lnSpc>
              <a:spcAft>
                <a:spcPts val="400"/>
              </a:spcAft>
            </a:pPr>
            <a:r>
              <a:rPr sz="1200" b="0" i="0">
                <a:solidFill>
                  <a:srgbClr val="1F2937"/>
                </a:solidFill>
                <a:latin typeface="Source Han Sans SC"/>
              </a:rPr>
              <a:t>• Measure the peak before requesting compute. Most "I need a bigger machine" is "I made the input too big".</a:t>
            </a:r>
            <a:r>
              <a:rPr sz="940" b="0" i="0">
                <a:solidFill>
                  <a:srgbClr val="6B7280"/>
                </a:solidFill>
                <a:latin typeface="Source Han Sans SC"/>
              </a:rPr>
              <a:t> ｜ </a:t>
            </a:r>
            <a:r>
              <a:rPr sz="940" b="0" i="0">
                <a:solidFill>
                  <a:srgbClr val="6B7280"/>
                </a:solidFill>
                <a:latin typeface="Source Han Sans SC"/>
              </a:rPr>
              <a:t>• 在申请算力之前先把峰值量出来。大多数「我需要更大的机子」其实是「我把输入搞太大了」。</a:t>
            </a:r>
          </a:p>
        </p:txBody>
      </p:sp>
      <p:sp>
        <p:nvSpPr>
          <p:cNvPr id="18" name="Rectangle 17"/>
          <p:cNvSpPr/>
          <p:nvPr/>
        </p:nvSpPr>
        <p:spPr>
          <a:xfrm>
            <a:off x="8005679" y="1332000"/>
            <a:ext cx="3387239" cy="4540276"/>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05679" y="1332000"/>
            <a:ext cx="32400" cy="454027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8879" y="1483200"/>
            <a:ext cx="2940839" cy="223200"/>
          </a:xfrm>
          <a:prstGeom prst="rect">
            <a:avLst/>
          </a:prstGeom>
          <a:noFill/>
        </p:spPr>
        <p:txBody>
          <a:bodyPr wrap="square" anchor="t" lIns="0" rIns="0" tIns="0" bIns="0">
            <a:spAutoFit/>
          </a:bodyPr>
          <a:lstStyle/>
          <a:p>
            <a:pPr algn="l">
              <a:lnSpc>
                <a:spcPct val="125000"/>
              </a:lnSpc>
            </a:pPr>
            <a:r>
              <a:rPr sz="1450" b="1" i="0">
                <a:solidFill>
                  <a:srgbClr val="0E3F8C"/>
                </a:solidFill>
                <a:latin typeface="Source Han Sans SC"/>
              </a:rPr>
              <a:t>Report the optimisations that did not work</a:t>
            </a:r>
          </a:p>
          <a:p>
            <a:pPr algn="l">
              <a:lnSpc>
                <a:spcPct val="105000"/>
              </a:lnSpc>
              <a:spcBef>
                <a:spcPts val="150"/>
              </a:spcBef>
            </a:pPr>
            <a:r>
              <a:rPr sz="1130" b="0" i="0">
                <a:solidFill>
                  <a:srgbClr val="6B7280"/>
                </a:solidFill>
                <a:latin typeface="Source Han Sans SC"/>
              </a:rPr>
              <a:t>无效的优化要如实写</a:t>
            </a:r>
          </a:p>
        </p:txBody>
      </p:sp>
      <p:sp>
        <p:nvSpPr>
          <p:cNvPr id="21" name="TextBox 20"/>
          <p:cNvSpPr txBox="1"/>
          <p:nvPr/>
        </p:nvSpPr>
        <p:spPr>
          <a:xfrm>
            <a:off x="8228879" y="2334265"/>
            <a:ext cx="2940839" cy="346601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This week's augmentation is the example: it costs 3 points of clean accuracy. Reporting only the 29-point robustness gain would be selective reporting.</a:t>
            </a:r>
            <a:r>
              <a:rPr sz="940" b="0" i="0">
                <a:solidFill>
                  <a:srgbClr val="6B7280"/>
                </a:solidFill>
                <a:latin typeface="Source Han Sans SC"/>
              </a:rPr>
              <a:t> ｜ </a:t>
            </a:r>
            <a:r>
              <a:rPr sz="940" b="0" i="0">
                <a:solidFill>
                  <a:srgbClr val="6B7280"/>
                </a:solidFill>
                <a:latin typeface="Source Han Sans SC"/>
              </a:rPr>
              <a:t>• 本周的增强就是例子：它让干净精度掉了 3 个点。要是只报平移实验那 29 个点，就是在选择性汇报。</a:t>
            </a:r>
          </a:p>
          <a:p>
            <a:pPr algn="l">
              <a:lnSpc>
                <a:spcPct val="140000"/>
              </a:lnSpc>
              <a:spcAft>
                <a:spcPts val="400"/>
              </a:spcAft>
            </a:pPr>
            <a:r>
              <a:rPr sz="1200" b="0" i="0">
                <a:solidFill>
                  <a:srgbClr val="1F2937"/>
                </a:solidFill>
                <a:latin typeface="Source Han Sans SC"/>
              </a:rPr>
              <a:t>• For AI-suggested memory optimisations, label which ones actually worked and which did not — that is this week's AI-collaboration task.</a:t>
            </a:r>
            <a:r>
              <a:rPr sz="940" b="0" i="0">
                <a:solidFill>
                  <a:srgbClr val="6B7280"/>
                </a:solidFill>
                <a:latin typeface="Source Han Sans SC"/>
              </a:rPr>
              <a:t> ｜ </a:t>
            </a:r>
            <a:r>
              <a:rPr sz="940" b="0" i="0">
                <a:solidFill>
                  <a:srgbClr val="6B7280"/>
                </a:solidFill>
                <a:latin typeface="Source Han Sans SC"/>
              </a:rPr>
              <a:t>• AI 给的显存优化建议，实测后**有效和无效都要标注**——这就是本周的 AI 协同任务。</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In-class quiz</a:t>
            </a:r>
          </a:p>
          <a:p>
            <a:pPr algn="l">
              <a:lnSpc>
                <a:spcPct val="105000"/>
              </a:lnSpc>
              <a:spcBef>
                <a:spcPts val="150"/>
              </a:spcBef>
            </a:pPr>
            <a:r>
              <a:rPr sz="1210" b="0" i="0">
                <a:solidFill>
                  <a:srgbClr val="6B7280"/>
                </a:solidFill>
                <a:latin typeface="Source Han Sans SC"/>
              </a:rPr>
              <a:t>随堂小测</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Closed book. Whatever you cannot answer is what to revise this week</a:t>
            </a:r>
          </a:p>
          <a:p>
            <a:pPr algn="l">
              <a:lnSpc>
                <a:spcPct val="105000"/>
              </a:lnSpc>
              <a:spcBef>
                <a:spcPts val="150"/>
              </a:spcBef>
            </a:pPr>
            <a:r>
              <a:rPr sz="800" b="0" i="0">
                <a:solidFill>
                  <a:srgbClr val="6B7280"/>
                </a:solidFill>
                <a:latin typeface="Source Han Sans SC"/>
              </a:rPr>
              <a:t>不看笔记。答不出的题，就是本周末要补的地方</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4 items · 5 min</a:t>
            </a:r>
            <a:r>
              <a:rPr sz="800" b="0" i="0">
                <a:solidFill>
                  <a:srgbClr val="6B7280"/>
                </a:solidFill>
                <a:latin typeface="Source Han Sans SC"/>
              </a:rPr>
              <a:t> ｜ </a:t>
            </a:r>
            <a:r>
              <a:rPr sz="800" b="0" i="0">
                <a:solidFill>
                  <a:srgbClr val="6B7280"/>
                </a:solidFill>
                <a:latin typeface="Source Han Sans SC"/>
              </a:rPr>
              <a:t>4 题 · 5 min</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30 / 32</a:t>
            </a:r>
          </a:p>
        </p:txBody>
      </p:sp>
      <p:sp>
        <p:nvSpPr>
          <p:cNvPr id="10" name="Rectangle 9"/>
          <p:cNvSpPr/>
          <p:nvPr/>
        </p:nvSpPr>
        <p:spPr>
          <a:xfrm>
            <a:off x="799200" y="1134000"/>
            <a:ext cx="5197859" cy="2498798"/>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997200" y="1296000"/>
            <a:ext cx="900000" cy="40888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97200" y="1296000"/>
            <a:ext cx="900000" cy="408881"/>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Q1</a:t>
            </a:r>
          </a:p>
          <a:p>
            <a:pPr algn="ctr">
              <a:lnSpc>
                <a:spcPct val="105000"/>
              </a:lnSpc>
              <a:spcBef>
                <a:spcPts val="150"/>
              </a:spcBef>
            </a:pPr>
            <a:r>
              <a:rPr sz="819" b="0" i="0">
                <a:solidFill>
                  <a:srgbClr val="CFDDF2"/>
                </a:solidFill>
                <a:latin typeface="Source Han Sans SC"/>
              </a:rPr>
              <a:t>题 1</a:t>
            </a:r>
          </a:p>
        </p:txBody>
      </p:sp>
      <p:sp>
        <p:nvSpPr>
          <p:cNvPr id="13" name="TextBox 12"/>
          <p:cNvSpPr txBox="1"/>
          <p:nvPr/>
        </p:nvSpPr>
        <p:spPr>
          <a:xfrm>
            <a:off x="2005200" y="1296000"/>
            <a:ext cx="3793859" cy="1142946"/>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8x8 input, 3x3 conv with s=1 p=1, then 2x2 max pooling with s=2. What is the feature-map size? And with a 3x3 conv, s=2, p=0?</a:t>
            </a:r>
          </a:p>
          <a:p>
            <a:pPr algn="l">
              <a:lnSpc>
                <a:spcPct val="105000"/>
              </a:lnSpc>
              <a:spcBef>
                <a:spcPts val="150"/>
              </a:spcBef>
            </a:pPr>
            <a:r>
              <a:rPr sz="900" b="0" i="0">
                <a:solidFill>
                  <a:srgbClr val="6B7280"/>
                </a:solidFill>
                <a:latin typeface="Source Han Sans SC"/>
              </a:rPr>
              <a:t>8×8 输入，先用 3×3 卷积（s=1, p=1），再过 2×2 最大池化（s=2）。输出特征图多大？换成 s=2, p=0 的卷积呢？</a:t>
            </a:r>
          </a:p>
        </p:txBody>
      </p:sp>
      <p:sp>
        <p:nvSpPr>
          <p:cNvPr id="14" name="TextBox 13"/>
          <p:cNvSpPr txBox="1"/>
          <p:nvPr/>
        </p:nvSpPr>
        <p:spPr>
          <a:xfrm>
            <a:off x="997200" y="2410146"/>
            <a:ext cx="4801859" cy="1150651"/>
          </a:xfrm>
          <a:prstGeom prst="rect">
            <a:avLst/>
          </a:prstGeom>
          <a:noFill/>
        </p:spPr>
        <p:txBody>
          <a:bodyPr wrap="square" anchor="t" lIns="0" rIns="0" tIns="0" bIns="0">
            <a:spAutoFit/>
          </a:bodyPr>
          <a:lstStyle/>
          <a:p>
            <a:pPr algn="l">
              <a:lnSpc>
                <a:spcPct val="134000"/>
              </a:lnSpc>
              <a:spcAft>
                <a:spcPts val="300"/>
              </a:spcAft>
            </a:pPr>
            <a:r>
              <a:rPr sz="950" b="0" i="0">
                <a:solidFill>
                  <a:srgbClr val="1F2937"/>
                </a:solidFill>
                <a:latin typeface="Source Han Sans SC"/>
              </a:rPr>
              <a:t>A. 4x4; a further conv gives 2x2</a:t>
            </a:r>
            <a:r>
              <a:rPr sz="800" b="0" i="0">
                <a:solidFill>
                  <a:srgbClr val="6B7280"/>
                </a:solidFill>
                <a:latin typeface="Source Han Sans SC"/>
              </a:rPr>
              <a:t> ｜ </a:t>
            </a:r>
            <a:r>
              <a:rPr sz="800" b="0" i="0">
                <a:solidFill>
                  <a:srgbClr val="6B7280"/>
                </a:solidFill>
                <a:latin typeface="Source Han Sans SC"/>
              </a:rPr>
              <a:t>A. 4×4；再做卷积就是 2×2</a:t>
            </a:r>
          </a:p>
          <a:p>
            <a:pPr algn="l">
              <a:lnSpc>
                <a:spcPct val="134000"/>
              </a:lnSpc>
              <a:spcAft>
                <a:spcPts val="300"/>
              </a:spcAft>
            </a:pPr>
            <a:r>
              <a:rPr sz="950" b="0" i="0">
                <a:solidFill>
                  <a:srgbClr val="1F2937"/>
                </a:solidFill>
                <a:latin typeface="Source Han Sans SC"/>
              </a:rPr>
              <a:t>B. stays 8x8; 4x4</a:t>
            </a:r>
            <a:r>
              <a:rPr sz="800" b="0" i="0">
                <a:solidFill>
                  <a:srgbClr val="6B7280"/>
                </a:solidFill>
                <a:latin typeface="Source Han Sans SC"/>
              </a:rPr>
              <a:t> ｜ </a:t>
            </a:r>
            <a:r>
              <a:rPr sz="800" b="0" i="0">
                <a:solidFill>
                  <a:srgbClr val="6B7280"/>
                </a:solidFill>
                <a:latin typeface="Source Han Sans SC"/>
              </a:rPr>
              <a:t>B. 8×8 不变；4×4</a:t>
            </a:r>
          </a:p>
          <a:p>
            <a:pPr algn="l">
              <a:lnSpc>
                <a:spcPct val="134000"/>
              </a:lnSpc>
              <a:spcAft>
                <a:spcPts val="300"/>
              </a:spcAft>
            </a:pPr>
            <a:r>
              <a:rPr sz="950" b="0" i="0">
                <a:solidFill>
                  <a:srgbClr val="1F2937"/>
                </a:solidFill>
                <a:latin typeface="Source Han Sans SC"/>
              </a:rPr>
              <a:t>C. 4x4; a further conv stays 4x4</a:t>
            </a:r>
            <a:r>
              <a:rPr sz="800" b="0" i="0">
                <a:solidFill>
                  <a:srgbClr val="6B7280"/>
                </a:solidFill>
                <a:latin typeface="Source Han Sans SC"/>
              </a:rPr>
              <a:t> ｜ </a:t>
            </a:r>
            <a:r>
              <a:rPr sz="800" b="0" i="0">
                <a:solidFill>
                  <a:srgbClr val="6B7280"/>
                </a:solidFill>
                <a:latin typeface="Source Han Sans SC"/>
              </a:rPr>
              <a:t>C. 4×4；输出还是 4×4</a:t>
            </a:r>
          </a:p>
        </p:txBody>
      </p:sp>
      <p:sp>
        <p:nvSpPr>
          <p:cNvPr id="15" name="Rectangle 14"/>
          <p:cNvSpPr/>
          <p:nvPr/>
        </p:nvSpPr>
        <p:spPr>
          <a:xfrm>
            <a:off x="6195059" y="1134000"/>
            <a:ext cx="5197859" cy="2498798"/>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393059" y="1296000"/>
            <a:ext cx="900000" cy="40888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393059" y="1296000"/>
            <a:ext cx="900000" cy="408881"/>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Q2</a:t>
            </a:r>
          </a:p>
          <a:p>
            <a:pPr algn="ctr">
              <a:lnSpc>
                <a:spcPct val="105000"/>
              </a:lnSpc>
              <a:spcBef>
                <a:spcPts val="150"/>
              </a:spcBef>
            </a:pPr>
            <a:r>
              <a:rPr sz="819" b="0" i="0">
                <a:solidFill>
                  <a:srgbClr val="CFDDF2"/>
                </a:solidFill>
                <a:latin typeface="Source Han Sans SC"/>
              </a:rPr>
              <a:t>题 2</a:t>
            </a:r>
          </a:p>
        </p:txBody>
      </p:sp>
      <p:sp>
        <p:nvSpPr>
          <p:cNvPr id="18" name="TextBox 17"/>
          <p:cNvSpPr txBox="1"/>
          <p:nvPr/>
        </p:nvSpPr>
        <p:spPr>
          <a:xfrm>
            <a:off x="7401059" y="1296000"/>
            <a:ext cx="3793859" cy="1367279"/>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This week the CNN reaches 0.981 with 1,898 parameters and the dense net reaches 0.979 with 17,226. Is "the CNN is better" correct? What should you write?</a:t>
            </a:r>
          </a:p>
          <a:p>
            <a:pPr algn="l">
              <a:lnSpc>
                <a:spcPct val="105000"/>
              </a:lnSpc>
              <a:spcBef>
                <a:spcPts val="150"/>
              </a:spcBef>
            </a:pPr>
            <a:r>
              <a:rPr sz="900" b="0" i="0">
                <a:solidFill>
                  <a:srgbClr val="6B7280"/>
                </a:solidFill>
                <a:latin typeface="Source Han Sans SC"/>
              </a:rPr>
              <a:t>本周卷积网 1 898 参数拿到 0.981，全连接 17 226 拿到 0.979。写「卷积更好」对不对？该怎么说？</a:t>
            </a:r>
          </a:p>
        </p:txBody>
      </p:sp>
      <p:sp>
        <p:nvSpPr>
          <p:cNvPr id="19" name="TextBox 18"/>
          <p:cNvSpPr txBox="1"/>
          <p:nvPr/>
        </p:nvSpPr>
        <p:spPr>
          <a:xfrm>
            <a:off x="6393059" y="2634479"/>
            <a:ext cx="4801859" cy="926319"/>
          </a:xfrm>
          <a:prstGeom prst="rect">
            <a:avLst/>
          </a:prstGeom>
          <a:noFill/>
        </p:spPr>
        <p:txBody>
          <a:bodyPr wrap="square" anchor="t" lIns="0" rIns="0" tIns="0" bIns="0">
            <a:spAutoFit/>
          </a:bodyPr>
          <a:lstStyle/>
          <a:p>
            <a:pPr algn="l">
              <a:lnSpc>
                <a:spcPct val="134000"/>
              </a:lnSpc>
              <a:spcAft>
                <a:spcPts val="300"/>
              </a:spcAft>
            </a:pPr>
            <a:r>
              <a:rPr sz="950" b="0" i="0">
                <a:solidFill>
                  <a:srgbClr val="1F2937"/>
                </a:solidFill>
                <a:latin typeface="Source Han Sans SC"/>
              </a:rPr>
              <a:t>A. Yes, 0.981 &gt; 0.979</a:t>
            </a:r>
            <a:r>
              <a:rPr sz="800" b="0" i="0">
                <a:solidFill>
                  <a:srgbClr val="6B7280"/>
                </a:solidFill>
                <a:latin typeface="Source Han Sans SC"/>
              </a:rPr>
              <a:t> ｜ </a:t>
            </a:r>
            <a:r>
              <a:rPr sz="800" b="0" i="0">
                <a:solidFill>
                  <a:srgbClr val="6B7280"/>
                </a:solidFill>
                <a:latin typeface="Source Han Sans SC"/>
              </a:rPr>
              <a:t>A. 对，0.981 &gt; 0.979</a:t>
            </a:r>
          </a:p>
          <a:p>
            <a:pPr algn="l">
              <a:lnSpc>
                <a:spcPct val="134000"/>
              </a:lnSpc>
              <a:spcAft>
                <a:spcPts val="300"/>
              </a:spcAft>
            </a:pPr>
            <a:r>
              <a:rPr sz="950" b="0" i="0">
                <a:solidFill>
                  <a:srgbClr val="1F2937"/>
                </a:solidFill>
                <a:latin typeface="Source Han Sans SC"/>
              </a:rPr>
              <a:t>B. A 0.002 gap is under the 0.008 sd → not observed, with 9x fewer parameters</a:t>
            </a:r>
            <a:r>
              <a:rPr sz="800" b="0" i="0">
                <a:solidFill>
                  <a:srgbClr val="6B7280"/>
                </a:solidFill>
                <a:latin typeface="Source Han Sans SC"/>
              </a:rPr>
              <a:t> ｜ </a:t>
            </a:r>
            <a:r>
              <a:rPr sz="800" b="0" i="0">
                <a:solidFill>
                  <a:srgbClr val="6B7280"/>
                </a:solidFill>
                <a:latin typeface="Source Han Sans SC"/>
              </a:rPr>
              <a:t>B. 差 0.002 小于一个标准差 0.008 → 未观察到显著差异，但参数量少 9 倍</a:t>
            </a:r>
          </a:p>
          <a:p>
            <a:pPr algn="l">
              <a:lnSpc>
                <a:spcPct val="134000"/>
              </a:lnSpc>
              <a:spcAft>
                <a:spcPts val="300"/>
              </a:spcAft>
            </a:pPr>
            <a:r>
              <a:rPr sz="950" b="0" i="0">
                <a:solidFill>
                  <a:srgbClr val="1F2937"/>
                </a:solidFill>
                <a:latin typeface="Source Han Sans SC"/>
              </a:rPr>
              <a:t>C. Cannot tell without training time</a:t>
            </a:r>
            <a:r>
              <a:rPr sz="800" b="0" i="0">
                <a:solidFill>
                  <a:srgbClr val="6B7280"/>
                </a:solidFill>
                <a:latin typeface="Source Han Sans SC"/>
              </a:rPr>
              <a:t> ｜ </a:t>
            </a:r>
            <a:r>
              <a:rPr sz="800" b="0" i="0">
                <a:solidFill>
                  <a:srgbClr val="6B7280"/>
                </a:solidFill>
                <a:latin typeface="Source Han Sans SC"/>
              </a:rPr>
              <a:t>C. 要看训练时间才能判断</a:t>
            </a:r>
          </a:p>
        </p:txBody>
      </p:sp>
      <p:sp>
        <p:nvSpPr>
          <p:cNvPr id="20" name="Rectangle 19"/>
          <p:cNvSpPr/>
          <p:nvPr/>
        </p:nvSpPr>
        <p:spPr>
          <a:xfrm>
            <a:off x="799200" y="3830798"/>
            <a:ext cx="5197859" cy="2498798"/>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997200" y="3992798"/>
            <a:ext cx="900000" cy="40888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97200" y="3992798"/>
            <a:ext cx="900000" cy="408881"/>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Q3</a:t>
            </a:r>
          </a:p>
          <a:p>
            <a:pPr algn="ctr">
              <a:lnSpc>
                <a:spcPct val="105000"/>
              </a:lnSpc>
              <a:spcBef>
                <a:spcPts val="150"/>
              </a:spcBef>
            </a:pPr>
            <a:r>
              <a:rPr sz="819" b="0" i="0">
                <a:solidFill>
                  <a:srgbClr val="CFDDF2"/>
                </a:solidFill>
                <a:latin typeface="Source Han Sans SC"/>
              </a:rPr>
              <a:t>题 3</a:t>
            </a:r>
          </a:p>
        </p:txBody>
      </p:sp>
      <p:sp>
        <p:nvSpPr>
          <p:cNvPr id="23" name="TextBox 22"/>
          <p:cNvSpPr txBox="1"/>
          <p:nvPr/>
        </p:nvSpPr>
        <p:spPr>
          <a:xfrm>
            <a:off x="2005200" y="3992798"/>
            <a:ext cx="3793859" cy="1142946"/>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With ±1px augmentation, clean test accuracy drops to 0.9504 but shift-by-(-1) rises from 0.6481 to 0.9415. Did the change help?</a:t>
            </a:r>
          </a:p>
          <a:p>
            <a:pPr algn="l">
              <a:lnSpc>
                <a:spcPct val="105000"/>
              </a:lnSpc>
              <a:spcBef>
                <a:spcPts val="150"/>
              </a:spcBef>
            </a:pPr>
            <a:r>
              <a:rPr sz="900" b="0" i="0">
                <a:solidFill>
                  <a:srgbClr val="6B7280"/>
                </a:solidFill>
                <a:latin typeface="Source Han Sans SC"/>
              </a:rPr>
              <a:t>模型加了 ±1px 增强后，干净测试集掉到 0.9504，但平移 −1 时从 0.6481 升到 0.9415。这个改动「有没有用」？</a:t>
            </a:r>
          </a:p>
        </p:txBody>
      </p:sp>
      <p:sp>
        <p:nvSpPr>
          <p:cNvPr id="24" name="TextBox 23"/>
          <p:cNvSpPr txBox="1"/>
          <p:nvPr/>
        </p:nvSpPr>
        <p:spPr>
          <a:xfrm>
            <a:off x="997200" y="5106945"/>
            <a:ext cx="4801859" cy="1150651"/>
          </a:xfrm>
          <a:prstGeom prst="rect">
            <a:avLst/>
          </a:prstGeom>
          <a:noFill/>
        </p:spPr>
        <p:txBody>
          <a:bodyPr wrap="square" anchor="t" lIns="0" rIns="0" tIns="0" bIns="0">
            <a:spAutoFit/>
          </a:bodyPr>
          <a:lstStyle/>
          <a:p>
            <a:pPr algn="l">
              <a:lnSpc>
                <a:spcPct val="134000"/>
              </a:lnSpc>
              <a:spcAft>
                <a:spcPts val="300"/>
              </a:spcAft>
            </a:pPr>
            <a:r>
              <a:rPr sz="950" b="0" i="0">
                <a:solidFill>
                  <a:srgbClr val="1F2937"/>
                </a:solidFill>
                <a:latin typeface="Source Han Sans SC"/>
              </a:rPr>
              <a:t>A. Yes, robustness improved a lot</a:t>
            </a:r>
            <a:r>
              <a:rPr sz="800" b="0" i="0">
                <a:solidFill>
                  <a:srgbClr val="6B7280"/>
                </a:solidFill>
                <a:latin typeface="Source Han Sans SC"/>
              </a:rPr>
              <a:t> ｜ </a:t>
            </a:r>
            <a:r>
              <a:rPr sz="800" b="0" i="0">
                <a:solidFill>
                  <a:srgbClr val="6B7280"/>
                </a:solidFill>
                <a:latin typeface="Source Han Sans SC"/>
              </a:rPr>
              <a:t>A. 有用，鲁棒性大涨</a:t>
            </a:r>
          </a:p>
          <a:p>
            <a:pPr algn="l">
              <a:lnSpc>
                <a:spcPct val="134000"/>
              </a:lnSpc>
              <a:spcAft>
                <a:spcPts val="300"/>
              </a:spcAft>
            </a:pPr>
            <a:r>
              <a:rPr sz="950" b="0" i="0">
                <a:solidFill>
                  <a:srgbClr val="1F2937"/>
                </a:solidFill>
                <a:latin typeface="Source Han Sans SC"/>
              </a:rPr>
              <a:t>B. No, clean accuracy dropped</a:t>
            </a:r>
            <a:r>
              <a:rPr sz="800" b="0" i="0">
                <a:solidFill>
                  <a:srgbClr val="6B7280"/>
                </a:solidFill>
                <a:latin typeface="Source Han Sans SC"/>
              </a:rPr>
              <a:t> ｜ </a:t>
            </a:r>
            <a:r>
              <a:rPr sz="800" b="0" i="0">
                <a:solidFill>
                  <a:srgbClr val="6B7280"/>
                </a:solidFill>
                <a:latin typeface="Source Han Sans SC"/>
              </a:rPr>
              <a:t>B. 没用，干净精度掉了</a:t>
            </a:r>
          </a:p>
          <a:p>
            <a:pPr algn="l">
              <a:lnSpc>
                <a:spcPct val="134000"/>
              </a:lnSpc>
              <a:spcAft>
                <a:spcPts val="300"/>
              </a:spcAft>
            </a:pPr>
            <a:r>
              <a:rPr sz="950" b="0" i="0">
                <a:solidFill>
                  <a:srgbClr val="1F2937"/>
                </a:solidFill>
                <a:latin typeface="Source Han Sans SC"/>
              </a:rPr>
              <a:t>C. It depends on whether real inputs are ever translated — a product question, not a model question</a:t>
            </a:r>
            <a:r>
              <a:rPr sz="800" b="0" i="0">
                <a:solidFill>
                  <a:srgbClr val="6B7280"/>
                </a:solidFill>
                <a:latin typeface="Source Han Sans SC"/>
              </a:rPr>
              <a:t> ｜ </a:t>
            </a:r>
            <a:r>
              <a:rPr sz="800" b="0" i="0">
                <a:solidFill>
                  <a:srgbClr val="6B7280"/>
                </a:solidFill>
                <a:latin typeface="Source Han Sans SC"/>
              </a:rPr>
              <a:t>C. 取决于真实输入里有没有平移——这是个产品问题，不是模型问题</a:t>
            </a:r>
          </a:p>
        </p:txBody>
      </p:sp>
      <p:sp>
        <p:nvSpPr>
          <p:cNvPr id="25" name="Rectangle 24"/>
          <p:cNvSpPr/>
          <p:nvPr/>
        </p:nvSpPr>
        <p:spPr>
          <a:xfrm>
            <a:off x="6195059" y="3830798"/>
            <a:ext cx="5197859" cy="2498798"/>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393059" y="3992798"/>
            <a:ext cx="900000" cy="40888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93059" y="3992798"/>
            <a:ext cx="900000" cy="408881"/>
          </a:xfrm>
          <a:prstGeom prst="rect">
            <a:avLst/>
          </a:prstGeom>
          <a:noFill/>
        </p:spPr>
        <p:txBody>
          <a:bodyPr wrap="square" anchor="ctr" lIns="0" rIns="0" tIns="0" bIns="0">
            <a:spAutoFit/>
          </a:bodyPr>
          <a:lstStyle/>
          <a:p>
            <a:pPr algn="ctr">
              <a:lnSpc>
                <a:spcPct val="110000"/>
              </a:lnSpc>
            </a:pPr>
            <a:r>
              <a:rPr sz="1050" b="1" i="0">
                <a:solidFill>
                  <a:srgbClr val="FFFFFF"/>
                </a:solidFill>
                <a:latin typeface="Source Han Sans SC"/>
              </a:rPr>
              <a:t>Q4</a:t>
            </a:r>
          </a:p>
          <a:p>
            <a:pPr algn="ctr">
              <a:lnSpc>
                <a:spcPct val="105000"/>
              </a:lnSpc>
              <a:spcBef>
                <a:spcPts val="150"/>
              </a:spcBef>
            </a:pPr>
            <a:r>
              <a:rPr sz="819" b="0" i="0">
                <a:solidFill>
                  <a:srgbClr val="CFDDF2"/>
                </a:solidFill>
                <a:latin typeface="Source Han Sans SC"/>
              </a:rPr>
              <a:t>题 4</a:t>
            </a:r>
          </a:p>
        </p:txBody>
      </p:sp>
      <p:sp>
        <p:nvSpPr>
          <p:cNvPr id="28" name="TextBox 27"/>
          <p:cNvSpPr txBox="1"/>
          <p:nvPr/>
        </p:nvSpPr>
        <p:spPr>
          <a:xfrm>
            <a:off x="7401059" y="3992798"/>
            <a:ext cx="3793859" cy="1142946"/>
          </a:xfrm>
          <a:prstGeom prst="rect">
            <a:avLst/>
          </a:prstGeom>
          <a:noFill/>
        </p:spPr>
        <p:txBody>
          <a:bodyPr wrap="square" anchor="t" lIns="0" rIns="0" tIns="0" bIns="0">
            <a:spAutoFit/>
          </a:bodyPr>
          <a:lstStyle/>
          <a:p>
            <a:pPr algn="l">
              <a:lnSpc>
                <a:spcPct val="128000"/>
              </a:lnSpc>
            </a:pPr>
            <a:r>
              <a:rPr sz="1150" b="1" i="0">
                <a:solidFill>
                  <a:srgbClr val="0E3F8C"/>
                </a:solidFill>
                <a:latin typeface="Source Han Sans SC"/>
              </a:rPr>
              <a:t>You want batch 128 but memory only fits 32. With 4x32 gradient accumulation, why is a weight of 1/4 not correct?</a:t>
            </a:r>
          </a:p>
          <a:p>
            <a:pPr algn="l">
              <a:lnSpc>
                <a:spcPct val="105000"/>
              </a:lnSpc>
              <a:spcBef>
                <a:spcPts val="150"/>
              </a:spcBef>
            </a:pPr>
            <a:r>
              <a:rPr sz="900" b="0" i="0">
                <a:solidFill>
                  <a:srgbClr val="6B7280"/>
                </a:solidFill>
                <a:latin typeface="Source Han Sans SC"/>
              </a:rPr>
              <a:t>你要跑 batch 128，但显存只放得下 32。用 4×32 梯度累积，为什么权重不能简单写 1/4？</a:t>
            </a:r>
          </a:p>
        </p:txBody>
      </p:sp>
      <p:sp>
        <p:nvSpPr>
          <p:cNvPr id="29" name="TextBox 28"/>
          <p:cNvSpPr txBox="1"/>
          <p:nvPr/>
        </p:nvSpPr>
        <p:spPr>
          <a:xfrm>
            <a:off x="6393059" y="5106945"/>
            <a:ext cx="4801859" cy="1150651"/>
          </a:xfrm>
          <a:prstGeom prst="rect">
            <a:avLst/>
          </a:prstGeom>
          <a:noFill/>
        </p:spPr>
        <p:txBody>
          <a:bodyPr wrap="square" anchor="t" lIns="0" rIns="0" tIns="0" bIns="0">
            <a:spAutoFit/>
          </a:bodyPr>
          <a:lstStyle/>
          <a:p>
            <a:pPr algn="l">
              <a:lnSpc>
                <a:spcPct val="134000"/>
              </a:lnSpc>
              <a:spcAft>
                <a:spcPts val="300"/>
              </a:spcAft>
            </a:pPr>
            <a:r>
              <a:rPr sz="950" b="0" i="0">
                <a:solidFill>
                  <a:srgbClr val="1F2937"/>
                </a:solidFill>
                <a:latin typeface="Source Han Sans SC"/>
              </a:rPr>
              <a:t>A. The last group of an epoch is unevenly split, so a plain average is biased</a:t>
            </a:r>
            <a:r>
              <a:rPr sz="800" b="0" i="0">
                <a:solidFill>
                  <a:srgbClr val="6B7280"/>
                </a:solidFill>
                <a:latin typeface="Source Han Sans SC"/>
              </a:rPr>
              <a:t> ｜ </a:t>
            </a:r>
            <a:r>
              <a:rPr sz="800" b="0" i="0">
                <a:solidFill>
                  <a:srgbClr val="6B7280"/>
                </a:solidFill>
                <a:latin typeface="Source Han Sans SC"/>
              </a:rPr>
              <a:t>A. 每个 epoch 最后一组的微批大小不等，简单平均会有偏</a:t>
            </a:r>
          </a:p>
          <a:p>
            <a:pPr algn="l">
              <a:lnSpc>
                <a:spcPct val="134000"/>
              </a:lnSpc>
              <a:spcAft>
                <a:spcPts val="300"/>
              </a:spcAft>
            </a:pPr>
            <a:r>
              <a:rPr sz="950" b="0" i="0">
                <a:solidFill>
                  <a:srgbClr val="1F2937"/>
                </a:solidFill>
                <a:latin typeface="Source Han Sans SC"/>
              </a:rPr>
              <a:t>B. Because Adam does not converge</a:t>
            </a:r>
            <a:r>
              <a:rPr sz="800" b="0" i="0">
                <a:solidFill>
                  <a:srgbClr val="6B7280"/>
                </a:solidFill>
                <a:latin typeface="Source Han Sans SC"/>
              </a:rPr>
              <a:t> ｜ </a:t>
            </a:r>
            <a:r>
              <a:rPr sz="800" b="0" i="0">
                <a:solidFill>
                  <a:srgbClr val="6B7280"/>
                </a:solidFill>
                <a:latin typeface="Source Han Sans SC"/>
              </a:rPr>
              <a:t>B. 因为 Adam 不收敛</a:t>
            </a:r>
          </a:p>
          <a:p>
            <a:pPr algn="l">
              <a:lnSpc>
                <a:spcPct val="134000"/>
              </a:lnSpc>
              <a:spcAft>
                <a:spcPts val="300"/>
              </a:spcAft>
            </a:pPr>
            <a:r>
              <a:rPr sz="950" b="0" i="0">
                <a:solidFill>
                  <a:srgbClr val="1F2937"/>
                </a:solidFill>
                <a:latin typeface="Source Han Sans SC"/>
              </a:rPr>
              <a:t>C. It is exactly equivalent; 1/4 is fine</a:t>
            </a:r>
            <a:r>
              <a:rPr sz="800" b="0" i="0">
                <a:solidFill>
                  <a:srgbClr val="6B7280"/>
                </a:solidFill>
                <a:latin typeface="Source Han Sans SC"/>
              </a:rPr>
              <a:t> ｜ </a:t>
            </a:r>
            <a:r>
              <a:rPr sz="800" b="0" i="0">
                <a:solidFill>
                  <a:srgbClr val="6B7280"/>
                </a:solidFill>
                <a:latin typeface="Source Han Sans SC"/>
              </a:rPr>
              <a:t>C. 其实完全等价，1/4 就行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800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129600"/>
            <a:ext cx="7713719" cy="662845"/>
          </a:xfrm>
          <a:prstGeom prst="rect">
            <a:avLst/>
          </a:prstGeom>
          <a:noFill/>
        </p:spPr>
        <p:txBody>
          <a:bodyPr wrap="square" anchor="t" lIns="0" rIns="0" tIns="0" bIns="0">
            <a:spAutoFit/>
          </a:bodyPr>
          <a:lstStyle/>
          <a:p>
            <a:pPr algn="l">
              <a:lnSpc>
                <a:spcPct val="114000"/>
              </a:lnSpc>
            </a:pPr>
            <a:r>
              <a:rPr sz="1550" b="1" i="0">
                <a:solidFill>
                  <a:srgbClr val="0E3F8C"/>
                </a:solidFill>
                <a:latin typeface="Source Han Sans SC"/>
              </a:rPr>
              <a:t>Summary</a:t>
            </a:r>
          </a:p>
          <a:p>
            <a:pPr algn="l">
              <a:lnSpc>
                <a:spcPct val="105000"/>
              </a:lnSpc>
              <a:spcBef>
                <a:spcPts val="150"/>
              </a:spcBef>
            </a:pPr>
            <a:r>
              <a:rPr sz="1210" b="0" i="0">
                <a:solidFill>
                  <a:srgbClr val="6B7280"/>
                </a:solidFill>
                <a:latin typeface="Source Han Sans SC"/>
              </a:rPr>
              <a:t>本周小结</a:t>
            </a:r>
          </a:p>
        </p:txBody>
      </p:sp>
      <p:sp>
        <p:nvSpPr>
          <p:cNvPr id="6" name="TextBox 5"/>
          <p:cNvSpPr txBox="1"/>
          <p:nvPr/>
        </p:nvSpPr>
        <p:spPr>
          <a:xfrm>
            <a:off x="799200" y="691645"/>
            <a:ext cx="7713719" cy="453185"/>
          </a:xfrm>
          <a:prstGeom prst="rect">
            <a:avLst/>
          </a:prstGeom>
          <a:noFill/>
        </p:spPr>
        <p:txBody>
          <a:bodyPr wrap="square" anchor="t" lIns="0" rIns="0" tIns="0" bIns="0">
            <a:spAutoFit/>
          </a:bodyPr>
          <a:lstStyle/>
          <a:p>
            <a:pPr algn="l">
              <a:lnSpc>
                <a:spcPct val="114000"/>
              </a:lnSpc>
            </a:pPr>
            <a:r>
              <a:rPr sz="1000" b="0" i="0">
                <a:solidFill>
                  <a:srgbClr val="6B7280"/>
                </a:solidFill>
                <a:latin typeface="Source Han Sans SC"/>
              </a:rPr>
              <a:t>digits 8x8 · 70/15/15 · n_train=1258 · Adam 1e-3 · batch 64 · 120 epochs · 5 seeds</a:t>
            </a:r>
          </a:p>
          <a:p>
            <a:pPr algn="l">
              <a:lnSpc>
                <a:spcPct val="105000"/>
              </a:lnSpc>
              <a:spcBef>
                <a:spcPts val="150"/>
              </a:spcBef>
            </a:pPr>
            <a:r>
              <a:rPr sz="800" b="0" i="0">
                <a:solidFill>
                  <a:srgbClr val="6B7280"/>
                </a:solidFill>
                <a:latin typeface="Source Han Sans SC"/>
              </a:rPr>
              <a:t>digits 8×8 · 70/15/15 · 训练集 n=1258 · Adam 1e-3 · batch 64 · 120 轮 · 5 个随机种子</a:t>
            </a:r>
          </a:p>
        </p:txBody>
      </p:sp>
      <p:sp>
        <p:nvSpPr>
          <p:cNvPr id="7" name="TextBox 6"/>
          <p:cNvSpPr txBox="1"/>
          <p:nvPr/>
        </p:nvSpPr>
        <p:spPr>
          <a:xfrm>
            <a:off x="8656919" y="309600"/>
            <a:ext cx="2736000" cy="720000"/>
          </a:xfrm>
          <a:prstGeom prst="rect">
            <a:avLst/>
          </a:prstGeom>
          <a:noFill/>
        </p:spPr>
        <p:txBody>
          <a:bodyPr wrap="square" anchor="t" lIns="0" rIns="0" tIns="0" bIns="0">
            <a:spAutoFit/>
          </a:bodyPr>
          <a:lstStyle/>
          <a:p>
            <a:pPr algn="r">
              <a:lnSpc>
                <a:spcPct val="116000"/>
              </a:lnSpc>
            </a:pPr>
            <a:r>
              <a:rPr sz="1000" b="0" i="0">
                <a:solidFill>
                  <a:srgbClr val="6B7280"/>
                </a:solidFill>
                <a:latin typeface="Source Han Sans SC"/>
              </a:rPr>
              <a:t>Module 2 · Week 7</a:t>
            </a:r>
            <a:r>
              <a:rPr sz="800" b="0" i="0">
                <a:solidFill>
                  <a:srgbClr val="6B7280"/>
                </a:solidFill>
                <a:latin typeface="Source Han Sans SC"/>
              </a:rPr>
              <a:t> ｜ </a:t>
            </a:r>
            <a:r>
              <a:rPr sz="800" b="0" i="0">
                <a:solidFill>
                  <a:srgbClr val="6B7280"/>
                </a:solidFill>
                <a:latin typeface="Source Han Sans SC"/>
              </a:rPr>
              <a:t>模块二 · Week 7</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31 / 32</a:t>
            </a:r>
          </a:p>
        </p:txBody>
      </p:sp>
      <p:sp>
        <p:nvSpPr>
          <p:cNvPr id="10" name="Rectangle 9"/>
          <p:cNvSpPr/>
          <p:nvPr/>
        </p:nvSpPr>
        <p:spPr>
          <a:xfrm>
            <a:off x="799200" y="1152000"/>
            <a:ext cx="6696000" cy="713711"/>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1152000"/>
            <a:ext cx="475200" cy="71371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9200" y="1382855"/>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1</a:t>
            </a:r>
          </a:p>
        </p:txBody>
      </p:sp>
      <p:sp>
        <p:nvSpPr>
          <p:cNvPr id="13" name="TextBox 12"/>
          <p:cNvSpPr txBox="1"/>
          <p:nvPr/>
        </p:nvSpPr>
        <p:spPr>
          <a:xfrm>
            <a:off x="1429200" y="1209600"/>
            <a:ext cx="5832000" cy="598511"/>
          </a:xfrm>
          <a:prstGeom prst="rect">
            <a:avLst/>
          </a:prstGeom>
          <a:noFill/>
        </p:spPr>
        <p:txBody>
          <a:bodyPr wrap="square" anchor="ctr" lIns="0" rIns="0" tIns="0" bIns="0">
            <a:spAutoFit/>
          </a:bodyPr>
          <a:lstStyle/>
          <a:p>
            <a:pPr algn="l">
              <a:lnSpc>
                <a:spcPct val="130000"/>
              </a:lnSpc>
            </a:pPr>
            <a:r>
              <a:rPr sz="1050" b="0" i="0">
                <a:solidFill>
                  <a:srgbClr val="1F2937"/>
                </a:solidFill>
                <a:latin typeface="Source Han Sans SC"/>
              </a:rPr>
              <a:t>A conv layer is not stronger; it trades a locality assumption for parameter efficiency. 9x fewer parameters, 0.002 accuracy difference.</a:t>
            </a:r>
          </a:p>
          <a:p>
            <a:pPr algn="l">
              <a:lnSpc>
                <a:spcPct val="105000"/>
              </a:lnSpc>
              <a:spcBef>
                <a:spcPts val="150"/>
              </a:spcBef>
            </a:pPr>
            <a:r>
              <a:rPr sz="819" b="0" i="0">
                <a:solidFill>
                  <a:srgbClr val="6B7280"/>
                </a:solidFill>
                <a:latin typeface="Source Han Sans SC"/>
              </a:rPr>
              <a:t>卷积不是「更强的层」，是「用局部性假设换参数效率」。同一数据上参数量差 9 倍，准确率差 0.002。</a:t>
            </a:r>
          </a:p>
        </p:txBody>
      </p:sp>
      <p:sp>
        <p:nvSpPr>
          <p:cNvPr id="14" name="Rectangle 13"/>
          <p:cNvSpPr/>
          <p:nvPr/>
        </p:nvSpPr>
        <p:spPr>
          <a:xfrm>
            <a:off x="799200" y="1901711"/>
            <a:ext cx="6696000" cy="713711"/>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99200" y="1901711"/>
            <a:ext cx="475200" cy="71371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99200" y="2132566"/>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2</a:t>
            </a:r>
          </a:p>
        </p:txBody>
      </p:sp>
      <p:sp>
        <p:nvSpPr>
          <p:cNvPr id="17" name="TextBox 16"/>
          <p:cNvSpPr txBox="1"/>
          <p:nvPr/>
        </p:nvSpPr>
        <p:spPr>
          <a:xfrm>
            <a:off x="1429200" y="1959311"/>
            <a:ext cx="5832000" cy="598511"/>
          </a:xfrm>
          <a:prstGeom prst="rect">
            <a:avLst/>
          </a:prstGeom>
          <a:noFill/>
        </p:spPr>
        <p:txBody>
          <a:bodyPr wrap="square" anchor="ctr" lIns="0" rIns="0" tIns="0" bIns="0">
            <a:spAutoFit/>
          </a:bodyPr>
          <a:lstStyle/>
          <a:p>
            <a:pPr algn="l">
              <a:lnSpc>
                <a:spcPct val="130000"/>
              </a:lnSpc>
            </a:pPr>
            <a:r>
              <a:rPr sz="1050" b="0" i="0">
                <a:solidFill>
                  <a:srgbClr val="1F2937"/>
                </a:solidFill>
                <a:latin typeface="Source Han Sans SC"/>
              </a:rPr>
              <a:t>Do the shape arithmetic before the code. Four formulas match real tensors; the receptive field covers the image by the second conv.</a:t>
            </a:r>
          </a:p>
          <a:p>
            <a:pPr algn="l">
              <a:lnSpc>
                <a:spcPct val="105000"/>
              </a:lnSpc>
              <a:spcBef>
                <a:spcPts val="150"/>
              </a:spcBef>
            </a:pPr>
            <a:r>
              <a:rPr sz="819" b="0" i="0">
                <a:solidFill>
                  <a:srgbClr val="6B7280"/>
                </a:solidFill>
                <a:latin typeface="Source Han Sans SC"/>
              </a:rPr>
              <a:t>形状的算术必须先算再做。输出尺寸四条公式与真实张量逐项一致；感受野第二层就覆盖整图。</a:t>
            </a:r>
          </a:p>
        </p:txBody>
      </p:sp>
      <p:sp>
        <p:nvSpPr>
          <p:cNvPr id="18" name="Rectangle 17"/>
          <p:cNvSpPr/>
          <p:nvPr/>
        </p:nvSpPr>
        <p:spPr>
          <a:xfrm>
            <a:off x="799200" y="2651422"/>
            <a:ext cx="6696000" cy="713711"/>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99200" y="2651422"/>
            <a:ext cx="475200" cy="71371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99200" y="2882277"/>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3</a:t>
            </a:r>
          </a:p>
        </p:txBody>
      </p:sp>
      <p:sp>
        <p:nvSpPr>
          <p:cNvPr id="21" name="TextBox 20"/>
          <p:cNvSpPr txBox="1"/>
          <p:nvPr/>
        </p:nvSpPr>
        <p:spPr>
          <a:xfrm>
            <a:off x="1429200" y="2709022"/>
            <a:ext cx="5832000" cy="598511"/>
          </a:xfrm>
          <a:prstGeom prst="rect">
            <a:avLst/>
          </a:prstGeom>
          <a:noFill/>
        </p:spPr>
        <p:txBody>
          <a:bodyPr wrap="square" anchor="ctr" lIns="0" rIns="0" tIns="0" bIns="0">
            <a:spAutoFit/>
          </a:bodyPr>
          <a:lstStyle/>
          <a:p>
            <a:pPr algn="l">
              <a:lnSpc>
                <a:spcPct val="130000"/>
              </a:lnSpc>
            </a:pPr>
            <a:r>
              <a:rPr sz="1050" b="0" i="0">
                <a:solidFill>
                  <a:srgbClr val="1F2937"/>
                </a:solidFill>
                <a:latin typeface="Source Han Sans SC"/>
              </a:rPr>
              <a:t>The pooling function is a CHOICE, not a default. Max against average is worth 4.1 points, five standard deviations.</a:t>
            </a:r>
          </a:p>
          <a:p>
            <a:pPr algn="l">
              <a:lnSpc>
                <a:spcPct val="105000"/>
              </a:lnSpc>
              <a:spcBef>
                <a:spcPts val="150"/>
              </a:spcBef>
            </a:pPr>
            <a:r>
              <a:rPr sz="819" b="0" i="0">
                <a:solidFill>
                  <a:srgbClr val="6B7280"/>
                </a:solidFill>
                <a:latin typeface="Source Han Sans SC"/>
              </a:rPr>
              <a:t>池化函数是**选择**，不是默认。最大池化与平均池化差 4.1 个点，是标准差的 5 倍。</a:t>
            </a:r>
          </a:p>
        </p:txBody>
      </p:sp>
      <p:sp>
        <p:nvSpPr>
          <p:cNvPr id="22" name="Rectangle 21"/>
          <p:cNvSpPr/>
          <p:nvPr/>
        </p:nvSpPr>
        <p:spPr>
          <a:xfrm>
            <a:off x="799200" y="3401133"/>
            <a:ext cx="6696000" cy="713711"/>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99200" y="3401133"/>
            <a:ext cx="475200" cy="71371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99200" y="3631988"/>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4</a:t>
            </a:r>
          </a:p>
        </p:txBody>
      </p:sp>
      <p:sp>
        <p:nvSpPr>
          <p:cNvPr id="25" name="TextBox 24"/>
          <p:cNvSpPr txBox="1"/>
          <p:nvPr/>
        </p:nvSpPr>
        <p:spPr>
          <a:xfrm>
            <a:off x="1429200" y="3458733"/>
            <a:ext cx="5832000" cy="598511"/>
          </a:xfrm>
          <a:prstGeom prst="rect">
            <a:avLst/>
          </a:prstGeom>
          <a:noFill/>
        </p:spPr>
        <p:txBody>
          <a:bodyPr wrap="square" anchor="ctr" lIns="0" rIns="0" tIns="0" bIns="0">
            <a:spAutoFit/>
          </a:bodyPr>
          <a:lstStyle/>
          <a:p>
            <a:pPr algn="l">
              <a:lnSpc>
                <a:spcPct val="130000"/>
              </a:lnSpc>
            </a:pPr>
            <a:r>
              <a:rPr sz="1050" b="0" i="0">
                <a:solidFill>
                  <a:srgbClr val="1F2937"/>
                </a:solidFill>
                <a:latin typeface="Source Han Sans SC"/>
              </a:rPr>
              <a:t>Augmentation buys robustness and pays clean accuracy: +29 points for -3. Whether to buy depends on whether inputs get translated.</a:t>
            </a:r>
          </a:p>
          <a:p>
            <a:pPr algn="l">
              <a:lnSpc>
                <a:spcPct val="105000"/>
              </a:lnSpc>
              <a:spcBef>
                <a:spcPts val="150"/>
              </a:spcBef>
            </a:pPr>
            <a:r>
              <a:rPr sz="819" b="0" i="0">
                <a:solidFill>
                  <a:srgbClr val="6B7280"/>
                </a:solidFill>
                <a:latin typeface="Source Han Sans SC"/>
              </a:rPr>
              <a:t>增强买鲁棒性、付干净精度：+29 个点换 −3 个点。**用不用取决于输入会不会被平移。**</a:t>
            </a:r>
          </a:p>
        </p:txBody>
      </p:sp>
      <p:sp>
        <p:nvSpPr>
          <p:cNvPr id="26" name="Rectangle 25"/>
          <p:cNvSpPr/>
          <p:nvPr/>
        </p:nvSpPr>
        <p:spPr>
          <a:xfrm>
            <a:off x="799200" y="4150844"/>
            <a:ext cx="6696000" cy="713711"/>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99200" y="4150844"/>
            <a:ext cx="475200" cy="71371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99200" y="4381699"/>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5</a:t>
            </a:r>
          </a:p>
        </p:txBody>
      </p:sp>
      <p:sp>
        <p:nvSpPr>
          <p:cNvPr id="29" name="TextBox 28"/>
          <p:cNvSpPr txBox="1"/>
          <p:nvPr/>
        </p:nvSpPr>
        <p:spPr>
          <a:xfrm>
            <a:off x="1429200" y="4208444"/>
            <a:ext cx="5832000" cy="598511"/>
          </a:xfrm>
          <a:prstGeom prst="rect">
            <a:avLst/>
          </a:prstGeom>
          <a:noFill/>
        </p:spPr>
        <p:txBody>
          <a:bodyPr wrap="square" anchor="ctr" lIns="0" rIns="0" tIns="0" bIns="0">
            <a:spAutoFit/>
          </a:bodyPr>
          <a:lstStyle/>
          <a:p>
            <a:pPr algn="l">
              <a:lnSpc>
                <a:spcPct val="130000"/>
              </a:lnSpc>
            </a:pPr>
            <a:r>
              <a:rPr sz="1050" b="0" i="0">
                <a:solidFill>
                  <a:srgbClr val="1F2937"/>
                </a:solidFill>
                <a:latin typeface="Source Han Sans SC"/>
              </a:rPr>
              <a:t>"98%" is not a result. Confusion matrix, worst pair, concrete cases with probabilities, a testable hypothesis — all four, or it is not an error analysis.</a:t>
            </a:r>
          </a:p>
          <a:p>
            <a:pPr algn="l">
              <a:lnSpc>
                <a:spcPct val="105000"/>
              </a:lnSpc>
              <a:spcBef>
                <a:spcPts val="150"/>
              </a:spcBef>
            </a:pPr>
            <a:r>
              <a:rPr sz="819" b="0" i="0">
                <a:solidFill>
                  <a:srgbClr val="6B7280"/>
                </a:solidFill>
                <a:latin typeface="Source Han Sans SC"/>
              </a:rPr>
              <a:t>「98%」不是结果。混淆矩阵、最差类对、具体样本加概率、可检验的假设——四件都齐才叫错分分析。</a:t>
            </a:r>
          </a:p>
        </p:txBody>
      </p:sp>
      <p:sp>
        <p:nvSpPr>
          <p:cNvPr id="30" name="Rectangle 29"/>
          <p:cNvSpPr/>
          <p:nvPr/>
        </p:nvSpPr>
        <p:spPr>
          <a:xfrm>
            <a:off x="799200" y="4900555"/>
            <a:ext cx="6696000" cy="713711"/>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799200" y="4900555"/>
            <a:ext cx="475200" cy="713711"/>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99200" y="5131411"/>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6</a:t>
            </a:r>
          </a:p>
        </p:txBody>
      </p:sp>
      <p:sp>
        <p:nvSpPr>
          <p:cNvPr id="33" name="TextBox 32"/>
          <p:cNvSpPr txBox="1"/>
          <p:nvPr/>
        </p:nvSpPr>
        <p:spPr>
          <a:xfrm>
            <a:off x="1429200" y="4958155"/>
            <a:ext cx="5832000" cy="598511"/>
          </a:xfrm>
          <a:prstGeom prst="rect">
            <a:avLst/>
          </a:prstGeom>
          <a:noFill/>
        </p:spPr>
        <p:txBody>
          <a:bodyPr wrap="square" anchor="ctr" lIns="0" rIns="0" tIns="0" bIns="0">
            <a:spAutoFit/>
          </a:bodyPr>
          <a:lstStyle/>
          <a:p>
            <a:pPr algn="l">
              <a:lnSpc>
                <a:spcPct val="130000"/>
              </a:lnSpc>
            </a:pPr>
            <a:r>
              <a:rPr sz="1050" b="0" i="0">
                <a:solidFill>
                  <a:srgbClr val="1F2937"/>
                </a:solidFill>
                <a:latin typeface="Source Han Sans SC"/>
              </a:rPr>
              <a:t>Out of memory: drop the batch, then buy the effective batch back with accumulation. With the share-of-group weighting it reproduces the true batch exactly.</a:t>
            </a:r>
          </a:p>
          <a:p>
            <a:pPr algn="l">
              <a:lnSpc>
                <a:spcPct val="105000"/>
              </a:lnSpc>
              <a:spcBef>
                <a:spcPts val="150"/>
              </a:spcBef>
            </a:pPr>
            <a:r>
              <a:rPr sz="819" b="0" i="0">
                <a:solidFill>
                  <a:srgbClr val="6B7280"/>
                </a:solidFill>
                <a:latin typeface="Source Han Sans SC"/>
              </a:rPr>
              <a:t>显存不够先降 batch，再用梯度累积买回等效 batch。权重用「微批占组大小的比例」时，实测与真 batch 逐项一致。</a:t>
            </a:r>
          </a:p>
        </p:txBody>
      </p:sp>
      <p:sp>
        <p:nvSpPr>
          <p:cNvPr id="34" name="Rectangle 33"/>
          <p:cNvSpPr/>
          <p:nvPr/>
        </p:nvSpPr>
        <p:spPr>
          <a:xfrm>
            <a:off x="7801200" y="1152000"/>
            <a:ext cx="3591719" cy="48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017200" y="1267199"/>
            <a:ext cx="3159719" cy="216000"/>
          </a:xfrm>
          <a:prstGeom prst="rect">
            <a:avLst/>
          </a:prstGeom>
          <a:noFill/>
        </p:spPr>
        <p:txBody>
          <a:bodyPr wrap="square" anchor="t" lIns="0" rIns="0" tIns="0" bIns="0">
            <a:spAutoFit/>
          </a:bodyPr>
          <a:lstStyle/>
          <a:p>
            <a:pPr algn="l">
              <a:lnSpc>
                <a:spcPct val="125000"/>
              </a:lnSpc>
            </a:pPr>
            <a:r>
              <a:rPr sz="1400" b="1" i="0">
                <a:solidFill>
                  <a:srgbClr val="FFFFFF"/>
                </a:solidFill>
                <a:latin typeface="Source Han Sans SC"/>
              </a:rPr>
              <a:t>After Class</a:t>
            </a:r>
            <a:r>
              <a:rPr sz="1090" b="0" i="0">
                <a:solidFill>
                  <a:srgbClr val="CFDDF2"/>
                </a:solidFill>
                <a:latin typeface="Source Han Sans SC"/>
              </a:rPr>
              <a:t> ｜ </a:t>
            </a:r>
            <a:r>
              <a:rPr sz="1090" b="0" i="0">
                <a:solidFill>
                  <a:srgbClr val="CFDDF2"/>
                </a:solidFill>
                <a:latin typeface="Source Han Sans SC"/>
              </a:rPr>
              <a:t>课后待办</a:t>
            </a:r>
          </a:p>
        </p:txBody>
      </p:sp>
      <p:sp>
        <p:nvSpPr>
          <p:cNvPr id="36" name="Rectangle 35"/>
          <p:cNvSpPr/>
          <p:nvPr/>
        </p:nvSpPr>
        <p:spPr>
          <a:xfrm>
            <a:off x="7801200" y="1818000"/>
            <a:ext cx="3591719" cy="14483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017200" y="1947600"/>
            <a:ext cx="3159719" cy="216000"/>
          </a:xfrm>
          <a:prstGeom prst="rect">
            <a:avLst/>
          </a:prstGeom>
          <a:noFill/>
        </p:spPr>
        <p:txBody>
          <a:bodyPr wrap="square" anchor="t" lIns="0" rIns="0" tIns="0" bIns="0">
            <a:spAutoFit/>
          </a:bodyPr>
          <a:lstStyle/>
          <a:p>
            <a:pPr algn="l">
              <a:lnSpc>
                <a:spcPct val="125000"/>
              </a:lnSpc>
            </a:pPr>
            <a:r>
              <a:rPr sz="1050" b="1" i="0">
                <a:solidFill>
                  <a:srgbClr val="0E3F8C"/>
                </a:solidFill>
                <a:latin typeface="Source Han Sans SC"/>
              </a:rPr>
              <a:t>Lab 6 · required</a:t>
            </a:r>
            <a:r>
              <a:rPr sz="819" b="0" i="0">
                <a:solidFill>
                  <a:srgbClr val="6B7280"/>
                </a:solidFill>
                <a:latin typeface="Source Han Sans SC"/>
              </a:rPr>
              <a:t> ｜ </a:t>
            </a:r>
            <a:r>
              <a:rPr sz="819" b="0" i="0">
                <a:solidFill>
                  <a:srgbClr val="6B7280"/>
                </a:solidFill>
                <a:latin typeface="Source Han Sans SC"/>
              </a:rPr>
              <a:t>实验 6 · 必交</a:t>
            </a:r>
          </a:p>
        </p:txBody>
      </p:sp>
      <p:sp>
        <p:nvSpPr>
          <p:cNvPr id="38" name="TextBox 37"/>
          <p:cNvSpPr txBox="1"/>
          <p:nvPr/>
        </p:nvSpPr>
        <p:spPr>
          <a:xfrm>
            <a:off x="8017200" y="2178824"/>
            <a:ext cx="3159719" cy="1033575"/>
          </a:xfrm>
          <a:prstGeom prst="rect">
            <a:avLst/>
          </a:prstGeom>
          <a:noFill/>
        </p:spPr>
        <p:txBody>
          <a:bodyPr wrap="square" anchor="t" lIns="0" rIns="0" tIns="0" bIns="0">
            <a:spAutoFit/>
          </a:bodyPr>
          <a:lstStyle/>
          <a:p>
            <a:pPr algn="l">
              <a:lnSpc>
                <a:spcPct val="130000"/>
              </a:lnSpc>
            </a:pPr>
            <a:r>
              <a:rPr sz="800" b="0" i="0">
                <a:solidFill>
                  <a:srgbClr val="6B7280"/>
                </a:solidFill>
                <a:latin typeface="Source Han Sans SC"/>
              </a:rPr>
              <a:t>CNN image classification with augmentation; training curves, confusion matrix, 3+ misclassified cases with probabilities and hypotheses. See the Lab 6 handout.</a:t>
            </a:r>
          </a:p>
          <a:p>
            <a:pPr algn="l">
              <a:lnSpc>
                <a:spcPct val="105000"/>
              </a:lnSpc>
              <a:spcBef>
                <a:spcPts val="150"/>
              </a:spcBef>
            </a:pPr>
            <a:r>
              <a:rPr sz="800" b="0" i="0">
                <a:solidFill>
                  <a:srgbClr val="6B7280"/>
                </a:solidFill>
                <a:latin typeface="Source Han Sans SC"/>
              </a:rPr>
              <a:t>CNN 图像分类 + 数据增强；记录训练曲线、混淆矩阵、≥3 个错分案例（附概率与假设）。对应实验 6 指导书。</a:t>
            </a:r>
          </a:p>
        </p:txBody>
      </p:sp>
      <p:sp>
        <p:nvSpPr>
          <p:cNvPr id="39" name="Rectangle 38"/>
          <p:cNvSpPr/>
          <p:nvPr/>
        </p:nvSpPr>
        <p:spPr>
          <a:xfrm>
            <a:off x="7801200" y="3374399"/>
            <a:ext cx="3591719" cy="14483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017200" y="3503999"/>
            <a:ext cx="3159719" cy="216000"/>
          </a:xfrm>
          <a:prstGeom prst="rect">
            <a:avLst/>
          </a:prstGeom>
          <a:noFill/>
        </p:spPr>
        <p:txBody>
          <a:bodyPr wrap="square" anchor="t" lIns="0" rIns="0" tIns="0" bIns="0">
            <a:spAutoFit/>
          </a:bodyPr>
          <a:lstStyle/>
          <a:p>
            <a:pPr algn="l">
              <a:lnSpc>
                <a:spcPct val="125000"/>
              </a:lnSpc>
            </a:pPr>
            <a:r>
              <a:rPr sz="1050" b="1" i="0">
                <a:solidFill>
                  <a:srgbClr val="0E3F8C"/>
                </a:solidFill>
                <a:latin typeface="Source Han Sans SC"/>
              </a:rPr>
              <a:t>Capstone milestone M7</a:t>
            </a:r>
            <a:r>
              <a:rPr sz="819" b="0" i="0">
                <a:solidFill>
                  <a:srgbClr val="6B7280"/>
                </a:solidFill>
                <a:latin typeface="Source Han Sans SC"/>
              </a:rPr>
              <a:t> ｜ </a:t>
            </a:r>
            <a:r>
              <a:rPr sz="819" b="0" i="0">
                <a:solidFill>
                  <a:srgbClr val="6B7280"/>
                </a:solidFill>
                <a:latin typeface="Source Han Sans SC"/>
              </a:rPr>
              <a:t>项目里程碑 M7</a:t>
            </a:r>
          </a:p>
        </p:txBody>
      </p:sp>
      <p:sp>
        <p:nvSpPr>
          <p:cNvPr id="41" name="TextBox 40"/>
          <p:cNvSpPr txBox="1"/>
          <p:nvPr/>
        </p:nvSpPr>
        <p:spPr>
          <a:xfrm>
            <a:off x="8017200" y="3735224"/>
            <a:ext cx="3159719" cy="1033575"/>
          </a:xfrm>
          <a:prstGeom prst="rect">
            <a:avLst/>
          </a:prstGeom>
          <a:noFill/>
        </p:spPr>
        <p:txBody>
          <a:bodyPr wrap="square" anchor="t" lIns="0" rIns="0" tIns="0" bIns="0">
            <a:spAutoFit/>
          </a:bodyPr>
          <a:lstStyle/>
          <a:p>
            <a:pPr algn="l">
              <a:lnSpc>
                <a:spcPct val="130000"/>
              </a:lnSpc>
            </a:pPr>
            <a:r>
              <a:rPr sz="800" b="0" i="0">
                <a:solidFill>
                  <a:srgbClr val="6B7280"/>
                </a:solidFill>
                <a:latin typeface="Source Han Sans SC"/>
              </a:rPr>
              <a:t>Push: `python src/evaluate.py` prints the metric; model provenance recorded (which pretrained weights, which licence); error analysis names the worst class pair.</a:t>
            </a:r>
          </a:p>
          <a:p>
            <a:pPr algn="l">
              <a:lnSpc>
                <a:spcPct val="105000"/>
              </a:lnSpc>
              <a:spcBef>
                <a:spcPts val="150"/>
              </a:spcBef>
            </a:pPr>
            <a:r>
              <a:rPr sz="800" b="0" i="0">
                <a:solidFill>
                  <a:srgbClr val="6B7280"/>
                </a:solidFill>
                <a:latin typeface="Source Han Sans SC"/>
              </a:rPr>
              <a:t>推进准则：`python src/evaluate.py` 能打印指标；模型来源已记录（用了谁家的预训练权重、什么许可）；误差分析点名最差类对。</a:t>
            </a:r>
          </a:p>
        </p:txBody>
      </p:sp>
      <p:sp>
        <p:nvSpPr>
          <p:cNvPr id="42" name="Rectangle 41"/>
          <p:cNvSpPr/>
          <p:nvPr/>
        </p:nvSpPr>
        <p:spPr>
          <a:xfrm>
            <a:off x="7801200" y="4930800"/>
            <a:ext cx="3591719" cy="1448399"/>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017200" y="5060399"/>
            <a:ext cx="3159719" cy="216000"/>
          </a:xfrm>
          <a:prstGeom prst="rect">
            <a:avLst/>
          </a:prstGeom>
          <a:noFill/>
        </p:spPr>
        <p:txBody>
          <a:bodyPr wrap="square" anchor="t" lIns="0" rIns="0" tIns="0" bIns="0">
            <a:spAutoFit/>
          </a:bodyPr>
          <a:lstStyle/>
          <a:p>
            <a:pPr algn="l">
              <a:lnSpc>
                <a:spcPct val="125000"/>
              </a:lnSpc>
            </a:pPr>
            <a:r>
              <a:rPr sz="1050" b="1" i="0">
                <a:solidFill>
                  <a:srgbClr val="0E3F8C"/>
                </a:solidFill>
                <a:latin typeface="Source Han Sans SC"/>
              </a:rPr>
              <a:t>After-class prediction (5 lines)</a:t>
            </a:r>
            <a:r>
              <a:rPr sz="819" b="0" i="0">
                <a:solidFill>
                  <a:srgbClr val="6B7280"/>
                </a:solidFill>
                <a:latin typeface="Source Han Sans SC"/>
              </a:rPr>
              <a:t> ｜ </a:t>
            </a:r>
            <a:r>
              <a:rPr sz="819" b="0" i="0">
                <a:solidFill>
                  <a:srgbClr val="6B7280"/>
                </a:solidFill>
                <a:latin typeface="Source Han Sans SC"/>
              </a:rPr>
              <a:t>课后预判（写 5 行）</a:t>
            </a:r>
          </a:p>
        </p:txBody>
      </p:sp>
      <p:sp>
        <p:nvSpPr>
          <p:cNvPr id="44" name="TextBox 43"/>
          <p:cNvSpPr txBox="1"/>
          <p:nvPr/>
        </p:nvSpPr>
        <p:spPr>
          <a:xfrm>
            <a:off x="8017200" y="5486848"/>
            <a:ext cx="3159719" cy="838351"/>
          </a:xfrm>
          <a:prstGeom prst="rect">
            <a:avLst/>
          </a:prstGeom>
          <a:noFill/>
        </p:spPr>
        <p:txBody>
          <a:bodyPr wrap="square" anchor="t" lIns="0" rIns="0" tIns="0" bIns="0">
            <a:spAutoFit/>
          </a:bodyPr>
          <a:lstStyle/>
          <a:p>
            <a:pPr algn="l">
              <a:lnSpc>
                <a:spcPct val="130000"/>
              </a:lnSpc>
            </a:pPr>
            <a:r>
              <a:rPr sz="800" b="0" i="0">
                <a:solidFill>
                  <a:srgbClr val="6B7280"/>
                </a:solidFill>
                <a:latin typeface="Source Han Sans SC"/>
              </a:rPr>
              <a:t>If my images became 256x256, what new problems would this week's architecture have? Think about receptive field, parameters, memory and the number of pooling steps.</a:t>
            </a:r>
          </a:p>
          <a:p>
            <a:pPr algn="l">
              <a:lnSpc>
                <a:spcPct val="105000"/>
              </a:lnSpc>
              <a:spcBef>
                <a:spcPts val="150"/>
              </a:spcBef>
            </a:pPr>
            <a:r>
              <a:rPr sz="800" b="0" i="0">
                <a:solidFill>
                  <a:srgbClr val="6B7280"/>
                </a:solidFill>
                <a:latin typeface="Source Han Sans SC"/>
              </a:rPr>
              <a:t>「如果我的图像变成 256×256，本周的架构会出现哪些新问题？」（提示：感受野、参数、显存、池化次数各想一遍）</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07</a:t>
            </a:r>
          </a:p>
        </p:txBody>
      </p:sp>
      <p:sp>
        <p:nvSpPr>
          <p:cNvPr id="5" name="Rectangle 4"/>
          <p:cNvSpPr/>
          <p:nvPr/>
        </p:nvSpPr>
        <p:spPr>
          <a:xfrm>
            <a:off x="856800" y="936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1029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W7</a:t>
            </a:r>
          </a:p>
        </p:txBody>
      </p:sp>
      <p:sp>
        <p:nvSpPr>
          <p:cNvPr id="7" name="Rectangle 6"/>
          <p:cNvSpPr/>
          <p:nvPr/>
        </p:nvSpPr>
        <p:spPr>
          <a:xfrm>
            <a:off x="799200" y="15840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908000"/>
            <a:ext cx="8640000" cy="1680189"/>
          </a:xfrm>
          <a:prstGeom prst="rect">
            <a:avLst/>
          </a:prstGeom>
          <a:noFill/>
        </p:spPr>
        <p:txBody>
          <a:bodyPr wrap="square" anchor="t" lIns="0" rIns="0" tIns="0" bIns="0">
            <a:spAutoFit/>
          </a:bodyPr>
          <a:lstStyle/>
          <a:p>
            <a:pPr algn="l">
              <a:lnSpc>
                <a:spcPct val="130000"/>
              </a:lnSpc>
            </a:pPr>
            <a:r>
              <a:rPr sz="1700" b="1" i="0">
                <a:solidFill>
                  <a:srgbClr val="0E3F8C"/>
                </a:solidFill>
                <a:latin typeface="Source Han Sans SC"/>
              </a:rPr>
              <a:t>"How accurate is it" is an incomplete question. The complete one: which two classes does it hesitate between, and what do the wrong ones look like?</a:t>
            </a:r>
          </a:p>
          <a:p>
            <a:pPr algn="l">
              <a:lnSpc>
                <a:spcPct val="105000"/>
              </a:lnSpc>
              <a:spcBef>
                <a:spcPts val="150"/>
              </a:spcBef>
            </a:pPr>
            <a:r>
              <a:rPr sz="1330" b="0" i="0">
                <a:solidFill>
                  <a:srgbClr val="6B7280"/>
                </a:solidFill>
                <a:latin typeface="Source Han Sans SC"/>
              </a:rPr>
              <a:t>「准确率高不高」是个不完整的问题。
完整的问题是：它在哪两类之间犹豫，错的那几个长什么样。</a:t>
            </a:r>
          </a:p>
        </p:txBody>
      </p:sp>
      <p:sp>
        <p:nvSpPr>
          <p:cNvPr id="9" name="TextBox 8"/>
          <p:cNvSpPr txBox="1"/>
          <p:nvPr/>
        </p:nvSpPr>
        <p:spPr>
          <a:xfrm>
            <a:off x="799200" y="3552189"/>
            <a:ext cx="8640000" cy="432000"/>
          </a:xfrm>
          <a:prstGeom prst="rect">
            <a:avLst/>
          </a:prstGeom>
          <a:noFill/>
        </p:spPr>
        <p:txBody>
          <a:bodyPr wrap="square" anchor="t" lIns="0" rIns="0" tIns="0" bIns="0">
            <a:spAutoFit/>
          </a:bodyPr>
          <a:lstStyle/>
          <a:p>
            <a:pPr algn="l">
              <a:lnSpc>
                <a:spcPct val="125000"/>
              </a:lnSpc>
            </a:pPr>
            <a:r>
              <a:rPr sz="1200" b="0" i="0">
                <a:solidFill>
                  <a:srgbClr val="6B7280"/>
                </a:solidFill>
                <a:latin typeface="Source Han Sans SC"/>
              </a:rPr>
              <a:t>Every number this week comes from `scripts/w7_cnn_experiment.py` -&gt; `outputs/w7_cnn.json` (5 architectures x 5 seeds, plus the shift probe, the confusion matrix, the accumulation probe and the memory sweep).</a:t>
            </a:r>
          </a:p>
          <a:p>
            <a:pPr algn="l">
              <a:lnSpc>
                <a:spcPct val="105000"/>
              </a:lnSpc>
              <a:spcBef>
                <a:spcPts val="150"/>
              </a:spcBef>
            </a:pPr>
            <a:r>
              <a:rPr sz="940" b="0" i="0">
                <a:solidFill>
                  <a:srgbClr val="6B7280"/>
                </a:solidFill>
                <a:latin typeface="Source Han Sans SC"/>
              </a:rPr>
              <a:t>本周所有数字来自 `scripts/w7_cnn_experiment.py` → `outputs/w7_cnn.json`（5 架构 × 5 种子 + 平移探针 + 混淆矩阵 + 累积探针 + 内存扫描）。</a:t>
            </a:r>
          </a:p>
        </p:txBody>
      </p:sp>
      <p:sp>
        <p:nvSpPr>
          <p:cNvPr id="10" name="TextBox 9"/>
          <p:cNvSpPr txBox="1"/>
          <p:nvPr/>
        </p:nvSpPr>
        <p:spPr>
          <a:xfrm>
            <a:off x="799200" y="4589540"/>
            <a:ext cx="7920000" cy="360000"/>
          </a:xfrm>
          <a:prstGeom prst="rect">
            <a:avLst/>
          </a:prstGeom>
          <a:noFill/>
        </p:spPr>
        <p:txBody>
          <a:bodyPr wrap="square" anchor="t" lIns="0" rIns="0" tIns="0" bIns="0">
            <a:spAutoFit/>
          </a:bodyPr>
          <a:lstStyle/>
          <a:p>
            <a:pPr algn="l">
              <a:lnSpc>
                <a:spcPct val="125000"/>
              </a:lnSpc>
            </a:pPr>
            <a:r>
              <a:rPr sz="1900" b="1" i="0">
                <a:solidFill>
                  <a:srgbClr val="1F2937"/>
                </a:solidFill>
                <a:latin typeface="Source Han Sans SC"/>
              </a:rPr>
              <a:t>Thank you</a:t>
            </a:r>
          </a:p>
          <a:p>
            <a:pPr algn="l">
              <a:lnSpc>
                <a:spcPct val="105000"/>
              </a:lnSpc>
              <a:spcBef>
                <a:spcPts val="150"/>
              </a:spcBef>
            </a:pPr>
            <a:r>
              <a:rPr sz="1480" b="0" i="0">
                <a:solidFill>
                  <a:srgbClr val="6B7280"/>
                </a:solidFill>
                <a:latin typeface="Source Han Sans SC"/>
              </a:rPr>
              <a:t>谢谢大家</a:t>
            </a:r>
          </a:p>
        </p:txBody>
      </p:sp>
      <p:sp>
        <p:nvSpPr>
          <p:cNvPr id="11" name="Rectangle 10"/>
          <p:cNvSpPr/>
          <p:nvPr/>
        </p:nvSpPr>
        <p:spPr>
          <a:xfrm>
            <a:off x="799200" y="5346001"/>
            <a:ext cx="10593719" cy="959476"/>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200" y="5454001"/>
            <a:ext cx="10089720" cy="291167"/>
          </a:xfrm>
          <a:prstGeom prst="rect">
            <a:avLst/>
          </a:prstGeom>
          <a:noFill/>
        </p:spPr>
        <p:txBody>
          <a:bodyPr wrap="square" anchor="t" lIns="0" rIns="0" tIns="0" bIns="0">
            <a:spAutoFit/>
          </a:bodyPr>
          <a:lstStyle/>
          <a:p>
            <a:pPr algn="l">
              <a:lnSpc>
                <a:spcPct val="125000"/>
              </a:lnSpc>
            </a:pPr>
            <a:r>
              <a:rPr sz="1100" b="1" i="0">
                <a:solidFill>
                  <a:srgbClr val="1E4FA8"/>
                </a:solidFill>
                <a:latin typeface="Source Han Sans SC"/>
              </a:rPr>
              <a:t>Next week</a:t>
            </a:r>
            <a:r>
              <a:rPr sz="860" b="0" i="0">
                <a:solidFill>
                  <a:srgbClr val="6B7280"/>
                </a:solidFill>
                <a:latin typeface="Source Han Sans SC"/>
              </a:rPr>
              <a:t> ｜ </a:t>
            </a:r>
            <a:r>
              <a:rPr sz="860" b="0" i="0">
                <a:solidFill>
                  <a:srgbClr val="6B7280"/>
                </a:solidFill>
                <a:latin typeface="Source Han Sans SC"/>
              </a:rPr>
              <a:t>下周预告</a:t>
            </a:r>
          </a:p>
        </p:txBody>
      </p:sp>
      <p:sp>
        <p:nvSpPr>
          <p:cNvPr id="13" name="TextBox 12"/>
          <p:cNvSpPr txBox="1"/>
          <p:nvPr/>
        </p:nvSpPr>
        <p:spPr>
          <a:xfrm>
            <a:off x="1051200" y="5705568"/>
            <a:ext cx="10089720" cy="599909"/>
          </a:xfrm>
          <a:prstGeom prst="rect">
            <a:avLst/>
          </a:prstGeom>
          <a:noFill/>
        </p:spPr>
        <p:txBody>
          <a:bodyPr wrap="square" anchor="t" lIns="0" rIns="0" tIns="0" bIns="0">
            <a:spAutoFit/>
          </a:bodyPr>
          <a:lstStyle/>
          <a:p>
            <a:pPr algn="l">
              <a:lnSpc>
                <a:spcPct val="125000"/>
              </a:lnSpc>
            </a:pPr>
            <a:r>
              <a:rPr sz="860" b="0" i="0">
                <a:solidFill>
                  <a:srgbClr val="0E3F8C"/>
                </a:solidFill>
                <a:latin typeface="Source Han Sans SC"/>
              </a:rPr>
              <a:t>Week 8 · Sequence Models and Text Data — how text becomes a tensor, why padding and masking quietly eat your accuracy, and what LSTM gates solve. Lab 7: tokenise → vocabulary → embeddings → LSTM → classify.</a:t>
            </a:r>
          </a:p>
          <a:p>
            <a:pPr algn="l">
              <a:lnSpc>
                <a:spcPct val="105000"/>
              </a:lnSpc>
              <a:spcBef>
                <a:spcPts val="150"/>
              </a:spcBef>
            </a:pPr>
            <a:r>
              <a:rPr sz="800" b="0" i="0">
                <a:solidFill>
                  <a:srgbClr val="6B7280"/>
                </a:solidFill>
                <a:latin typeface="Source Han Sans SC"/>
              </a:rPr>
              <a:t>Week 8 · 序列模型与文本数据处理 —— 文本怎么变成张量、填充与掩码为什么会吃掉你的精度、LSTM 门控在解决什么。本周实验 7：分词 → 词表 → 嵌入 → LSTM → 分类。</a:t>
            </a:r>
          </a:p>
        </p:txBody>
      </p:sp>
      <p:sp>
        <p:nvSpPr>
          <p:cNvPr id="14" name="TextBox 13"/>
          <p:cNvSpPr txBox="1"/>
          <p:nvPr/>
        </p:nvSpPr>
        <p:spPr>
          <a:xfrm>
            <a:off x="799200" y="6494400"/>
            <a:ext cx="720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7 Lecture · 32 /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