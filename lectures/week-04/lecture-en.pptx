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ReLU</c:v>
                </c:pt>
              </c:strCache>
            </c:strRef>
          </c:tx>
          <c:spPr>
            <a:ln w="31750">
              <a:solidFill>
                <a:srgbClr val="059669"/>
              </a:solidFill>
            </a:ln>
          </c:spPr>
          <c:cat>
            <c:numRef>
              <c:f>Sheet1!$A$2:$A$9</c:f>
              <c:numCache>
                <c:formatCode>General</c:formatCode>
                <c:ptCount val="8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150</c:v>
                </c:pt>
                <c:pt idx="5">
                  <c:v>200</c:v>
                </c:pt>
                <c:pt idx="6">
                  <c:v>250</c:v>
                </c:pt>
                <c:pt idx="7">
                  <c:v>300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0.66</c:v>
                </c:pt>
                <c:pt idx="1">
                  <c:v>0.45</c:v>
                </c:pt>
                <c:pt idx="2">
                  <c:v>0.3</c:v>
                </c:pt>
                <c:pt idx="3">
                  <c:v>0.22</c:v>
                </c:pt>
                <c:pt idx="4">
                  <c:v>0.15</c:v>
                </c:pt>
                <c:pt idx="5">
                  <c:v>0.12</c:v>
                </c:pt>
                <c:pt idx="6">
                  <c:v>0.1</c:v>
                </c:pt>
                <c:pt idx="7">
                  <c:v>0.085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activation (linear)</c:v>
                </c:pt>
              </c:strCache>
            </c:strRef>
          </c:tx>
          <c:spPr>
            <a:ln w="22225">
              <a:solidFill>
                <a:srgbClr val="B91C1C"/>
              </a:solidFill>
            </a:ln>
          </c:spPr>
          <c:cat>
            <c:numRef>
              <c:f>Sheet1!$A$2:$A$9</c:f>
              <c:numCache>
                <c:formatCode>General</c:formatCode>
                <c:ptCount val="8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100</c:v>
                </c:pt>
                <c:pt idx="4">
                  <c:v>150</c:v>
                </c:pt>
                <c:pt idx="5">
                  <c:v>200</c:v>
                </c:pt>
                <c:pt idx="6">
                  <c:v>250</c:v>
                </c:pt>
                <c:pt idx="7">
                  <c:v>300</c:v>
                </c:pt>
              </c:numCache>
            </c:num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0.693</c:v>
                </c:pt>
                <c:pt idx="1">
                  <c:v>0.693</c:v>
                </c:pt>
                <c:pt idx="2">
                  <c:v>0.693</c:v>
                </c:pt>
                <c:pt idx="3">
                  <c:v>0.693</c:v>
                </c:pt>
                <c:pt idx="4">
                  <c:v>0.693</c:v>
                </c:pt>
                <c:pt idx="5">
                  <c:v>0.693</c:v>
                </c:pt>
                <c:pt idx="6">
                  <c:v>0.693</c:v>
                </c:pt>
                <c:pt idx="7">
                  <c:v>0.693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Epoch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8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Training loss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22225">
              <a:solidFill>
                <a:srgbClr val="1E4FA8"/>
              </a:solidFill>
            </a:ln>
          </c:spPr>
          <c:cat>
            <c:strRef>
              <c:f>Sheet1!$A$2:$A$7</c:f>
              <c:strCache>
                <c:ptCount val="6"/>
                <c:pt idx="0">
                  <c:v>2-8-2</c:v>
                </c:pt>
                <c:pt idx="1">
                  <c:v>2-32-2</c:v>
                </c:pt>
                <c:pt idx="2">
                  <c:v>2-64-2</c:v>
                </c:pt>
                <c:pt idx="3">
                  <c:v>2-128-2</c:v>
                </c:pt>
                <c:pt idx="4">
                  <c:v>2-64-64-2</c:v>
                </c:pt>
                <c:pt idx="5">
                  <c:v>2-256-256-2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0.981</c:v>
                </c:pt>
                <c:pt idx="1">
                  <c:v>0.999</c:v>
                </c:pt>
                <c:pt idx="2">
                  <c:v>0.999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ln w="31750">
              <a:solidFill>
                <a:srgbClr val="D97706"/>
              </a:solidFill>
            </a:ln>
          </c:spPr>
          <c:cat>
            <c:strRef>
              <c:f>Sheet1!$A$2:$A$7</c:f>
              <c:strCache>
                <c:ptCount val="6"/>
                <c:pt idx="0">
                  <c:v>2-8-2</c:v>
                </c:pt>
                <c:pt idx="1">
                  <c:v>2-32-2</c:v>
                </c:pt>
                <c:pt idx="2">
                  <c:v>2-64-2</c:v>
                </c:pt>
                <c:pt idx="3">
                  <c:v>2-128-2</c:v>
                </c:pt>
                <c:pt idx="4">
                  <c:v>2-64-64-2</c:v>
                </c:pt>
                <c:pt idx="5">
                  <c:v>2-256-256-2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0.98</c:v>
                </c:pt>
                <c:pt idx="1">
                  <c:v>0.987</c:v>
                </c:pt>
                <c:pt idx="2">
                  <c:v>0.99</c:v>
                </c:pt>
                <c:pt idx="3">
                  <c:v>0.99</c:v>
                </c:pt>
                <c:pt idx="4">
                  <c:v>0.987</c:v>
                </c:pt>
                <c:pt idx="5">
                  <c:v>0.987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Configuration (capacity grows to the right)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Accuracy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33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200"/>
            <a:ext cx="12192119" cy="576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59" y="856800"/>
            <a:ext cx="529685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8568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52015CC3BV · UNDERGRADUATE ·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2672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609200"/>
            <a:ext cx="1059371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0E3F8C"/>
                </a:solidFill>
                <a:latin typeface="Source Han Sans SC"/>
              </a:rPr>
              <a:t>Neural Networks and Modelling with nn.Module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232000"/>
            <a:ext cx="10593719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1F2937"/>
                </a:solidFill>
                <a:latin typeface="Source Han Sans SC"/>
              </a:rPr>
              <a:t>From a perceptron to a well-built MLP: non-linearity, nn.Module, and controlled comparisons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3344399"/>
            <a:ext cx="105937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Source Han Sans SC"/>
              </a:rPr>
              <a:t>Week 4 · CU(4) · Perceptron &amp; MLP · activations · nn.Module &amp; layers · initialisation · width/depth ablations · Module 1 wrap-up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5295600"/>
            <a:ext cx="1908484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364000"/>
            <a:ext cx="1562884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Module 1 · W1-4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30884" y="5295600"/>
            <a:ext cx="2862726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3684" y="5364000"/>
            <a:ext cx="2517126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180 min · Lecture + Lab + Quiz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811" y="5295600"/>
            <a:ext cx="3244423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9611" y="5364000"/>
            <a:ext cx="2898823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PyTorch · nn.Module · ReLU · Dropout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84435" y="5295600"/>
            <a:ext cx="1908484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7235" y="5364000"/>
            <a:ext cx="1562884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International Students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5868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" y="5961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32000" y="5983200"/>
            <a:ext cx="57600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Lecturer: ____________  ·  School of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02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044000"/>
            <a:ext cx="2858400" cy="49536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600" y="2163600"/>
            <a:ext cx="2361600" cy="38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E3F8C"/>
                </a:solidFill>
                <a:latin typeface="Source Han Sans SC"/>
              </a:rPr>
              <a:t>5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600" y="2628000"/>
            <a:ext cx="2361600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Part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7600" y="2991600"/>
            <a:ext cx="2361600" cy="1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600" y="3160800"/>
            <a:ext cx="2361600" cy="89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First: where does non-linearity come from? Then: how do we build a network properly? Finally: how big and how deep should it be - decided by controlled experiments.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7600" y="4208400"/>
            <a:ext cx="2361600" cy="6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0800" y="4305600"/>
            <a:ext cx="2095200" cy="49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Theory ~90 min · Lab ~75 min · Quiz &amp; Summary 15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24000" y="16488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99600" y="17712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9600" y="18720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200" y="17892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From a Perceptron to an MLP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200" y="20771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Perceptron to MLP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7200" y="22680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What one neuron does · the job of a hidden layer · the forward pass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048400" y="19332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24000" y="24012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99600" y="25236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9600" y="26244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7200" y="25416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Activations and Non-linearity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7200" y="28296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Activations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7200" y="30204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sigmoid / tanh / ReLU / LeakyReLU · what happens without them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1048400" y="26856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24000" y="31536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999600" y="32760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99600" y="33767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7200" y="32940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Modelling with nn.Module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7200" y="35819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nn.Module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7200" y="37728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Layers in __init__ · data flow in forward · layers and init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048400" y="34380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24000" y="39060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99600" y="40284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99600" y="41291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7200" y="40464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Width, Depth and Capacity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7200" y="433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Width &amp; Depth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7200" y="45252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Ablation table · parameters vs accuracy · fitness beats size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11048400" y="41904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24000" y="46584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999600" y="47808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99600" y="48816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7200" y="47988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Lab · Experiment 3 and the Milestone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7200" y="50868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Hands-On Lab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7200" y="52776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Build an MLP · with/without activation · width &amp; depth · milestone delivery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048400" y="49428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From a Perceptron to an MLP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Perceptron to MLP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One neuron can only draw a straight line. Stack neurons into layers and add non-linearity between them, and the network finally gains the ability to bend.
After this part you can trace by hand how data moves through an MLP.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One Neuron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Linear + threshold = one 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Hidden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Transform features, then decide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Forward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Matrix multiply + activation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Three Generations: From One Line to a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04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22320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2232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1 · The Perceptron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one neuron, one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One neuron = a linear model plus a threshold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It draws one straight line: AND / OR are solvable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Linearly inseparable problems (e.g. XOR) are not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223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223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2 · The MLP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hidden layers 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Hidden layers transform features; the output layer decides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The same data becomes separable in a new space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Fully connected layers: stacked nn.Linear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223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2232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3 · Modern Deep Nets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depth, not extreme width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Dozens to hundreds of layers: depth, not extreme width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Still stacked MLPs, plus architecture and tricks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This week: get the smallest MLP written correctly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Single-Layer Perceptron vs MLP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05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70000"/>
            <a:ext cx="5143859" cy="4104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43859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5200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Single Layer (Linear)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5200" y="1890000"/>
            <a:ext cx="4711859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One linear layer only: y = σ(w·x + b)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The decision boundary is one line (a hyperplane in high dimensions)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Handles linearly separable data only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Fewest parameters, fastest to train, least prone to overfitting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Example: AND / OR solvable; make_circles stalls at 0.47 (chance level)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9059" y="1170000"/>
            <a:ext cx="5143859" cy="410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9059" y="1170000"/>
            <a:ext cx="5143859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5059" y="1321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Multi-Layer (Non-linear)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5059" y="1890000"/>
            <a:ext cx="4711859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Hidden layer + activation: h = ReLU(W1 x + b1)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The decision boundary can bend (piecewise-linear)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A non-linear activation changes expressive power qualitatively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More parameters: needs more data and regularisation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Example: make_circles rises from 0.47 to 0.98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454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The point is not "more layers" but "non-linearity between layers". Without an activation, any number of layers is still the linear model in the other column.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The Forward Pass: How Data Moves Through the 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06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2304000"/>
            <a:ext cx="1600343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2304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6172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6172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3041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3268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x : (N,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7200" y="3456000"/>
            <a:ext cx="1204343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 batch of N samples,
each with 2 features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17544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1544" y="2304000"/>
            <a:ext cx="1600343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1544" y="2304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8516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18516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9544" y="3041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Linear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39544" y="3268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z1 = x @ W1.T + b1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39544" y="3456000"/>
            <a:ext cx="1204343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2-d -&gt; 8-d: lift features
into a new space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359888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83888" y="2304000"/>
            <a:ext cx="1600343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83888" y="2304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60860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0860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1888" y="3041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Activate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1888" y="3268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h = ReLU(z1)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1888" y="3456000"/>
            <a:ext cx="1204343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Element-wise non-linearity;
shape unchanged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302232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26231" y="2304000"/>
            <a:ext cx="1600343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26231" y="2304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03203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03203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24232" y="3041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Linear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4232" y="3268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z2 = h @ W2.T + b2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4232" y="3456000"/>
            <a:ext cx="1204343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8-d -&gt; 2 logits:
that is the output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8244575" y="3034800"/>
            <a:ext cx="306000" cy="2304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68575" y="2304000"/>
            <a:ext cx="1600343" cy="169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68575" y="2304000"/>
            <a:ext cx="1600343" cy="3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5547" y="2502000"/>
            <a:ext cx="446400" cy="4464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5547" y="2584800"/>
            <a:ext cx="4464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66576" y="3041999"/>
            <a:ext cx="1204343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Loss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66576" y="3268800"/>
            <a:ext cx="1204343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0" i="0">
                <a:solidFill>
                  <a:srgbClr val="3D7BD9"/>
                </a:solidFill>
                <a:latin typeface="Source Han Sans SC"/>
              </a:rPr>
              <a:t>CrossEntropyLoss(z2, 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66576" y="3456000"/>
            <a:ext cx="1204343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Softmax is inside the loss -
do not add it again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200" y="4302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The forward pass is no magic: matrix multiplies plus element-wise activation, repeated. Remove step 3 and the whole network collapses into one big matrix multiply - the core of this week's experiment.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Reading a Network's Size: Shapes and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Example: 2-d input -&gt; 4 hidden units -&gt; 2 classes, batch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07 / 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91199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2808000"/>
                <a:gridCol w="1655999"/>
                <a:gridCol w="3607200"/>
              </a:tblGrid>
              <a:tr h="504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Component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Weight shape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Params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Note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Input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(4, 2)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4 samples, 2 features 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nn.Linear(2, 4)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 (4, 2), b (4,)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12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2-d -&gt; 4-d: params = 2x4 + 4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nn.ReLU()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(4, 4)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Element-wise: same shape, zero 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nn.Linear(4, 2)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 (2, 4), b (2,)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4-d -&gt; 2 logits: 4x2 + 2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Forward = two matrix multiplies + one activation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320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Remember the reading rule: nn.Linear(in, out) always costs in x out + out parameters. From Week 4 on, the first thing you do with any network is count its parameters.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Activations and Non-linearity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Activation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Activations are the only source of non-linearity in a network. Remove them and, no matter how many layers you stack, the network degenerates into a linear model.
In this part we run a live "remove the activation" experiment so you discover that conclusion yourself.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Why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Without it, linear again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The Family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sigmoid / tanh / ReLU / LeakyReLU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Controlled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Change one variable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The Activation Family: Four Members, Four 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09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5188859" cy="19440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944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Sigmoid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squash to (0,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σ(z) = 1 / (1 + e^(-z))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Range (0,1): readable as a probability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Derivative peaks at 0.25; gradients decay quickly when deep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Now used mainly at the output for a binary probability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059" y="1296000"/>
            <a:ext cx="518885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4059" y="1296000"/>
            <a:ext cx="32400" cy="194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7259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Tanh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7259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zero-centred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7259" y="191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tanh(z) = (e^z - e^(-z)) / (e^z + e^(-z))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Range (-1,1), zero-centred, trains better than sigmoid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Still saturates: vanishing gradients are not solved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Seen in early RNNs and some Transformer variants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3456000"/>
            <a:ext cx="5188859" cy="1944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200" y="3456000"/>
            <a:ext cx="32400" cy="194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400" y="3643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ReLU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400" y="387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the modern default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00" y="407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ReLU(z) = max(0, z)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Gradient is 1 on the positive side and it is the cheapest to compute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Zero on the negative side: some units can die out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The default hidden-layer choice unless you have a reason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4059" y="3456000"/>
            <a:ext cx="5188859" cy="1944000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059" y="3456000"/>
            <a:ext cx="32400" cy="1944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7259" y="3643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LeakyReLU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7259" y="387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fix the dead 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7259" y="407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LeakyReLU(z) = max(0.01z, z)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 small negative slope keeps units from dying completely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The cost is one more hyper-parameter, with not always a clear gain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The first fallback when ReLU clearly fails to converge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Four Activations Compared: Range, Gradient, Usage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 / 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9200" y="1152000"/>
          <a:ext cx="10591199" cy="30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000"/>
                <a:gridCol w="2015999"/>
                <a:gridCol w="3384000"/>
                <a:gridCol w="3247200"/>
              </a:tblGrid>
              <a:tr h="619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Function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Range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Gradient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Where to Use It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619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Sigmoid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(0, 1)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Max 0.25, decays extremely fast when deep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Output layer for a binary probability; avoid in hidden layers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Tanh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(-1, 1)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Max 1.0, still saturates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When you need a zero-centred output; still not for deep nets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619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ReLU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[0, +inf)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Exactly 1 on the positive side, no decay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Default for hidden layers; pair with kaiming init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9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LeakyReLU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(-inf, +inf)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Slope 0.01 on the negative side: units stay alive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The fallback when ReLU leaves many units inactive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9200" y="4392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 lab asks you to change only the hidden activation and nothing else - one variable at a time is what makes a conclusion stand.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Live Experiment: What Happens Without an Activation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Same data (make_circles, noise=0.1 / factor=0.5), same seed, same split; the only change is whether the hidden layer has a ReLU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/ 29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152000"/>
          <a:ext cx="6840000" cy="417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259999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Green: the loss falls to 0.07 - the network really learned a curved boundary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Red: it stays at 0.693 = ln2 forever - the same as guessing between two classes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Reason: two Linear layers with no non-linearity are equivalent to a single linear model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The conclusion does not come from a derivation - it comes from the curve you ran yourself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Live Experiment: Comment Out nn.ReLU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12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One network, one switch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import torch, torch.nn as nn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class MLP(nn.Module):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def __init__(self, use_relu=True):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super().__init__()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self.fc1 = nn.Linear(2, 8)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self.fc2 = nn.Linear(8, 2)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if use_relu: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self.act = nn.ReLU()       # non-linear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else: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self.act = nn.Identity()   # identity only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def forward(self, x):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return self.fc2(self.act(self.fc1(x)))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Two runs, one flag apart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def run(use_relu, seed=42):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set_seed(seed)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model = MLP(use_relu).to(device)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opt = torch.optim.Adam(        model.parameters(), lr=1e-2)    crit = nn.CrossEntropyLoss()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for epoch in range(300):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opt.zero_grad()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loss = crit(model(Xtr), ytr)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loss.backward()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opt.step()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return accuracy(model, Xva, yva)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print("with ReLU   :", run(True))   # ~0.98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print("without ReLU:", run(False))  # ~0.47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526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The only difference between the two runs is one boolean: accuracy falls from 0.98 to 0.47 (chance level) and the loss rises from 0.085 to 0.693 = ln2. Paste the two real outputs into your record and add a conclusion of your own. Note: the effect is only this dramatic on linearly inseparable data - the same swap on make_moons changes almost nothing (0.90 vs 0.90), so choosing the data is part of the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Modelling with nn.Module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Modelling with nn.Module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From this week your model is no longer loose code: it is a class you can reuse, print and save.
"Following the convention" is not formalism: build the layers in the wrong place and your parameters never train - while you think the model is learning.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Layers in __init__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Register with self or the optimiser never sees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Data Flow in forward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Describe the computation, do not build layers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Reusable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Printable, savable, movable to 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Four Rules of Modelling with nn.Module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518885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1 · Build layers in __init__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registered, not constructed on the fly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Create every nn.Linear / nn.ReLU / nn.Dropout in __init__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Assign to self.xxx so it is registered in the module tree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Only then does model.parameters() contain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059" y="1296000"/>
            <a:ext cx="518885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4059" y="129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7259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2 · forward is data flow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7259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how, not what to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7259" y="191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forward describes how tensors are computed, step by step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Never create a new layer inside it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Do not tune hyper-parameters or print inside 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3456000"/>
            <a:ext cx="518885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200" y="345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400" y="3643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3 · Be able to state the shapes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400" y="387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comment the tensor shapes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00" y="407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Write (N, 2) -&gt; (N, 8) -&gt; (N, 2) in forward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Output logits; do not attach a softmax early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When a shape breaks, check that line first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4059" y="3456000"/>
            <a:ext cx="5188859" cy="194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059" y="3456000"/>
            <a:ext cx="32400" cy="1944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7259" y="3643199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4 · Make the model inspectable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7259" y="387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printable, savable, movable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7259" y="4075200"/>
            <a:ext cx="4742459" cy="11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print(model) should reveal the whole structure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Count parameters: sum(p.numel() for p in model.parameters())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Move it with one model.to(device)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The Correct Form vs Two Classic Mistakes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15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A · The correct form (copy this)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import torch.nn as nn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class MLP(nn.Module):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def __init__(self, in_dim=2, hidden=16,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     n_class=2):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super().__init__()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self.net = nn.Sequential(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nn.Linear(in_dim, hidden),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nn.ReLU(),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nn.Dropout(0.2),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nn.Linear(hidden, n_class),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def forward(self, x):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return self.net(x)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# (N, 2) -&gt; (N, 16) -&gt; (N, 2) logits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B · Why these two never 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Mistake 1: the layer is a global variable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fc1 = nn.Linear(2, 16)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class BadA(nn.Module):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def forward(self, x):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return fc1(x)   # not in model.parameters()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Mistake 2: creating layers inside forward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class BadB(nn.Module):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def forward(self, x):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layer = nn.Linear(x.shape[1], 2)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return layer(x)  # new random params each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526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In mistake 1 the parameters are never updated by the optimiser - and nothing raises an error, which is what makes it dangerous. In mistake 2 every call uses fresh random parameters with nowhere to store gradients. One simple test: a layer that does not show up in print(model) does not exist.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Common Layers and Parameter Initialisation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16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Four common layers, and the parameter 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import torch.nn as nn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model = nn.Sequential(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nn.Linear(2, 16),   # 48 parameters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nn.ReLU(),          # same shape, 0 parameters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nn.Dropout(0.2),    # active in train() only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nn.Linear(16, 2),   # 34 parameters -&gt; logits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n = sum(p.numel() for p in model.parameters())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print(n)      # 82 = (2*16+16) + (16*2+2)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model.eval()  # switch to eval for testing: dropout 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Initialisation: default vs kaiming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nn.Linear's default init is kaiming_uniform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one apply() rewrites every submodule at once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def init_weights(m):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if isinstance(m, nn.Linear):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nn.init.kaiming_normal_(m.weight)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nn.init.zeros_(m.bias)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set_seed(42)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model.apply(init_weights)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Compare: default vs kaiming vs all-zero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All zeros -&gt; units stay symmetric, all learn the same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526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Initialisation decides where training starts: all-zero or identical initialisation keeps hidden units perfectly symmetric, so effectively only one unit learns. ReLU networks pair with kaiming initialisation as standard practice.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Model Definition Self-Check (Tick Before Submitting)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17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9200" y="1465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200" y="15371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3200" y="1393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Every layer is created in __init__ and registered on self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6200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print(model) lists every layer and its shape. A layer that never appears is a layer that never trains.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200" y="22031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200" y="22031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9200" y="23903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200" y="2462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3200" y="2318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forward builds no layers and holds no hyper-parameter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452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forward only describes how tensors flow from input to output, with shapes annotated.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1284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1284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9200" y="3315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200" y="3387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3200" y="3243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You can compute and explain the parameter 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4703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sum(p.numel() for p in model.parameters()) matches your hand calculation of in x out + out.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200" y="40535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200" y="40535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200" y="42407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200" y="43127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3200" y="41687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The output is logits and the loss matches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3955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Multi-class uses CrossEntropyLoss (softmax inside); never add a manual softmax on top.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200" y="49787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200" y="49787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200" y="51659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200" y="5238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3200" y="50939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Call model.eval() before testing and model.train() after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53207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Otherwise Dropout keeps dropping units at test time: the metric is too low and changes every run.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Width, Depth and Model 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Width, Depth and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A bigger architecture is not a better one. Multiply the parameters by a hundred and validation accuracy can still fall - and that is measurable, not folklore.
This part uses an ablation table to price the benefit of width and of depth.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Width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Units per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Depth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How many layers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Ablation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One variable per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Ablation Table: Config / Params / Accuracy /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Data make_circles (1000 samples, noise=0.1 / factor=0.5), 7:3 split, one random seed, Adam 1e-2 for 300 epochs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19 / 29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91200" cy="33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000"/>
                <a:gridCol w="1512000"/>
                <a:gridCol w="1584000"/>
                <a:gridCol w="4759200"/>
              </a:tblGrid>
              <a:tr h="48342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Configuration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Parameters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Val. accuracy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Conclusion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83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2 -&gt; 2 (linear 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0.473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No hidden layer: a plain linear classifier stuck at chance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2-8-2 · no activation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42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0.473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A hidden layer without activation is still linear; the loss stays at 0.693 = ln2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83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2-8-2 · ReLU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Identical parameter count, one non-linearity added: +51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2-64-2 · ReLU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322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0.990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Wider still helps a little (+1 point), then saturates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83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2-64-64-2 · ReLU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4,482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Deeper is not better: train accuracy reaches 1.00 but validation slips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343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2-256-256-2 · ReLU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67,074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0.987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Source Han Sans SC"/>
                        </a:rPr>
                        <a:t>Parameters up 1500x, validation accuracy slightly worse (0.990 -&gt; 0.987)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680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Compare rows 2 and 3: identical parameter count (42), the only difference being the ReLU, and 51 points apart (0.473 -&gt; 0.980). Now look at the last two rows: 1500x the parameters and validation accuracy slips. This table is exactly what this week's homework asks for.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Wider and Deeper: Where the Gains Saturate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20 / 29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99200" y="1152000"/>
          <a:ext cx="6840000" cy="417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63199" y="1259999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Blue: with enough capacity the training set is nearly memorised (-&gt; 1.000)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Orange: validation peaks at 2-64-2 (0.990) and never improves after that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With 1000 samples this task does not overfit yet - to see overfitting you must shrink the training set, which is exactly what W6 does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Beyond Technique: Judgement and AI Collaboration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21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22320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2232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Against Formalism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fitness, not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Bigger is not better: 1500x the parameters and validation barely moves (0.990 -&gt; 0.987)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Stacking layers often just hides data and evaluation problems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Solve the problem with the smallest structure: fitness is what counts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223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223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AI Gives a 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not a 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5639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You may ask AI for structural advice: depth, width, activation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But what it returns is a hypothesis to test, not a conclusion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Its advice often ignores your dataset size and memory budget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387239" cy="2232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5679" y="1296000"/>
            <a:ext cx="32400" cy="2232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Let the Data 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verify, then record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8879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Test each suggestion with one variable changed at a time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Record it in the table: config / params / accuracy / conclusion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If your data falsifies an AI suggestion, that goes into the log too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Experiment 3 and the Module 1 Milestone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Lab 3 and the Milestone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75 minutes: build an MLP with nn.Module, run two controlled experiments (with/without activation; different widths and depths), and write the results as one table.
It is also the close of Module 1: problem sheet + data pipeline + model - all three due today.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Build It 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nn.Module, layers in __init__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4840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Compare Cleanly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4840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One variable at a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679" y="5173200"/>
            <a:ext cx="296243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Conclude with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1679" y="5468400"/>
            <a:ext cx="296243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A table and what you actually saw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The Four Tasks of Experiment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23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 · Build an MLP with nn.Module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4742459" cy="110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make_circles (1000 samples, noise=0.1 / factor=0.5), binary, 7:3 split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Layers in __init__, data flow in forward, output logits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Output: a runnable model.py that prints the parameter 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059" y="1296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4059" y="1296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7259" y="1483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B · With/without activation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7259" y="1713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7259" y="1915200"/>
            <a:ext cx="4742459" cy="110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Swap nn.ReLU for nn.Identity; change nothing else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Same seed and split for both runs; record both accuracies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Output: two loss curves and the difference you observed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3384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200" y="3384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400" y="3571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 · Width and depth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2400" y="3801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400" y="4003200"/>
            <a:ext cx="4742459" cy="110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At least 4 configs: 2-8 / 2-64 / 2-128 / 2-64-64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Record parameters and validation accuracy for each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Keep epochs, optimiser and learning rate identical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04059" y="3384000"/>
            <a:ext cx="5188859" cy="187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4059" y="3384000"/>
            <a:ext cx="32400" cy="1872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7259" y="3571200"/>
            <a:ext cx="4742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D · Build the table and conclude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7259" y="3801600"/>
            <a:ext cx="474245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task 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7259" y="4003200"/>
            <a:ext cx="4742459" cy="1108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Four columns: config / params / accuracy / conclusion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Answer: which variable mattered most, and why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Numbers without a conclusion do not count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Lab Script: Run Every Configuration in One 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24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1200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The config table and a parameterised build()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7200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CONFIGS = [              # one variable at a time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("2-8-2     ReLU", [8],      True),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("2-8-2     none", [8],      False),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("2-64-2    ReLU", [64],     True),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("2-64-64-2 ReLU", [64, 64], True),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]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def build(hidden, use_relu, in_dim=2, n_class=2):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layers, prev = [], in_dim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for h in hidden: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layers += [nn.Linear(prev, h)]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if use_relu: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layers += [nn.ReLU()]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prev = h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layers += [nn.Linear(prev, n_class)]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return nn.Sequential(*layers)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7659" y="1278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7659" y="127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9659" y="136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Run them all and print the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659" y="1691999"/>
            <a:ext cx="4789259" cy="352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rows = []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for name, hidden, use_relu in CONFIGS: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model = build(hidden, use_relu).to(device)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n = sum(p.numel()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        for p in model.parameters())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acc = train_and_eval(model, seed=42)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rows.append((name, n, round(acc, 3)))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for r in rows: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    print(f"{r[0]:18s} {r[1]:7d} {r[2]:.3f}")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Same seed, same split: only then are runs comparable</a:t>
            </a:r>
          </a:p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E2E8F0"/>
                </a:solidFill>
                <a:latin typeface="Menlo"/>
              </a:rPr>
              <a:t># Paste these lines straight into your report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200" y="5526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Note that both the hidden widths and the presence of ReLU are parameters of build(): change the config and the network changes, without touching a single line of the training code. That is modularity paying off.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Experiment 3 Submission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25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780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780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9200" y="1465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9200" y="15371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3200" y="13931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Model code: model.py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6200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Follows the nn.Module convention (layers in __init__, data flow in forward) and prints the parameter count.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200" y="22031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9200" y="22031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9200" y="23903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9200" y="2462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23200" y="2318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Ablation table: config / params / accuracy / 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45200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At least 4 configurations, including a with/without activation pair and width/depth variations.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128400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128400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9200" y="33155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9200" y="3387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3200" y="3243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A reproducible command and a fixed seed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4703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Give one command that reruns every configuration, with the seed and split stated.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200" y="40535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9200" y="40535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200" y="42407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200" y="43127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3200" y="41687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AI log: which suggestion was falsified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3955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State what structure the AI suggested, how you tested it, and whether the data supported 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9200" y="4978799"/>
            <a:ext cx="10593719" cy="77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200" y="4978799"/>
            <a:ext cx="32400" cy="77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9200" y="5165999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9200" y="52380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MUST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3200" y="5093999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Module 1 integrated quiz (in class)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23200" y="5320799"/>
            <a:ext cx="9153719" cy="37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Problem sheet + data pipeline + model together form the complete Module 1 milestone.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Module 1 Milestone: Three Pieces, One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26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296000"/>
            <a:ext cx="3387239" cy="223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2400" cy="2232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2400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1 · Problem 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2400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from W1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Target users, the problem, the data you have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One success metric and one failure criterion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Today you must state "what I am building" in one sentence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2439" y="3114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439" y="3160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since W1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440" y="1296000"/>
            <a:ext cx="3387239" cy="22320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2440" y="1296000"/>
            <a:ext cx="32400" cy="2232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563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2 · Data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from W3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5639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Cleaning, splitting, Dataset/DataLoader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Leakage checked, split ratios written into the config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The same script rebuilds the dataset on another machine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65680" y="3114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680" y="3160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since W3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5679" y="1296000"/>
            <a:ext cx="3387239" cy="2232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5679" y="1296000"/>
            <a:ext cx="32400" cy="2232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8879" y="1483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3 · Model &amp; Ablation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8879" y="1713600"/>
            <a:ext cx="294083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3D7BD9"/>
                </a:solidFill>
                <a:latin typeface="Source Han Sans SC"/>
              </a:rPr>
              <a:t>today, W4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8879" y="1915200"/>
            <a:ext cx="2940839" cy="146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An MLP defined with nn.Module and a clear forward path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Parameter count computed; the output is logits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The ablation table justifies why this structure wins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68919" y="3114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68919" y="3160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today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Quick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27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34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97200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7200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5200" y="1296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Why does removing the hidden activation reduce a two-layer net to a linear model?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908000"/>
            <a:ext cx="4801859" cy="7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Because there are fewer parameters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Without non-linearity, two linear maps compose into one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Because the loss function becomes linear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Because the learning rate is too small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5059" y="1134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3059" y="1296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59" y="1342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nn.Module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1059" y="1296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Following the nn.Module convention, where should layers be created?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59" y="1908000"/>
            <a:ext cx="4801859" cy="7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In __init__, assigned to self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Inside forward, on demand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As module-level global variables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Inside the training loop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200" y="2928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97200" y="3089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200" y="3136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Capacity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05200" y="3089999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Which statement matches this week's experiments?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7200" y="3702000"/>
            <a:ext cx="4801859" cy="7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Wider and deeper always raise validation accuracy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Wider gains diminish; too deep overfits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Parameter count is the only criterion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Depth has no effect on training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5059" y="2928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93059" y="3089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3059" y="3136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Initialisation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1059" y="3089999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What happens if you initialise every weight to zero?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3059" y="3702000"/>
            <a:ext cx="4801859" cy="7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Training is faster because the start is symmetric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Hidden units stay symmetric: effectively one unit learns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It is equivalent to the default initialisation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It only affects biases, not weights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9200" y="4722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7200" y="4884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7200" y="4930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True/False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05200" y="4884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"The AI recommended an architecture, so I can put it straight into my report."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7200" y="5496000"/>
            <a:ext cx="4801859" cy="7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□ True   □ False (its advice is only a hypothesis to test)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5059" y="4722000"/>
            <a:ext cx="5197859" cy="159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93059" y="4884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3059" y="4930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Short answer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1059" y="4884000"/>
            <a:ext cx="379385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Why must a controlled experiment change only one variable at a time?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3059" y="5496000"/>
            <a:ext cx="4801859" cy="7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(Answer out loud, 30 seconds: otherwise you cannot attribute the result)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Week 4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1 · Week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28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1520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9200" y="13500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9200" y="12780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One neuron draws one line; a hidden layer transforms features so inseparability becomes separability.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9200" y="19692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9200" y="19692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200" y="21672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9200" y="2095199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The forward pass is matrix multiplies plus element-wise non-linearity, repeated; remove the activation and the net is a linear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200" y="27864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9200" y="27864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200" y="29844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9200" y="29124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nn.Module convention: layers created in __init__ and registered on self, forward describes data flow only, output logits.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200" y="36036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200" y="36036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200" y="38016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9200" y="37296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Initialisation sets the start: pair ReLU with kaiming; all-zero init keeps hidden units symmetric and they never differentiate.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9200" y="44208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9200" y="44208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200" y="46188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9200" y="45468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Bigger is not better: 1500x the parameters can lower validation accuracy. Fitness for purpose wins.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01200" y="1152000"/>
            <a:ext cx="3591719" cy="48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7200" y="12815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After Class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1200" y="1818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7200" y="1969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Submit the Experiment 3 pack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7200" y="2221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model.py + the ablation table + a reproducible command + the AI log, pushed before the lab ends.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01200" y="2880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7200" y="3031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Complete the Module 1 integrated quiz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7200" y="3283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Problem sheet + data pipeline + model form the Module 1 milestone; Module 2 starts in Week 5.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936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9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W4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5840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908000"/>
            <a:ext cx="8640000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 i="0">
                <a:solidFill>
                  <a:srgbClr val="0E3F8C"/>
                </a:solidFill>
                <a:latin typeface="Source Han Sans SC"/>
              </a:rPr>
              <a:t>"Activations let the network bend;
controlled experiments keep the architecture honest."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3384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280"/>
                </a:solidFill>
                <a:latin typeface="Source Han Sans SC"/>
              </a:rPr>
              <a:t>This week you deliver: one properly written nn.Module model + one ablation table you ran yourself.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4176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F2937"/>
                </a:solidFill>
                <a:latin typeface="Source Han Sans SC"/>
              </a:rPr>
              <a:t>Thank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4788000"/>
            <a:ext cx="10593719" cy="7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00" y="4903200"/>
            <a:ext cx="100897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Next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200" y="5094000"/>
            <a:ext cx="1008972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0E3F8C"/>
                </a:solidFill>
                <a:latin typeface="Source Han Sans SC"/>
              </a:rPr>
              <a:t>W5 · Training loops and optimisation: losses, optimisers, learning rate and regularisation - training this week's model to convergence.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6494400"/>
            <a:ext cx="720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4 Lecture · 29 /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