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23.xml" ContentType="application/vnd.openxmlformats-officedocument.presentationml.slide+xml"/>
  <Override PartName="/ppt/slides/slide11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slides/slide19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7.xml" ContentType="application/vnd.openxmlformats-officedocument.presentationml.slide+xml"/>
  <Override PartName="/ppt/slides/slide28.xml" ContentType="application/vnd.openxmlformats-officedocument.presentationml.slide+xml"/>
  <Override PartName="/ppt/slides/slide8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5" Type="http://schemas.openxmlformats.org/officeDocument/2006/relationships/slide" Target="slides/slide5.xml" /><Relationship Id="rId4" Type="http://schemas.openxmlformats.org/officeDocument/2006/relationships/slide" Target="slides/slide4.xml" /><Relationship Id="rId35" Type="http://schemas.openxmlformats.org/officeDocument/2006/relationships/tableStyles" Target="tableStyles.xml" /><Relationship Id="rId33" Type="http://schemas.openxmlformats.org/officeDocument/2006/relationships/notesMaster" Target="notesMasters/notesMaster1.xml" /><Relationship Id="rId31" Type="http://schemas.openxmlformats.org/officeDocument/2006/relationships/slide" Target="slides/slide31.xml" /><Relationship Id="rId8" Type="http://schemas.openxmlformats.org/officeDocument/2006/relationships/slide" Target="slides/slide8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4.xml" /><Relationship Id="rId24" Type="http://schemas.openxmlformats.org/officeDocument/2006/relationships/slide" Target="slides/slide24.xml" /><Relationship Id="rId29" Type="http://schemas.openxmlformats.org/officeDocument/2006/relationships/slide" Target="slides/slide29.xml" /><Relationship Id="rId28" Type="http://schemas.openxmlformats.org/officeDocument/2006/relationships/slide" Target="slides/slide28.xml" /><Relationship Id="rId22" Type="http://schemas.openxmlformats.org/officeDocument/2006/relationships/slide" Target="slides/slide22.xml" /><Relationship Id="rId21" Type="http://schemas.openxmlformats.org/officeDocument/2006/relationships/slide" Target="slides/slide21.xml" /><Relationship Id="rId25" Type="http://schemas.openxmlformats.org/officeDocument/2006/relationships/slide" Target="slides/slide25.xml" /><Relationship Id="rId2" Type="http://schemas.openxmlformats.org/officeDocument/2006/relationships/slide" Target="slides/slide2.xml" /><Relationship Id="rId6" Type="http://schemas.openxmlformats.org/officeDocument/2006/relationships/slide" Target="slides/slide6.xml" /><Relationship Id="rId20" Type="http://schemas.openxmlformats.org/officeDocument/2006/relationships/slide" Target="slides/slide20.xml" /><Relationship Id="rId36" Type="http://schemas.openxmlformats.org/officeDocument/2006/relationships/viewProps" Target="viewProps.xml" /><Relationship Id="rId32" Type="http://schemas.openxmlformats.org/officeDocument/2006/relationships/slide" Target="slides/slide32.xml" /><Relationship Id="rId1" Type="http://schemas.openxmlformats.org/officeDocument/2006/relationships/slide" Target="slides/slide1.xml" /><Relationship Id="rId18" Type="http://schemas.openxmlformats.org/officeDocument/2006/relationships/slide" Target="slides/slide18.xml" /><Relationship Id="rId10" Type="http://schemas.openxmlformats.org/officeDocument/2006/relationships/slide" Target="slides/slide10.xml" /><Relationship Id="rId34" Type="http://schemas.openxmlformats.org/officeDocument/2006/relationships/presProps" Target="presProps.xml" /><Relationship Id="rId13" Type="http://schemas.openxmlformats.org/officeDocument/2006/relationships/slide" Target="slides/slide13.xml" /><Relationship Id="rId17" Type="http://schemas.openxmlformats.org/officeDocument/2006/relationships/slide" Target="slides/slide17.xml" /><Relationship Id="rId27" Type="http://schemas.openxmlformats.org/officeDocument/2006/relationships/slide" Target="slides/slide27.xml" /><Relationship Id="rId11" Type="http://schemas.openxmlformats.org/officeDocument/2006/relationships/slide" Target="slides/slide11.xml" /><Relationship Id="rId23" Type="http://schemas.openxmlformats.org/officeDocument/2006/relationships/slide" Target="slides/slide23.xml" /><Relationship Id="rId12" Type="http://schemas.openxmlformats.org/officeDocument/2006/relationships/slide" Target="slides/slide12.xml" /><Relationship Id="rId16" Type="http://schemas.openxmlformats.org/officeDocument/2006/relationships/slide" Target="slides/slide16.xml" /><Relationship Id="rId15" Type="http://schemas.openxmlformats.org/officeDocument/2006/relationships/slide" Target="slides/slide15.xml" /><Relationship Id="rId19" Type="http://schemas.openxmlformats.org/officeDocument/2006/relationships/slide" Target="slides/slide19.xml" /><Relationship Id="rId26" Type="http://schemas.openxmlformats.org/officeDocument/2006/relationships/slide" Target="slides/slide26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4" Type="http://schemas.openxmlformats.org/officeDocument/2006/relationships/image" Target="media/image37.svg" /><Relationship Id="rId3" Type="http://schemas.openxmlformats.org/officeDocument/2006/relationships/image" Target="media/image36.svg" /><Relationship Id="rId1" Type="http://schemas.openxmlformats.org/officeDocument/2006/relationships/image" Target="media/image3.svg" /><Relationship Id="rId2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4" Type="http://schemas.openxmlformats.org/officeDocument/2006/relationships/image" Target="media/image42.svg" /><Relationship Id="rId3" Type="http://schemas.openxmlformats.org/officeDocument/2006/relationships/image" Target="media/image41.svg" /><Relationship Id="rId2" Type="http://schemas.openxmlformats.org/officeDocument/2006/relationships/image" Target="media/image40.svg" /><Relationship Id="rId1" Type="http://schemas.openxmlformats.org/officeDocument/2006/relationships/image" Target="media/image39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3" Type="http://schemas.openxmlformats.org/officeDocument/2006/relationships/image" Target="media/image3.svg" /><Relationship Id="rId1" Type="http://schemas.openxmlformats.org/officeDocument/2006/relationships/image" Target="media/image1.svg" /><Relationship Id="rId2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3" Type="http://schemas.openxmlformats.org/officeDocument/2006/relationships/image" Target="media/image6.svg" /><Relationship Id="rId2" Type="http://schemas.openxmlformats.org/officeDocument/2006/relationships/image" Target="media/image5.svg" /><Relationship Id="rId1" Type="http://schemas.openxmlformats.org/officeDocument/2006/relationships/image" Target="media/image4.svg" /><Relationship Id="rId4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4" Type="http://schemas.openxmlformats.org/officeDocument/2006/relationships/image" Target="media/image11.svg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3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3" Type="http://schemas.openxmlformats.org/officeDocument/2006/relationships/image" Target="media/image19.svg" /><Relationship Id="rId2" Type="http://schemas.openxmlformats.org/officeDocument/2006/relationships/image" Target="media/image18.svg" /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5" Type="http://schemas.openxmlformats.org/officeDocument/2006/relationships/image" Target="media/image29.svg" /><Relationship Id="rId4" Type="http://schemas.openxmlformats.org/officeDocument/2006/relationships/image" Target="media/image28.svg" /><Relationship Id="rId3" Type="http://schemas.openxmlformats.org/officeDocument/2006/relationships/image" Target="media/image27.svg" /><Relationship Id="rId2" Type="http://schemas.openxmlformats.org/officeDocument/2006/relationships/image" Target="media/image26.svg" /><Relationship Id="rId1" Type="http://schemas.openxmlformats.org/officeDocument/2006/relationships/image" Target="media/image25.svg" /><Relationship Id="rId6" Type="http://schemas.openxmlformats.org/officeDocument/2006/relationships/image" Target="media/image30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5" Type="http://schemas.openxmlformats.org/officeDocument/2006/relationships/image" Target="media/image34.svg" /><Relationship Id="rId4" Type="http://schemas.openxmlformats.org/officeDocument/2006/relationships/image" Target="media/image27.svg" /><Relationship Id="rId3" Type="http://schemas.openxmlformats.org/officeDocument/2006/relationships/image" Target="media/image33.svg" /><Relationship Id="rId2" Type="http://schemas.openxmlformats.org/officeDocument/2006/relationships/image" Target="media/image32.svg" /><Relationship Id="rId1" Type="http://schemas.openxmlformats.org/officeDocument/2006/relationships/image" Target="media/image31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width: '1280px', height: '720px', background: '#FFFFFF', padding: '0px', position: 'relative', overflow: 'hidden', fontFamily: 'Source Han Sans SC, PingFang SC, sans-serif' }}&gt;&#10;  &lt;Box style={{ position: 'absolute', top: 0, left: 0, width: '100%', height: 14, background: '#1E4FA8' }} /&gt;&#10;  &lt;Box style={{ position: 'absolute', top: 14, left: 0, width: '100%', height: 6, background: '#3D7BD9' }} /&gt;&#10;  &lt;Box style={{ position: 'absolute', right: 0, top: 90, opacity: 0.07, width: 640, height: 420, overflow: 'hidden' }}&gt;&#10;    &lt;Text style={{ fontSize: 400, fontWeight: 'bold', color: '#1E4FA8', lineHeight: 1, textAlign: 'right' }}&gt;AI&lt;/Text&gt;&#10;  &lt;/Box&gt;&#10;  &lt;Box style={{ position: 'relative', width: '100%', height: '100%', padding: '90px 84px 60px', justifyContent: 'space-between' }}&gt;&#10;    &lt;Box&gt;&#10;      &lt;Text style={{ fontSize: 19, color: '#8B97A8', fontWeight: '600', letterSpacing: 3 }}&gt;SE 4XXX · UNDERGRADUATE COURSE&lt;/Text&gt;&#10;      &lt;Box style={{ width: 64, height: 4, background: '#1E4FA8', marginTop: 20 }} /&gt;&#10;      &lt;Text style={{ fontSize: 44, fontStyle: 'italic', color: '#4A5568', fontFamily: 'Georgia, Times, serif', marginTop: 32, letterSpacing: 0.5 }}&gt;&#10;        Introduction to AI Application Development&#10;      &lt;/Text&gt;&#10;      &lt;Text style={{ fontSize: 74, fontWeight: 'bold', color: '#0E3F8C', lineHeight: 1.15, marginTop: 10 }}&gt;AI 应用开发&lt;/Text&gt;&#10;      &lt;Text style={{ fontSize: 25, color: '#1A2230', marginTop: 16 }}&gt;&#10;        Week 1 · 导论与开发环境搭建&#10;        &lt;span style={{ color: '#8B97A8' }}&gt;Introduction &amp;amp; Environment Setup&lt;/span&gt;&#10;      &lt;/Text&gt;&#10;    &lt;/Box&gt;&#10;    &lt;Box&gt;&#10;      &lt;Box style={{ flexDirection: 'row', gap: 14, flexWrap: 'wrap' }}&gt;&#10;        {['64 Contact Hours', '16 Weeks × 4h', 'Junior · Software Engineering', 'International Students'].map((t, i) =&gt; (&#10;          &lt;Box key={i} style={{ background: '#F0F5FC', border: '1px solid #D6DCE5', borderRadius: 22, padding: '7px 18px' }}&gt;&#10;            &lt;Text style={{ fontSize: 16, color: '#1E4FA8', fontWeight: '600' }}&gt;{t}&lt;/Text&gt;&#10;          &lt;/Box&gt;&#10;        ))}&#10;      &lt;/Box&gt;&#10;      &lt;Box style={{ flexDirection: 'row', alignItems: 'center', marginTop: 26, gap: 12 }}&gt;&#10;        &lt;Box style={{ width: 44, height: 44, borderRadius: 10, background: '#0E3F8C', justifyContent: 'center', alignItems: 'center' }}&gt;&#10;          &lt;Text style={{ fontSize: 20, color: '#FFFFFF', fontWeight: 'bold' }}&gt;W1&lt;/Text&gt;&#10;        &lt;/Box&gt;&#10;        &lt;Text style={{ fontSize: 17, color: '#4A5568' }}&gt;&#10;          Lecturer: ____________&amp;nbsp;&amp;nbsp;·&amp;nbsp;&amp;nbsp;School of Software Engineering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0" y="857250"/>
            <a:ext cx="6096000" cy="45720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30000" b="1">
                <a:solidFill>
                  <a:srgbClr val="1E4FA8">
                    <a:alpha val="7000"/>
                  </a:srgbClr>
                </a:solidFill>
                <a:latin typeface="Source Han Sans SC"/>
                <a:ea typeface="Source Han Sans SC"/>
              </a:rPr>
              <a:t>AI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00100" y="857250"/>
            <a:ext cx="10591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 spc="225">
                <a:solidFill>
                  <a:srgbClr val="8B97A8"/>
                </a:solidFill>
                <a:latin typeface="Source Han Sans SC"/>
                <a:ea typeface="Source Han Sans SC"/>
              </a:rPr>
              <a:t>SE 4XXX · UNDERGRADUATE COURSE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00100" y="1266825"/>
            <a:ext cx="6096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10591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i="1" spc="38">
                <a:solidFill>
                  <a:srgbClr val="4A5568"/>
                </a:solidFill>
                <a:latin typeface="Georgia"/>
                <a:ea typeface="Georgia"/>
              </a:rPr>
              <a:t>Introduction to AI Application Development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2209800"/>
            <a:ext cx="10591800" cy="9810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550" b="1">
                <a:solidFill>
                  <a:srgbClr val="0E3F8C"/>
                </a:solidFill>
                <a:latin typeface="Source Han Sans SC"/>
                <a:ea typeface="Source Han Sans SC"/>
              </a:rPr>
              <a:t>AI </a:t>
            </a:r>
            <a:r>
              <a:rPr lang="zh-CN" sz="5550" b="1">
                <a:solidFill>
                  <a:srgbClr val="0E3F8C"/>
                </a:solidFill>
                <a:latin typeface="Source Han Sans SC"/>
                <a:ea typeface="Source Han Sans SC"/>
              </a:rPr>
              <a:t>应用开发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00100" y="3343275"/>
            <a:ext cx="10591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1A2230"/>
                </a:solidFill>
                <a:latin typeface="Source Han Sans SC"/>
                <a:ea typeface="Source Han Sans SC"/>
              </a:rPr>
              <a:t>Week 1 · </a:t>
            </a:r>
            <a:r>
              <a:rPr lang="zh-CN" sz="1875">
                <a:solidFill>
                  <a:srgbClr val="1A2230"/>
                </a:solidFill>
                <a:latin typeface="Source Han Sans SC"/>
                <a:ea typeface="Source Han Sans SC"/>
              </a:rPr>
              <a:t>导论与开发环境搭建</a:t>
            </a:r>
            <a:r>
              <a:rPr lang="en-US" sz="1875">
                <a:solidFill>
                  <a:srgbClr val="8B97A8"/>
                </a:solidFill>
                <a:latin typeface="Source Han Sans SC"/>
                <a:ea typeface="Source Han Sans SC"/>
              </a:rPr>
              <a:t>Introduction &amp; Environment Setup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0100" y="5295900"/>
            <a:ext cx="1638300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1550" y="5362575"/>
            <a:ext cx="1295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64 Contact Hours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2571750" y="5295900"/>
            <a:ext cx="1409700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743200" y="5362575"/>
            <a:ext cx="1066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16 Weeks × 4h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4114800" y="5295900"/>
            <a:ext cx="254317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4286250" y="536257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Junior · Software Engineering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6791325" y="5295900"/>
            <a:ext cx="19526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962775" y="5362575"/>
            <a:ext cx="1609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International Students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00100" y="5867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76300" y="5962650"/>
            <a:ext cx="266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W1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333500" y="5981700"/>
            <a:ext cx="439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Lecturer: ____________  ·  School of Software Engineering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ntents · 目录&lt;/Text&gt;&#10;    &lt;Text style={{ fontSize: 15, color: 'rgba(255,255,255,0.85)' }}&gt;Module 1 · Week 1 · 180 min&lt;/Text&gt;&#10;  &lt;/Box&gt;&#10;  &lt;Box style={{ position: 'absolute', top: 100, left: 0, width: '100%', height: 540, padding: '10px 84px', flexDirection: 'row', gap: 28 }}&gt;&#10;    &lt;Box style={{ width: 300, background: '#F0F5FC', borderRadius: 14, padding: '26px 26px', justifyContent: 'center', border: '1px solid #D6DCE5' }}&gt;&#10;      &lt;Text style={{ fontSize: 34, color: '#0E3F8C', fontWeight: 'bold' }}&gt;5 部分&lt;/Text&gt;&#10;      &lt;Text style={{ fontSize: 16, color: '#4A5568', marginTop: 8 }}&gt;Parts · 180 min&lt;/Text&gt;&#10;      &lt;Box style={{ width: '100%', height: 2, background: '#D6DCE5', marginTop: 16 }} /&gt;&#10;      &lt;Text style={{ fontSize: 15, color: '#1A2230', lineHeight: 1.7, marginTop: 14 }}&gt;&#10;        前四部分讲&lt;b&gt;理论与视野&lt;/b&gt;，&#10;        &lt;br /&gt;&#10;        第五部分&lt;b&gt;动手实战&lt;/b&gt;。&#10;        &lt;span style={{ color: '#8B97A8', fontSize: 13 }}&gt;Theory first, then hands-on — one 180-minute session.&lt;/span&gt;&#10;      &lt;/Text&gt;&#10;      &lt;Text style={{ fontSize: 13, color: '#8B97A8', marginTop: 12, lineHeight: 1.6 }}&gt;理论约 90 min · 实验约 75 min · 小测与小结 15 min&lt;/Text&gt;&#10;    &lt;/Box&gt;&#10;    &lt;Box style={{ flex: 1, justifyContent: 'center', gap: 0 }}&gt;&#10;      {[&#10;        { n: '01', zh: '课程总览', en: 'Course Overview', d: '结构 · 考核 · 16 周日历 · 学术诚信' },&#10;        { n: '02', zh: 'AI 是什么', en: 'What is AI', d: '技术谱系 · 三大学习范式 · 三次浪潮与寒冬' },&#10;        { n: '03', zh: '应用与职业', en: 'Domains &amp; Careers', d: '四大领域 · 标志性突破 · 职业方向 · 伦理' },&#10;        { n: '04', zh: '项目生命周期', en: 'Project Lifecycle', d: '六阶段 · 案例走查 · 80% 法则 · 工具链' },&#10;        { n: '05', zh: 'Lab 实战', en: 'Lab: Hands-on', d: '环境搭建 · Git · 第一个 ML 程序 · 交付' },&#10;      ].map((it, i) =&gt; (&#10;        &lt;Box key={i} style={{ flexDirection: 'row', alignItems: 'center', gap: 20, padding: '14px 8px', borderBottom: i &lt; 4 ? '1px solid #E5E7EB' : 'none' }}&gt;&#10;          &lt;Box style={{ width: 50, height: 50, borderRadius: 12, background: i === 4 ? '#0E3F8C' : '#1E4FA8', justifyContent: 'center', alignItems: 'center' }}&gt;&#10;            &lt;Text style={{ fontSize: 19, color: '#FFFFFF', fontWeight: 'bold' }}&gt;{it.n}&lt;/Text&gt;&#10;          &lt;/Box&gt;&#10;          &lt;Box style={{ flex: 1 }}&gt;&#10;            &lt;Box style={{ flexDirection: 'row', alignItems: 'baseline', gap: 12 }}&gt;&#10;              &lt;Text style={{ fontSize: 24, color: '#1A2230', fontWeight: 'bold' }}&gt;{it.zh}&lt;/Text&gt;&#10;              &lt;Text style={{ fontSize: 17, color: '#8B97A8', fontWeight: '600' }}&gt;{it.en}&lt;/Text&gt;&#10;            &lt;/Box&gt;&#10;            &lt;Text style={{ fontSize: 14, color: '#4A5568', marginTop: 2 }}&gt;{it.d}&lt;/Text&gt;&#10;          &lt;/Box&gt;&#10;          &lt;FAIcon name='chevron-right' style={{ fill: '#8B97A8', width: 20, height: 20 }} /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571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Contents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目录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9477375" y="295275"/>
            <a:ext cx="1914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 · 180 min</a:t>
            </a:r>
            <a:endParaRPr/>
          </a:p>
        </p:txBody>
      </p:sp>
      <p:sp>
        <p:nvSpPr>
          <p:cNvPr id="422" name=""/>
          <p:cNvSpPr/>
          <p:nvPr/>
        </p:nvSpPr>
        <p:spPr>
          <a:xfrm rot="0" flipH="0" flipV="0">
            <a:off x="800100" y="1047750"/>
            <a:ext cx="2857500" cy="4953000"/>
          </a:xfrm>
          <a:prstGeom prst="roundRect">
            <a:avLst>
              <a:gd name="adj" fmla="val 4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1047750" y="2333625"/>
            <a:ext cx="2362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Source Han Sans SC"/>
                <a:ea typeface="Source Han Sans SC"/>
              </a:rPr>
              <a:t>5 </a:t>
            </a:r>
            <a:r>
              <a:rPr lang="zh-CN" sz="2550" b="1">
                <a:solidFill>
                  <a:srgbClr val="0E3F8C"/>
                </a:solidFill>
                <a:latin typeface="Source Han Sans SC"/>
                <a:ea typeface="Source Han Sans SC"/>
              </a:rPr>
              <a:t>部分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1047750" y="2800350"/>
            <a:ext cx="236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Source Han Sans SC"/>
                <a:ea typeface="Source Han Sans SC"/>
              </a:rPr>
              <a:t>Parts · 180 min</a:t>
            </a:r>
            <a:endParaRPr/>
          </a:p>
        </p:txBody>
      </p:sp>
      <p:sp>
        <p:nvSpPr>
          <p:cNvPr id="425" name=""/>
          <p:cNvSpPr/>
          <p:nvPr/>
        </p:nvSpPr>
        <p:spPr>
          <a:xfrm rot="0" flipH="0" flipV="0">
            <a:off x="1047750" y="3143250"/>
            <a:ext cx="23622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1047750" y="3295650"/>
            <a:ext cx="2362200" cy="838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前四部分讲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理论与视野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，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第五部分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动手实战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Theory first, then hands-on — one 180-minute session.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1047750" y="4248150"/>
            <a:ext cx="23622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理论约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90 min · </a:t>
            </a: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实验约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75 min · </a:t>
            </a: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小测与小结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15 min</a:t>
            </a:r>
            <a:endParaRPr/>
          </a:p>
        </p:txBody>
      </p:sp>
      <p:sp>
        <p:nvSpPr>
          <p:cNvPr id="428" name=""/>
          <p:cNvSpPr/>
          <p:nvPr/>
        </p:nvSpPr>
        <p:spPr>
          <a:xfrm rot="0" flipH="0" flipV="0">
            <a:off x="3924300" y="164782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9" name=""/>
          <p:cNvSpPr/>
          <p:nvPr/>
        </p:nvSpPr>
        <p:spPr>
          <a:xfrm rot="0" flipH="0" flipV="0">
            <a:off x="4000500" y="178117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4143375" y="1914525"/>
            <a:ext cx="190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4667250" y="179070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课程总览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5695950" y="1790700"/>
            <a:ext cx="13144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Course Overview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4667250" y="2085975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结构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考核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16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周日历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学术诚信</a:t>
            </a:r>
            <a:endParaRPr/>
          </a:p>
        </p:txBody>
      </p:sp>
      <p:pic>
        <p:nvPicPr>
          <p:cNvPr id="4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1924050"/>
            <a:ext cx="190500" cy="190500"/>
          </a:xfrm>
          <a:prstGeom prst="rect">
            <a:avLst/>
          </a:prstGeom>
          <a:ln/>
        </p:spPr>
      </p:pic>
      <p:sp>
        <p:nvSpPr>
          <p:cNvPr id="435" name=""/>
          <p:cNvSpPr/>
          <p:nvPr/>
        </p:nvSpPr>
        <p:spPr>
          <a:xfrm rot="0" flipH="0" flipV="0">
            <a:off x="3924300" y="240030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6" name=""/>
          <p:cNvSpPr/>
          <p:nvPr/>
        </p:nvSpPr>
        <p:spPr>
          <a:xfrm rot="0" flipH="0" flipV="0">
            <a:off x="4000500" y="253365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4133850" y="2667000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4667250" y="2543175"/>
            <a:ext cx="9810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是什么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5762625" y="2543175"/>
            <a:ext cx="7905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What is AI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4667250" y="2838450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技术谱系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三大学习范式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三次浪潮与寒冬</a:t>
            </a:r>
            <a:endParaRPr/>
          </a:p>
        </p:txBody>
      </p:sp>
      <p:pic>
        <p:nvPicPr>
          <p:cNvPr id="4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2676525"/>
            <a:ext cx="190500" cy="190500"/>
          </a:xfrm>
          <a:prstGeom prst="rect">
            <a:avLst/>
          </a:prstGeom>
          <a:ln/>
        </p:spPr>
      </p:pic>
      <p:sp>
        <p:nvSpPr>
          <p:cNvPr id="442" name=""/>
          <p:cNvSpPr/>
          <p:nvPr/>
        </p:nvSpPr>
        <p:spPr>
          <a:xfrm rot="0" flipH="0" flipV="0">
            <a:off x="3924300" y="315277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43" name=""/>
          <p:cNvSpPr/>
          <p:nvPr/>
        </p:nvSpPr>
        <p:spPr>
          <a:xfrm rot="0" flipH="0" flipV="0">
            <a:off x="4000500" y="328612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4133850" y="3419475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4667250" y="3295650"/>
            <a:ext cx="1143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应用与职业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5924550" y="3295650"/>
            <a:ext cx="15049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Domains &amp; Careers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4667250" y="3590925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四大领域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标志性突破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职业方向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伦理</a:t>
            </a:r>
            <a:endParaRPr/>
          </a:p>
        </p:txBody>
      </p:sp>
      <p:pic>
        <p:nvPicPr>
          <p:cNvPr id="4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3429000"/>
            <a:ext cx="190500" cy="190500"/>
          </a:xfrm>
          <a:prstGeom prst="rect">
            <a:avLst/>
          </a:prstGeom>
          <a:ln/>
        </p:spPr>
      </p:pic>
      <p:sp>
        <p:nvSpPr>
          <p:cNvPr id="449" name=""/>
          <p:cNvSpPr/>
          <p:nvPr/>
        </p:nvSpPr>
        <p:spPr>
          <a:xfrm rot="0" flipH="0" flipV="0">
            <a:off x="3924300" y="390525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50" name=""/>
          <p:cNvSpPr/>
          <p:nvPr/>
        </p:nvSpPr>
        <p:spPr>
          <a:xfrm rot="0" flipH="0" flipV="0">
            <a:off x="4000500" y="40386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4133850" y="4171950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4667250" y="4048125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项目生命周期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6153150" y="4048125"/>
            <a:ext cx="13049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Project Lifecycle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4667250" y="4343400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六阶段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案例走查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80%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法则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工具链</a:t>
            </a:r>
            <a:endParaRPr/>
          </a:p>
        </p:txBody>
      </p:sp>
      <p:pic>
        <p:nvPicPr>
          <p:cNvPr id="4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181475"/>
            <a:ext cx="190500" cy="190500"/>
          </a:xfrm>
          <a:prstGeom prst="rect">
            <a:avLst/>
          </a:prstGeom>
          <a:ln/>
        </p:spPr>
      </p:pic>
      <p:sp>
        <p:nvSpPr>
          <p:cNvPr id="456" name=""/>
          <p:cNvSpPr/>
          <p:nvPr/>
        </p:nvSpPr>
        <p:spPr>
          <a:xfrm rot="0" flipH="0" flipV="0">
            <a:off x="4000500" y="479107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4133850" y="4924425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4667250" y="4800600"/>
            <a:ext cx="9429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Lab </a:t>
            </a: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实战</a:t>
            </a:r>
            <a:endParaRPr/>
          </a:p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5724525" y="4800600"/>
            <a:ext cx="11620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Lab: Hands-on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4667250" y="5095875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环境搭建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Git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第一个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ML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程序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交付</a:t>
            </a:r>
            <a:endParaRPr/>
          </a:p>
        </p:txBody>
      </p:sp>
      <p:pic>
        <p:nvPicPr>
          <p:cNvPr id="4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933950"/>
            <a:ext cx="190500" cy="190500"/>
          </a:xfrm>
          <a:prstGeom prst="rect">
            <a:avLst/>
          </a:prstGeom>
          <a:ln/>
        </p:spPr>
      </p:pic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02 / 32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965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1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1&lt;/Text&gt;&#10;      &lt;/Box&gt;&#10;      &lt;Box style={{ paddingTop: 6 }}&gt;&#10;        &lt;Text style={{ fontSize: 44, color: '#1A2230', fontWeight: 'bold' }}&gt;课程总览&lt;/Text&gt;&#10;        &lt;Text style={{ fontSize: 26, color: '#8B97A8', fontWeight: '600', marginTop: 6 }}&gt;Course Overview&lt;/Text&gt;&#10;      &lt;/Box&gt;&#10;    &lt;/Box&gt;&#10;    &lt;Box style={{ flexDirection: 'row', gap: 24 }}&gt;&#10;      {[&#10;        { t: '四大模块', e: '4 Modules' },&#10;        { t: '考核构成', e: 'Assessment' },&#10;        { t: '课程政策', e: 'Policies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67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68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969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1181100" y="1314450"/>
            <a:ext cx="6000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971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0002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课程总览</a:t>
            </a:r>
            <a:endParaRPr/>
          </a:p>
        </p:txBody>
      </p:sp>
      <p:sp>
        <p:nvSpPr>
          <p:cNvPr id="972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Course Overview</a:t>
            </a:r>
            <a:endParaRPr/>
          </a:p>
        </p:txBody>
      </p:sp>
      <p:sp>
        <p:nvSpPr>
          <p:cNvPr id="973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74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5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四大模块</a:t>
            </a:r>
            <a:endParaRPr/>
          </a:p>
        </p:txBody>
      </p:sp>
      <p:sp>
        <p:nvSpPr>
          <p:cNvPr id="976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4 Modules</a:t>
            </a:r>
            <a:endParaRPr/>
          </a:p>
        </p:txBody>
      </p:sp>
      <p:sp>
        <p:nvSpPr>
          <p:cNvPr id="977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78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9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考核构成</a:t>
            </a:r>
            <a:endParaRPr/>
          </a:p>
        </p:txBody>
      </p:sp>
      <p:sp>
        <p:nvSpPr>
          <p:cNvPr id="980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Assessment</a:t>
            </a:r>
            <a:endParaRPr/>
          </a:p>
        </p:txBody>
      </p:sp>
      <p:sp>
        <p:nvSpPr>
          <p:cNvPr id="981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2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3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课程政策</a:t>
            </a:r>
            <a:endParaRPr/>
          </a:p>
        </p:txBody>
      </p:sp>
      <p:sp>
        <p:nvSpPr>
          <p:cNvPr id="984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Policies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09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课程结构与考核 · Structure &amp;amp; Assessment&lt;/Text&gt;&#10;    &lt;Text style={{ fontSize: 15, color: 'rgba(255,255,255,0.85)' }}&gt;Module 1 · Week 1&lt;/Text&gt;&#10;  &lt;/Box&gt;&#10;  &lt;Box style={{ position: 'absolute', top: 100, left: 0, width: '100%', height: 540, padding: '6px 84px', flexDirection: 'row', gap: 26 }}&gt;&#10;    &lt;Box style={{ flex: 1.15, gap: 14, justifyContent: 'center' }}&gt;&#10;      &lt;Text style={{ fontSize: 18, color: '#8B97A8', fontWeight: '600', marginBottom: 2 }}&gt;4 Modules · 16 Weeks · 64 Hours&lt;/Text&gt;&#10;      {[&#10;        { m: 'M1', w: 'W1–4', zh: 'AI 与机器学习基础', en: 'AI &amp; ML Foundations', c: '#1E4FA8' },&#10;        { m: 'M2', w: 'W5–8', zh: '深度学习与计算机视觉', en: 'Deep Learning &amp; CV', c: '#3D7BD9' },&#10;        { m: 'M3', w: 'W9–12', zh: 'NLP 与大语言模型', en: 'NLP &amp; Large Language Models', c: '#1E4FA8' },&#10;        { m: 'M4', w: 'W13–16', zh: 'AI 应用工程化', en: 'AI Application Engineering', c: '#0E3F8C' },&#10;      ].map((it, i) =&gt; (&#10;        &lt;Box key={i} style={{ flexDirection: 'row', alignItems: 'center', gap: 18, background: '#F7F9FC', border: '1px solid #E5E7EB', borderLeft: '5px solid ' + it.c, borderRadius: 10, padding: '13px 20px' }}&gt;&#10;          &lt;Box style={{ width: 46, height: 46, borderRadius: 10, background: it.c, justifyContent: 'center', alignItems: 'center', flexShrink: 0 }}&gt;&#10;            &lt;Text style={{ fontSize: 17, color: '#FFFFFF', fontWeight: 'bold' }}&gt;{it.m}&lt;/Text&gt;&#10;          &lt;/Box&gt;&#10;          &lt;Box style={{ flex: 1 }}&gt;&#10;            &lt;Box style={{ flexDirection: 'row', alignItems: 'baseline', gap: 10 }}&gt;&#10;              &lt;Text style={{ fontSize: 21, color: '#1A2230', fontWeight: 'bold' }}&gt;{it.zh}&lt;/Text&gt;&#10;              &lt;Text style={{ fontSize: 15, color: '#8B97A8' }}&gt;{it.en}&lt;/Text&gt;&#10;            &lt;/Box&gt;&#10;            &lt;Text style={{ fontSize: 14, color: '#4A5568', marginTop: 1 }}&gt;{it.w} · 每周 180 分钟（理论 + 实验一体）&lt;/Text&gt;&#10;          &lt;/Box&gt;&#10;        &lt;/Box&gt;&#10;      ))}&#10;      &lt;Text style={{ fontSize: 15, color: '#8B97A8', marginTop: 2 }}&gt;&#10;        定位：&lt;span style={{ color: '#0E3F8C', fontWeight: 'bold' }}&gt;理论扎实 + 应用均衡&lt;/span&gt; —— 先懂原理，再动手实现。&#10;      &lt;/Text&gt;&#10;    &lt;/Box&gt;&#10;    &lt;Box style={{ flex: 1, background: '#F0F5FC', border: '1px solid #D6DCE5', borderRadius: 14, padding: '24px 26px', justifyContent: 'center' }}&gt;&#10;      &lt;Text style={{ fontSize: 20, color: '#0E3F8C', fontWeight: 'bold' }}&gt;考核构成 · Assessment&lt;/Text&gt;&#10;      &lt;Text style={{ fontSize: 14, color: '#8B97A8', marginTop: 2, marginBottom: 14 }}&gt;100 分制 · 无笔试&lt;/Text&gt;&#10;      {[&#10;        { n: 'Assignments ×3', v: 30, c: '#1E4FA8' },&#10;        { n: 'Midterm Project', v: 15, c: '#3D7BD9' },&#10;        { n: 'Capstone Project', v: 35, c: '#0E3F8C' },&#10;        { n: 'Lab &amp; Quizzes', v: 20, c: '#8B97A8' },&#10;      ].map((g, i) =&gt; (&#10;        &lt;Box key={i} style={{ marginBottom: 12 }}&gt;&#10;          &lt;Box style={{ flexDirection: 'row', justifyContent: 'space-between', alignItems: 'baseline' }}&gt;&#10;            &lt;Text style={{ fontSize: 16, color: '#1A2230', fontWeight: '600' }}&gt;{g.n}&lt;/Text&gt;&#10;            &lt;Text style={{ fontSize: 18, color: g.c, fontWeight: 'bold' }}&gt;{g.v}%&lt;/Text&gt;&#10;          &lt;/Box&gt;&#10;          &lt;Box style={{ width: '100%', height: 12, background: '#FFFFFF', borderRadius: 6, marginTop: 5, overflow: 'hidden' }}&gt;&#10;            &lt;Box style={{ width: g.v * 2.55 + '%', height: '100%', background: g.c, borderRadius: 6 }} /&gt;&#10;          &lt;/Box&gt;&#10;        &lt;/Box&gt;&#10;      ))}&#10;      &lt;Box style={{ marginTop: 6, background: '#FFFFFF', borderRadius: 8, padding: '12px 16px', borderLeft: '4px solid #0E3F8C' }}&gt;&#10;        &lt;Text style={{ fontSize: 15, color: '#1A2230', lineHeight: 1.6 }}&gt;&#10;          &lt;span style={{ fontWeight: 'bold', color: '#0E3F8C' }}&gt;实验与项目占 70%&lt;/span&gt; —— 这门课不是&quot;听&quot;出来的，是&quot;做&quot;出来的。&#10;          &lt;span style={{ fontSize: 13, color: '#8B97A8' }}&gt;Projects &amp;amp; labs weigh 70% — you learn by building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9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9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143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课程结构与考核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Structure &amp; Assessment</a:t>
            </a:r>
            <a:endParaRPr/>
          </a:p>
        </p:txBody>
      </p:sp>
      <p:sp>
        <p:nvSpPr>
          <p:cNvPr id="1095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5534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4 Modules · 16 Weeks · 64 Hours</a:t>
            </a:r>
            <a:endParaRPr/>
          </a:p>
        </p:txBody>
      </p:sp>
      <p:sp>
        <p:nvSpPr>
          <p:cNvPr id="1097" name=""/>
          <p:cNvSpPr/>
          <p:nvPr/>
        </p:nvSpPr>
        <p:spPr>
          <a:xfrm rot="0" flipH="0" flipV="0">
            <a:off x="847725" y="1971675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98" name=""/>
          <p:cNvSpPr/>
          <p:nvPr/>
        </p:nvSpPr>
        <p:spPr>
          <a:xfrm rot="0" flipH="0" flipV="0">
            <a:off x="847725" y="1971675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99" name=""/>
          <p:cNvSpPr/>
          <p:nvPr/>
        </p:nvSpPr>
        <p:spPr>
          <a:xfrm rot="0" flipH="0" flipV="0">
            <a:off x="1038225" y="2095500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1152525" y="2219325"/>
            <a:ext cx="219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M1</a:t>
            </a:r>
            <a:endParaRPr/>
          </a:p>
        </p:txBody>
      </p:sp>
      <p:sp>
        <p:nvSpPr>
          <p:cNvPr id="1101" name="" descr="{&quot;isTemplate&quot;:true,&quot;type&quot;:&quot;text&quot;}"/>
          <p:cNvSpPr txBox="1"/>
          <p:nvPr/>
        </p:nvSpPr>
        <p:spPr>
          <a:xfrm rot="0" flipH="0" flipV="0">
            <a:off x="1647825" y="2105025"/>
            <a:ext cx="1657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与机器学习基础</a:t>
            </a:r>
            <a:endParaRPr/>
          </a:p>
        </p:txBody>
      </p:sp>
      <p:sp>
        <p:nvSpPr>
          <p:cNvPr id="1102" name="" descr="{&quot;isTemplate&quot;:true,&quot;type&quot;:&quot;text&quot;}"/>
          <p:cNvSpPr txBox="1"/>
          <p:nvPr/>
        </p:nvSpPr>
        <p:spPr>
          <a:xfrm rot="0" flipH="0" flipV="0">
            <a:off x="3400425" y="2105025"/>
            <a:ext cx="14001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AI &amp; ML Foundations</a:t>
            </a:r>
            <a:endParaRPr/>
          </a:p>
        </p:txBody>
      </p:sp>
      <p:sp>
        <p:nvSpPr>
          <p:cNvPr id="1103" name="" descr="{&quot;isTemplate&quot;:true,&quot;type&quot;:&quot;text&quot;}"/>
          <p:cNvSpPr txBox="1"/>
          <p:nvPr/>
        </p:nvSpPr>
        <p:spPr>
          <a:xfrm rot="0" flipH="0" flipV="0">
            <a:off x="1647825" y="2362200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W1–4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每周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180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分钟（理论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实验一体）</a:t>
            </a:r>
            <a:endParaRPr/>
          </a:p>
        </p:txBody>
      </p:sp>
      <p:sp>
        <p:nvSpPr>
          <p:cNvPr id="1104" name=""/>
          <p:cNvSpPr/>
          <p:nvPr/>
        </p:nvSpPr>
        <p:spPr>
          <a:xfrm rot="0" flipH="0" flipV="0">
            <a:off x="847725" y="2790825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05" name=""/>
          <p:cNvSpPr/>
          <p:nvPr/>
        </p:nvSpPr>
        <p:spPr>
          <a:xfrm rot="0" flipH="0" flipV="0">
            <a:off x="847725" y="2790825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06" name=""/>
          <p:cNvSpPr/>
          <p:nvPr/>
        </p:nvSpPr>
        <p:spPr>
          <a:xfrm rot="0" flipH="0" flipV="0">
            <a:off x="1038225" y="2914650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07" name="" descr="{&quot;isTemplate&quot;:true,&quot;type&quot;:&quot;text&quot;}"/>
          <p:cNvSpPr txBox="1"/>
          <p:nvPr/>
        </p:nvSpPr>
        <p:spPr>
          <a:xfrm rot="0" flipH="0" flipV="0">
            <a:off x="1133475" y="303847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M2</a:t>
            </a:r>
            <a:endParaRPr/>
          </a:p>
        </p:txBody>
      </p:sp>
      <p:sp>
        <p:nvSpPr>
          <p:cNvPr id="1108" name="" descr="{&quot;isTemplate&quot;:true,&quot;type&quot;:&quot;text&quot;}"/>
          <p:cNvSpPr txBox="1"/>
          <p:nvPr/>
        </p:nvSpPr>
        <p:spPr>
          <a:xfrm rot="0" flipH="0" flipV="0">
            <a:off x="1647825" y="2924175"/>
            <a:ext cx="2000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深度学习与计算机视觉</a:t>
            </a:r>
            <a:endParaRPr/>
          </a:p>
        </p:txBody>
      </p:sp>
      <p:sp>
        <p:nvSpPr>
          <p:cNvPr id="1109" name="" descr="{&quot;isTemplate&quot;:true,&quot;type&quot;:&quot;text&quot;}"/>
          <p:cNvSpPr txBox="1"/>
          <p:nvPr/>
        </p:nvSpPr>
        <p:spPr>
          <a:xfrm rot="0" flipH="0" flipV="0">
            <a:off x="3743325" y="2924175"/>
            <a:ext cx="13620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Deep Learning &amp; CV</a:t>
            </a:r>
            <a:endParaRPr/>
          </a:p>
        </p:txBody>
      </p:sp>
      <p:sp>
        <p:nvSpPr>
          <p:cNvPr id="1110" name="" descr="{&quot;isTemplate&quot;:true,&quot;type&quot;:&quot;text&quot;}"/>
          <p:cNvSpPr txBox="1"/>
          <p:nvPr/>
        </p:nvSpPr>
        <p:spPr>
          <a:xfrm rot="0" flipH="0" flipV="0">
            <a:off x="1647825" y="3181350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W5–8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每周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180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分钟（理论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实验一体）</a:t>
            </a:r>
            <a:endParaRPr/>
          </a:p>
        </p:txBody>
      </p:sp>
      <p:sp>
        <p:nvSpPr>
          <p:cNvPr id="1111" name=""/>
          <p:cNvSpPr/>
          <p:nvPr/>
        </p:nvSpPr>
        <p:spPr>
          <a:xfrm rot="0" flipH="0" flipV="0">
            <a:off x="847725" y="3609975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12" name=""/>
          <p:cNvSpPr/>
          <p:nvPr/>
        </p:nvSpPr>
        <p:spPr>
          <a:xfrm rot="0" flipH="0" flipV="0">
            <a:off x="847725" y="3609975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3" name=""/>
          <p:cNvSpPr/>
          <p:nvPr/>
        </p:nvSpPr>
        <p:spPr>
          <a:xfrm rot="0" flipH="0" flipV="0">
            <a:off x="1038225" y="3733800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4" name="" descr="{&quot;isTemplate&quot;:true,&quot;type&quot;:&quot;text&quot;}"/>
          <p:cNvSpPr txBox="1"/>
          <p:nvPr/>
        </p:nvSpPr>
        <p:spPr>
          <a:xfrm rot="0" flipH="0" flipV="0">
            <a:off x="1133475" y="38576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M3</a:t>
            </a:r>
            <a:endParaRPr/>
          </a:p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1647825" y="3743325"/>
            <a:ext cx="16668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Source Han Sans SC"/>
                <a:ea typeface="Source Han Sans SC"/>
              </a:rPr>
              <a:t>NLP </a:t>
            </a: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与大语言模型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3409950" y="3743325"/>
            <a:ext cx="20859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NLP &amp; Large Language Models</a:t>
            </a:r>
            <a:endParaRPr/>
          </a:p>
        </p:txBody>
      </p:sp>
      <p:sp>
        <p:nvSpPr>
          <p:cNvPr id="1117" name="" descr="{&quot;isTemplate&quot;:true,&quot;type&quot;:&quot;text&quot;}"/>
          <p:cNvSpPr txBox="1"/>
          <p:nvPr/>
        </p:nvSpPr>
        <p:spPr>
          <a:xfrm rot="0" flipH="0" flipV="0">
            <a:off x="1647825" y="4000500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W9–12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每周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180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分钟（理论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实验一体）</a:t>
            </a:r>
            <a:endParaRPr/>
          </a:p>
        </p:txBody>
      </p:sp>
      <p:sp>
        <p:nvSpPr>
          <p:cNvPr id="1118" name=""/>
          <p:cNvSpPr/>
          <p:nvPr/>
        </p:nvSpPr>
        <p:spPr>
          <a:xfrm rot="0" flipH="0" flipV="0">
            <a:off x="847725" y="4429125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19" name=""/>
          <p:cNvSpPr/>
          <p:nvPr/>
        </p:nvSpPr>
        <p:spPr>
          <a:xfrm rot="0" flipH="0" flipV="0">
            <a:off x="847725" y="4429125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20" name=""/>
          <p:cNvSpPr/>
          <p:nvPr/>
        </p:nvSpPr>
        <p:spPr>
          <a:xfrm rot="0" flipH="0" flipV="0">
            <a:off x="1038225" y="4552950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21" name="" descr="{&quot;isTemplate&quot;:true,&quot;type&quot;:&quot;text&quot;}"/>
          <p:cNvSpPr txBox="1"/>
          <p:nvPr/>
        </p:nvSpPr>
        <p:spPr>
          <a:xfrm rot="0" flipH="0" flipV="0">
            <a:off x="1133475" y="467677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M4</a:t>
            </a:r>
            <a:endParaRPr/>
          </a:p>
        </p:txBody>
      </p:sp>
      <p:sp>
        <p:nvSpPr>
          <p:cNvPr id="1122" name="" descr="{&quot;isTemplate&quot;:true,&quot;type&quot;:&quot;text&quot;}"/>
          <p:cNvSpPr txBox="1"/>
          <p:nvPr/>
        </p:nvSpPr>
        <p:spPr>
          <a:xfrm rot="0" flipH="0" flipV="0">
            <a:off x="1647825" y="4562475"/>
            <a:ext cx="12573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应用工程化</a:t>
            </a:r>
            <a:endParaRPr/>
          </a:p>
        </p:txBody>
      </p:sp>
      <p:sp>
        <p:nvSpPr>
          <p:cNvPr id="1123" name="" descr="{&quot;isTemplate&quot;:true,&quot;type&quot;:&quot;text&quot;}"/>
          <p:cNvSpPr txBox="1"/>
          <p:nvPr/>
        </p:nvSpPr>
        <p:spPr>
          <a:xfrm rot="0" flipH="0" flipV="0">
            <a:off x="3000375" y="4562475"/>
            <a:ext cx="1752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AI Application Engineering</a:t>
            </a:r>
            <a:endParaRPr/>
          </a:p>
        </p:txBody>
      </p:sp>
      <p:sp>
        <p:nvSpPr>
          <p:cNvPr id="1124" name="" descr="{&quot;isTemplate&quot;:true,&quot;type&quot;:&quot;text&quot;}"/>
          <p:cNvSpPr txBox="1"/>
          <p:nvPr/>
        </p:nvSpPr>
        <p:spPr>
          <a:xfrm rot="0" flipH="0" flipV="0">
            <a:off x="1647825" y="4819650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W13–16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每周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180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分钟（理论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实验一体）</a:t>
            </a:r>
            <a:endParaRPr/>
          </a:p>
        </p:txBody>
      </p:sp>
      <p:sp>
        <p:nvSpPr>
          <p:cNvPr id="1125" name="" descr="{&quot;isTemplate&quot;:true,&quot;type&quot;:&quot;text&quot;}"/>
          <p:cNvSpPr txBox="1"/>
          <p:nvPr/>
        </p:nvSpPr>
        <p:spPr>
          <a:xfrm rot="0" flipH="0" flipV="0">
            <a:off x="800100" y="5267325"/>
            <a:ext cx="5534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定位：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理论扎实</a:t>
            </a: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 + 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应用均衡</a:t>
            </a: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先懂原理，再动手实现。</a:t>
            </a:r>
            <a:endParaRPr/>
          </a:p>
        </p:txBody>
      </p:sp>
      <p:sp>
        <p:nvSpPr>
          <p:cNvPr id="1126" name=""/>
          <p:cNvSpPr/>
          <p:nvPr/>
        </p:nvSpPr>
        <p:spPr>
          <a:xfrm rot="0" flipH="0" flipV="0">
            <a:off x="6581775" y="1009650"/>
            <a:ext cx="4810125" cy="5029200"/>
          </a:xfrm>
          <a:prstGeom prst="roundRect">
            <a:avLst>
              <a:gd name="adj" fmla="val 2772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27" name="" descr="{&quot;isTemplate&quot;:true,&quot;type&quot;:&quot;text&quot;}"/>
          <p:cNvSpPr txBox="1"/>
          <p:nvPr/>
        </p:nvSpPr>
        <p:spPr>
          <a:xfrm rot="0" flipH="0" flipV="0">
            <a:off x="6829425" y="1866900"/>
            <a:ext cx="4314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Source Han Sans SC"/>
                <a:ea typeface="Source Han Sans SC"/>
              </a:rPr>
              <a:t>考核构成</a:t>
            </a:r>
            <a:r>
              <a:rPr lang="en-US" sz="1500" b="1">
                <a:solidFill>
                  <a:srgbClr val="0E3F8C"/>
                </a:solidFill>
                <a:latin typeface="Source Han Sans SC"/>
                <a:ea typeface="Source Han Sans SC"/>
              </a:rPr>
              <a:t> · Assessment</a:t>
            </a:r>
            <a:endParaRPr/>
          </a:p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6829425" y="2114550"/>
            <a:ext cx="4314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100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分制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无笔试</a:t>
            </a:r>
            <a:endParaRPr/>
          </a:p>
        </p:txBody>
      </p:sp>
      <p:sp>
        <p:nvSpPr>
          <p:cNvPr id="1129" name="" descr="{&quot;isTemplate&quot;:true,&quot;type&quot;:&quot;text&quot;}"/>
          <p:cNvSpPr txBox="1"/>
          <p:nvPr/>
        </p:nvSpPr>
        <p:spPr>
          <a:xfrm rot="0" flipH="0" flipV="0">
            <a:off x="6829425" y="2409825"/>
            <a:ext cx="1171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Assignments ×3</a:t>
            </a:r>
            <a:endParaRPr/>
          </a:p>
        </p:txBody>
      </p:sp>
      <p:sp>
        <p:nvSpPr>
          <p:cNvPr id="1130" name="" descr="{&quot;isTemplate&quot;:true,&quot;type&quot;:&quot;text&quot;}"/>
          <p:cNvSpPr txBox="1"/>
          <p:nvPr/>
        </p:nvSpPr>
        <p:spPr>
          <a:xfrm rot="0" flipH="0" flipV="0">
            <a:off x="10763250" y="2409825"/>
            <a:ext cx="381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Source Han Sans SC"/>
                <a:ea typeface="Source Han Sans SC"/>
              </a:rPr>
              <a:t>30</a:t>
            </a:r>
            <a:r>
              <a:rPr lang="en-US" sz="1350" b="1">
                <a:solidFill>
                  <a:srgbClr val="1E4FA8"/>
                </a:solidFill>
                <a:latin typeface="Source Han Sans SC"/>
                <a:ea typeface="Source Han Sans SC"/>
              </a:rPr>
              <a:t>%</a:t>
            </a:r>
            <a:endParaRPr/>
          </a:p>
        </p:txBody>
      </p:sp>
      <p:sp>
        <p:nvSpPr>
          <p:cNvPr id="1131" name=""/>
          <p:cNvSpPr/>
          <p:nvPr/>
        </p:nvSpPr>
        <p:spPr>
          <a:xfrm rot="0" flipH="0" flipV="0">
            <a:off x="6829425" y="2667000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2" name=""/>
          <p:cNvSpPr/>
          <p:nvPr/>
        </p:nvSpPr>
        <p:spPr>
          <a:xfrm rot="0" flipH="0" flipV="0">
            <a:off x="6829425" y="2667000"/>
            <a:ext cx="3305175" cy="1143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33" name="" descr="{&quot;isTemplate&quot;:true,&quot;type&quot;:&quot;text&quot;}"/>
          <p:cNvSpPr txBox="1"/>
          <p:nvPr/>
        </p:nvSpPr>
        <p:spPr>
          <a:xfrm rot="0" flipH="0" flipV="0">
            <a:off x="6829425" y="2895600"/>
            <a:ext cx="1181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Midterm Project</a:t>
            </a:r>
            <a:endParaRPr/>
          </a:p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10791825" y="2895600"/>
            <a:ext cx="352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3D7BD9"/>
                </a:solidFill>
                <a:latin typeface="Source Han Sans SC"/>
                <a:ea typeface="Source Han Sans SC"/>
              </a:rPr>
              <a:t>15</a:t>
            </a:r>
            <a:r>
              <a:rPr lang="en-US" sz="1350" b="1">
                <a:solidFill>
                  <a:srgbClr val="3D7BD9"/>
                </a:solidFill>
                <a:latin typeface="Source Han Sans SC"/>
                <a:ea typeface="Source Han Sans SC"/>
              </a:rPr>
              <a:t>%</a:t>
            </a:r>
            <a:endParaRPr/>
          </a:p>
        </p:txBody>
      </p:sp>
      <p:sp>
        <p:nvSpPr>
          <p:cNvPr id="1135" name=""/>
          <p:cNvSpPr/>
          <p:nvPr/>
        </p:nvSpPr>
        <p:spPr>
          <a:xfrm rot="0" flipH="0" flipV="0">
            <a:off x="6829425" y="3152775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6" name=""/>
          <p:cNvSpPr/>
          <p:nvPr/>
        </p:nvSpPr>
        <p:spPr>
          <a:xfrm rot="0" flipH="0" flipV="0">
            <a:off x="6829425" y="3152775"/>
            <a:ext cx="1647825" cy="1143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37" name="" descr="{&quot;isTemplate&quot;:true,&quot;type&quot;:&quot;text&quot;}"/>
          <p:cNvSpPr txBox="1"/>
          <p:nvPr/>
        </p:nvSpPr>
        <p:spPr>
          <a:xfrm rot="0" flipH="0" flipV="0">
            <a:off x="6829425" y="3381375"/>
            <a:ext cx="1266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Capstone Project</a:t>
            </a:r>
            <a:endParaRPr/>
          </a:p>
        </p:txBody>
      </p:sp>
      <p:sp>
        <p:nvSpPr>
          <p:cNvPr id="1138" name="" descr="{&quot;isTemplate&quot;:true,&quot;type&quot;:&quot;text&quot;}"/>
          <p:cNvSpPr txBox="1"/>
          <p:nvPr/>
        </p:nvSpPr>
        <p:spPr>
          <a:xfrm rot="0" flipH="0" flipV="0">
            <a:off x="10763250" y="3381375"/>
            <a:ext cx="381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35</a:t>
            </a: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%</a:t>
            </a:r>
            <a:endParaRPr/>
          </a:p>
        </p:txBody>
      </p:sp>
      <p:sp>
        <p:nvSpPr>
          <p:cNvPr id="1139" name=""/>
          <p:cNvSpPr/>
          <p:nvPr/>
        </p:nvSpPr>
        <p:spPr>
          <a:xfrm rot="0" flipH="0" flipV="0">
            <a:off x="6829425" y="3638550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40" name=""/>
          <p:cNvSpPr/>
          <p:nvPr/>
        </p:nvSpPr>
        <p:spPr>
          <a:xfrm rot="0" flipH="0" flipV="0">
            <a:off x="6829425" y="3638550"/>
            <a:ext cx="3848100" cy="1143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41" name="" descr="{&quot;isTemplate&quot;:true,&quot;type&quot;:&quot;text&quot;}"/>
          <p:cNvSpPr txBox="1"/>
          <p:nvPr/>
        </p:nvSpPr>
        <p:spPr>
          <a:xfrm rot="0" flipH="0" flipV="0">
            <a:off x="6829425" y="3867150"/>
            <a:ext cx="1057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Lab &amp; Quizzes</a:t>
            </a:r>
            <a:endParaRPr/>
          </a:p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10763250" y="3867150"/>
            <a:ext cx="381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20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%</a:t>
            </a:r>
            <a:endParaRPr/>
          </a:p>
        </p:txBody>
      </p:sp>
      <p:sp>
        <p:nvSpPr>
          <p:cNvPr id="1143" name=""/>
          <p:cNvSpPr/>
          <p:nvPr/>
        </p:nvSpPr>
        <p:spPr>
          <a:xfrm rot="0" flipH="0" flipV="0">
            <a:off x="6829425" y="4124325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44" name=""/>
          <p:cNvSpPr/>
          <p:nvPr/>
        </p:nvSpPr>
        <p:spPr>
          <a:xfrm rot="0" flipH="0" flipV="0">
            <a:off x="6829425" y="4124325"/>
            <a:ext cx="2200275" cy="114300"/>
          </a:xfrm>
          <a:prstGeom prst="roundRect">
            <a:avLst>
              <a:gd name="adj" fmla="val 50000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1145" name=""/>
          <p:cNvSpPr/>
          <p:nvPr/>
        </p:nvSpPr>
        <p:spPr>
          <a:xfrm rot="0" flipH="0" flipV="0">
            <a:off x="6867525" y="4410075"/>
            <a:ext cx="431482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46" name=""/>
          <p:cNvSpPr/>
          <p:nvPr/>
        </p:nvSpPr>
        <p:spPr>
          <a:xfrm rot="0" flipH="0" flipV="0">
            <a:off x="6867525" y="4410075"/>
            <a:ext cx="4314825" cy="781050"/>
          </a:xfrm>
          <a:custGeom>
            <a:pathLst>
              <a:path w="453" h="8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8"/>
                </a:lnTo>
                <a:cubicBezTo>
                  <a:pt x="4" y="80"/>
                  <a:pt x="5" y="82"/>
                  <a:pt x="7" y="82"/>
                </a:cubicBezTo>
                <a:cubicBezTo>
                  <a:pt x="3" y="82"/>
                  <a:pt x="0" y="78"/>
                  <a:pt x="0" y="7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47" name="" descr="{&quot;isTemplate&quot;:true,&quot;type&quot;:&quot;text&quot;}"/>
          <p:cNvSpPr txBox="1"/>
          <p:nvPr/>
        </p:nvSpPr>
        <p:spPr>
          <a:xfrm rot="0" flipH="0" flipV="0">
            <a:off x="7019925" y="4524375"/>
            <a:ext cx="39719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实验与项目占</a:t>
            </a: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 70%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——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这门课不是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听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出来的，是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做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出来的。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Projects &amp; labs weigh 70% — you learn by building.</a:t>
            </a:r>
            <a:endParaRPr/>
          </a:p>
        </p:txBody>
      </p:sp>
      <p:sp>
        <p:nvSpPr>
          <p:cNvPr id="114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149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04 / 32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150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课程日历 · Course Calendar&lt;/Text&gt;&#10;    &lt;Text style={{ fontSize: 15, color: 'rgba(255,255,255,0.85)' }}&gt;16 Weeks · 180 min / week&lt;/Text&gt;&#10;  &lt;/Box&gt;&#10;  &lt;Box style={{ position: 'absolute', top: 94, left: 0, width: '100%', height: 430, padding: '0 84px', flexDirection: 'row', gap: 16 }}&gt;&#10;    {[&#10;      { m: 'M1', w: 'W1–4', n: 'AI 与机器学习基础', c: '#1E4FA8', weeks: [&#10;        { w: 'W1', t: '导论与环境搭建', e: 'Intro &amp; Setup' },&#10;        { w: 'W2', t: '数据处理基础', e: 'Data Handling' },&#10;        { w: 'W3', t: '机器学习基础', e: 'ML with scikit-learn' },&#10;        { w: 'W4', t: '模型评估与调优', e: 'Evaluation &amp; Tuning', b: 'A1 发布' },&#10;      ]},&#10;      { m: 'M2', w: 'W5–8', n: '深度学习与 CV', c: '#3D7BD9', weeks: [&#10;        { w: 'W5', t: '神经网络基础', e: 'Neural Networks' },&#10;        { w: 'W6', t: 'PyTorch 训练实战', e: 'PyTorch Training' },&#10;        { w: 'W7', t: 'CNN 与迁移学习', e: 'CNN &amp; Transfer', b: 'A2 发布' },&#10;        { w: 'W8', t: 'CV 应用 · 期中展示', e: 'CV Apps · Midterm', b: '期中' },&#10;      ]},&#10;      { m: 'M3', w: 'W9–12', n: 'NLP 与大语言模型', c: '#1E4FA8', weeks: [&#10;        { w: 'W9', t: 'NLP 基础', e: 'NLP Fundamentals' },&#10;        { w: 'W10', t: '词向量与序列模型', e: 'Embeddings &amp; RNN', b: 'A3 发布' },&#10;        { w: 'W11', t: 'Transformer 与 BERT', e: 'Transformer &amp; BERT' },&#10;        { w: 'W12', t: 'LLM · Prompt · RAG', e: 'LLM, Prompting, RAG' },&#10;      ]},&#10;      { m: 'M4', w: 'W13–16', n: 'AI 应用工程化', c: '#0E3F8C', weeks: [&#10;        { w: 'W13', t: '生成式 AI 与 Agent', e: 'GenAI &amp; Agents' },&#10;        { w: 'W14', t: '模型部署', e: 'Deployment' },&#10;        { w: 'W15', t: 'MLOps', e: 'MLOps' },&#10;        { w: 'W16', t: 'Capstone 展示', e: 'Capstone Showcase', b: 'Capstone' },&#10;      ]},&#10;    ].map((mod, i) =&gt; (&#10;      &lt;Box key={i} style={{ flex: 1, gap: 7 }}&gt;&#10;        &lt;Box style={{ background: mod.c, borderRadius: 10, padding: '10px 14px', flexDirection: 'row', alignItems: 'center', gap: 10 }}&gt;&#10;          &lt;Text style={{ fontSize: 16, color: '#FFFFFF', fontWeight: 'bold' }}&gt;{mod.m}&lt;/Text&gt;&#10;          &lt;Box style={{ flex: 1 }}&gt;&#10;            &lt;Text style={{ fontSize: 14, color: '#FFFFFF', fontWeight: '600' }}&gt;{mod.n}&lt;/Text&gt;&#10;            &lt;Text style={{ fontSize: 11, color: 'rgba(255,255,255,0.8)' }}&gt;{mod.w} · 每周 180 分钟&lt;/Text&gt;&#10;          &lt;/Box&gt;&#10;        &lt;/Box&gt;&#10;        {mod.weeks.map((k, j) =&gt; (&#10;          &lt;Box key={j} style={{ flex: 1, background: k.b ? '#F0F5FC' : '#F7F9FC', border: '1px solid #E5E7EB', borderLeft: '4px solid ' + mod.c, borderRadius: 8, padding: '8px 12px', flexDirection: 'row', alignItems: 'center', gap: 9 }}&gt;&#10;            &lt;Text style={{ fontSize: 13, color: mod.c, fontWeight: 'bold', width: 30, flexShrink: 0 }}&gt;{k.w}&lt;/Text&gt;&#10;            &lt;Box style={{ flex: 1 }}&gt;&#10;              &lt;Text style={{ fontSize: 14, color: '#1A2230', fontWeight: '600' }}&gt;{k.t}&lt;/Text&gt;&#10;              &lt;Text style={{ fontSize: 11, color: '#8B97A8', marginTop: 1 }}&gt;{k.e}&lt;/Text&gt;&#10;            &lt;/Box&gt;&#10;            {k.b ? (&#10;              &lt;Box style={{ background: mod.c, borderRadius: 6, padding: '3px 8px', flexShrink: 0 }}&gt;&#10;                &lt;Text style={{ fontSize: 11, color: '#FFFFFF', fontWeight: 'bold' }}&gt;{k.b}&lt;/Text&gt;&#10;              &lt;/Box&gt;&#10;            ) : null}&#10;          &lt;/Box&gt;&#10;        ))}&#10;      &lt;/Box&gt;&#10;    ))}&#10;  &lt;/Box&gt;&#10;  &lt;Box style={{ position: 'absolute', top: 540, left: 0, width: '100%', height: 100, padding: '10px 84px' }}&gt;&#10;    &lt;Box style={{ width: '100%', height: '100%', background: '#F0F5FC', border: '1px solid #D6DCE5', borderRadius: 12, padding: '10px 20px', flexDirection: 'row', alignItems: 'center', justifyContent: 'space-between', gap: 8 }}&gt;&#10;      &lt;Text style={{ fontSize: 14, color: '#0E3F8C', fontWeight: 'bold', flexShrink: 0 }}&gt;考核节点&lt;/Text&gt;&#10;      {[&#10;        { w: 'W4', t: 'Assignment 1 发布', c: '#1E4FA8' },&#10;        { w: 'W7', t: 'Assignment 2 发布', c: '#1E4FA8' },&#10;        { w: 'W8', t: '期中项目展示', c: '#3D7BD9' },&#10;        { w: 'W10', t: 'Assignment 3 发布', c: '#1E4FA8' },&#10;        { w: 'W16', t: 'Capstone 展示', c: '#0E3F8C' },&#10;      ].map((ms, i) =&gt; (&#10;        &lt;Box key={i} style={{ flexDirection: 'row', alignItems: 'center', gap: 8, flex: 1, justifyContent: 'center' }}&gt;&#10;          &lt;Box style={{ width: 34, height: 34, borderRadius: 17, background: ms.c, justifyContent: 'center', alignItems: 'center', flexShrink: 0 }}&gt;&#10;            &lt;Text style={{ fontSize: 12, color: '#FFFFFF', fontWeight: 'bold' }}&gt;{ms.w}&lt;/Text&gt;&#10;          &lt;/Box&gt;&#10;          &lt;Text style={{ fontSize: 14, color: '#1A2230', fontWeight: '600' }}&gt;{ms.t}&lt;/Text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5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7527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课程日历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Course Calendar</a:t>
            </a:r>
            <a:endParaRPr/>
          </a:p>
        </p:txBody>
      </p:sp>
      <p:sp>
        <p:nvSpPr>
          <p:cNvPr id="1154" name="" descr="{&quot;isTemplate&quot;:true,&quot;type&quot;:&quot;text&quot;}"/>
          <p:cNvSpPr txBox="1"/>
          <p:nvPr/>
        </p:nvSpPr>
        <p:spPr>
          <a:xfrm rot="0" flipH="0" flipV="0">
            <a:off x="9563100" y="2952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16 Weeks · 180 min / week</a:t>
            </a:r>
            <a:endParaRPr/>
          </a:p>
        </p:txBody>
      </p:sp>
      <p:sp>
        <p:nvSpPr>
          <p:cNvPr id="1155" name=""/>
          <p:cNvSpPr/>
          <p:nvPr/>
        </p:nvSpPr>
        <p:spPr>
          <a:xfrm rot="0" flipH="0" flipV="0">
            <a:off x="80010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6" name="" descr="{&quot;isTemplate&quot;:true,&quot;type&quot;:&quot;text&quot;}"/>
          <p:cNvSpPr txBox="1"/>
          <p:nvPr/>
        </p:nvSpPr>
        <p:spPr>
          <a:xfrm rot="0" flipH="0" flipV="0">
            <a:off x="933450" y="1047750"/>
            <a:ext cx="209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M1</a:t>
            </a:r>
            <a:endParaRPr/>
          </a:p>
        </p:txBody>
      </p:sp>
      <p:sp>
        <p:nvSpPr>
          <p:cNvPr id="1157" name="" descr="{&quot;isTemplate&quot;:true,&quot;type&quot;:&quot;text&quot;}"/>
          <p:cNvSpPr txBox="1"/>
          <p:nvPr/>
        </p:nvSpPr>
        <p:spPr>
          <a:xfrm rot="0" flipH="0" flipV="0">
            <a:off x="1238250" y="990600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SC"/>
                <a:ea typeface="Source Han Sans SC"/>
              </a:rPr>
              <a:t>AI </a:t>
            </a:r>
            <a:r>
              <a:rPr lang="zh-CN" sz="1050" b="1">
                <a:solidFill>
                  <a:srgbClr val="FFFFFF"/>
                </a:solidFill>
                <a:latin typeface="Source Han Sans SC"/>
                <a:ea typeface="Source Han Sans SC"/>
              </a:rPr>
              <a:t>与机器学习基础</a:t>
            </a:r>
            <a:endParaRPr/>
          </a:p>
        </p:txBody>
      </p:sp>
      <p:sp>
        <p:nvSpPr>
          <p:cNvPr id="1158" name="" descr="{&quot;isTemplate&quot;:true,&quot;type&quot;:&quot;text&quot;}"/>
          <p:cNvSpPr txBox="1"/>
          <p:nvPr/>
        </p:nvSpPr>
        <p:spPr>
          <a:xfrm rot="0" flipH="0" flipV="0">
            <a:off x="1238250" y="1152525"/>
            <a:ext cx="1962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W1–4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·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每周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180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分钟</a:t>
            </a:r>
            <a:endParaRPr/>
          </a:p>
        </p:txBody>
      </p:sp>
      <p:sp>
        <p:nvSpPr>
          <p:cNvPr id="1159" name=""/>
          <p:cNvSpPr/>
          <p:nvPr/>
        </p:nvSpPr>
        <p:spPr>
          <a:xfrm rot="0" flipH="0" flipV="0">
            <a:off x="83820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60" name=""/>
          <p:cNvSpPr/>
          <p:nvPr/>
        </p:nvSpPr>
        <p:spPr>
          <a:xfrm rot="0" flipH="0" flipV="0">
            <a:off x="83820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1" name="" descr="{&quot;isTemplate&quot;:true,&quot;type&quot;:&quot;text&quot;}"/>
          <p:cNvSpPr txBox="1"/>
          <p:nvPr/>
        </p:nvSpPr>
        <p:spPr>
          <a:xfrm rot="0" flipH="0" flipV="0">
            <a:off x="95250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W1</a:t>
            </a:r>
            <a:endParaRPr/>
          </a:p>
        </p:txBody>
      </p:sp>
      <p:sp>
        <p:nvSpPr>
          <p:cNvPr id="1162" name="" descr="{&quot;isTemplate&quot;:true,&quot;type&quot;:&quot;text&quot;}"/>
          <p:cNvSpPr txBox="1"/>
          <p:nvPr/>
        </p:nvSpPr>
        <p:spPr>
          <a:xfrm rot="0" flipH="0" flipV="0">
            <a:off x="132397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导论与环境搭建</a:t>
            </a:r>
            <a:endParaRPr/>
          </a:p>
        </p:txBody>
      </p:sp>
      <p:sp>
        <p:nvSpPr>
          <p:cNvPr id="1163" name="" descr="{&quot;isTemplate&quot;:true,&quot;type&quot;:&quot;text&quot;}"/>
          <p:cNvSpPr txBox="1"/>
          <p:nvPr/>
        </p:nvSpPr>
        <p:spPr>
          <a:xfrm rot="0" flipH="0" flipV="0">
            <a:off x="132397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Intro &amp; Setup</a:t>
            </a:r>
            <a:endParaRPr/>
          </a:p>
        </p:txBody>
      </p:sp>
      <p:sp>
        <p:nvSpPr>
          <p:cNvPr id="1164" name=""/>
          <p:cNvSpPr/>
          <p:nvPr/>
        </p:nvSpPr>
        <p:spPr>
          <a:xfrm rot="0" flipH="0" flipV="0">
            <a:off x="83820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65" name=""/>
          <p:cNvSpPr/>
          <p:nvPr/>
        </p:nvSpPr>
        <p:spPr>
          <a:xfrm rot="0" flipH="0" flipV="0">
            <a:off x="83820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6" name="" descr="{&quot;isTemplate&quot;:true,&quot;type&quot;:&quot;text&quot;}"/>
          <p:cNvSpPr txBox="1"/>
          <p:nvPr/>
        </p:nvSpPr>
        <p:spPr>
          <a:xfrm rot="0" flipH="0" flipV="0">
            <a:off x="95250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W2</a:t>
            </a:r>
            <a:endParaRPr/>
          </a:p>
        </p:txBody>
      </p:sp>
      <p:sp>
        <p:nvSpPr>
          <p:cNvPr id="1167" name="" descr="{&quot;isTemplate&quot;:true,&quot;type&quot;:&quot;text&quot;}"/>
          <p:cNvSpPr txBox="1"/>
          <p:nvPr/>
        </p:nvSpPr>
        <p:spPr>
          <a:xfrm rot="0" flipH="0" flipV="0">
            <a:off x="1323975" y="2619375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数据处理基础</a:t>
            </a:r>
            <a:endParaRPr/>
          </a:p>
        </p:txBody>
      </p:sp>
      <p:sp>
        <p:nvSpPr>
          <p:cNvPr id="1168" name="" descr="{&quot;isTemplate&quot;:true,&quot;type&quot;:&quot;text&quot;}"/>
          <p:cNvSpPr txBox="1"/>
          <p:nvPr/>
        </p:nvSpPr>
        <p:spPr>
          <a:xfrm rot="0" flipH="0" flipV="0">
            <a:off x="1323975" y="2790825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Data Handling</a:t>
            </a:r>
            <a:endParaRPr/>
          </a:p>
        </p:txBody>
      </p:sp>
      <p:sp>
        <p:nvSpPr>
          <p:cNvPr id="1169" name=""/>
          <p:cNvSpPr/>
          <p:nvPr/>
        </p:nvSpPr>
        <p:spPr>
          <a:xfrm rot="0" flipH="0" flipV="0">
            <a:off x="83820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70" name=""/>
          <p:cNvSpPr/>
          <p:nvPr/>
        </p:nvSpPr>
        <p:spPr>
          <a:xfrm rot="0" flipH="0" flipV="0">
            <a:off x="83820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1" name="" descr="{&quot;isTemplate&quot;:true,&quot;type&quot;:&quot;text&quot;}"/>
          <p:cNvSpPr txBox="1"/>
          <p:nvPr/>
        </p:nvSpPr>
        <p:spPr>
          <a:xfrm rot="0" flipH="0" flipV="0">
            <a:off x="95250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W3</a:t>
            </a:r>
            <a:endParaRPr/>
          </a:p>
        </p:txBody>
      </p:sp>
      <p:sp>
        <p:nvSpPr>
          <p:cNvPr id="1172" name="" descr="{&quot;isTemplate&quot;:true,&quot;type&quot;:&quot;text&quot;}"/>
          <p:cNvSpPr txBox="1"/>
          <p:nvPr/>
        </p:nvSpPr>
        <p:spPr>
          <a:xfrm rot="0" flipH="0" flipV="0">
            <a:off x="1323975" y="352425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机器学习基础</a:t>
            </a:r>
            <a:endParaRPr/>
          </a:p>
        </p:txBody>
      </p:sp>
      <p:sp>
        <p:nvSpPr>
          <p:cNvPr id="1173" name="" descr="{&quot;isTemplate&quot;:true,&quot;type&quot;:&quot;text&quot;}"/>
          <p:cNvSpPr txBox="1"/>
          <p:nvPr/>
        </p:nvSpPr>
        <p:spPr>
          <a:xfrm rot="0" flipH="0" flipV="0">
            <a:off x="1323975" y="369570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ML with scikit-learn</a:t>
            </a:r>
            <a:endParaRPr/>
          </a:p>
        </p:txBody>
      </p:sp>
      <p:sp>
        <p:nvSpPr>
          <p:cNvPr id="1174" name=""/>
          <p:cNvSpPr/>
          <p:nvPr/>
        </p:nvSpPr>
        <p:spPr>
          <a:xfrm rot="0" flipH="0" flipV="0">
            <a:off x="83820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75" name=""/>
          <p:cNvSpPr/>
          <p:nvPr/>
        </p:nvSpPr>
        <p:spPr>
          <a:xfrm rot="0" flipH="0" flipV="0">
            <a:off x="83820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6" name="" descr="{&quot;isTemplate&quot;:true,&quot;type&quot;:&quot;text&quot;}"/>
          <p:cNvSpPr txBox="1"/>
          <p:nvPr/>
        </p:nvSpPr>
        <p:spPr>
          <a:xfrm rot="0" flipH="0" flipV="0">
            <a:off x="95250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W4</a:t>
            </a:r>
            <a:endParaRPr/>
          </a:p>
        </p:txBody>
      </p:sp>
      <p:sp>
        <p:nvSpPr>
          <p:cNvPr id="1177" name="" descr="{&quot;isTemplate&quot;:true,&quot;type&quot;:&quot;text&quot;}"/>
          <p:cNvSpPr txBox="1"/>
          <p:nvPr/>
        </p:nvSpPr>
        <p:spPr>
          <a:xfrm rot="0" flipH="0" flipV="0">
            <a:off x="1323975" y="4419600"/>
            <a:ext cx="1295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模型评估与调优</a:t>
            </a:r>
            <a:endParaRPr/>
          </a:p>
        </p:txBody>
      </p:sp>
      <p:sp>
        <p:nvSpPr>
          <p:cNvPr id="1178" name="" descr="{&quot;isTemplate&quot;:true,&quot;type&quot;:&quot;text&quot;}"/>
          <p:cNvSpPr txBox="1"/>
          <p:nvPr/>
        </p:nvSpPr>
        <p:spPr>
          <a:xfrm rot="0" flipH="0" flipV="0">
            <a:off x="1323975" y="4591050"/>
            <a:ext cx="12954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Evaluation &amp; Tuning</a:t>
            </a:r>
            <a:endParaRPr/>
          </a:p>
        </p:txBody>
      </p:sp>
      <p:sp>
        <p:nvSpPr>
          <p:cNvPr id="1179" name=""/>
          <p:cNvSpPr/>
          <p:nvPr/>
        </p:nvSpPr>
        <p:spPr>
          <a:xfrm rot="0" flipH="0" flipV="0">
            <a:off x="2705100" y="4476750"/>
            <a:ext cx="514350" cy="19050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0" name="" descr="{&quot;isTemplate&quot;:true,&quot;type&quot;:&quot;text&quot;}"/>
          <p:cNvSpPr txBox="1"/>
          <p:nvPr/>
        </p:nvSpPr>
        <p:spPr>
          <a:xfrm rot="0" flipH="0" flipV="0">
            <a:off x="2781300" y="4505325"/>
            <a:ext cx="3619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Source Han Sans SC"/>
                <a:ea typeface="Source Han Sans SC"/>
              </a:rPr>
              <a:t>A1 </a:t>
            </a:r>
            <a:r>
              <a:rPr lang="zh-CN" sz="825" b="1">
                <a:solidFill>
                  <a:srgbClr val="FFFFFF"/>
                </a:solidFill>
                <a:latin typeface="Source Han Sans SC"/>
                <a:ea typeface="Source Han Sans SC"/>
              </a:rPr>
              <a:t>发布</a:t>
            </a:r>
            <a:endParaRPr/>
          </a:p>
        </p:txBody>
      </p:sp>
      <p:sp>
        <p:nvSpPr>
          <p:cNvPr id="1181" name=""/>
          <p:cNvSpPr/>
          <p:nvPr/>
        </p:nvSpPr>
        <p:spPr>
          <a:xfrm rot="0" flipH="0" flipV="0">
            <a:off x="348615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82" name="" descr="{&quot;isTemplate&quot;:true,&quot;type&quot;:&quot;text&quot;}"/>
          <p:cNvSpPr txBox="1"/>
          <p:nvPr/>
        </p:nvSpPr>
        <p:spPr>
          <a:xfrm rot="0" flipH="0" flipV="0">
            <a:off x="3619500" y="1047750"/>
            <a:ext cx="238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M2</a:t>
            </a:r>
            <a:endParaRPr/>
          </a:p>
        </p:txBody>
      </p:sp>
      <p:sp>
        <p:nvSpPr>
          <p:cNvPr id="1183" name="" descr="{&quot;isTemplate&quot;:true,&quot;type&quot;:&quot;text&quot;}"/>
          <p:cNvSpPr txBox="1"/>
          <p:nvPr/>
        </p:nvSpPr>
        <p:spPr>
          <a:xfrm rot="0" flipH="0" flipV="0">
            <a:off x="3952875" y="990600"/>
            <a:ext cx="193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Source Han Sans SC"/>
                <a:ea typeface="Source Han Sans SC"/>
              </a:rPr>
              <a:t>深度学习与</a:t>
            </a:r>
            <a:r>
              <a:rPr lang="en-US" sz="1050" b="1">
                <a:solidFill>
                  <a:srgbClr val="FFFFFF"/>
                </a:solidFill>
                <a:latin typeface="Source Han Sans SC"/>
                <a:ea typeface="Source Han Sans SC"/>
              </a:rPr>
              <a:t> CV</a:t>
            </a:r>
            <a:endParaRPr/>
          </a:p>
        </p:txBody>
      </p:sp>
      <p:sp>
        <p:nvSpPr>
          <p:cNvPr id="1184" name="" descr="{&quot;isTemplate&quot;:true,&quot;type&quot;:&quot;text&quot;}"/>
          <p:cNvSpPr txBox="1"/>
          <p:nvPr/>
        </p:nvSpPr>
        <p:spPr>
          <a:xfrm rot="0" flipH="0" flipV="0">
            <a:off x="3952875" y="1152525"/>
            <a:ext cx="1933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W5–8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·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每周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180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分钟</a:t>
            </a:r>
            <a:endParaRPr/>
          </a:p>
        </p:txBody>
      </p:sp>
      <p:sp>
        <p:nvSpPr>
          <p:cNvPr id="1185" name=""/>
          <p:cNvSpPr/>
          <p:nvPr/>
        </p:nvSpPr>
        <p:spPr>
          <a:xfrm rot="0" flipH="0" flipV="0">
            <a:off x="352425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86" name=""/>
          <p:cNvSpPr/>
          <p:nvPr/>
        </p:nvSpPr>
        <p:spPr>
          <a:xfrm rot="0" flipH="0" flipV="0">
            <a:off x="352425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87" name="" descr="{&quot;isTemplate&quot;:true,&quot;type&quot;:&quot;text&quot;}"/>
          <p:cNvSpPr txBox="1"/>
          <p:nvPr/>
        </p:nvSpPr>
        <p:spPr>
          <a:xfrm rot="0" flipH="0" flipV="0">
            <a:off x="363855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Source Han Sans SC"/>
                <a:ea typeface="Source Han Sans SC"/>
              </a:rPr>
              <a:t>W5</a:t>
            </a:r>
            <a:endParaRPr/>
          </a:p>
        </p:txBody>
      </p:sp>
      <p:sp>
        <p:nvSpPr>
          <p:cNvPr id="1188" name="" descr="{&quot;isTemplate&quot;:true,&quot;type&quot;:&quot;text&quot;}"/>
          <p:cNvSpPr txBox="1"/>
          <p:nvPr/>
        </p:nvSpPr>
        <p:spPr>
          <a:xfrm rot="0" flipH="0" flipV="0">
            <a:off x="401002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神经网络基础</a:t>
            </a:r>
            <a:endParaRPr/>
          </a:p>
        </p:txBody>
      </p:sp>
      <p:sp>
        <p:nvSpPr>
          <p:cNvPr id="1189" name="" descr="{&quot;isTemplate&quot;:true,&quot;type&quot;:&quot;text&quot;}"/>
          <p:cNvSpPr txBox="1"/>
          <p:nvPr/>
        </p:nvSpPr>
        <p:spPr>
          <a:xfrm rot="0" flipH="0" flipV="0">
            <a:off x="401002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Neural Networks</a:t>
            </a:r>
            <a:endParaRPr/>
          </a:p>
        </p:txBody>
      </p:sp>
      <p:sp>
        <p:nvSpPr>
          <p:cNvPr id="1190" name=""/>
          <p:cNvSpPr/>
          <p:nvPr/>
        </p:nvSpPr>
        <p:spPr>
          <a:xfrm rot="0" flipH="0" flipV="0">
            <a:off x="352425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91" name=""/>
          <p:cNvSpPr/>
          <p:nvPr/>
        </p:nvSpPr>
        <p:spPr>
          <a:xfrm rot="0" flipH="0" flipV="0">
            <a:off x="352425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92" name="" descr="{&quot;isTemplate&quot;:true,&quot;type&quot;:&quot;text&quot;}"/>
          <p:cNvSpPr txBox="1"/>
          <p:nvPr/>
        </p:nvSpPr>
        <p:spPr>
          <a:xfrm rot="0" flipH="0" flipV="0">
            <a:off x="363855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Source Han Sans SC"/>
                <a:ea typeface="Source Han Sans SC"/>
              </a:rPr>
              <a:t>W6</a:t>
            </a:r>
            <a:endParaRPr/>
          </a:p>
        </p:txBody>
      </p:sp>
      <p:sp>
        <p:nvSpPr>
          <p:cNvPr id="1193" name="" descr="{&quot;isTemplate&quot;:true,&quot;type&quot;:&quot;text&quot;}"/>
          <p:cNvSpPr txBox="1"/>
          <p:nvPr/>
        </p:nvSpPr>
        <p:spPr>
          <a:xfrm rot="0" flipH="0" flipV="0">
            <a:off x="4010025" y="2619375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PyTorch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训练实战</a:t>
            </a:r>
            <a:endParaRPr/>
          </a:p>
        </p:txBody>
      </p:sp>
      <p:sp>
        <p:nvSpPr>
          <p:cNvPr id="1194" name="" descr="{&quot;isTemplate&quot;:true,&quot;type&quot;:&quot;text&quot;}"/>
          <p:cNvSpPr txBox="1"/>
          <p:nvPr/>
        </p:nvSpPr>
        <p:spPr>
          <a:xfrm rot="0" flipH="0" flipV="0">
            <a:off x="4010025" y="2790825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PyTorch Training</a:t>
            </a:r>
            <a:endParaRPr/>
          </a:p>
        </p:txBody>
      </p:sp>
      <p:sp>
        <p:nvSpPr>
          <p:cNvPr id="1195" name=""/>
          <p:cNvSpPr/>
          <p:nvPr/>
        </p:nvSpPr>
        <p:spPr>
          <a:xfrm rot="0" flipH="0" flipV="0">
            <a:off x="352425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96" name=""/>
          <p:cNvSpPr/>
          <p:nvPr/>
        </p:nvSpPr>
        <p:spPr>
          <a:xfrm rot="0" flipH="0" flipV="0">
            <a:off x="352425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97" name="" descr="{&quot;isTemplate&quot;:true,&quot;type&quot;:&quot;text&quot;}"/>
          <p:cNvSpPr txBox="1"/>
          <p:nvPr/>
        </p:nvSpPr>
        <p:spPr>
          <a:xfrm rot="0" flipH="0" flipV="0">
            <a:off x="363855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Source Han Sans SC"/>
                <a:ea typeface="Source Han Sans SC"/>
              </a:rPr>
              <a:t>W7</a:t>
            </a:r>
            <a:endParaRPr/>
          </a:p>
        </p:txBody>
      </p:sp>
      <p:sp>
        <p:nvSpPr>
          <p:cNvPr id="1198" name="" descr="{&quot;isTemplate&quot;:true,&quot;type&quot;:&quot;text&quot;}"/>
          <p:cNvSpPr txBox="1"/>
          <p:nvPr/>
        </p:nvSpPr>
        <p:spPr>
          <a:xfrm rot="0" flipH="0" flipV="0">
            <a:off x="4010025" y="3524250"/>
            <a:ext cx="1276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CNN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与迁移学习</a:t>
            </a:r>
            <a:endParaRPr/>
          </a:p>
        </p:txBody>
      </p:sp>
      <p:sp>
        <p:nvSpPr>
          <p:cNvPr id="1199" name="" descr="{&quot;isTemplate&quot;:true,&quot;type&quot;:&quot;text&quot;}"/>
          <p:cNvSpPr txBox="1"/>
          <p:nvPr/>
        </p:nvSpPr>
        <p:spPr>
          <a:xfrm rot="0" flipH="0" flipV="0">
            <a:off x="4010025" y="3695700"/>
            <a:ext cx="12763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CNN &amp; Transfer</a:t>
            </a:r>
            <a:endParaRPr/>
          </a:p>
        </p:txBody>
      </p:sp>
      <p:sp>
        <p:nvSpPr>
          <p:cNvPr id="1200" name=""/>
          <p:cNvSpPr/>
          <p:nvPr/>
        </p:nvSpPr>
        <p:spPr>
          <a:xfrm rot="0" flipH="0" flipV="0">
            <a:off x="5372100" y="3581400"/>
            <a:ext cx="533400" cy="19050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01" name="" descr="{&quot;isTemplate&quot;:true,&quot;type&quot;:&quot;text&quot;}"/>
          <p:cNvSpPr txBox="1"/>
          <p:nvPr/>
        </p:nvSpPr>
        <p:spPr>
          <a:xfrm rot="0" flipH="0" flipV="0">
            <a:off x="5448300" y="3609975"/>
            <a:ext cx="3810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Source Han Sans SC"/>
                <a:ea typeface="Source Han Sans SC"/>
              </a:rPr>
              <a:t>A2 </a:t>
            </a:r>
            <a:r>
              <a:rPr lang="zh-CN" sz="825" b="1">
                <a:solidFill>
                  <a:srgbClr val="FFFFFF"/>
                </a:solidFill>
                <a:latin typeface="Source Han Sans SC"/>
                <a:ea typeface="Source Han Sans SC"/>
              </a:rPr>
              <a:t>发布</a:t>
            </a:r>
            <a:endParaRPr/>
          </a:p>
        </p:txBody>
      </p:sp>
      <p:sp>
        <p:nvSpPr>
          <p:cNvPr id="1202" name=""/>
          <p:cNvSpPr/>
          <p:nvPr/>
        </p:nvSpPr>
        <p:spPr>
          <a:xfrm rot="0" flipH="0" flipV="0">
            <a:off x="352425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03" name=""/>
          <p:cNvSpPr/>
          <p:nvPr/>
        </p:nvSpPr>
        <p:spPr>
          <a:xfrm rot="0" flipH="0" flipV="0">
            <a:off x="352425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04" name="" descr="{&quot;isTemplate&quot;:true,&quot;type&quot;:&quot;text&quot;}"/>
          <p:cNvSpPr txBox="1"/>
          <p:nvPr/>
        </p:nvSpPr>
        <p:spPr>
          <a:xfrm rot="0" flipH="0" flipV="0">
            <a:off x="363855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Source Han Sans SC"/>
                <a:ea typeface="Source Han Sans SC"/>
              </a:rPr>
              <a:t>W8</a:t>
            </a:r>
            <a:endParaRPr/>
          </a:p>
        </p:txBody>
      </p:sp>
      <p:sp>
        <p:nvSpPr>
          <p:cNvPr id="1205" name="" descr="{&quot;isTemplate&quot;:true,&quot;type&quot;:&quot;text&quot;}"/>
          <p:cNvSpPr txBox="1"/>
          <p:nvPr/>
        </p:nvSpPr>
        <p:spPr>
          <a:xfrm rot="0" flipH="0" flipV="0">
            <a:off x="4010025" y="4419600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CV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应用</a:t>
            </a: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 ·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期中展示</a:t>
            </a:r>
            <a:endParaRPr/>
          </a:p>
        </p:txBody>
      </p:sp>
      <p:sp>
        <p:nvSpPr>
          <p:cNvPr id="1206" name="" descr="{&quot;isTemplate&quot;:true,&quot;type&quot;:&quot;text&quot;}"/>
          <p:cNvSpPr txBox="1"/>
          <p:nvPr/>
        </p:nvSpPr>
        <p:spPr>
          <a:xfrm rot="0" flipH="0" flipV="0">
            <a:off x="4010025" y="4591050"/>
            <a:ext cx="14478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CV Apps · Midterm</a:t>
            </a:r>
            <a:endParaRPr/>
          </a:p>
        </p:txBody>
      </p:sp>
      <p:sp>
        <p:nvSpPr>
          <p:cNvPr id="1207" name=""/>
          <p:cNvSpPr/>
          <p:nvPr/>
        </p:nvSpPr>
        <p:spPr>
          <a:xfrm rot="0" flipH="0" flipV="0">
            <a:off x="5543550" y="4476750"/>
            <a:ext cx="361950" cy="19050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08" name="" descr="{&quot;isTemplate&quot;:true,&quot;type&quot;:&quot;text&quot;}"/>
          <p:cNvSpPr txBox="1"/>
          <p:nvPr/>
        </p:nvSpPr>
        <p:spPr>
          <a:xfrm rot="0" flipH="0" flipV="0">
            <a:off x="5619750" y="4505325"/>
            <a:ext cx="2095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>
                <a:solidFill>
                  <a:srgbClr val="FFFFFF"/>
                </a:solidFill>
                <a:latin typeface="Source Han Sans SC"/>
                <a:ea typeface="Source Han Sans SC"/>
              </a:rPr>
              <a:t>期中</a:t>
            </a:r>
            <a:endParaRPr/>
          </a:p>
        </p:txBody>
      </p:sp>
      <p:sp>
        <p:nvSpPr>
          <p:cNvPr id="1209" name=""/>
          <p:cNvSpPr/>
          <p:nvPr/>
        </p:nvSpPr>
        <p:spPr>
          <a:xfrm rot="0" flipH="0" flipV="0">
            <a:off x="617220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10" name="" descr="{&quot;isTemplate&quot;:true,&quot;type&quot;:&quot;text&quot;}"/>
          <p:cNvSpPr txBox="1"/>
          <p:nvPr/>
        </p:nvSpPr>
        <p:spPr>
          <a:xfrm rot="0" flipH="0" flipV="0">
            <a:off x="6305550" y="1047750"/>
            <a:ext cx="238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M3</a:t>
            </a:r>
            <a:endParaRPr/>
          </a:p>
        </p:txBody>
      </p:sp>
      <p:sp>
        <p:nvSpPr>
          <p:cNvPr id="1211" name="" descr="{&quot;isTemplate&quot;:true,&quot;type&quot;:&quot;text&quot;}"/>
          <p:cNvSpPr txBox="1"/>
          <p:nvPr/>
        </p:nvSpPr>
        <p:spPr>
          <a:xfrm rot="0" flipH="0" flipV="0">
            <a:off x="6638925" y="990600"/>
            <a:ext cx="193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SC"/>
                <a:ea typeface="Source Han Sans SC"/>
              </a:rPr>
              <a:t>NLP </a:t>
            </a:r>
            <a:r>
              <a:rPr lang="zh-CN" sz="1050" b="1">
                <a:solidFill>
                  <a:srgbClr val="FFFFFF"/>
                </a:solidFill>
                <a:latin typeface="Source Han Sans SC"/>
                <a:ea typeface="Source Han Sans SC"/>
              </a:rPr>
              <a:t>与大语言模型</a:t>
            </a:r>
            <a:endParaRPr/>
          </a:p>
        </p:txBody>
      </p:sp>
      <p:sp>
        <p:nvSpPr>
          <p:cNvPr id="1212" name="" descr="{&quot;isTemplate&quot;:true,&quot;type&quot;:&quot;text&quot;}"/>
          <p:cNvSpPr txBox="1"/>
          <p:nvPr/>
        </p:nvSpPr>
        <p:spPr>
          <a:xfrm rot="0" flipH="0" flipV="0">
            <a:off x="6638925" y="1152525"/>
            <a:ext cx="1933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W9–12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·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每周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180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分钟</a:t>
            </a:r>
            <a:endParaRPr/>
          </a:p>
        </p:txBody>
      </p:sp>
      <p:sp>
        <p:nvSpPr>
          <p:cNvPr id="1213" name=""/>
          <p:cNvSpPr/>
          <p:nvPr/>
        </p:nvSpPr>
        <p:spPr>
          <a:xfrm rot="0" flipH="0" flipV="0">
            <a:off x="621030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14" name=""/>
          <p:cNvSpPr/>
          <p:nvPr/>
        </p:nvSpPr>
        <p:spPr>
          <a:xfrm rot="0" flipH="0" flipV="0">
            <a:off x="621030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15" name="" descr="{&quot;isTemplate&quot;:true,&quot;type&quot;:&quot;text&quot;}"/>
          <p:cNvSpPr txBox="1"/>
          <p:nvPr/>
        </p:nvSpPr>
        <p:spPr>
          <a:xfrm rot="0" flipH="0" flipV="0">
            <a:off x="632460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W9</a:t>
            </a:r>
            <a:endParaRPr/>
          </a:p>
        </p:txBody>
      </p:sp>
      <p:sp>
        <p:nvSpPr>
          <p:cNvPr id="1216" name="" descr="{&quot;isTemplate&quot;:true,&quot;type&quot;:&quot;text&quot;}"/>
          <p:cNvSpPr txBox="1"/>
          <p:nvPr/>
        </p:nvSpPr>
        <p:spPr>
          <a:xfrm rot="0" flipH="0" flipV="0">
            <a:off x="669607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NLP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基础</a:t>
            </a:r>
            <a:endParaRPr/>
          </a:p>
        </p:txBody>
      </p:sp>
      <p:sp>
        <p:nvSpPr>
          <p:cNvPr id="1217" name="" descr="{&quot;isTemplate&quot;:true,&quot;type&quot;:&quot;text&quot;}"/>
          <p:cNvSpPr txBox="1"/>
          <p:nvPr/>
        </p:nvSpPr>
        <p:spPr>
          <a:xfrm rot="0" flipH="0" flipV="0">
            <a:off x="669607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NLP Fundamentals</a:t>
            </a:r>
            <a:endParaRPr/>
          </a:p>
        </p:txBody>
      </p:sp>
      <p:sp>
        <p:nvSpPr>
          <p:cNvPr id="1218" name=""/>
          <p:cNvSpPr/>
          <p:nvPr/>
        </p:nvSpPr>
        <p:spPr>
          <a:xfrm rot="0" flipH="0" flipV="0">
            <a:off x="621030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19" name=""/>
          <p:cNvSpPr/>
          <p:nvPr/>
        </p:nvSpPr>
        <p:spPr>
          <a:xfrm rot="0" flipH="0" flipV="0">
            <a:off x="621030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0" name="" descr="{&quot;isTemplate&quot;:true,&quot;type&quot;:&quot;text&quot;}"/>
          <p:cNvSpPr txBox="1"/>
          <p:nvPr/>
        </p:nvSpPr>
        <p:spPr>
          <a:xfrm rot="0" flipH="0" flipV="0">
            <a:off x="632460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W10</a:t>
            </a:r>
            <a:endParaRPr/>
          </a:p>
        </p:txBody>
      </p:sp>
      <p:sp>
        <p:nvSpPr>
          <p:cNvPr id="1221" name="" descr="{&quot;isTemplate&quot;:true,&quot;type&quot;:&quot;text&quot;}"/>
          <p:cNvSpPr txBox="1"/>
          <p:nvPr/>
        </p:nvSpPr>
        <p:spPr>
          <a:xfrm rot="0" flipH="0" flipV="0">
            <a:off x="6696075" y="2619375"/>
            <a:ext cx="1276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词向量与序列模型</a:t>
            </a:r>
            <a:endParaRPr/>
          </a:p>
        </p:txBody>
      </p:sp>
      <p:sp>
        <p:nvSpPr>
          <p:cNvPr id="1222" name="" descr="{&quot;isTemplate&quot;:true,&quot;type&quot;:&quot;text&quot;}"/>
          <p:cNvSpPr txBox="1"/>
          <p:nvPr/>
        </p:nvSpPr>
        <p:spPr>
          <a:xfrm rot="0" flipH="0" flipV="0">
            <a:off x="6696075" y="2790825"/>
            <a:ext cx="12763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Embeddings &amp; RNN</a:t>
            </a:r>
            <a:endParaRPr/>
          </a:p>
        </p:txBody>
      </p:sp>
      <p:sp>
        <p:nvSpPr>
          <p:cNvPr id="1223" name=""/>
          <p:cNvSpPr/>
          <p:nvPr/>
        </p:nvSpPr>
        <p:spPr>
          <a:xfrm rot="0" flipH="0" flipV="0">
            <a:off x="8058150" y="2676525"/>
            <a:ext cx="533400" cy="19050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4" name="" descr="{&quot;isTemplate&quot;:true,&quot;type&quot;:&quot;text&quot;}"/>
          <p:cNvSpPr txBox="1"/>
          <p:nvPr/>
        </p:nvSpPr>
        <p:spPr>
          <a:xfrm rot="0" flipH="0" flipV="0">
            <a:off x="8134350" y="2705100"/>
            <a:ext cx="3810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Source Han Sans SC"/>
                <a:ea typeface="Source Han Sans SC"/>
              </a:rPr>
              <a:t>A3 </a:t>
            </a:r>
            <a:r>
              <a:rPr lang="zh-CN" sz="825" b="1">
                <a:solidFill>
                  <a:srgbClr val="FFFFFF"/>
                </a:solidFill>
                <a:latin typeface="Source Han Sans SC"/>
                <a:ea typeface="Source Han Sans SC"/>
              </a:rPr>
              <a:t>发布</a:t>
            </a:r>
            <a:endParaRPr/>
          </a:p>
        </p:txBody>
      </p:sp>
      <p:sp>
        <p:nvSpPr>
          <p:cNvPr id="1225" name=""/>
          <p:cNvSpPr/>
          <p:nvPr/>
        </p:nvSpPr>
        <p:spPr>
          <a:xfrm rot="0" flipH="0" flipV="0">
            <a:off x="621030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26" name=""/>
          <p:cNvSpPr/>
          <p:nvPr/>
        </p:nvSpPr>
        <p:spPr>
          <a:xfrm rot="0" flipH="0" flipV="0">
            <a:off x="621030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7" name="" descr="{&quot;isTemplate&quot;:true,&quot;type&quot;:&quot;text&quot;}"/>
          <p:cNvSpPr txBox="1"/>
          <p:nvPr/>
        </p:nvSpPr>
        <p:spPr>
          <a:xfrm rot="0" flipH="0" flipV="0">
            <a:off x="632460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W11</a:t>
            </a:r>
            <a:endParaRPr/>
          </a:p>
        </p:txBody>
      </p:sp>
      <p:sp>
        <p:nvSpPr>
          <p:cNvPr id="1228" name="" descr="{&quot;isTemplate&quot;:true,&quot;type&quot;:&quot;text&quot;}"/>
          <p:cNvSpPr txBox="1"/>
          <p:nvPr/>
        </p:nvSpPr>
        <p:spPr>
          <a:xfrm rot="0" flipH="0" flipV="0">
            <a:off x="6696075" y="352425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Transformer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与</a:t>
            </a: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 BERT</a:t>
            </a:r>
            <a:endParaRPr/>
          </a:p>
        </p:txBody>
      </p:sp>
      <p:sp>
        <p:nvSpPr>
          <p:cNvPr id="1229" name="" descr="{&quot;isTemplate&quot;:true,&quot;type&quot;:&quot;text&quot;}"/>
          <p:cNvSpPr txBox="1"/>
          <p:nvPr/>
        </p:nvSpPr>
        <p:spPr>
          <a:xfrm rot="0" flipH="0" flipV="0">
            <a:off x="6696075" y="369570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Transformer &amp; BERT</a:t>
            </a:r>
            <a:endParaRPr/>
          </a:p>
        </p:txBody>
      </p:sp>
      <p:sp>
        <p:nvSpPr>
          <p:cNvPr id="1230" name=""/>
          <p:cNvSpPr/>
          <p:nvPr/>
        </p:nvSpPr>
        <p:spPr>
          <a:xfrm rot="0" flipH="0" flipV="0">
            <a:off x="621030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31" name=""/>
          <p:cNvSpPr/>
          <p:nvPr/>
        </p:nvSpPr>
        <p:spPr>
          <a:xfrm rot="0" flipH="0" flipV="0">
            <a:off x="621030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2" name="" descr="{&quot;isTemplate&quot;:true,&quot;type&quot;:&quot;text&quot;}"/>
          <p:cNvSpPr txBox="1"/>
          <p:nvPr/>
        </p:nvSpPr>
        <p:spPr>
          <a:xfrm rot="0" flipH="0" flipV="0">
            <a:off x="632460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W12</a:t>
            </a:r>
            <a:endParaRPr/>
          </a:p>
        </p:txBody>
      </p:sp>
      <p:sp>
        <p:nvSpPr>
          <p:cNvPr id="1233" name="" descr="{&quot;isTemplate&quot;:true,&quot;type&quot;:&quot;text&quot;}"/>
          <p:cNvSpPr txBox="1"/>
          <p:nvPr/>
        </p:nvSpPr>
        <p:spPr>
          <a:xfrm rot="0" flipH="0" flipV="0">
            <a:off x="6696075" y="44196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LLM · Prompt · RAG</a:t>
            </a:r>
            <a:endParaRPr/>
          </a:p>
        </p:txBody>
      </p:sp>
      <p:sp>
        <p:nvSpPr>
          <p:cNvPr id="1234" name="" descr="{&quot;isTemplate&quot;:true,&quot;type&quot;:&quot;text&quot;}"/>
          <p:cNvSpPr txBox="1"/>
          <p:nvPr/>
        </p:nvSpPr>
        <p:spPr>
          <a:xfrm rot="0" flipH="0" flipV="0">
            <a:off x="6696075" y="45910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LLM, Prompting, RAG</a:t>
            </a:r>
            <a:endParaRPr/>
          </a:p>
        </p:txBody>
      </p:sp>
      <p:sp>
        <p:nvSpPr>
          <p:cNvPr id="1235" name=""/>
          <p:cNvSpPr/>
          <p:nvPr/>
        </p:nvSpPr>
        <p:spPr>
          <a:xfrm rot="0" flipH="0" flipV="0">
            <a:off x="885825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36" name="" descr="{&quot;isTemplate&quot;:true,&quot;type&quot;:&quot;text&quot;}"/>
          <p:cNvSpPr txBox="1"/>
          <p:nvPr/>
        </p:nvSpPr>
        <p:spPr>
          <a:xfrm rot="0" flipH="0" flipV="0">
            <a:off x="8991600" y="1047750"/>
            <a:ext cx="238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M4</a:t>
            </a:r>
            <a:endParaRPr/>
          </a:p>
        </p:txBody>
      </p:sp>
      <p:sp>
        <p:nvSpPr>
          <p:cNvPr id="1237" name="" descr="{&quot;isTemplate&quot;:true,&quot;type&quot;:&quot;text&quot;}"/>
          <p:cNvSpPr txBox="1"/>
          <p:nvPr/>
        </p:nvSpPr>
        <p:spPr>
          <a:xfrm rot="0" flipH="0" flipV="0">
            <a:off x="9324975" y="990600"/>
            <a:ext cx="193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SC"/>
                <a:ea typeface="Source Han Sans SC"/>
              </a:rPr>
              <a:t>AI </a:t>
            </a:r>
            <a:r>
              <a:rPr lang="zh-CN" sz="1050" b="1">
                <a:solidFill>
                  <a:srgbClr val="FFFFFF"/>
                </a:solidFill>
                <a:latin typeface="Source Han Sans SC"/>
                <a:ea typeface="Source Han Sans SC"/>
              </a:rPr>
              <a:t>应用工程化</a:t>
            </a:r>
            <a:endParaRPr/>
          </a:p>
        </p:txBody>
      </p:sp>
      <p:sp>
        <p:nvSpPr>
          <p:cNvPr id="1238" name="" descr="{&quot;isTemplate&quot;:true,&quot;type&quot;:&quot;text&quot;}"/>
          <p:cNvSpPr txBox="1"/>
          <p:nvPr/>
        </p:nvSpPr>
        <p:spPr>
          <a:xfrm rot="0" flipH="0" flipV="0">
            <a:off x="9324975" y="1152525"/>
            <a:ext cx="1933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W13–16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·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每周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180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分钟</a:t>
            </a:r>
            <a:endParaRPr/>
          </a:p>
        </p:txBody>
      </p:sp>
      <p:sp>
        <p:nvSpPr>
          <p:cNvPr id="1239" name=""/>
          <p:cNvSpPr/>
          <p:nvPr/>
        </p:nvSpPr>
        <p:spPr>
          <a:xfrm rot="0" flipH="0" flipV="0">
            <a:off x="889635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40" name=""/>
          <p:cNvSpPr/>
          <p:nvPr/>
        </p:nvSpPr>
        <p:spPr>
          <a:xfrm rot="0" flipH="0" flipV="0">
            <a:off x="889635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41" name="" descr="{&quot;isTemplate&quot;:true,&quot;type&quot;:&quot;text&quot;}"/>
          <p:cNvSpPr txBox="1"/>
          <p:nvPr/>
        </p:nvSpPr>
        <p:spPr>
          <a:xfrm rot="0" flipH="0" flipV="0">
            <a:off x="901065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Source Han Sans SC"/>
                <a:ea typeface="Source Han Sans SC"/>
              </a:rPr>
              <a:t>W13</a:t>
            </a:r>
            <a:endParaRPr/>
          </a:p>
        </p:txBody>
      </p:sp>
      <p:sp>
        <p:nvSpPr>
          <p:cNvPr id="1242" name="" descr="{&quot;isTemplate&quot;:true,&quot;type&quot;:&quot;text&quot;}"/>
          <p:cNvSpPr txBox="1"/>
          <p:nvPr/>
        </p:nvSpPr>
        <p:spPr>
          <a:xfrm rot="0" flipH="0" flipV="0">
            <a:off x="938212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生成式</a:t>
            </a: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与</a:t>
            </a: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 Agent</a:t>
            </a:r>
            <a:endParaRPr/>
          </a:p>
        </p:txBody>
      </p:sp>
      <p:sp>
        <p:nvSpPr>
          <p:cNvPr id="1243" name="" descr="{&quot;isTemplate&quot;:true,&quot;type&quot;:&quot;text&quot;}"/>
          <p:cNvSpPr txBox="1"/>
          <p:nvPr/>
        </p:nvSpPr>
        <p:spPr>
          <a:xfrm rot="0" flipH="0" flipV="0">
            <a:off x="938212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GenAI &amp; Agents</a:t>
            </a:r>
            <a:endParaRPr/>
          </a:p>
        </p:txBody>
      </p:sp>
      <p:sp>
        <p:nvSpPr>
          <p:cNvPr id="1244" name=""/>
          <p:cNvSpPr/>
          <p:nvPr/>
        </p:nvSpPr>
        <p:spPr>
          <a:xfrm rot="0" flipH="0" flipV="0">
            <a:off x="889635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45" name=""/>
          <p:cNvSpPr/>
          <p:nvPr/>
        </p:nvSpPr>
        <p:spPr>
          <a:xfrm rot="0" flipH="0" flipV="0">
            <a:off x="889635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46" name="" descr="{&quot;isTemplate&quot;:true,&quot;type&quot;:&quot;text&quot;}"/>
          <p:cNvSpPr txBox="1"/>
          <p:nvPr/>
        </p:nvSpPr>
        <p:spPr>
          <a:xfrm rot="0" flipH="0" flipV="0">
            <a:off x="901065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Source Han Sans SC"/>
                <a:ea typeface="Source Han Sans SC"/>
              </a:rPr>
              <a:t>W14</a:t>
            </a:r>
            <a:endParaRPr/>
          </a:p>
        </p:txBody>
      </p:sp>
      <p:sp>
        <p:nvSpPr>
          <p:cNvPr id="1247" name="" descr="{&quot;isTemplate&quot;:true,&quot;type&quot;:&quot;text&quot;}"/>
          <p:cNvSpPr txBox="1"/>
          <p:nvPr/>
        </p:nvSpPr>
        <p:spPr>
          <a:xfrm rot="0" flipH="0" flipV="0">
            <a:off x="9382125" y="2619375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模型部署</a:t>
            </a:r>
            <a:endParaRPr/>
          </a:p>
        </p:txBody>
      </p:sp>
      <p:sp>
        <p:nvSpPr>
          <p:cNvPr id="1248" name="" descr="{&quot;isTemplate&quot;:true,&quot;type&quot;:&quot;text&quot;}"/>
          <p:cNvSpPr txBox="1"/>
          <p:nvPr/>
        </p:nvSpPr>
        <p:spPr>
          <a:xfrm rot="0" flipH="0" flipV="0">
            <a:off x="9382125" y="2790825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Deployment</a:t>
            </a:r>
            <a:endParaRPr/>
          </a:p>
        </p:txBody>
      </p:sp>
      <p:sp>
        <p:nvSpPr>
          <p:cNvPr id="1249" name=""/>
          <p:cNvSpPr/>
          <p:nvPr/>
        </p:nvSpPr>
        <p:spPr>
          <a:xfrm rot="0" flipH="0" flipV="0">
            <a:off x="889635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50" name=""/>
          <p:cNvSpPr/>
          <p:nvPr/>
        </p:nvSpPr>
        <p:spPr>
          <a:xfrm rot="0" flipH="0" flipV="0">
            <a:off x="889635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51" name="" descr="{&quot;isTemplate&quot;:true,&quot;type&quot;:&quot;text&quot;}"/>
          <p:cNvSpPr txBox="1"/>
          <p:nvPr/>
        </p:nvSpPr>
        <p:spPr>
          <a:xfrm rot="0" flipH="0" flipV="0">
            <a:off x="901065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Source Han Sans SC"/>
                <a:ea typeface="Source Han Sans SC"/>
              </a:rPr>
              <a:t>W15</a:t>
            </a:r>
            <a:endParaRPr/>
          </a:p>
        </p:txBody>
      </p:sp>
      <p:sp>
        <p:nvSpPr>
          <p:cNvPr id="1252" name="" descr="{&quot;isTemplate&quot;:true,&quot;type&quot;:&quot;text&quot;}"/>
          <p:cNvSpPr txBox="1"/>
          <p:nvPr/>
        </p:nvSpPr>
        <p:spPr>
          <a:xfrm rot="0" flipH="0" flipV="0">
            <a:off x="9382125" y="352425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MLOps</a:t>
            </a:r>
            <a:endParaRPr/>
          </a:p>
        </p:txBody>
      </p:sp>
      <p:sp>
        <p:nvSpPr>
          <p:cNvPr id="1253" name="" descr="{&quot;isTemplate&quot;:true,&quot;type&quot;:&quot;text&quot;}"/>
          <p:cNvSpPr txBox="1"/>
          <p:nvPr/>
        </p:nvSpPr>
        <p:spPr>
          <a:xfrm rot="0" flipH="0" flipV="0">
            <a:off x="9382125" y="369570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MLOps</a:t>
            </a:r>
            <a:endParaRPr/>
          </a:p>
        </p:txBody>
      </p:sp>
      <p:sp>
        <p:nvSpPr>
          <p:cNvPr id="1254" name=""/>
          <p:cNvSpPr/>
          <p:nvPr/>
        </p:nvSpPr>
        <p:spPr>
          <a:xfrm rot="0" flipH="0" flipV="0">
            <a:off x="889635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55" name=""/>
          <p:cNvSpPr/>
          <p:nvPr/>
        </p:nvSpPr>
        <p:spPr>
          <a:xfrm rot="0" flipH="0" flipV="0">
            <a:off x="889635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56" name="" descr="{&quot;isTemplate&quot;:true,&quot;type&quot;:&quot;text&quot;}"/>
          <p:cNvSpPr txBox="1"/>
          <p:nvPr/>
        </p:nvSpPr>
        <p:spPr>
          <a:xfrm rot="0" flipH="0" flipV="0">
            <a:off x="901065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Source Han Sans SC"/>
                <a:ea typeface="Source Han Sans SC"/>
              </a:rPr>
              <a:t>W16</a:t>
            </a:r>
            <a:endParaRPr/>
          </a:p>
        </p:txBody>
      </p:sp>
      <p:sp>
        <p:nvSpPr>
          <p:cNvPr id="1257" name="" descr="{&quot;isTemplate&quot;:true,&quot;type&quot;:&quot;text&quot;}"/>
          <p:cNvSpPr txBox="1"/>
          <p:nvPr/>
        </p:nvSpPr>
        <p:spPr>
          <a:xfrm rot="0" flipH="0" flipV="0">
            <a:off x="9382125" y="4419600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Capstone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展示</a:t>
            </a:r>
            <a:endParaRPr/>
          </a:p>
        </p:txBody>
      </p:sp>
      <p:sp>
        <p:nvSpPr>
          <p:cNvPr id="1258" name="" descr="{&quot;isTemplate&quot;:true,&quot;type&quot;:&quot;text&quot;}"/>
          <p:cNvSpPr txBox="1"/>
          <p:nvPr/>
        </p:nvSpPr>
        <p:spPr>
          <a:xfrm rot="0" flipH="0" flipV="0">
            <a:off x="9382125" y="4591050"/>
            <a:ext cx="1181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Capstone Showcase</a:t>
            </a:r>
            <a:endParaRPr/>
          </a:p>
        </p:txBody>
      </p:sp>
      <p:sp>
        <p:nvSpPr>
          <p:cNvPr id="1259" name=""/>
          <p:cNvSpPr/>
          <p:nvPr/>
        </p:nvSpPr>
        <p:spPr>
          <a:xfrm rot="0" flipH="0" flipV="0">
            <a:off x="10648950" y="4476750"/>
            <a:ext cx="628650" cy="190500"/>
          </a:xfrm>
          <a:prstGeom prst="roundRect">
            <a:avLst>
              <a:gd name="adj" fmla="val 3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60" name="" descr="{&quot;isTemplate&quot;:true,&quot;type&quot;:&quot;text&quot;}"/>
          <p:cNvSpPr txBox="1"/>
          <p:nvPr/>
        </p:nvSpPr>
        <p:spPr>
          <a:xfrm rot="0" flipH="0" flipV="0">
            <a:off x="10725150" y="4505325"/>
            <a:ext cx="4762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Source Han Sans SC"/>
                <a:ea typeface="Source Han Sans SC"/>
              </a:rPr>
              <a:t>Capstone</a:t>
            </a:r>
            <a:endParaRPr/>
          </a:p>
        </p:txBody>
      </p:sp>
      <p:sp>
        <p:nvSpPr>
          <p:cNvPr id="1261" name=""/>
          <p:cNvSpPr/>
          <p:nvPr/>
        </p:nvSpPr>
        <p:spPr>
          <a:xfrm rot="0" flipH="0" flipV="0">
            <a:off x="800100" y="5238750"/>
            <a:ext cx="10591800" cy="762000"/>
          </a:xfrm>
          <a:prstGeom prst="roundRect">
            <a:avLst>
              <a:gd name="adj" fmla="val 150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62" name="" descr="{&quot;isTemplate&quot;:true,&quot;type&quot;:&quot;text&quot;}"/>
          <p:cNvSpPr txBox="1"/>
          <p:nvPr/>
        </p:nvSpPr>
        <p:spPr>
          <a:xfrm rot="0" flipH="0" flipV="0">
            <a:off x="990600" y="55435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E3F8C"/>
                </a:solidFill>
                <a:latin typeface="Source Han Sans SC"/>
                <a:ea typeface="Source Han Sans SC"/>
              </a:rPr>
              <a:t>考核节点</a:t>
            </a:r>
            <a:endParaRPr/>
          </a:p>
        </p:txBody>
      </p:sp>
      <p:sp>
        <p:nvSpPr>
          <p:cNvPr id="1263" name=""/>
          <p:cNvSpPr/>
          <p:nvPr/>
        </p:nvSpPr>
        <p:spPr>
          <a:xfrm rot="0" flipH="0" flipV="0">
            <a:off x="1752600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64" name="" descr="{&quot;isTemplate&quot;:true,&quot;type&quot;:&quot;text&quot;}"/>
          <p:cNvSpPr txBox="1"/>
          <p:nvPr/>
        </p:nvSpPr>
        <p:spPr>
          <a:xfrm rot="0" flipH="0" flipV="0">
            <a:off x="1828800" y="5553075"/>
            <a:ext cx="180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W4</a:t>
            </a:r>
            <a:endParaRPr/>
          </a:p>
        </p:txBody>
      </p:sp>
      <p:sp>
        <p:nvSpPr>
          <p:cNvPr id="1265" name="" descr="{&quot;isTemplate&quot;:true,&quot;type&quot;:&quot;text&quot;}"/>
          <p:cNvSpPr txBox="1"/>
          <p:nvPr/>
        </p:nvSpPr>
        <p:spPr>
          <a:xfrm rot="0" flipH="0" flipV="0">
            <a:off x="2152650" y="5543550"/>
            <a:ext cx="1162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Assignment 1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发布</a:t>
            </a:r>
            <a:endParaRPr/>
          </a:p>
        </p:txBody>
      </p:sp>
      <p:sp>
        <p:nvSpPr>
          <p:cNvPr id="1266" name=""/>
          <p:cNvSpPr/>
          <p:nvPr/>
        </p:nvSpPr>
        <p:spPr>
          <a:xfrm rot="0" flipH="0" flipV="0">
            <a:off x="3676650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67" name="" descr="{&quot;isTemplate&quot;:true,&quot;type&quot;:&quot;text&quot;}"/>
          <p:cNvSpPr txBox="1"/>
          <p:nvPr/>
        </p:nvSpPr>
        <p:spPr>
          <a:xfrm rot="0" flipH="0" flipV="0">
            <a:off x="3752850" y="5553075"/>
            <a:ext cx="180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W7</a:t>
            </a:r>
            <a:endParaRPr/>
          </a:p>
        </p:txBody>
      </p:sp>
      <p:sp>
        <p:nvSpPr>
          <p:cNvPr id="1268" name="" descr="{&quot;isTemplate&quot;:true,&quot;type&quot;:&quot;text&quot;}"/>
          <p:cNvSpPr txBox="1"/>
          <p:nvPr/>
        </p:nvSpPr>
        <p:spPr>
          <a:xfrm rot="0" flipH="0" flipV="0">
            <a:off x="4076700" y="5543550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Assignment 2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发布</a:t>
            </a:r>
            <a:endParaRPr/>
          </a:p>
        </p:txBody>
      </p:sp>
      <p:sp>
        <p:nvSpPr>
          <p:cNvPr id="1269" name=""/>
          <p:cNvSpPr/>
          <p:nvPr/>
        </p:nvSpPr>
        <p:spPr>
          <a:xfrm rot="0" flipH="0" flipV="0">
            <a:off x="5800725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70" name="" descr="{&quot;isTemplate&quot;:true,&quot;type&quot;:&quot;text&quot;}"/>
          <p:cNvSpPr txBox="1"/>
          <p:nvPr/>
        </p:nvSpPr>
        <p:spPr>
          <a:xfrm rot="0" flipH="0" flipV="0">
            <a:off x="5876925" y="5553075"/>
            <a:ext cx="180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W8</a:t>
            </a:r>
            <a:endParaRPr/>
          </a:p>
        </p:txBody>
      </p:sp>
      <p:sp>
        <p:nvSpPr>
          <p:cNvPr id="1271" name="" descr="{&quot;isTemplate&quot;:true,&quot;type&quot;:&quot;text&quot;}"/>
          <p:cNvSpPr txBox="1"/>
          <p:nvPr/>
        </p:nvSpPr>
        <p:spPr>
          <a:xfrm rot="0" flipH="0" flipV="0">
            <a:off x="6200775" y="5543550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期中项目展示</a:t>
            </a:r>
            <a:endParaRPr/>
          </a:p>
        </p:txBody>
      </p:sp>
      <p:sp>
        <p:nvSpPr>
          <p:cNvPr id="1272" name=""/>
          <p:cNvSpPr/>
          <p:nvPr/>
        </p:nvSpPr>
        <p:spPr>
          <a:xfrm rot="0" flipH="0" flipV="0">
            <a:off x="7553325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73" name="" descr="{&quot;isTemplate&quot;:true,&quot;type&quot;:&quot;text&quot;}"/>
          <p:cNvSpPr txBox="1"/>
          <p:nvPr/>
        </p:nvSpPr>
        <p:spPr>
          <a:xfrm rot="0" flipH="0" flipV="0">
            <a:off x="7600950" y="5553075"/>
            <a:ext cx="22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W10</a:t>
            </a:r>
            <a:endParaRPr/>
          </a:p>
        </p:txBody>
      </p:sp>
      <p:sp>
        <p:nvSpPr>
          <p:cNvPr id="1274" name="" descr="{&quot;isTemplate&quot;:true,&quot;type&quot;:&quot;text&quot;}"/>
          <p:cNvSpPr txBox="1"/>
          <p:nvPr/>
        </p:nvSpPr>
        <p:spPr>
          <a:xfrm rot="0" flipH="0" flipV="0">
            <a:off x="7953375" y="5543550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Assignment 3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发布</a:t>
            </a:r>
            <a:endParaRPr/>
          </a:p>
        </p:txBody>
      </p:sp>
      <p:sp>
        <p:nvSpPr>
          <p:cNvPr id="1275" name=""/>
          <p:cNvSpPr/>
          <p:nvPr/>
        </p:nvSpPr>
        <p:spPr>
          <a:xfrm rot="0" flipH="0" flipV="0">
            <a:off x="9610725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76" name="" descr="{&quot;isTemplate&quot;:true,&quot;type&quot;:&quot;text&quot;}"/>
          <p:cNvSpPr txBox="1"/>
          <p:nvPr/>
        </p:nvSpPr>
        <p:spPr>
          <a:xfrm rot="0" flipH="0" flipV="0">
            <a:off x="9658350" y="5553075"/>
            <a:ext cx="22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W16</a:t>
            </a:r>
            <a:endParaRPr/>
          </a:p>
        </p:txBody>
      </p:sp>
      <p:sp>
        <p:nvSpPr>
          <p:cNvPr id="1277" name="" descr="{&quot;isTemplate&quot;:true,&quot;type&quot;:&quot;text&quot;}"/>
          <p:cNvSpPr txBox="1"/>
          <p:nvPr/>
        </p:nvSpPr>
        <p:spPr>
          <a:xfrm rot="0" flipH="0" flipV="0">
            <a:off x="10010775" y="5543550"/>
            <a:ext cx="923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Capstone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展示</a:t>
            </a:r>
            <a:endParaRPr/>
          </a:p>
        </p:txBody>
      </p:sp>
      <p:sp>
        <p:nvSpPr>
          <p:cNvPr id="127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279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05 / 32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80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考核细则与学术诚信 · Grading Details &amp;amp; Integrity&lt;/Text&gt;&#10;    &lt;Text style={{ fontSize: 15, color: 'rgba(255,255,255,0.85)' }}&gt;Module 1 · Week 1&lt;/Text&gt;&#10;  &lt;/Box&gt;&#10;  &lt;Box style={{ position: 'absolute', top: 96, left: 0, width: '100%', height: 550, padding: '6px 84px', flexDirection: 'row', gap: 24 }}&gt;&#10;    &lt;Box style={{ flex: 1.25, gap: 10, justifyContent: 'center' }}&gt;&#10;      &lt;Text style={{ fontSize: 18, color: '#8B97A8', fontWeight: '600', marginBottom: 2 }}&gt;每一分怎么来 · How Each Point Is Earned&lt;/Text&gt;&#10;      {[&#10;        { n: 'Assignments ×3', v: '30%', d: '每次 10%：代码 + 简短报告 + 可复现运行', e: 'Code, short report, reproducible run', c: '#1E4FA8' },&#10;        { n: 'Midterm Project', v: '15%', d: '小组 2-3 人 · 5 分钟现场演示 + 代码', e: 'Team of 2–3 · 5-min live demo', c: '#3D7BD9' },&#10;        { n: 'Capstone Project', v: '35%', d: '开题 5% + 演示 15% + 报告 15%', e: 'Proposal 5 + demo 15 + report 15', c: '#0E3F8C' },&#10;        { n: 'Lab &amp; Quizzes', v: '20%', d: '出勤与课堂参与 10% + 随堂小测 10%', e: 'Participation 10 + quizzes 10', c: '#8B97A8' },&#10;      ].map((g, i) =&gt; (&#10;        &lt;Box key={i} style={{ background: '#F7F9FC', border: '1px solid #E5E7EB', borderLeft: '5px solid ' + g.c, borderRadius: 10, padding: '13px 18px' }}&gt;&#10;          &lt;Box style={{ flexDirection: 'row', justifyContent: 'space-between', alignItems: 'baseline' }}&gt;&#10;            &lt;Text style={{ fontSize: 18, color: '#1A2230', fontWeight: 'bold' }}&gt;{g.n}&lt;/Text&gt;&#10;            &lt;Text style={{ fontSize: 20, color: g.c, fontWeight: 'bold' }}&gt;{g.v}&lt;/Text&gt;&#10;          &lt;/Box&gt;&#10;          &lt;Text style={{ fontSize: 14, color: '#4A5568', marginTop: 3 }}&gt;{g.d}&lt;/Text&gt;&#10;          &lt;Text style={{ fontSize: 12, color: '#8B97A8', marginTop: 1 }}&gt;{g.e}&lt;/Text&gt;&#10;        &lt;/Box&gt;&#10;      ))}&#10;      &lt;Box style={{ background: '#FFFFFF', border: '1px dashed #8B97A8', borderRadius: 8, padding: '9px 16px' }}&gt;&#10;        &lt;Text style={{ fontSize: 14, color: '#4A5568' }}&gt;迟交政策：每迟 24 小时扣 10%，超过 72 小时不接收。&lt;span style={{ color: '#8B97A8', fontSize: 12 }}&gt;Late policy: −10% per 24h; not accepted after 72h.&lt;/span&gt;&lt;/Text&gt;&#10;      &lt;/Box&gt;&#10;    &lt;/Box&gt;&#10;    &lt;Box style={{ flex: 1, background: '#F0F5FC', border: '1px solid #D6DCE5', borderRadius: 14, padding: '24px 26px', justifyContent: 'center' }}&gt;&#10;      &lt;Text style={{ fontSize: 20, color: '#0E3F8C', fontWeight: 'bold' }}&gt;学术诚信 · Academic Integrity&lt;/Text&gt;&#10;      &lt;Box style={{ width: '100%', height: 2, background: '#D6DCE5', marginTop: 12, marginBottom: 14 }} /&gt;&#10;      {[&#10;        { i: 'robot', t: '可以用 AI 工具，但必须声明', d: '提交时注明哪些部分由 AI 辅助完成。用了不报 = 违规。', e: 'Declare AI assistance — undeclared use is a violation.' },&#10;        { i: 'user-check', t: '你必须能解释你交的每一行代码', d: '随机抽查现场讲解，讲不出 = 该部分 0 分。', e: 'You may be asked to explain any line you submit.' },&#10;        { i: 'ban', t: '抄袭与代写 = 该项 0 分', d: '包括复制同学作业、网上找现成答案。', e: 'Copying or ghost-writing scores zero.' },&#10;        { i: 'handshake', t: '小组项目：分工写进报告', d: '每人负责的部分与贡献一目了然。', e: 'Team projects: state each member\u2019s contribution.' },&#10;      ].map((r, i) =&gt; (&#10;        &lt;Box key={i} style={{ flexDirection: 'row', gap: 12, alignItems: 'flex-start', marginBottom: 13 }}&gt;&#10;          &lt;Box style={{ width: 36, height: 36, borderRadius: 10, background: '#FFFFFF', border: '1px solid #D6DCE5', justifyContent: 'center', alignItems: 'center', flexShrink: 0 }}&gt;&#10;            &lt;FAIcon name={r.i} style={{ fill: '#1E4FA8', width: 18, height: 18 }} /&gt;&#10;          &lt;/Box&gt;&#10;          &lt;Box style={{ flex: 1 }}&gt;&#10;            &lt;Text style={{ fontSize: 16, color: '#1A2230', fontWeight: 'bold' }}&gt;{r.t}&lt;/Text&gt;&#10;            &lt;Text style={{ fontSize: 13, color: '#4A5568', marginTop: 2, lineHeight: 1.5 }}&gt;{r.d}&lt;/Text&gt;&#10;            &lt;Text style={{ fontSize: 11.5, color: '#8B97A8', marginTop: 1 }}&gt;{r.e}&lt;/Text&gt;&#10;          &lt;/Box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8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8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791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考核细则与学术诚信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Grading Details &amp; Integrity</a:t>
            </a:r>
            <a:endParaRPr/>
          </a:p>
        </p:txBody>
      </p:sp>
      <p:sp>
        <p:nvSpPr>
          <p:cNvPr id="1284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1285" name="" descr="{&quot;isTemplate&quot;:true,&quot;type&quot;:&quot;text&quot;}"/>
          <p:cNvSpPr txBox="1"/>
          <p:nvPr/>
        </p:nvSpPr>
        <p:spPr>
          <a:xfrm rot="0" flipH="0" flipV="0">
            <a:off x="800100" y="1304925"/>
            <a:ext cx="575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每一分怎么来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 · How Each Point Is Earned</a:t>
            </a:r>
            <a:endParaRPr/>
          </a:p>
        </p:txBody>
      </p:sp>
      <p:sp>
        <p:nvSpPr>
          <p:cNvPr id="1286" name=""/>
          <p:cNvSpPr/>
          <p:nvPr/>
        </p:nvSpPr>
        <p:spPr>
          <a:xfrm rot="0" flipH="0" flipV="0">
            <a:off x="847725" y="1628775"/>
            <a:ext cx="57531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87" name=""/>
          <p:cNvSpPr/>
          <p:nvPr/>
        </p:nvSpPr>
        <p:spPr>
          <a:xfrm rot="0" flipH="0" flipV="0">
            <a:off x="847725" y="1628775"/>
            <a:ext cx="5753100" cy="819150"/>
          </a:xfrm>
          <a:custGeom>
            <a:pathLst>
              <a:path w="604" h="8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81"/>
                </a:lnTo>
                <a:cubicBezTo>
                  <a:pt x="5" y="83"/>
                  <a:pt x="7" y="85"/>
                  <a:pt x="9" y="86"/>
                </a:cubicBezTo>
                <a:cubicBezTo>
                  <a:pt x="4" y="85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88" name="" descr="{&quot;isTemplate&quot;:true,&quot;type&quot;:&quot;text&quot;}"/>
          <p:cNvSpPr txBox="1"/>
          <p:nvPr/>
        </p:nvSpPr>
        <p:spPr>
          <a:xfrm rot="0" flipH="0" flipV="0">
            <a:off x="1019175" y="1752600"/>
            <a:ext cx="1314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Assignments ×3</a:t>
            </a:r>
            <a:endParaRPr/>
          </a:p>
        </p:txBody>
      </p:sp>
      <p:sp>
        <p:nvSpPr>
          <p:cNvPr id="1289" name="" descr="{&quot;isTemplate&quot;:true,&quot;type&quot;:&quot;text&quot;}"/>
          <p:cNvSpPr txBox="1"/>
          <p:nvPr/>
        </p:nvSpPr>
        <p:spPr>
          <a:xfrm rot="0" flipH="0" flipV="0">
            <a:off x="5962650" y="1752600"/>
            <a:ext cx="419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Source Han Sans SC"/>
                <a:ea typeface="Source Han Sans SC"/>
              </a:rPr>
              <a:t>30%</a:t>
            </a:r>
            <a:endParaRPr/>
          </a:p>
        </p:txBody>
      </p:sp>
      <p:sp>
        <p:nvSpPr>
          <p:cNvPr id="1290" name="" descr="{&quot;isTemplate&quot;:true,&quot;type&quot;:&quot;text&quot;}"/>
          <p:cNvSpPr txBox="1"/>
          <p:nvPr/>
        </p:nvSpPr>
        <p:spPr>
          <a:xfrm rot="0" flipH="0" flipV="0">
            <a:off x="1019175" y="20097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每次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10%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：代码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简短报告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可复现运行</a:t>
            </a:r>
            <a:endParaRPr/>
          </a:p>
        </p:txBody>
      </p:sp>
      <p:sp>
        <p:nvSpPr>
          <p:cNvPr id="1291" name="" descr="{&quot;isTemplate&quot;:true,&quot;type&quot;:&quot;text&quot;}"/>
          <p:cNvSpPr txBox="1"/>
          <p:nvPr/>
        </p:nvSpPr>
        <p:spPr>
          <a:xfrm rot="0" flipH="0" flipV="0">
            <a:off x="1019175" y="2181225"/>
            <a:ext cx="5362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Code, short report, reproducible run</a:t>
            </a:r>
            <a:endParaRPr/>
          </a:p>
        </p:txBody>
      </p:sp>
      <p:sp>
        <p:nvSpPr>
          <p:cNvPr id="1292" name=""/>
          <p:cNvSpPr/>
          <p:nvPr/>
        </p:nvSpPr>
        <p:spPr>
          <a:xfrm rot="0" flipH="0" flipV="0">
            <a:off x="847725" y="2543175"/>
            <a:ext cx="57531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93" name=""/>
          <p:cNvSpPr/>
          <p:nvPr/>
        </p:nvSpPr>
        <p:spPr>
          <a:xfrm rot="0" flipH="0" flipV="0">
            <a:off x="847725" y="2543175"/>
            <a:ext cx="5753100" cy="819150"/>
          </a:xfrm>
          <a:custGeom>
            <a:pathLst>
              <a:path w="604" h="8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81"/>
                </a:lnTo>
                <a:cubicBezTo>
                  <a:pt x="5" y="83"/>
                  <a:pt x="7" y="85"/>
                  <a:pt x="9" y="86"/>
                </a:cubicBezTo>
                <a:cubicBezTo>
                  <a:pt x="4" y="85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94" name="" descr="{&quot;isTemplate&quot;:true,&quot;type&quot;:&quot;text&quot;}"/>
          <p:cNvSpPr txBox="1"/>
          <p:nvPr/>
        </p:nvSpPr>
        <p:spPr>
          <a:xfrm rot="0" flipH="0" flipV="0">
            <a:off x="1019175" y="2667000"/>
            <a:ext cx="1323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Midterm Project</a:t>
            </a:r>
            <a:endParaRPr/>
          </a:p>
        </p:txBody>
      </p:sp>
      <p:sp>
        <p:nvSpPr>
          <p:cNvPr id="1295" name="" descr="{&quot;isTemplate&quot;:true,&quot;type&quot;:&quot;text&quot;}"/>
          <p:cNvSpPr txBox="1"/>
          <p:nvPr/>
        </p:nvSpPr>
        <p:spPr>
          <a:xfrm rot="0" flipH="0" flipV="0">
            <a:off x="5991225" y="2667000"/>
            <a:ext cx="390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D7BD9"/>
                </a:solidFill>
                <a:latin typeface="Source Han Sans SC"/>
                <a:ea typeface="Source Han Sans SC"/>
              </a:rPr>
              <a:t>15%</a:t>
            </a:r>
            <a:endParaRPr/>
          </a:p>
        </p:txBody>
      </p:sp>
      <p:sp>
        <p:nvSpPr>
          <p:cNvPr id="1296" name="" descr="{&quot;isTemplate&quot;:true,&quot;type&quot;:&quot;text&quot;}"/>
          <p:cNvSpPr txBox="1"/>
          <p:nvPr/>
        </p:nvSpPr>
        <p:spPr>
          <a:xfrm rot="0" flipH="0" flipV="0">
            <a:off x="1019175" y="29241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小组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2-3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5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分钟现场演示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代码</a:t>
            </a:r>
            <a:endParaRPr/>
          </a:p>
        </p:txBody>
      </p:sp>
      <p:sp>
        <p:nvSpPr>
          <p:cNvPr id="1297" name="" descr="{&quot;isTemplate&quot;:true,&quot;type&quot;:&quot;text&quot;}"/>
          <p:cNvSpPr txBox="1"/>
          <p:nvPr/>
        </p:nvSpPr>
        <p:spPr>
          <a:xfrm rot="0" flipH="0" flipV="0">
            <a:off x="1019175" y="3095625"/>
            <a:ext cx="5362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Team of 2–3 · 5-min live demo</a:t>
            </a:r>
            <a:endParaRPr/>
          </a:p>
        </p:txBody>
      </p:sp>
      <p:sp>
        <p:nvSpPr>
          <p:cNvPr id="1298" name=""/>
          <p:cNvSpPr/>
          <p:nvPr/>
        </p:nvSpPr>
        <p:spPr>
          <a:xfrm rot="0" flipH="0" flipV="0">
            <a:off x="847725" y="3457575"/>
            <a:ext cx="57531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99" name=""/>
          <p:cNvSpPr/>
          <p:nvPr/>
        </p:nvSpPr>
        <p:spPr>
          <a:xfrm rot="0" flipH="0" flipV="0">
            <a:off x="847725" y="3457575"/>
            <a:ext cx="5753100" cy="819150"/>
          </a:xfrm>
          <a:custGeom>
            <a:pathLst>
              <a:path w="604" h="8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81"/>
                </a:lnTo>
                <a:cubicBezTo>
                  <a:pt x="5" y="83"/>
                  <a:pt x="7" y="85"/>
                  <a:pt x="9" y="86"/>
                </a:cubicBezTo>
                <a:cubicBezTo>
                  <a:pt x="4" y="85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00" name="" descr="{&quot;isTemplate&quot;:true,&quot;type&quot;:&quot;text&quot;}"/>
          <p:cNvSpPr txBox="1"/>
          <p:nvPr/>
        </p:nvSpPr>
        <p:spPr>
          <a:xfrm rot="0" flipH="0" flipV="0">
            <a:off x="1019175" y="3581400"/>
            <a:ext cx="14192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Capstone Project</a:t>
            </a:r>
            <a:endParaRPr/>
          </a:p>
        </p:txBody>
      </p:sp>
      <p:sp>
        <p:nvSpPr>
          <p:cNvPr id="1301" name="" descr="{&quot;isTemplate&quot;:true,&quot;type&quot;:&quot;text&quot;}"/>
          <p:cNvSpPr txBox="1"/>
          <p:nvPr/>
        </p:nvSpPr>
        <p:spPr>
          <a:xfrm rot="0" flipH="0" flipV="0">
            <a:off x="5962650" y="3581400"/>
            <a:ext cx="419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Source Han Sans SC"/>
                <a:ea typeface="Source Han Sans SC"/>
              </a:rPr>
              <a:t>35%</a:t>
            </a:r>
            <a:endParaRPr/>
          </a:p>
        </p:txBody>
      </p:sp>
      <p:sp>
        <p:nvSpPr>
          <p:cNvPr id="1302" name="" descr="{&quot;isTemplate&quot;:true,&quot;type&quot;:&quot;text&quot;}"/>
          <p:cNvSpPr txBox="1"/>
          <p:nvPr/>
        </p:nvSpPr>
        <p:spPr>
          <a:xfrm rot="0" flipH="0" flipV="0">
            <a:off x="1019175" y="38385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开题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5%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演示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15%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报告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15%</a:t>
            </a:r>
            <a:endParaRPr/>
          </a:p>
        </p:txBody>
      </p:sp>
      <p:sp>
        <p:nvSpPr>
          <p:cNvPr id="1303" name="" descr="{&quot;isTemplate&quot;:true,&quot;type&quot;:&quot;text&quot;}"/>
          <p:cNvSpPr txBox="1"/>
          <p:nvPr/>
        </p:nvSpPr>
        <p:spPr>
          <a:xfrm rot="0" flipH="0" flipV="0">
            <a:off x="1019175" y="4010025"/>
            <a:ext cx="5362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Proposal 5 + demo 15 + report 15</a:t>
            </a:r>
            <a:endParaRPr/>
          </a:p>
        </p:txBody>
      </p:sp>
      <p:sp>
        <p:nvSpPr>
          <p:cNvPr id="1304" name=""/>
          <p:cNvSpPr/>
          <p:nvPr/>
        </p:nvSpPr>
        <p:spPr>
          <a:xfrm rot="0" flipH="0" flipV="0">
            <a:off x="847725" y="4371975"/>
            <a:ext cx="57531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05" name=""/>
          <p:cNvSpPr/>
          <p:nvPr/>
        </p:nvSpPr>
        <p:spPr>
          <a:xfrm rot="0" flipH="0" flipV="0">
            <a:off x="847725" y="4371975"/>
            <a:ext cx="5753100" cy="819150"/>
          </a:xfrm>
          <a:custGeom>
            <a:pathLst>
              <a:path w="604" h="8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81"/>
                </a:lnTo>
                <a:cubicBezTo>
                  <a:pt x="5" y="83"/>
                  <a:pt x="7" y="85"/>
                  <a:pt x="9" y="86"/>
                </a:cubicBezTo>
                <a:cubicBezTo>
                  <a:pt x="4" y="85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1306" name="" descr="{&quot;isTemplate&quot;:true,&quot;type&quot;:&quot;text&quot;}"/>
          <p:cNvSpPr txBox="1"/>
          <p:nvPr/>
        </p:nvSpPr>
        <p:spPr>
          <a:xfrm rot="0" flipH="0" flipV="0">
            <a:off x="1019175" y="4495800"/>
            <a:ext cx="1190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Lab &amp; Quizzes</a:t>
            </a:r>
            <a:endParaRPr/>
          </a:p>
        </p:txBody>
      </p:sp>
      <p:sp>
        <p:nvSpPr>
          <p:cNvPr id="1307" name="" descr="{&quot;isTemplate&quot;:true,&quot;type&quot;:&quot;text&quot;}"/>
          <p:cNvSpPr txBox="1"/>
          <p:nvPr/>
        </p:nvSpPr>
        <p:spPr>
          <a:xfrm rot="0" flipH="0" flipV="0">
            <a:off x="5962650" y="4495800"/>
            <a:ext cx="419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Source Han Sans SC"/>
                <a:ea typeface="Source Han Sans SC"/>
              </a:rPr>
              <a:t>20%</a:t>
            </a:r>
            <a:endParaRPr/>
          </a:p>
        </p:txBody>
      </p:sp>
      <p:sp>
        <p:nvSpPr>
          <p:cNvPr id="1308" name="" descr="{&quot;isTemplate&quot;:true,&quot;type&quot;:&quot;text&quot;}"/>
          <p:cNvSpPr txBox="1"/>
          <p:nvPr/>
        </p:nvSpPr>
        <p:spPr>
          <a:xfrm rot="0" flipH="0" flipV="0">
            <a:off x="1019175" y="47529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出勤与课堂参与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10%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随堂小测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10%</a:t>
            </a:r>
            <a:endParaRPr/>
          </a:p>
        </p:txBody>
      </p:sp>
      <p:sp>
        <p:nvSpPr>
          <p:cNvPr id="1309" name="" descr="{&quot;isTemplate&quot;:true,&quot;type&quot;:&quot;text&quot;}"/>
          <p:cNvSpPr txBox="1"/>
          <p:nvPr/>
        </p:nvSpPr>
        <p:spPr>
          <a:xfrm rot="0" flipH="0" flipV="0">
            <a:off x="1019175" y="4924425"/>
            <a:ext cx="5362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Participation 10 + quizzes 10</a:t>
            </a:r>
            <a:endParaRPr/>
          </a:p>
        </p:txBody>
      </p:sp>
      <p:sp>
        <p:nvSpPr>
          <p:cNvPr id="1310" name=""/>
          <p:cNvSpPr/>
          <p:nvPr/>
        </p:nvSpPr>
        <p:spPr>
          <a:xfrm rot="0" flipH="0" flipV="0">
            <a:off x="800100" y="5286375"/>
            <a:ext cx="57531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B97A8"/>
            </a:solidFill>
            <a:prstDash val="dash"/>
          </a:ln>
        </p:spPr>
        <p:txBody>
          <a:bodyPr/>
          <a:p/>
        </p:txBody>
      </p:sp>
      <p:sp>
        <p:nvSpPr>
          <p:cNvPr id="1311" name="" descr="{&quot;isTemplate&quot;:true,&quot;type&quot;:&quot;text&quot;}"/>
          <p:cNvSpPr txBox="1"/>
          <p:nvPr/>
        </p:nvSpPr>
        <p:spPr>
          <a:xfrm rot="0" flipH="0" flipV="0">
            <a:off x="952500" y="5372100"/>
            <a:ext cx="54483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迟交政策：每迟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24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小时扣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10%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，超过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72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小时不接收。</a:t>
            </a: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Late policy: −10% per 24h; not accepted after 72h.</a:t>
            </a:r>
            <a:endParaRPr/>
          </a:p>
        </p:txBody>
      </p:sp>
      <p:sp>
        <p:nvSpPr>
          <p:cNvPr id="1312" name=""/>
          <p:cNvSpPr/>
          <p:nvPr/>
        </p:nvSpPr>
        <p:spPr>
          <a:xfrm rot="0" flipH="0" flipV="0">
            <a:off x="6781800" y="971550"/>
            <a:ext cx="4610100" cy="5124450"/>
          </a:xfrm>
          <a:prstGeom prst="roundRect">
            <a:avLst>
              <a:gd name="adj" fmla="val 289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313" name="" descr="{&quot;isTemplate&quot;:true,&quot;type&quot;:&quot;text&quot;}"/>
          <p:cNvSpPr txBox="1"/>
          <p:nvPr/>
        </p:nvSpPr>
        <p:spPr>
          <a:xfrm rot="0" flipH="0" flipV="0">
            <a:off x="7029450" y="1876425"/>
            <a:ext cx="4114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Source Han Sans SC"/>
                <a:ea typeface="Source Han Sans SC"/>
              </a:rPr>
              <a:t>学术诚信</a:t>
            </a:r>
            <a:r>
              <a:rPr lang="en-US" sz="1500" b="1">
                <a:solidFill>
                  <a:srgbClr val="0E3F8C"/>
                </a:solidFill>
                <a:latin typeface="Source Han Sans SC"/>
                <a:ea typeface="Source Han Sans SC"/>
              </a:rPr>
              <a:t> · Academic Integrity</a:t>
            </a:r>
            <a:endParaRPr/>
          </a:p>
        </p:txBody>
      </p:sp>
      <p:sp>
        <p:nvSpPr>
          <p:cNvPr id="1314" name=""/>
          <p:cNvSpPr/>
          <p:nvPr/>
        </p:nvSpPr>
        <p:spPr>
          <a:xfrm rot="0" flipH="0" flipV="0">
            <a:off x="7029450" y="2219325"/>
            <a:ext cx="41148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315" name=""/>
          <p:cNvSpPr/>
          <p:nvPr/>
        </p:nvSpPr>
        <p:spPr>
          <a:xfrm rot="0" flipH="0" flipV="0">
            <a:off x="7029450" y="237172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3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115175" y="2457450"/>
            <a:ext cx="171450" cy="171450"/>
          </a:xfrm>
          <a:prstGeom prst="rect">
            <a:avLst/>
          </a:prstGeom>
          <a:ln/>
        </p:spPr>
      </p:pic>
      <p:sp>
        <p:nvSpPr>
          <p:cNvPr id="1317" name="" descr="{&quot;isTemplate&quot;:true,&quot;type&quot;:&quot;text&quot;}"/>
          <p:cNvSpPr txBox="1"/>
          <p:nvPr/>
        </p:nvSpPr>
        <p:spPr>
          <a:xfrm rot="0" flipH="0" flipV="0">
            <a:off x="7486650" y="2371725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可以用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工具，但必须声明</a:t>
            </a:r>
            <a:endParaRPr/>
          </a:p>
        </p:txBody>
      </p:sp>
      <p:sp>
        <p:nvSpPr>
          <p:cNvPr id="1318" name="" descr="{&quot;isTemplate&quot;:true,&quot;type&quot;:&quot;text&quot;}"/>
          <p:cNvSpPr txBox="1"/>
          <p:nvPr/>
        </p:nvSpPr>
        <p:spPr>
          <a:xfrm rot="0" flipH="0" flipV="0">
            <a:off x="7486650" y="258127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提交时注明哪些部分由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辅助完成。用了不报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=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违规。</a:t>
            </a:r>
            <a:endParaRPr/>
          </a:p>
        </p:txBody>
      </p:sp>
      <p:sp>
        <p:nvSpPr>
          <p:cNvPr id="1319" name="" descr="{&quot;isTemplate&quot;:true,&quot;type&quot;:&quot;text&quot;}"/>
          <p:cNvSpPr txBox="1"/>
          <p:nvPr/>
        </p:nvSpPr>
        <p:spPr>
          <a:xfrm rot="0" flipH="0" flipV="0">
            <a:off x="7486650" y="2819400"/>
            <a:ext cx="36576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Source Han Sans SC"/>
                <a:ea typeface="Source Han Sans SC"/>
              </a:rPr>
              <a:t>Declare AI assistance — undeclared use is a violation.</a:t>
            </a:r>
            <a:endParaRPr/>
          </a:p>
        </p:txBody>
      </p:sp>
      <p:sp>
        <p:nvSpPr>
          <p:cNvPr id="1320" name=""/>
          <p:cNvSpPr/>
          <p:nvPr/>
        </p:nvSpPr>
        <p:spPr>
          <a:xfrm rot="0" flipH="0" flipV="0">
            <a:off x="7029450" y="307657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3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115175" y="3162300"/>
            <a:ext cx="171450" cy="171450"/>
          </a:xfrm>
          <a:prstGeom prst="rect">
            <a:avLst/>
          </a:prstGeom>
          <a:ln/>
        </p:spPr>
      </p:pic>
      <p:sp>
        <p:nvSpPr>
          <p:cNvPr id="1322" name="" descr="{&quot;isTemplate&quot;:true,&quot;type&quot;:&quot;text&quot;}"/>
          <p:cNvSpPr txBox="1"/>
          <p:nvPr/>
        </p:nvSpPr>
        <p:spPr>
          <a:xfrm rot="0" flipH="0" flipV="0">
            <a:off x="7486650" y="3076575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你必须能解释你交的每一行代码</a:t>
            </a:r>
            <a:endParaRPr/>
          </a:p>
        </p:txBody>
      </p:sp>
      <p:sp>
        <p:nvSpPr>
          <p:cNvPr id="1323" name="" descr="{&quot;isTemplate&quot;:true,&quot;type&quot;:&quot;text&quot;}"/>
          <p:cNvSpPr txBox="1"/>
          <p:nvPr/>
        </p:nvSpPr>
        <p:spPr>
          <a:xfrm rot="0" flipH="0" flipV="0">
            <a:off x="7486650" y="328612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随机抽查现场讲解，讲不出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=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该部分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0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分。</a:t>
            </a:r>
            <a:endParaRPr/>
          </a:p>
        </p:txBody>
      </p:sp>
      <p:sp>
        <p:nvSpPr>
          <p:cNvPr id="1324" name="" descr="{&quot;isTemplate&quot;:true,&quot;type&quot;:&quot;text&quot;}"/>
          <p:cNvSpPr txBox="1"/>
          <p:nvPr/>
        </p:nvSpPr>
        <p:spPr>
          <a:xfrm rot="0" flipH="0" flipV="0">
            <a:off x="7486650" y="3524250"/>
            <a:ext cx="36576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Source Han Sans SC"/>
                <a:ea typeface="Source Han Sans SC"/>
              </a:rPr>
              <a:t>You may be asked to explain any line you submit.</a:t>
            </a:r>
            <a:endParaRPr/>
          </a:p>
        </p:txBody>
      </p:sp>
      <p:sp>
        <p:nvSpPr>
          <p:cNvPr id="1325" name=""/>
          <p:cNvSpPr/>
          <p:nvPr/>
        </p:nvSpPr>
        <p:spPr>
          <a:xfrm rot="0" flipH="0" flipV="0">
            <a:off x="7029450" y="378142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3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115175" y="3867150"/>
            <a:ext cx="171450" cy="171450"/>
          </a:xfrm>
          <a:prstGeom prst="rect">
            <a:avLst/>
          </a:prstGeom>
          <a:ln/>
        </p:spPr>
      </p:pic>
      <p:sp>
        <p:nvSpPr>
          <p:cNvPr id="1327" name="" descr="{&quot;isTemplate&quot;:true,&quot;type&quot;:&quot;text&quot;}"/>
          <p:cNvSpPr txBox="1"/>
          <p:nvPr/>
        </p:nvSpPr>
        <p:spPr>
          <a:xfrm rot="0" flipH="0" flipV="0">
            <a:off x="7486650" y="3781425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抄袭与代写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=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该项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0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1328" name="" descr="{&quot;isTemplate&quot;:true,&quot;type&quot;:&quot;text&quot;}"/>
          <p:cNvSpPr txBox="1"/>
          <p:nvPr/>
        </p:nvSpPr>
        <p:spPr>
          <a:xfrm rot="0" flipH="0" flipV="0">
            <a:off x="7486650" y="399097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包括复制同学作业、网上找现成答案。</a:t>
            </a:r>
            <a:endParaRPr/>
          </a:p>
        </p:txBody>
      </p:sp>
      <p:sp>
        <p:nvSpPr>
          <p:cNvPr id="1329" name="" descr="{&quot;isTemplate&quot;:true,&quot;type&quot;:&quot;text&quot;}"/>
          <p:cNvSpPr txBox="1"/>
          <p:nvPr/>
        </p:nvSpPr>
        <p:spPr>
          <a:xfrm rot="0" flipH="0" flipV="0">
            <a:off x="7486650" y="4229100"/>
            <a:ext cx="36576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Source Han Sans SC"/>
                <a:ea typeface="Source Han Sans SC"/>
              </a:rPr>
              <a:t>Copying or ghost-writing scores zero.</a:t>
            </a:r>
            <a:endParaRPr/>
          </a:p>
        </p:txBody>
      </p:sp>
      <p:sp>
        <p:nvSpPr>
          <p:cNvPr id="1330" name=""/>
          <p:cNvSpPr/>
          <p:nvPr/>
        </p:nvSpPr>
        <p:spPr>
          <a:xfrm rot="0" flipH="0" flipV="0">
            <a:off x="7029450" y="448627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3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115175" y="4572000"/>
            <a:ext cx="171450" cy="171450"/>
          </a:xfrm>
          <a:prstGeom prst="rect">
            <a:avLst/>
          </a:prstGeom>
          <a:ln/>
        </p:spPr>
      </p:pic>
      <p:sp>
        <p:nvSpPr>
          <p:cNvPr id="1332" name="" descr="{&quot;isTemplate&quot;:true,&quot;type&quot;:&quot;text&quot;}"/>
          <p:cNvSpPr txBox="1"/>
          <p:nvPr/>
        </p:nvSpPr>
        <p:spPr>
          <a:xfrm rot="0" flipH="0" flipV="0">
            <a:off x="7486650" y="4486275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小组项目：分工写进报告</a:t>
            </a:r>
            <a:endParaRPr/>
          </a:p>
        </p:txBody>
      </p:sp>
      <p:sp>
        <p:nvSpPr>
          <p:cNvPr id="1333" name="" descr="{&quot;isTemplate&quot;:true,&quot;type&quot;:&quot;text&quot;}"/>
          <p:cNvSpPr txBox="1"/>
          <p:nvPr/>
        </p:nvSpPr>
        <p:spPr>
          <a:xfrm rot="0" flipH="0" flipV="0">
            <a:off x="7486650" y="469582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每人负责的部分与贡献一目了然。</a:t>
            </a:r>
            <a:endParaRPr/>
          </a:p>
        </p:txBody>
      </p:sp>
      <p:sp>
        <p:nvSpPr>
          <p:cNvPr id="1334" name="" descr="{&quot;isTemplate&quot;:true,&quot;type&quot;:&quot;text&quot;}"/>
          <p:cNvSpPr txBox="1"/>
          <p:nvPr/>
        </p:nvSpPr>
        <p:spPr>
          <a:xfrm rot="0" flipH="0" flipV="0">
            <a:off x="7486650" y="4933950"/>
            <a:ext cx="36576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Source Han Sans SC"/>
                <a:ea typeface="Source Han Sans SC"/>
              </a:rPr>
              <a:t>Team projects: state each member’s contribution.</a:t>
            </a:r>
            <a:endParaRPr/>
          </a:p>
        </p:txBody>
      </p:sp>
      <p:sp>
        <p:nvSpPr>
          <p:cNvPr id="133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336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06 / 32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337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2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2&lt;/Text&gt;&#10;      &lt;/Box&gt;&#10;      &lt;Box style={{ paddingTop: 6 }}&gt;&#10;        &lt;Text style={{ fontSize: 44, color: '#1A2230', fontWeight: 'bold' }}&gt;AI 是什么？&lt;/Text&gt;&#10;        &lt;Text style={{ fontSize: 26, color: '#8B97A8', fontWeight: '600', marginTop: 6 }}&gt;What is AI?&lt;/Text&gt;&#10;      &lt;/Box&gt;&#10;    &lt;/Box&gt;&#10;    &lt;Box style={{ flexDirection: 'row', gap: 24 }}&gt;&#10;      {[&#10;        { t: '技术谱系', e: 'AI / ML / DL / GenAI' },&#10;        { t: '三次浪潮', e: 'Three Waves' },&#10;        { t: '为何要学', e: 'Why SE Students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39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40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1341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42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1343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209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是什么？</a:t>
            </a:r>
            <a:endParaRPr/>
          </a:p>
        </p:txBody>
      </p:sp>
      <p:sp>
        <p:nvSpPr>
          <p:cNvPr id="1344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2098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What is AI?</a:t>
            </a:r>
            <a:endParaRPr/>
          </a:p>
        </p:txBody>
      </p:sp>
      <p:sp>
        <p:nvSpPr>
          <p:cNvPr id="1345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46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47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技术谱系</a:t>
            </a:r>
            <a:endParaRPr/>
          </a:p>
        </p:txBody>
      </p:sp>
      <p:sp>
        <p:nvSpPr>
          <p:cNvPr id="1348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AI / ML / DL / GenAI</a:t>
            </a:r>
            <a:endParaRPr/>
          </a:p>
        </p:txBody>
      </p:sp>
      <p:sp>
        <p:nvSpPr>
          <p:cNvPr id="1349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50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51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三次浪潮</a:t>
            </a:r>
            <a:endParaRPr/>
          </a:p>
        </p:txBody>
      </p:sp>
      <p:sp>
        <p:nvSpPr>
          <p:cNvPr id="1352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Three Waves</a:t>
            </a:r>
            <a:endParaRPr/>
          </a:p>
        </p:txBody>
      </p:sp>
      <p:sp>
        <p:nvSpPr>
          <p:cNvPr id="1353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54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55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为何要学</a:t>
            </a:r>
            <a:endParaRPr/>
          </a:p>
        </p:txBody>
      </p:sp>
      <p:sp>
        <p:nvSpPr>
          <p:cNvPr id="1356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Why SE Students</a:t>
            </a:r>
            <a:endParaRPr/>
          </a:p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5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AI ⊃ ML ⊃ DL ⊃ GenAI · 技术谱系&lt;/Text&gt;&#10;    &lt;Text style={{ fontSize: 15, color: 'rgba(255,255,255,0.85)' }}&gt;Module 1 · Week 1&lt;/Text&gt;&#10;  &lt;/Box&gt;&#10;  &lt;Box style={{ position: 'absolute', top: 100, left: 0, width: '100%', height: 540, padding: '10px 84px', flexDirection: 'row', gap: 40, alignItems: 'center' }}&gt;&#10;    &lt;Box style={{ width: 560, height: 500, position: 'relative', flexShrink: 0 }}&gt;&#10;      &lt;svg width={560} height={500} viewBox='0 0 560 500'&gt;&#10;        &lt;defs&gt;&#10;          &lt;linearGradient id='gradAI' x1='0' y1='0' x2='1' y2='1'&gt;&#10;            &lt;stop offset='0%' stopColor='#0E3F8C' /&gt;&#10;            &lt;stop offset='100%' stopColor='#1E4FA8' /&gt;&#10;          &lt;/linearGradient&gt;&#10;        &lt;/defs&gt;&#10;        &lt;rect x='0' y='0' width='560' height='500' rx='26' fill='#F0F5FC' /&gt;&#10;        &lt;rect x='60' y='40' width='440' height='420' rx='22' fill='#FFFFFF' stroke='#1E4FA8' strokeWidth='3' /&gt;&#10;        &lt;rect x='118' y='80' width='324' height='340' rx='20' fill='#F7F9FC' stroke='#3D7BD9' strokeWidth='2.5' /&gt;&#10;        &lt;rect x='175' y='120' width='210' height='260' rx='18' fill='#FFFFFF' stroke='#3D7BD9' strokeWidth='2' strokeDasharray='6 4' /&gt;&#10;        &lt;rect x='222' y='155' width='116' height='105' rx='14' fill='#0E3F8C' /&gt;&#10;        &lt;text x='280' y='193' textAnchor='middle' fill='#FFFFFF' fontSize='26' fontWeight='bold' fontFamily='Inter, sans-serif'&gt;GenAI&lt;/text&gt;&#10;        &lt;text x='280' y='222' textAnchor='middle' fill='rgba(255,255,255,0.85)' fontSize='14' fontFamily='Inter, sans-serif'&gt;生成新内容&lt;/text&gt;&#10;        &lt;text x='280' y='330' textAnchor='middle' fill='#0E3F8C' fontSize='26' fontWeight='bold'&gt;DL&lt;/text&gt;&#10;        &lt;text x='280' y='356' textAnchor='middle' fill='#4A5568' fontSize='15'&gt;神经网络&lt;/text&gt;&#10;        &lt;text x='280' y='440' textAnchor='middle' fill='#1E4FA8' fontSize='26' fontWeight='bold'&gt;ML&lt;/text&gt;&#10;        &lt;text x='280' y='466' textAnchor='middle' fill='#4A5568' fontSize='15'&gt;从数据学习&lt;/text&gt;&#10;        &lt;text x='280' y='492' textAnchor='middle' fill='#1A2230' fontSize='30' fontWeight='bold'&gt;AI&lt;/text&gt;&#10;      &lt;/svg&gt;&#10;    &lt;/Box&gt;&#10;    &lt;Box style={{ flex: 1, gap: 16 }}&gt;&#10;      &lt;Text style={{ fontSize: 30, color: '#0E3F8C', fontWeight: 'bold' }}&gt;每一层都是上一层的子集&lt;/Text&gt;&#10;      &lt;Text style={{ fontSize: 17, color: '#4A5568', lineHeight: 1.6 }}&gt;&#10;        &lt;span style={{ fontWeight: 'bold', color: '#1A2230' }}&gt;AI&lt;/span&gt; 让机器模拟智能；&lt;span style={{ fontWeight: 'bold', color: '#1A2230' }}&gt;ML&lt;/span&gt; 从数据中学习；&#10;        &lt;span style={{ fontWeight: 'bold', color: '#1A2230' }}&gt;DL&lt;/span&gt; 用多层神经网络；&lt;span style={{ fontWeight: 'bold', color: '#1A2230' }}&gt;GenAI&lt;/span&gt; 生成全新内容。&#10;        &lt;br /&gt;&#10;        &lt;span style={{ color: '#8B97A8', fontSize: 15 }}&gt;Each level is a subset of the level above.&lt;/span&gt;&#10;      &lt;/Text&gt;&#10;      &lt;Box style={{ background: '#F7F9FC', border: '1px solid #E5E7EB', borderRadius: 12, padding: '18px 22px' }}&gt;&#10;        &lt;Text style={{ fontSize: 17, color: '#0E3F8C', fontWeight: 'bold', marginBottom: 10 }}&gt;判断归属 · 三连问&lt;/Text&gt;&#10;        {[&#10;          { q: '是否从数据中学习？', yes: '→ ML 及以上', no: '→ 仅 AI 规则系统' },&#10;          { q: '是否使用神经网络？', yes: '→ DL 及以上', no: '→ 传统 ML' },&#10;          { q: '是否生成新内容？', yes: '→ GenAI', no: '→ 判别式模型' },&#10;        ].map((r, i) =&gt; (&#10;          &lt;Box key={i} style={{ flexDirection: 'row', alignItems: 'center', gap: 12, marginBottom: 8 }}&gt;&#10;            &lt;Box style={{ width: 26, height: 26, borderRadius: 8, background: '#E8EFF8', justifyContent: 'center', alignItems: 'center', flexShrink: 0 }}&gt;&#10;              &lt;Text style={{ fontSize: 14, color: '#1E4FA8', fontWeight: 'bold' }}&gt;{i + 1}&lt;/Text&gt;&#10;            &lt;/Box&gt;&#10;            &lt;Text style={{ fontSize: 16, color: '#1A2230', flex: 1 }}&gt;{r.q}&lt;/Text&gt;&#10;            &lt;Text style={{ fontSize: 15, color: '#3D7BD9', fontWeight: '600' }}&gt;{r.yes}&lt;/Text&gt;&#10;          &lt;/Box&gt;&#10;        ))}&#10;      &lt;/Box&gt;&#10;      &lt;Box style={{ borderLeft: '4px solid #0E3F8C', paddingLeft: 14 }}&gt;&#10;        &lt;Text style={{ fontSize: 16, color: '#1A2230', lineHeight: 1.6 }}&gt;&#10;          例：ChatGPT = &lt;span style={{ fontWeight: 'bold', color: '#0E3F8C' }}&gt;GenAI&lt;/span&gt;；人脸解锁 = DL；垃圾邮件过滤 = ML（规则之外）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5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6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051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AI ⊃ ML ⊃ DL ⊃ GenAI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技术谱系</a:t>
            </a:r>
            <a:endParaRPr/>
          </a:p>
        </p:txBody>
      </p:sp>
      <p:sp>
        <p:nvSpPr>
          <p:cNvPr id="1361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1362" name="" descr="{&quot;isTemplate&quot;:true,&quot;type&quot;:&quot;text&quot;}"/>
          <p:cNvSpPr txBox="1"/>
          <p:nvPr/>
        </p:nvSpPr>
        <p:spPr>
          <a:xfrm rot="0" flipH="0" flipV="0">
            <a:off x="6515100" y="1571625"/>
            <a:ext cx="4876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E3F8C"/>
                </a:solidFill>
                <a:latin typeface="Source Han Sans SC"/>
                <a:ea typeface="Source Han Sans SC"/>
              </a:rPr>
              <a:t>每一层都是上一层的子集</a:t>
            </a:r>
            <a:endParaRPr/>
          </a:p>
        </p:txBody>
      </p:sp>
      <p:sp>
        <p:nvSpPr>
          <p:cNvPr id="1363" name="" descr="{&quot;isTemplate&quot;:true,&quot;type&quot;:&quot;text&quot;}"/>
          <p:cNvSpPr txBox="1"/>
          <p:nvPr/>
        </p:nvSpPr>
        <p:spPr>
          <a:xfrm rot="0" flipH="0" flipV="0">
            <a:off x="6515100" y="2066925"/>
            <a:ext cx="4876800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AI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让机器模拟智能；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ML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从数据中学习；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DL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用多层神经网络；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GenAI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生成全新内容。</a:t>
            </a:r>
            <a:endParaRPr/>
          </a:p>
          <a:p>
            <a:pPr>
              <a:lnSpc>
                <a:spcPct val="16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Each level is a subset of the level above.</a:t>
            </a:r>
            <a:endParaRPr/>
          </a:p>
        </p:txBody>
      </p:sp>
      <p:sp>
        <p:nvSpPr>
          <p:cNvPr id="1364" name=""/>
          <p:cNvSpPr/>
          <p:nvPr/>
        </p:nvSpPr>
        <p:spPr>
          <a:xfrm rot="0" flipH="0" flipV="0">
            <a:off x="6515100" y="3124200"/>
            <a:ext cx="4876800" cy="1609725"/>
          </a:xfrm>
          <a:prstGeom prst="roundRect">
            <a:avLst>
              <a:gd name="adj" fmla="val 7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65" name="" descr="{&quot;isTemplate&quot;:true,&quot;type&quot;:&quot;text&quot;}"/>
          <p:cNvSpPr txBox="1"/>
          <p:nvPr/>
        </p:nvSpPr>
        <p:spPr>
          <a:xfrm rot="0" flipH="0" flipV="0">
            <a:off x="6724650" y="3295650"/>
            <a:ext cx="445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判断归属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三连问</a:t>
            </a:r>
            <a:endParaRPr/>
          </a:p>
        </p:txBody>
      </p:sp>
      <p:sp>
        <p:nvSpPr>
          <p:cNvPr id="1366" name=""/>
          <p:cNvSpPr/>
          <p:nvPr/>
        </p:nvSpPr>
        <p:spPr>
          <a:xfrm rot="0" flipH="0" flipV="0">
            <a:off x="6724650" y="35909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67" name="" descr="{&quot;isTemplate&quot;:true,&quot;type&quot;:&quot;text&quot;}"/>
          <p:cNvSpPr txBox="1"/>
          <p:nvPr/>
        </p:nvSpPr>
        <p:spPr>
          <a:xfrm rot="0" flipH="0" flipV="0">
            <a:off x="6819900" y="3638550"/>
            <a:ext cx="57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1368" name="" descr="{&quot;isTemplate&quot;:true,&quot;type&quot;:&quot;text&quot;}"/>
          <p:cNvSpPr txBox="1"/>
          <p:nvPr/>
        </p:nvSpPr>
        <p:spPr>
          <a:xfrm rot="0" flipH="0" flipV="0">
            <a:off x="7086600" y="3619500"/>
            <a:ext cx="3095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是否从数据中学习？</a:t>
            </a:r>
            <a:endParaRPr/>
          </a:p>
        </p:txBody>
      </p:sp>
      <p:sp>
        <p:nvSpPr>
          <p:cNvPr id="1369" name="" descr="{&quot;isTemplate&quot;:true,&quot;type&quot;:&quot;text&quot;}"/>
          <p:cNvSpPr txBox="1"/>
          <p:nvPr/>
        </p:nvSpPr>
        <p:spPr>
          <a:xfrm rot="0" flipH="0" flipV="0">
            <a:off x="10296525" y="3629025"/>
            <a:ext cx="885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Source Han Sans SC"/>
                <a:ea typeface="Source Han Sans SC"/>
              </a:rPr>
              <a:t>→ ML </a:t>
            </a:r>
            <a:r>
              <a:rPr lang="zh-CN" sz="1125" b="1">
                <a:solidFill>
                  <a:srgbClr val="3D7BD9"/>
                </a:solidFill>
                <a:latin typeface="Source Han Sans SC"/>
                <a:ea typeface="Source Han Sans SC"/>
              </a:rPr>
              <a:t>及以上</a:t>
            </a:r>
            <a:endParaRPr/>
          </a:p>
        </p:txBody>
      </p:sp>
      <p:sp>
        <p:nvSpPr>
          <p:cNvPr id="1370" name=""/>
          <p:cNvSpPr/>
          <p:nvPr/>
        </p:nvSpPr>
        <p:spPr>
          <a:xfrm rot="0" flipH="0" flipV="0">
            <a:off x="6724650" y="39147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71" name="" descr="{&quot;isTemplate&quot;:true,&quot;type&quot;:&quot;text&quot;}"/>
          <p:cNvSpPr txBox="1"/>
          <p:nvPr/>
        </p:nvSpPr>
        <p:spPr>
          <a:xfrm rot="0" flipH="0" flipV="0">
            <a:off x="6810375" y="39624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1372" name="" descr="{&quot;isTemplate&quot;:true,&quot;type&quot;:&quot;text&quot;}"/>
          <p:cNvSpPr txBox="1"/>
          <p:nvPr/>
        </p:nvSpPr>
        <p:spPr>
          <a:xfrm rot="0" flipH="0" flipV="0">
            <a:off x="7086600" y="3943350"/>
            <a:ext cx="312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是否使用神经网络？</a:t>
            </a:r>
            <a:endParaRPr/>
          </a:p>
        </p:txBody>
      </p:sp>
      <p:sp>
        <p:nvSpPr>
          <p:cNvPr id="1373" name="" descr="{&quot;isTemplate&quot;:true,&quot;type&quot;:&quot;text&quot;}"/>
          <p:cNvSpPr txBox="1"/>
          <p:nvPr/>
        </p:nvSpPr>
        <p:spPr>
          <a:xfrm rot="0" flipH="0" flipV="0">
            <a:off x="10325100" y="3952875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Source Han Sans SC"/>
                <a:ea typeface="Source Han Sans SC"/>
              </a:rPr>
              <a:t>→ DL </a:t>
            </a:r>
            <a:r>
              <a:rPr lang="zh-CN" sz="1125" b="1">
                <a:solidFill>
                  <a:srgbClr val="3D7BD9"/>
                </a:solidFill>
                <a:latin typeface="Source Han Sans SC"/>
                <a:ea typeface="Source Han Sans SC"/>
              </a:rPr>
              <a:t>及以上</a:t>
            </a:r>
            <a:endParaRPr/>
          </a:p>
        </p:txBody>
      </p:sp>
      <p:sp>
        <p:nvSpPr>
          <p:cNvPr id="1374" name=""/>
          <p:cNvSpPr/>
          <p:nvPr/>
        </p:nvSpPr>
        <p:spPr>
          <a:xfrm rot="0" flipH="0" flipV="0">
            <a:off x="6724650" y="42386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75" name="" descr="{&quot;isTemplate&quot;:true,&quot;type&quot;:&quot;text&quot;}"/>
          <p:cNvSpPr txBox="1"/>
          <p:nvPr/>
        </p:nvSpPr>
        <p:spPr>
          <a:xfrm rot="0" flipH="0" flipV="0">
            <a:off x="6810375" y="428625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1376" name="" descr="{&quot;isTemplate&quot;:true,&quot;type&quot;:&quot;text&quot;}"/>
          <p:cNvSpPr txBox="1"/>
          <p:nvPr/>
        </p:nvSpPr>
        <p:spPr>
          <a:xfrm rot="0" flipH="0" flipV="0">
            <a:off x="7086600" y="4267200"/>
            <a:ext cx="3381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是否生成新内容？</a:t>
            </a:r>
            <a:endParaRPr/>
          </a:p>
        </p:txBody>
      </p:sp>
      <p:sp>
        <p:nvSpPr>
          <p:cNvPr id="1377" name="" descr="{&quot;isTemplate&quot;:true,&quot;type&quot;:&quot;text&quot;}"/>
          <p:cNvSpPr txBox="1"/>
          <p:nvPr/>
        </p:nvSpPr>
        <p:spPr>
          <a:xfrm rot="0" flipH="0" flipV="0">
            <a:off x="10582275" y="4276725"/>
            <a:ext cx="600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Source Han Sans SC"/>
                <a:ea typeface="Source Han Sans SC"/>
              </a:rPr>
              <a:t>→ GenAI</a:t>
            </a:r>
            <a:endParaRPr/>
          </a:p>
        </p:txBody>
      </p:sp>
      <p:sp>
        <p:nvSpPr>
          <p:cNvPr id="1378" name=""/>
          <p:cNvSpPr/>
          <p:nvPr/>
        </p:nvSpPr>
        <p:spPr>
          <a:xfrm rot="0" flipH="0" flipV="0">
            <a:off x="6515100" y="4886325"/>
            <a:ext cx="4914900" cy="590550"/>
          </a:xfrm>
          <a:custGeom>
            <a:pathLst>
              <a:path w="516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79" name="" descr="{&quot;isTemplate&quot;:true,&quot;type&quot;:&quot;text&quot;}"/>
          <p:cNvSpPr txBox="1"/>
          <p:nvPr/>
        </p:nvSpPr>
        <p:spPr>
          <a:xfrm rot="0" flipH="0" flipV="0">
            <a:off x="6686550" y="4886325"/>
            <a:ext cx="4705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例：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ChatGPT = 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GenAI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；人脸解锁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= DL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；垃圾邮件过滤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= ML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（规则之外）。</a:t>
            </a:r>
            <a:endParaRPr/>
          </a:p>
        </p:txBody>
      </p:sp>
      <p:pic>
        <p:nvPicPr>
          <p:cNvPr id="13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143000"/>
            <a:ext cx="5334000" cy="4762500"/>
          </a:xfrm>
          <a:prstGeom prst="rect">
            <a:avLst/>
          </a:prstGeom>
          <a:ln/>
        </p:spPr>
      </p:pic>
      <p:sp>
        <p:nvSpPr>
          <p:cNvPr id="138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382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08 / 32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83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机器学习三大范式 · Three Learning Paradigms&lt;/Text&gt;&#10;    &lt;Text style={{ fontSize: 15, color: 'rgba(255,255,255,0.85)' }}&gt;What is AI · Part 02&lt;/Text&gt;&#10;  &lt;/Box&gt;&#10;  &lt;Box style={{ position: 'absolute', top: 96, left: 0, width: '100%', height: 470, padding: '6px 84px', flexDirection: 'row', gap: 22 }}&gt;&#10;    {[&#10;      { i: 'tags', t: '监督学习', e: 'Supervised Learning', q: '给答案，学规律', d: '用带标签的数据训练：每条输入都有标准答案。', tasks: '分类 Classification · 回归 Regression', ex: '垃圾邮件识别 · 房价预测 · 图像分类', c: '#1E4FA8', focus: true },&#10;      { i: 'layer-group', t: '无监督学习', e: 'Unsupervised Learning', q: '没答案，找结构', d: '数据没有标签，让算法自己发现内在结构。', tasks: '聚类 Clustering · 降维 Dimensionality Reduction', ex: '用户分群 · 异常检测 · 主题发现', c: '#3D7BD9' },&#10;      { i: 'gamepad', t: '强化学习', e: 'Reinforcement Learning', q: '给奖励，学策略', d: '智能体与环境交互，通过试错最大化累积奖励。', tasks: '策略 Policy · 奖励 Reward · 探索与利用', ex: '游戏 AI · 机器人控制 · 推荐策略', c: '#0E3F8C' },&#10;    ].map((p, i) =&gt; (&#10;      &lt;Box key={i} style={{ flex: 1, background: '#F7F9FC', border: '1px solid #E5E7EB', borderTop: '5px solid ' + p.c, borderRadius: 12, padding: '22px 22px', justifyContent: 'space-between' }}&gt;&#10;        &lt;Box&gt;&#10;          &lt;Box style={{ flexDirection: 'row', alignItems: 'center', gap: 12 }}&gt;&#10;            &lt;Box style={{ width: 46, height: 46, borderRadius: 12, background: p.c, justifyContent: 'center', alignItems: 'center' }}&gt;&#10;              &lt;FAIcon name={p.i} style={{ fill: '#FFFFFF', width: 22, height: 22 }} /&gt;&#10;            &lt;/Box&gt;&#10;            &lt;Box&gt;&#10;              &lt;Text style={{ fontSize: 21, color: '#1A2230', fontWeight: 'bold' }}&gt;{p.t}&lt;/Text&gt;&#10;              &lt;Text style={{ fontSize: 13, color: '#8B97A8' }}&gt;{p.e}&lt;/Text&gt;&#10;            &lt;/Box&gt;&#10;          &lt;/Box&gt;&#10;          &lt;Box style={{ background: '#FFFFFF', borderRadius: 8, padding: '9px 14px', marginTop: 16, borderLeft: '4px solid ' + p.c }}&gt;&#10;            &lt;Text style={{ fontSize: 16, color: p.c, fontWeight: 'bold' }}&gt;{p.q}&lt;/Text&gt;&#10;          &lt;/Box&gt;&#10;          &lt;Text style={{ fontSize: 15, color: '#4A5568', lineHeight: 1.65, marginTop: 14 }}&gt;{p.d}&lt;/Text&gt;&#10;          &lt;Text style={{ fontSize: 13.5, color: '#1A2230', marginTop: 12, fontWeight: '600' }}&gt;典型任务：&lt;span style={{ color: '#4A5568', fontWeight: '400' }}&gt;{p.tasks}&lt;/span&gt;&lt;/Text&gt;&#10;          &lt;Text style={{ fontSize: 13.5, color: '#1A2230', marginTop: 6, fontWeight: '600' }}&gt;真实例子：&lt;span style={{ color: '#4A5568', fontWeight: '400' }}&gt;{p.ex}&lt;/span&gt;&lt;/Text&gt;&#10;        &lt;/Box&gt;&#10;        {p.focus ? (&#10;          &lt;Box style={{ background: p.c, borderRadius: 8, padding: '8px 14px', marginTop: 14 }}&gt;&#10;            &lt;Text style={{ fontSize: 13.5, color: '#FFFFFF', fontWeight: 'bold' }}&gt;本课程重点 · Focus of this course&lt;/Text&gt;&#10;          &lt;/Box&gt;&#10;        ) : (&#10;          &lt;Box style={{ background: '#FFFFFF', border: '1px dashed #D6DCE5', borderRadius: 8, padding: '8px 14px', marginTop: 14 }}&gt;&#10;            &lt;Text style={{ fontSize: 13.5, color: '#8B97A8' }}&gt;后续模块会用到 · Used in later modules&lt;/Text&gt;&#10;          &lt;/Box&gt;&#10;        )}&#10;      &lt;/Box&gt;&#10;    ))}&#10;  &lt;/Box&gt;&#10;  &lt;Box style={{ position: 'absolute', top: 578, left: 0, width: '100%', height: 68, padding: '6px 84px' }}&gt;&#10;    &lt;Box style={{ width: '100%', height: '100%', background: '#F0F5FC', border: '1px solid #D6DCE5', borderRadius: 12, padding: '10px 20px', flexDirection: 'row', alignItems: 'center', gap: 14 }}&gt;&#10;      &lt;FAIcon name='lightbulb' style={{ fill: '#0E3F8C', width: 26, height: 26, flexShrink: 0 }} /&gt;&#10;      &lt;Text style={{ fontSize: 15, color: '#1A2230', lineHeight: 1.55, flex: 1 }}&gt;&#10;        &lt;span style={{ fontWeight: 'bold', color: '#0E3F8C' }}&gt;课堂思考：&lt;/span&gt;「按消费行为给用户分群」是哪种范式？——没有标签、要找结构 → 无监督（聚类）。&#10;        &lt;span style={{ fontSize: 12.5, color: '#8B97A8' }}&gt;Quick check: clustering customers by behavior — labels? No. Structure? Yes. → Unsupervised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8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8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562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机器学习三大范式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Three Learning Paradigms</a:t>
            </a:r>
            <a:endParaRPr/>
          </a:p>
        </p:txBody>
      </p:sp>
      <p:sp>
        <p:nvSpPr>
          <p:cNvPr id="1387" name="" descr="{&quot;isTemplate&quot;:true,&quot;type&quot;:&quot;text&quot;}"/>
          <p:cNvSpPr txBox="1"/>
          <p:nvPr/>
        </p:nvSpPr>
        <p:spPr>
          <a:xfrm rot="0" flipH="0" flipV="0">
            <a:off x="10048875" y="295275"/>
            <a:ext cx="1343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What is AI · Part 02</a:t>
            </a:r>
            <a:endParaRPr/>
          </a:p>
        </p:txBody>
      </p:sp>
      <p:sp>
        <p:nvSpPr>
          <p:cNvPr id="1388" name=""/>
          <p:cNvSpPr/>
          <p:nvPr/>
        </p:nvSpPr>
        <p:spPr>
          <a:xfrm rot="0" flipH="0" flipV="0">
            <a:off x="800100" y="1019175"/>
            <a:ext cx="3390900" cy="436245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89" name=""/>
          <p:cNvSpPr/>
          <p:nvPr/>
        </p:nvSpPr>
        <p:spPr>
          <a:xfrm rot="0" flipH="0" flipV="0">
            <a:off x="800100" y="1019175"/>
            <a:ext cx="3390900" cy="4362450"/>
          </a:xfrm>
          <a:custGeom>
            <a:pathLst>
              <a:path w="356" h="458">
                <a:moveTo>
                  <a:pt x="345" y="0"/>
                </a:moveTo>
                <a:cubicBezTo>
                  <a:pt x="350" y="0"/>
                  <a:pt x="355" y="4"/>
                  <a:pt x="356" y="10"/>
                </a:cubicBezTo>
                <a:cubicBezTo>
                  <a:pt x="355" y="7"/>
                  <a:pt x="352" y="5"/>
                  <a:pt x="34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0" name=""/>
          <p:cNvSpPr/>
          <p:nvPr/>
        </p:nvSpPr>
        <p:spPr>
          <a:xfrm rot="0" flipH="0" flipV="0">
            <a:off x="1009650" y="1228725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13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23950" y="1343025"/>
            <a:ext cx="209550" cy="209550"/>
          </a:xfrm>
          <a:prstGeom prst="rect">
            <a:avLst/>
          </a:prstGeom>
          <a:ln/>
        </p:spPr>
      </p:pic>
      <p:sp>
        <p:nvSpPr>
          <p:cNvPr id="1392" name="" descr="{&quot;isTemplate&quot;:true,&quot;type&quot;:&quot;text&quot;}"/>
          <p:cNvSpPr txBox="1"/>
          <p:nvPr/>
        </p:nvSpPr>
        <p:spPr>
          <a:xfrm rot="0" flipH="0" flipV="0">
            <a:off x="1562100" y="1247775"/>
            <a:ext cx="11715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监督学习</a:t>
            </a:r>
            <a:endParaRPr/>
          </a:p>
        </p:txBody>
      </p:sp>
      <p:sp>
        <p:nvSpPr>
          <p:cNvPr id="1393" name="" descr="{&quot;isTemplate&quot;:true,&quot;type&quot;:&quot;text&quot;}"/>
          <p:cNvSpPr txBox="1"/>
          <p:nvPr/>
        </p:nvSpPr>
        <p:spPr>
          <a:xfrm rot="0" flipH="0" flipV="0">
            <a:off x="1562100" y="1495425"/>
            <a:ext cx="1171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Supervised Learning</a:t>
            </a:r>
            <a:endParaRPr/>
          </a:p>
        </p:txBody>
      </p:sp>
      <p:sp>
        <p:nvSpPr>
          <p:cNvPr id="1394" name=""/>
          <p:cNvSpPr/>
          <p:nvPr/>
        </p:nvSpPr>
        <p:spPr>
          <a:xfrm rot="0" flipH="0" flipV="0">
            <a:off x="1047750" y="1819275"/>
            <a:ext cx="29718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95" name=""/>
          <p:cNvSpPr/>
          <p:nvPr/>
        </p:nvSpPr>
        <p:spPr>
          <a:xfrm rot="0" flipH="0" flipV="0">
            <a:off x="1047750" y="1819275"/>
            <a:ext cx="2971800" cy="361950"/>
          </a:xfrm>
          <a:custGeom>
            <a:pathLst>
              <a:path w="312" h="3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4"/>
                </a:lnTo>
                <a:cubicBezTo>
                  <a:pt x="4" y="36"/>
                  <a:pt x="5" y="38"/>
                  <a:pt x="7" y="38"/>
                </a:cubicBezTo>
                <a:cubicBezTo>
                  <a:pt x="3" y="38"/>
                  <a:pt x="0" y="34"/>
                  <a:pt x="0" y="3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6" name="" descr="{&quot;isTemplate&quot;:true,&quot;type&quot;:&quot;text&quot;}"/>
          <p:cNvSpPr txBox="1"/>
          <p:nvPr/>
        </p:nvSpPr>
        <p:spPr>
          <a:xfrm rot="0" flipH="0" flipV="0">
            <a:off x="1181100" y="1905000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给答案，学规律</a:t>
            </a:r>
            <a:endParaRPr/>
          </a:p>
        </p:txBody>
      </p:sp>
      <p:sp>
        <p:nvSpPr>
          <p:cNvPr id="1397" name="" descr="{&quot;isTemplate&quot;:true,&quot;type&quot;:&quot;text&quot;}"/>
          <p:cNvSpPr txBox="1"/>
          <p:nvPr/>
        </p:nvSpPr>
        <p:spPr>
          <a:xfrm rot="0" flipH="0" flipV="0">
            <a:off x="1009650" y="2314575"/>
            <a:ext cx="2971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用带标签的数据训练：每条输入都有标准答案。</a:t>
            </a:r>
            <a:endParaRPr/>
          </a:p>
        </p:txBody>
      </p:sp>
      <p:sp>
        <p:nvSpPr>
          <p:cNvPr id="1398" name="" descr="{&quot;isTemplate&quot;:true,&quot;type&quot;:&quot;text&quot;}"/>
          <p:cNvSpPr txBox="1"/>
          <p:nvPr/>
        </p:nvSpPr>
        <p:spPr>
          <a:xfrm rot="0" flipH="0" flipV="0">
            <a:off x="1009650" y="3000375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Source Han Sans SC"/>
                <a:ea typeface="Source Han Sans SC"/>
              </a:rPr>
              <a:t>典型任务：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分类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Classification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回归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Regression</a:t>
            </a:r>
            <a:endParaRPr/>
          </a:p>
        </p:txBody>
      </p:sp>
      <p:sp>
        <p:nvSpPr>
          <p:cNvPr id="1399" name="" descr="{&quot;isTemplate&quot;:true,&quot;type&quot;:&quot;text&quot;}"/>
          <p:cNvSpPr txBox="1"/>
          <p:nvPr/>
        </p:nvSpPr>
        <p:spPr>
          <a:xfrm rot="0" flipH="0" flipV="0">
            <a:off x="1009650" y="3219450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Source Han Sans SC"/>
                <a:ea typeface="Source Han Sans SC"/>
              </a:rPr>
              <a:t>真实例子：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垃圾邮件识别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房价预测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图像分类</a:t>
            </a:r>
            <a:endParaRPr/>
          </a:p>
        </p:txBody>
      </p:sp>
      <p:sp>
        <p:nvSpPr>
          <p:cNvPr id="1400" name=""/>
          <p:cNvSpPr/>
          <p:nvPr/>
        </p:nvSpPr>
        <p:spPr>
          <a:xfrm rot="0" flipH="0" flipV="0">
            <a:off x="1009650" y="4810125"/>
            <a:ext cx="2971800" cy="314325"/>
          </a:xfrm>
          <a:prstGeom prst="roundRect">
            <a:avLst>
              <a:gd name="adj" fmla="val 2424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01" name="" descr="{&quot;isTemplate&quot;:true,&quot;type&quot;:&quot;text&quot;}"/>
          <p:cNvSpPr txBox="1"/>
          <p:nvPr/>
        </p:nvSpPr>
        <p:spPr>
          <a:xfrm rot="0" flipH="0" flipV="0">
            <a:off x="1143000" y="4886325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FFFFFF"/>
                </a:solidFill>
                <a:latin typeface="Source Han Sans SC"/>
                <a:ea typeface="Source Han Sans SC"/>
              </a:rPr>
              <a:t>本课程重点</a:t>
            </a:r>
            <a:r>
              <a:rPr lang="en-US" sz="1013" b="1">
                <a:solidFill>
                  <a:srgbClr val="FFFFFF"/>
                </a:solidFill>
                <a:latin typeface="Source Han Sans SC"/>
                <a:ea typeface="Source Han Sans SC"/>
              </a:rPr>
              <a:t> · Focus of this course</a:t>
            </a:r>
            <a:endParaRPr/>
          </a:p>
        </p:txBody>
      </p:sp>
      <p:sp>
        <p:nvSpPr>
          <p:cNvPr id="1402" name=""/>
          <p:cNvSpPr/>
          <p:nvPr/>
        </p:nvSpPr>
        <p:spPr>
          <a:xfrm rot="0" flipH="0" flipV="0">
            <a:off x="4400550" y="1019175"/>
            <a:ext cx="3390900" cy="436245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03" name=""/>
          <p:cNvSpPr/>
          <p:nvPr/>
        </p:nvSpPr>
        <p:spPr>
          <a:xfrm rot="0" flipH="0" flipV="0">
            <a:off x="4400550" y="1019175"/>
            <a:ext cx="3390900" cy="4362450"/>
          </a:xfrm>
          <a:custGeom>
            <a:pathLst>
              <a:path w="356" h="458">
                <a:moveTo>
                  <a:pt x="345" y="0"/>
                </a:moveTo>
                <a:cubicBezTo>
                  <a:pt x="350" y="0"/>
                  <a:pt x="355" y="4"/>
                  <a:pt x="356" y="10"/>
                </a:cubicBezTo>
                <a:cubicBezTo>
                  <a:pt x="355" y="7"/>
                  <a:pt x="352" y="5"/>
                  <a:pt x="34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4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04" name=""/>
          <p:cNvSpPr/>
          <p:nvPr/>
        </p:nvSpPr>
        <p:spPr>
          <a:xfrm rot="0" flipH="0" flipV="0">
            <a:off x="4610100" y="1228725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14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724400" y="1343025"/>
            <a:ext cx="209550" cy="209550"/>
          </a:xfrm>
          <a:prstGeom prst="rect">
            <a:avLst/>
          </a:prstGeom>
          <a:ln/>
        </p:spPr>
      </p:pic>
      <p:sp>
        <p:nvSpPr>
          <p:cNvPr id="1406" name="" descr="{&quot;isTemplate&quot;:true,&quot;type&quot;:&quot;text&quot;}"/>
          <p:cNvSpPr txBox="1"/>
          <p:nvPr/>
        </p:nvSpPr>
        <p:spPr>
          <a:xfrm rot="0" flipH="0" flipV="0">
            <a:off x="5162550" y="1247775"/>
            <a:ext cx="13144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无监督学习</a:t>
            </a:r>
            <a:endParaRPr/>
          </a:p>
        </p:txBody>
      </p:sp>
      <p:sp>
        <p:nvSpPr>
          <p:cNvPr id="1407" name="" descr="{&quot;isTemplate&quot;:true,&quot;type&quot;:&quot;text&quot;}"/>
          <p:cNvSpPr txBox="1"/>
          <p:nvPr/>
        </p:nvSpPr>
        <p:spPr>
          <a:xfrm rot="0" flipH="0" flipV="0">
            <a:off x="5162550" y="1495425"/>
            <a:ext cx="13144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Unsupervised Learning</a:t>
            </a:r>
            <a:endParaRPr/>
          </a:p>
        </p:txBody>
      </p:sp>
      <p:sp>
        <p:nvSpPr>
          <p:cNvPr id="1408" name=""/>
          <p:cNvSpPr/>
          <p:nvPr/>
        </p:nvSpPr>
        <p:spPr>
          <a:xfrm rot="0" flipH="0" flipV="0">
            <a:off x="4648200" y="1819275"/>
            <a:ext cx="29718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09" name=""/>
          <p:cNvSpPr/>
          <p:nvPr/>
        </p:nvSpPr>
        <p:spPr>
          <a:xfrm rot="0" flipH="0" flipV="0">
            <a:off x="4648200" y="1819275"/>
            <a:ext cx="2971800" cy="361950"/>
          </a:xfrm>
          <a:custGeom>
            <a:pathLst>
              <a:path w="312" h="3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4"/>
                </a:lnTo>
                <a:cubicBezTo>
                  <a:pt x="4" y="36"/>
                  <a:pt x="5" y="38"/>
                  <a:pt x="7" y="38"/>
                </a:cubicBezTo>
                <a:cubicBezTo>
                  <a:pt x="3" y="38"/>
                  <a:pt x="0" y="34"/>
                  <a:pt x="0" y="3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10" name="" descr="{&quot;isTemplate&quot;:true,&quot;type&quot;:&quot;text&quot;}"/>
          <p:cNvSpPr txBox="1"/>
          <p:nvPr/>
        </p:nvSpPr>
        <p:spPr>
          <a:xfrm rot="0" flipH="0" flipV="0">
            <a:off x="4781550" y="1905000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D7BD9"/>
                </a:solidFill>
                <a:latin typeface="Source Han Sans SC"/>
                <a:ea typeface="Source Han Sans SC"/>
              </a:rPr>
              <a:t>没答案，找结构</a:t>
            </a:r>
            <a:endParaRPr/>
          </a:p>
        </p:txBody>
      </p:sp>
      <p:sp>
        <p:nvSpPr>
          <p:cNvPr id="1411" name="" descr="{&quot;isTemplate&quot;:true,&quot;type&quot;:&quot;text&quot;}"/>
          <p:cNvSpPr txBox="1"/>
          <p:nvPr/>
        </p:nvSpPr>
        <p:spPr>
          <a:xfrm rot="0" flipH="0" flipV="0">
            <a:off x="4610100" y="2314575"/>
            <a:ext cx="297180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数据没有标签，让算法自己发现内在结构。</a:t>
            </a:r>
            <a:endParaRPr/>
          </a:p>
        </p:txBody>
      </p:sp>
      <p:sp>
        <p:nvSpPr>
          <p:cNvPr id="1412" name="" descr="{&quot;isTemplate&quot;:true,&quot;type&quot;:&quot;text&quot;}"/>
          <p:cNvSpPr txBox="1"/>
          <p:nvPr/>
        </p:nvSpPr>
        <p:spPr>
          <a:xfrm rot="0" flipH="0" flipV="0">
            <a:off x="4610100" y="2714625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Source Han Sans SC"/>
                <a:ea typeface="Source Han Sans SC"/>
              </a:rPr>
              <a:t>典型任务：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聚类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Clustering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降维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Dimensionality Reduction</a:t>
            </a:r>
            <a:endParaRPr/>
          </a:p>
        </p:txBody>
      </p:sp>
      <p:sp>
        <p:nvSpPr>
          <p:cNvPr id="1413" name="" descr="{&quot;isTemplate&quot;:true,&quot;type&quot;:&quot;text&quot;}"/>
          <p:cNvSpPr txBox="1"/>
          <p:nvPr/>
        </p:nvSpPr>
        <p:spPr>
          <a:xfrm rot="0" flipH="0" flipV="0">
            <a:off x="4610100" y="3086100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Source Han Sans SC"/>
                <a:ea typeface="Source Han Sans SC"/>
              </a:rPr>
              <a:t>真实例子：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用户分群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异常检测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主题发现</a:t>
            </a:r>
            <a:endParaRPr/>
          </a:p>
        </p:txBody>
      </p:sp>
      <p:sp>
        <p:nvSpPr>
          <p:cNvPr id="1414" name=""/>
          <p:cNvSpPr/>
          <p:nvPr/>
        </p:nvSpPr>
        <p:spPr>
          <a:xfrm rot="0" flipH="0" flipV="0">
            <a:off x="4610100" y="4810125"/>
            <a:ext cx="2971800" cy="314325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415" name="" descr="{&quot;isTemplate&quot;:true,&quot;type&quot;:&quot;text&quot;}"/>
          <p:cNvSpPr txBox="1"/>
          <p:nvPr/>
        </p:nvSpPr>
        <p:spPr>
          <a:xfrm rot="0" flipH="0" flipV="0">
            <a:off x="4743450" y="4886325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后续模块会用到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· Used in later modules</a:t>
            </a:r>
            <a:endParaRPr/>
          </a:p>
        </p:txBody>
      </p:sp>
      <p:sp>
        <p:nvSpPr>
          <p:cNvPr id="1416" name=""/>
          <p:cNvSpPr/>
          <p:nvPr/>
        </p:nvSpPr>
        <p:spPr>
          <a:xfrm rot="0" flipH="0" flipV="0">
            <a:off x="8001000" y="1019175"/>
            <a:ext cx="3390900" cy="436245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17" name=""/>
          <p:cNvSpPr/>
          <p:nvPr/>
        </p:nvSpPr>
        <p:spPr>
          <a:xfrm rot="0" flipH="0" flipV="0">
            <a:off x="8001000" y="1019175"/>
            <a:ext cx="3390900" cy="4362450"/>
          </a:xfrm>
          <a:custGeom>
            <a:pathLst>
              <a:path w="356" h="458">
                <a:moveTo>
                  <a:pt x="345" y="0"/>
                </a:moveTo>
                <a:cubicBezTo>
                  <a:pt x="350" y="0"/>
                  <a:pt x="355" y="4"/>
                  <a:pt x="356" y="10"/>
                </a:cubicBezTo>
                <a:cubicBezTo>
                  <a:pt x="355" y="7"/>
                  <a:pt x="352" y="5"/>
                  <a:pt x="34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4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18" name=""/>
          <p:cNvSpPr/>
          <p:nvPr/>
        </p:nvSpPr>
        <p:spPr>
          <a:xfrm rot="0" flipH="0" flipV="0">
            <a:off x="8210550" y="1228725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4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24850" y="1343025"/>
            <a:ext cx="209550" cy="209550"/>
          </a:xfrm>
          <a:prstGeom prst="rect">
            <a:avLst/>
          </a:prstGeom>
          <a:ln/>
        </p:spPr>
      </p:pic>
      <p:sp>
        <p:nvSpPr>
          <p:cNvPr id="1420" name="" descr="{&quot;isTemplate&quot;:true,&quot;type&quot;:&quot;text&quot;}"/>
          <p:cNvSpPr txBox="1"/>
          <p:nvPr/>
        </p:nvSpPr>
        <p:spPr>
          <a:xfrm rot="0" flipH="0" flipV="0">
            <a:off x="8763000" y="1247775"/>
            <a:ext cx="13906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强化学习</a:t>
            </a:r>
            <a:endParaRPr/>
          </a:p>
        </p:txBody>
      </p:sp>
      <p:sp>
        <p:nvSpPr>
          <p:cNvPr id="1421" name="" descr="{&quot;isTemplate&quot;:true,&quot;type&quot;:&quot;text&quot;}"/>
          <p:cNvSpPr txBox="1"/>
          <p:nvPr/>
        </p:nvSpPr>
        <p:spPr>
          <a:xfrm rot="0" flipH="0" flipV="0">
            <a:off x="8763000" y="1495425"/>
            <a:ext cx="1390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Reinforcement Learning</a:t>
            </a:r>
            <a:endParaRPr/>
          </a:p>
        </p:txBody>
      </p:sp>
      <p:sp>
        <p:nvSpPr>
          <p:cNvPr id="1422" name=""/>
          <p:cNvSpPr/>
          <p:nvPr/>
        </p:nvSpPr>
        <p:spPr>
          <a:xfrm rot="0" flipH="0" flipV="0">
            <a:off x="8248650" y="1819275"/>
            <a:ext cx="29718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23" name=""/>
          <p:cNvSpPr/>
          <p:nvPr/>
        </p:nvSpPr>
        <p:spPr>
          <a:xfrm rot="0" flipH="0" flipV="0">
            <a:off x="8248650" y="1819275"/>
            <a:ext cx="2971800" cy="361950"/>
          </a:xfrm>
          <a:custGeom>
            <a:pathLst>
              <a:path w="312" h="3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4"/>
                </a:lnTo>
                <a:cubicBezTo>
                  <a:pt x="4" y="36"/>
                  <a:pt x="5" y="38"/>
                  <a:pt x="7" y="38"/>
                </a:cubicBezTo>
                <a:cubicBezTo>
                  <a:pt x="3" y="38"/>
                  <a:pt x="0" y="34"/>
                  <a:pt x="0" y="3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24" name="" descr="{&quot;isTemplate&quot;:true,&quot;type&quot;:&quot;text&quot;}"/>
          <p:cNvSpPr txBox="1"/>
          <p:nvPr/>
        </p:nvSpPr>
        <p:spPr>
          <a:xfrm rot="0" flipH="0" flipV="0">
            <a:off x="8382000" y="1905000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给奖励，学策略</a:t>
            </a:r>
            <a:endParaRPr/>
          </a:p>
        </p:txBody>
      </p:sp>
      <p:sp>
        <p:nvSpPr>
          <p:cNvPr id="1425" name="" descr="{&quot;isTemplate&quot;:true,&quot;type&quot;:&quot;text&quot;}"/>
          <p:cNvSpPr txBox="1"/>
          <p:nvPr/>
        </p:nvSpPr>
        <p:spPr>
          <a:xfrm rot="0" flipH="0" flipV="0">
            <a:off x="8210550" y="2314575"/>
            <a:ext cx="2971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智能体与环境交互，通过试错最大化累积奖励。</a:t>
            </a:r>
            <a:endParaRPr/>
          </a:p>
        </p:txBody>
      </p:sp>
      <p:sp>
        <p:nvSpPr>
          <p:cNvPr id="1426" name="" descr="{&quot;isTemplate&quot;:true,&quot;type&quot;:&quot;text&quot;}"/>
          <p:cNvSpPr txBox="1"/>
          <p:nvPr/>
        </p:nvSpPr>
        <p:spPr>
          <a:xfrm rot="0" flipH="0" flipV="0">
            <a:off x="8210550" y="3000375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Source Han Sans SC"/>
                <a:ea typeface="Source Han Sans SC"/>
              </a:rPr>
              <a:t>典型任务：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策略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Policy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奖励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Reward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探索与利用</a:t>
            </a:r>
            <a:endParaRPr/>
          </a:p>
        </p:txBody>
      </p:sp>
      <p:sp>
        <p:nvSpPr>
          <p:cNvPr id="1427" name="" descr="{&quot;isTemplate&quot;:true,&quot;type&quot;:&quot;text&quot;}"/>
          <p:cNvSpPr txBox="1"/>
          <p:nvPr/>
        </p:nvSpPr>
        <p:spPr>
          <a:xfrm rot="0" flipH="0" flipV="0">
            <a:off x="8210550" y="3371850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Source Han Sans SC"/>
                <a:ea typeface="Source Han Sans SC"/>
              </a:rPr>
              <a:t>真实例子：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游戏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AI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机器人控制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推荐策略</a:t>
            </a:r>
            <a:endParaRPr/>
          </a:p>
        </p:txBody>
      </p:sp>
      <p:sp>
        <p:nvSpPr>
          <p:cNvPr id="1428" name=""/>
          <p:cNvSpPr/>
          <p:nvPr/>
        </p:nvSpPr>
        <p:spPr>
          <a:xfrm rot="0" flipH="0" flipV="0">
            <a:off x="8210550" y="4810125"/>
            <a:ext cx="2971800" cy="314325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429" name="" descr="{&quot;isTemplate&quot;:true,&quot;type&quot;:&quot;text&quot;}"/>
          <p:cNvSpPr txBox="1"/>
          <p:nvPr/>
        </p:nvSpPr>
        <p:spPr>
          <a:xfrm rot="0" flipH="0" flipV="0">
            <a:off x="8343900" y="4886325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后续模块会用到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· Used in later modules</a:t>
            </a:r>
            <a:endParaRPr/>
          </a:p>
        </p:txBody>
      </p:sp>
      <p:sp>
        <p:nvSpPr>
          <p:cNvPr id="1430" name=""/>
          <p:cNvSpPr/>
          <p:nvPr/>
        </p:nvSpPr>
        <p:spPr>
          <a:xfrm rot="0" flipH="0" flipV="0">
            <a:off x="800100" y="5562600"/>
            <a:ext cx="10591800" cy="68580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4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90600" y="5781675"/>
            <a:ext cx="247650" cy="247650"/>
          </a:xfrm>
          <a:prstGeom prst="rect">
            <a:avLst/>
          </a:prstGeom>
          <a:ln/>
        </p:spPr>
      </p:pic>
      <p:sp>
        <p:nvSpPr>
          <p:cNvPr id="1432" name="" descr="{&quot;isTemplate&quot;:true,&quot;type&quot;:&quot;text&quot;}"/>
          <p:cNvSpPr txBox="1"/>
          <p:nvPr/>
        </p:nvSpPr>
        <p:spPr>
          <a:xfrm rot="0" flipH="0" flipV="0">
            <a:off x="1371600" y="5657850"/>
            <a:ext cx="98298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课堂思考：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「按消费行为给用户分群」是哪种范式？——没有标签、要找结构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无监督（聚类）。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Quick check: clustering customers by behavior — labels? No. Structure? Yes. → Unsupervised.</a:t>
            </a:r>
            <a:endParaRPr/>
          </a:p>
        </p:txBody>
      </p:sp>
      <p:sp>
        <p:nvSpPr>
          <p:cNvPr id="143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43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09 / 32</a:t>
            </a:r>
            <a:endParaRPr/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2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三次浪潮 · Three Waves of AI&lt;/Text&gt;&#10;    &lt;Text style={{ fontSize: 15, color: 'rgba(255,255,255,0.85)' }}&gt;Module 1 · Week 1&lt;/Text&gt;&#10;  &lt;/Box&gt;&#10;  &lt;Box style={{ position: 'absolute', top: 100, left: 0, width: '100%', height: 540, padding: '16px 84px', flexDirection: 'column' }}&gt;&#10;    &lt;Box style={{ flexDirection: 'row', alignItems: 'center', marginBottom: 8 }}&gt;&#10;      &lt;Box style={{ width: 130, flexShrink: 0 }}&gt;&#10;        &lt;Text style={{ fontSize: 16, color: '#8B97A8', fontWeight: '600' }}&gt;时间线 Timeline&lt;/Text&gt;&#10;      &lt;/Box&gt;&#10;      &lt;Box style={{ flex: 1, height: 3, background: '#D6DCE5', borderRadius: 2, position: 'relative' }}&gt;&#10;        &lt;Box style={{ position: 'absolute', left: '8%', top: -5, width: 13, height: 13, borderRadius: 7, background: '#3D7BD9' }} /&gt;&#10;        &lt;Box style={{ position: 'absolute', left: '38%', top: -5, width: 13, height: 13, borderRadius: 7, background: '#1E4FA8' }} /&gt;&#10;        &lt;Box style={{ position: 'absolute', left: '78%', top: -5, width: 13, height: 13, borderRadius: 7, background: '#0E3F8C' }} /&gt;&#10;      &lt;/Box&gt;&#10;    &lt;/Box&gt;&#10;    &lt;Box style={{ flexDirection: 'row', gap: 20, flex: 1, marginTop: 18 }}&gt;&#10;      {[&#10;        {&#10;          y: '1950s–1970s', t: '符号主义时代', e: 'Symbolic Era',&#10;          d: '图灵测试提出；达特茅斯会议命名&quot;AI&quot;；专家系统兴起。算力与数据受限 → 第一次 AI 寒冬。',&#10;          en: 'Turing Test; Dartmouth Conference; expert systems → first AI winter.',&#10;          c: '#3D7BD9',&#10;        },&#10;        {&#10;          y: '1980s–2000s', t: '机器学习崛起', e: 'Statistical ML',&#10;          d: '反向传播复兴神经网络；SVM、随机森林成熟；互联网带来海量数据，统计学习成为主流。',&#10;          en: 'Backpropagation; SVM &amp; random forests; big data from the internet.',&#10;          c: '#1E4FA8',&#10;        },&#10;        {&#10;          y: '2012 – 至今', t: '深度学习与生成式 AI', e: 'Deep Learning &amp; GenAI',&#10;          d: 'AlexNet 赢下 ImageNet；Transformer 诞生（2017）→ GPT / BERT；大语言模型与生成式 AI 爆发。',&#10;          en: 'AlexNet; Transformer → GPT &amp; BERT; LLM &amp; generative AI explosion.',&#10;          c: '#0E3F8C',&#10;        },&#10;      ].map((w, i) =&gt; (&#10;        &lt;Box key={i} style={{ flex: 1, background: '#F7F9FC', border: '1px solid #E5E7EB', borderTop: '4px solid ' + w.c, borderRadius: 12, padding: '20px 22px', justifyContent: 'space-between' }}&gt;&#10;          &lt;Box&gt;&#10;            &lt;Text style={{ fontSize: 17, color: w.c, fontWeight: 'bold' }}&gt;{w.y}&lt;/Text&gt;&#10;            &lt;Box style={{ flexDirection: 'row', alignItems: 'baseline', gap: 8, marginTop: 4 }}&gt;&#10;              &lt;Text style={{ fontSize: 23, color: '#1A2230', fontWeight: 'bold' }}&gt;{w.t}&lt;/Text&gt;&#10;              &lt;Text style={{ fontSize: 14, color: '#8B97A8' }}&gt;{w.e}&lt;/Text&gt;&#10;            &lt;/Box&gt;&#10;            &lt;Text style={{ fontSize: 15, color: '#4A5568', lineHeight: 1.65, marginTop: 10 }}&gt;{w.d}&lt;/Text&gt;&#10;            &lt;Text style={{ fontSize: 13, color: '#8B97A8', marginTop: 8 }}&gt;{w.en}&lt;/Text&gt;&#10;          &lt;/Box&gt;&#10;        &lt;/Box&gt;&#10;      ))}&#10;    &lt;/Box&gt;&#10;    &lt;Box style={{ background: '#F0F5FC', border: '1px solid #D6DCE5', borderRadius: 10, padding: '14px 20px', marginTop: 16 }}&gt;&#10;      &lt;Text style={{ fontSize: 16, color: '#1A2230', lineHeight: 1.6 }}&gt;&#10;        &lt;span style={{ fontWeight: 'bold', color: '#0E3F8C' }}&gt;判断：&lt;/span&gt;当前正处于&quot;应用工程化&quot;阶段 —— 模型能力被商品化，&#10;        &lt;span style={{ fontWeight: 'bold', color: '#0E3F8C' }}&gt;软件工程师的入场窗口已打开&lt;/span&gt;。&#10;        &lt;span style={{ fontSize: 13, color: '#8B97A8' }}&gt;Now is the window for software engineers: model capabilities are commoditized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914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三次浪潮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Three Waves of AI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123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时间线</a:t>
            </a: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 Timeline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800100" y="1581150"/>
            <a:ext cx="3400425" cy="3448050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800100" y="1581150"/>
            <a:ext cx="3400425" cy="3448050"/>
          </a:xfrm>
          <a:custGeom>
            <a:pathLst>
              <a:path w="357" h="362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09650" y="1771650"/>
            <a:ext cx="2981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D7BD9"/>
                </a:solidFill>
                <a:latin typeface="Source Han Sans SC"/>
                <a:ea typeface="Source Han Sans SC"/>
              </a:rPr>
              <a:t>1950s–1970s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009650" y="2009775"/>
            <a:ext cx="13144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Source Han Sans SC"/>
                <a:ea typeface="Source Han Sans SC"/>
              </a:rPr>
              <a:t>符号主义时代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2400300" y="2009775"/>
            <a:ext cx="8191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Symbolic Era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009650" y="2371725"/>
            <a:ext cx="2981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图灵测试提出；达特茅斯会议命名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"AI"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；专家系统兴起。算力与数据受限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第一次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寒冬。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1009650" y="3019425"/>
            <a:ext cx="29813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Turing Test; Dartmouth Conference; expert systems → first AI winter.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4391025" y="1581150"/>
            <a:ext cx="3409950" cy="344805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6" name=""/>
          <p:cNvSpPr/>
          <p:nvPr/>
        </p:nvSpPr>
        <p:spPr>
          <a:xfrm rot="0" flipH="0" flipV="0">
            <a:off x="4391025" y="1581150"/>
            <a:ext cx="3409950" cy="3448050"/>
          </a:xfrm>
          <a:custGeom>
            <a:pathLst>
              <a:path w="358" h="362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600575" y="1771650"/>
            <a:ext cx="2990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Source Han Sans SC"/>
                <a:ea typeface="Source Han Sans SC"/>
              </a:rPr>
              <a:t>1980s–2000s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4600575" y="2009775"/>
            <a:ext cx="13144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Source Han Sans SC"/>
                <a:ea typeface="Source Han Sans SC"/>
              </a:rPr>
              <a:t>机器学习崛起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5991225" y="2009775"/>
            <a:ext cx="8572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Statistical ML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600575" y="2371725"/>
            <a:ext cx="299085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反向传播复兴神经网络；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SVM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、随机森林成熟；互联网带来海量数据，统计学习成为主流。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600575" y="3305175"/>
            <a:ext cx="29908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Backpropagation; SVM &amp; random forests; big data from the internet.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7991475" y="1581150"/>
            <a:ext cx="3400425" cy="3448050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7991475" y="1581150"/>
            <a:ext cx="3400425" cy="3448050"/>
          </a:xfrm>
          <a:custGeom>
            <a:pathLst>
              <a:path w="357" h="362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201025" y="1771650"/>
            <a:ext cx="2981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2012 – 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至今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201025" y="2009775"/>
            <a:ext cx="16954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Source Han Sans SC"/>
                <a:ea typeface="Source Han Sans SC"/>
              </a:rPr>
              <a:t>深度学习与生成式</a:t>
            </a:r>
            <a:r>
              <a:rPr lang="en-US" sz="1725" b="1">
                <a:solidFill>
                  <a:srgbClr val="1A2230"/>
                </a:solidFill>
                <a:latin typeface="Source Han Sans SC"/>
                <a:ea typeface="Source Han Sans SC"/>
              </a:rPr>
              <a:t> AI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9972675" y="2009775"/>
            <a:ext cx="12096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Deep Learning &amp; GenAI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8201025" y="2371725"/>
            <a:ext cx="2981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AlexNet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赢下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ImageNet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；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Transformer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诞生（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2017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）→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GPT / BERT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；大语言模型与生成式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爆发。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8201025" y="3305175"/>
            <a:ext cx="29813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AlexNet; Transformer → GPT &amp; BERT; LLM &amp; generative AI explosion.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800100" y="5143500"/>
            <a:ext cx="10591800" cy="800100"/>
          </a:xfrm>
          <a:prstGeom prst="roundRect">
            <a:avLst>
              <a:gd name="adj" fmla="val 1190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990600" y="5276850"/>
            <a:ext cx="102108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当前正处于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应用工程化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阶段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——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模型能力被商品化，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软件工程师的入场窗口已打开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Now is the window for software engineers: model capabilities are commoditized.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2038350" y="1190625"/>
            <a:ext cx="9353550" cy="28575"/>
          </a:xfrm>
          <a:prstGeom prst="roundRect">
            <a:avLst>
              <a:gd name="adj" fmla="val 66667"/>
            </a:avLst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2790825" y="1143000"/>
            <a:ext cx="123825" cy="123825"/>
          </a:xfrm>
          <a:prstGeom prst="roundRect">
            <a:avLst>
              <a:gd name="adj" fmla="val 5384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3" name=""/>
          <p:cNvSpPr/>
          <p:nvPr/>
        </p:nvSpPr>
        <p:spPr>
          <a:xfrm rot="0" flipH="0" flipV="0">
            <a:off x="5591175" y="1143000"/>
            <a:ext cx="123825" cy="123825"/>
          </a:xfrm>
          <a:prstGeom prst="roundRect">
            <a:avLst>
              <a:gd name="adj" fmla="val 5384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" name=""/>
          <p:cNvSpPr/>
          <p:nvPr/>
        </p:nvSpPr>
        <p:spPr>
          <a:xfrm rot="0" flipH="0" flipV="0">
            <a:off x="9334500" y="1143000"/>
            <a:ext cx="123825" cy="123825"/>
          </a:xfrm>
          <a:prstGeom prst="roundRect">
            <a:avLst>
              <a:gd name="adj" fmla="val 5384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10 / 32</a:t>
            </a:r>
            <a:endParaRPr/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5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两次 AI 寒冬 · Two AI Winters&lt;/Text&gt;&#10;    &lt;Text style={{ fontSize: 15, color: 'rgba(255,255,255,0.85)' }}&gt;What is AI · Part 02&lt;/Text&gt;&#10;  &lt;/Box&gt;&#10;  &lt;Box style={{ position: 'absolute', top: 96, left: 0, width: '100%', height: 470, padding: '6px 84px', flexDirection: 'row', gap: 24 }}&gt;&#10;    {[&#10;      { n: 'Winter I', y: '1974 – 1980', t: '第一次寒冬', c: '#8B97A8', rows: [&#10;        { k: '发生了什么', v: '感知机局限被证明（Minsky &amp; Papert, 1969），符号系统达不到预期' },&#10;        { k: '导火索', v: '英国 Lighthill 报告（1973）+ 美英经费大幅削减' },&#10;        { k: '当时承诺', v: '「机器将在一代人之内完成人类能做的一切工作」' },&#10;      ]},&#10;      { n: 'Winter II', y: '1987 – 1993', t: '第二次寒冬', c: '#0E3F8C', rows: [&#10;        { k: '发生了什么', v: '专家系统维护成本远超收益，Lisp 机器市场崩塌' },&#10;        { k: '导火索', v: '专用硬件被通用 PC 取代，商业投资撤离' },&#10;        { k: '当时承诺', v: '「专家系统将进入每个企业」' },&#10;      ]},&#10;    ].map((w, i) =&gt; (&#10;      &lt;Box key={i} style={{ flex: 1, background: '#F7F9FC', border: '1px solid #E5E7EB', borderRadius: 12, padding: '22px 24px' }}&gt;&#10;        &lt;Box style={{ flexDirection: 'row', alignItems: 'baseline', gap: 12 }}&gt;&#10;          &lt;Text style={{ fontSize: 26, color: w.c, fontWeight: 'bold' }}&gt;{w.n}&lt;/Text&gt;&#10;          &lt;Text style={{ fontSize: 15, color: '#8B97A8', fontWeight: '600' }}&gt;{w.y}&lt;/Text&gt;&#10;        &lt;/Box&gt;&#10;        &lt;Text style={{ fontSize: 19, color: '#1A2230', fontWeight: 'bold', marginTop: 4 }}&gt;{w.t}&lt;/Text&gt;&#10;        &lt;Box style={{ width: '100%', height: 2, background: '#E5E7EB', margin: '14px 0' }} /&gt;&#10;        {w.rows.map((r, j) =&gt; (&#10;          &lt;Box key={j} style={{ marginBottom: 13 }}&gt;&#10;            &lt;Text style={{ fontSize: 13, color: w.c, fontWeight: 'bold' }}&gt;{r.k}&lt;/Text&gt;&#10;            &lt;Text style={{ fontSize: 14.5, color: '#4A5568', lineHeight: 1.6, marginTop: 2 }}&gt;{r.v}&lt;/Text&gt;&#10;          &lt;/Box&gt;&#10;        ))}&#10;      &lt;/Box&gt;&#10;    ))}&#10;  &lt;/Box&gt;&#10;  &lt;Box style={{ position: 'absolute', top: 578, left: 0, width: '100%', height: 68, padding: '6px 84px' }}&gt;&#10;    &lt;Box style={{ width: '100%', height: '100%', background: '#0E3F8C', borderRadius: 12, padding: '10px 20px', flexDirection: 'row', alignItems: 'center', gap: 16 }}&gt;&#10;      &lt;Text style={{ fontSize: 16, color: '#FFFFFF', fontWeight: 'bold', flexShrink: 0 }}&gt;三次教训&lt;/Text&gt;&#10;      &lt;Box style={{ flex: 1, flexDirection: 'row', justifyContent: 'space-between', gap: 14 }}&gt;&#10;        {[&#10;          '期望泡沫：承诺跑得比能力快，资本就会退潮',&#10;          '数据与算力是地基：地基不够能力就是空中楼阁',&#10;          '今天的你也该冷静：AI 不是魔法，是工程',&#10;        ].map((t, i) =&gt; (&#10;          &lt;Text key={i} style={{ fontSize: 14, color: 'rgba(255,255,255,0.95)', lineHeight: 1.5, flex: 1 }}&gt;{i + 1}. {t}&lt;/Text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933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两次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AI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寒冬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Two AI Winters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048875" y="295275"/>
            <a:ext cx="1343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What is AI · Part 02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800100" y="971550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28700" y="1181100"/>
            <a:ext cx="9239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Winter I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2066925" y="1181100"/>
            <a:ext cx="838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8B97A8"/>
                </a:solidFill>
                <a:latin typeface="Source Han Sans SC"/>
                <a:ea typeface="Source Han Sans SC"/>
              </a:rPr>
              <a:t>1974 – 1980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28700" y="1524000"/>
            <a:ext cx="4724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第一次寒冬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1028700" y="1876425"/>
            <a:ext cx="4724400" cy="190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1028700" y="20288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发生了什么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1028700" y="2200275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感知机局限被证明（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Minsky &amp; Papert, 1969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），符号系统达不到预期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028700" y="25908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导火索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028700" y="2762250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英国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Lighthill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报告（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1973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）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+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美英经费大幅削减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1028700" y="31527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当时承诺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028700" y="3324225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「机器将在一代人之内完成人类能做的一切工作」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6210300" y="971550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6438900" y="1181100"/>
            <a:ext cx="9810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0E3F8C"/>
                </a:solidFill>
                <a:latin typeface="Source Han Sans SC"/>
                <a:ea typeface="Source Han Sans SC"/>
              </a:rPr>
              <a:t>Winter II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7534275" y="1181100"/>
            <a:ext cx="838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8B97A8"/>
                </a:solidFill>
                <a:latin typeface="Source Han Sans SC"/>
                <a:ea typeface="Source Han Sans SC"/>
              </a:rPr>
              <a:t>1987 – 1993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438900" y="1524000"/>
            <a:ext cx="4724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第二次寒冬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438900" y="1876425"/>
            <a:ext cx="4724400" cy="190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438900" y="20288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E3F8C"/>
                </a:solidFill>
                <a:latin typeface="Source Han Sans SC"/>
                <a:ea typeface="Source Han Sans SC"/>
              </a:rPr>
              <a:t>发生了什么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438900" y="2200275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专家系统维护成本远超收益，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Lisp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机器市场崩塌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438900" y="25908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E3F8C"/>
                </a:solidFill>
                <a:latin typeface="Source Han Sans SC"/>
                <a:ea typeface="Source Han Sans SC"/>
              </a:rPr>
              <a:t>导火索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438900" y="2762250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专用硬件被通用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PC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取代，商业投资撤离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6438900" y="31527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E3F8C"/>
                </a:solidFill>
                <a:latin typeface="Source Han Sans SC"/>
                <a:ea typeface="Source Han Sans SC"/>
              </a:rPr>
              <a:t>当时承诺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438900" y="3324225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「专家系统将进入每个企业」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990600" y="573405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Source Han Sans SC"/>
                <a:ea typeface="Source Han Sans SC"/>
              </a:rPr>
              <a:t>三次教训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752600" y="5705475"/>
            <a:ext cx="30575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1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. </a:t>
            </a:r>
            <a:r>
              <a:rPr lang="zh-CN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期望泡沫：承诺跑得比能力快，资本就会退潮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4943475" y="5705475"/>
            <a:ext cx="30670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2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. </a:t>
            </a:r>
            <a:r>
              <a:rPr lang="zh-CN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数据与算力是地基：地基不够能力就是空中楼阁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143875" y="5705475"/>
            <a:ext cx="30575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3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. </a:t>
            </a:r>
            <a:r>
              <a:rPr lang="zh-CN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今天的你也该冷静：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不是魔法，是工程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11 / 32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为什么软件工程师要学？ · Why SE Students?&lt;/Text&gt;&#10;    &lt;Text style={{ fontSize: 15, color: 'rgba(255,255,255,0.85)' }}&gt;Module 1 · Week 1&lt;/Text&gt;&#10;  &lt;/Box&gt;&#10;  &lt;Box style={{ position: 'absolute', top: 100, left: 0, width: '100%', height: 540, padding: '16px 84px', flexDirection: 'row', gap: 30 }}&gt;&#10;    &lt;Box style={{ width: 290, background: '#0E3F8C', borderRadius: 14, padding: '28px 24px', justifyContent: 'space-between', flexShrink: 0 }}&gt;&#10;      &lt;Text style={{ fontSize: 44, color: '#FFFFFF', fontWeight: 'bold', lineHeight: 1.3 }}&gt;&#10;        角色转移&#10;        &lt;br /&gt;&#10;        &lt;span style={{ fontSize: 24, fontWeight: '600' }}&gt;From Training to Product&lt;/span&gt;&#10;      &lt;/Text&gt;&#10;      &lt;Box&gt;&#10;        &lt;Box style={{ width: '100%', height: 2, background: 'rgba(255,255,255,0.25)', marginBottom: 16 }} /&gt;&#10;        &lt;Text style={{ fontSize: 16, color: 'rgba(255,255,255,0.9)', lineHeight: 1.7 }}&gt;&#10;          框架与 API 把模型能力&quot;商品化&quot;，&#10;          &lt;br /&gt;&#10;          工程师的价值转向&#10;          &lt;span style={{ fontWeight: 'bold' }}&gt;把模型变成产品&lt;/span&gt;。&#10;        &lt;/Text&gt;&#10;      &lt;/Box&gt;&#10;    &lt;/Box&gt;&#10;    &lt;Box style={{ flex: 1, gap: 16, justifyContent: 'center' }}&gt;&#10;      {[&#10;        { i: 'database', t: '特征工程 → 数据工程', e: 'From Feature Engineering to Data Engineering', d: '模型能力内置化后，价值重心前移到数据质量与数据流水线 —— 数据对了，模型自然好。', en: 'Value shifts to data quality and pipelines.' },&#10;        { i: 'cogs', t: '写规则 → 调系统', e: 'From Rules to Systems', d: '不再是&quot;如果…那么…&quot;的业务规则，而是&quot;数据 + 模型 + 评估 + 迭代&quot;的完整系统设计。', en: 'Design systems of data + model + evaluation + iteration.' },&#10;        { i: 'robot', t: '单应用 → 智能体生态', e: 'From Apps to Agents', d: 'LLM 催生 Agent、RAG、多模态等新范式，每个范式都是一组全新的工程问题。', en: 'LLMs create agents, RAG, multimodal — fresh engineering challenges.' },&#10;      ].map((r, i) =&gt; (&#10;        &lt;Box key={i} style={{ flexDirection: 'row', gap: 20, background: '#F7F9FC', border: '1px solid #E5E7EB', borderRadius: 12, padding: '16px 22px', alignItems: 'center' }}&gt;&#10;          &lt;Box style={{ width: 52, height: 52, borderRadius: 14, background: '#E8EFF8', justifyContent: 'center', alignItems: 'center', flexShrink: 0 }}&gt;&#10;            &lt;FAIcon name={r.i} style={{ fill: '#1E4FA8', width: 26, height: 26 }} /&gt;&#10;          &lt;/Box&gt;&#10;          &lt;Box style={{ flex: 1 }}&gt;&#10;            &lt;Box style={{ flexDirection: 'row', alignItems: 'baseline', gap: 10 }}&gt;&#10;              &lt;Text style={{ fontSize: 22, color: '#1A2230', fontWeight: 'bold' }}&gt;{r.t}&lt;/Text&gt;&#10;              &lt;Text style={{ fontSize: 14, color: '#8B97A8' }}&gt;{r.e}&lt;/Text&gt;&#10;            &lt;/Box&gt;&#10;            &lt;Text style={{ fontSize: 15, color: '#4A5568', marginTop: 3 }}&gt;{r.d} &lt;span style={{ fontSize: 13, color: '#8B97A8' }}&gt;{r.en}&lt;/span&gt;&lt;/Text&gt;&#10;          &lt;/Box&gt;&#10;        &lt;/Box&gt;&#10;      ))}&#10;      &lt;Box style={{ borderLeft: '4px solid #0E3F8C', paddingLeft: 16, marginTop: 2 }}&gt;&#10;        &lt;Text style={{ fontSize: 16, color: '#1A2230', lineHeight: 1.6 }}&gt;&#10;          &lt;span style={{ fontWeight: 'bold', color: '#0E3F8C' }}&gt;结论：&lt;/span&gt;SE 学生的竞争力不在&quot;训练更好的模型&quot;，而在&#10;          &lt;span style={{ fontWeight: 'bold', color: '#0E3F8C' }}&gt;把模型可靠地交付为软件系统&lt;/span&gt;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400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为什么软件工程师要学？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Why SE Students?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800100" y="1104900"/>
            <a:ext cx="2762250" cy="4838700"/>
          </a:xfrm>
          <a:prstGeom prst="roundRect">
            <a:avLst>
              <a:gd name="adj" fmla="val 482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028700" y="1371600"/>
            <a:ext cx="2305050" cy="1371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zh-CN" sz="3300" b="1">
                <a:solidFill>
                  <a:srgbClr val="FFFFFF"/>
                </a:solidFill>
                <a:latin typeface="Source Han Sans SC"/>
                <a:ea typeface="Source Han Sans SC"/>
              </a:rPr>
              <a:t>角色转移</a:t>
            </a:r>
            <a:endParaRPr/>
          </a:p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Source Han Sans SC"/>
                <a:ea typeface="Source Han Sans SC"/>
              </a:rPr>
              <a:t>From Training to Product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1028700" y="4572000"/>
            <a:ext cx="230505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1028700" y="4743450"/>
            <a:ext cx="230505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框架与</a:t>
            </a:r>
            <a:r>
              <a:rPr lang="en-US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 API </a:t>
            </a:r>
            <a:r>
              <a:rPr lang="zh-CN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把模型能力</a:t>
            </a:r>
            <a:r>
              <a:rPr lang="en-US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商品化</a:t>
            </a:r>
            <a:r>
              <a:rPr lang="en-US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，</a:t>
            </a:r>
            <a:endParaRPr/>
          </a:p>
          <a:p>
            <a:pPr>
              <a:lnSpc>
                <a:spcPct val="170000"/>
              </a:lnSpc>
            </a:pPr>
            <a:r>
              <a:rPr lang="zh-CN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工程师的价值转向</a:t>
            </a:r>
            <a:r>
              <a:rPr lang="zh-CN" sz="1200" b="1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把模型变成产品</a:t>
            </a:r>
            <a:r>
              <a:rPr lang="zh-CN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3848100" y="1771650"/>
            <a:ext cx="7543800" cy="9144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" name=""/>
          <p:cNvSpPr/>
          <p:nvPr/>
        </p:nvSpPr>
        <p:spPr>
          <a:xfrm rot="0" flipH="0" flipV="0">
            <a:off x="4057650" y="198120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81475" y="2105025"/>
            <a:ext cx="247650" cy="247650"/>
          </a:xfrm>
          <a:prstGeom prst="rect">
            <a:avLst/>
          </a:prstGeom>
          <a:ln/>
        </p:spPr>
      </p:pic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743450" y="1924050"/>
            <a:ext cx="2028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Source Han Sans SC"/>
                <a:ea typeface="Source Han Sans SC"/>
              </a:rPr>
              <a:t>特征工程</a:t>
            </a:r>
            <a:r>
              <a:rPr lang="en-US" sz="1650" b="1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650" b="1">
                <a:solidFill>
                  <a:srgbClr val="1A2230"/>
                </a:solidFill>
                <a:latin typeface="Source Han Sans SC"/>
                <a:ea typeface="Source Han Sans SC"/>
              </a:rPr>
              <a:t>数据工程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6867525" y="1924050"/>
            <a:ext cx="2895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From Feature Engineering to Data Engineering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4743450" y="2209800"/>
            <a:ext cx="643890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模型能力内置化后，价值重心前移到数据质量与数据流水线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数据对了，模型自然好。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Value shifts to data quality and pipelines.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3848100" y="2838450"/>
            <a:ext cx="7543800" cy="9144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4057650" y="304800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181475" y="3171825"/>
            <a:ext cx="247650" cy="247650"/>
          </a:xfrm>
          <a:prstGeom prst="rect">
            <a:avLst/>
          </a:prstGeom>
          <a:ln/>
        </p:spPr>
      </p:pic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4743450" y="2990850"/>
            <a:ext cx="16097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Source Han Sans SC"/>
                <a:ea typeface="Source Han Sans SC"/>
              </a:rPr>
              <a:t>写规则</a:t>
            </a:r>
            <a:r>
              <a:rPr lang="en-US" sz="1650" b="1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650" b="1">
                <a:solidFill>
                  <a:srgbClr val="1A2230"/>
                </a:solidFill>
                <a:latin typeface="Source Han Sans SC"/>
                <a:ea typeface="Source Han Sans SC"/>
              </a:rPr>
              <a:t>调系统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448425" y="2990850"/>
            <a:ext cx="1438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From Rules to Systems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4743450" y="3276600"/>
            <a:ext cx="643890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不再是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如果…那么…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的业务规则，而是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数据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模型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评估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迭代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的完整系统设计。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Design systems of data + model + evaluation + iteration.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848100" y="3905250"/>
            <a:ext cx="7543800" cy="9144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4057650" y="411480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181475" y="4238625"/>
            <a:ext cx="247650" cy="247650"/>
          </a:xfrm>
          <a:prstGeom prst="rect">
            <a:avLst/>
          </a:prstGeom>
          <a:ln/>
        </p:spPr>
      </p:pic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4743450" y="4057650"/>
            <a:ext cx="2028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Source Han Sans SC"/>
                <a:ea typeface="Source Han Sans SC"/>
              </a:rPr>
              <a:t>单应用</a:t>
            </a:r>
            <a:r>
              <a:rPr lang="en-US" sz="1650" b="1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650" b="1">
                <a:solidFill>
                  <a:srgbClr val="1A2230"/>
                </a:solidFill>
                <a:latin typeface="Source Han Sans SC"/>
                <a:ea typeface="Source Han Sans SC"/>
              </a:rPr>
              <a:t>智能体生态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867525" y="4057650"/>
            <a:ext cx="13239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From Apps to Agents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743450" y="4343400"/>
            <a:ext cx="643890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LLM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催生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Agent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、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RAG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、多模态等新范式，每个范式都是一组全新的工程问题。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LLMs create agents, RAG, multimodal — fresh engineering challenges.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848100" y="4991100"/>
            <a:ext cx="7581900" cy="295275"/>
          </a:xfrm>
          <a:custGeom>
            <a:pathLst>
              <a:path w="796" h="31">
                <a:moveTo>
                  <a:pt x="0" y="0"/>
                </a:moveTo>
                <a:lnTo>
                  <a:pt x="4" y="0"/>
                </a:lnTo>
                <a:lnTo>
                  <a:pt x="4" y="31"/>
                </a:lnTo>
                <a:lnTo>
                  <a:pt x="0" y="3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038600" y="4991100"/>
            <a:ext cx="73533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结论：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SE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学生的竞争力不在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训练更好的模型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，而在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把模型可靠地交付为软件系统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12 / 32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22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3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3&lt;/Text&gt;&#10;      &lt;/Box&gt;&#10;      &lt;Box style={{ paddingTop: 6 }}&gt;&#10;        &lt;Text style={{ fontSize: 44, color: '#1A2230', fontWeight: 'bold' }}&gt;应用与职业&lt;/Text&gt;&#10;        &lt;Text style={{ fontSize: 26, color: '#8B97A8', fontWeight: '600', marginTop: 6 }}&gt;Domains &amp;amp; Careers&lt;/Text&gt;&#10;      &lt;/Box&gt;&#10;    &lt;/Box&gt;&#10;    &lt;Box style={{ flexDirection: 'row', gap: 24 }}&gt;&#10;      {[&#10;        { t: '四大领域', e: 'CV · NLP · Multimodal · RecSys' },&#10;        { t: '职业方向', e: '4 Career Roles' },&#10;        { t: 'SE 杠杆点', e: 'Highest Leverage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3050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应用与职业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305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Domains &amp; Careers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四大领域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CV · NLP · Multimodal · RecSys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职业方向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4 Career Roles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9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SE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杠杆点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Highest Leverage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四大应用领域 · Application Domains&lt;/Text&gt;&#10;    &lt;Text style={{ fontSize: 15, color: 'rgba(255,255,255,0.85)' }}&gt;Module 1 · Week 1&lt;/Text&gt;&#10;  &lt;/Box&gt;&#10;  &lt;Box style={{ position: 'absolute', top: 100, left: 0, width: '100%', height: 540, padding: '10px 84px', flexDirection: 'row', gap: 26 }}&gt;&#10;    &lt;Box style={{ flex: 1.3, justifyContent: 'space-between' }}&gt;&#10;      &lt;Box style={{ flexDirection: 'row', gap: 20, flex: 1, marginBottom: 14 }}&gt;&#10;        &lt;Box style={{ flex: 1, background: '#F7F9FC', border: '1px solid #E5E7EB', borderLeft: '5px solid #1E4FA8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eye' style={{ fill: '#1E4FA8', width: 20, height: 20 }} /&gt;&#10;            &lt;/Box&gt;&#10;            &lt;Box&gt;&#10;              &lt;Text style={{ fontSize: 20, color: '#1A2230', fontWeight: 'bold' }}&gt;计算机视觉&lt;/Text&gt;&#10;              &lt;Text style={{ fontSize: 13, color: '#8B97A8' }}&gt;Computer Vision&lt;/Text&gt;&#10;            &lt;/Box&gt;&#10;          &lt;/Box&gt;&#10;          &lt;Text style={{ fontSize: 14.5, color: '#4A5568', lineHeight: 1.55, marginTop: 10 }}&gt;图像分类、目标检测、人脸识别、工业缺陷检测、自动驾驶感知。&lt;/Text&gt;&#10;        &lt;/Box&gt;&#10;        &lt;Box style={{ flex: 1, background: '#F7F9FC', border: '1px solid #E5E7EB', borderLeft: '5px solid #3D7BD9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language' style={{ fill: '#3D7BD9', width: 20, height: 20 }} /&gt;&#10;            &lt;/Box&gt;&#10;            &lt;Box&gt;&#10;              &lt;Text style={{ fontSize: 20, color: '#1A2230', fontWeight: 'bold' }}&gt;自然语言处理&lt;/Text&gt;&#10;              &lt;Text style={{ fontSize: 13, color: '#8B97A8' }}&gt;NLP&lt;/Text&gt;&#10;            &lt;/Box&gt;&#10;          &lt;/Box&gt;&#10;          &lt;Text style={{ fontSize: 14.5, color: '#4A5568', lineHeight: 1.55, marginTop: 10 }}&gt;机器翻译、情感分析、文本摘要、问答系统、智能客服。&lt;/Text&gt;&#10;        &lt;/Box&gt;&#10;      &lt;/Box&gt;&#10;      &lt;Box style={{ flexDirection: 'row', gap: 20, flex: 1 }}&gt;&#10;        &lt;Box style={{ flex: 1, background: '#F7F9FC', border: '1px solid #E5E7EB', borderLeft: '5px solid #1E4FA8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microphone' style={{ fill: '#1E4FA8', width: 20, height: 20 }} /&gt;&#10;            &lt;/Box&gt;&#10;            &lt;Box&gt;&#10;              &lt;Text style={{ fontSize: 20, color: '#1A2230', fontWeight: 'bold' }}&gt;语音与多模态&lt;/Text&gt;&#10;              &lt;Text style={{ fontSize: 13, color: '#8B97A8' }}&gt;Speech &amp;amp; Multimodal&lt;/Text&gt;&#10;            &lt;/Box&gt;&#10;          &lt;/Box&gt;&#10;          &lt;Text style={{ fontSize: 14.5, color: '#4A5568', lineHeight: 1.55, marginTop: 10 }}&gt;语音识别/合成、文生图、视频理解、多模态助手。&lt;/Text&gt;&#10;        &lt;/Box&gt;&#10;        &lt;Box style={{ flex: 1, background: '#F7F9FC', border: '1px solid #E5E7EB', borderLeft: '5px solid #0E3F8C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chart-line' style={{ fill: '#0E3F8C', width: 20, height: 20 }} /&gt;&#10;            &lt;/Box&gt;&#10;            &lt;Box&gt;&#10;              &lt;Text style={{ fontSize: 20, color: '#1A2230', fontWeight: 'bold' }}&gt;推荐与决策&lt;/Text&gt;&#10;              &lt;Text style={{ fontSize: 13, color: '#8B97A8' }}&gt;Recommendation &amp;amp; Decision&lt;/Text&gt;&#10;            &lt;/Box&gt;&#10;          &lt;/Box&gt;&#10;          &lt;Text style={{ fontSize: 14.5, color: '#4A5568', lineHeight: 1.55, marginTop: 10 }}&gt;推荐系统、风控反欺诈、供应链预测、定价优化。&lt;/Text&gt;&#10;        &lt;/Box&gt;&#10;      &lt;/Box&gt;&#10;    &lt;/Box&gt;&#10;    &lt;Box style={{ width: 290, background: '#F0F5FC', border: '1px solid #D6DCE5', borderRadius: 14, padding: '26px 24px', justifyContent: 'center', flexShrink: 0 }}&gt;&#10;      &lt;Text style={{ fontSize: 44, color: '#0E3F8C', fontWeight: 'bold', lineHeight: 1.2 }}&gt;&#10;        感知 · 理解&#10;        &lt;br /&gt;&#10;        生成 · 决策&#10;      &lt;/Text&gt;&#10;      &lt;Text style={{ fontSize: 15, color: '#8B97A8', marginTop: 6 }}&gt;Perceive · Understand · Generate · Decide&lt;/Text&gt;&#10;      &lt;Box style={{ width: '100%', height: 2, background: '#D6DCE5', marginTop: 18 }} /&gt;&#10;      &lt;Text style={{ fontSize: 16, color: '#1A2230', lineHeight: 1.7, marginTop: 16 }}&gt;&#10;        四大领域殊途同归：&lt;span style={{ fontWeight: 'bold', color: '#0E3F8C' }}&gt;一切 AI 应用都在完成&quot;从输入到判断/输出&quot;的能力闭环&lt;/span&gt;。本周之后的实验，你将亲手打通这条链路。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571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四大应用领域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Application Domains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847725" y="1047750"/>
            <a:ext cx="3695700" cy="2543175"/>
          </a:xfrm>
          <a:prstGeom prst="roundRect">
            <a:avLst>
              <a:gd name="adj" fmla="val 449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8" name=""/>
          <p:cNvSpPr/>
          <p:nvPr/>
        </p:nvSpPr>
        <p:spPr>
          <a:xfrm rot="0" flipH="0" flipV="0">
            <a:off x="847725" y="1047750"/>
            <a:ext cx="3695700" cy="2543175"/>
          </a:xfrm>
          <a:custGeom>
            <a:pathLst>
              <a:path w="388" h="267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60"/>
                </a:lnTo>
                <a:cubicBezTo>
                  <a:pt x="5" y="263"/>
                  <a:pt x="7" y="266"/>
                  <a:pt x="10" y="267"/>
                </a:cubicBezTo>
                <a:cubicBezTo>
                  <a:pt x="4" y="266"/>
                  <a:pt x="0" y="261"/>
                  <a:pt x="0" y="25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1038225" y="1200150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33475" y="1295400"/>
            <a:ext cx="190500" cy="190500"/>
          </a:xfrm>
          <a:prstGeom prst="rect">
            <a:avLst/>
          </a:prstGeom>
          <a:ln/>
        </p:spPr>
      </p:pic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1533525" y="1200150"/>
            <a:ext cx="962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计算机视觉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1533525" y="1428750"/>
            <a:ext cx="962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Computer Vision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038225" y="1676400"/>
            <a:ext cx="32670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图像分类、目标检测、人脸识别、工业缺陷检测、自动驾驶感知。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4733925" y="1047750"/>
            <a:ext cx="3695700" cy="2543175"/>
          </a:xfrm>
          <a:prstGeom prst="roundRect">
            <a:avLst>
              <a:gd name="adj" fmla="val 449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5" name=""/>
          <p:cNvSpPr/>
          <p:nvPr/>
        </p:nvSpPr>
        <p:spPr>
          <a:xfrm rot="0" flipH="0" flipV="0">
            <a:off x="4733925" y="1047750"/>
            <a:ext cx="3695700" cy="2543175"/>
          </a:xfrm>
          <a:custGeom>
            <a:pathLst>
              <a:path w="388" h="267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60"/>
                </a:lnTo>
                <a:cubicBezTo>
                  <a:pt x="5" y="263"/>
                  <a:pt x="7" y="266"/>
                  <a:pt x="10" y="267"/>
                </a:cubicBezTo>
                <a:cubicBezTo>
                  <a:pt x="4" y="266"/>
                  <a:pt x="0" y="261"/>
                  <a:pt x="0" y="25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4924425" y="1200150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019675" y="1295400"/>
            <a:ext cx="190500" cy="190500"/>
          </a:xfrm>
          <a:prstGeom prst="rect">
            <a:avLst/>
          </a:prstGeom>
          <a:ln/>
        </p:spPr>
      </p:pic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5419725" y="1200150"/>
            <a:ext cx="1143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自然语言处理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5419725" y="1428750"/>
            <a:ext cx="1143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NLP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924425" y="1676400"/>
            <a:ext cx="32670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机器翻译、情感分析、文本摘要、问答系统、智能客服。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847725" y="3724275"/>
            <a:ext cx="3695700" cy="2276475"/>
          </a:xfrm>
          <a:prstGeom prst="roundRect">
            <a:avLst>
              <a:gd name="adj" fmla="val 502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2" name=""/>
          <p:cNvSpPr/>
          <p:nvPr/>
        </p:nvSpPr>
        <p:spPr>
          <a:xfrm rot="0" flipH="0" flipV="0">
            <a:off x="847725" y="3724275"/>
            <a:ext cx="3695700" cy="2276475"/>
          </a:xfrm>
          <a:custGeom>
            <a:pathLst>
              <a:path w="388" h="239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32"/>
                </a:lnTo>
                <a:cubicBezTo>
                  <a:pt x="5" y="235"/>
                  <a:pt x="7" y="238"/>
                  <a:pt x="10" y="239"/>
                </a:cubicBezTo>
                <a:cubicBezTo>
                  <a:pt x="4" y="238"/>
                  <a:pt x="0" y="233"/>
                  <a:pt x="0" y="227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1038225" y="3876675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133475" y="3971925"/>
            <a:ext cx="190500" cy="190500"/>
          </a:xfrm>
          <a:prstGeom prst="rect">
            <a:avLst/>
          </a:prstGeom>
          <a:ln/>
        </p:spPr>
      </p:pic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1533525" y="3876675"/>
            <a:ext cx="1238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语音与多模态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533525" y="4105275"/>
            <a:ext cx="1238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Speech &amp; Multimodal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1038225" y="4352925"/>
            <a:ext cx="3267075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语音识别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/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合成、文生图、视频理解、多模态助手。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4733925" y="3724275"/>
            <a:ext cx="3695700" cy="2276475"/>
          </a:xfrm>
          <a:prstGeom prst="roundRect">
            <a:avLst>
              <a:gd name="adj" fmla="val 502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4733925" y="3724275"/>
            <a:ext cx="3695700" cy="2276475"/>
          </a:xfrm>
          <a:custGeom>
            <a:pathLst>
              <a:path w="388" h="239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32"/>
                </a:lnTo>
                <a:cubicBezTo>
                  <a:pt x="5" y="235"/>
                  <a:pt x="7" y="238"/>
                  <a:pt x="10" y="239"/>
                </a:cubicBezTo>
                <a:cubicBezTo>
                  <a:pt x="4" y="238"/>
                  <a:pt x="0" y="233"/>
                  <a:pt x="0" y="227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0" name=""/>
          <p:cNvSpPr/>
          <p:nvPr/>
        </p:nvSpPr>
        <p:spPr>
          <a:xfrm rot="0" flipH="0" flipV="0">
            <a:off x="4924425" y="3876675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019675" y="3971925"/>
            <a:ext cx="190500" cy="190500"/>
          </a:xfrm>
          <a:prstGeom prst="rect">
            <a:avLst/>
          </a:prstGeom>
          <a:ln/>
        </p:spPr>
      </p:pic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419725" y="3876675"/>
            <a:ext cx="1666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推荐与决策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5419725" y="4105275"/>
            <a:ext cx="1666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Recommendation &amp; Decision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4924425" y="4352925"/>
            <a:ext cx="3267075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推荐系统、风控反欺诈、供应链预测、定价优化。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8629650" y="1047750"/>
            <a:ext cx="2762250" cy="4953000"/>
          </a:xfrm>
          <a:prstGeom prst="roundRect">
            <a:avLst>
              <a:gd name="adj" fmla="val 48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8858250" y="1924050"/>
            <a:ext cx="2305050" cy="1209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300" b="1">
                <a:solidFill>
                  <a:srgbClr val="0E3F8C"/>
                </a:solidFill>
                <a:latin typeface="Source Han Sans SC"/>
                <a:ea typeface="Source Han Sans SC"/>
              </a:rPr>
              <a:t>感知</a:t>
            </a:r>
            <a:r>
              <a:rPr lang="en-US" sz="3300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3300" b="1">
                <a:solidFill>
                  <a:srgbClr val="0E3F8C"/>
                </a:solidFill>
                <a:latin typeface="Source Han Sans SC"/>
                <a:ea typeface="Source Han Sans SC"/>
              </a:rPr>
              <a:t>理解</a:t>
            </a:r>
            <a:endParaRPr/>
          </a:p>
          <a:p>
            <a:pPr>
              <a:lnSpc>
                <a:spcPct val="120000"/>
              </a:lnSpc>
            </a:pPr>
            <a:r>
              <a:rPr lang="zh-CN" sz="3300" b="1">
                <a:solidFill>
                  <a:srgbClr val="0E3F8C"/>
                </a:solidFill>
                <a:latin typeface="Source Han Sans SC"/>
                <a:ea typeface="Source Han Sans SC"/>
              </a:rPr>
              <a:t>生成</a:t>
            </a:r>
            <a:r>
              <a:rPr lang="en-US" sz="3300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3300" b="1">
                <a:solidFill>
                  <a:srgbClr val="0E3F8C"/>
                </a:solidFill>
                <a:latin typeface="Source Han Sans SC"/>
                <a:ea typeface="Source Han Sans SC"/>
              </a:rPr>
              <a:t>决策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858250" y="3190875"/>
            <a:ext cx="23050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Perceive · Understand · Generate · Decide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8858250" y="3705225"/>
            <a:ext cx="230505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8858250" y="3876675"/>
            <a:ext cx="2305050" cy="1247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四大领域殊途同归：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一切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AI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应用都在完成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"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从输入到判断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/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输出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"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的能力闭环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。本周之后的实验，你将亲手打通这条链路。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14 / 32</a:t>
            </a:r>
            <a:endParaRPr/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18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改变一切的六个突破 · Six Breakthroughs&lt;/Text&gt;&#10;    &lt;Text style={{ fontSize: 15, color: 'rgba(255,255,255,0.85)' }}&gt;Domains &amp;amp; Careers · Part 03&lt;/Text&gt;&#10;  &lt;/Box&gt;&#10;  &lt;Box style={{ position: 'absolute', top: 100, left: 0, width: '100%', height: 340, padding: '10px 84px', flexDirection: 'row', gap: 16, alignItems: 'stretch' }}&gt;&#10;    {[&#10;      { y: '2012', t: 'AlexNet', d: '深度学习引爆点：ImageNet 错误率骤降 10 个百分点，GPU 训练成为标配。', e: 'Deep learning ignition' },&#10;      { y: '2016', t: 'AlphaGo', d: '强化学习击败李世石，&quot;直觉&quot;式的落子颠覆认知，全民 AI 热潮。', e: 'RL beats world champion' },&#10;      { y: '2017', t: 'Transformer', d: '《Attention Is All You Need》：注意力机制成为今天所有大模型的底座。', e: 'Foundation of all LLMs' },&#10;      { y: '2020', t: 'GPT-3', d: '1750 亿参数，少样本学习：模型规模首次带来能力涌现。', e: 'Scale brings emergence' },&#10;      { y: '2022', t: 'ChatGPT', d: '两个月破亿用户，对话式 AI 进入日常，生成式 AI 元年。', e: 'GenAI goes mainstream' },&#10;      { y: '2023+', t: '多模态', d: 'GPT-4V / Gemini：文本、图像、语音、视频统一理解与生成。', e: 'Multimodal era' },&#10;    ].map((b, i) =&gt; (&#10;      &lt;Box key={i} style={{ flex: 1, flexDirection: 'column' }}&gt;&#10;        &lt;Box style={{ height: 46, background: i &lt; 5 ? '#1E4FA8' : '#0E3F8C', borderRadius: 10, justifyContent: 'center', alignItems: 'center' }}&gt;&#10;          &lt;Text style={{ fontSize: 19, color: '#FFFFFF', fontWeight: 'bold' }}&gt;{b.y}&lt;/Text&gt;&#10;        &lt;/Box&gt;&#10;        &lt;Box style={{ flex: 1, background: '#F7F9FC', border: '1px solid #E5E7EB', borderTop: 'none', borderRadius: '0 0 10px 10px', padding: '14px 13px' }}&gt;&#10;          &lt;Text style={{ fontSize: 17, color: '#1A2230', fontWeight: 'bold' }}&gt;{b.t}&lt;/Text&gt;&#10;          &lt;Text style={{ fontSize: 12, color: '#8B97A8', marginTop: 1 }}&gt;{b.e}&lt;/Text&gt;&#10;          &lt;Text style={{ fontSize: 13, color: '#4A5568', lineHeight: 1.6, marginTop: 8 }}&gt;{b.d}&lt;/Text&gt;&#10;        &lt;/Box&gt;&#10;      &lt;/Box&gt;&#10;    ))}&#10;  &lt;/Box&gt;&#10;  &lt;Box style={{ position: 'absolute', top: 470, left: 0, width: '100%', height: 176, padding: '6px 84px' }}&gt;&#10;    &lt;Box style={{ width: '100%', height: '100%', background: '#F0F5FC', border: '1px solid #D6DCE5', borderRadius: 12, padding: '16px 24px', justifyContent: 'center' }}&gt;&#10;      &lt;Text style={{ fontSize: 17, color: '#0E3F8C', fontWeight: 'bold' }}&gt;看懂这条时间轴的三个视角 · How to Read This Timeline&lt;/Text&gt;&#10;      &lt;Box style={{ flexDirection: 'row', gap: 22, marginTop: 12 }}&gt;&#10;        {[&#10;          { k: '节奏在加快', v: 'AlexNet 到 ChatGPT 用了 10 年；此后每一年都是里程碑。' },&#10;          { k: '范式在收敛', v: '不同任务（CV / NLP / 语音）最终都走向 Transformer 统一架构。' },&#10;          { k: '门槛在降低', v: '从论文到产品的时间从数年缩到数月——这正是应用工程师的窗口。' },&#10;        ].map((t, i) =&gt; (&#10;          &lt;Box key={i} style={{ flex: 1, background: '#FFFFFF', borderRadius: 8, padding: '12px 16px', borderLeft: '4px solid #1E4FA8' }}&gt;&#10;            &lt;Text style={{ fontSize: 15, color: '#1A2230', fontWeight: 'bold' }}&gt;{t.k}&lt;/Text&gt;&#10;            &lt;Text style={{ fontSize: 13.5, color: '#4A5568', lineHeight: 1.6, marginTop: 4 }}&gt;{t.v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71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改变一切的六个突破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Six Breakthroughs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9429750" y="295275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Domains &amp; Careers · Part 03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8001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419225" y="1162050"/>
            <a:ext cx="400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2012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8001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9239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AlexNet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9239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Deep learning ignition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923925" y="2047875"/>
            <a:ext cx="13906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深度学习引爆点：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ImageNet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错误率骤降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10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个百分点，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GPU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训练成为标配。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25908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3209925" y="1162050"/>
            <a:ext cx="400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2016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25908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27146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AlphaGo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27146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RL beats world champion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2714625" y="2047875"/>
            <a:ext cx="13906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强化学习击败李世石，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直觉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式的落子颠覆认知，全民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热潮。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43815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5000625" y="1162050"/>
            <a:ext cx="400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2017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3815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5053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Transformer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5053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Foundation of all LLMs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4505325" y="2047875"/>
            <a:ext cx="13906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《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Attention Is All You Need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》：注意力机制成为今天所有大模型的底座。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61722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6772275" y="1162050"/>
            <a:ext cx="4381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2020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61722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2960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GPT-3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62960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Scale brings emergence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296025" y="2047875"/>
            <a:ext cx="13906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1750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亿参数，少样本学习：模型规模首次带来能力涌现。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79629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8562975" y="1162050"/>
            <a:ext cx="4381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2022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79629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0867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ChatGPT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80867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GenAI goes mainstream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086725" y="2047875"/>
            <a:ext cx="13906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两个月破亿用户，对话式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进入日常，生成式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元年。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97536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0296525" y="1162050"/>
            <a:ext cx="5524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2023+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97536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98774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多模态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98774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Multimodal era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9877425" y="2047875"/>
            <a:ext cx="13906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GPT-4V / Gemini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：文本、图像、语音、视频统一理解与生成。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800100" y="4533900"/>
            <a:ext cx="10591800" cy="1562100"/>
          </a:xfrm>
          <a:prstGeom prst="roundRect">
            <a:avLst>
              <a:gd name="adj" fmla="val 731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028700" y="4695825"/>
            <a:ext cx="1013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看懂这条时间轴的三个视角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How to Read This Timeline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1066800" y="5010150"/>
            <a:ext cx="323850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6" name=""/>
          <p:cNvSpPr/>
          <p:nvPr/>
        </p:nvSpPr>
        <p:spPr>
          <a:xfrm rot="0" flipH="0" flipV="0">
            <a:off x="1066800" y="5010150"/>
            <a:ext cx="3238500" cy="933450"/>
          </a:xfrm>
          <a:custGeom>
            <a:pathLst>
              <a:path w="340" h="9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4"/>
                </a:lnTo>
                <a:cubicBezTo>
                  <a:pt x="4" y="96"/>
                  <a:pt x="5" y="98"/>
                  <a:pt x="7" y="98"/>
                </a:cubicBezTo>
                <a:cubicBezTo>
                  <a:pt x="3" y="98"/>
                  <a:pt x="0" y="94"/>
                  <a:pt x="0" y="9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1219200" y="5124450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节奏在加快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1219200" y="5334000"/>
            <a:ext cx="2895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AlexNet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到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ChatGPT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用了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10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年；此后每一年都是里程碑。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4514850" y="5010150"/>
            <a:ext cx="323850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0" name=""/>
          <p:cNvSpPr/>
          <p:nvPr/>
        </p:nvSpPr>
        <p:spPr>
          <a:xfrm rot="0" flipH="0" flipV="0">
            <a:off x="4514850" y="5010150"/>
            <a:ext cx="3238500" cy="933450"/>
          </a:xfrm>
          <a:custGeom>
            <a:pathLst>
              <a:path w="340" h="9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4"/>
                </a:lnTo>
                <a:cubicBezTo>
                  <a:pt x="4" y="96"/>
                  <a:pt x="5" y="98"/>
                  <a:pt x="7" y="98"/>
                </a:cubicBezTo>
                <a:cubicBezTo>
                  <a:pt x="3" y="98"/>
                  <a:pt x="0" y="94"/>
                  <a:pt x="0" y="9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4667250" y="5124450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范式在收敛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667250" y="5334000"/>
            <a:ext cx="2895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不同任务（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CV / NLP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语音）最终都走向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Transformer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统一架构。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7962900" y="5010150"/>
            <a:ext cx="323850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4" name=""/>
          <p:cNvSpPr/>
          <p:nvPr/>
        </p:nvSpPr>
        <p:spPr>
          <a:xfrm rot="0" flipH="0" flipV="0">
            <a:off x="7962900" y="5010150"/>
            <a:ext cx="3238500" cy="933450"/>
          </a:xfrm>
          <a:custGeom>
            <a:pathLst>
              <a:path w="340" h="9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4"/>
                </a:lnTo>
                <a:cubicBezTo>
                  <a:pt x="4" y="96"/>
                  <a:pt x="5" y="98"/>
                  <a:pt x="7" y="98"/>
                </a:cubicBezTo>
                <a:cubicBezTo>
                  <a:pt x="3" y="98"/>
                  <a:pt x="0" y="94"/>
                  <a:pt x="0" y="9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115300" y="5124450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门槛在降低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115300" y="5334000"/>
            <a:ext cx="2895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从论文到产品的时间从数年缩到数月——这正是应用工程师的窗口。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15 / 32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239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职业方向 · Career Paths&lt;/Text&gt;&#10;    &lt;Text style={{ fontSize: 15, color: 'rgba(255,255,255,0.85)' }}&gt;Module 1 · Week 1&lt;/Text&gt;&#10;  &lt;/Box&gt;&#10;  &lt;Box style={{ position: 'absolute', top: 100, left: 0, width: '100%', height: 540, padding: '16px 84px', flexDirection: 'row', gap: 26 }}&gt;&#10;    &lt;Box style={{ width: 270, background: '#0E3F8C', borderRadius: 14, padding: '26px 24px', justifyContent: 'space-between', flexShrink: 0 }}&gt;&#10;      &lt;Text style={{ fontSize: 40, color: '#FFFFFF', fontWeight: 'bold', lineHeight: 1.3 }}&gt;&#10;        4 类角色&#10;        &lt;br /&gt;&#10;        &lt;span style={{ fontSize: 22, fontWeight: '600' }}&gt;4 Career Roles&lt;/span&gt;&#10;      &lt;/Text&gt;&#10;      &lt;Box&gt;&#10;        &lt;Box style={{ width: '100%', height: 2, background: 'rgba(255,255,255,0.25)', marginBottom: 14 }} /&gt;&#10;        &lt;Text style={{ fontSize: 15, color: 'rgba(255,255,255,0.9)', lineHeight: 1.7 }}&gt;&#10;          不必成为算法研究员 —— 工程能力就是你的差异化优势。&#10;        &lt;/Text&gt;&#10;      &lt;/Box&gt;&#10;    &lt;/Box&gt;&#10;    &lt;Box style={{ flex: 1, justifyContent: 'center', gap: 12 }}&gt;&#10;      {[&#10;        { r: '机器学习工程师', e: 'ML Engineer', w: '训练、评估、部署、监控模型；构建 ML 流水线', m: 'M1–2, M4', c: '#1E4FA8' },&#10;        { r: 'AI 应用工程师', e: 'AI Application Engineer', w: '基于 LLM / API 构建应用：RAG、Agent、产品集成', m: 'M3–4', c: '#3D7BD9' },&#10;        { r: '数据科学家', e: 'Data Scientist', w: '业务问题建模、数据分析、实验设计与洞察', m: 'M1', c: '#1E4FA8' },&#10;        { r: 'MLOps / 平台工程师', e: 'MLOps Engineer', w: 'CI/CD、模型服务、监控与可靠性工程', m: 'M4', c: '#0E3F8C' },&#10;      ].map((j, i) =&gt; (&#10;        &lt;Box key={i} style={{ flexDirection: 'row', alignItems: 'center', gap: 16, background: '#F7F9FC', border: '1px solid #E5E7EB', borderLeft: '5px solid ' + j.c, borderRadius: 10, padding: '13px 20px' }}&gt;&#10;          &lt;Box style={{ width: 46, height: 46, borderRadius: 12, background: '#E8EFF8', justifyContent: 'center', alignItems: 'center', flexShrink: 0 }}&gt;&#10;            &lt;Text style={{ fontSize: 17, color: j.c, fontWeight: 'bold' }}&gt;{i + 1}&lt;/Text&gt;&#10;          &lt;/Box&gt;&#10;          &lt;Box style={{ flex: 1 }}&gt;&#10;            &lt;Box style={{ flexDirection: 'row', alignItems: 'baseline', gap: 10 }}&gt;&#10;              &lt;Text style={{ fontSize: 20, color: '#1A2230', fontWeight: 'bold' }}&gt;{j.r}&lt;/Text&gt;&#10;              &lt;Text style={{ fontSize: 14, color: '#8B97A8' }}&gt;{j.e}&lt;/Text&gt;&#10;            &lt;/Box&gt;&#10;            &lt;Text style={{ fontSize: 14.5, color: '#4A5568', marginTop: 2 }}&gt;{j.w}&lt;/Text&gt;&#10;          &lt;/Box&gt;&#10;          &lt;Box style={{ background: j.c, borderRadius: 8, padding: '5px 12px', flexShrink: 0 }}&gt;&#10;            &lt;Text style={{ fontSize: 13, color: '#FFFFFF', fontWeight: 'bold' }}&gt;{j.m}&lt;/Text&gt;&#10;          &lt;/Box&gt;&#10;        &lt;/Box&gt;&#10;      ))}&#10;      &lt;Box style={{ borderLeft: '4px solid #0E3F8C', paddingLeft: 16, marginTop: 4 }}&gt;&#10;        &lt;Text style={{ fontSize: 16, color: '#1A2230', lineHeight: 1.6 }}&gt;&#10;          &lt;span style={{ fontWeight: 'bold', color: '#0E3F8C' }}&gt;对 SE 学生最有杠杆：&lt;/span&gt;AI 应用工程师 与 MLOps —— 本课程 Module 3–4 直击这两个方向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390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职业方向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Career Paths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800100" y="1104900"/>
            <a:ext cx="2571750" cy="4838700"/>
          </a:xfrm>
          <a:prstGeom prst="roundRect">
            <a:avLst>
              <a:gd name="adj" fmla="val 51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1028700" y="1352550"/>
            <a:ext cx="2114550" cy="9239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3000" b="1">
                <a:solidFill>
                  <a:srgbClr val="FFFFFF"/>
                </a:solidFill>
                <a:latin typeface="Source Han Sans SC"/>
                <a:ea typeface="Source Han Sans SC"/>
              </a:rPr>
              <a:t>4 </a:t>
            </a:r>
            <a:r>
              <a:rPr lang="zh-CN" sz="3000" b="1">
                <a:solidFill>
                  <a:srgbClr val="FFFFFF"/>
                </a:solidFill>
                <a:latin typeface="Source Han Sans SC"/>
                <a:ea typeface="Source Han Sans SC"/>
              </a:rPr>
              <a:t>类角色</a:t>
            </a:r>
            <a:endParaRPr/>
          </a:p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4 Career Roles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1028700" y="4953000"/>
            <a:ext cx="211455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028700" y="5105400"/>
            <a:ext cx="21145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不必成为算法研究员</a:t>
            </a:r>
            <a:r>
              <a:rPr lang="en-US" sz="1125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 —— </a:t>
            </a:r>
            <a:r>
              <a:rPr lang="zh-CN" sz="1125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工程能力就是你的差异化优势。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3667125" y="17621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3667125" y="17621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0" name=""/>
          <p:cNvSpPr/>
          <p:nvPr/>
        </p:nvSpPr>
        <p:spPr>
          <a:xfrm rot="0" flipH="0" flipV="0">
            <a:off x="3857625" y="18859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048125" y="2009775"/>
            <a:ext cx="66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4448175" y="1895475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机器学习工程师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5876925" y="18954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ML Engineer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4448175" y="2143125"/>
            <a:ext cx="576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训练、评估、部署、监控模型；构建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ML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流水线</a:t>
            </a:r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10363200" y="1981200"/>
            <a:ext cx="838200" cy="247650"/>
          </a:xfrm>
          <a:prstGeom prst="roundRect">
            <a:avLst>
              <a:gd name="adj" fmla="val 3076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0477500" y="2028825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M1–2, M4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3667125" y="25622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3667125" y="25622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3857625" y="26860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4029075" y="2809875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D7BD9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4448175" y="2695575"/>
            <a:ext cx="1200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应用工程师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5743575" y="2695575"/>
            <a:ext cx="1447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Engineer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4448175" y="2943225"/>
            <a:ext cx="6000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基于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LLM / API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构建应用：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RAG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、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Agent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、产品集成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10601325" y="2781300"/>
            <a:ext cx="600075" cy="247650"/>
          </a:xfrm>
          <a:prstGeom prst="roundRect">
            <a:avLst>
              <a:gd name="adj" fmla="val 3076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0715625" y="2828925"/>
            <a:ext cx="371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M3–4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3667125" y="33623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7" name=""/>
          <p:cNvSpPr/>
          <p:nvPr/>
        </p:nvSpPr>
        <p:spPr>
          <a:xfrm rot="0" flipH="0" flipV="0">
            <a:off x="3667125" y="33623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8" name=""/>
          <p:cNvSpPr/>
          <p:nvPr/>
        </p:nvSpPr>
        <p:spPr>
          <a:xfrm rot="0" flipH="0" flipV="0">
            <a:off x="3857625" y="34861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4029075" y="3609975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4448175" y="3495675"/>
            <a:ext cx="95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数据科学家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495925" y="3495675"/>
            <a:ext cx="876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Data Scientist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4448175" y="3743325"/>
            <a:ext cx="6200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业务问题建模、数据分析、实验设计与洞察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10801350" y="3581400"/>
            <a:ext cx="400050" cy="247650"/>
          </a:xfrm>
          <a:prstGeom prst="roundRect">
            <a:avLst>
              <a:gd name="adj" fmla="val 3076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0915650" y="3629025"/>
            <a:ext cx="1714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M1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3667125" y="41624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76" name=""/>
          <p:cNvSpPr/>
          <p:nvPr/>
        </p:nvSpPr>
        <p:spPr>
          <a:xfrm rot="0" flipH="0" flipV="0">
            <a:off x="3667125" y="41624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3857625" y="42862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4029075" y="4410075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4448175" y="4295775"/>
            <a:ext cx="1828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Source Han Sans SC"/>
                <a:ea typeface="Source Han Sans SC"/>
              </a:rPr>
              <a:t>MLOps / </a:t>
            </a: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平台工程师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6372225" y="4295775"/>
            <a:ext cx="10382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MLOps Engineer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4448175" y="4543425"/>
            <a:ext cx="6181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CI/CD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、模型服务、监控与可靠性工程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10782300" y="4381500"/>
            <a:ext cx="419100" cy="247650"/>
          </a:xfrm>
          <a:prstGeom prst="roundRect">
            <a:avLst>
              <a:gd name="adj" fmla="val 3076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0896600" y="4429125"/>
            <a:ext cx="190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M4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3619500" y="5000625"/>
            <a:ext cx="7810500" cy="295275"/>
          </a:xfrm>
          <a:custGeom>
            <a:pathLst>
              <a:path w="820" h="31">
                <a:moveTo>
                  <a:pt x="0" y="0"/>
                </a:moveTo>
                <a:lnTo>
                  <a:pt x="4" y="0"/>
                </a:lnTo>
                <a:lnTo>
                  <a:pt x="4" y="31"/>
                </a:lnTo>
                <a:lnTo>
                  <a:pt x="0" y="3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3810000" y="5000625"/>
            <a:ext cx="75819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对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SE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学生最有杠杆：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应用工程师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与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MLOps ——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本课程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Module 3–4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直击这两个方向。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16 / 32</a:t>
            </a:r>
            <a:endParaRPr/>
          </a:p>
        </p:txBody>
      </p:sp>
    </p:spTree>
  </p:cSld>
</p:sld>
</file>

<file path=ppt/slides/slide1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8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AI 伦理与工程师责任 · Ethics &amp;amp; Responsibility&lt;/Text&gt;&#10;    &lt;Text style={{ fontSize: 15, color: 'rgba(255,255,255,0.85)' }}&gt;Domains &amp;amp; Careers · Part 03&lt;/Text&gt;&#10;  &lt;/Box&gt;&#10;  &lt;Box style={{ position: 'absolute', top: 96, left: 0, width: '100%', height: 380, padding: '6px 84px', flexDirection: 'row', gap: 16 }}&gt;&#10;    {[&#10;      { i: 'balance-scale', t: '偏见与公平', e: 'Bias', d: '训练数据带着历史偏见，模型会学并放大它。', ex: '招聘模型歧视女性简历（Amazon 2018 弃用）', c: '#1E4FA8' },&#10;      { i: 'user-shield', t: '隐私与数据', e: 'Privacy', d: '模型可能&quot;记住&quot;并泄露训练数据中的个人信息。', ex: '对话模型吐出训练集中的手机号', c: '#3D7BD9' },&#10;      { i: 'comment-dots', t: '幻觉与误用', e: 'Hallucination', d: '生成模型会一本正经地编造事实，扩散模型可造假。', ex: 'AI 引用的论文并不存在；Deepfake 诈骗', c: '#0E3F8C' },&#10;      { i: 'briefcase', t: '责任归属', e: 'Accountability', d: 'AI 系统出错，责任在开发者、部署方还是使用者？', ex: '自动驾驶事故的责任链', c: '#8B97A8' },&#10;    ].map((r, i) =&gt; (&#10;      &lt;Box key={i} style={{ flex: 1, background: '#F7F9FC', border: '1px solid #E5E7EB', borderTop: '5px solid ' + r.c, borderRadius: 12, padding: '20px 18px' }}&gt;&#10;        &lt;Box style={{ width: 44, height: 44, borderRadius: 12, background: r.c, justifyContent: 'center', alignItems: 'center' }}&gt;&#10;          &lt;FAIcon name={r.i} style={{ fill: '#FFFFFF', width: 20, height: 20 }} /&gt;&#10;        &lt;/Box&gt;&#10;        &lt;Text style={{ fontSize: 18, color: '#1A2230', fontWeight: 'bold', marginTop: 14 }}&gt;{r.t}&lt;/Text&gt;&#10;        &lt;Text style={{ fontSize: 12.5, color: '#8B97A8' }}&gt;{r.e}&lt;/Text&gt;&#10;        &lt;Text style={{ fontSize: 14, color: '#4A5568', lineHeight: 1.65, marginTop: 10 }}&gt;{r.d}&lt;/Text&gt;&#10;        &lt;Box style={{ background: '#FFFFFF', borderRadius: 8, padding: '9px 12px', marginTop: 12, border: '1px solid #E5E7EB' }}&gt;&#10;          &lt;Text style={{ fontSize: 12.5, color: '#8B97A8' }}&gt;案例&lt;/Text&gt;&#10;          &lt;Text style={{ fontSize: 13, color: '#1A2230', lineHeight: 1.5, marginTop: 2 }}&gt;{r.ex}&lt;/Text&gt;&#10;        &lt;/Box&gt;&#10;      &lt;/Box&gt;&#10;    ))}&#10;  &lt;/Box&gt;&#10;  &lt;Box style={{ position: 'absolute', top: 492, left: 0, width: '100%', height: 154, padding: '6px 84px' }}&gt;&#10;    &lt;Box style={{ width: '100%', height: '100%', background: '#0E3F8C', borderRadius: 12, padding: '16px 26px', flexDirection: 'row', alignItems: 'center', gap: 26 }}&gt;&#10;      &lt;Box style={{ flexShrink: 0, alignItems: 'center' }}&gt;&#10;        &lt;Text style={{ fontSize: 15, color: 'rgba(255,255,255,0.75)' }}&gt;本课程立场&lt;/Text&gt;&#10;        &lt;Text style={{ fontSize: 24, color: '#FFFFFF', fontWeight: 'bold', marginTop: 2 }}&gt;建设者的责任&lt;/Text&gt;&#10;      &lt;/Box&gt;&#10;      &lt;Box style={{ width: 2, height: 100, background: 'rgba(255,255,255,0.25)' }} /&gt;&#10;      &lt;Text style={{ fontSize: 15.5, color: 'rgba(255,255,255,0.95)', lineHeight: 1.7, flex: 1 }}&gt;&#10;        你将来交付的每个 AI 应用，偏见、隐私、幻觉问题都不是&quot;别人关心的事&quot;——是&lt;b&gt;你的代码要回答的问题&lt;/b&gt;。&#10;        本课程的每次作业评分都包含一栏「伦理考量」：哪怕只有两句话，也要回答&quot;这个系统可能伤到谁&quot;。&#10;        &lt;span style={{ fontSize: 13, color: 'rgba(255,255,255,0.7)' }}&gt;Every deliverable in this course includes an ethics note: who could this system harm, and what did you do about it?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505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AI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伦理与工程师责任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Ethics &amp; Responsibility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9429750" y="295275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Domains &amp; Careers · Part 03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80010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80010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5" name=""/>
          <p:cNvSpPr/>
          <p:nvPr/>
        </p:nvSpPr>
        <p:spPr>
          <a:xfrm rot="0" flipH="0" flipV="0">
            <a:off x="97155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2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1323975"/>
            <a:ext cx="190500" cy="190500"/>
          </a:xfrm>
          <a:prstGeom prst="rect">
            <a:avLst/>
          </a:prstGeom>
          <a:ln/>
        </p:spPr>
      </p:pic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97155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偏见与公平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971550" y="1971675"/>
            <a:ext cx="2190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Bias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971550" y="2209800"/>
            <a:ext cx="21907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训练数据带着历史偏见，模型会学并放大它。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971550" y="285750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1085850" y="2943225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案例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85850" y="3105150"/>
            <a:ext cx="19621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1A2230"/>
                </a:solidFill>
                <a:latin typeface="Source Han Sans SC"/>
                <a:ea typeface="Source Han Sans SC"/>
              </a:rPr>
              <a:t>招聘模型歧视女性简历（</a:t>
            </a:r>
            <a:r>
              <a:rPr lang="en-US" sz="975">
                <a:solidFill>
                  <a:srgbClr val="1A2230"/>
                </a:solidFill>
                <a:latin typeface="Source Han Sans SC"/>
                <a:ea typeface="Source Han Sans SC"/>
              </a:rPr>
              <a:t>Amazon 2018 </a:t>
            </a:r>
            <a:r>
              <a:rPr lang="zh-CN" sz="975">
                <a:solidFill>
                  <a:srgbClr val="1A2230"/>
                </a:solidFill>
                <a:latin typeface="Source Han Sans SC"/>
                <a:ea typeface="Source Han Sans SC"/>
              </a:rPr>
              <a:t>弃用）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48615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4" name=""/>
          <p:cNvSpPr/>
          <p:nvPr/>
        </p:nvSpPr>
        <p:spPr>
          <a:xfrm rot="0" flipH="0" flipV="0">
            <a:off x="348615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5" name=""/>
          <p:cNvSpPr/>
          <p:nvPr/>
        </p:nvSpPr>
        <p:spPr>
          <a:xfrm rot="0" flipH="0" flipV="0">
            <a:off x="36576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3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71900" y="1323975"/>
            <a:ext cx="190500" cy="190500"/>
          </a:xfrm>
          <a:prstGeom prst="rect">
            <a:avLst/>
          </a:prstGeom>
          <a:ln/>
        </p:spPr>
      </p:pic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65760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隐私与数据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3657600" y="1971675"/>
            <a:ext cx="2190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Privacy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657600" y="2209800"/>
            <a:ext cx="21907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模型可能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记住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并泄露训练数据中的个人信息。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3657600" y="2857500"/>
            <a:ext cx="219075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3771900" y="2943225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案例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3771900" y="3105150"/>
            <a:ext cx="19621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1A2230"/>
                </a:solidFill>
                <a:latin typeface="Source Han Sans SC"/>
                <a:ea typeface="Source Han Sans SC"/>
              </a:rPr>
              <a:t>对话模型吐出训练集中的手机号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617220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617220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5" name=""/>
          <p:cNvSpPr/>
          <p:nvPr/>
        </p:nvSpPr>
        <p:spPr>
          <a:xfrm rot="0" flipH="0" flipV="0">
            <a:off x="634365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57950" y="1323975"/>
            <a:ext cx="190500" cy="190500"/>
          </a:xfrm>
          <a:prstGeom prst="rect">
            <a:avLst/>
          </a:prstGeom>
          <a:ln/>
        </p:spPr>
      </p:pic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34365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幻觉与误用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6343650" y="1971675"/>
            <a:ext cx="2190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Hallucination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343650" y="2209800"/>
            <a:ext cx="21907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生成模型会一本正经地编造事实，扩散模型可造假。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6343650" y="285750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457950" y="2943225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案例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6457950" y="3105150"/>
            <a:ext cx="19621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975">
                <a:solidFill>
                  <a:srgbClr val="1A2230"/>
                </a:solidFill>
                <a:latin typeface="Source Han Sans SC"/>
                <a:ea typeface="Source Han Sans SC"/>
              </a:rPr>
              <a:t>引用的论文并不存在；</a:t>
            </a:r>
            <a:r>
              <a:rPr lang="en-US" sz="975">
                <a:solidFill>
                  <a:srgbClr val="1A2230"/>
                </a:solidFill>
                <a:latin typeface="Source Han Sans SC"/>
                <a:ea typeface="Source Han Sans SC"/>
              </a:rPr>
              <a:t>Deepfake </a:t>
            </a:r>
            <a:r>
              <a:rPr lang="zh-CN" sz="975">
                <a:solidFill>
                  <a:srgbClr val="1A2230"/>
                </a:solidFill>
                <a:latin typeface="Source Han Sans SC"/>
                <a:ea typeface="Source Han Sans SC"/>
              </a:rPr>
              <a:t>诈骗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885825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4" name=""/>
          <p:cNvSpPr/>
          <p:nvPr/>
        </p:nvSpPr>
        <p:spPr>
          <a:xfrm rot="0" flipH="0" flipV="0">
            <a:off x="885825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325" name=""/>
          <p:cNvSpPr/>
          <p:nvPr/>
        </p:nvSpPr>
        <p:spPr>
          <a:xfrm rot="0" flipH="0" flipV="0">
            <a:off x="90297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8B97A8"/>
          </a:solidFill>
          <a:ln/>
        </p:spPr>
        <p:txBody>
          <a:bodyPr/>
          <a:p/>
        </p:txBody>
      </p:sp>
      <p:pic>
        <p:nvPicPr>
          <p:cNvPr id="3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144000" y="1323975"/>
            <a:ext cx="190500" cy="190500"/>
          </a:xfrm>
          <a:prstGeom prst="rect">
            <a:avLst/>
          </a:prstGeom>
          <a:ln/>
        </p:spPr>
      </p:pic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902970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责任归属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9029700" y="1971675"/>
            <a:ext cx="2190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Accountability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9029700" y="2209800"/>
            <a:ext cx="21907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系统出错，责任在开发者、部署方还是使用者？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9029700" y="2857500"/>
            <a:ext cx="219075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9144000" y="2943225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案例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9144000" y="3105150"/>
            <a:ext cx="19621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1A2230"/>
                </a:solidFill>
                <a:latin typeface="Source Han Sans SC"/>
                <a:ea typeface="Source Han Sans SC"/>
              </a:rPr>
              <a:t>自动驾驶事故的责任链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800100" y="4743450"/>
            <a:ext cx="10591800" cy="1352550"/>
          </a:xfrm>
          <a:prstGeom prst="roundRect">
            <a:avLst>
              <a:gd name="adj" fmla="val 845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381125" y="5191125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本课程立场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1047750" y="5381625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Source Han Sans SC"/>
                <a:ea typeface="Source Han Sans SC"/>
              </a:rPr>
              <a:t>建设者的责任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2667000" y="4943475"/>
            <a:ext cx="19050" cy="95250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2933700" y="4991100"/>
            <a:ext cx="821055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你将来交付的每个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 AI 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应用，偏见、隐私、幻觉问题都不是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别人关心的事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"——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是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你的代码要回答的问题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。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 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本课程的每次作业评分都包含一栏「伦理考量」：哪怕只有两句话，也要回答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这个系统可能伤到谁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。</a:t>
            </a:r>
            <a:r>
              <a:rPr lang="en-US" sz="975">
                <a:solidFill>
                  <a:srgbClr val="FFFFFF">
                    <a:alpha val="70000"/>
                  </a:srgbClr>
                </a:solidFill>
                <a:latin typeface="Source Han Sans SC"/>
                <a:ea typeface="Source Han Sans SC"/>
              </a:rPr>
              <a:t>Every deliverable in this course includes an ethics note: who could this system harm, and what did you do about it?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10944225" y="6496050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17 / 32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340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4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4&lt;/Text&gt;&#10;      &lt;/Box&gt;&#10;      &lt;Box style={{ paddingTop: 6 }}&gt;&#10;        &lt;Text style={{ fontSize: 44, color: '#1A2230', fontWeight: 'bold' }}&gt;AI 项目生命周期&lt;/Text&gt;&#10;        &lt;Text style={{ fontSize: 26, color: '#8B97A8', fontWeight: '600', marginTop: 6 }}&gt;The AI Project Lifecycle&lt;/Text&gt;&#10;      &lt;/Box&gt;&#10;    &lt;/Box&gt;&#10;    &lt;Box style={{ flexDirection: 'row', gap: 24 }}&gt;&#10;      {[&#10;        { t: '六阶段', e: '6 Stages' },&#10;        { t: '80% 法则', e: 'The 80% Rule' },&#10;        { t: 'Capstone 路线图', e: 'Your Capstone Roadmap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0480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项目生命周期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048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The AI Project Lifecycle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9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六阶段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6 Stages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3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80%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法则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The 80% Rule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Capstone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路线图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Your Capstone Roadmap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0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项目生命周期六阶段 · The 6-Stage Lifecycle&lt;/Text&gt;&#10;    &lt;Text style={{ fontSize: 15, color: 'rgba(255,255,255,0.85)' }}&gt;Module 1 · Week 1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问题定义', e: 'Define', d: '目标 · 指标 · 约束' },&#10;        { n: '2', t: '数据获取', e: 'Collect', d: '收集 · EDA · 可行性' },&#10;        { n: '3', t: '特征工程', e: 'Process', d: '清洗 · 转换 · 特征' },&#10;        { n: '4', t: '建模评估', e: 'Model', d: '基线 · 训练 · 迭代' },&#10;        { n: '5', t: '部署集成', e: 'Deploy', d: 'API · Docker · 产品' },&#10;        { n: '6', t: '监控迭代', e: 'Monitor', d: '漂移 · 再训练 · 优化' },&#10;      ].map((s, i) =&gt; (&#10;        &lt;Box key={i} style={{ flex: 1, position: 'relative' }}&gt;&#10;          &lt;Box style={{ background: i &lt; 2 ? '#F0F5FC' : i &lt; 4 ? '#E8EFF8' : '#F0F5FC', border: '1px solid #D6DCE5', borderTop: '4px solid #1E4FA8', borderRadius: 12, padding: '16px 14px', height: 210, justifyContent: 'space-between' }}&gt;&#10;            &lt;Box style={{ width: 40, height: 40, borderRadius: 10, background: '#1E4FA8', justifyContent: 'center', alignItems: 'center' }}&gt;&#10;              &lt;Text style={{ fontSize: 19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, color: '#8B97A8', marginTop: 1 }}&gt;{s.e}&lt;/Text&gt;&#10;              &lt;Text style={{ fontSize: 13.5, color: '#4A5568', marginTop: 6 }}&gt;{s.d}&lt;/Text&gt;&#10;            &lt;/Box&gt;&#10;          &lt;/Box&gt;&#10;          {i &lt; 5 &amp;&amp; (&#10;            &lt;Box style={{ position: 'absolute', right: -14, top: 90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12, marginTop: 22, alignItems: 'center' }}&gt;&#10;      &lt;Box style={{ width: 200, background: '#0E3F8C', borderRadius: 10, padding: '12px 18px', flexShrink: 0 }}&gt;&#10;        &lt;Text style={{ fontSize: 15, color: '#FFFFFF', fontWeight: 'bold' }}&gt;Capstone = 全程走一遍&lt;/Text&gt;&#10;      &lt;/Box&gt;&#10;      &lt;Text style={{ fontSize: 16, color: '#1A2230', lineHeight: 1.6, flex: 1 }}&gt;&#10;        本学期期末项目要求从&lt;span style={{ fontWeight: 'bold', color: '#0E3F8C' }}&gt;问题定义&lt;/span&gt;做到&lt;span style={{ fontWeight: 'bold', color: '#0E3F8C' }}&gt;Docker 部署&lt;/span&gt;——&#10;        &lt;span style={{ fontWeight: 'bold', color: '#0E3F8C' }}&gt;这六阶段就是你的项目路线图&lt;/span&gt;。&#10;        &lt;span style={{ fontSize: 13, color: '#8B97A8' }}&gt;From problem definition to Docker deployment — this is your roadmap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3719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项目生命周期六阶段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6-Stage Lifecycle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800100" y="4429125"/>
            <a:ext cx="1905000" cy="40005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971550" y="4543425"/>
            <a:ext cx="1562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Capstone = </a:t>
            </a:r>
            <a:r>
              <a:rPr lang="zh-CN" sz="1125" b="1">
                <a:solidFill>
                  <a:srgbClr val="FFFFFF"/>
                </a:solidFill>
                <a:latin typeface="Source Han Sans SC"/>
                <a:ea typeface="Source Han Sans SC"/>
              </a:rPr>
              <a:t>全程走一遍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2819400" y="4362450"/>
            <a:ext cx="857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本学期期末项目要求从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问题定义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做到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Docker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部署</a:t>
            </a:r>
            <a:r>
              <a:rPr sz="1200">
                <a:solidFill>
                  <a:srgbClr val="1A2230"/>
                </a:solidFill>
                <a:latin typeface="Source Han Sans SC"/>
                <a:ea typeface="Source Han Sans SC"/>
              </a:rPr>
              <a:t>——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这六阶段就是你的项目路线图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From problem definition to Docker deployment — this is your roadmap.</a:t>
            </a:r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800100" y="2190750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800100" y="2190750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0" name=""/>
          <p:cNvSpPr/>
          <p:nvPr/>
        </p:nvSpPr>
        <p:spPr>
          <a:xfrm rot="0" flipH="0" flipV="0">
            <a:off x="933450" y="23431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1085850" y="2428875"/>
            <a:ext cx="76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933450" y="33909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问题定义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933450" y="3629025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Define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933450" y="383857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目标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指标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约束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2581275" y="2190750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2581275" y="2190750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2714625" y="23431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2847975" y="24288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2714625" y="339090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数据获取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2714625" y="3629025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Collect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2714625" y="3838575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收集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EDA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可行性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4371975" y="2190750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4371975" y="2190750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4" name=""/>
          <p:cNvSpPr/>
          <p:nvPr/>
        </p:nvSpPr>
        <p:spPr>
          <a:xfrm rot="0" flipH="0" flipV="0">
            <a:off x="4505325" y="23431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4638675" y="24288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4505325" y="33909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特征工程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4505325" y="3629025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Process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4505325" y="383857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清洗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转换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特征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6153150" y="2190750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6153150" y="2190750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1" name=""/>
          <p:cNvSpPr/>
          <p:nvPr/>
        </p:nvSpPr>
        <p:spPr>
          <a:xfrm rot="0" flipH="0" flipV="0">
            <a:off x="6286500" y="23431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6419850" y="24288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6286500" y="33909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建模评估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6286500" y="3629025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Model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6286500" y="383857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基线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训练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迭代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7934325" y="2190750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97" name=""/>
          <p:cNvSpPr/>
          <p:nvPr/>
        </p:nvSpPr>
        <p:spPr>
          <a:xfrm rot="0" flipH="0" flipV="0">
            <a:off x="7934325" y="2190750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8" name=""/>
          <p:cNvSpPr/>
          <p:nvPr/>
        </p:nvSpPr>
        <p:spPr>
          <a:xfrm rot="0" flipH="0" flipV="0">
            <a:off x="8067675" y="23431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201025" y="24288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8067675" y="339090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部署集成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8067675" y="3629025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Deploy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8067675" y="3838575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API · Docker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产品</a:t>
            </a:r>
            <a:endParaRPr/>
          </a:p>
        </p:txBody>
      </p:sp>
      <p:sp>
        <p:nvSpPr>
          <p:cNvPr id="403" name=""/>
          <p:cNvSpPr/>
          <p:nvPr/>
        </p:nvSpPr>
        <p:spPr>
          <a:xfrm rot="0" flipH="0" flipV="0">
            <a:off x="9725025" y="2190750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9725025" y="2190750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5" name=""/>
          <p:cNvSpPr/>
          <p:nvPr/>
        </p:nvSpPr>
        <p:spPr>
          <a:xfrm rot="0" flipH="0" flipV="0">
            <a:off x="9858375" y="23431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9991725" y="24288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6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9858375" y="33909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监控迭代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9858375" y="3629025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Monitor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9858375" y="383857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漂移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再训练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优化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19 / 32</a:t>
            </a:r>
            <a:endParaRPr/>
          </a:p>
        </p:txBody>
      </p:sp>
      <p:pic>
        <p:nvPicPr>
          <p:cNvPr id="4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09825" y="3009900"/>
            <a:ext cx="190500" cy="190500"/>
          </a:xfrm>
          <a:prstGeom prst="rect">
            <a:avLst/>
          </a:prstGeom>
          <a:ln/>
        </p:spPr>
      </p:pic>
      <p:pic>
        <p:nvPicPr>
          <p:cNvPr id="4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00525" y="3009900"/>
            <a:ext cx="190500" cy="190500"/>
          </a:xfrm>
          <a:prstGeom prst="rect">
            <a:avLst/>
          </a:prstGeom>
          <a:ln/>
        </p:spPr>
      </p:pic>
      <p:pic>
        <p:nvPicPr>
          <p:cNvPr id="4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81700" y="3009900"/>
            <a:ext cx="190500" cy="190500"/>
          </a:xfrm>
          <a:prstGeom prst="rect">
            <a:avLst/>
          </a:prstGeom>
          <a:ln/>
        </p:spPr>
      </p:pic>
      <p:pic>
        <p:nvPicPr>
          <p:cNvPr id="4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3009900"/>
            <a:ext cx="190500" cy="190500"/>
          </a:xfrm>
          <a:prstGeom prst="rect">
            <a:avLst/>
          </a:prstGeom>
          <a:ln/>
        </p:spPr>
      </p:pic>
      <p:pic>
        <p:nvPicPr>
          <p:cNvPr id="4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53575" y="3009900"/>
            <a:ext cx="190500" cy="190500"/>
          </a:xfrm>
          <a:prstGeom prst="rect">
            <a:avLst/>
          </a:prstGeom>
          <a:ln/>
        </p:spPr>
      </p:pic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464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案例走查：食堂排队预测 · Case Walkthrough&lt;/Text&gt;&#10;    &lt;Text style={{ fontSize: 15, color: 'rgba(255,255,255,0.85)' }}&gt;Project Lifecycle · Part 04&lt;/Text&gt;&#10;  &lt;/Box&gt;&#10;  &lt;Box style={{ position: 'absolute', top: 96, left: 0, width: '100%', height: 60, padding: '0 84px', alignItems: 'center' }}&gt;&#10;    &lt;Text style={{ fontSize: 16, color: '#4A5568', lineHeight: 1.5 }}&gt;&#10;      用一个贯穿全程的例子过一遍六阶段。&lt;span style={{ fontSize: 13, color: '#8B97A8' }}&gt;One example, six stages — &quot;predict canteen queue time&quot;.&lt;/span&gt;&#10;    &lt;/Text&gt;&#10;  &lt;/Box&gt;&#10;  &lt;Box style={{ position: 'absolute', top: 158, left: 0, width: '100%', height: 430, padding: '4px 84px', flexDirection: 'column', gap: 10 }}&gt;&#10;    {[&#10;      { n: '1', t: '问题定义', e: 'Define', d: '预测每个窗口未来 15 分钟排队时长，误差 ±5 分钟内', out: '输出：二分类（挤 / 不挤）还是回归（分钟数）？→ 回归', c: '#1E4FA8' },&#10;      { n: '2', t: '数据收集', e: 'Data', d: 'POS 机流水（菜品、时间）+ 摄像头人流计数 + 校历（考试周人流激增）', out: '坑：摄像头数据要先做脱敏，不能存人脸', c: '#1E4FA8' },&#10;      { n: '3', t: '特征工程', e: 'Features', d: '时段、星期、天气、当日菜单热度、前后 15 分钟人流量', out: '常识特征往往打败花哨模型', c: '#3D7BD9' },&#10;      { n: '4', t: '建模训练', e: 'Modeling', d: '先跑均值基线，再上梯度提升树（GBDT），对比误差', out: '记住：基线不准上，等于裸奔', c: '#3D7BD9' },&#10;      { n: '5', t: '部署上线', e: 'Deployment', d: 'FastAPI 封装 REST 接口，小程序端每 5 分钟拉取预测', out: '模型不是产品，接口+界面才是', c: '#0E3F8C' },&#10;      { n: '6', t: '监控迭代', e: 'Monitoring', d: '预测误差周报；新食堂开业 = 数据分布漂移 → 触发重训', out: '上线那天才是项目的开始', c: '#0E3F8C' },&#10;    ].map((s, i) =&gt; (&#10;      &lt;Box key={i} style={{ flex: 1, flexDirection: 'row', alignItems: 'center', background: '#F7F9FC', border: '1px solid #E5E7EB', borderLeft: '5px solid ' + s.c, borderRadius: 10, padding: '8px 20px', gap: 16 }}&gt;&#10;        &lt;Box style={{ width: 38, height: 38, borderRadius: 19, background: s.c, justifyContent: 'center', alignItems: 'center', flexShrink: 0 }}&gt;&#10;          &lt;Text style={{ fontSize: 17, color: '#FFFFFF', fontWeight: 'bold' }}&gt;{s.n}&lt;/Text&gt;&#10;        &lt;/Box&gt;&#10;        &lt;Box style={{ width: 150, flexShrink: 0 }}&gt;&#10;          &lt;Text style={{ fontSize: 17, color: '#1A2230', fontWeight: 'bold' }}&gt;{s.t}&lt;/Text&gt;&#10;          &lt;Text style={{ fontSize: 12, color: '#8B97A8' }}&gt;{s.e}&lt;/Text&gt;&#10;        &lt;/Box&gt;&#10;        &lt;Text style={{ fontSize: 14, color: '#4A5568', lineHeight: 1.5, flex: 1 }}&gt;{s.d}&lt;/Text&gt;&#10;        &lt;Box style={{ width: 340, flexShrink: 0, background: '#FFFFFF', borderRadius: 8, padding: '8px 14px', borderLeft: '3px solid ' + s.c }}&gt;&#10;          &lt;Text style={{ fontSize: 12.5, color: s.c, lineHeight: 1.5, fontWeight: '600' }}&gt;{s.out}&lt;/Text&gt;&#10;        &lt;/Box&gt;&#10;      &lt;/Box&gt;&#10;    ))}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381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案例走查：食堂排队预测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Case Walkthrough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9610725" y="2952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Project Lifecycle · Part 04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3133725" y="914400"/>
            <a:ext cx="59245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Source Han Sans SC"/>
                <a:ea typeface="Source Han Sans SC"/>
              </a:rPr>
              <a:t>用一个贯穿全程的例子过一遍六阶段。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One example, six stages — "predict canteen queue time".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847725" y="1543050"/>
            <a:ext cx="105918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1" name=""/>
          <p:cNvSpPr/>
          <p:nvPr/>
        </p:nvSpPr>
        <p:spPr>
          <a:xfrm rot="0" flipH="0" flipV="0">
            <a:off x="847725" y="1543050"/>
            <a:ext cx="10591800" cy="762000"/>
          </a:xfrm>
          <a:custGeom>
            <a:pathLst>
              <a:path w="1112" h="8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75"/>
                </a:lnTo>
                <a:cubicBezTo>
                  <a:pt x="5" y="77"/>
                  <a:pt x="7" y="79"/>
                  <a:pt x="9" y="80"/>
                </a:cubicBezTo>
                <a:cubicBezTo>
                  <a:pt x="4" y="79"/>
                  <a:pt x="0" y="75"/>
                  <a:pt x="0" y="7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1038225" y="17430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1190625" y="1828800"/>
            <a:ext cx="66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1552575" y="175260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问题定义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1552575" y="1952625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Define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3133725" y="1800225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预测每个窗口未来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15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分钟排队时长，误差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±5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分钟内</a:t>
            </a:r>
            <a:endParaRPr/>
          </a:p>
        </p:txBody>
      </p:sp>
      <p:sp>
        <p:nvSpPr>
          <p:cNvPr id="477" name=""/>
          <p:cNvSpPr/>
          <p:nvPr/>
        </p:nvSpPr>
        <p:spPr>
          <a:xfrm rot="0" flipH="0" flipV="0">
            <a:off x="7991475" y="1638300"/>
            <a:ext cx="3209925" cy="581025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8" name=""/>
          <p:cNvSpPr/>
          <p:nvPr/>
        </p:nvSpPr>
        <p:spPr>
          <a:xfrm rot="0" flipH="0" flipV="0">
            <a:off x="7991475" y="1638300"/>
            <a:ext cx="3209925" cy="581025"/>
          </a:xfrm>
          <a:custGeom>
            <a:pathLst>
              <a:path w="337" h="6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6"/>
                </a:lnTo>
                <a:cubicBezTo>
                  <a:pt x="3" y="58"/>
                  <a:pt x="5" y="60"/>
                  <a:pt x="7" y="61"/>
                </a:cubicBezTo>
                <a:cubicBezTo>
                  <a:pt x="3" y="60"/>
                  <a:pt x="0" y="57"/>
                  <a:pt x="0" y="5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8124825" y="1714500"/>
            <a:ext cx="29432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输出：二分类（挤</a:t>
            </a:r>
            <a:r>
              <a:rPr lang="en-US" sz="938" b="1">
                <a:solidFill>
                  <a:srgbClr val="1E4FA8"/>
                </a:solidFill>
                <a:latin typeface="Source Han Sans SC"/>
                <a:ea typeface="Source Han Sans SC"/>
              </a:rPr>
              <a:t> / </a:t>
            </a: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不挤）还是回归（分钟数）？→</a:t>
            </a:r>
            <a:r>
              <a:rPr lang="en-US" sz="938" b="1">
                <a:solidFill>
                  <a:srgbClr val="1E4FA8"/>
                </a:solidFill>
                <a:latin typeface="Source Han Sans SC"/>
                <a:ea typeface="Source Han Sans SC"/>
              </a:rPr>
              <a:t> </a:t>
            </a: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回归</a:t>
            </a:r>
            <a:endParaRPr/>
          </a:p>
        </p:txBody>
      </p:sp>
      <p:sp>
        <p:nvSpPr>
          <p:cNvPr id="480" name=""/>
          <p:cNvSpPr/>
          <p:nvPr/>
        </p:nvSpPr>
        <p:spPr>
          <a:xfrm rot="0" flipH="0" flipV="0">
            <a:off x="847725" y="2400300"/>
            <a:ext cx="10591800" cy="561975"/>
          </a:xfrm>
          <a:prstGeom prst="roundRect">
            <a:avLst>
              <a:gd name="adj" fmla="val 1694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1" name=""/>
          <p:cNvSpPr/>
          <p:nvPr/>
        </p:nvSpPr>
        <p:spPr>
          <a:xfrm rot="0" flipH="0" flipV="0">
            <a:off x="847725" y="2400300"/>
            <a:ext cx="10591800" cy="561975"/>
          </a:xfrm>
          <a:custGeom>
            <a:pathLst>
              <a:path w="1112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2" name=""/>
          <p:cNvSpPr/>
          <p:nvPr/>
        </p:nvSpPr>
        <p:spPr>
          <a:xfrm rot="0" flipH="0" flipV="0">
            <a:off x="1038225" y="25050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1171575" y="2590800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1552575" y="251460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数据收集</a:t>
            </a:r>
            <a:endParaRPr/>
          </a:p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1552575" y="2714625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Data</a:t>
            </a:r>
            <a:endParaRPr/>
          </a:p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133725" y="2562225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POS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机流水（菜品、时间）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摄像头人流计数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校历（考试周人流激增）</a:t>
            </a:r>
            <a:endParaRPr/>
          </a:p>
        </p:txBody>
      </p:sp>
      <p:sp>
        <p:nvSpPr>
          <p:cNvPr id="487" name=""/>
          <p:cNvSpPr/>
          <p:nvPr/>
        </p:nvSpPr>
        <p:spPr>
          <a:xfrm rot="0" flipH="0" flipV="0">
            <a:off x="7991475" y="2495550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8" name=""/>
          <p:cNvSpPr/>
          <p:nvPr/>
        </p:nvSpPr>
        <p:spPr>
          <a:xfrm rot="0" flipH="0" flipV="0">
            <a:off x="7991475" y="2495550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8124825" y="2571750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坑：摄像头数据要先做脱敏，不能存人脸</a:t>
            </a:r>
            <a:endParaRPr/>
          </a:p>
        </p:txBody>
      </p:sp>
      <p:sp>
        <p:nvSpPr>
          <p:cNvPr id="490" name=""/>
          <p:cNvSpPr/>
          <p:nvPr/>
        </p:nvSpPr>
        <p:spPr>
          <a:xfrm rot="0" flipH="0" flipV="0">
            <a:off x="847725" y="3057525"/>
            <a:ext cx="105918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91" name=""/>
          <p:cNvSpPr/>
          <p:nvPr/>
        </p:nvSpPr>
        <p:spPr>
          <a:xfrm rot="0" flipH="0" flipV="0">
            <a:off x="847725" y="3057525"/>
            <a:ext cx="10591800" cy="552450"/>
          </a:xfrm>
          <a:custGeom>
            <a:pathLst>
              <a:path w="1112" h="58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3"/>
                </a:lnTo>
                <a:cubicBezTo>
                  <a:pt x="5" y="55"/>
                  <a:pt x="7" y="57"/>
                  <a:pt x="9" y="58"/>
                </a:cubicBezTo>
                <a:cubicBezTo>
                  <a:pt x="4" y="57"/>
                  <a:pt x="0" y="53"/>
                  <a:pt x="0" y="4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92" name=""/>
          <p:cNvSpPr/>
          <p:nvPr/>
        </p:nvSpPr>
        <p:spPr>
          <a:xfrm rot="0" flipH="0" flipV="0">
            <a:off x="1038225" y="31527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1171575" y="3238500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1552575" y="316230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特征工程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1552575" y="3362325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Features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3133725" y="3209925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时段、星期、天气、当日菜单热度、前后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15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分钟人流量</a:t>
            </a:r>
            <a:endParaRPr/>
          </a:p>
        </p:txBody>
      </p:sp>
      <p:sp>
        <p:nvSpPr>
          <p:cNvPr id="497" name=""/>
          <p:cNvSpPr/>
          <p:nvPr/>
        </p:nvSpPr>
        <p:spPr>
          <a:xfrm rot="0" flipH="0" flipV="0">
            <a:off x="7991475" y="3152775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8" name=""/>
          <p:cNvSpPr/>
          <p:nvPr/>
        </p:nvSpPr>
        <p:spPr>
          <a:xfrm rot="0" flipH="0" flipV="0">
            <a:off x="7991475" y="3152775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8124825" y="3228975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 b="1">
                <a:solidFill>
                  <a:srgbClr val="3D7BD9"/>
                </a:solidFill>
                <a:latin typeface="Source Han Sans SC"/>
                <a:ea typeface="Source Han Sans SC"/>
              </a:rPr>
              <a:t>常识特征往往打败花哨模型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847725" y="3705225"/>
            <a:ext cx="105918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847725" y="3705225"/>
            <a:ext cx="10591800" cy="552450"/>
          </a:xfrm>
          <a:custGeom>
            <a:pathLst>
              <a:path w="1112" h="58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3"/>
                </a:lnTo>
                <a:cubicBezTo>
                  <a:pt x="5" y="55"/>
                  <a:pt x="7" y="57"/>
                  <a:pt x="9" y="58"/>
                </a:cubicBezTo>
                <a:cubicBezTo>
                  <a:pt x="4" y="57"/>
                  <a:pt x="0" y="53"/>
                  <a:pt x="0" y="4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2" name=""/>
          <p:cNvSpPr/>
          <p:nvPr/>
        </p:nvSpPr>
        <p:spPr>
          <a:xfrm rot="0" flipH="0" flipV="0">
            <a:off x="1038225" y="38004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1171575" y="3886200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1552575" y="381000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建模训练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1552575" y="4010025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Modeling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3133725" y="3857625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先跑均值基线，再上梯度提升树（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GBDT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），对比误差</a:t>
            </a:r>
            <a:endParaRPr/>
          </a:p>
        </p:txBody>
      </p:sp>
      <p:sp>
        <p:nvSpPr>
          <p:cNvPr id="507" name=""/>
          <p:cNvSpPr/>
          <p:nvPr/>
        </p:nvSpPr>
        <p:spPr>
          <a:xfrm rot="0" flipH="0" flipV="0">
            <a:off x="7991475" y="3800475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8" name=""/>
          <p:cNvSpPr/>
          <p:nvPr/>
        </p:nvSpPr>
        <p:spPr>
          <a:xfrm rot="0" flipH="0" flipV="0">
            <a:off x="7991475" y="3800475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8124825" y="3876675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 b="1">
                <a:solidFill>
                  <a:srgbClr val="3D7BD9"/>
                </a:solidFill>
                <a:latin typeface="Source Han Sans SC"/>
                <a:ea typeface="Source Han Sans SC"/>
              </a:rPr>
              <a:t>记住：基线不准上，等于裸奔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847725" y="4352925"/>
            <a:ext cx="10591800" cy="561975"/>
          </a:xfrm>
          <a:prstGeom prst="roundRect">
            <a:avLst>
              <a:gd name="adj" fmla="val 1694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847725" y="4352925"/>
            <a:ext cx="10591800" cy="561975"/>
          </a:xfrm>
          <a:custGeom>
            <a:pathLst>
              <a:path w="1112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2" name=""/>
          <p:cNvSpPr/>
          <p:nvPr/>
        </p:nvSpPr>
        <p:spPr>
          <a:xfrm rot="0" flipH="0" flipV="0">
            <a:off x="1038225" y="445770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171575" y="4543425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1552575" y="446722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部署上线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552575" y="4667250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Deployment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3133725" y="4514850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FastAPI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封装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REST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接口，小程序端每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5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分钟拉取预测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7991475" y="4448175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8" name=""/>
          <p:cNvSpPr/>
          <p:nvPr/>
        </p:nvSpPr>
        <p:spPr>
          <a:xfrm rot="0" flipH="0" flipV="0">
            <a:off x="7991475" y="4448175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8124825" y="4524375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 b="1">
                <a:solidFill>
                  <a:srgbClr val="0E3F8C"/>
                </a:solidFill>
                <a:latin typeface="Source Han Sans SC"/>
                <a:ea typeface="Source Han Sans SC"/>
              </a:rPr>
              <a:t>模型不是产品，接口</a:t>
            </a:r>
            <a:r>
              <a:rPr lang="en-US" sz="938" b="1">
                <a:solidFill>
                  <a:srgbClr val="0E3F8C"/>
                </a:solidFill>
                <a:latin typeface="Source Han Sans SC"/>
                <a:ea typeface="Source Han Sans SC"/>
              </a:rPr>
              <a:t>+</a:t>
            </a:r>
            <a:r>
              <a:rPr lang="zh-CN" sz="938" b="1">
                <a:solidFill>
                  <a:srgbClr val="0E3F8C"/>
                </a:solidFill>
                <a:latin typeface="Source Han Sans SC"/>
                <a:ea typeface="Source Han Sans SC"/>
              </a:rPr>
              <a:t>界面才是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847725" y="5010150"/>
            <a:ext cx="105918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847725" y="5010150"/>
            <a:ext cx="10591800" cy="552450"/>
          </a:xfrm>
          <a:custGeom>
            <a:pathLst>
              <a:path w="1112" h="58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3"/>
                </a:lnTo>
                <a:cubicBezTo>
                  <a:pt x="5" y="55"/>
                  <a:pt x="7" y="57"/>
                  <a:pt x="9" y="58"/>
                </a:cubicBezTo>
                <a:cubicBezTo>
                  <a:pt x="4" y="57"/>
                  <a:pt x="0" y="53"/>
                  <a:pt x="0" y="4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22" name=""/>
          <p:cNvSpPr/>
          <p:nvPr/>
        </p:nvSpPr>
        <p:spPr>
          <a:xfrm rot="0" flipH="0" flipV="0">
            <a:off x="1038225" y="510540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1171575" y="5191125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6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1552575" y="511492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监控迭代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552575" y="5314950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Monitoring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3133725" y="5162550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预测误差周报；新食堂开业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=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数据分布漂移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触发重训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7991475" y="5105400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8" name=""/>
          <p:cNvSpPr/>
          <p:nvPr/>
        </p:nvSpPr>
        <p:spPr>
          <a:xfrm rot="0" flipH="0" flipV="0">
            <a:off x="7991475" y="5105400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8124825" y="5181600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 b="1">
                <a:solidFill>
                  <a:srgbClr val="0E3F8C"/>
                </a:solidFill>
                <a:latin typeface="Source Han Sans SC"/>
                <a:ea typeface="Source Han Sans SC"/>
              </a:rPr>
              <a:t>上线那天才是项目的开始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20 / 32</a:t>
            </a:r>
            <a:endParaRPr/>
          </a:p>
        </p:txBody>
      </p:sp>
    </p:spTree>
  </p:cSld>
</p:sld>
</file>

<file path=ppt/slides/slide21.xml><?xml version="1.0" encoding="utf-8"?>
<p:sld xmlns:a="http://schemas.openxmlformats.org/drawingml/2006/main" xmlns:p="http://schemas.openxmlformats.org/presentationml/2006/main">
  <p:cSld>
    <p:spTree>
      <p:nvGrpSpPr>
        <p:cNvPr id="532" name="" descr="&lt;Slide style={{ width: '1280px', height: '720px', background: '#0E3F8C', padding: '0px', fontFamily: 'Source Han Sans SC, PingFang SC, sans-serif' }}&gt;&#10;  &lt;Box style={{ position: 'absolute', top: 0, left: 0, width: '100%', height: 10, background: '#1E4FA8' }} /&gt;&#10;  &lt;Box style={{ position: 'absolute', top: 0, right: 0, width: '45%', height: '100%', background: 'rgba(30,79,168,0.35)' }} /&gt;&#10;  &lt;Box style={{ position: 'absolute', top: 60, left: 84, right: 84, height: 620, padding: '30px 0', flexDirection: 'row', alignItems: 'center', gap: 60 }}&gt;&#10;    &lt;Box style={{ flexShrink: 0, alignItems: 'flex-end' }}&gt;&#10;      &lt;Text style={{ fontSize: 200, color: '#FFFFFF', fontWeight: 'bold', lineHeight: 0.95 }}&gt;80%&lt;/Text&gt;&#10;      &lt;Text style={{ fontSize: 22, color: 'rgba(255,255,255,0.75)', marginTop: 10, textAlign: 'right' }}&gt;of project time goes to&lt;/Text&gt;&#10;      &lt;Text style={{ fontSize: 22, color: 'rgba(255,255,255,0.75)', textAlign: 'right' }}&gt;data &amp;amp; engineering&lt;/Text&gt;&#10;    &lt;/Box&gt;&#10;    &lt;Box style={{ flex: 1, gap: 18 }}&gt;&#10;      &lt;Text style={{ fontSize: 30, color: '#FFFFFF', fontWeight: 'bold' }}&gt;训练模型只占 20%&lt;/Text&gt;&#10;      &lt;Text style={{ fontSize: 18, color: 'rgba(255,255,255,0.92)', lineHeight: 1.7 }}&gt;&#10;        真实工业界中，AI 项目约 80% 的时间花在&lt;Text as='span' style={{ fontWeight: 'bold' }}&gt;数据处理与工程环节&lt;/Text&gt;（阶段 2–3 与 5–6），&#10;        只有约 20% 在&quot;训练模型&quot;。&#10;        &lt;br /&gt;&#10;        &lt;span style={{ fontSize: 14, color: 'rgba(255,255,255,0.7)' }}&gt;~80% of the time goes to data pipelines and engineering; only ~20% to training.&lt;/span&gt;&#10;      &lt;/Text&gt;&#10;      &lt;Box style={{ flexDirection: 'row', gap: 0, marginTop: 8 }}&gt;&#10;        &lt;Box style={{ flex: 4, height: 20, background: '#FFC107', borderRadius: '10px 0 0 10px', position: 'relative' }}&gt;&#10;          &lt;Text style={{ position: 'absolute', left: 12, top: -1, fontSize: 14, color: '#0E3F8C', fontWeight: 'bold' }}&gt;数据 · 工程 80%&lt;/Text&gt;&#10;        &lt;/Box&gt;&#10;        &lt;Box style={{ flex: 1, height: 20, background: 'rgba(255,255,255,0.35)', borderRadius: '0 10px 10px 0' }}&gt;&#10;          &lt;Text style={{ position: 'absolute', left: 0, top: -1, fontSize: 14, color: 'rgba(255,255,255,0.9)', fontWeight: 'bold' }}&gt;&amp;nbsp;&amp;nbsp;训练 20%&lt;/Text&gt;&#10;        &lt;/Box&gt;&#10;      &lt;/Box&gt;&#10;      &lt;Box style={{ background: 'rgba(255,255,255,0.12)', borderRadius: 12, padding: '18px 22px', marginTop: 6 }}&gt;&#10;        &lt;Text style={{ fontSize: 17, color: '#FFFFFF', lineHeight: 1.7 }}&gt;&#10;          &lt;span style={{ fontWeight: 'bold', color: '#FFC107' }}&gt;两个推论：&lt;/span&gt;&#10;          ① 本课程实验学时大量分配给数据处理与部署 —— 因为这才是真实工作的重心；&#10;          ② 你的就业竞争力，恰恰来自别人最不擅长的&quot;工程化交付&quot;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rgba(255,255,255,0.6)' }}&gt;AI Application Development · Week 1&lt;/Text&gt;&#10;    &lt;Text style={{ fontSize: 14, color: 'rgba(255,255,255,0.9)', fontWeight: '600' }}&gt;2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3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5" name=""/>
          <p:cNvSpPr/>
          <p:nvPr/>
        </p:nvSpPr>
        <p:spPr>
          <a:xfrm rot="0" flipH="0" flipV="0">
            <a:off x="6705600" y="0"/>
            <a:ext cx="5486400" cy="6858000"/>
          </a:xfrm>
          <a:prstGeom prst="rect">
            <a:avLst/>
          </a:prstGeom>
          <a:solidFill>
            <a:srgbClr val="1E4FA8">
              <a:alpha val="35000"/>
            </a:srgbClr>
          </a:solidFill>
          <a:ln/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800100" y="2133600"/>
            <a:ext cx="4191000" cy="2171700"/>
          </a:xfrm>
          <a:prstGeom prst="rect"/>
        </p:spPr>
        <p:txBody>
          <a:bodyPr wrap="none" lIns="0" tIns="0" rIns="0" bIns="0"/>
          <a:p>
            <a:pPr>
              <a:lnSpc>
                <a:spcPct val="95000"/>
              </a:lnSpc>
            </a:pPr>
            <a:r>
              <a:rPr lang="en-US" sz="15000" b="1">
                <a:solidFill>
                  <a:srgbClr val="FFFFFF"/>
                </a:solidFill>
                <a:latin typeface="Source Han Sans SC"/>
                <a:ea typeface="Source Han Sans SC"/>
              </a:rPr>
              <a:t>80%</a:t>
            </a:r>
            <a:endParaRPr/>
          </a:p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2733675" y="4400550"/>
            <a:ext cx="2257425" cy="2571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65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of project time goes to</a:t>
            </a:r>
            <a:endParaRPr/>
          </a:p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3133725" y="4657725"/>
            <a:ext cx="1857375" cy="2571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65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data &amp; engineering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5562600" y="2114550"/>
            <a:ext cx="5829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Source Han Sans SC"/>
                <a:ea typeface="Source Han Sans SC"/>
              </a:rPr>
              <a:t>训练模型只占</a:t>
            </a:r>
            <a:r>
              <a:rPr lang="en-US" sz="2250" b="1">
                <a:solidFill>
                  <a:srgbClr val="FFFFFF"/>
                </a:solidFill>
                <a:latin typeface="Source Han Sans SC"/>
                <a:ea typeface="Source Han Sans SC"/>
              </a:rPr>
              <a:t> 20%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5562600" y="2628900"/>
            <a:ext cx="58293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真实工业界中，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AI 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项目约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80% 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的时间花在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数据处理与工程环节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（阶段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2–3 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与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5–6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），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只有约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20% 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在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训练模型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。</a:t>
            </a:r>
            <a:endParaRPr/>
          </a:p>
          <a:p>
            <a:pPr>
              <a:lnSpc>
                <a:spcPct val="170000"/>
              </a:lnSpc>
            </a:pPr>
            <a:r>
              <a:rPr lang="en-US" sz="1050">
                <a:solidFill>
                  <a:srgbClr val="FFFFFF">
                    <a:alpha val="70000"/>
                  </a:srgbClr>
                </a:solidFill>
                <a:latin typeface="Source Han Sans SC"/>
                <a:ea typeface="Source Han Sans SC"/>
              </a:rPr>
              <a:t>~80% of the time goes to data pipelines and engineering; only ~20% to training.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10229850" y="3848100"/>
            <a:ext cx="1162050" cy="190500"/>
          </a:xfrm>
          <a:custGeom>
            <a:pathLst>
              <a:path w="122" h="20">
                <a:moveTo>
                  <a:pt x="0" y="0"/>
                </a:moveTo>
                <a:lnTo>
                  <a:pt x="112" y="0"/>
                </a:lnTo>
                <a:cubicBezTo>
                  <a:pt x="118" y="0"/>
                  <a:pt x="122" y="4"/>
                  <a:pt x="122" y="10"/>
                </a:cubicBezTo>
                <a:lnTo>
                  <a:pt x="122" y="10"/>
                </a:lnTo>
                <a:cubicBezTo>
                  <a:pt x="122" y="16"/>
                  <a:pt x="118" y="20"/>
                  <a:pt x="112" y="20"/>
                </a:cubicBezTo>
                <a:lnTo>
                  <a:pt x="0" y="20"/>
                </a:lnTo>
                <a:lnTo>
                  <a:pt x="0" y="2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35000"/>
            </a:srgbClr>
          </a:solidFill>
          <a:ln/>
        </p:spPr>
        <p:txBody>
          <a:bodyPr/>
          <a:p/>
        </p:txBody>
      </p:sp>
      <p:sp>
        <p:nvSpPr>
          <p:cNvPr id="542" name=""/>
          <p:cNvSpPr/>
          <p:nvPr/>
        </p:nvSpPr>
        <p:spPr>
          <a:xfrm rot="0" flipH="0" flipV="0">
            <a:off x="5562600" y="4267200"/>
            <a:ext cx="5829300" cy="1343025"/>
          </a:xfrm>
          <a:prstGeom prst="roundRect">
            <a:avLst>
              <a:gd name="adj" fmla="val 8511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5772150" y="4438650"/>
            <a:ext cx="5410200" cy="1000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 b="1">
                <a:solidFill>
                  <a:srgbClr val="FFC107"/>
                </a:solidFill>
                <a:latin typeface="Source Han Sans SC"/>
                <a:ea typeface="Source Han Sans SC"/>
              </a:rPr>
              <a:t>两个推论：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① 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本课程实验学时大量分配给数据处理与部署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 —— 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因为这才是真实工作的重心；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 ② 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你的就业竞争力，恰恰来自别人最不擅长的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"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工程化交付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"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5562600" y="3848100"/>
            <a:ext cx="4667250" cy="190500"/>
          </a:xfrm>
          <a:custGeom>
            <a:pathLst>
              <a:path w="490" h="20">
                <a:moveTo>
                  <a:pt x="10" y="0"/>
                </a:moveTo>
                <a:lnTo>
                  <a:pt x="490" y="0"/>
                </a:lnTo>
                <a:lnTo>
                  <a:pt x="490" y="0"/>
                </a:lnTo>
                <a:lnTo>
                  <a:pt x="490" y="20"/>
                </a:lnTo>
                <a:lnTo>
                  <a:pt x="490" y="20"/>
                </a:lnTo>
                <a:lnTo>
                  <a:pt x="10" y="20"/>
                </a:lnTo>
                <a:cubicBezTo>
                  <a:pt x="4" y="20"/>
                  <a:pt x="0" y="16"/>
                  <a:pt x="0" y="10"/>
                </a:cubicBez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676900" y="3838575"/>
            <a:ext cx="102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E3F8C"/>
                </a:solidFill>
                <a:latin typeface="Source Han Sans SC"/>
                <a:ea typeface="Source Han Sans SC"/>
              </a:rPr>
              <a:t>数据</a:t>
            </a:r>
            <a:r>
              <a:rPr lang="en-US" sz="1050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050" b="1">
                <a:solidFill>
                  <a:srgbClr val="0E3F8C"/>
                </a:solidFill>
                <a:latin typeface="Source Han Sans SC"/>
                <a:ea typeface="Source Han Sans SC"/>
              </a:rPr>
              <a:t>工程</a:t>
            </a:r>
            <a:r>
              <a:rPr lang="en-US" sz="1050" b="1">
                <a:solidFill>
                  <a:srgbClr val="0E3F8C"/>
                </a:solidFill>
                <a:latin typeface="Source Han Sans SC"/>
                <a:ea typeface="Source Han Sans SC"/>
              </a:rPr>
              <a:t> 80%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0229850" y="3838575"/>
            <a:ext cx="695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  训练</a:t>
            </a: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 20%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0000"/>
                  </a:srgbClr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21 / 32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49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课程工具链地图 · Course Toolchain&lt;/Text&gt;&#10;    &lt;Text style={{ fontSize: 15, color: 'rgba(255,255,255,0.85)' }}&gt;Project Lifecycle · Part 04&lt;/Text&gt;&#10;  &lt;/Box&gt;&#10;  &lt;Box style={{ position: 'absolute', top: 96, left: 0, width: '100%', height: 470, padding: '6px 84px', flexDirection: 'row', gap: 18 }}&gt;&#10;    {[&#10;      { m: 'M1 · W1–4', t: '地基工具', c: '#1E4FA8', tools: [&#10;        { n: 'Python 3.11 + Conda', d: '语言与虚拟环境' },&#10;        { n: 'JupyterLab / Colab', d: '交互式开发' },&#10;        { n: 'Git + GitHub', d: '版本与协作' },&#10;        { n: 'NumPy · Pandas · scikit-learn', d: '数据处理与经典 ML' },&#10;      ]},&#10;      { m: 'M2 · W5–8', t: '深度学习', c: '#3D7BD9', tools: [&#10;        { n: 'PyTorch', d: '本课程主框架' },&#10;        { n: 'torchvision', d: '视觉模型与数据集' },&#10;        { n: 'Colab GPU', d: '免费算力' },&#10;        { n: 'Matplotlib', d: '训练曲线可视化' },&#10;      ]},&#10;      { m: 'M3 · W9–12', t: 'NLP 与 LLM', c: '#1E4FA8', tools: [&#10;        { n: 'Hugging Face Transformers', d: '第二重要的库' },&#10;        { n: 'Datasets · Tokenizers', d: '数据与分词' },&#10;        { n: 'Ollama', d: '本机跑开源 LLM' },&#10;        { n: 'LangChain', d: '应用编排框架' },&#10;      ]},&#10;      { m: 'M4 · W13–16', t: '工程化', c: '#0E3F8C', tools: [&#10;        { n: 'FastAPI', d: '模型服务化' },&#10;        { n: 'Docker', d: '环境打包交付' },&#10;        { n: 'Streamlit', d: '快速应用界面' },&#10;        { n: 'MLflow', d: '实验跟踪' },&#10;      ]},&#10;    ].map((col, i) =&gt; (&#10;      &lt;Box key={i} style={{ flex: 1, flexDirection: 'column', gap: 9 }}&gt;&#10;        &lt;Box style={{ background: col.c, borderRadius: 10, padding: '10px 16px' }}&gt;&#10;          &lt;Text style={{ fontSize: 13, color: 'rgba(255,255,255,0.85)' }}&gt;{col.m}&lt;/Text&gt;&#10;          &lt;Text style={{ fontSize: 17, color: '#FFFFFF', fontWeight: 'bold' }}&gt;{col.t}&lt;/Text&gt;&#10;        &lt;/Box&gt;&#10;        {col.tools.map((t, j) =&gt; (&#10;          &lt;Box key={j} style={{ flex: 1, background: '#F7F9FC', border: '1px solid #E5E7EB', borderLeft: '4px solid ' + col.c, borderRadius: 8, padding: '9px 14px', justifyContent: 'center' }}&gt;&#10;            &lt;Text style={{ fontSize: 14.5, color: '#1A2230', fontWeight: '600' }}&gt;{t.n}&lt;/Text&gt;&#10;            &lt;Text style={{ fontSize: 12.5, color: '#8B97A8', marginTop: 1 }}&gt;{t.d}&lt;/Text&gt;&#10;          &lt;/Box&gt;&#10;        ))}&#10;      &lt;/Box&gt;&#10;    ))}&#10;  &lt;/Box&gt;&#10;  &lt;Box style={{ position: 'absolute', top: 578, left: 0, width: '100%', height: 68, padding: '6px 84px' }}&gt;&#10;    &lt;Box style={{ width: '100%', height: '100%', background: '#F0F5FC', border: '1px solid #D6DCE5', borderRadius: 12, padding: '10px 20px', flexDirection: 'row', alignItems: 'center', gap: 14 }}&gt;&#10;      &lt;FAIcon name='coins' style={{ fill: '#0E3F8C', width: 24, height: 24, flexShrink: 0 }} /&gt;&#10;      &lt;Text style={{ fontSize: 15, color: '#1A2230', lineHeight: 1.55, flex: 1 }}&gt;&#10;        以上工具&lt;b&gt;全部免费&lt;/b&gt;：本地跑 Anaconda 开源版 + Colab 免费额度即可完成全部作业，唯一需要的是 GitHub 账号。&#10;        &lt;span style={{ fontSize: 12.5, color: '#8B97A8' }}&gt;Everything above is free — a GitHub account is the only signup you need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46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课程工具链地图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Course Toolchain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9610725" y="2952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Project Lifecycle · Part 04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800100" y="971550"/>
            <a:ext cx="2524125" cy="542925"/>
          </a:xfrm>
          <a:prstGeom prst="roundRect">
            <a:avLst>
              <a:gd name="adj" fmla="val 1754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952500" y="106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M1 · W1–4</a:t>
            </a:r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952500" y="1219200"/>
            <a:ext cx="2219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Source Han Sans SC"/>
                <a:ea typeface="Source Han Sans SC"/>
              </a:rPr>
              <a:t>地基工具</a:t>
            </a:r>
            <a:endParaRPr/>
          </a:p>
        </p:txBody>
      </p:sp>
      <p:sp>
        <p:nvSpPr>
          <p:cNvPr id="557" name=""/>
          <p:cNvSpPr/>
          <p:nvPr/>
        </p:nvSpPr>
        <p:spPr>
          <a:xfrm rot="0" flipH="0" flipV="0">
            <a:off x="838200" y="1600200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838200" y="1600200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971550" y="18764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Python 3.11 + Conda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971550" y="20574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语言与虚拟环境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838200" y="2552700"/>
            <a:ext cx="2524125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62" name=""/>
          <p:cNvSpPr/>
          <p:nvPr/>
        </p:nvSpPr>
        <p:spPr>
          <a:xfrm rot="0" flipH="0" flipV="0">
            <a:off x="838200" y="2552700"/>
            <a:ext cx="2524125" cy="876300"/>
          </a:xfrm>
          <a:custGeom>
            <a:pathLst>
              <a:path w="265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971550" y="28289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JupyterLab / Colab</a:t>
            </a:r>
            <a:endParaRPr/>
          </a:p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971550" y="30099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交互式开发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838200" y="35147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66" name=""/>
          <p:cNvSpPr/>
          <p:nvPr/>
        </p:nvSpPr>
        <p:spPr>
          <a:xfrm rot="0" flipH="0" flipV="0">
            <a:off x="838200" y="35147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971550" y="37909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Git + GitHub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971550" y="39719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版本与协作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838200" y="44672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0" name=""/>
          <p:cNvSpPr/>
          <p:nvPr/>
        </p:nvSpPr>
        <p:spPr>
          <a:xfrm rot="0" flipH="0" flipV="0">
            <a:off x="838200" y="44672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971550" y="47434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NumPy · Pandas · scikit-learn</a:t>
            </a:r>
            <a:endParaRPr/>
          </a:p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971550" y="49244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数据处理与经典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ML</a:t>
            </a:r>
            <a:endParaRPr/>
          </a:p>
        </p:txBody>
      </p:sp>
      <p:sp>
        <p:nvSpPr>
          <p:cNvPr id="573" name=""/>
          <p:cNvSpPr/>
          <p:nvPr/>
        </p:nvSpPr>
        <p:spPr>
          <a:xfrm rot="0" flipH="0" flipV="0">
            <a:off x="3495675" y="971550"/>
            <a:ext cx="2514600" cy="542925"/>
          </a:xfrm>
          <a:prstGeom prst="roundRect">
            <a:avLst>
              <a:gd name="adj" fmla="val 17544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3648075" y="10668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M2 · W5–8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3648075" y="1219200"/>
            <a:ext cx="2209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Source Han Sans SC"/>
                <a:ea typeface="Source Han Sans SC"/>
              </a:rPr>
              <a:t>深度学习</a:t>
            </a:r>
            <a:endParaRPr/>
          </a:p>
        </p:txBody>
      </p:sp>
      <p:sp>
        <p:nvSpPr>
          <p:cNvPr id="576" name=""/>
          <p:cNvSpPr/>
          <p:nvPr/>
        </p:nvSpPr>
        <p:spPr>
          <a:xfrm rot="0" flipH="0" flipV="0">
            <a:off x="3533775" y="1600200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7" name=""/>
          <p:cNvSpPr/>
          <p:nvPr/>
        </p:nvSpPr>
        <p:spPr>
          <a:xfrm rot="0" flipH="0" flipV="0">
            <a:off x="3533775" y="1600200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3667125" y="18764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PyTorch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3667125" y="20574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本课程主框架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3533775" y="2552700"/>
            <a:ext cx="2514600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3533775" y="2552700"/>
            <a:ext cx="2514600" cy="876300"/>
          </a:xfrm>
          <a:custGeom>
            <a:pathLst>
              <a:path w="264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3667125" y="28289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torchvision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3667125" y="30099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视觉模型与数据集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3533775" y="35147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5" name=""/>
          <p:cNvSpPr/>
          <p:nvPr/>
        </p:nvSpPr>
        <p:spPr>
          <a:xfrm rot="0" flipH="0" flipV="0">
            <a:off x="3533775" y="35147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3667125" y="37909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Colab GPU</a:t>
            </a:r>
            <a:endParaRPr/>
          </a:p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3667125" y="39719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免费算力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3533775" y="44672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9" name=""/>
          <p:cNvSpPr/>
          <p:nvPr/>
        </p:nvSpPr>
        <p:spPr>
          <a:xfrm rot="0" flipH="0" flipV="0">
            <a:off x="3533775" y="44672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667125" y="47434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Matplotlib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3667125" y="49244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训练曲线可视化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6181725" y="971550"/>
            <a:ext cx="2524125" cy="542925"/>
          </a:xfrm>
          <a:prstGeom prst="roundRect">
            <a:avLst>
              <a:gd name="adj" fmla="val 1754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6334125" y="106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M3 · W9–12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6334125" y="1219200"/>
            <a:ext cx="2219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NLP </a:t>
            </a:r>
            <a:r>
              <a:rPr lang="zh-CN" sz="1275" b="1">
                <a:solidFill>
                  <a:srgbClr val="FFFFFF"/>
                </a:solidFill>
                <a:latin typeface="Source Han Sans SC"/>
                <a:ea typeface="Source Han Sans SC"/>
              </a:rPr>
              <a:t>与</a:t>
            </a: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 LLM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6219825" y="1600200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6219825" y="1600200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6353175" y="18764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Hugging Face Transformers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6353175" y="20574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第二重要的库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6219825" y="2552700"/>
            <a:ext cx="2524125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6219825" y="2552700"/>
            <a:ext cx="2524125" cy="876300"/>
          </a:xfrm>
          <a:custGeom>
            <a:pathLst>
              <a:path w="265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6353175" y="28289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Datasets · Tokenizers</a:t>
            </a:r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6353175" y="30099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数据与分词</a:t>
            </a:r>
            <a:endParaRPr/>
          </a:p>
        </p:txBody>
      </p:sp>
      <p:sp>
        <p:nvSpPr>
          <p:cNvPr id="603" name=""/>
          <p:cNvSpPr/>
          <p:nvPr/>
        </p:nvSpPr>
        <p:spPr>
          <a:xfrm rot="0" flipH="0" flipV="0">
            <a:off x="6219825" y="35147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4" name=""/>
          <p:cNvSpPr/>
          <p:nvPr/>
        </p:nvSpPr>
        <p:spPr>
          <a:xfrm rot="0" flipH="0" flipV="0">
            <a:off x="6219825" y="35147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5" name="" descr="{&quot;isTemplate&quot;:true,&quot;type&quot;:&quot;text&quot;}"/>
          <p:cNvSpPr txBox="1"/>
          <p:nvPr/>
        </p:nvSpPr>
        <p:spPr>
          <a:xfrm rot="0" flipH="0" flipV="0">
            <a:off x="6353175" y="37909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Ollama</a:t>
            </a:r>
            <a:endParaRPr/>
          </a:p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6353175" y="39719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本机跑开源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LLM</a:t>
            </a:r>
            <a:endParaRPr/>
          </a:p>
        </p:txBody>
      </p:sp>
      <p:sp>
        <p:nvSpPr>
          <p:cNvPr id="607" name=""/>
          <p:cNvSpPr/>
          <p:nvPr/>
        </p:nvSpPr>
        <p:spPr>
          <a:xfrm rot="0" flipH="0" flipV="0">
            <a:off x="6219825" y="44672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8" name=""/>
          <p:cNvSpPr/>
          <p:nvPr/>
        </p:nvSpPr>
        <p:spPr>
          <a:xfrm rot="0" flipH="0" flipV="0">
            <a:off x="6219825" y="44672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6353175" y="47434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LangChain</a:t>
            </a:r>
            <a:endParaRPr/>
          </a:p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6353175" y="49244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应用编排框架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8877300" y="971550"/>
            <a:ext cx="2514600" cy="542925"/>
          </a:xfrm>
          <a:prstGeom prst="roundRect">
            <a:avLst>
              <a:gd name="adj" fmla="val 1754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9029700" y="10668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M4 · W13–16</a:t>
            </a:r>
            <a:endParaRPr/>
          </a:p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9029700" y="1219200"/>
            <a:ext cx="2209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Source Han Sans SC"/>
                <a:ea typeface="Source Han Sans SC"/>
              </a:rPr>
              <a:t>工程化</a:t>
            </a:r>
            <a:endParaRPr/>
          </a:p>
        </p:txBody>
      </p:sp>
      <p:sp>
        <p:nvSpPr>
          <p:cNvPr id="614" name=""/>
          <p:cNvSpPr/>
          <p:nvPr/>
        </p:nvSpPr>
        <p:spPr>
          <a:xfrm rot="0" flipH="0" flipV="0">
            <a:off x="8915400" y="1600200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15" name=""/>
          <p:cNvSpPr/>
          <p:nvPr/>
        </p:nvSpPr>
        <p:spPr>
          <a:xfrm rot="0" flipH="0" flipV="0">
            <a:off x="8915400" y="1600200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9048750" y="18764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FastAPI</a:t>
            </a:r>
            <a:endParaRPr/>
          </a:p>
        </p:txBody>
      </p:sp>
      <p:sp>
        <p:nvSpPr>
          <p:cNvPr id="617" name="" descr="{&quot;isTemplate&quot;:true,&quot;type&quot;:&quot;text&quot;}"/>
          <p:cNvSpPr txBox="1"/>
          <p:nvPr/>
        </p:nvSpPr>
        <p:spPr>
          <a:xfrm rot="0" flipH="0" flipV="0">
            <a:off x="9048750" y="20574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模型服务化</a:t>
            </a:r>
            <a:endParaRPr/>
          </a:p>
        </p:txBody>
      </p:sp>
      <p:sp>
        <p:nvSpPr>
          <p:cNvPr id="618" name=""/>
          <p:cNvSpPr/>
          <p:nvPr/>
        </p:nvSpPr>
        <p:spPr>
          <a:xfrm rot="0" flipH="0" flipV="0">
            <a:off x="8915400" y="2552700"/>
            <a:ext cx="2514600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19" name=""/>
          <p:cNvSpPr/>
          <p:nvPr/>
        </p:nvSpPr>
        <p:spPr>
          <a:xfrm rot="0" flipH="0" flipV="0">
            <a:off x="8915400" y="2552700"/>
            <a:ext cx="2514600" cy="876300"/>
          </a:xfrm>
          <a:custGeom>
            <a:pathLst>
              <a:path w="264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9048750" y="28289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Docker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9048750" y="30099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环境打包交付</a:t>
            </a:r>
            <a:endParaRPr/>
          </a:p>
        </p:txBody>
      </p:sp>
      <p:sp>
        <p:nvSpPr>
          <p:cNvPr id="622" name=""/>
          <p:cNvSpPr/>
          <p:nvPr/>
        </p:nvSpPr>
        <p:spPr>
          <a:xfrm rot="0" flipH="0" flipV="0">
            <a:off x="8915400" y="35147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23" name=""/>
          <p:cNvSpPr/>
          <p:nvPr/>
        </p:nvSpPr>
        <p:spPr>
          <a:xfrm rot="0" flipH="0" flipV="0">
            <a:off x="8915400" y="35147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9048750" y="37909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Streamlit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9048750" y="39719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快速应用界面</a:t>
            </a:r>
            <a:endParaRPr/>
          </a:p>
        </p:txBody>
      </p:sp>
      <p:sp>
        <p:nvSpPr>
          <p:cNvPr id="626" name=""/>
          <p:cNvSpPr/>
          <p:nvPr/>
        </p:nvSpPr>
        <p:spPr>
          <a:xfrm rot="0" flipH="0" flipV="0">
            <a:off x="8915400" y="44672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27" name=""/>
          <p:cNvSpPr/>
          <p:nvPr/>
        </p:nvSpPr>
        <p:spPr>
          <a:xfrm rot="0" flipH="0" flipV="0">
            <a:off x="8915400" y="44672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9048750" y="47434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MLflow</a:t>
            </a:r>
            <a:endParaRPr/>
          </a:p>
        </p:txBody>
      </p:sp>
      <p:sp>
        <p:nvSpPr>
          <p:cNvPr id="629" name="" descr="{&quot;isTemplate&quot;:true,&quot;type&quot;:&quot;text&quot;}"/>
          <p:cNvSpPr txBox="1"/>
          <p:nvPr/>
        </p:nvSpPr>
        <p:spPr>
          <a:xfrm rot="0" flipH="0" flipV="0">
            <a:off x="9048750" y="49244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实验跟踪</a:t>
            </a:r>
            <a:endParaRPr/>
          </a:p>
        </p:txBody>
      </p:sp>
      <p:sp>
        <p:nvSpPr>
          <p:cNvPr id="630" name=""/>
          <p:cNvSpPr/>
          <p:nvPr/>
        </p:nvSpPr>
        <p:spPr>
          <a:xfrm rot="0" flipH="0" flipV="0">
            <a:off x="800100" y="5562600"/>
            <a:ext cx="10591800" cy="68580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6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90600" y="5791200"/>
            <a:ext cx="228600" cy="228600"/>
          </a:xfrm>
          <a:prstGeom prst="rect">
            <a:avLst/>
          </a:prstGeom>
          <a:ln/>
        </p:spPr>
      </p:pic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1352550" y="5657850"/>
            <a:ext cx="984885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以上工具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全部免费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：本地跑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Anaconda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开源版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+ Colab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免费额度即可完成全部作业，唯一需要的是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GitHub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账号。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Everything above is free — a GitHub account is the only signup you need.</a:t>
            </a:r>
            <a:endParaRPr/>
          </a:p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22 / 32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35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0E3F8C' }} /&gt;&#10;  &lt;Box style={{ position: 'absolute', right: 0, top: 40, opacity: 0.05, width: 700, height: 560, overflow: 'hidden' }}&gt;&#10;    &lt;Text style={{ fontSize: 520, fontWeight: 'bold', color: '#0E3F8C', lineHeight: 0.95, textAlign: 'right' }}&gt;05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5&lt;/Text&gt;&#10;      &lt;/Box&gt;&#10;      &lt;Box style={{ paddingTop: 6 }}&gt;&#10;        &lt;Text style={{ fontSize: 44, color: '#1A2230', fontWeight: 'bold' }}&gt;Lab：动手实战&lt;/Text&gt;&#10;        &lt;Text style={{ fontSize: 26, color: '#8B97A8', fontWeight: '600', marginTop: 6 }}&gt;Hands-on: Environment &amp;amp; First ML Program&lt;/Text&gt;&#10;      &lt;/Box&gt;&#10;    &lt;/Box&gt;&#10;    &lt;Box style={{ flexDirection: 'row', gap: 24 }}&gt;&#10;      {[&#10;        { t: '环境搭建', e: 'Conda · Packages' },&#10;        { t: 'Jupyter 与 Git', e: 'Notebooks · Version Control' },&#10;        { t: '第一个模型', e: 'Iris + scikit-learn' },&#10;      ].map((k, i) =&gt; (&#10;        &lt;Box key={i} style={{ flex: 1, background: '#FFFFFF', border: '1px solid #D6DCE5', borderLeft: '4px solid #0E3F8C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  &lt;Box style={{ background: '#0E3F8C', borderRadius: 10, padding: '14px 24px', flexDirection: 'row', alignItems: 'center', gap: 16 }}&gt;&#10;      &lt;FAIcon name='clock' style={{ fill: '#FFFFFF', width: 24, height: 24 }} /&gt;&#10;      &lt;Text style={{ fontSize: 16, color: '#FFFFFF' }}&gt;&#10;        接下来约 75 分钟：跟着步骤做，卡住了随时举手 —— 今天下课前每人都要有一个能跑的模型。Everyone leaves with a working model today.&#10;      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7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0E3F8C">
                    <a:alpha val="5000"/>
                  </a:srgbClr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639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5238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Lab</a:t>
            </a: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：动手实战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52387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Hands-on: Environment &amp; First ML Program</a:t>
            </a:r>
            <a:endParaRPr/>
          </a:p>
        </p:txBody>
      </p:sp>
      <p:sp>
        <p:nvSpPr>
          <p:cNvPr id="643" name=""/>
          <p:cNvSpPr/>
          <p:nvPr/>
        </p:nvSpPr>
        <p:spPr>
          <a:xfrm rot="0" flipH="0" flipV="0">
            <a:off x="895350" y="34004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895350" y="34004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104900" y="35718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环境搭建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104900" y="38671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Conda · Packages</a:t>
            </a:r>
            <a:endParaRPr/>
          </a:p>
        </p:txBody>
      </p:sp>
      <p:sp>
        <p:nvSpPr>
          <p:cNvPr id="647" name=""/>
          <p:cNvSpPr/>
          <p:nvPr/>
        </p:nvSpPr>
        <p:spPr>
          <a:xfrm rot="0" flipH="0" flipV="0">
            <a:off x="4467225" y="34004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8" name=""/>
          <p:cNvSpPr/>
          <p:nvPr/>
        </p:nvSpPr>
        <p:spPr>
          <a:xfrm rot="0" flipH="0" flipV="0">
            <a:off x="4467225" y="34004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4676775" y="35718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Jupyter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与</a:t>
            </a: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 Git</a:t>
            </a:r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4676775" y="38671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Notebooks · Version Control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8029575" y="34004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8029575" y="34004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8239125" y="35718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第一个模型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8239125" y="38671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Iris + scikit-learn</a:t>
            </a:r>
            <a:endParaRPr/>
          </a:p>
        </p:txBody>
      </p:sp>
      <p:sp>
        <p:nvSpPr>
          <p:cNvPr id="655" name=""/>
          <p:cNvSpPr/>
          <p:nvPr/>
        </p:nvSpPr>
        <p:spPr>
          <a:xfrm rot="0" flipH="0" flipV="0">
            <a:off x="857250" y="5314950"/>
            <a:ext cx="10477500" cy="495300"/>
          </a:xfrm>
          <a:prstGeom prst="roundRect">
            <a:avLst>
              <a:gd name="adj" fmla="val 19231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5448300"/>
            <a:ext cx="228600" cy="228600"/>
          </a:xfrm>
          <a:prstGeom prst="rect">
            <a:avLst/>
          </a:prstGeom>
          <a:ln/>
        </p:spPr>
      </p:pic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1466850" y="5467350"/>
            <a:ext cx="9639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Source Han Sans SC"/>
                <a:ea typeface="Source Han Sans SC"/>
              </a:rPr>
              <a:t>接下来约</a:t>
            </a:r>
            <a:r>
              <a:rPr lang="en-US" sz="1200">
                <a:solidFill>
                  <a:srgbClr val="FFFFFF"/>
                </a:solidFill>
                <a:latin typeface="Source Han Sans SC"/>
                <a:ea typeface="Source Han Sans SC"/>
              </a:rPr>
              <a:t> 75 </a:t>
            </a:r>
            <a:r>
              <a:rPr lang="zh-CN" sz="1200">
                <a:solidFill>
                  <a:srgbClr val="FFFFFF"/>
                </a:solidFill>
                <a:latin typeface="Source Han Sans SC"/>
                <a:ea typeface="Source Han Sans SC"/>
              </a:rPr>
              <a:t>分钟：跟着步骤做，卡住了随时举手</a:t>
            </a:r>
            <a:r>
              <a:rPr lang="en-US" sz="1200">
                <a:solidFill>
                  <a:srgbClr val="FFFFFF"/>
                </a:solidFill>
                <a:latin typeface="Source Han Sans SC"/>
                <a:ea typeface="Source Han Sans SC"/>
              </a:rPr>
              <a:t> —— </a:t>
            </a:r>
            <a:r>
              <a:rPr lang="zh-CN" sz="1200">
                <a:solidFill>
                  <a:srgbClr val="FFFFFF"/>
                </a:solidFill>
                <a:latin typeface="Source Han Sans SC"/>
                <a:ea typeface="Source Han Sans SC"/>
              </a:rPr>
              <a:t>今天下课前每人都要有一个能跑的模型。</a:t>
            </a:r>
            <a:r>
              <a:rPr lang="en-US" sz="1200">
                <a:solidFill>
                  <a:srgbClr val="FFFFFF"/>
                </a:solidFill>
                <a:latin typeface="Source Han Sans SC"/>
                <a:ea typeface="Source Han Sans SC"/>
              </a:rPr>
              <a:t>Everyone leaves with a working model today.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5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0 · 目标与验收清单 · Overview &amp;amp; Checklist&lt;/Text&gt;&#10;    &lt;Text style={{ fontSize: 15, color: 'rgba(255,255,255,0.85)' }}&gt;Lab · Part 05&lt;/Text&gt;&#10;  &lt;/Box&gt;&#10;  &lt;Box style={{ position: 'absolute', top: 96, left: 0, width: '100%', height: 300, padding: '6px 84px', flexDirection: 'row', gap: 24 }}&gt;&#10;    &lt;Box style={{ flex: 1.3, background: '#F7F9FC', border: '1px solid #E5E7EB', borderRadius: 12, padding: '20px 24px' }}&gt;&#10;      &lt;Text style={{ fontSize: 18, color: '#0E3F8C', fontWeight: 'bold' }}&gt;今天的四步 · Today\u2019s Four Steps&lt;/Text&gt;&#10;      {[&#10;        { n: '1', t: '装好 Miniconda，创建 ai-app 环境', d: '所有依赖隔离在一个环境里，不污染系统' },&#10;        { n: '2', t: '跑通 JupyterLab（或 Colab）', d: '交互式写代码，后续课程的主战场' },&#10;        { n: '3', t: 'Git 初始化并推送到 GitHub', d: '每次作业都从 clone 你的仓库开始' },&#10;        { n: '4', t: '训练第一个模型：Iris 分类', d: '10 行代码，完整走一遍 ML 流程' },&#10;      ].map((s, i) =&gt; (&#10;        &lt;Box key={i} style={{ flexDirection: 'row', gap: 14, alignItems: 'center', background: '#FFFFFF', border: '1px solid #E5E7EB', borderRadius: 8, padding: '10px 16px', marginTop: 10 }}&gt;&#10;          &lt;Box style={{ width: 32, height: 32, borderRadius: 16, background: '#1E4FA8', justifyContent: 'center', alignItems: 'center', flexShrink: 0 }}&gt;&#10;            &lt;Text style={{ fontSize: 15, color: '#FFFFFF', fontWeight: 'bold' }}&gt;{s.n}&lt;/Text&gt;&#10;          &lt;/Box&gt;&#10;          &lt;Box style={{ flex: 1 }}&gt;&#10;            &lt;Text style={{ fontSize: 15.5, color: '#1A2230', fontWeight: '600' }}&gt;{s.t}&lt;/Text&gt;&#10;            &lt;Text style={{ fontSize: 12.5, color: '#8B97A8', marginTop: 1 }}&gt;{s.d}&lt;/Text&gt;&#10;          &lt;/Box&gt;&#10;        &lt;/Box&gt;&#10;      ))}&#10;    &lt;/Box&gt;&#10;    &lt;Box style={{ flex: 1, background: '#F0F5FC', border: '1px solid #D6DCE5', borderRadius: 12, padding: '20px 24px' }}&gt;&#10;      &lt;Text style={{ fontSize: 18, color: '#0E3F8C', fontWeight: 'bold' }}&gt;下课前的验收清单 · Exit Checklist&lt;/Text&gt;&#10;      &lt;Text style={{ fontSize: 13, color: '#8B97A8', marginTop: 2 }}&gt;四项全勾才算完成 Lab&lt;/Text&gt;&#10;      &lt;Box style={{ marginTop: 14 }}&gt;&#10;        {[&#10;          'conda activate ai-app 成功，无报错',&#10;          'JupyterLab 打开，能执行一个 cell',&#10;          'GitHub 仓库创建，至少 1 次 commit + push',&#10;          'Iris 模型 accuracy ≥ 0.9 打印在屏幕上',&#10;        ].map((c, i) =&gt; (&#10;          &lt;Box key={i} style={{ flexDirection: 'row', gap: 12, alignItems: 'center', background: '#FFFFFF', borderRadius: 8, padding: '11px 16px', borderLeft: '4px solid #1E4FA8', marginBottom: 9 }}&gt;&#10;            &lt;FAIcon name='check-square' style={{ fill: '#1E4FA8', width: 20, height: 20, flexShrink: 0 }} /&gt;&#10;            &lt;Text style={{ fontSize: 14.5, color: '#1A2230' }}&gt;{c}&lt;/Text&gt;&#10;          &lt;/Box&gt;&#10;        ))}&#10;      &lt;/Box&gt;&#10;      &lt;Text style={{ fontSize: 13, color: '#4A5568', marginTop: 6, lineHeight: 1.6 }}&gt;&#10;        装不上？&lt;b&gt;举手，别自己硬耗&lt;/b&gt; —— 前 3 排助教巡逻中。Stuck? Raise your hand — that\u2019s what we\u2019re here for.&#10;      &lt;/Text&gt;&#10;    &lt;/Box&gt;&#10;  &lt;/Box&gt;&#10;  &lt;Box style={{ position: 'absolute', top: 412, left: 0, width: '100%', height: 234, padding: '6px 84px' }}&gt;&#10;    &lt;Box style={{ width: '100%', height: '100%', background: '#F7F9FC', border: '1px solid #E5E7EB', borderRadius: 12, padding: '16px 24px', justifyContent: 'center' }}&gt;&#10;      &lt;Text style={{ fontSize: 16, color: '#0E3F8C', fontWeight: 'bold', marginBottom: 10 }}&gt;你的技术栈全景 · Your Stack at a Glance&lt;/Text&gt;&#10;      &lt;Box style={{ flexDirection: 'row', alignItems: 'center', gap: 12 }}&gt;&#10;        {[&#10;          { t: '操作系统', s: 'macOS / Windows / Linux', c: '#8B97A8' },&#10;          { t: '包管理', s: 'Miniconda', c: '#1E4FA8' },&#10;          { t: '隔离环境', s: 'conda env: ai-app', c: '#1E4FA8' },&#10;          { t: '核心包', s: 'numpy pandas sklearn jupyter', c: '#3D7BD9' },&#10;          { t: '编辑器', s: 'VS Code / JupyterLab', c: '#3D7BD9' },&#10;          { t: '远程', s: 'GitHub + Colab', c: '#0E3F8C' },&#10;        ].map((b, i) =&gt; (&#10;          &lt;Box key={i} style={{ flex: 1, background: '#FFFFFF', border: '1px solid #E5E7EB', borderTop: '4px solid ' + b.c, borderRadius: 8, padding: '10px 12px', alignItems: 'center' }}&gt;&#10;            &lt;Text style={{ fontSize: 12, color: '#8B97A8' }}&gt;{b.t}&lt;/Text&gt;&#10;            &lt;Text style={{ fontSize: 13.5, color: '#1A2230', fontWeight: '600', marginTop: 3, textAlign: 'center' }}&gt;{b.s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6577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0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目标与验收清单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Overview &amp; Checklist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0477500" y="2952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Lab · Part 05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800100" y="971550"/>
            <a:ext cx="5857875" cy="3067050"/>
          </a:xfrm>
          <a:prstGeom prst="roundRect">
            <a:avLst>
              <a:gd name="adj" fmla="val 372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1028700" y="1162050"/>
            <a:ext cx="54006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今天的四步</a:t>
            </a: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 · Today\u2019s Four Steps</a:t>
            </a:r>
            <a:endParaRPr/>
          </a:p>
        </p:txBody>
      </p:sp>
      <p:sp>
        <p:nvSpPr>
          <p:cNvPr id="665" name=""/>
          <p:cNvSpPr/>
          <p:nvPr/>
        </p:nvSpPr>
        <p:spPr>
          <a:xfrm rot="0" flipH="0" flipV="0">
            <a:off x="1028700" y="1466850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6" name=""/>
          <p:cNvSpPr/>
          <p:nvPr/>
        </p:nvSpPr>
        <p:spPr>
          <a:xfrm rot="0" flipH="0" flipV="0">
            <a:off x="1181100" y="158115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1304925" y="1647825"/>
            <a:ext cx="66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1619250" y="1562100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装好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Miniconda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，创建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ai-app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环境</a:t>
            </a:r>
            <a:endParaRPr/>
          </a:p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1619250" y="1752600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所有依赖隔离在一个环境里，不污染系统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1028700" y="2085975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71" name=""/>
          <p:cNvSpPr/>
          <p:nvPr/>
        </p:nvSpPr>
        <p:spPr>
          <a:xfrm rot="0" flipH="0" flipV="0">
            <a:off x="1181100" y="220027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295400" y="22669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1619250" y="2181225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跑通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JupyterLab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（或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Colab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1619250" y="2371725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交互式写代码，后续课程的主战场</a:t>
            </a:r>
            <a:endParaRPr/>
          </a:p>
        </p:txBody>
      </p:sp>
      <p:sp>
        <p:nvSpPr>
          <p:cNvPr id="675" name=""/>
          <p:cNvSpPr/>
          <p:nvPr/>
        </p:nvSpPr>
        <p:spPr>
          <a:xfrm rot="0" flipH="0" flipV="0">
            <a:off x="1028700" y="2705100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76" name=""/>
          <p:cNvSpPr/>
          <p:nvPr/>
        </p:nvSpPr>
        <p:spPr>
          <a:xfrm rot="0" flipH="0" flipV="0">
            <a:off x="1181100" y="28194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1295400" y="28860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1619250" y="2800350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Git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初始化并推送到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GitHub</a:t>
            </a:r>
            <a:endParaRPr/>
          </a:p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1619250" y="2990850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每次作业都从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clone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你的仓库开始</a:t>
            </a:r>
            <a:endParaRPr/>
          </a:p>
        </p:txBody>
      </p:sp>
      <p:sp>
        <p:nvSpPr>
          <p:cNvPr id="680" name=""/>
          <p:cNvSpPr/>
          <p:nvPr/>
        </p:nvSpPr>
        <p:spPr>
          <a:xfrm rot="0" flipH="0" flipV="0">
            <a:off x="1028700" y="3324225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1" name=""/>
          <p:cNvSpPr/>
          <p:nvPr/>
        </p:nvSpPr>
        <p:spPr>
          <a:xfrm rot="0" flipH="0" flipV="0">
            <a:off x="1181100" y="343852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1295400" y="35052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1619250" y="3419475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训练第一个模型：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Iris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分类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1619250" y="3609975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10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行代码，完整走一遍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ML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流程</a:t>
            </a:r>
            <a:endParaRPr/>
          </a:p>
        </p:txBody>
      </p:sp>
      <p:sp>
        <p:nvSpPr>
          <p:cNvPr id="685" name=""/>
          <p:cNvSpPr/>
          <p:nvPr/>
        </p:nvSpPr>
        <p:spPr>
          <a:xfrm rot="0" flipH="0" flipV="0">
            <a:off x="6886575" y="971550"/>
            <a:ext cx="4505325" cy="3371850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7115175" y="1162050"/>
            <a:ext cx="40481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下课前的验收清单</a:t>
            </a: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 · Exit Checklist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7115175" y="1390650"/>
            <a:ext cx="404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四项全勾才算完成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Lab</a:t>
            </a:r>
            <a:endParaRPr/>
          </a:p>
        </p:txBody>
      </p:sp>
      <p:sp>
        <p:nvSpPr>
          <p:cNvPr id="688" name=""/>
          <p:cNvSpPr/>
          <p:nvPr/>
        </p:nvSpPr>
        <p:spPr>
          <a:xfrm rot="0" flipH="0" flipV="0">
            <a:off x="7153275" y="167640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9" name=""/>
          <p:cNvSpPr/>
          <p:nvPr/>
        </p:nvSpPr>
        <p:spPr>
          <a:xfrm rot="0" flipH="0" flipV="0">
            <a:off x="7153275" y="1676400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1781175"/>
            <a:ext cx="190500" cy="190500"/>
          </a:xfrm>
          <a:prstGeom prst="rect">
            <a:avLst/>
          </a:prstGeom>
          <a:ln/>
        </p:spPr>
      </p:pic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7610475" y="1790700"/>
            <a:ext cx="2305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conda activate ai-app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成功，无报错</a:t>
            </a:r>
            <a:endParaRPr/>
          </a:p>
        </p:txBody>
      </p:sp>
      <p:sp>
        <p:nvSpPr>
          <p:cNvPr id="692" name=""/>
          <p:cNvSpPr/>
          <p:nvPr/>
        </p:nvSpPr>
        <p:spPr>
          <a:xfrm rot="0" flipH="0" flipV="0">
            <a:off x="7153275" y="216217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93" name=""/>
          <p:cNvSpPr/>
          <p:nvPr/>
        </p:nvSpPr>
        <p:spPr>
          <a:xfrm rot="0" flipH="0" flipV="0">
            <a:off x="7153275" y="2162175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2266950"/>
            <a:ext cx="190500" cy="190500"/>
          </a:xfrm>
          <a:prstGeom prst="rect">
            <a:avLst/>
          </a:prstGeom>
          <a:ln/>
        </p:spPr>
      </p:pic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7610475" y="2276475"/>
            <a:ext cx="2133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JupyterLab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打开，能执行一个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cell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7153275" y="264795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97" name=""/>
          <p:cNvSpPr/>
          <p:nvPr/>
        </p:nvSpPr>
        <p:spPr>
          <a:xfrm rot="0" flipH="0" flipV="0">
            <a:off x="7153275" y="2647950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2752725"/>
            <a:ext cx="190500" cy="190500"/>
          </a:xfrm>
          <a:prstGeom prst="rect">
            <a:avLst/>
          </a:prstGeom>
          <a:ln/>
        </p:spPr>
      </p:pic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7610475" y="2762250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GitHub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仓库创建，至少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1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次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commit + push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7153275" y="313372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1" name=""/>
          <p:cNvSpPr/>
          <p:nvPr/>
        </p:nvSpPr>
        <p:spPr>
          <a:xfrm rot="0" flipH="0" flipV="0">
            <a:off x="7153275" y="3133725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7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3238500"/>
            <a:ext cx="190500" cy="190500"/>
          </a:xfrm>
          <a:prstGeom prst="rect">
            <a:avLst/>
          </a:prstGeom>
          <a:ln/>
        </p:spPr>
      </p:pic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7610475" y="3248025"/>
            <a:ext cx="2419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Iris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模型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accuracy ≥ 0.9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打印在屏幕上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7115175" y="3676650"/>
            <a:ext cx="40481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装不上？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举手，别自己硬耗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前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3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排助教巡逻中。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Stuck? Raise your hand — that\u2019s what we\u2019re here for.</a:t>
            </a:r>
            <a:endParaRPr/>
          </a:p>
        </p:txBody>
      </p:sp>
      <p:sp>
        <p:nvSpPr>
          <p:cNvPr id="705" name=""/>
          <p:cNvSpPr/>
          <p:nvPr/>
        </p:nvSpPr>
        <p:spPr>
          <a:xfrm rot="0" flipH="0" flipV="0">
            <a:off x="800100" y="3981450"/>
            <a:ext cx="10591800" cy="2114550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1028700" y="4543425"/>
            <a:ext cx="10134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你的技术栈全景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Your Stack at a Glance</a:t>
            </a:r>
            <a:endParaRPr/>
          </a:p>
        </p:txBody>
      </p:sp>
      <p:sp>
        <p:nvSpPr>
          <p:cNvPr id="707" name=""/>
          <p:cNvSpPr/>
          <p:nvPr/>
        </p:nvSpPr>
        <p:spPr>
          <a:xfrm rot="0" flipH="0" flipV="0">
            <a:off x="1028700" y="4867275"/>
            <a:ext cx="159067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8" name=""/>
          <p:cNvSpPr/>
          <p:nvPr/>
        </p:nvSpPr>
        <p:spPr>
          <a:xfrm rot="0" flipH="0" flipV="0">
            <a:off x="1028700" y="4867275"/>
            <a:ext cx="1590675" cy="714375"/>
          </a:xfrm>
          <a:custGeom>
            <a:pathLst>
              <a:path w="167" h="75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160020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Source Han Sans SC"/>
                <a:ea typeface="Source Han Sans SC"/>
              </a:rPr>
              <a:t>操作系统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143000" y="5133975"/>
            <a:ext cx="1362075" cy="3143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Source Han Sans SC"/>
                <a:ea typeface="Source Han Sans SC"/>
              </a:rPr>
              <a:t>macOS / Windows / Linux</a:t>
            </a:r>
            <a:endParaRPr/>
          </a:p>
        </p:txBody>
      </p:sp>
      <p:sp>
        <p:nvSpPr>
          <p:cNvPr id="711" name=""/>
          <p:cNvSpPr/>
          <p:nvPr/>
        </p:nvSpPr>
        <p:spPr>
          <a:xfrm rot="0" flipH="0" flipV="0">
            <a:off x="2733675" y="4943475"/>
            <a:ext cx="160020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2" name=""/>
          <p:cNvSpPr/>
          <p:nvPr/>
        </p:nvSpPr>
        <p:spPr>
          <a:xfrm rot="0" flipH="0" flipV="0">
            <a:off x="2733675" y="4943475"/>
            <a:ext cx="1600200" cy="561975"/>
          </a:xfrm>
          <a:custGeom>
            <a:pathLst>
              <a:path w="168" h="59">
                <a:moveTo>
                  <a:pt x="160" y="0"/>
                </a:moveTo>
                <a:cubicBezTo>
                  <a:pt x="164" y="0"/>
                  <a:pt x="167" y="3"/>
                  <a:pt x="168" y="7"/>
                </a:cubicBezTo>
                <a:cubicBezTo>
                  <a:pt x="167" y="5"/>
                  <a:pt x="166" y="4"/>
                  <a:pt x="164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60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3362325" y="5038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Source Han Sans SC"/>
                <a:ea typeface="Source Han Sans SC"/>
              </a:rPr>
              <a:t>包管理</a:t>
            </a:r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3219450" y="5210175"/>
            <a:ext cx="638175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Source Han Sans SC"/>
                <a:ea typeface="Source Han Sans SC"/>
              </a:rPr>
              <a:t>Miniconda</a:t>
            </a:r>
            <a:endParaRPr/>
          </a:p>
        </p:txBody>
      </p:sp>
      <p:sp>
        <p:nvSpPr>
          <p:cNvPr id="715" name=""/>
          <p:cNvSpPr/>
          <p:nvPr/>
        </p:nvSpPr>
        <p:spPr>
          <a:xfrm rot="0" flipH="0" flipV="0">
            <a:off x="4448175" y="4943475"/>
            <a:ext cx="1590675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6" name=""/>
          <p:cNvSpPr/>
          <p:nvPr/>
        </p:nvSpPr>
        <p:spPr>
          <a:xfrm rot="0" flipH="0" flipV="0">
            <a:off x="4448175" y="4943475"/>
            <a:ext cx="1590675" cy="561975"/>
          </a:xfrm>
          <a:custGeom>
            <a:pathLst>
              <a:path w="167" h="59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5019675" y="50387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Source Han Sans SC"/>
                <a:ea typeface="Source Han Sans SC"/>
              </a:rPr>
              <a:t>隔离环境</a:t>
            </a:r>
            <a:endParaRPr/>
          </a:p>
        </p:txBody>
      </p:sp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4686300" y="5210175"/>
            <a:ext cx="11239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Source Han Sans SC"/>
                <a:ea typeface="Source Han Sans SC"/>
              </a:rPr>
              <a:t>conda env: ai-app</a:t>
            </a:r>
            <a:endParaRPr/>
          </a:p>
        </p:txBody>
      </p:sp>
      <p:sp>
        <p:nvSpPr>
          <p:cNvPr id="719" name=""/>
          <p:cNvSpPr/>
          <p:nvPr/>
        </p:nvSpPr>
        <p:spPr>
          <a:xfrm rot="0" flipH="0" flipV="0">
            <a:off x="6153150" y="4867275"/>
            <a:ext cx="159067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0" name=""/>
          <p:cNvSpPr/>
          <p:nvPr/>
        </p:nvSpPr>
        <p:spPr>
          <a:xfrm rot="0" flipH="0" flipV="0">
            <a:off x="6153150" y="4867275"/>
            <a:ext cx="1590675" cy="714375"/>
          </a:xfrm>
          <a:custGeom>
            <a:pathLst>
              <a:path w="167" h="75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6781800" y="49625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Source Han Sans SC"/>
                <a:ea typeface="Source Han Sans SC"/>
              </a:rPr>
              <a:t>核心包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6267450" y="5133975"/>
            <a:ext cx="1362075" cy="3143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Source Han Sans SC"/>
                <a:ea typeface="Source Han Sans SC"/>
              </a:rPr>
              <a:t>numpy pandas sklearn jupyter</a:t>
            </a:r>
            <a:endParaRPr/>
          </a:p>
        </p:txBody>
      </p:sp>
      <p:sp>
        <p:nvSpPr>
          <p:cNvPr id="723" name=""/>
          <p:cNvSpPr/>
          <p:nvPr/>
        </p:nvSpPr>
        <p:spPr>
          <a:xfrm rot="0" flipH="0" flipV="0">
            <a:off x="7858125" y="4867275"/>
            <a:ext cx="1600200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4" name=""/>
          <p:cNvSpPr/>
          <p:nvPr/>
        </p:nvSpPr>
        <p:spPr>
          <a:xfrm rot="0" flipH="0" flipV="0">
            <a:off x="7858125" y="4867275"/>
            <a:ext cx="1600200" cy="714375"/>
          </a:xfrm>
          <a:custGeom>
            <a:pathLst>
              <a:path w="168" h="75">
                <a:moveTo>
                  <a:pt x="160" y="0"/>
                </a:moveTo>
                <a:cubicBezTo>
                  <a:pt x="164" y="0"/>
                  <a:pt x="167" y="3"/>
                  <a:pt x="168" y="7"/>
                </a:cubicBezTo>
                <a:cubicBezTo>
                  <a:pt x="167" y="5"/>
                  <a:pt x="166" y="4"/>
                  <a:pt x="164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6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8486775" y="49625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Source Han Sans SC"/>
                <a:ea typeface="Source Han Sans SC"/>
              </a:rPr>
              <a:t>编辑器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7972425" y="5133975"/>
            <a:ext cx="13716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Source Han Sans SC"/>
                <a:ea typeface="Source Han Sans SC"/>
              </a:rPr>
              <a:t>VS Code / JupyterLab</a:t>
            </a:r>
            <a:endParaRPr/>
          </a:p>
        </p:txBody>
      </p:sp>
      <p:sp>
        <p:nvSpPr>
          <p:cNvPr id="727" name=""/>
          <p:cNvSpPr/>
          <p:nvPr/>
        </p:nvSpPr>
        <p:spPr>
          <a:xfrm rot="0" flipH="0" flipV="0">
            <a:off x="9572625" y="4943475"/>
            <a:ext cx="1590675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8" name=""/>
          <p:cNvSpPr/>
          <p:nvPr/>
        </p:nvSpPr>
        <p:spPr>
          <a:xfrm rot="0" flipH="0" flipV="0">
            <a:off x="9572625" y="4943475"/>
            <a:ext cx="1590675" cy="561975"/>
          </a:xfrm>
          <a:custGeom>
            <a:pathLst>
              <a:path w="167" h="59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10258425" y="5038725"/>
            <a:ext cx="22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Source Han Sans SC"/>
                <a:ea typeface="Source Han Sans SC"/>
              </a:rPr>
              <a:t>远程</a:t>
            </a:r>
            <a:endParaRPr/>
          </a:p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9896475" y="5210175"/>
            <a:ext cx="9525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Source Han Sans SC"/>
                <a:ea typeface="Source Han Sans SC"/>
              </a:rPr>
              <a:t>GitHub + Colab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24 / 32</a:t>
            </a:r>
            <a:endParaRPr/>
          </a:p>
        </p:txBody>
      </p:sp>
    </p:spTree>
  </p:cSld>
</p:sld>
</file>

<file path=ppt/slides/slide2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33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1 · Miniconda 与环境创建 · Environment Setup&lt;/Text&gt;&#10;    &lt;Text style={{ fontSize: 15, color: 'rgba(255,255,255,0.85)' }}&gt;Lab · Part 05&lt;/Text&gt;&#10;  &lt;/Box&gt;&#10;  &lt;Box style={{ position: 'absolute', top: 96, left: 0, width: '100%', height: 550, padding: '6px 84px', flexDirection: 'row', gap: 28 }}&gt;&#10;    &lt;Box style={{ width: 640, flexShrink: 0 }}&gt;&#10;      &lt;Text style={{ fontSize: 16, color: '#8B97A8', fontWeight: '600', marginBottom: 10 }}&gt;跟着敲 · Follow Along&lt;/Text&gt;&#10;      &lt;Box style={{ background: '#1A2230', borderRadius: 12, padding: '18px 24px' }}&gt;&#10;        {[&#10;          { c: '# 1. 下载安装 Miniconda（官网或镜像）', s: 'https://docs.conda.io/en/latest/miniconda.html' },&#10;          { c: '# 2. 创建并进入课程环境', s: 'conda create -n ai-app python=3.11 -y' },&#10;          { c: '', s: 'conda activate ai-app' },&#10;          { c: '# 3. 安装本学期核心包', s: 'conda install numpy pandas matplotlib \\' },&#10;          { c: '', s: '    scikit-learn jupyter -y' },&#10;          { c: '# 4. 验证安装', s: 'python -c &quot;import sklearn; print(sklearn.__version__)&quot;' },&#10;          { c: '# 5. 导出环境（课后交付用）', s: 'conda env export &gt; environment.yml' },&#10;        ].map((l, i) =&gt; (&#10;          &lt;Box key={i} style={{ marginBottom: 9 }}&gt;&#10;            {l.c ? &lt;Text style={{ fontSize: 13, color: '#7A8797', fontFamily: 'Consolas, Menlo, monospace' }}&gt;{l.c}&lt;/Text&gt; : null}&#10;            &lt;Text style={{ fontSize: 15, color: '#A8D8B9', fontFamily: 'Consolas, Menlo, monospace', lineHeight: 1.55 }}&gt;{l.s}&lt;/Text&gt;&#10;          &lt;/Box&gt;&#10;        ))}&#10;      &lt;/Box&gt;&#10;      &lt;Box style={{ background: '#F0F5FC', border: '1px solid #D6DCE5', borderRadius: 10, padding: '11px 18px', marginTop: 14 }}&gt;&#10;        &lt;Text style={{ fontSize: 14, color: '#4A5568', lineHeight: 1.6 }}&gt;&#10;          &lt;span style={{ fontWeight: 'bold', color: '#1E4FA8' }}&gt;为什么用环境？&lt;/span&gt;不同课程 / 项目需要不同版本的包，隔离环境互不打架——这是工程习惯，第 1 天就养成。&#10;          &lt;span style={{ fontSize: 12, color: '#8B97A8' }}&gt;Isolated environments prevent dependency hell.&lt;/span&gt;&#10;        &lt;/Text&gt;&#10;      &lt;/Box&gt;&#10;    &lt;/Box&gt;&#10;    &lt;Box style={{ flex: 1, gap: 12, justifyContent: 'center' }}&gt;&#10;      &lt;Text style={{ fontSize: 17, color: '#0E3F8C', fontWeight: 'bold' }}&gt;高频故障 · Top 3 Errors&lt;/Text&gt;&#10;      {[&#10;        { i: 'triangle-exclamation', t: 'conda: command not found', d: '安装后没重开终端。关闭终端重新打开；Windows 用「Anaconda Prompt」；仍不行把 conda 加入 PATH。' },&#10;        { i: 'wifi', t: '下载慢 / SSL 报错', d: '网络受限时切换镜像源（清华 / 阿里），或直接用手机热点 —— 装完就不再需要大流量。' },&#10;        { i: 'code', t: 'PackageNotFoundError', d: '九成是忘了 conda activate ai-app，在 base 环境里跑。看终端提示符前缀是不是 (ai-app)。' },&#10;      ].map((e, i) =&gt; (&#10;        &lt;Box key={i} style={{ background: '#FFF9F0', border: '1px solid #F0DFC0', borderLeft: '5px solid #D97706', borderRadius: 10, padding: '13px 16px' }}&gt;&#10;          &lt;Box style={{ flexDirection: 'row', alignItems: 'center', gap: 9 }}&gt;&#10;            &lt;FAIcon name={e.i} style={{ fill: '#D97706', width: 17, height: 17 }} /&gt;&#10;            &lt;Text style={{ fontSize: 15, color: '#1A2230', fontWeight: 'bold', fontFamily: 'Consolas, Menlo, monospace' }}&gt;{e.t}&lt;/Text&gt;&#10;          &lt;/Box&gt;&#10;          &lt;Text style={{ fontSize: 13.5, color: '#4A5568', lineHeight: 1.6, marginTop: 5 }}&gt;{e.d}&lt;/Text&gt;&#10;        &lt;/Box&gt;&#10;      ))}&#10;      &lt;Box style={{ background: '#0E3F8C', borderRadius: 10, padding: '11px 16px' }}&gt;&#10;        &lt;Text style={{ fontSize: 13.5, color: '#FFFFFF', lineHeight: 1.55 }}&gt;&#10;          助教巡场，卡壳 5 分钟以上直接举手。Stuck for 5 minutes? Raise your hand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3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5067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1 · Miniconda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与环境创建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Environment Setup</a:t>
            </a:r>
            <a:endParaRPr/>
          </a:p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10477500" y="2952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Lab · Part 05</a:t>
            </a:r>
            <a:endParaRPr/>
          </a:p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800100" y="971550"/>
            <a:ext cx="6096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跟着敲</a:t>
            </a: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 · Follow Along</a:t>
            </a:r>
            <a:endParaRPr/>
          </a:p>
        </p:txBody>
      </p:sp>
      <p:sp>
        <p:nvSpPr>
          <p:cNvPr id="739" name=""/>
          <p:cNvSpPr/>
          <p:nvPr/>
        </p:nvSpPr>
        <p:spPr>
          <a:xfrm rot="0" flipH="0" flipV="0">
            <a:off x="800100" y="1257300"/>
            <a:ext cx="6096000" cy="3571875"/>
          </a:xfrm>
          <a:prstGeom prst="roundRect">
            <a:avLst>
              <a:gd name="adj" fmla="val 320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1028700" y="142875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1.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下载安装</a:t>
            </a: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 Miniconda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（官网或镜像）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1028700" y="158115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https://docs.conda.io/en/latest/miniconda.html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1028700" y="1933575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2.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创建并进入课程环境</a:t>
            </a:r>
            <a:endParaRPr/>
          </a:p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1028700" y="208597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create -n ai-app python=3.11 -y</a:t>
            </a:r>
            <a:endParaRPr/>
          </a:p>
        </p:txBody>
      </p:sp>
      <p:sp>
        <p:nvSpPr>
          <p:cNvPr id="744" name="" descr="{&quot;isTemplate&quot;:true,&quot;type&quot;:&quot;text&quot;}"/>
          <p:cNvSpPr txBox="1"/>
          <p:nvPr/>
        </p:nvSpPr>
        <p:spPr>
          <a:xfrm rot="0" flipH="0" flipV="0">
            <a:off x="1028700" y="243840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activate ai-app</a:t>
            </a:r>
            <a:endParaRPr/>
          </a:p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1028700" y="2790825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3.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安装本学期核心包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028700" y="294322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install numpy pandas matplotlib \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028700" y="329565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   scikit-learn jupyter -y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028700" y="3648075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4.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验证安装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028700" y="380047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python -c "import sklearn; print(sklearn.__version__)"</a:t>
            </a:r>
            <a:endParaRPr/>
          </a:p>
        </p:txBody>
      </p:sp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1028700" y="415290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5.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导出环境（课后交付用）</a:t>
            </a:r>
            <a:endParaRPr/>
          </a:p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1028700" y="430530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env export &gt; environment.yml</a:t>
            </a:r>
            <a:endParaRPr/>
          </a:p>
        </p:txBody>
      </p:sp>
      <p:sp>
        <p:nvSpPr>
          <p:cNvPr id="752" name=""/>
          <p:cNvSpPr/>
          <p:nvPr/>
        </p:nvSpPr>
        <p:spPr>
          <a:xfrm rot="0" flipH="0" flipV="0">
            <a:off x="800100" y="4962525"/>
            <a:ext cx="60960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971550" y="5067300"/>
            <a:ext cx="5753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1E4FA8"/>
                </a:solidFill>
                <a:latin typeface="Source Han Sans SC"/>
                <a:ea typeface="Source Han Sans SC"/>
              </a:rPr>
              <a:t>为什么用环境？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不同课程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项目需要不同版本的包，隔离环境互不打架——这是工程习惯，第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天就养成。</a:t>
            </a: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Isolated environments prevent dependency hell.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7162800" y="1419225"/>
            <a:ext cx="4229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高频故障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Top 3 Errors</a:t>
            </a:r>
            <a:endParaRPr/>
          </a:p>
        </p:txBody>
      </p:sp>
      <p:sp>
        <p:nvSpPr>
          <p:cNvPr id="755" name=""/>
          <p:cNvSpPr/>
          <p:nvPr/>
        </p:nvSpPr>
        <p:spPr>
          <a:xfrm rot="0" flipH="0" flipV="0">
            <a:off x="7210425" y="1733550"/>
            <a:ext cx="4229100" cy="962025"/>
          </a:xfrm>
          <a:prstGeom prst="roundRect">
            <a:avLst>
              <a:gd name="adj" fmla="val 9901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56" name=""/>
          <p:cNvSpPr/>
          <p:nvPr/>
        </p:nvSpPr>
        <p:spPr>
          <a:xfrm rot="0" flipH="0" flipV="0">
            <a:off x="7210425" y="1733550"/>
            <a:ext cx="4229100" cy="962025"/>
          </a:xfrm>
          <a:custGeom>
            <a:pathLst>
              <a:path w="444" h="10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6"/>
                </a:lnTo>
                <a:cubicBezTo>
                  <a:pt x="5" y="98"/>
                  <a:pt x="7" y="100"/>
                  <a:pt x="9" y="101"/>
                </a:cubicBezTo>
                <a:cubicBezTo>
                  <a:pt x="4" y="100"/>
                  <a:pt x="0" y="96"/>
                  <a:pt x="0" y="9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7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62825" y="1866900"/>
            <a:ext cx="161925" cy="161925"/>
          </a:xfrm>
          <a:prstGeom prst="rect">
            <a:avLst/>
          </a:prstGeom>
          <a:ln/>
        </p:spPr>
      </p:pic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7610475" y="1857375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Consolas"/>
                <a:ea typeface="Consolas"/>
              </a:rPr>
              <a:t>conda: command not found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7362825" y="2076450"/>
            <a:ext cx="387667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安装后没重开终端。关闭终端重新打开；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Windows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用「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Anaconda Prompt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」；仍不行把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conda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加入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PATH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760" name=""/>
          <p:cNvSpPr/>
          <p:nvPr/>
        </p:nvSpPr>
        <p:spPr>
          <a:xfrm rot="0" flipH="0" flipV="0">
            <a:off x="7210425" y="2809875"/>
            <a:ext cx="4229100" cy="962025"/>
          </a:xfrm>
          <a:prstGeom prst="roundRect">
            <a:avLst>
              <a:gd name="adj" fmla="val 9901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61" name=""/>
          <p:cNvSpPr/>
          <p:nvPr/>
        </p:nvSpPr>
        <p:spPr>
          <a:xfrm rot="0" flipH="0" flipV="0">
            <a:off x="7210425" y="2809875"/>
            <a:ext cx="4229100" cy="962025"/>
          </a:xfrm>
          <a:custGeom>
            <a:pathLst>
              <a:path w="444" h="10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6"/>
                </a:lnTo>
                <a:cubicBezTo>
                  <a:pt x="5" y="98"/>
                  <a:pt x="7" y="100"/>
                  <a:pt x="9" y="101"/>
                </a:cubicBezTo>
                <a:cubicBezTo>
                  <a:pt x="4" y="100"/>
                  <a:pt x="0" y="96"/>
                  <a:pt x="0" y="9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7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62825" y="2943225"/>
            <a:ext cx="161925" cy="161925"/>
          </a:xfrm>
          <a:prstGeom prst="rect">
            <a:avLst/>
          </a:prstGeom>
          <a:ln/>
        </p:spPr>
      </p:pic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7610475" y="2933700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Consolas"/>
                <a:ea typeface="Consolas"/>
              </a:rPr>
              <a:t>下载慢</a:t>
            </a:r>
            <a:r>
              <a:rPr lang="en-US" sz="1125" b="1">
                <a:solidFill>
                  <a:srgbClr val="1A2230"/>
                </a:solidFill>
                <a:latin typeface="Consolas"/>
                <a:ea typeface="Consolas"/>
              </a:rPr>
              <a:t> / SSL </a:t>
            </a:r>
            <a:r>
              <a:rPr lang="zh-CN" sz="1125" b="1">
                <a:solidFill>
                  <a:srgbClr val="1A2230"/>
                </a:solidFill>
                <a:latin typeface="Consolas"/>
                <a:ea typeface="Consolas"/>
              </a:rPr>
              <a:t>报错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7362825" y="3152775"/>
            <a:ext cx="387667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网络受限时切换镜像源（清华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阿里），或直接用手机热点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装完就不再需要大流量。</a:t>
            </a:r>
            <a:endParaRPr/>
          </a:p>
        </p:txBody>
      </p:sp>
      <p:sp>
        <p:nvSpPr>
          <p:cNvPr id="765" name=""/>
          <p:cNvSpPr/>
          <p:nvPr/>
        </p:nvSpPr>
        <p:spPr>
          <a:xfrm rot="0" flipH="0" flipV="0">
            <a:off x="7210425" y="3886200"/>
            <a:ext cx="4229100" cy="962025"/>
          </a:xfrm>
          <a:prstGeom prst="roundRect">
            <a:avLst>
              <a:gd name="adj" fmla="val 9901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66" name=""/>
          <p:cNvSpPr/>
          <p:nvPr/>
        </p:nvSpPr>
        <p:spPr>
          <a:xfrm rot="0" flipH="0" flipV="0">
            <a:off x="7210425" y="3886200"/>
            <a:ext cx="4229100" cy="962025"/>
          </a:xfrm>
          <a:custGeom>
            <a:pathLst>
              <a:path w="444" h="10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6"/>
                </a:lnTo>
                <a:cubicBezTo>
                  <a:pt x="5" y="98"/>
                  <a:pt x="7" y="100"/>
                  <a:pt x="9" y="101"/>
                </a:cubicBezTo>
                <a:cubicBezTo>
                  <a:pt x="4" y="100"/>
                  <a:pt x="0" y="96"/>
                  <a:pt x="0" y="9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7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362825" y="4019550"/>
            <a:ext cx="161925" cy="161925"/>
          </a:xfrm>
          <a:prstGeom prst="rect">
            <a:avLst/>
          </a:prstGeom>
          <a:ln/>
        </p:spPr>
      </p:pic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7610475" y="4010025"/>
            <a:ext cx="1724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Consolas"/>
                <a:ea typeface="Consolas"/>
              </a:rPr>
              <a:t>PackageNotFoundError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7362825" y="4229100"/>
            <a:ext cx="387667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九成是忘了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conda activate ai-app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，在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base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环境里跑。看终端提示符前缀是不是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(ai-app)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770" name=""/>
          <p:cNvSpPr/>
          <p:nvPr/>
        </p:nvSpPr>
        <p:spPr>
          <a:xfrm rot="0" flipH="0" flipV="0">
            <a:off x="7162800" y="4962525"/>
            <a:ext cx="4229100" cy="695325"/>
          </a:xfrm>
          <a:prstGeom prst="roundRect">
            <a:avLst>
              <a:gd name="adj" fmla="val 1369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7315200" y="5067300"/>
            <a:ext cx="39243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助教巡场，卡壳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5 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分钟以上直接举手。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Stuck for 5 minutes? Raise your hand.</a:t>
            </a:r>
            <a:endParaRPr/>
          </a:p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25 / 32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74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2 · JupyterLab 与 Colab · Two Workbenches&lt;/Text&gt;&#10;    &lt;Text style={{ fontSize: 15, color: 'rgba(255,255,255,0.85)' }}&gt;Lab · Part 05&lt;/Text&gt;&#10;  &lt;/Box&gt;&#10;  &lt;Box style={{ position: 'absolute', top: 96, left: 0, width: '100%', height: 470, padding: '6px 84px', flexDirection: 'row', gap: 24 }}&gt;&#10;    {[&#10;      { i: 'laptop', t: 'JupyterLab（本机）', s: 'Local', c: '#1E4FA8', rows: [&#10;        { k: '启动', v: 'conda activate ai-app 后运行 jupyter lab，浏览器自动打开' },&#10;        { k: '核心概念', v: 'Cell（代码 / Markdown）+ Kernel（运行环境）' },&#10;        { k: '关键操作', v: 'Shift+Enter 运行当前格 · Esc 后按 B 新增格 · Kernel → Restart 重置' },&#10;        { k: '适合', v: '日常作业、小数据、离线开发' },&#10;      ]},&#10;      { i: 'cloud', t: 'Google Colab（云端）', s: 'Cloud', c: '#3D7BD9', rows: [&#10;        { k: '启动', v: 'colab.research.google.com，登 Google 账号即用，零安装' },&#10;        { k: '核心概念', v: 'Notebook 运行在云端虚拟机，可免费领 GPU（T4）' },&#10;        { k: '关键操作', v: '代码执行程序 → 更改运行时类型 → GPU · 左侧挂载 Google Drive' },&#10;        { k: '适合', v: 'W5 之后的深度学习训练、本机带不动的大实验' },&#10;      ]},&#10;    ].map((w, i) =&gt; (&#10;      &lt;Box key={i} style={{ flex: 1, background: '#F7F9FC', border: '1px solid #E5E7EB', borderTop: '5px solid ' + w.c, borderRadius: 12, padding: '20px 24px' }}&gt;&#10;        &lt;Box style={{ flexDirection: 'row', alignItems: 'center', gap: 12 }}&gt;&#10;          &lt;Box style={{ width: 44, height: 44, borderRadius: 12, background: w.c, justifyContent: 'center', alignItems: 'center' }}&gt;&#10;            &lt;FAIcon name={w.i} style={{ fill: '#FFFFFF', width: 21, height: 21 }} /&gt;&#10;          &lt;/Box&gt;&#10;          &lt;Box&gt;&#10;            &lt;Text style={{ fontSize: 20, color: '#1A2230', fontWeight: 'bold' }}&gt;{w.t}&lt;/Text&gt;&#10;            &lt;Text style={{ fontSize: 12.5, color: '#8B97A8' }}&gt;{w.s}&lt;/Text&gt;&#10;          &lt;/Box&gt;&#10;        &lt;/Box&gt;&#10;        {w.rows.map((r, j) =&gt; (&#10;          &lt;Box key={j} style={{ marginTop: 12 }}&gt;&#10;            &lt;Text style={{ fontSize: 13, color: w.c, fontWeight: 'bold' }}&gt;{r.k}&lt;/Text&gt;&#10;            &lt;Text style={{ fontSize: 14, color: '#4A5568', lineHeight: 1.55, marginTop: 2 }}&gt;{r.v}&lt;/Text&gt;&#10;          &lt;/Box&gt;&#10;        ))}&#10;      &lt;/Box&gt;&#10;    ))}&#10;  &lt;/Box&gt;&#10;  &lt;Box style={{ position: 'absolute', top: 578, left: 0, width: '100%', height: 68, padding: '6px 84px' }}&gt;&#10;    &lt;Box style={{ width: '100%', height: '100%', background: '#F0F5FC', border: '1px solid #D6DCE5', borderRadius: 12, padding: '10px 20px', flexDirection: 'row', alignItems: 'center', gap: 16 }}&gt;&#10;      &lt;Text style={{ fontSize: 15, color: '#0E3F8C', fontWeight: 'bold', flexShrink: 0 }}&gt;怎么选？&lt;/Text&gt;&#10;      &lt;Text style={{ fontSize: 14.5, color: '#1A2230', lineHeight: 1.55, flex: 1 }}&gt;&#10;        默认 JupyterLab；一旦代码里出现 &lt;span style={{ fontFamily: 'Consolas, Menlo, monospace', color: '#1E4FA8' }}&gt;import torch&lt;/span&gt; 且要训练 —— 搬到 Colab GPU。&#10;        &lt;span style={{ fontSize: 12.5, color: '#8B97A8' }}&gt;Rule of thumb: local by default; move to Colab the moment training gets heavy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7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943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2 · JupyterLab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与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Colab · Two Workbenches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10477500" y="2952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Lab · Part 05</a:t>
            </a:r>
            <a:endParaRPr/>
          </a:p>
        </p:txBody>
      </p:sp>
      <p:sp>
        <p:nvSpPr>
          <p:cNvPr id="779" name=""/>
          <p:cNvSpPr/>
          <p:nvPr/>
        </p:nvSpPr>
        <p:spPr>
          <a:xfrm rot="0" flipH="0" flipV="0">
            <a:off x="800100" y="1019175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80" name=""/>
          <p:cNvSpPr/>
          <p:nvPr/>
        </p:nvSpPr>
        <p:spPr>
          <a:xfrm rot="0" flipH="0" flipV="0">
            <a:off x="800100" y="1019175"/>
            <a:ext cx="5181600" cy="4362450"/>
          </a:xfrm>
          <a:custGeom>
            <a:pathLst>
              <a:path w="544" h="458">
                <a:moveTo>
                  <a:pt x="533" y="0"/>
                </a:moveTo>
                <a:cubicBezTo>
                  <a:pt x="538" y="0"/>
                  <a:pt x="543" y="4"/>
                  <a:pt x="544" y="10"/>
                </a:cubicBezTo>
                <a:cubicBezTo>
                  <a:pt x="543" y="7"/>
                  <a:pt x="540" y="5"/>
                  <a:pt x="53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32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1" name=""/>
          <p:cNvSpPr/>
          <p:nvPr/>
        </p:nvSpPr>
        <p:spPr>
          <a:xfrm rot="0" flipH="0" flipV="0">
            <a:off x="10287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7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43000" y="1323975"/>
            <a:ext cx="200025" cy="200025"/>
          </a:xfrm>
          <a:prstGeom prst="rect">
            <a:avLst/>
          </a:prstGeom>
          <a:ln/>
        </p:spPr>
      </p:pic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1562100" y="1238250"/>
            <a:ext cx="1781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Source Han Sans SC"/>
                <a:ea typeface="Source Han Sans SC"/>
              </a:rPr>
              <a:t>JupyterLab</a:t>
            </a: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（本机）</a:t>
            </a:r>
            <a:endParaRPr/>
          </a:p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1562100" y="1466850"/>
            <a:ext cx="1781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Local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1028700" y="17430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Source Han Sans SC"/>
                <a:ea typeface="Source Han Sans SC"/>
              </a:rPr>
              <a:t>启动</a:t>
            </a:r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1028700" y="191452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conda activate ai-app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后运行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jupyter lab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，浏览器自动打开</a:t>
            </a:r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1028700" y="22860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Source Han Sans SC"/>
                <a:ea typeface="Source Han Sans SC"/>
              </a:rPr>
              <a:t>核心概念</a:t>
            </a:r>
            <a:endParaRPr/>
          </a:p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1028700" y="245745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Cell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（代码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/ Markdown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）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+ Kernel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（运行环境）</a:t>
            </a:r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1028700" y="28289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Source Han Sans SC"/>
                <a:ea typeface="Source Han Sans SC"/>
              </a:rPr>
              <a:t>关键操作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1028700" y="300037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Shift+Enter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运行当前格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Esc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后按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B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新增格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Kernel → Restart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重置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1028700" y="337185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Source Han Sans SC"/>
                <a:ea typeface="Source Han Sans SC"/>
              </a:rPr>
              <a:t>适合</a:t>
            </a:r>
            <a:endParaRPr/>
          </a:p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1028700" y="354330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日常作业、小数据、离线开发</a:t>
            </a:r>
            <a:endParaRPr/>
          </a:p>
        </p:txBody>
      </p:sp>
      <p:sp>
        <p:nvSpPr>
          <p:cNvPr id="793" name=""/>
          <p:cNvSpPr/>
          <p:nvPr/>
        </p:nvSpPr>
        <p:spPr>
          <a:xfrm rot="0" flipH="0" flipV="0">
            <a:off x="6210300" y="1019175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94" name=""/>
          <p:cNvSpPr/>
          <p:nvPr/>
        </p:nvSpPr>
        <p:spPr>
          <a:xfrm rot="0" flipH="0" flipV="0">
            <a:off x="6210300" y="1019175"/>
            <a:ext cx="5181600" cy="4362450"/>
          </a:xfrm>
          <a:custGeom>
            <a:pathLst>
              <a:path w="544" h="458">
                <a:moveTo>
                  <a:pt x="533" y="0"/>
                </a:moveTo>
                <a:cubicBezTo>
                  <a:pt x="538" y="0"/>
                  <a:pt x="543" y="4"/>
                  <a:pt x="544" y="10"/>
                </a:cubicBezTo>
                <a:cubicBezTo>
                  <a:pt x="543" y="7"/>
                  <a:pt x="540" y="5"/>
                  <a:pt x="53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32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95" name=""/>
          <p:cNvSpPr/>
          <p:nvPr/>
        </p:nvSpPr>
        <p:spPr>
          <a:xfrm rot="0" flipH="0" flipV="0">
            <a:off x="64389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7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53200" y="1323975"/>
            <a:ext cx="200025" cy="200025"/>
          </a:xfrm>
          <a:prstGeom prst="rect">
            <a:avLst/>
          </a:prstGeom>
          <a:ln/>
        </p:spPr>
      </p:pic>
      <p:sp>
        <p:nvSpPr>
          <p:cNvPr id="797" name="" descr="{&quot;isTemplate&quot;:true,&quot;type&quot;:&quot;text&quot;}"/>
          <p:cNvSpPr txBox="1"/>
          <p:nvPr/>
        </p:nvSpPr>
        <p:spPr>
          <a:xfrm rot="0" flipH="0" flipV="0">
            <a:off x="6972300" y="1238250"/>
            <a:ext cx="2000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Source Han Sans SC"/>
                <a:ea typeface="Source Han Sans SC"/>
              </a:rPr>
              <a:t>Google Colab</a:t>
            </a: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（云端）</a:t>
            </a:r>
            <a:endParaRPr/>
          </a:p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6972300" y="1466850"/>
            <a:ext cx="2000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Cloud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6438900" y="17430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3D7BD9"/>
                </a:solidFill>
                <a:latin typeface="Source Han Sans SC"/>
                <a:ea typeface="Source Han Sans SC"/>
              </a:rPr>
              <a:t>启动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6438900" y="191452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colab.research.google.com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，登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Google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账号即用，零安装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6438900" y="22860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3D7BD9"/>
                </a:solidFill>
                <a:latin typeface="Source Han Sans SC"/>
                <a:ea typeface="Source Han Sans SC"/>
              </a:rPr>
              <a:t>核心概念</a:t>
            </a:r>
            <a:endParaRPr/>
          </a:p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6438900" y="245745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Notebook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运行在云端虚拟机，可免费领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GPU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（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T4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6438900" y="28289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3D7BD9"/>
                </a:solidFill>
                <a:latin typeface="Source Han Sans SC"/>
                <a:ea typeface="Source Han Sans SC"/>
              </a:rPr>
              <a:t>关键操作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6438900" y="300037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代码执行程序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更改运行时类型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GPU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左侧挂载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Google Drive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6438900" y="337185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3D7BD9"/>
                </a:solidFill>
                <a:latin typeface="Source Han Sans SC"/>
                <a:ea typeface="Source Han Sans SC"/>
              </a:rPr>
              <a:t>适合</a:t>
            </a:r>
            <a:endParaRPr/>
          </a:p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6438900" y="354330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W5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之后的深度学习训练、本机带不动的大实验</a:t>
            </a:r>
            <a:endParaRPr/>
          </a:p>
        </p:txBody>
      </p:sp>
      <p:sp>
        <p:nvSpPr>
          <p:cNvPr id="807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990600" y="574357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怎么选？</a:t>
            </a:r>
            <a:endParaRPr/>
          </a:p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1714500" y="5705475"/>
            <a:ext cx="94869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默认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JupyterLab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；一旦代码里出现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088">
                <a:solidFill>
                  <a:srgbClr val="1E4FA8"/>
                </a:solidFill>
                <a:latin typeface="Source Han Sans SC"/>
                <a:ea typeface="Source Han Sans SC"/>
              </a:rPr>
              <a:t>import torch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且要训练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搬到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Colab GPU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Rule of thumb: local by default; move to Colab the moment training gets heavy.</a:t>
            </a:r>
            <a:endParaRPr/>
          </a:p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26 / 32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3 · Git 五分钟上手 · Git in 5 Minutes&lt;/Text&gt;&#10;    &lt;Text style={{ fontSize: 15, color: 'rgba(255,255,255,0.85)' }}&gt;Lab · Part 05&lt;/Text&gt;&#10;  &lt;/Box&gt;&#10;  &lt;Box style={{ position: 'absolute', top: 96, left: 0, width: '100%', height: 550, padding: '6px 84px', flexDirection: 'row', gap: 28 }}&gt;&#10;    &lt;Box style={{ width: 620, flexShrink: 0 }}&gt;&#10;      &lt;Text style={{ fontSize: 16, color: '#8B97A8', fontWeight: '600', marginBottom: 10 }}&gt;今天要跑通的命令 · Today\u2019s Commands&lt;/Text&gt;&#10;      &lt;Box style={{ background: '#1A2230', borderRadius: 12, padding: '18px 24px' }}&gt;&#10;        {[&#10;          { c: '# 首次配置（写你 GitHub 的用户名邮箱）', s: 'git config --global user.name &quot;Your Name&quot;' },&#10;          { c: '', s: 'git config --global user.email &quot;you@example.com&quot;' },&#10;          { c: '# 在项目目录初始化仓库', s: 'git init' },&#10;          { c: '# 暂存 + 提交', s: 'git add . &amp;&amp; git commit -m &quot;week1: env + iris model&quot;' },&#10;          { c: '# 关联 GitHub 并推送', s: 'git remote add origin &lt;你的仓库地址&gt;' },&#10;          { c: '', s: 'git push -u origin main' },&#10;        ].map((l, i) =&gt; (&#10;          &lt;Box key={i} style={{ marginBottom: 9 }}&gt;&#10;            {l.c ? &lt;Text style={{ fontSize: 13, color: '#7A8797', fontFamily: 'Consolas, Menlo, monospace' }}&gt;{l.c}&lt;/Text&gt; : null}&#10;            &lt;Text style={{ fontSize: 15, color: '#A8D8B9', fontFamily: 'Consolas, Menlo, monospace', lineHeight: 1.55 }}&gt;{l.s}&lt;/Text&gt;&#10;          &lt;/Box&gt;&#10;        ))}&#10;      &lt;/Box&gt;&#10;      &lt;Box style={{ background: '#FFF9F0', border: '1px solid #F0DFC0', borderLeft: '5px solid #D97706', borderRadius: 10, padding: '11px 18px', marginTop: 14 }}&gt;&#10;        &lt;Text style={{ fontSize: 13.5, color: '#4A5568', lineHeight: 1.6 }}&gt;&#10;          &lt;span style={{ fontWeight: 'bold', color: '#D97706' }}&gt;提醒：&lt;/span&gt;先建 &lt;span style={{ fontFamily: 'Consolas, Menlo, monospace' }}&gt;.gitignore&lt;/span&gt;，写上 &lt;span style={{ fontFamily: 'Consolas, Menlo, monospace' }}&gt;data/&lt;/span&gt;、&lt;span style={{ fontFamily: 'Consolas, Menlo, monospace' }}&gt;*.ipynb_checkpoints/&lt;/span&gt; —— 数据和缓存不进仓库。&#10;        &lt;/Text&gt;&#10;      &lt;/Box&gt;&#10;    &lt;/Box&gt;&#10;    &lt;Box style={{ flex: 1, gap: 12, justifyContent: 'center' }}&gt;&#10;      &lt;Text style={{ fontSize: 17, color: '#0E3F8C', fontWeight: 'bold' }}&gt;为什么 AI 项目更要 Git？&lt;/Text&gt;&#10;      {[&#10;        { i: 'code', t: '实验可追溯', d: '「改了哪几行让准确率掉了 3 个点」—— commit 历史就是实验日志。' },&#10;        { i: 'rotate', t: '随时回滚', d: '改崩了 git checkout 一秒回到上一个能跑的版本。' },&#10;        { i: 'users', t: '作业即作品集', d: '课程结束时你的 GitHub 就是 4 个完整项目——比简历上任何一句话都有说服力。' },&#10;      ].map((k, i) =&gt; (&#10;        &lt;Box key={i} style={{ flexDirection: 'row', gap: 14, background: '#F7F9FC', border: '1px solid #E5E7EB', borderRadius: 10, padding: '13px 16px', alignItems: 'flex-start' }}&gt;&#10;          &lt;Box style={{ width: 38, height: 38, borderRadius: 10, background: '#E8EFF8', justifyContent: 'center', alignItems: 'center', flexShrink: 0 }}&gt;&#10;            &lt;FAIcon name={k.i} style={{ fill: '#1E4FA8', width: 19, height: 19 }} /&gt;&#10;          &lt;/Box&gt;&#10;          &lt;Box&gt;&#10;            &lt;Text style={{ fontSize: 16, color: '#1A2230', fontWeight: 'bold' }}&gt;{k.t}&lt;/Text&gt;&#10;            &lt;Text style={{ fontSize: 13.5, color: '#4A5568', lineHeight: 1.55, marginTop: 2 }}&gt;{k.d}&lt;/Text&gt;&#10;          &lt;/Box&gt;&#10;        &lt;/Box&gt;&#10;      ))}&#10;      &lt;Text style={{ fontSize: 13, color: '#8B97A8', lineHeight: 1.6 }}&gt;&#10;        提交信息写清楚做了什么：「week1: add iris knn baseline」 而不是「update」。&#10;        &lt;span style={{ fontSize: 12 }}&gt;Meaningful commit messages are graded implicitly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0671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3 · Git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五分钟上手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Git in 5 Minutes</a:t>
            </a:r>
            <a:endParaRPr/>
          </a:p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10477500" y="2952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Lab · Part 05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800100" y="971550"/>
            <a:ext cx="5905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今天要跑通的命令</a:t>
            </a: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 · Today\u2019s Commands</a:t>
            </a:r>
            <a:endParaRPr/>
          </a:p>
        </p:txBody>
      </p:sp>
      <p:sp>
        <p:nvSpPr>
          <p:cNvPr id="818" name=""/>
          <p:cNvSpPr/>
          <p:nvPr/>
        </p:nvSpPr>
        <p:spPr>
          <a:xfrm rot="0" flipH="0" flipV="0">
            <a:off x="800100" y="1257300"/>
            <a:ext cx="5905500" cy="3067050"/>
          </a:xfrm>
          <a:prstGeom prst="roundRect">
            <a:avLst>
              <a:gd name="adj" fmla="val 3727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1028700" y="1428750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首次配置（写你</a:t>
            </a: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 GitHub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的用户名邮箱）</a:t>
            </a:r>
            <a:endParaRPr/>
          </a:p>
        </p:txBody>
      </p:sp>
      <p:sp>
        <p:nvSpPr>
          <p:cNvPr id="820" name="" descr="{&quot;isTemplate&quot;:true,&quot;type&quot;:&quot;text&quot;}"/>
          <p:cNvSpPr txBox="1"/>
          <p:nvPr/>
        </p:nvSpPr>
        <p:spPr>
          <a:xfrm rot="0" flipH="0" flipV="0">
            <a:off x="1028700" y="1581150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config --global user.name "Your Name"</a:t>
            </a:r>
            <a:endParaRPr/>
          </a:p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1028700" y="1933575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config --global user.email "you@example.com"</a:t>
            </a:r>
            <a:endParaRPr/>
          </a:p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1028700" y="2286000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在项目目录初始化仓库</a:t>
            </a:r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1028700" y="2438400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init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1028700" y="2790825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暂存</a:t>
            </a: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 +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提交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1028700" y="2943225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add . &amp;&amp; git commit -m "week1: env + iris model"</a:t>
            </a:r>
            <a:endParaRPr/>
          </a:p>
        </p:txBody>
      </p:sp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1028700" y="3295650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关联</a:t>
            </a: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 GitHub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并推送</a:t>
            </a:r>
            <a:endParaRPr/>
          </a:p>
        </p:txBody>
      </p:sp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1028700" y="3448050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remote add origin &lt;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你的仓库地址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&gt;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028700" y="3800475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push -u origin main</a:t>
            </a:r>
            <a:endParaRPr/>
          </a:p>
        </p:txBody>
      </p:sp>
      <p:sp>
        <p:nvSpPr>
          <p:cNvPr id="829" name=""/>
          <p:cNvSpPr/>
          <p:nvPr/>
        </p:nvSpPr>
        <p:spPr>
          <a:xfrm rot="0" flipH="0" flipV="0">
            <a:off x="847725" y="4457700"/>
            <a:ext cx="5905500" cy="457200"/>
          </a:xfrm>
          <a:prstGeom prst="roundRect">
            <a:avLst>
              <a:gd name="adj" fmla="val 20833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830" name=""/>
          <p:cNvSpPr/>
          <p:nvPr/>
        </p:nvSpPr>
        <p:spPr>
          <a:xfrm rot="0" flipH="0" flipV="0">
            <a:off x="847725" y="4457700"/>
            <a:ext cx="5905500" cy="457200"/>
          </a:xfrm>
          <a:custGeom>
            <a:pathLst>
              <a:path w="620" h="48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43"/>
                </a:lnTo>
                <a:cubicBezTo>
                  <a:pt x="5" y="45"/>
                  <a:pt x="7" y="47"/>
                  <a:pt x="9" y="48"/>
                </a:cubicBezTo>
                <a:cubicBezTo>
                  <a:pt x="4" y="47"/>
                  <a:pt x="0" y="43"/>
                  <a:pt x="0" y="3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1019175" y="4562475"/>
            <a:ext cx="5514975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3" b="1">
                <a:solidFill>
                  <a:srgbClr val="D97706"/>
                </a:solidFill>
                <a:latin typeface="Source Han Sans SC"/>
                <a:ea typeface="Source Han Sans SC"/>
              </a:rPr>
              <a:t>提醒：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先建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.gitignore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，写上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data/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、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*.ipynb_checkpoints/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数据和缓存不进仓库。</a:t>
            </a:r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6972300" y="1790700"/>
            <a:ext cx="441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为什么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AI 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项目更要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Git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？</a:t>
            </a:r>
            <a:endParaRPr/>
          </a:p>
        </p:txBody>
      </p:sp>
      <p:sp>
        <p:nvSpPr>
          <p:cNvPr id="833" name=""/>
          <p:cNvSpPr/>
          <p:nvPr/>
        </p:nvSpPr>
        <p:spPr>
          <a:xfrm rot="0" flipH="0" flipV="0">
            <a:off x="6972300" y="2105025"/>
            <a:ext cx="44196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34" name=""/>
          <p:cNvSpPr/>
          <p:nvPr/>
        </p:nvSpPr>
        <p:spPr>
          <a:xfrm rot="0" flipH="0" flipV="0">
            <a:off x="7124700" y="22288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219950" y="2324100"/>
            <a:ext cx="180975" cy="180975"/>
          </a:xfrm>
          <a:prstGeom prst="rect">
            <a:avLst/>
          </a:prstGeom>
          <a:ln/>
        </p:spPr>
      </p:pic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7620000" y="2228850"/>
            <a:ext cx="361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实验可追溯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7620000" y="2438400"/>
            <a:ext cx="36195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「改了哪几行让准确率掉了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3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个点」——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commit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历史就是实验日志。</a:t>
            </a:r>
            <a:endParaRPr/>
          </a:p>
        </p:txBody>
      </p:sp>
      <p:sp>
        <p:nvSpPr>
          <p:cNvPr id="838" name=""/>
          <p:cNvSpPr/>
          <p:nvPr/>
        </p:nvSpPr>
        <p:spPr>
          <a:xfrm rot="0" flipH="0" flipV="0">
            <a:off x="6972300" y="2924175"/>
            <a:ext cx="44196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39" name=""/>
          <p:cNvSpPr/>
          <p:nvPr/>
        </p:nvSpPr>
        <p:spPr>
          <a:xfrm rot="0" flipH="0" flipV="0">
            <a:off x="7124700" y="30480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219950" y="3143250"/>
            <a:ext cx="180975" cy="180975"/>
          </a:xfrm>
          <a:prstGeom prst="rect">
            <a:avLst/>
          </a:prstGeom>
          <a:ln/>
        </p:spPr>
      </p:pic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7620000" y="3048000"/>
            <a:ext cx="2886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随时回滚</a:t>
            </a:r>
            <a:endParaRPr/>
          </a:p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7620000" y="3257550"/>
            <a:ext cx="2886075" cy="2476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改崩了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git checkout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一秒回到上一个能跑的版本。</a:t>
            </a:r>
            <a:endParaRPr/>
          </a:p>
        </p:txBody>
      </p:sp>
      <p:sp>
        <p:nvSpPr>
          <p:cNvPr id="843" name=""/>
          <p:cNvSpPr/>
          <p:nvPr/>
        </p:nvSpPr>
        <p:spPr>
          <a:xfrm rot="0" flipH="0" flipV="0">
            <a:off x="6972300" y="3743325"/>
            <a:ext cx="441960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44" name=""/>
          <p:cNvSpPr/>
          <p:nvPr/>
        </p:nvSpPr>
        <p:spPr>
          <a:xfrm rot="0" flipH="0" flipV="0">
            <a:off x="7124700" y="38671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219950" y="3962400"/>
            <a:ext cx="180975" cy="180975"/>
          </a:xfrm>
          <a:prstGeom prst="rect">
            <a:avLst/>
          </a:prstGeom>
          <a:ln/>
        </p:spPr>
      </p:pic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7620000" y="3867150"/>
            <a:ext cx="361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作业即作品集</a:t>
            </a:r>
            <a:endParaRPr/>
          </a:p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7620000" y="4076700"/>
            <a:ext cx="36195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课程结束时你的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GitHub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就是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4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个完整项目——比简历上任何一句话都有说服力。</a:t>
            </a:r>
            <a:endParaRPr/>
          </a:p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6972300" y="4800600"/>
            <a:ext cx="44196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提交信息写清楚做了什么：「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week1: add iris knn baseline</a:t>
            </a: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」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</a:t>
            </a: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而不是「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update</a:t>
            </a: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」。</a:t>
            </a: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Meaningful commit messages are graded implicitly.</a:t>
            </a:r>
            <a:endParaRPr/>
          </a:p>
        </p:txBody>
      </p:sp>
      <p:sp>
        <p:nvSpPr>
          <p:cNvPr id="84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27 / 32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85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4 · 第一个 ML 程序 · Your First ML Program&lt;/Text&gt;&#10;    &lt;Text style={{ fontSize: 15, color: 'rgba(255,255,255,0.85)' }}&gt;Lab · Part 05&lt;/Text&gt;&#10;  &lt;/Box&gt;&#10;  &lt;Box style={{ position: 'absolute', top: 96, left: 0, width: '100%', height: 550, padding: '6px 84px', flexDirection: 'row', gap: 28 }}&gt;&#10;    &lt;Box style={{ width: 600, flexShrink: 0 }}&gt;&#10;      &lt;Text style={{ fontSize: 16, color: '#8B97A8', fontWeight: '600', marginBottom: 10 }}&gt;Iris 鸢尾花分类 · 完整可跑&lt;/Text&gt;&#10;      &lt;Box style={{ background: '#1A2230', borderRadius: 12, padding: '18px 24px' }}&gt;&#10;        {[&#10;          { c: 'from sklearn.datasets import load_iris', s: 'from sklearn.model_selection import train_test_split' },&#10;          { c: 'from sklearn.neighbors import KNeighborsClassifier', s: '' },&#10;          { c: '', s: '# 1. 加载数据：150 朵花 · 4 个特征 · 3 个品种' },&#10;          { c: 'X, y = load_iris(return_X_y=True)', s: '' },&#10;          { c: '', s: '# 2. 划分：80% 训练 / 20% 测试' },&#10;          { c: 'X_train, X_test, y_train, y_test = train_test_split(', s: '    X, y, test_size=0.2, random_state=42)' },&#10;          { c: '', s: '# 3. 训练：K 近邻分类器' },&#10;          { c: 'model = KNeighborsClassifier(n_neighbors=3)', s: 'model.fit(X_train, y_train)' },&#10;          { c: '', s: '# 4. 评估 + 预测一朵新花' },&#10;          { c: 'print(&quot;accuracy:&quot;, model.score(X_test, y_test))', s: 'print(model.predict([[5.1, 3.5, 1.4, 0.2]]))' },&#10;        ].map((l, i) =&gt; (&#10;          &lt;Box key={i} style={{ marginBottom: 7 }}&gt;&#10;            {l.c ? &lt;Text style={{ fontSize: 14, color: l.c.startsWith('#') ? '#7A8797' : '#A8D8B9', fontFamily: 'Consolas, Menlo, monospace', lineHeight: 1.5 }}&gt;{l.c}&lt;/Text&gt; : null}&#10;            {l.s ? &lt;Text style={{ fontSize: 14, color: l.s.startsWith('#') ? '#7A8797' : '#A8D8B9', fontFamily: 'Consolas, Menlo, monospace', lineHeight: 1.5 }}&gt;{l.s}&lt;/Text&gt; : null}&#10;          &lt;/Box&gt;&#10;        ))}&#10;      &lt;/Box&gt;&#10;    &lt;/Box&gt;&#10;    &lt;Box style={{ flex: 1, gap: 11, justifyContent: 'center' }}&gt;&#10;      &lt;Text style={{ fontSize: 17, color: '#0E3F8C', fontWeight: 'bold' }}&gt;五行结构 · The 5-Step Pattern&lt;/Text&gt;&#10;      {[&#10;        { n: '1', t: '加载', d: '数据从哪来：内置数据集 / CSV / API' },&#10;        { n: '2', t: '划分', d: '训练集学规律，测试集验本事 —— 绝不能混' },&#10;        { n: '3', t: '训练', d: 'fit()：模型&quot;看&quot;训练数据调整参数' },&#10;        { n: '4', t: '评估', d: 'score()：在没见过的数据上考试' },&#10;        { n: '5', t: '预测', d: 'predict()：服务于真实新样本' },&#10;      ].map((s, i) =&gt; (&#10;        &lt;Box key={i} style={{ flexDirection: 'row', gap: 12, alignItems: 'center', background: '#F7F9FC', border: '1px solid #E5E7EB', borderLeft: '4px solid #1E4FA8', borderRadius: 8, padding: '9px 14px' }}&gt;&#10;          &lt;Box style={{ width: 28, height: 28, borderRadius: 14, background: '#1E4FA8', justifyContent: 'center', alignItems: 'center', flexShrink: 0 }}&gt;&#10;            &lt;Text style={{ fontSize: 13, color: '#FFFFFF', fontWeight: 'bold' }}&gt;{s.n}&lt;/Text&gt;&#10;          &lt;/Box&gt;&#10;          &lt;Text style={{ fontSize: 14.5, color: '#1A2230', fontWeight: '600', width: 44, flexShrink: 0 }}&gt;{s.t}&lt;/Text&gt;&#10;          &lt;Text style={{ fontSize: 13, color: '#4A5568', flex: 1 }}&gt;{s.d}&lt;/Text&gt;&#10;        &lt;/Box&gt;&#10;      ))}&#10;      &lt;Box style={{ background: '#0E3F8C', borderRadius: 10, padding: '11px 16px', marginTop: 3 }}&gt;&#10;        &lt;Text style={{ fontSize: 13.5, color: '#FFFFFF', lineHeight: 1.55 }}&gt;&#10;          这五行就是整学期的主旋律 —— 之后换的只是模型（KNN → 神经网络 → Transformer），骨架不变。&#10;          &lt;span style={{ fontSize: 12, color: 'rgba(255,255,255,0.75)' }}&gt;Same skeleton all semester; only the model changes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5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8482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4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第一个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ML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程序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Your First ML Program</a:t>
            </a:r>
            <a:endParaRPr/>
          </a:p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10477500" y="2952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Lab · Part 05</a:t>
            </a:r>
            <a:endParaRPr/>
          </a:p>
        </p:txBody>
      </p:sp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800100" y="971550"/>
            <a:ext cx="5715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Iris </a:t>
            </a: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鸢尾花分类</a:t>
            </a: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完整可跑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800100" y="1257300"/>
            <a:ext cx="5715000" cy="4476750"/>
          </a:xfrm>
          <a:prstGeom prst="roundRect">
            <a:avLst>
              <a:gd name="adj" fmla="val 2553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858" name="" descr="{&quot;isTemplate&quot;:true,&quot;type&quot;:&quot;text&quot;}"/>
          <p:cNvSpPr txBox="1"/>
          <p:nvPr/>
        </p:nvSpPr>
        <p:spPr>
          <a:xfrm rot="0" flipH="0" flipV="0">
            <a:off x="1028700" y="142875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from sklearn.datasets import load_iris</a:t>
            </a:r>
            <a:endParaRPr/>
          </a:p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1028700" y="16764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from sklearn.model_selection import train_test_split</a:t>
            </a:r>
            <a:endParaRPr/>
          </a:p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1028700" y="19907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from sklearn.neighbors import KNeighborsClassifier</a:t>
            </a:r>
            <a:endParaRPr/>
          </a:p>
        </p:txBody>
      </p:sp>
      <p:sp>
        <p:nvSpPr>
          <p:cNvPr id="861" name="" descr="{&quot;isTemplate&quot;:true,&quot;type&quot;:&quot;text&quot;}"/>
          <p:cNvSpPr txBox="1"/>
          <p:nvPr/>
        </p:nvSpPr>
        <p:spPr>
          <a:xfrm rot="0" flipH="0" flipV="0">
            <a:off x="1028700" y="230505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1.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加载数据：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150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朵花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 · 4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个特征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 · 3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个品种</a:t>
            </a:r>
            <a:endParaRPr/>
          </a:p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1028700" y="26193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X, y = load_iris(return_X_y=True)</a:t>
            </a:r>
            <a:endParaRPr/>
          </a:p>
        </p:txBody>
      </p:sp>
      <p:sp>
        <p:nvSpPr>
          <p:cNvPr id="863" name="" descr="{&quot;isTemplate&quot;:true,&quot;type&quot;:&quot;text&quot;}"/>
          <p:cNvSpPr txBox="1"/>
          <p:nvPr/>
        </p:nvSpPr>
        <p:spPr>
          <a:xfrm rot="0" flipH="0" flipV="0">
            <a:off x="1028700" y="29337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2.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划分：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80%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训练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 / 20%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测试</a:t>
            </a:r>
            <a:endParaRPr/>
          </a:p>
        </p:txBody>
      </p:sp>
      <p:sp>
        <p:nvSpPr>
          <p:cNvPr id="864" name="" descr="{&quot;isTemplate&quot;:true,&quot;type&quot;:&quot;text&quot;}"/>
          <p:cNvSpPr txBox="1"/>
          <p:nvPr/>
        </p:nvSpPr>
        <p:spPr>
          <a:xfrm rot="0" flipH="0" flipV="0">
            <a:off x="1028700" y="32480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X_train, X_test, y_train, y_test = train_test_split(</a:t>
            </a:r>
            <a:endParaRPr/>
          </a:p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1028700" y="34956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    X, y, test_size=0.2, random_state=42)</a:t>
            </a:r>
            <a:endParaRPr/>
          </a:p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1028700" y="38100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3.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训练：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K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近邻分类器</a:t>
            </a:r>
            <a:endParaRPr/>
          </a:p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1028700" y="41243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model = KNeighborsClassifier(n_neighbors=3)</a:t>
            </a:r>
            <a:endParaRPr/>
          </a:p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1028700" y="43719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model.fit(X_train, y_train)</a:t>
            </a:r>
            <a:endParaRPr/>
          </a:p>
        </p:txBody>
      </p:sp>
      <p:sp>
        <p:nvSpPr>
          <p:cNvPr id="869" name="" descr="{&quot;isTemplate&quot;:true,&quot;type&quot;:&quot;text&quot;}"/>
          <p:cNvSpPr txBox="1"/>
          <p:nvPr/>
        </p:nvSpPr>
        <p:spPr>
          <a:xfrm rot="0" flipH="0" flipV="0">
            <a:off x="1028700" y="46863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4.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评估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 +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预测一朵新花</a:t>
            </a:r>
            <a:endParaRPr/>
          </a:p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1028700" y="50006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print("accuracy:", model.score(X_test, y_test))</a:t>
            </a:r>
            <a:endParaRPr/>
          </a:p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1028700" y="52482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print(model.predict([[5.1, 3.5, 1.4, 0.2]]))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6781800" y="1562100"/>
            <a:ext cx="4610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五行结构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The 5-Step Pattern</a:t>
            </a:r>
            <a:endParaRPr/>
          </a:p>
        </p:txBody>
      </p:sp>
      <p:sp>
        <p:nvSpPr>
          <p:cNvPr id="873" name=""/>
          <p:cNvSpPr/>
          <p:nvPr/>
        </p:nvSpPr>
        <p:spPr>
          <a:xfrm rot="0" flipH="0" flipV="0">
            <a:off x="6819900" y="1866900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74" name=""/>
          <p:cNvSpPr/>
          <p:nvPr/>
        </p:nvSpPr>
        <p:spPr>
          <a:xfrm rot="0" flipH="0" flipV="0">
            <a:off x="6819900" y="1866900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5" name=""/>
          <p:cNvSpPr/>
          <p:nvPr/>
        </p:nvSpPr>
        <p:spPr>
          <a:xfrm rot="0" flipH="0" flipV="0">
            <a:off x="6953250" y="19526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7058025" y="2009775"/>
            <a:ext cx="57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7334250" y="200025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Source Han Sans SC"/>
                <a:ea typeface="Source Han Sans SC"/>
              </a:rPr>
              <a:t>加载</a:t>
            </a:r>
            <a:endParaRPr/>
          </a:p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7867650" y="2009775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数据从哪来：内置数据集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/ CSV / API</a:t>
            </a:r>
            <a:endParaRPr/>
          </a:p>
        </p:txBody>
      </p:sp>
      <p:sp>
        <p:nvSpPr>
          <p:cNvPr id="879" name=""/>
          <p:cNvSpPr/>
          <p:nvPr/>
        </p:nvSpPr>
        <p:spPr>
          <a:xfrm rot="0" flipH="0" flipV="0">
            <a:off x="6819900" y="2409825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80" name=""/>
          <p:cNvSpPr/>
          <p:nvPr/>
        </p:nvSpPr>
        <p:spPr>
          <a:xfrm rot="0" flipH="0" flipV="0">
            <a:off x="6819900" y="2409825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1" name=""/>
          <p:cNvSpPr/>
          <p:nvPr/>
        </p:nvSpPr>
        <p:spPr>
          <a:xfrm rot="0" flipH="0" flipV="0">
            <a:off x="6953250" y="24955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2" name="" descr="{&quot;isTemplate&quot;:true,&quot;type&quot;:&quot;text&quot;}"/>
          <p:cNvSpPr txBox="1"/>
          <p:nvPr/>
        </p:nvSpPr>
        <p:spPr>
          <a:xfrm rot="0" flipH="0" flipV="0">
            <a:off x="7048500" y="25527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7334250" y="2543175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Source Han Sans SC"/>
                <a:ea typeface="Source Han Sans SC"/>
              </a:rPr>
              <a:t>划分</a:t>
            </a:r>
            <a:endParaRPr/>
          </a:p>
        </p:txBody>
      </p:sp>
      <p:sp>
        <p:nvSpPr>
          <p:cNvPr id="884" name="" descr="{&quot;isTemplate&quot;:true,&quot;type&quot;:&quot;text&quot;}"/>
          <p:cNvSpPr txBox="1"/>
          <p:nvPr/>
        </p:nvSpPr>
        <p:spPr>
          <a:xfrm rot="0" flipH="0" flipV="0">
            <a:off x="7867650" y="2552700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训练集学规律，测试集验本事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绝不能混</a:t>
            </a:r>
            <a:endParaRPr/>
          </a:p>
        </p:txBody>
      </p:sp>
      <p:sp>
        <p:nvSpPr>
          <p:cNvPr id="885" name=""/>
          <p:cNvSpPr/>
          <p:nvPr/>
        </p:nvSpPr>
        <p:spPr>
          <a:xfrm rot="0" flipH="0" flipV="0">
            <a:off x="6819900" y="2952750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86" name=""/>
          <p:cNvSpPr/>
          <p:nvPr/>
        </p:nvSpPr>
        <p:spPr>
          <a:xfrm rot="0" flipH="0" flipV="0">
            <a:off x="6819900" y="2952750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7" name=""/>
          <p:cNvSpPr/>
          <p:nvPr/>
        </p:nvSpPr>
        <p:spPr>
          <a:xfrm rot="0" flipH="0" flipV="0">
            <a:off x="6953250" y="30384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8" name="" descr="{&quot;isTemplate&quot;:true,&quot;type&quot;:&quot;text&quot;}"/>
          <p:cNvSpPr txBox="1"/>
          <p:nvPr/>
        </p:nvSpPr>
        <p:spPr>
          <a:xfrm rot="0" flipH="0" flipV="0">
            <a:off x="7048500" y="30956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889" name="" descr="{&quot;isTemplate&quot;:true,&quot;type&quot;:&quot;text&quot;}"/>
          <p:cNvSpPr txBox="1"/>
          <p:nvPr/>
        </p:nvSpPr>
        <p:spPr>
          <a:xfrm rot="0" flipH="0" flipV="0">
            <a:off x="7334250" y="308610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Source Han Sans SC"/>
                <a:ea typeface="Source Han Sans SC"/>
              </a:rPr>
              <a:t>训练</a:t>
            </a:r>
            <a:endParaRPr/>
          </a:p>
        </p:txBody>
      </p:sp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7867650" y="3095625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fit()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：模型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看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训练数据调整参数</a:t>
            </a:r>
            <a:endParaRPr/>
          </a:p>
        </p:txBody>
      </p:sp>
      <p:sp>
        <p:nvSpPr>
          <p:cNvPr id="891" name=""/>
          <p:cNvSpPr/>
          <p:nvPr/>
        </p:nvSpPr>
        <p:spPr>
          <a:xfrm rot="0" flipH="0" flipV="0">
            <a:off x="6819900" y="3495675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92" name=""/>
          <p:cNvSpPr/>
          <p:nvPr/>
        </p:nvSpPr>
        <p:spPr>
          <a:xfrm rot="0" flipH="0" flipV="0">
            <a:off x="6819900" y="3495675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3" name=""/>
          <p:cNvSpPr/>
          <p:nvPr/>
        </p:nvSpPr>
        <p:spPr>
          <a:xfrm rot="0" flipH="0" flipV="0">
            <a:off x="6953250" y="35814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4" name="" descr="{&quot;isTemplate&quot;:true,&quot;type&quot;:&quot;text&quot;}"/>
          <p:cNvSpPr txBox="1"/>
          <p:nvPr/>
        </p:nvSpPr>
        <p:spPr>
          <a:xfrm rot="0" flipH="0" flipV="0">
            <a:off x="7048500" y="363855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7334250" y="3629025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Source Han Sans SC"/>
                <a:ea typeface="Source Han Sans SC"/>
              </a:rPr>
              <a:t>评估</a:t>
            </a:r>
            <a:endParaRPr/>
          </a:p>
        </p:txBody>
      </p:sp>
      <p:sp>
        <p:nvSpPr>
          <p:cNvPr id="896" name="" descr="{&quot;isTemplate&quot;:true,&quot;type&quot;:&quot;text&quot;}"/>
          <p:cNvSpPr txBox="1"/>
          <p:nvPr/>
        </p:nvSpPr>
        <p:spPr>
          <a:xfrm rot="0" flipH="0" flipV="0">
            <a:off x="7867650" y="3638550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score()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：在没见过的数据上考试</a:t>
            </a:r>
            <a:endParaRPr/>
          </a:p>
        </p:txBody>
      </p:sp>
      <p:sp>
        <p:nvSpPr>
          <p:cNvPr id="897" name=""/>
          <p:cNvSpPr/>
          <p:nvPr/>
        </p:nvSpPr>
        <p:spPr>
          <a:xfrm rot="0" flipH="0" flipV="0">
            <a:off x="6819900" y="4038600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98" name=""/>
          <p:cNvSpPr/>
          <p:nvPr/>
        </p:nvSpPr>
        <p:spPr>
          <a:xfrm rot="0" flipH="0" flipV="0">
            <a:off x="6819900" y="4038600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9" name=""/>
          <p:cNvSpPr/>
          <p:nvPr/>
        </p:nvSpPr>
        <p:spPr>
          <a:xfrm rot="0" flipH="0" flipV="0">
            <a:off x="6953250" y="41243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0" name="" descr="{&quot;isTemplate&quot;:true,&quot;type&quot;:&quot;text&quot;}"/>
          <p:cNvSpPr txBox="1"/>
          <p:nvPr/>
        </p:nvSpPr>
        <p:spPr>
          <a:xfrm rot="0" flipH="0" flipV="0">
            <a:off x="7048500" y="418147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7334250" y="417195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Source Han Sans SC"/>
                <a:ea typeface="Source Han Sans SC"/>
              </a:rPr>
              <a:t>预测</a:t>
            </a:r>
            <a:endParaRPr/>
          </a:p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7867650" y="4181475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predict()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：服务于真实新样本</a:t>
            </a:r>
            <a:endParaRPr/>
          </a:p>
        </p:txBody>
      </p:sp>
      <p:sp>
        <p:nvSpPr>
          <p:cNvPr id="903" name=""/>
          <p:cNvSpPr/>
          <p:nvPr/>
        </p:nvSpPr>
        <p:spPr>
          <a:xfrm rot="0" flipH="0" flipV="0">
            <a:off x="6781800" y="4610100"/>
            <a:ext cx="4610100" cy="904875"/>
          </a:xfrm>
          <a:prstGeom prst="roundRect">
            <a:avLst>
              <a:gd name="adj" fmla="val 1052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6934200" y="4714875"/>
            <a:ext cx="43053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这五行就是整学期的主旋律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之后换的只是模型（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KNN → 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神经网络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→ Transformer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），骨架不变。</a:t>
            </a:r>
            <a:r>
              <a:rPr lang="en-US" sz="90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Same skeleton all semester; only the model changes.</a:t>
            </a:r>
            <a:endParaRPr/>
          </a:p>
        </p:txBody>
      </p:sp>
      <p:sp>
        <p:nvSpPr>
          <p:cNvPr id="90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906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28 / 32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0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交付与评分 · Deliverables &amp;amp; Rubric&lt;/Text&gt;&#10;    &lt;Text style={{ fontSize: 15, color: 'rgba(255,255,255,0.85)' }}&gt;Lab · Part 05&lt;/Text&gt;&#10;  &lt;/Box&gt;&#10;  &lt;Box style={{ position: 'absolute', top: 96, left: 0, width: '100%', height: 470, padding: '6px 84px', flexDirection: 'row', gap: 24 }}&gt;&#10;    &lt;Box style={{ flex: 1.35, gap: 10, justifyContent: 'center' }}&gt;&#10;      &lt;Text style={{ fontSize: 18, color: '#8B97A8', fontWeight: '600', marginBottom: 2 }}&gt;提交什么 · What to Submit（100 分）&lt;/Text&gt;&#10;      {[&#10;        { i: 'file-code', t: 'environment.yml', v: 20, d: 'conda env export 导出，助教用它一键复现你的环境' },&#10;        { i: 'book', t: 'week1_lab.ipynb', v: 30, d: '带 Markdown 说明的 notebook：环境验证 + Iris 全流程' },&#10;        { i: 'code-branch', t: 'GitHub 仓库', v: 20, d: '≥ 3 次有意义的 commit + README 一句话说明' },&#10;        { i: 'flask', t: '模型小对比', v: 20, d: 'KNN 的 n_neighbors 取 1 / 3 / 10，报告准确率变化并解释' },&#10;        { i: 'comment', t: '思考题', v: 10, d: '如果准确率只有 0.4，你会先检查什么？写 3 句话' },&#10;      ].map((g, i) =&gt; (&#10;        &lt;Box key={i} style={{ flexDirection: 'row', gap: 14, alignItems: 'center', background: '#F7F9FC', border: '1px solid #E5E7EB', borderLeft: '5px solid #1E4FA8', borderRadius: 10, padding: '11px 16px' }}&gt;&#10;          &lt;Box style={{ width: 38, height: 38, borderRadius: 10, background: '#E8EFF8', justifyContent: 'center', alignItems: 'center', flexShrink: 0 }}&gt;&#10;            &lt;FAIcon name={g.i} style={{ fill: '#1E4FA8', width: 18, height: 18 }} /&gt;&#10;          &lt;/Box&gt;&#10;          &lt;Box style={{ flex: 1 }}&gt;&#10;            &lt;Text style={{ fontSize: 15.5, color: '#1A2230', fontWeight: 'bold' }}&gt;{g.t}&lt;/Text&gt;&#10;            &lt;Text style={{ fontSize: 13, color: '#4A5568', marginTop: 1 }}&gt;{g.d}&lt;/Text&gt;&#10;          &lt;/Box&gt;&#10;          &lt;Text style={{ fontSize: 19, color: '#1E4FA8', fontWeight: 'bold', flexShrink: 0 }}&gt;{g.v}&lt;/Text&gt;&#10;        &lt;/Box&gt;&#10;      ))}&#10;    &lt;/Box&gt;&#10;    &lt;Box style={{ width: 380, flexShrink: 0, flexDirection: 'column', gap: 14, justifyContent: 'center' }}&gt;&#10;      &lt;Box style={{ background: '#0E3F8C', borderRadius: 14, padding: '20px 24px' }}&gt;&#10;        &lt;Text style={{ fontSize: 14, color: 'rgba(255,255,255,0.75)' }}&gt;截止时间 · Deadline&lt;/Text&gt;&#10;        &lt;Text style={{ fontSize: 24, color: '#FFFFFF', fontWeight: 'bold', marginTop: 4 }}&gt;下周一 23:59&lt;/Text&gt;&#10;        &lt;Text style={{ fontSize: 13.5, color: 'rgba(255,255,255,0.85)', marginTop: 8, lineHeight: 1.6 }}&gt;&#10;          提交方式：课程平台上传仓库链接（含 environment.yml 与 notebook）。&#10;        &lt;/Text&gt;&#10;      &lt;/Box&gt;&#10;      &lt;Box style={{ background: '#F0F5FC', border: '1px solid #D6DCE5', borderRadius: 14, padding: '18px 22px' }}&gt;&#10;        &lt;Text style={{ fontSize: 16, color: '#0E3F8C', fontWeight: 'bold' }}&gt;老师的三句忠告&lt;/Text&gt;&#10;        {[&#10;          '先跑通，再优化 —— 今晚只有一个目标：屏幕上打出 accuracy',&#10;          'commit 早、commit 勤，别最后一次性传',&#10;          '允许用 AI 助手，但 notebook 里注明，且能口头解释每行',&#10;        ].map((t, i) =&gt; (&#10;          &lt;Box key={i} style={{ flexDirection: 'row', gap: 10, marginTop: 10 }}&gt;&#10;            &lt;Text style={{ fontSize: 14, color: '#1E4FA8', fontWeight: 'bold', flexShrink: 0 }}&gt;{i + 1}.&lt;/Text&gt;&#10;            &lt;Text style={{ fontSize: 13.5, color: '#4A5568', lineHeight: 1.6 }}&gt;{t}&lt;/Text&gt;&#10;          &lt;/Box&gt;&#10;        ))}&#10;      &lt;/Box&gt;&#10;    &lt;/Box&gt;&#10;  &lt;/Box&gt;&#10;  &lt;Box style={{ position: 'absolute', top: 578, left: 0, width: '100%', height: 68, padding: '6px 84px' }}&gt;&#10;    &lt;Box style={{ width: '100%', height: '100%', background: '#F7F9FC', border: '1px dashed #8B97A8', borderRadius: 12, padding: '10px 20px', flexDirection: 'row', alignItems: 'center', gap: 14 }}&gt;&#10;      &lt;FAIcon name='circle-info' style={{ fill: '#8B97A8', width: 22, height: 22, flexShrink: 0 }} /&gt;&#10;      &lt;Text style={{ fontSize: 14, color: '#4A5568', lineHeight: 1.55, flex: 1 }}&gt;&#10;        环境坏了交不上？交「报错截图 + 排查过程」可拿一半分——&lt;b&gt;展示你调试的过程比结果更值钱&lt;/b&gt;。&#10;        &lt;span style={{ fontSize: 12.5, color: '#8B97A8' }}&gt;Broken env? Document your debugging — process beats outcome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8957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交付与评分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Deliverables &amp; Rubric</a:t>
            </a:r>
            <a:endParaRPr/>
          </a:p>
        </p:txBody>
      </p:sp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10477500" y="2952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Lab · Part 05</a:t>
            </a:r>
            <a:endParaRPr/>
          </a:p>
        </p:txBody>
      </p:sp>
      <p:sp>
        <p:nvSpPr>
          <p:cNvPr id="912" name="" descr="{&quot;isTemplate&quot;:true,&quot;type&quot;:&quot;text&quot;}"/>
          <p:cNvSpPr txBox="1"/>
          <p:nvPr/>
        </p:nvSpPr>
        <p:spPr>
          <a:xfrm rot="0" flipH="0" flipV="0">
            <a:off x="800100" y="1371600"/>
            <a:ext cx="6743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提交什么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 · What to Submit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（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100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分）</a:t>
            </a:r>
            <a:endParaRPr/>
          </a:p>
        </p:txBody>
      </p:sp>
      <p:sp>
        <p:nvSpPr>
          <p:cNvPr id="913" name=""/>
          <p:cNvSpPr/>
          <p:nvPr/>
        </p:nvSpPr>
        <p:spPr>
          <a:xfrm rot="0" flipH="0" flipV="0">
            <a:off x="847725" y="169545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14" name=""/>
          <p:cNvSpPr/>
          <p:nvPr/>
        </p:nvSpPr>
        <p:spPr>
          <a:xfrm rot="0" flipH="0" flipV="0">
            <a:off x="847725" y="169545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5" name=""/>
          <p:cNvSpPr/>
          <p:nvPr/>
        </p:nvSpPr>
        <p:spPr>
          <a:xfrm rot="0" flipH="0" flipV="0">
            <a:off x="1000125" y="18002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95375" y="1895475"/>
            <a:ext cx="171450" cy="171450"/>
          </a:xfrm>
          <a:prstGeom prst="rect">
            <a:avLst/>
          </a:prstGeom>
          <a:ln/>
        </p:spPr>
      </p:pic>
      <p:sp>
        <p:nvSpPr>
          <p:cNvPr id="917" name="" descr="{&quot;isTemplate&quot;:true,&quot;type&quot;:&quot;text&quot;}"/>
          <p:cNvSpPr txBox="1"/>
          <p:nvPr/>
        </p:nvSpPr>
        <p:spPr>
          <a:xfrm rot="0" flipH="0" flipV="0">
            <a:off x="1495425" y="1809750"/>
            <a:ext cx="55435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environment.yml</a:t>
            </a:r>
            <a:endParaRPr/>
          </a:p>
        </p:txBody>
      </p:sp>
      <p:sp>
        <p:nvSpPr>
          <p:cNvPr id="918" name="" descr="{&quot;isTemplate&quot;:true,&quot;type&quot;:&quot;text&quot;}"/>
          <p:cNvSpPr txBox="1"/>
          <p:nvPr/>
        </p:nvSpPr>
        <p:spPr>
          <a:xfrm rot="0" flipH="0" flipV="0">
            <a:off x="1495425" y="2000250"/>
            <a:ext cx="554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conda env export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导出，助教用它一键复现你的环境</a:t>
            </a:r>
            <a:endParaRPr/>
          </a:p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7172325" y="1876425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Source Han Sans SC"/>
                <a:ea typeface="Source Han Sans SC"/>
              </a:rPr>
              <a:t>20</a:t>
            </a:r>
            <a:endParaRPr/>
          </a:p>
        </p:txBody>
      </p:sp>
      <p:sp>
        <p:nvSpPr>
          <p:cNvPr id="920" name=""/>
          <p:cNvSpPr/>
          <p:nvPr/>
        </p:nvSpPr>
        <p:spPr>
          <a:xfrm rot="0" flipH="0" flipV="0">
            <a:off x="847725" y="236220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21" name=""/>
          <p:cNvSpPr/>
          <p:nvPr/>
        </p:nvSpPr>
        <p:spPr>
          <a:xfrm rot="0" flipH="0" flipV="0">
            <a:off x="847725" y="236220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22" name=""/>
          <p:cNvSpPr/>
          <p:nvPr/>
        </p:nvSpPr>
        <p:spPr>
          <a:xfrm rot="0" flipH="0" flipV="0">
            <a:off x="1000125" y="24669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95375" y="2562225"/>
            <a:ext cx="171450" cy="171450"/>
          </a:xfrm>
          <a:prstGeom prst="rect">
            <a:avLst/>
          </a:prstGeom>
          <a:ln/>
        </p:spPr>
      </p:pic>
      <p:sp>
        <p:nvSpPr>
          <p:cNvPr id="924" name="" descr="{&quot;isTemplate&quot;:true,&quot;type&quot;:&quot;text&quot;}"/>
          <p:cNvSpPr txBox="1"/>
          <p:nvPr/>
        </p:nvSpPr>
        <p:spPr>
          <a:xfrm rot="0" flipH="0" flipV="0">
            <a:off x="1495425" y="2476500"/>
            <a:ext cx="55435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week1_lab.ipynb</a:t>
            </a:r>
            <a:endParaRPr/>
          </a:p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1495425" y="2667000"/>
            <a:ext cx="554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带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说明的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notebook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：环境验证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Iris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全流程</a:t>
            </a:r>
            <a:endParaRPr/>
          </a:p>
        </p:txBody>
      </p:sp>
      <p:sp>
        <p:nvSpPr>
          <p:cNvPr id="926" name="" descr="{&quot;isTemplate&quot;:true,&quot;type&quot;:&quot;text&quot;}"/>
          <p:cNvSpPr txBox="1"/>
          <p:nvPr/>
        </p:nvSpPr>
        <p:spPr>
          <a:xfrm rot="0" flipH="0" flipV="0">
            <a:off x="7172325" y="2543175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Source Han Sans SC"/>
                <a:ea typeface="Source Han Sans SC"/>
              </a:rPr>
              <a:t>30</a:t>
            </a:r>
            <a:endParaRPr/>
          </a:p>
        </p:txBody>
      </p:sp>
      <p:sp>
        <p:nvSpPr>
          <p:cNvPr id="927" name=""/>
          <p:cNvSpPr/>
          <p:nvPr/>
        </p:nvSpPr>
        <p:spPr>
          <a:xfrm rot="0" flipH="0" flipV="0">
            <a:off x="847725" y="302895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28" name=""/>
          <p:cNvSpPr/>
          <p:nvPr/>
        </p:nvSpPr>
        <p:spPr>
          <a:xfrm rot="0" flipH="0" flipV="0">
            <a:off x="847725" y="302895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29" name=""/>
          <p:cNvSpPr/>
          <p:nvPr/>
        </p:nvSpPr>
        <p:spPr>
          <a:xfrm rot="0" flipH="0" flipV="0">
            <a:off x="1000125" y="31337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95375" y="3228975"/>
            <a:ext cx="171450" cy="171450"/>
          </a:xfrm>
          <a:prstGeom prst="rect">
            <a:avLst/>
          </a:prstGeom>
          <a:ln/>
        </p:spPr>
      </p:pic>
      <p:sp>
        <p:nvSpPr>
          <p:cNvPr id="931" name="" descr="{&quot;isTemplate&quot;:true,&quot;type&quot;:&quot;text&quot;}"/>
          <p:cNvSpPr txBox="1"/>
          <p:nvPr/>
        </p:nvSpPr>
        <p:spPr>
          <a:xfrm rot="0" flipH="0" flipV="0">
            <a:off x="1495425" y="3143250"/>
            <a:ext cx="55435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GitHub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仓库</a:t>
            </a:r>
            <a:endParaRPr/>
          </a:p>
        </p:txBody>
      </p:sp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1495425" y="3333750"/>
            <a:ext cx="554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≥ 3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次有意义的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commit + README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一句话说明</a:t>
            </a:r>
            <a:endParaRPr/>
          </a:p>
        </p:txBody>
      </p:sp>
      <p:sp>
        <p:nvSpPr>
          <p:cNvPr id="933" name="" descr="{&quot;isTemplate&quot;:true,&quot;type&quot;:&quot;text&quot;}"/>
          <p:cNvSpPr txBox="1"/>
          <p:nvPr/>
        </p:nvSpPr>
        <p:spPr>
          <a:xfrm rot="0" flipH="0" flipV="0">
            <a:off x="7172325" y="3209925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Source Han Sans SC"/>
                <a:ea typeface="Source Han Sans SC"/>
              </a:rPr>
              <a:t>20</a:t>
            </a:r>
            <a:endParaRPr/>
          </a:p>
        </p:txBody>
      </p:sp>
      <p:sp>
        <p:nvSpPr>
          <p:cNvPr id="934" name=""/>
          <p:cNvSpPr/>
          <p:nvPr/>
        </p:nvSpPr>
        <p:spPr>
          <a:xfrm rot="0" flipH="0" flipV="0">
            <a:off x="847725" y="369570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35" name=""/>
          <p:cNvSpPr/>
          <p:nvPr/>
        </p:nvSpPr>
        <p:spPr>
          <a:xfrm rot="0" flipH="0" flipV="0">
            <a:off x="847725" y="369570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36" name=""/>
          <p:cNvSpPr/>
          <p:nvPr/>
        </p:nvSpPr>
        <p:spPr>
          <a:xfrm rot="0" flipH="0" flipV="0">
            <a:off x="1000125" y="38004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95375" y="3895725"/>
            <a:ext cx="171450" cy="171450"/>
          </a:xfrm>
          <a:prstGeom prst="rect">
            <a:avLst/>
          </a:prstGeom>
          <a:ln/>
        </p:spPr>
      </p:pic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1495425" y="3810000"/>
            <a:ext cx="55435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模型小对比</a:t>
            </a:r>
            <a:endParaRPr/>
          </a:p>
        </p:txBody>
      </p:sp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1495425" y="4000500"/>
            <a:ext cx="554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KNN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的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n_neighbors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取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 / 3 / 10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，报告准确率变化并解释</a:t>
            </a:r>
            <a:endParaRPr/>
          </a:p>
        </p:txBody>
      </p:sp>
      <p:sp>
        <p:nvSpPr>
          <p:cNvPr id="940" name="" descr="{&quot;isTemplate&quot;:true,&quot;type&quot;:&quot;text&quot;}"/>
          <p:cNvSpPr txBox="1"/>
          <p:nvPr/>
        </p:nvSpPr>
        <p:spPr>
          <a:xfrm rot="0" flipH="0" flipV="0">
            <a:off x="7172325" y="3876675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Source Han Sans SC"/>
                <a:ea typeface="Source Han Sans SC"/>
              </a:rPr>
              <a:t>20</a:t>
            </a:r>
            <a:endParaRPr/>
          </a:p>
        </p:txBody>
      </p:sp>
      <p:sp>
        <p:nvSpPr>
          <p:cNvPr id="941" name=""/>
          <p:cNvSpPr/>
          <p:nvPr/>
        </p:nvSpPr>
        <p:spPr>
          <a:xfrm rot="0" flipH="0" flipV="0">
            <a:off x="847725" y="436245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42" name=""/>
          <p:cNvSpPr/>
          <p:nvPr/>
        </p:nvSpPr>
        <p:spPr>
          <a:xfrm rot="0" flipH="0" flipV="0">
            <a:off x="847725" y="436245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3" name=""/>
          <p:cNvSpPr/>
          <p:nvPr/>
        </p:nvSpPr>
        <p:spPr>
          <a:xfrm rot="0" flipH="0" flipV="0">
            <a:off x="1000125" y="44672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1095375" y="4562475"/>
            <a:ext cx="171450" cy="171450"/>
          </a:xfrm>
          <a:prstGeom prst="rect">
            <a:avLst/>
          </a:prstGeom>
          <a:ln/>
        </p:spPr>
      </p:pic>
      <p:sp>
        <p:nvSpPr>
          <p:cNvPr id="945" name="" descr="{&quot;isTemplate&quot;:true,&quot;type&quot;:&quot;text&quot;}"/>
          <p:cNvSpPr txBox="1"/>
          <p:nvPr/>
        </p:nvSpPr>
        <p:spPr>
          <a:xfrm rot="0" flipH="0" flipV="0">
            <a:off x="1495425" y="4476750"/>
            <a:ext cx="55721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思考题</a:t>
            </a:r>
            <a:endParaRPr/>
          </a:p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1495425" y="4667250"/>
            <a:ext cx="5572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如果准确率只有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0.4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，你会先检查什么？写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3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句话</a:t>
            </a:r>
            <a:endParaRPr/>
          </a:p>
        </p:txBody>
      </p:sp>
      <p:sp>
        <p:nvSpPr>
          <p:cNvPr id="947" name="" descr="{&quot;isTemplate&quot;:true,&quot;type&quot;:&quot;text&quot;}"/>
          <p:cNvSpPr txBox="1"/>
          <p:nvPr/>
        </p:nvSpPr>
        <p:spPr>
          <a:xfrm rot="0" flipH="0" flipV="0">
            <a:off x="7200900" y="4543425"/>
            <a:ext cx="190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Source Han Sans SC"/>
                <a:ea typeface="Source Han Sans SC"/>
              </a:rPr>
              <a:t>10</a:t>
            </a:r>
            <a:endParaRPr/>
          </a:p>
        </p:txBody>
      </p:sp>
      <p:sp>
        <p:nvSpPr>
          <p:cNvPr id="948" name=""/>
          <p:cNvSpPr/>
          <p:nvPr/>
        </p:nvSpPr>
        <p:spPr>
          <a:xfrm rot="0" flipH="0" flipV="0">
            <a:off x="7772400" y="1343025"/>
            <a:ext cx="3619500" cy="1428750"/>
          </a:xfrm>
          <a:prstGeom prst="roundRect">
            <a:avLst>
              <a:gd name="adj" fmla="val 933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49" name="" descr="{&quot;isTemplate&quot;:true,&quot;type&quot;:&quot;text&quot;}"/>
          <p:cNvSpPr txBox="1"/>
          <p:nvPr/>
        </p:nvSpPr>
        <p:spPr>
          <a:xfrm rot="0" flipH="0" flipV="0">
            <a:off x="8001000" y="1533525"/>
            <a:ext cx="3162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截止时间</a:t>
            </a:r>
            <a:r>
              <a:rPr lang="en-US" sz="105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 · Deadline</a:t>
            </a:r>
            <a:endParaRPr/>
          </a:p>
        </p:txBody>
      </p:sp>
      <p:sp>
        <p:nvSpPr>
          <p:cNvPr id="950" name="" descr="{&quot;isTemplate&quot;:true,&quot;type&quot;:&quot;text&quot;}"/>
          <p:cNvSpPr txBox="1"/>
          <p:nvPr/>
        </p:nvSpPr>
        <p:spPr>
          <a:xfrm rot="0" flipH="0" flipV="0">
            <a:off x="8001000" y="1733550"/>
            <a:ext cx="31623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Source Han Sans SC"/>
                <a:ea typeface="Source Han Sans SC"/>
              </a:rPr>
              <a:t>下周一</a:t>
            </a:r>
            <a:r>
              <a:rPr lang="en-US" sz="1800" b="1">
                <a:solidFill>
                  <a:srgbClr val="FFFFFF"/>
                </a:solidFill>
                <a:latin typeface="Source Han Sans SC"/>
                <a:ea typeface="Source Han Sans SC"/>
              </a:rPr>
              <a:t> 23:59</a:t>
            </a:r>
            <a:endParaRPr/>
          </a:p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8001000" y="2085975"/>
            <a:ext cx="31623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提交方式：课程平台上传仓库链接（含</a:t>
            </a:r>
            <a:r>
              <a:rPr lang="en-US" sz="1013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 environment.yml </a:t>
            </a:r>
            <a:r>
              <a:rPr lang="zh-CN" sz="1013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与</a:t>
            </a:r>
            <a:r>
              <a:rPr lang="en-US" sz="1013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 notebook</a:t>
            </a:r>
            <a:r>
              <a:rPr lang="zh-CN" sz="1013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）。</a:t>
            </a:r>
            <a:endParaRPr/>
          </a:p>
        </p:txBody>
      </p:sp>
      <p:sp>
        <p:nvSpPr>
          <p:cNvPr id="952" name=""/>
          <p:cNvSpPr/>
          <p:nvPr/>
        </p:nvSpPr>
        <p:spPr>
          <a:xfrm rot="0" flipH="0" flipV="0">
            <a:off x="7772400" y="2905125"/>
            <a:ext cx="3619500" cy="2057400"/>
          </a:xfrm>
          <a:prstGeom prst="roundRect">
            <a:avLst>
              <a:gd name="adj" fmla="val 648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53" name="" descr="{&quot;isTemplate&quot;:true,&quot;type&quot;:&quot;text&quot;}"/>
          <p:cNvSpPr txBox="1"/>
          <p:nvPr/>
        </p:nvSpPr>
        <p:spPr>
          <a:xfrm rot="0" flipH="0" flipV="0">
            <a:off x="7981950" y="3076575"/>
            <a:ext cx="320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老师的三句忠告</a:t>
            </a:r>
            <a:endParaRPr/>
          </a:p>
        </p:txBody>
      </p:sp>
      <p:sp>
        <p:nvSpPr>
          <p:cNvPr id="954" name="" descr="{&quot;isTemplate&quot;:true,&quot;type&quot;:&quot;text&quot;}"/>
          <p:cNvSpPr txBox="1"/>
          <p:nvPr/>
        </p:nvSpPr>
        <p:spPr>
          <a:xfrm rot="0" flipH="0" flipV="0">
            <a:off x="7981950" y="3362325"/>
            <a:ext cx="95250" cy="495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8172450" y="3362325"/>
            <a:ext cx="30099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先跑通，再优化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今晚只有一个目标：屏幕上打出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accuracy</a:t>
            </a:r>
            <a:endParaRPr/>
          </a:p>
        </p:txBody>
      </p:sp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7981950" y="3952875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957" name="" descr="{&quot;isTemplate&quot;:true,&quot;type&quot;:&quot;text&quot;}"/>
          <p:cNvSpPr txBox="1"/>
          <p:nvPr/>
        </p:nvSpPr>
        <p:spPr>
          <a:xfrm rot="0" flipH="0" flipV="0">
            <a:off x="8201025" y="3952875"/>
            <a:ext cx="2390775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commit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早、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commit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勤，别最后一次性传</a:t>
            </a:r>
            <a:endParaRPr/>
          </a:p>
        </p:txBody>
      </p:sp>
      <p:sp>
        <p:nvSpPr>
          <p:cNvPr id="958" name="" descr="{&quot;isTemplate&quot;:true,&quot;type&quot;:&quot;text&quot;}"/>
          <p:cNvSpPr txBox="1"/>
          <p:nvPr/>
        </p:nvSpPr>
        <p:spPr>
          <a:xfrm rot="0" flipH="0" flipV="0">
            <a:off x="7981950" y="4295775"/>
            <a:ext cx="123825" cy="495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959" name="" descr="{&quot;isTemplate&quot;:true,&quot;type&quot;:&quot;text&quot;}"/>
          <p:cNvSpPr txBox="1"/>
          <p:nvPr/>
        </p:nvSpPr>
        <p:spPr>
          <a:xfrm rot="0" flipH="0" flipV="0">
            <a:off x="8201025" y="4295775"/>
            <a:ext cx="298132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允许用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助手，但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notebook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里注明，且能口头解释每行</a:t>
            </a:r>
            <a:endParaRPr/>
          </a:p>
        </p:txBody>
      </p:sp>
      <p:sp>
        <p:nvSpPr>
          <p:cNvPr id="960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F7F9FC"/>
          </a:solidFill>
          <a:ln w="12700">
            <a:solidFill>
              <a:srgbClr val="8B97A8"/>
            </a:solidFill>
            <a:prstDash val="dash"/>
          </a:ln>
        </p:spPr>
        <p:txBody>
          <a:bodyPr/>
          <a:p/>
        </p:txBody>
      </p:sp>
      <p:pic>
        <p:nvPicPr>
          <p:cNvPr id="9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990600" y="5724525"/>
            <a:ext cx="209550" cy="209550"/>
          </a:xfrm>
          <a:prstGeom prst="rect">
            <a:avLst/>
          </a:prstGeom>
          <a:ln/>
        </p:spPr>
      </p:pic>
      <p:sp>
        <p:nvSpPr>
          <p:cNvPr id="962" name="" descr="{&quot;isTemplate&quot;:true,&quot;type&quot;:&quot;text&quot;}"/>
          <p:cNvSpPr txBox="1"/>
          <p:nvPr/>
        </p:nvSpPr>
        <p:spPr>
          <a:xfrm rot="0" flipH="0" flipV="0">
            <a:off x="1333500" y="5705475"/>
            <a:ext cx="98679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环境坏了交不上？交「报错截图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排查过程」可拿一半分——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展示你调试的过程比结果更值钱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Broken env? Document your debugging — process beats outcome.</a:t>
            </a:r>
            <a:endParaRPr/>
          </a:p>
        </p:txBody>
      </p:sp>
      <p:sp>
        <p:nvSpPr>
          <p:cNvPr id="96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29 / 32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98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随堂小测 · Quick Quiz（计入 Lab 10%）&lt;/Text&gt;&#10;    &lt;Text style={{ fontSize: 15, color: 'rgba(255,255,255,0.85)' }}&gt;Module 1 · Week 1&lt;/Text&gt;&#10;  &lt;/Box&gt;&#10;  &lt;Box style={{ position: 'absolute', top: 96, left: 0, width: '100%', height: 550, padding: '10px 84px', flexDirection: 'column', gap: 14 }}&gt;&#10;    &lt;Text style={{ fontSize: 15, color: '#8B97A8' }}&gt;不翻笔记，60 秒一题 · No notes, 60 seconds each. 举手投票，答错是好事——错过的知识记得更牢。&lt;/Text&gt;&#10;    {[&#10;      { n: 'Q1', q: '&quot;深度学习不属于机器学习，它是独立的技术路线。&quot; 这句话对吗？', opts: ['对，DL 另起炉灶', '不对，DL ⊂ ML ⊂ AI'], a: '答案：B —— DL 是 ML 的子集，用多层神经网络自动学特征。' },&#10;      { n: 'Q2', q: '「按消费行为把 10 万用户分成 5 群，没有任何标签」属于哪种学习范式？', opts: ['监督学习', '无监督学习（聚类）', '强化学习'], a: '答案：B —— 无标签、找结构 → 无监督聚类（K-Means 等，W3 会动手）。' },&#10;      { n: 'Q3', q: '一个 AI 项目中，工程师大约把多少时间花在&quot;训练模型&quot;本身？', opts: ['约 80%', '约 50%', '约 20%'], a: '答案：C —— 80% 在数据与工程（80% 法则），模型训练只占约两成。' },&#10;    ].map((q, i) =&gt; (&#10;      &lt;Box key={i} style={{ flex: 1, background: '#F7F9FC', border: '1px solid #E5E7EB', borderLeft: '5px solid #1E4FA8', borderRadius: 12, padding: '16px 24px', justifyContent: 'center' }}&gt;&#10;        &lt;Box style={{ flexDirection: 'row', alignItems: 'center', gap: 14 }}&gt;&#10;          &lt;Box style={{ width: 46, height: 46, borderRadius: 12, background: '#1E4FA8', justifyContent: 'center', alignItems: 'center', flexShrink: 0 }}&gt;&#10;            &lt;Text style={{ fontSize: 17, color: '#FFFFFF', fontWeight: 'bold' }}&gt;{q.n}&lt;/Text&gt;&#10;          &lt;/Box&gt;&#10;          &lt;Text style={{ fontSize: 17.5, color: '#1A2230', fontWeight: '600', flex: 1 }}&gt;{q.q}&lt;/Text&gt;&#10;        &lt;/Box&gt;&#10;        &lt;Box style={{ flexDirection: 'row', gap: 14, marginTop: 12, marginLeft: 60 }}&gt;&#10;          {q.opts.map((o, j) =&gt; (&#10;            &lt;Box key={j} style={{ flex: 1, background: '#FFFFFF', border: '1px solid #D6DCE5', borderRadius: 8, padding: '9px 14px', flexDirection: 'row', alignItems: 'center', gap: 10 }}&gt;&#10;              &lt;Box style={{ width: 24, height: 24, borderRadius: 12, border: '2px solid #8B97A8', flexShrink: 0 }} /&gt;&#10;              &lt;Text style={{ fontSize: 14, color: '#4A5568' }}&gt;{o}&lt;/Text&gt;&#10;            &lt;/Box&gt;&#10;          ))}&#10;        &lt;/Box&gt;&#10;        &lt;Text style={{ fontSize: 13, color: '#8B97A8', marginTop: 10, marginLeft: 60, fontStyle: 'italic' }}&gt;{q.a}&lt;/Text&gt;&#10;      &lt;/Box&gt;&#10;    ))}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3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52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随堂小测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Quick Quiz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（计入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Lab 10%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989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800100" y="1009650"/>
            <a:ext cx="1059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不翻笔记，</a:t>
            </a: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60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秒一题</a:t>
            </a: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 · No notes, 60 seconds each.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举手投票，答错是好事——错过的知识记得更牢。</a:t>
            </a:r>
            <a:endParaRPr/>
          </a:p>
        </p:txBody>
      </p:sp>
      <p:sp>
        <p:nvSpPr>
          <p:cNvPr id="991" name=""/>
          <p:cNvSpPr/>
          <p:nvPr/>
        </p:nvSpPr>
        <p:spPr>
          <a:xfrm rot="0" flipH="0" flipV="0">
            <a:off x="847725" y="1314450"/>
            <a:ext cx="10591800" cy="1504950"/>
          </a:xfrm>
          <a:prstGeom prst="roundRect">
            <a:avLst>
              <a:gd name="adj" fmla="val 75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92" name=""/>
          <p:cNvSpPr/>
          <p:nvPr/>
        </p:nvSpPr>
        <p:spPr>
          <a:xfrm rot="0" flipH="0" flipV="0">
            <a:off x="847725" y="1314450"/>
            <a:ext cx="10591800" cy="1504950"/>
          </a:xfrm>
          <a:custGeom>
            <a:pathLst>
              <a:path w="1112" h="158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51"/>
                </a:lnTo>
                <a:cubicBezTo>
                  <a:pt x="5" y="154"/>
                  <a:pt x="7" y="157"/>
                  <a:pt x="10" y="158"/>
                </a:cubicBezTo>
                <a:cubicBezTo>
                  <a:pt x="4" y="157"/>
                  <a:pt x="0" y="152"/>
                  <a:pt x="0" y="1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93" name=""/>
          <p:cNvSpPr/>
          <p:nvPr/>
        </p:nvSpPr>
        <p:spPr>
          <a:xfrm rot="0" flipH="0" flipV="0">
            <a:off x="1076325" y="14668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94" name="" descr="{&quot;isTemplate&quot;:true,&quot;type&quot;:&quot;text&quot;}"/>
          <p:cNvSpPr txBox="1"/>
          <p:nvPr/>
        </p:nvSpPr>
        <p:spPr>
          <a:xfrm rot="0" flipH="0" flipV="0">
            <a:off x="1200150" y="1590675"/>
            <a:ext cx="200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Q1</a:t>
            </a:r>
            <a:endParaRPr/>
          </a:p>
        </p:txBody>
      </p:sp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1647825" y="1590675"/>
            <a:ext cx="9515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深度学习不属于机器学习，它是独立的技术路线。</a:t>
            </a: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" 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这句话对吗？</a:t>
            </a:r>
            <a:endParaRPr/>
          </a:p>
        </p:txBody>
      </p:sp>
      <p:sp>
        <p:nvSpPr>
          <p:cNvPr id="996" name=""/>
          <p:cNvSpPr/>
          <p:nvPr/>
        </p:nvSpPr>
        <p:spPr>
          <a:xfrm rot="0" flipH="0" flipV="0">
            <a:off x="1647825" y="2019300"/>
            <a:ext cx="46958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97" name=""/>
          <p:cNvSpPr/>
          <p:nvPr/>
        </p:nvSpPr>
        <p:spPr>
          <a:xfrm rot="0" flipH="0" flipV="0">
            <a:off x="1781175" y="21050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98" name="" descr="{&quot;isTemplate&quot;:true,&quot;type&quot;:&quot;text&quot;}"/>
          <p:cNvSpPr txBox="1"/>
          <p:nvPr/>
        </p:nvSpPr>
        <p:spPr>
          <a:xfrm rot="0" flipH="0" flipV="0">
            <a:off x="2105025" y="2143125"/>
            <a:ext cx="1019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对，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DL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另起炉灶</a:t>
            </a:r>
            <a:endParaRPr/>
          </a:p>
        </p:txBody>
      </p:sp>
      <p:sp>
        <p:nvSpPr>
          <p:cNvPr id="999" name=""/>
          <p:cNvSpPr/>
          <p:nvPr/>
        </p:nvSpPr>
        <p:spPr>
          <a:xfrm rot="0" flipH="0" flipV="0">
            <a:off x="6477000" y="2019300"/>
            <a:ext cx="46863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00" name=""/>
          <p:cNvSpPr/>
          <p:nvPr/>
        </p:nvSpPr>
        <p:spPr>
          <a:xfrm rot="0" flipH="0" flipV="0">
            <a:off x="6610350" y="21050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01" name="" descr="{&quot;isTemplate&quot;:true,&quot;type&quot;:&quot;text&quot;}"/>
          <p:cNvSpPr txBox="1"/>
          <p:nvPr/>
        </p:nvSpPr>
        <p:spPr>
          <a:xfrm rot="0" flipH="0" flipV="0">
            <a:off x="6934200" y="2143125"/>
            <a:ext cx="1247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不对，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DL ⊂ ML ⊂ AI</a:t>
            </a:r>
            <a:endParaRPr/>
          </a:p>
        </p:txBody>
      </p:sp>
      <p:sp>
        <p:nvSpPr>
          <p:cNvPr id="1002" name="" descr="{&quot;isTemplate&quot;:true,&quot;type&quot;:&quot;text&quot;}"/>
          <p:cNvSpPr txBox="1"/>
          <p:nvPr/>
        </p:nvSpPr>
        <p:spPr>
          <a:xfrm rot="0" flipH="0" flipV="0">
            <a:off x="1647825" y="2514600"/>
            <a:ext cx="951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答案：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B —— DL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是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 ML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的子集，用多层神经网络自动学特征。</a:t>
            </a:r>
            <a:endParaRPr/>
          </a:p>
        </p:txBody>
      </p:sp>
      <p:sp>
        <p:nvSpPr>
          <p:cNvPr id="1003" name=""/>
          <p:cNvSpPr/>
          <p:nvPr/>
        </p:nvSpPr>
        <p:spPr>
          <a:xfrm rot="0" flipH="0" flipV="0">
            <a:off x="847725" y="2952750"/>
            <a:ext cx="10591800" cy="1504950"/>
          </a:xfrm>
          <a:prstGeom prst="roundRect">
            <a:avLst>
              <a:gd name="adj" fmla="val 75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04" name=""/>
          <p:cNvSpPr/>
          <p:nvPr/>
        </p:nvSpPr>
        <p:spPr>
          <a:xfrm rot="0" flipH="0" flipV="0">
            <a:off x="847725" y="2952750"/>
            <a:ext cx="10591800" cy="1504950"/>
          </a:xfrm>
          <a:custGeom>
            <a:pathLst>
              <a:path w="1112" h="158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51"/>
                </a:lnTo>
                <a:cubicBezTo>
                  <a:pt x="5" y="154"/>
                  <a:pt x="7" y="157"/>
                  <a:pt x="10" y="158"/>
                </a:cubicBezTo>
                <a:cubicBezTo>
                  <a:pt x="4" y="157"/>
                  <a:pt x="0" y="152"/>
                  <a:pt x="0" y="1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05" name=""/>
          <p:cNvSpPr/>
          <p:nvPr/>
        </p:nvSpPr>
        <p:spPr>
          <a:xfrm rot="0" flipH="0" flipV="0">
            <a:off x="1076325" y="31051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06" name="" descr="{&quot;isTemplate&quot;:true,&quot;type&quot;:&quot;text&quot;}"/>
          <p:cNvSpPr txBox="1"/>
          <p:nvPr/>
        </p:nvSpPr>
        <p:spPr>
          <a:xfrm rot="0" flipH="0" flipV="0">
            <a:off x="1181100" y="3228975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Q2</a:t>
            </a:r>
            <a:endParaRPr/>
          </a:p>
        </p:txBody>
      </p:sp>
      <p:sp>
        <p:nvSpPr>
          <p:cNvPr id="1007" name="" descr="{&quot;isTemplate&quot;:true,&quot;type&quot;:&quot;text&quot;}"/>
          <p:cNvSpPr txBox="1"/>
          <p:nvPr/>
        </p:nvSpPr>
        <p:spPr>
          <a:xfrm rot="0" flipH="0" flipV="0">
            <a:off x="1647825" y="3228975"/>
            <a:ext cx="9515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「按消费行为把</a:t>
            </a: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 10 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万用户分成</a:t>
            </a: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 5 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群，没有任何标签」属于哪种学习范式？</a:t>
            </a:r>
            <a:endParaRPr/>
          </a:p>
        </p:txBody>
      </p:sp>
      <p:sp>
        <p:nvSpPr>
          <p:cNvPr id="1008" name=""/>
          <p:cNvSpPr/>
          <p:nvPr/>
        </p:nvSpPr>
        <p:spPr>
          <a:xfrm rot="0" flipH="0" flipV="0">
            <a:off x="1647825" y="36576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09" name=""/>
          <p:cNvSpPr/>
          <p:nvPr/>
        </p:nvSpPr>
        <p:spPr>
          <a:xfrm rot="0" flipH="0" flipV="0">
            <a:off x="1781175" y="37433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2105025" y="37814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监督学习</a:t>
            </a:r>
            <a:endParaRPr/>
          </a:p>
        </p:txBody>
      </p:sp>
      <p:sp>
        <p:nvSpPr>
          <p:cNvPr id="1011" name=""/>
          <p:cNvSpPr/>
          <p:nvPr/>
        </p:nvSpPr>
        <p:spPr>
          <a:xfrm rot="0" flipH="0" flipV="0">
            <a:off x="4867275" y="3657600"/>
            <a:ext cx="30765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12" name=""/>
          <p:cNvSpPr/>
          <p:nvPr/>
        </p:nvSpPr>
        <p:spPr>
          <a:xfrm rot="0" flipH="0" flipV="0">
            <a:off x="5000625" y="37433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13" name="" descr="{&quot;isTemplate&quot;:true,&quot;type&quot;:&quot;text&quot;}"/>
          <p:cNvSpPr txBox="1"/>
          <p:nvPr/>
        </p:nvSpPr>
        <p:spPr>
          <a:xfrm rot="0" flipH="0" flipV="0">
            <a:off x="5324475" y="3781425"/>
            <a:ext cx="1200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无监督学习（聚类）</a:t>
            </a:r>
            <a:endParaRPr/>
          </a:p>
        </p:txBody>
      </p:sp>
      <p:sp>
        <p:nvSpPr>
          <p:cNvPr id="1014" name=""/>
          <p:cNvSpPr/>
          <p:nvPr/>
        </p:nvSpPr>
        <p:spPr>
          <a:xfrm rot="0" flipH="0" flipV="0">
            <a:off x="8077200" y="36576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15" name=""/>
          <p:cNvSpPr/>
          <p:nvPr/>
        </p:nvSpPr>
        <p:spPr>
          <a:xfrm rot="0" flipH="0" flipV="0">
            <a:off x="8210550" y="37433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16" name="" descr="{&quot;isTemplate&quot;:true,&quot;type&quot;:&quot;text&quot;}"/>
          <p:cNvSpPr txBox="1"/>
          <p:nvPr/>
        </p:nvSpPr>
        <p:spPr>
          <a:xfrm rot="0" flipH="0" flipV="0">
            <a:off x="8534400" y="37814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强化学习</a:t>
            </a:r>
            <a:endParaRPr/>
          </a:p>
        </p:txBody>
      </p:sp>
      <p:sp>
        <p:nvSpPr>
          <p:cNvPr id="1017" name="" descr="{&quot;isTemplate&quot;:true,&quot;type&quot;:&quot;text&quot;}"/>
          <p:cNvSpPr txBox="1"/>
          <p:nvPr/>
        </p:nvSpPr>
        <p:spPr>
          <a:xfrm rot="0" flipH="0" flipV="0">
            <a:off x="1647825" y="4152900"/>
            <a:ext cx="951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答案：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B ——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无标签、找结构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 →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无监督聚类（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K-Means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等，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W3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会动手）。</a:t>
            </a:r>
            <a:endParaRPr/>
          </a:p>
        </p:txBody>
      </p:sp>
      <p:sp>
        <p:nvSpPr>
          <p:cNvPr id="1018" name=""/>
          <p:cNvSpPr/>
          <p:nvPr/>
        </p:nvSpPr>
        <p:spPr>
          <a:xfrm rot="0" flipH="0" flipV="0">
            <a:off x="847725" y="4591050"/>
            <a:ext cx="10591800" cy="1504950"/>
          </a:xfrm>
          <a:prstGeom prst="roundRect">
            <a:avLst>
              <a:gd name="adj" fmla="val 75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19" name=""/>
          <p:cNvSpPr/>
          <p:nvPr/>
        </p:nvSpPr>
        <p:spPr>
          <a:xfrm rot="0" flipH="0" flipV="0">
            <a:off x="847725" y="4591050"/>
            <a:ext cx="10591800" cy="1504950"/>
          </a:xfrm>
          <a:custGeom>
            <a:pathLst>
              <a:path w="1112" h="158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51"/>
                </a:lnTo>
                <a:cubicBezTo>
                  <a:pt x="5" y="154"/>
                  <a:pt x="7" y="157"/>
                  <a:pt x="10" y="158"/>
                </a:cubicBezTo>
                <a:cubicBezTo>
                  <a:pt x="4" y="157"/>
                  <a:pt x="0" y="152"/>
                  <a:pt x="0" y="1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20" name=""/>
          <p:cNvSpPr/>
          <p:nvPr/>
        </p:nvSpPr>
        <p:spPr>
          <a:xfrm rot="0" flipH="0" flipV="0">
            <a:off x="1076325" y="47434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21" name="" descr="{&quot;isTemplate&quot;:true,&quot;type&quot;:&quot;text&quot;}"/>
          <p:cNvSpPr txBox="1"/>
          <p:nvPr/>
        </p:nvSpPr>
        <p:spPr>
          <a:xfrm rot="0" flipH="0" flipV="0">
            <a:off x="1181100" y="4867275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Q3</a:t>
            </a:r>
            <a:endParaRPr/>
          </a:p>
        </p:txBody>
      </p:sp>
      <p:sp>
        <p:nvSpPr>
          <p:cNvPr id="1022" name="" descr="{&quot;isTemplate&quot;:true,&quot;type&quot;:&quot;text&quot;}"/>
          <p:cNvSpPr txBox="1"/>
          <p:nvPr/>
        </p:nvSpPr>
        <p:spPr>
          <a:xfrm rot="0" flipH="0" flipV="0">
            <a:off x="1647825" y="4867275"/>
            <a:ext cx="9515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一个</a:t>
            </a: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项目中，工程师大约把多少时间花在</a:t>
            </a: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训练模型</a:t>
            </a: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本身？</a:t>
            </a:r>
            <a:endParaRPr/>
          </a:p>
        </p:txBody>
      </p:sp>
      <p:sp>
        <p:nvSpPr>
          <p:cNvPr id="1023" name=""/>
          <p:cNvSpPr/>
          <p:nvPr/>
        </p:nvSpPr>
        <p:spPr>
          <a:xfrm rot="0" flipH="0" flipV="0">
            <a:off x="1647825" y="52959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24" name=""/>
          <p:cNvSpPr/>
          <p:nvPr/>
        </p:nvSpPr>
        <p:spPr>
          <a:xfrm rot="0" flipH="0" flipV="0">
            <a:off x="1781175" y="53816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25" name="" descr="{&quot;isTemplate&quot;:true,&quot;type&quot;:&quot;text&quot;}"/>
          <p:cNvSpPr txBox="1"/>
          <p:nvPr/>
        </p:nvSpPr>
        <p:spPr>
          <a:xfrm rot="0" flipH="0" flipV="0">
            <a:off x="2105025" y="5419725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约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80%</a:t>
            </a:r>
            <a:endParaRPr/>
          </a:p>
        </p:txBody>
      </p:sp>
      <p:sp>
        <p:nvSpPr>
          <p:cNvPr id="1026" name=""/>
          <p:cNvSpPr/>
          <p:nvPr/>
        </p:nvSpPr>
        <p:spPr>
          <a:xfrm rot="0" flipH="0" flipV="0">
            <a:off x="4867275" y="5295900"/>
            <a:ext cx="30765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27" name=""/>
          <p:cNvSpPr/>
          <p:nvPr/>
        </p:nvSpPr>
        <p:spPr>
          <a:xfrm rot="0" flipH="0" flipV="0">
            <a:off x="5000625" y="53816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28" name="" descr="{&quot;isTemplate&quot;:true,&quot;type&quot;:&quot;text&quot;}"/>
          <p:cNvSpPr txBox="1"/>
          <p:nvPr/>
        </p:nvSpPr>
        <p:spPr>
          <a:xfrm rot="0" flipH="0" flipV="0">
            <a:off x="5324475" y="5419725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约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50%</a:t>
            </a:r>
            <a:endParaRPr/>
          </a:p>
        </p:txBody>
      </p:sp>
      <p:sp>
        <p:nvSpPr>
          <p:cNvPr id="1029" name=""/>
          <p:cNvSpPr/>
          <p:nvPr/>
        </p:nvSpPr>
        <p:spPr>
          <a:xfrm rot="0" flipH="0" flipV="0">
            <a:off x="8077200" y="52959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30" name=""/>
          <p:cNvSpPr/>
          <p:nvPr/>
        </p:nvSpPr>
        <p:spPr>
          <a:xfrm rot="0" flipH="0" flipV="0">
            <a:off x="8210550" y="53816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8534400" y="5419725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约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20%</a:t>
            </a:r>
            <a:endParaRPr/>
          </a:p>
        </p:txBody>
      </p:sp>
      <p:sp>
        <p:nvSpPr>
          <p:cNvPr id="1032" name="" descr="{&quot;isTemplate&quot;:true,&quot;type&quot;:&quot;text&quot;}"/>
          <p:cNvSpPr txBox="1"/>
          <p:nvPr/>
        </p:nvSpPr>
        <p:spPr>
          <a:xfrm rot="0" flipH="0" flipV="0">
            <a:off x="1647825" y="5791200"/>
            <a:ext cx="951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答案：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C —— 80%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在数据与工程（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80%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法则），模型训练只占约两成。</a:t>
            </a:r>
            <a:endParaRPr/>
          </a:p>
        </p:txBody>
      </p:sp>
      <p:sp>
        <p:nvSpPr>
          <p:cNvPr id="103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03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30 / 32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3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本课小结 · Summary&lt;/Text&gt;&#10;    &lt;Text style={{ fontSize: 15, color: 'rgba(255,255,255,0.85)' }}&gt;Module 1 · Week 1&lt;/Text&gt;&#10;  &lt;/Box&gt;&#10;  &lt;Box style={{ position: 'absolute', top: 100, left: 0, width: '100%', height: 540, padding: '16px 84px', flexDirection: 'row', gap: 26 }}&gt;&#10;    &lt;Box style={{ flex: 1.2, gap: 13, justifyContent: 'center' }}&gt;&#10;      &lt;Text style={{ fontSize: 18, color: '#8B97A8', fontWeight: '600', marginBottom: 2 }}&gt;5 个核心要点 · 5 Key Takeaways&lt;/Text&gt;&#10;      {[&#10;        'AI ⊃ ML ⊃ DL ⊃ GenAI —— 逐层包含，判断看三问',&#10;        '三次浪潮：符号主义 → 统计学习 → 深度学习/生成式',&#10;        '当前是应用工程化窗口期，SE 的杠杆点在&quot;把模型变产品&quot;',&#10;        'AI 项目六阶段：定义 → 数据 → 特征 → 建模 → 部署 → 监控',&#10;        '80% 时间在数据与工程，只有 20% 在训练模型',&#10;      ].map((t, i) =&gt; (&#10;        &lt;Box key={i} style={{ flexDirection: 'row', gap: 14, alignItems: 'flex-start', background: '#F7F9FC', border: '1px solid #E5E7EB', borderRadius: 10, padding: '12px 18px' }}&gt;&#10;          &lt;FAIcon name='check-circle' style={{ fill: '#1E4FA8', width: 22, height: 22, marginTop: 2 }} /&gt;&#10;          &lt;Text style={{ fontSize: 16.5, color: '#1A2230', lineHeight: 1.55, flex: 1 }}&gt;{t}&lt;/Text&gt;&#10;        &lt;/Box&gt;&#10;      ))}&#10;    &lt;/Box&gt;&#10;    &lt;Box style={{ width: 340, background: '#F0F5FC', border: '1px solid #D6DCE5', borderRadius: 14, padding: '24px 24px', justifyContent: 'center', flexShrink: 0 }}&gt;&#10;      &lt;Text style={{ fontSize: 22, color: '#0E3F8C', fontWeight: 'bold' }}&gt;Lab 回顾 · 今天你完成了&lt;/Text&gt;&#10;      &lt;Box style={{ width: '100%', height: 2, background: '#D6DCE5', marginTop: 12, marginBottom: 14 }} /&gt;&#10;      {[&#10;        { i: 'box', t: '环境搭建', d: 'conda 创建 ai-app · 安装依赖' },&#10;        { i: 'laptop', t: 'Jupyter + Colab', d: '本机运行 + Colab GPU 验证' },&#10;        { i: 'code-branch', t: 'Git 初始化', d: 'init → commit → push GitHub' },&#10;        { i: 'microchip', t: '第一个模型', d: 'scikit-learn Iris 分类' },&#10;      ].map((r, i) =&gt; (&#10;        &lt;Box key={i} style={{ flexDirection: 'row', gap: 12, alignItems: 'center', marginBottom: 13 }}&gt;&#10;          &lt;Box style={{ width: 38, height: 38, borderRadius: 10, background: '#FFFFFF', border: '1px solid #D6DCE5', justifyContent: 'center', alignItems: 'center', flexShrink: 0 }}&gt;&#10;            &lt;FAIcon name={r.i} style={{ fill: '#1E4FA8', width: 19, height: 19 }} /&gt;&#10;          &lt;/Box&gt;&#10;          &lt;Box&gt;&#10;            &lt;Text style={{ fontSize: 16, color: '#1A2230', fontWeight: 'bold' }}&gt;{r.t}&lt;/Text&gt;&#10;            &lt;Text style={{ fontSize: 13, color: '#4A5568' }}&gt;{r.d}&lt;/Text&gt;&#10;          &lt;/Box&gt;&#10;        &lt;/Box&gt;&#10;      ))}&#10;      &lt;Box style={{ background: '#0E3F8C', borderRadius: 8, padding: '10px 16px', marginTop: 4 }}&gt;&#10;        &lt;Text style={{ fontSize: 14.5, color: '#FFFFFF', lineHeight: 1.5 }}&gt;&#10;          交付：environment.yml + notebook + GitHub 链接 · 下周一 23:59 截止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3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028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本课小结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Summary</a:t>
            </a:r>
            <a:endParaRPr/>
          </a:p>
        </p:txBody>
      </p:sp>
      <p:sp>
        <p:nvSpPr>
          <p:cNvPr id="1039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1040" name="" descr="{&quot;isTemplate&quot;:true,&quot;type&quot;:&quot;text&quot;}"/>
          <p:cNvSpPr txBox="1"/>
          <p:nvPr/>
        </p:nvSpPr>
        <p:spPr>
          <a:xfrm rot="0" flipH="0" flipV="0">
            <a:off x="800100" y="1790700"/>
            <a:ext cx="7105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5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个核心要点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 · 5 Key Takeaways</a:t>
            </a:r>
            <a:endParaRPr/>
          </a:p>
        </p:txBody>
      </p:sp>
      <p:sp>
        <p:nvSpPr>
          <p:cNvPr id="1041" name=""/>
          <p:cNvSpPr/>
          <p:nvPr/>
        </p:nvSpPr>
        <p:spPr>
          <a:xfrm rot="0" flipH="0" flipV="0">
            <a:off x="800100" y="21431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276475"/>
            <a:ext cx="209550" cy="209550"/>
          </a:xfrm>
          <a:prstGeom prst="rect">
            <a:avLst/>
          </a:prstGeom>
          <a:ln/>
        </p:spPr>
      </p:pic>
      <p:sp>
        <p:nvSpPr>
          <p:cNvPr id="1043" name="" descr="{&quot;isTemplate&quot;:true,&quot;type&quot;:&quot;text&quot;}"/>
          <p:cNvSpPr txBox="1"/>
          <p:nvPr/>
        </p:nvSpPr>
        <p:spPr>
          <a:xfrm rot="0" flipH="0" flipV="0">
            <a:off x="1314450" y="22574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AI ⊃ ML ⊃ DL ⊃ GenAI ——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逐层包含，判断看三问</a:t>
            </a:r>
            <a:endParaRPr/>
          </a:p>
        </p:txBody>
      </p:sp>
      <p:sp>
        <p:nvSpPr>
          <p:cNvPr id="1044" name=""/>
          <p:cNvSpPr/>
          <p:nvPr/>
        </p:nvSpPr>
        <p:spPr>
          <a:xfrm rot="0" flipH="0" flipV="0">
            <a:off x="800100" y="27908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924175"/>
            <a:ext cx="209550" cy="209550"/>
          </a:xfrm>
          <a:prstGeom prst="rect">
            <a:avLst/>
          </a:prstGeom>
          <a:ln/>
        </p:spPr>
      </p:pic>
      <p:sp>
        <p:nvSpPr>
          <p:cNvPr id="1046" name="" descr="{&quot;isTemplate&quot;:true,&quot;type&quot;:&quot;text&quot;}"/>
          <p:cNvSpPr txBox="1"/>
          <p:nvPr/>
        </p:nvSpPr>
        <p:spPr>
          <a:xfrm rot="0" flipH="0" flipV="0">
            <a:off x="1314450" y="29051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三次浪潮：符号主义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统计学习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深度学习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/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生成式</a:t>
            </a:r>
            <a:endParaRPr/>
          </a:p>
        </p:txBody>
      </p:sp>
      <p:sp>
        <p:nvSpPr>
          <p:cNvPr id="1047" name=""/>
          <p:cNvSpPr/>
          <p:nvPr/>
        </p:nvSpPr>
        <p:spPr>
          <a:xfrm rot="0" flipH="0" flipV="0">
            <a:off x="800100" y="34385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3571875"/>
            <a:ext cx="209550" cy="209550"/>
          </a:xfrm>
          <a:prstGeom prst="rect">
            <a:avLst/>
          </a:prstGeom>
          <a:ln/>
        </p:spPr>
      </p:pic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1314450" y="35528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当前是应用工程化窗口期，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SE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的杠杆点在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把模型变产品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endParaRPr/>
          </a:p>
        </p:txBody>
      </p:sp>
      <p:sp>
        <p:nvSpPr>
          <p:cNvPr id="1050" name=""/>
          <p:cNvSpPr/>
          <p:nvPr/>
        </p:nvSpPr>
        <p:spPr>
          <a:xfrm rot="0" flipH="0" flipV="0">
            <a:off x="800100" y="40862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219575"/>
            <a:ext cx="209550" cy="209550"/>
          </a:xfrm>
          <a:prstGeom prst="rect">
            <a:avLst/>
          </a:prstGeom>
          <a:ln/>
        </p:spPr>
      </p:pic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1314450" y="42005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项目六阶段：定义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数据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特征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建模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部署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监控</a:t>
            </a:r>
            <a:endParaRPr/>
          </a:p>
        </p:txBody>
      </p:sp>
      <p:sp>
        <p:nvSpPr>
          <p:cNvPr id="1053" name=""/>
          <p:cNvSpPr/>
          <p:nvPr/>
        </p:nvSpPr>
        <p:spPr>
          <a:xfrm rot="0" flipH="0" flipV="0">
            <a:off x="800100" y="47339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867275"/>
            <a:ext cx="209550" cy="209550"/>
          </a:xfrm>
          <a:prstGeom prst="rect">
            <a:avLst/>
          </a:prstGeom>
          <a:ln/>
        </p:spPr>
      </p:pic>
      <p:sp>
        <p:nvSpPr>
          <p:cNvPr id="1055" name="" descr="{&quot;isTemplate&quot;:true,&quot;type&quot;:&quot;text&quot;}"/>
          <p:cNvSpPr txBox="1"/>
          <p:nvPr/>
        </p:nvSpPr>
        <p:spPr>
          <a:xfrm rot="0" flipH="0" flipV="0">
            <a:off x="1314450" y="48482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80%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时间在数据与工程，只有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20%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在训练模型</a:t>
            </a:r>
            <a:endParaRPr/>
          </a:p>
        </p:txBody>
      </p:sp>
      <p:sp>
        <p:nvSpPr>
          <p:cNvPr id="1056" name=""/>
          <p:cNvSpPr/>
          <p:nvPr/>
        </p:nvSpPr>
        <p:spPr>
          <a:xfrm rot="0" flipH="0" flipV="0">
            <a:off x="8153400" y="1104900"/>
            <a:ext cx="3238500" cy="4838700"/>
          </a:xfrm>
          <a:prstGeom prst="roundRect">
            <a:avLst>
              <a:gd name="adj" fmla="val 411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8382000" y="1924050"/>
            <a:ext cx="2781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Lab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回顾</a:t>
            </a: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今天你完成了</a:t>
            </a:r>
            <a:endParaRPr/>
          </a:p>
        </p:txBody>
      </p:sp>
      <p:sp>
        <p:nvSpPr>
          <p:cNvPr id="1058" name=""/>
          <p:cNvSpPr/>
          <p:nvPr/>
        </p:nvSpPr>
        <p:spPr>
          <a:xfrm rot="0" flipH="0" flipV="0">
            <a:off x="8382000" y="2295525"/>
            <a:ext cx="27813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059" name=""/>
          <p:cNvSpPr/>
          <p:nvPr/>
        </p:nvSpPr>
        <p:spPr>
          <a:xfrm rot="0" flipH="0" flipV="0">
            <a:off x="8382000" y="24479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477250" y="2543175"/>
            <a:ext cx="180975" cy="180975"/>
          </a:xfrm>
          <a:prstGeom prst="rect">
            <a:avLst/>
          </a:prstGeom>
          <a:ln/>
        </p:spPr>
      </p:pic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8858250" y="2457450"/>
            <a:ext cx="1714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环境搭建</a:t>
            </a:r>
            <a:endParaRPr/>
          </a:p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8858250" y="2647950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conda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创建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ai-app ·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安装依赖</a:t>
            </a:r>
            <a:endParaRPr/>
          </a:p>
        </p:txBody>
      </p:sp>
      <p:sp>
        <p:nvSpPr>
          <p:cNvPr id="1063" name=""/>
          <p:cNvSpPr/>
          <p:nvPr/>
        </p:nvSpPr>
        <p:spPr>
          <a:xfrm rot="0" flipH="0" flipV="0">
            <a:off x="8382000" y="29337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3028950"/>
            <a:ext cx="180975" cy="180975"/>
          </a:xfrm>
          <a:prstGeom prst="rect">
            <a:avLst/>
          </a:prstGeom>
          <a:ln/>
        </p:spPr>
      </p:pic>
      <p:sp>
        <p:nvSpPr>
          <p:cNvPr id="1065" name="" descr="{&quot;isTemplate&quot;:true,&quot;type&quot;:&quot;text&quot;}"/>
          <p:cNvSpPr txBox="1"/>
          <p:nvPr/>
        </p:nvSpPr>
        <p:spPr>
          <a:xfrm rot="0" flipH="0" flipV="0">
            <a:off x="8858250" y="2943225"/>
            <a:ext cx="15811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Jupyter + Colab</a:t>
            </a:r>
            <a:endParaRPr/>
          </a:p>
        </p:txBody>
      </p:sp>
      <p:sp>
        <p:nvSpPr>
          <p:cNvPr id="1066" name="" descr="{&quot;isTemplate&quot;:true,&quot;type&quot;:&quot;text&quot;}"/>
          <p:cNvSpPr txBox="1"/>
          <p:nvPr/>
        </p:nvSpPr>
        <p:spPr>
          <a:xfrm rot="0" flipH="0" flipV="0">
            <a:off x="8858250" y="3133725"/>
            <a:ext cx="1581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本机运行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Colab GPU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验证</a:t>
            </a:r>
            <a:endParaRPr/>
          </a:p>
        </p:txBody>
      </p:sp>
      <p:sp>
        <p:nvSpPr>
          <p:cNvPr id="1067" name=""/>
          <p:cNvSpPr/>
          <p:nvPr/>
        </p:nvSpPr>
        <p:spPr>
          <a:xfrm rot="0" flipH="0" flipV="0">
            <a:off x="8382000" y="34194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77250" y="3514725"/>
            <a:ext cx="180975" cy="180975"/>
          </a:xfrm>
          <a:prstGeom prst="rect">
            <a:avLst/>
          </a:prstGeom>
          <a:ln/>
        </p:spPr>
      </p:pic>
      <p:sp>
        <p:nvSpPr>
          <p:cNvPr id="1069" name="" descr="{&quot;isTemplate&quot;:true,&quot;type&quot;:&quot;text&quot;}"/>
          <p:cNvSpPr txBox="1"/>
          <p:nvPr/>
        </p:nvSpPr>
        <p:spPr>
          <a:xfrm rot="0" flipH="0" flipV="0">
            <a:off x="8858250" y="3429000"/>
            <a:ext cx="173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Git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初始化</a:t>
            </a:r>
            <a:endParaRPr/>
          </a:p>
        </p:txBody>
      </p:sp>
      <p:sp>
        <p:nvSpPr>
          <p:cNvPr id="1070" name="" descr="{&quot;isTemplate&quot;:true,&quot;type&quot;:&quot;text&quot;}"/>
          <p:cNvSpPr txBox="1"/>
          <p:nvPr/>
        </p:nvSpPr>
        <p:spPr>
          <a:xfrm rot="0" flipH="0" flipV="0">
            <a:off x="8858250" y="3619500"/>
            <a:ext cx="173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init → commit → push GitHub</a:t>
            </a:r>
            <a:endParaRPr/>
          </a:p>
        </p:txBody>
      </p:sp>
      <p:sp>
        <p:nvSpPr>
          <p:cNvPr id="1071" name=""/>
          <p:cNvSpPr/>
          <p:nvPr/>
        </p:nvSpPr>
        <p:spPr>
          <a:xfrm rot="0" flipH="0" flipV="0">
            <a:off x="8382000" y="39052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8477250" y="4000500"/>
            <a:ext cx="180975" cy="180975"/>
          </a:xfrm>
          <a:prstGeom prst="rect">
            <a:avLst/>
          </a:prstGeom>
          <a:ln/>
        </p:spPr>
      </p:pic>
      <p:sp>
        <p:nvSpPr>
          <p:cNvPr id="1073" name="" descr="{&quot;isTemplate&quot;:true,&quot;type&quot;:&quot;text&quot;}"/>
          <p:cNvSpPr txBox="1"/>
          <p:nvPr/>
        </p:nvSpPr>
        <p:spPr>
          <a:xfrm rot="0" flipH="0" flipV="0">
            <a:off x="8858250" y="3914775"/>
            <a:ext cx="1162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第一个模型</a:t>
            </a:r>
            <a:endParaRPr/>
          </a:p>
        </p:txBody>
      </p:sp>
      <p:sp>
        <p:nvSpPr>
          <p:cNvPr id="1074" name="" descr="{&quot;isTemplate&quot;:true,&quot;type&quot;:&quot;text&quot;}"/>
          <p:cNvSpPr txBox="1"/>
          <p:nvPr/>
        </p:nvSpPr>
        <p:spPr>
          <a:xfrm rot="0" flipH="0" flipV="0">
            <a:off x="8858250" y="4105275"/>
            <a:ext cx="1162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scikit-learn Iris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分类</a:t>
            </a:r>
            <a:endParaRPr/>
          </a:p>
        </p:txBody>
      </p:sp>
      <p:sp>
        <p:nvSpPr>
          <p:cNvPr id="1075" name=""/>
          <p:cNvSpPr/>
          <p:nvPr/>
        </p:nvSpPr>
        <p:spPr>
          <a:xfrm rot="0" flipH="0" flipV="0">
            <a:off x="8382000" y="4429125"/>
            <a:ext cx="2781300" cy="695325"/>
          </a:xfrm>
          <a:prstGeom prst="roundRect">
            <a:avLst>
              <a:gd name="adj" fmla="val 109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76" name="" descr="{&quot;isTemplate&quot;:true,&quot;type&quot;:&quot;text&quot;}"/>
          <p:cNvSpPr txBox="1"/>
          <p:nvPr/>
        </p:nvSpPr>
        <p:spPr>
          <a:xfrm rot="0" flipH="0" flipV="0">
            <a:off x="8534400" y="4524375"/>
            <a:ext cx="24765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交付：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environment.yml + notebook + GitHub 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链接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 · 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下周一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 23:59 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截止</a:t>
            </a:r>
            <a:endParaRPr/>
          </a:p>
        </p:txBody>
      </p:sp>
      <p:sp>
        <p:nvSpPr>
          <p:cNvPr id="107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078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31 / 32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1079" name="" descr="&lt;Slide style={{ width: '1280px', height: '720px', background: '#FFFFFF', padding: '0px', position: 'relative', overflow: 'hidden', fontFamily: 'Source Han Sans SC, PingFang SC, sans-serif' }}&gt;&#10;  &lt;Box style={{ position: 'absolute', top: 0, left: 0, width: '100%', height: 12, background: '#1E4FA8' }} /&gt;&#10;  &lt;Box style={{ position: 'absolute', top: 12, left: 0, width: '100%', height: 5, background: '#3D7BD9' }} /&gt;&#10;  &lt;Box style={{ position: 'absolute', left: 0, top: 300, opacity: 0.05, width: 560, height: 340, overflow: 'hidden' }}&gt;&#10;    &lt;Text style={{ fontSize: 320, fontWeight: 'bold', color: '#1E4FA8', lineHeight: 1 }}&gt;AI&lt;/Text&gt;&#10;  &lt;/Box&gt;&#10;  &lt;Box style={{ position: 'relative', width: '100%', height: '100%', padding: '120px 90px', justifyContent: 'space-between' }}&gt;&#10;    &lt;Box style={{ alignItems: 'center' }}&gt;&#10;      &lt;Box style={{ width: 84, height: 84, borderRadius: 20, background: '#0E3F8C', justifyContent: 'center', alignItems: 'center', marginBottom: 26 }}&gt;&#10;        &lt;Text style={{ fontSize: 36, color: '#FFFFFF', fontWeight: 'bold' }}&gt;W1&lt;/Text&gt;&#10;      &lt;/Box&gt;&#10;      &lt;Text style={{ fontSize: 38, color: '#1A2230', fontWeight: 'bold', textAlign: 'center', lineHeight: 1.4 }}&gt;&#10;        &quot;AI 不会取代工程师。&lt;br /&gt;会使用 AI 的工程师，将取代不会的。&quot;&#10;      &lt;/Text&gt;&#10;      &lt;Text style={{ fontSize: 20, fontStyle: 'italic', color: '#8B97A8', marginTop: 14, textAlign: 'center' }}&gt;&#10;        AI won't replace engineers. Engineers using AI will.&#10;      &lt;/Text&gt;&#10;    &lt;/Box&gt;&#10;    &lt;Box style={{ alignItems: 'center', gap: 8 }}&gt;&#10;      &lt;Text style={{ fontSize: 18, color: '#0E3F8C', fontWeight: 'bold' }}&gt;Thank you · 谢谢&lt;/Text&gt;&#10;      &lt;Text style={{ fontSize: 15, color: '#8B97A8' }}&gt;&#10;        Next week: Data Handling Fundamentals for AI · 数据处理基础（NumPy / Pandas / 可视化）&#10;      &lt;/Text&gt;&#10;      &lt;Text style={{ fontSize: 13, color: '#B0B8C4', marginTop: 6 }}&gt;AI Application Development · Week 1 Lecture · 32 / 32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81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82" name=""/>
          <p:cNvSpPr/>
          <p:nvPr/>
        </p:nvSpPr>
        <p:spPr>
          <a:xfrm rot="0" flipH="0" flipV="0">
            <a:off x="0" y="114300"/>
            <a:ext cx="12192000" cy="476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83" name="" descr="{&quot;isTemplate&quot;:true,&quot;type&quot;:&quot;text&quot;}"/>
          <p:cNvSpPr txBox="1"/>
          <p:nvPr/>
        </p:nvSpPr>
        <p:spPr>
          <a:xfrm rot="0" flipH="0" flipV="0">
            <a:off x="0" y="2857500"/>
            <a:ext cx="5334000" cy="3657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AI</a:t>
            </a:r>
            <a:endParaRPr/>
          </a:p>
        </p:txBody>
      </p:sp>
      <p:sp>
        <p:nvSpPr>
          <p:cNvPr id="1084" name=""/>
          <p:cNvSpPr/>
          <p:nvPr/>
        </p:nvSpPr>
        <p:spPr>
          <a:xfrm rot="0" flipH="0" flipV="0">
            <a:off x="5695950" y="1143000"/>
            <a:ext cx="800100" cy="80010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5" name="" descr="{&quot;isTemplate&quot;:true,&quot;type&quot;:&quot;text&quot;}"/>
          <p:cNvSpPr txBox="1"/>
          <p:nvPr/>
        </p:nvSpPr>
        <p:spPr>
          <a:xfrm rot="0" flipH="0" flipV="0">
            <a:off x="5857875" y="1333500"/>
            <a:ext cx="4762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FFFFF"/>
                </a:solidFill>
                <a:latin typeface="Source Han Sans SC"/>
                <a:ea typeface="Source Han Sans SC"/>
              </a:rPr>
              <a:t>W1</a:t>
            </a:r>
            <a:endParaRPr/>
          </a:p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3000375" y="2190750"/>
            <a:ext cx="6191250" cy="12192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Source Han Sans SC"/>
                <a:ea typeface="Source Han Sans SC"/>
              </a:rPr>
              <a:t>"AI </a:t>
            </a:r>
            <a:r>
              <a:rPr lang="zh-CN" sz="2850" b="1">
                <a:solidFill>
                  <a:srgbClr val="1A2230"/>
                </a:solidFill>
                <a:latin typeface="Source Han Sans SC"/>
                <a:ea typeface="Source Han Sans SC"/>
              </a:rPr>
              <a:t>不会取代工程师。</a:t>
            </a:r>
            <a:endParaRPr/>
          </a:p>
          <a:p>
            <a:pPr algn="ctr">
              <a:lnSpc>
                <a:spcPct val="140000"/>
              </a:lnSpc>
            </a:pPr>
            <a:r>
              <a:rPr lang="zh-CN" sz="2850" b="1">
                <a:solidFill>
                  <a:srgbClr val="1A2230"/>
                </a:solidFill>
                <a:latin typeface="Source Han Sans SC"/>
                <a:ea typeface="Source Han Sans SC"/>
              </a:rPr>
              <a:t>会使用</a:t>
            </a:r>
            <a:r>
              <a:rPr lang="en-US" sz="2850" b="1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2850" b="1">
                <a:solidFill>
                  <a:srgbClr val="1A2230"/>
                </a:solidFill>
                <a:latin typeface="Source Han Sans SC"/>
                <a:ea typeface="Source Han Sans SC"/>
              </a:rPr>
              <a:t>的工程师，将取代不会的。</a:t>
            </a:r>
            <a:r>
              <a:rPr lang="en-US" sz="2850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endParaRPr/>
          </a:p>
        </p:txBody>
      </p:sp>
      <p:sp>
        <p:nvSpPr>
          <p:cNvPr id="1087" name="" descr="{&quot;isTemplate&quot;:true,&quot;type&quot;:&quot;text&quot;}"/>
          <p:cNvSpPr txBox="1"/>
          <p:nvPr/>
        </p:nvSpPr>
        <p:spPr>
          <a:xfrm rot="0" flipH="0" flipV="0">
            <a:off x="3848100" y="3543300"/>
            <a:ext cx="44958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500" i="1">
                <a:solidFill>
                  <a:srgbClr val="8B97A8"/>
                </a:solidFill>
                <a:latin typeface="Source Han Sans SC"/>
                <a:ea typeface="Source Han Sans SC"/>
              </a:rPr>
              <a:t>AI won't replace engineers. Engineers using AI will.</a:t>
            </a:r>
            <a:endParaRPr/>
          </a:p>
        </p:txBody>
      </p:sp>
      <p:sp>
        <p:nvSpPr>
          <p:cNvPr id="1088" name="" descr="{&quot;isTemplate&quot;:true,&quot;type&quot;:&quot;text&quot;}"/>
          <p:cNvSpPr txBox="1"/>
          <p:nvPr/>
        </p:nvSpPr>
        <p:spPr>
          <a:xfrm rot="0" flipH="0" flipV="0">
            <a:off x="5400675" y="4972050"/>
            <a:ext cx="139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Thank you · </a:t>
            </a: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谢谢</a:t>
            </a:r>
            <a:endParaRPr/>
          </a:p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3028950" y="5257800"/>
            <a:ext cx="6134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Next week: Data Handling Fundamentals for AI ·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数据处理基础（</a:t>
            </a: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NumPy / Pandas /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可视化）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4495800" y="5562600"/>
            <a:ext cx="3200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0B8C4"/>
                </a:solidFill>
                <a:latin typeface="Source Han Sans SC"/>
                <a:ea typeface="Source Han Sans SC"/>
              </a:rPr>
              <a:t>AI Application Development · Week 1 Lecture · 32 / 32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2026-08-24T12:51:45Z</dcterms:created>
  <dcterms:modified xsi:type="dcterms:W3CDTF">2026-08-24T12:51:45Z</dcterms:modified>
</cp:coreProperties>
</file>