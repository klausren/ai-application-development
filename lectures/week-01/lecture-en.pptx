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UNDERGRADUATE ·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Introduction to AI Application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From idea to deployed AI · roles · environment · reproducibility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1 · Stack &amp; workflow · role competency · toolchain · the three pillars of reproducibility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187247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52687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Module 1 · W1-4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4875" y="5295600"/>
            <a:ext cx="280871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7675" y="5364000"/>
            <a:ext cx="246311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Lecture + Lab + Quiz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6788" y="5295600"/>
            <a:ext cx="337045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588" y="5364000"/>
            <a:ext cx="302485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Python · conda · PyTorch · GPU · Notebook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20444" y="5295600"/>
            <a:ext cx="187247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3244" y="5364000"/>
            <a:ext cx="152687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International Students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38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2628000"/>
            <a:ext cx="2361600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Know what you will build and what it takes, then set up a workbench that is reproducible.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Theory ~90 min · Lab ~75 min · Quiz &amp; Summary 15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What Is AI Application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What It 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Stack layers · idea-to-production · the industry landscape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The AI Engineer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The 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Roles · competency matrix · a typical workflow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Environment &amp; Toolchain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Environment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Python/conda/PyTorch/GPU/Notebook · verifying the setup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Reproducibility &amp; AI Boundaries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Reproducibility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Seed/config/version · process traces · academic integrity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Lab · Environment &amp; Record Repo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Setup · GPU check · two seeded runs · build a record repo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What Is AI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AI application development is not "training a model" — it is turning a model into a system other people can use.
After this part you can draw the full pipeline from idea to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Systems, Not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A model is one part of a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End-to-End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Data -&gt; train -&gt; evaluate -&gt; serve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Engineering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Latency · cost · maintainability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Traditional Software vs AI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4104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Traditional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Behaviour is fully determined by hand-written rules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Outputs are predictable and assertable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Testing means verification (equal to expectation)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Difficulty lives in logic complexity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AI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Behaviour is learned from data and is probabilistic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Outputs form a distribution; you need metrics, not assertions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Evaluation means statistical metrics (accuracy / latency / cost)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Difficulty lives in data, generalisation and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One line: classic software says "here are the rules"; an AI application says "here are examples, infer the rules" — so you also own the failure to generalise.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From Idea to Production: Six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810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810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200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Users, the problem,
success and failure criteria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042819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6820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66820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6430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6430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4820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4820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4820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Acquire, clean, split,
label and stay compliant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610440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34439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4439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4049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4049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2439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2439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2439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Baseline -&gt; simple -&gt;
stronger model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78059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02059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02059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91669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1669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0059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Evaluate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0059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Evaluate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00059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Offline metrics, error analysis,
align with business cost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745679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69679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69679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9289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9289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7679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7679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Deploy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7679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Serve an API, measure latency
and throughput, handle bad input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313299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37299" y="2304000"/>
            <a:ext cx="1225619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37299" y="2304000"/>
            <a:ext cx="1225619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26909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6909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5299" y="3041999"/>
            <a:ext cx="82961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Operate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5299" y="3268800"/>
            <a:ext cx="829619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Operate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35299" y="3456000"/>
            <a:ext cx="8296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Monitor, version, detect
drift and retrain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9200" y="4302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The 16 weeks follow exactly this line: W1-4 foundations, W5-8 model training, W9-12 modern applications, W13-16 engineering and the capstone.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AI Application Stack: Four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what users touch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UI, API, business flow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Decides whether anyone uses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Model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what predicts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Train / fine-tune, infer, evaluate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main arena of this course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what feeds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Collect, store, clean, version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Data sets the ceiling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20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20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2400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400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what runs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Compute (GPU), containers, scheduling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Decides cost and speed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2440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02440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563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Cross-Cutting: MLOps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563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how it stays alive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563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Tracking, versioning, monitoring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Covered in W14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5679" y="3311999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5679" y="3311999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8879" y="3499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Cross-Cutting: Responsible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8879" y="3729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how it stays safe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879" y="3931200"/>
            <a:ext cx="2940839" cy="103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Fairness, explainability, safety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Covered in W15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Landscape and Representative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3999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9"/>
                <a:gridCol w="3384000"/>
                <a:gridCol w="2304000"/>
                <a:gridCol w="3240000"/>
              </a:tblGrid>
              <a:tr h="50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Domain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Typical Task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Key Metric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In This Course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Computer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Classification, defect detection,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mAP / accuracy / miss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W7 CNN · W9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NLP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Text classification, tagging, sentiment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F1 / accuracy / faithfulness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W8 LSTM · W10 Transformer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LLM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Extraction, QA, retrieval-augmented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Parse success / hit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W11 prompting · W12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Engineering &amp; Ops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Inference service, monitoring, versioning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P95 latency / throughput / drift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W13 deployment · W14 MLOps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3816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Whatever the domain, you always measure the same two things: is the prediction right (quality) and how fast/cheap is it (engineering).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The AI Engineer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The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Industry does not want someone who can call a library — it wants someone who can ship a model into production.
This part translates job requirements into the skills you will practise this semester.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Three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Data / Model / Engineering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Competency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Knowledge · skill · attitude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A day from requirement to 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Three Core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Data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Turn raw data into trainable datasets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Skills: cleaning, splitting, Dataset/DataLoader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Maps to W3 · Lab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Model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Choose, build, train and evaluate models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Skills: nn.Module, training loop, tuning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Maps to W4-W10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Application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Wrap the model into a stable, usable service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Skills: APIs, latency, monitoring, versioning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Maps to W13-W14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Competency Matrix (and Where You Train 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4000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5040000"/>
                <a:gridCol w="3384000"/>
              </a:tblGrid>
              <a:tr h="45257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Dimension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What It Means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Where You Train It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5257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Engineering basics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Setup, version control, code style, reproducibility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W1 Lab 0 · all 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57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Data handling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Cleaning, splitting, leakage, Dataset/DataLoader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W3 Lab 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257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Modelling &amp;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nn.Module, loss &amp; optimizers, regularisation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W4-W6 Labs 3-5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57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Evaluation &amp; analysis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Cost-aware metrics, error analysis, ablations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W6 Lab 5 · weekly comparisons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5257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Modern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Transformers, prompt engineering,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W10-W12 Labs 9-11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257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Ops &amp; professionalism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Deployment, MLOps, responsible AI, AI-use traces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W13-W16 · all term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4464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Not one row says "can recite algorithms". Every competency is defined by what you can deliver.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 Week in the Life of an AI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376000"/>
            <a:ext cx="1600343" cy="16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2376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6172" y="257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6172" y="265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3113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Align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334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Align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200" y="3528000"/>
            <a:ext cx="1204343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Confirm the problem,
metric and failure criteria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17544" y="3070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1544" y="2376000"/>
            <a:ext cx="1600343" cy="16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1544" y="2376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8516" y="257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8516" y="265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9544" y="3113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9544" y="334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Explore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9544" y="3528000"/>
            <a:ext cx="1204343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Distributions, missing values,
imbalance and leakage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359888" y="3070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83888" y="2376000"/>
            <a:ext cx="1600343" cy="16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3888" y="2376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0860" y="257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0860" y="265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1888" y="3113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1888" y="334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1888" y="3528000"/>
            <a:ext cx="1204343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Get a number with
the dumbest method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302232" y="3070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6231" y="2376000"/>
            <a:ext cx="1600343" cy="16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6231" y="2376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03203" y="257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3203" y="265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4232" y="3113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Iterate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4232" y="334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Iterate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4232" y="3528000"/>
            <a:ext cx="1204343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Change one variable at a time,
log the comparison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244575" y="3070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68575" y="2376000"/>
            <a:ext cx="1600343" cy="16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68575" y="2376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5547" y="257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5547" y="265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6576" y="3113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Ship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6576" y="334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Ship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6576" y="3528000"/>
            <a:ext cx="1204343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Serve it, document it,
monitor 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200" y="4302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Note steps 3 and 4: baseline first, then improve; change one variable at a time or you cannot explain the result. Both are hard criteria in this course's rubric.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Environment &amp; Toolchain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Environment problems are massively under-estimated: one "it won't run" can eat your whole week.
The goal of this part: set it up once, use it all term.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One environment per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Verifiable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GPU and deps can be checked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Portable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Rebuildable elsewhere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Toolchain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Python + conda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Create isolated envs with conda to avoid dependency clashes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Commit environment.yml to the repo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PyTorch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This course standardises on PyTorch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Runs on both CPU and GPU backends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GPU / CUDA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accelerator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Confirm torch.cuda.is_available() is True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Record GPU model and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200" y="381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200" y="381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2400" y="4003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Notebook / 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400" y="423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workbench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" y="443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Use notebooks for fast experiments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Move production code into .py modules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2440" y="381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02440" y="381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5639" y="4003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Git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5639" y="423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time machine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5639" y="443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At least one meaningful commit per week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Messages state what changed and why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5679" y="381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5679" y="3816000"/>
            <a:ext cx="32400" cy="230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8879" y="4003199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Record Repository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8879" y="423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trace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879" y="443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Params, metrics and conclusions per run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evidence for the end-of-term dev-trace grade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Environment Self-Check: Three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check_env.py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10197719" cy="34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sys, torch, platform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print("python :", sys.version.split()[0])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print("torch  :", torch.__version__)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print("device :", "cuda" if torch.cuda.is_available() else "cpu")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if torch.cuda.is_available():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print("gpu    :", torch.cuda.get_device_name(0))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print("vram   :", round(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torch.cuda.get_device_properties(0).total_memory / 1e9, 2), "GB")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Expect: torch version matches your install;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device is cuda (with an NVIDIA GPU) or cpu otherwise.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Three checks: versions match, device is detected, VRAM is visible. Screenshot it as your first piece of Lab 0 evidence.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Environment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Isolated environment created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 conda env works and environment.yml is exported and committed.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PyTorch imports at the right 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python -c "import torch; print(torch.__version__)" prints normally.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GPU status confirmed and recorded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State the is_available() result; CPU-only is fine but must be stated in the report.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Record repository created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 git repo with a README covering structure and naming, reachable by link.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BONUS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IDE with breakpoint debugging works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You can set breakpoints and step through a .py file, not just use print.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Reproducibility &amp; AI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Reproducibility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"It runs on my machine" is not a result. "Same result on another machine, another day" is.
This course lets you use AI, but requires an auditable trace.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Three Pillars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Seed · config · 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Auditable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Others can re-compute your number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Honest Traces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If you used AI, say 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Three Pillars of Reproducibility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1 · Seed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Fix seeds in Python, NumPy and PyTorch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Otherwise one run cannot be verified against another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2 ·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Hyper-parameters, data paths and batch sizes go into a file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Not from memory, not from a verbal agreement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180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1800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3 · 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03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Code version + environment version + data version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Miss one and the result cannot be traced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Irreproducible vs 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Typical Irreproducible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No seed set, every run differs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Hyper-parameters scattered and edited ad hoc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Dependencies unrecorded; breaks on another machine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Only the best run is kept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No runnable command in the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41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Standard Reproducible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One set_seed(42) fixing every random source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Config centralised in config.yaml / a dict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environment.yml + requirements.txt committed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Every run has a log and a metrics record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One command in the README reproduces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Every lab report in this course must give a reproducible command. No command, no credit.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Fixing the Seed: Three Lines, Every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reproducibility.py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10197719" cy="34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random, numpy as np, torch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set_seed(seed: int = 42) -&gt; None: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random.seed(seed)          # Python built-in RNG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np.random.seed(seed)       # NumPy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torch.manual_seed(seed)    # PyTorch (CPU)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torch.cuda.manual_seed_all(seed)  # all GPUs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set_seed(42)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a = [torch.rand(3) for _ in range(2)]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Key experiment: re-seed in the same process, draw again,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and compare the two results - this is Lab 0's comparison.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Note: a fixed seed guarantees reproducibility within one environment only. Small cross-device or cross-version differences are normal and must be stated honestly.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Boundaries and Process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194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94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What AI May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allowed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Explain concepts, draft code, look up APIs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Help draft docs and test cases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Act as a tireless pair partner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194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194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What AI May Not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forbidden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Submit code you cannot explain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Let AI conclusions replace your own verification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Present AI output as your own original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What Must Be Recorded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Per trace: prompt + AI answer + what you changed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Point out explicitly where the AI was wrong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Counts toward the 10 marks of formative assessment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Collaboration Log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AI_USE.md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10197719" cy="34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## Trace #01 - 2026-09-xx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**What I wanted**: hand-write one gradient-descent step with autograd.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**What the AI gave**: a loop doing w -= lr * w.grad.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**What I found wrong**: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gradients were never zeroed -&gt; accumulated, loss oscillated;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- shapes (3,) and (3,1) mixed, broadcasting gave the wrong result.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**How I fixed it**: added w.grad.zero_(); unified reshape(-1, 1).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**Conclusion**: the skeleton was usable, but the two bugs had to be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found by me - that is the core requirement of AI collaboration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A valid trace must state where the AI was wrong. "The AI helped me" alone earns nothing.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Lab · Experiment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Environment, Reproducibility, Record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The only lab this term that trains no model - and it decides whether the next 15 weeks go smoothly.
Four tasks: set up, verify GPU, run twice with a fixed seed, build the record repo.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Set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conda + PyTorch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GPU and versions checked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Repo and screenshots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Four Tasks of Experiment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 · Set up and verify 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4742459" cy="110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Create a conda env, install PyTorch, run the self-check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Output: environment screenshot + environment.yml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1296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 · Two seeded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915200"/>
            <a:ext cx="4742459" cy="110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Run the same script twice with the same seed and compare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Then drop the seed deliberately and observe the difference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384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384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3571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 · Explain why seeds matter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3801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003200"/>
            <a:ext cx="4742459" cy="110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Answer using the difference you actually measured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Do not copy the slide wording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059" y="3384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059" y="3384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7259" y="3571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 · Build your record 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7259" y="3801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4003200"/>
            <a:ext cx="4742459" cy="110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Create a git repo with a README covering layout and naming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Commit the first record: environment info and the two runs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Lab Script: One Script, Two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lab0_seed_demo.py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10197719" cy="34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random, numpy as np, torch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set_seed(s):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random.seed(s); np.random.seed(s)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torch.manual_seed(s); torch.cuda.manual_seed_all(s)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draw(seed=None):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if seed is not None: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set_seed(seed)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return torch.rand(4).tolist()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print("run1 :", draw(42))   # identical to run2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print("run2 :", draw(42))   # &lt;- fixed seed: same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print("no-seed:", draw())   # &lt;- unfixed: random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Report: paste the three actual outputs into your record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and add one conclusion sentence of your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run1 and run2 must match bit-for-bit. If not, some random source is still unfixed (usually DataLoader shuffle or extra workers).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Record Repository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1059371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951371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Record repository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10197719" cy="349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ai-course-labs/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├── README.md          # course info, layout, naming rules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├── environment.yml    # environment snapshot (conda export)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├── w01-lab0/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│   ├── check_env.txt  # self-check output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│   ├── seed_demo.py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│   └── report.md      # three outputs + your conclusion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├── w02-lab1/          # one directory per week, same pattern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└── AI_USE.md          # term-long AI trace, numbered #01 #02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Fix this layout in week 1 and simply add to it for 15 weeks. Messy naming is the single most common cause of losing dev-trace marks.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Experiment 0 Submission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Environment 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Shows Python / PyTorch versions and the device; note CPU-only if applicable.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Actual output of the two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Real outputs of run1, run2 and no-seed. Do not fabricate.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Your own 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Explain why seeds matter using your measured difference; no copying.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Record repository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 reachable git URL with a complete README and the first record committed.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Problem-definition draft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Users, problem, available data, intended metric, failure criteria.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Quick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7200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200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5200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Is "AI application development" the same as "training a model"? 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908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Yes - the model is the app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No - a model is one link in an end-to-end pipeline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No - AI apps need no model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It depends on the data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59" y="1134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3059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59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1059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Which best matches the core duty of an application/deployment engineer?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59" y="1908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Cleaning and splitting data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Choosing the loss and tuning hyper-parameters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Wrapping the model into a stable, usable service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Writing papers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7200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Reproducibility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5200" y="3986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After fixing the seed, two runs still differ. The likeliest cause?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200" y="4599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The GPU is too old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 random source is still unfixed (e.g. shuffle / workers)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PyTorch has a bug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The seed value is not large enough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059" y="3825000"/>
            <a:ext cx="5197859" cy="2493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3059" y="3986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3059" y="4033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AI Boundaries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1059" y="3986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Which practice meets this course's AI-use policy?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059" y="4599000"/>
            <a:ext cx="4801859" cy="16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Let AI write everything, then submit as-is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Generate with AI, explain line by line, log the problems found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Never using AI is the only correct answer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One line saying "I used AI" at the end suffices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Week 1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AI application development is an end-to-end pipeline: define -&gt; data -&gt; model -&gt; evaluate -&gt; deploy -&gt; operate; the model is one link.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Competency is defined by deliverables: data, modelling, evaluation, engineering, responsibility and traces.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Set the environment up once: isolated env + PyTorch + verifiable GPU + Git + a record repository.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Three pillars: fixed seed, centralised config, versioning. Miss one and results cannot be traced.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AI is allowed, but you must leave an auditable record of what the AI got wrong and how you fixed 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After Class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Submit the five Lab 0 items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Environment screenshot, two run outputs, your conclusion, repo link, problem-definition draft.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Preview W2: tensors and autograd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Read the tensors and autograd chapters of the PyTorch edition of Dive into Deep Learning and run the official example.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W1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"Build a stable workbench first;
then talk about how clever the model is."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This week you deliver: a working environment + reproducible records + one idea worth building.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Next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W2 · PyTorch fundamentals: tensors, broadcasting and autograd - hand-write a linear regression with tensors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1 Lecture · 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