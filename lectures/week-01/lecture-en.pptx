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28.xml" ContentType="application/vnd.openxmlformats-officedocument.presentationml.slide+xml"/>
  <Override PartName="/ppt/slides/slide13.xml" ContentType="application/vnd.openxmlformats-officedocument.presentationml.slide+xml"/>
  <Override PartName="/ppt/slides/slide23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8" Type="http://schemas.openxmlformats.org/officeDocument/2006/relationships/slide" Target="slides/slide8.xml" /><Relationship Id="rId4" Type="http://schemas.openxmlformats.org/officeDocument/2006/relationships/slide" Target="slides/slide4.xml" /><Relationship Id="rId35" Type="http://schemas.openxmlformats.org/officeDocument/2006/relationships/tableStyles" Target="tableStyles.xml" /><Relationship Id="rId34" Type="http://schemas.openxmlformats.org/officeDocument/2006/relationships/presProps" Target="presProps.xml" /><Relationship Id="rId33" Type="http://schemas.openxmlformats.org/officeDocument/2006/relationships/notesMaster" Target="notesMasters/notesMaster1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36" Type="http://schemas.openxmlformats.org/officeDocument/2006/relationships/viewProps" Target="viewProps.xml" /><Relationship Id="rId30" Type="http://schemas.openxmlformats.org/officeDocument/2006/relationships/slide" Target="slides/slide30.xml" /><Relationship Id="rId3" Type="http://schemas.openxmlformats.org/officeDocument/2006/relationships/slide" Target="slides/slide3.xml" /><Relationship Id="rId29" Type="http://schemas.openxmlformats.org/officeDocument/2006/relationships/slide" Target="slides/slide29.xml" /><Relationship Id="rId1" Type="http://schemas.openxmlformats.org/officeDocument/2006/relationships/slide" Target="slides/slide1.xml" /><Relationship Id="rId27" Type="http://schemas.openxmlformats.org/officeDocument/2006/relationships/slide" Target="slides/slide27.xml" /><Relationship Id="rId16" Type="http://schemas.openxmlformats.org/officeDocument/2006/relationships/slide" Target="slides/slide16.xml" /><Relationship Id="rId26" Type="http://schemas.openxmlformats.org/officeDocument/2006/relationships/slide" Target="slides/slide26.xml" /><Relationship Id="rId25" Type="http://schemas.openxmlformats.org/officeDocument/2006/relationships/slide" Target="slides/slide25.xml" /><Relationship Id="rId24" Type="http://schemas.openxmlformats.org/officeDocument/2006/relationships/slide" Target="slides/slide24.xml" /><Relationship Id="rId21" Type="http://schemas.openxmlformats.org/officeDocument/2006/relationships/slide" Target="slides/slide21.xml" /><Relationship Id="rId20" Type="http://schemas.openxmlformats.org/officeDocument/2006/relationships/slide" Target="slides/slide20.xml" /><Relationship Id="rId2" Type="http://schemas.openxmlformats.org/officeDocument/2006/relationships/slide" Target="slides/slide2.xml" /><Relationship Id="rId19" Type="http://schemas.openxmlformats.org/officeDocument/2006/relationships/slide" Target="slides/slide19.xml" /><Relationship Id="rId12" Type="http://schemas.openxmlformats.org/officeDocument/2006/relationships/slide" Target="slides/slide12.xml" /><Relationship Id="rId23" Type="http://schemas.openxmlformats.org/officeDocument/2006/relationships/slide" Target="slides/slide23.xml" /><Relationship Id="rId18" Type="http://schemas.openxmlformats.org/officeDocument/2006/relationships/slide" Target="slides/slide18.xml" /><Relationship Id="rId13" Type="http://schemas.openxmlformats.org/officeDocument/2006/relationships/slide" Target="slides/slide13.xml" /><Relationship Id="rId17" Type="http://schemas.openxmlformats.org/officeDocument/2006/relationships/slide" Target="slides/slide17.xml" /><Relationship Id="rId28" Type="http://schemas.openxmlformats.org/officeDocument/2006/relationships/slide" Target="slides/slide28.xml" /><Relationship Id="rId15" Type="http://schemas.openxmlformats.org/officeDocument/2006/relationships/slide" Target="slides/slide15.xml" /><Relationship Id="rId0" Type="http://schemas.openxmlformats.org/officeDocument/2006/relationships/slideMaster" Target="slideMasters/slideMaster1.xml" /><Relationship Id="rId14" Type="http://schemas.openxmlformats.org/officeDocument/2006/relationships/slide" Target="slides/slide14.xml" /><Relationship Id="rId10" Type="http://schemas.openxmlformats.org/officeDocument/2006/relationships/slide" Target="slides/slide10.xml" /><Relationship Id="rId22" Type="http://schemas.openxmlformats.org/officeDocument/2006/relationships/slide" Target="slides/slide22.xml" /><Relationship Id="rId11" Type="http://schemas.openxmlformats.org/officeDocument/2006/relationships/slide" Target="slides/slide1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3" Type="http://schemas.openxmlformats.org/officeDocument/2006/relationships/image" Target="media/image36.svg" /><Relationship Id="rId1" Type="http://schemas.openxmlformats.org/officeDocument/2006/relationships/image" Target="media/image3.svg" /><Relationship Id="rId4" Type="http://schemas.openxmlformats.org/officeDocument/2006/relationships/image" Target="media/image37.svg" /><Relationship Id="rId2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2" Type="http://schemas.openxmlformats.org/officeDocument/2006/relationships/image" Target="media/image40.svg" /><Relationship Id="rId1" Type="http://schemas.openxmlformats.org/officeDocument/2006/relationships/image" Target="media/image39.svg" /><Relationship Id="rId4" Type="http://schemas.openxmlformats.org/officeDocument/2006/relationships/image" Target="media/image42.svg" /><Relationship Id="rId3" Type="http://schemas.openxmlformats.org/officeDocument/2006/relationships/image" Target="media/image41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3" Type="http://schemas.openxmlformats.org/officeDocument/2006/relationships/image" Target="media/image3.svg" /><Relationship Id="rId1" Type="http://schemas.openxmlformats.org/officeDocument/2006/relationships/image" Target="media/image1.svg" /><Relationship Id="rId2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3" Type="http://schemas.openxmlformats.org/officeDocument/2006/relationships/image" Target="media/image6.svg" /><Relationship Id="rId2" Type="http://schemas.openxmlformats.org/officeDocument/2006/relationships/image" Target="media/image5.svg" /><Relationship Id="rId4" Type="http://schemas.openxmlformats.org/officeDocument/2006/relationships/image" Target="media/image7.svg" /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4" Type="http://schemas.openxmlformats.org/officeDocument/2006/relationships/image" Target="media/image11.svg" /><Relationship Id="rId1" Type="http://schemas.openxmlformats.org/officeDocument/2006/relationships/image" Target="media/image8.svg" /><Relationship Id="rId3" Type="http://schemas.openxmlformats.org/officeDocument/2006/relationships/image" Target="media/image10.svg" /><Relationship Id="rId2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3" Type="http://schemas.openxmlformats.org/officeDocument/2006/relationships/image" Target="media/image19.svg" /><Relationship Id="rId1" Type="http://schemas.openxmlformats.org/officeDocument/2006/relationships/image" Target="media/image17.svg" /><Relationship Id="rId2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2" Type="http://schemas.openxmlformats.org/officeDocument/2006/relationships/image" Target="media/image21.svg" /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3" Type="http://schemas.openxmlformats.org/officeDocument/2006/relationships/image" Target="media/image24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5" Type="http://schemas.openxmlformats.org/officeDocument/2006/relationships/image" Target="media/image29.svg" /><Relationship Id="rId4" Type="http://schemas.openxmlformats.org/officeDocument/2006/relationships/image" Target="media/image28.svg" /><Relationship Id="rId6" Type="http://schemas.openxmlformats.org/officeDocument/2006/relationships/image" Target="media/image30.svg" /><Relationship Id="rId3" Type="http://schemas.openxmlformats.org/officeDocument/2006/relationships/image" Target="media/image27.svg" /><Relationship Id="rId2" Type="http://schemas.openxmlformats.org/officeDocument/2006/relationships/image" Target="media/image26.svg" /><Relationship Id="rId1" Type="http://schemas.openxmlformats.org/officeDocument/2006/relationships/image" Target="media/image25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5" Type="http://schemas.openxmlformats.org/officeDocument/2006/relationships/image" Target="media/image34.svg" /><Relationship Id="rId4" Type="http://schemas.openxmlformats.org/officeDocument/2006/relationships/image" Target="media/image27.svg" /><Relationship Id="rId3" Type="http://schemas.openxmlformats.org/officeDocument/2006/relationships/image" Target="media/image33.svg" /><Relationship Id="rId2" Type="http://schemas.openxmlformats.org/officeDocument/2006/relationships/image" Target="media/image32.svg" /><Relationship Id="rId1" Type="http://schemas.openxmlformats.org/officeDocument/2006/relationships/image" Target="media/image31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width: '1280px', height: '720px', background: '#FFFFFF', padding: '0px', position: 'relative', overflow: 'hidden', fontFamily: 'Inter, Helvetica Neue, Arial, sans-serif' }}&gt;&#10;  &lt;Box style={{ position: 'absolute', top: 0, left: 0, width: '100%', height: 14, background: '#1E4FA8' }} /&gt;&#10;  &lt;Box style={{ position: 'absolute', top: 14, left: 0, width: '100%', height: 6, background: '#3D7BD9' }} /&gt;&#10;  &lt;Box style={{ position: 'absolute', right: 0, top: 90, opacity: 0.07, width: 640, height: 420, overflow: 'hidden' }}&gt;&#10;    &lt;Text style={{ fontSize: 400, fontWeight: 'bold', color: '#1E4FA8', lineHeight: 1, textAlign: 'right' }}&gt;AI&lt;/Text&gt;&#10;  &lt;/Box&gt;&#10;  &lt;Box style={{ position: 'relative', width: '100%', height: '100%', padding: '90px 84px 60px', justifyContent: 'space-between' }}&gt;&#10;    &lt;Box&gt;&#10;      &lt;Text style={{ fontSize: 19, color: '#8B97A8', fontWeight: '600', letterSpacing: 3 }}&gt;SE 4XXX · UNDERGRADUATE COURSE&lt;/Text&gt;&#10;      &lt;Box style={{ width: 64, height: 4, background: '#1E4FA8', marginTop: 20 }} /&gt;&#10;      &lt;Text style={{ fontSize: 44, fontStyle: 'italic', color: '#4A5568', fontFamily: 'Georgia, Times, serif', marginTop: 32, letterSpacing: 0.5 }}&gt;&#10;        Introduction to AI Application Development&#10;      &lt;/Text&gt;&#10;      &lt;Text style={{ fontSize: 74, fontWeight: 'bold', color: '#0E3F8C', lineHeight: 1.15, marginTop: 10 }}&gt;AI Application Development&lt;/Text&gt;&#10;      &lt;Text style={{ fontSize: 25, color: '#1A2230', marginTop: 16 }}&gt;&#10;        Week 1 · Introduction &amp;amp; Environment Setup&#10;      &lt;/Text&gt;&#10;    &lt;/Box&gt;&#10;    &lt;Box&gt;&#10;      &lt;Box style={{ flexDirection: 'row', gap: 14, flexWrap: 'wrap' }}&gt;&#10;        {['64 Contact Hours', '16 Weeks × 4h', 'Junior · Software Engineering', 'International Students'].map((t, i) =&gt; (&#10;          &lt;Box key={i} style={{ background: '#F0F5FC', border: '1px solid #D6DCE5', borderRadius: 22, padding: '7px 18px' }}&gt;&#10;            &lt;Text style={{ fontSize: 16, color: '#1E4FA8', fontWeight: '600' }}&gt;{t}&lt;/Text&gt;&#10;          &lt;/Box&gt;&#10;        ))}&#10;      &lt;/Box&gt;&#10;      &lt;Box style={{ flexDirection: 'row', alignItems: 'center', marginTop: 26, gap: 12 }}&gt;&#10;        &lt;Box style={{ width: 44, height: 44, borderRadius: 10, background: '#0E3F8C', justifyContent: 'center', alignItems: 'center' }}&gt;&#10;          &lt;Text style={{ fontSize: 20, color: '#FFFFFF', fontWeight: 'bold' }}&gt;W1&lt;/Text&gt;&#10;        &lt;/Box&gt;&#10;        &lt;Text style={{ fontSize: 17, color: '#4A5568' }}&gt;&#10;          Lecturer: ____________&amp;nbsp;&amp;nbsp;·&amp;nbsp;&amp;nbsp;School of Software Engineering&#10;        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0" y="857250"/>
            <a:ext cx="6096000" cy="45720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30000" b="1">
                <a:solidFill>
                  <a:srgbClr val="1E4FA8">
                    <a:alpha val="7000"/>
                  </a:srgbClr>
                </a:solidFill>
                <a:latin typeface="Inter"/>
                <a:ea typeface="Inter"/>
              </a:rPr>
              <a:t>AI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00100" y="857250"/>
            <a:ext cx="10591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 spc="225">
                <a:solidFill>
                  <a:srgbClr val="8B97A8"/>
                </a:solidFill>
                <a:latin typeface="Inter"/>
                <a:ea typeface="Inter"/>
              </a:rPr>
              <a:t>SE 4XXX · UNDERGRADUATE COURSE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00100" y="1266825"/>
            <a:ext cx="6096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1609725"/>
            <a:ext cx="105918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i="1" spc="38">
                <a:solidFill>
                  <a:srgbClr val="4A5568"/>
                </a:solidFill>
                <a:latin typeface="Georgia"/>
                <a:ea typeface="Georgia"/>
              </a:rPr>
              <a:t>Introduction to AI Application Development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00100" y="2209800"/>
            <a:ext cx="10591800" cy="9810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5550" b="1">
                <a:solidFill>
                  <a:srgbClr val="0E3F8C"/>
                </a:solidFill>
                <a:latin typeface="Inter"/>
                <a:ea typeface="Inter"/>
              </a:rPr>
              <a:t>AI Application Development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00100" y="3343275"/>
            <a:ext cx="10591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>
                <a:solidFill>
                  <a:srgbClr val="1A2230"/>
                </a:solidFill>
                <a:latin typeface="Inter"/>
                <a:ea typeface="Inter"/>
              </a:rPr>
              <a:t>Week 1 · Introduction &amp; Environment Setup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0100" y="5295900"/>
            <a:ext cx="1619250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71550" y="5362575"/>
            <a:ext cx="1276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64 Contact Hours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2552700" y="5295900"/>
            <a:ext cx="1390650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724150" y="5362575"/>
            <a:ext cx="1047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16 Weeks × 4h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4076700" y="5295900"/>
            <a:ext cx="2495550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4248150" y="5362575"/>
            <a:ext cx="2152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Junior · Software Engineering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6705600" y="5295900"/>
            <a:ext cx="1962150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877050" y="5362575"/>
            <a:ext cx="1619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International Students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00100" y="5867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66775" y="596265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W1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333500" y="5981700"/>
            <a:ext cx="416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Lecturer: ____________  ·  School of Software Engineering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94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ntents&lt;/Text&gt;&#10;    &lt;Text style={{ fontSize: 15, color: 'rgba(255,255,255,0.85)' }}&gt;Module 1 · Week 1 · 180 min&lt;/Text&gt;&#10;  &lt;/Box&gt;&#10;  &lt;Box style={{ position: 'absolute', top: 100, left: 0, width: '100%', height: 540, padding: '10px 84px', flexDirection: 'row', gap: 28 }}&gt;&#10;    &lt;Box style={{ width: 300, background: '#F0F5FC', borderRadius: 14, padding: '26px 26px', justifyContent: 'center', border: '1px solid #D6DCE5' }}&gt;&#10;      &lt;Text style={{ fontSize: 34, color: '#0E3F8C', fontWeight: 'bold' }}&gt;5 Parts&lt;/Text&gt;&#10;      &lt;Text style={{ fontSize: 16, color: '#4A5568', marginTop: 8 }}&gt;180 min in total&lt;/Text&gt;&#10;      &lt;Box style={{ width: '100%', height: 2, background: '#D6DCE5', marginTop: 16 }} /&gt;&#10;      &lt;Text style={{ fontSize: 15, color: '#1A2230', lineHeight: 1.7, marginTop: 14 }}&gt;&#10;        Parts 1–4 cover &lt;b&gt;theory and perspective&lt;/b&gt;,&#10;        &lt;br /&gt;&#10;        part 5 is &lt;b&gt;hands-on practice&lt;/b&gt;.&#10;      &lt;/Text&gt;&#10;      &lt;Text style={{ fontSize: 13, color: '#8B97A8', marginTop: 12, lineHeight: 1.6 }}&gt;Theory ≈ 90 min · Lab ≈ 75 min · Quiz &amp;amp; wrap-up 15 min&lt;/Text&gt;&#10;    &lt;/Box&gt;&#10;    &lt;Box style={{ flex: 1, justifyContent: 'center', gap: 0 }}&gt;&#10;      {[&#10;        { n: '01', t: 'Course Overview', d: 'Structure · assessment · 16-week calendar · academic integrity' },&#10;        { n: '02', t: 'What is AI', d: 'Technology hierarchy · three learning paradigms · waves and winters' },&#10;        { n: '03', t: 'Domains &amp; Careers', d: 'Four domains · landmark breakthroughs · career paths · ethics' },&#10;        { n: '04', t: 'Project Lifecycle', d: 'Six stages · case walkthrough · the 80% rule · toolchain' },&#10;        { n: '05', t: 'Lab: Hands-on', d: 'Environment setup · Git · first ML program · deliverables' },&#10;      ].map((it, i) =&gt; (&#10;        &lt;Box key={i} style={{ flexDirection: 'row', alignItems: 'center', gap: 20, padding: '14px 8px', borderBottom: i &lt; 4 ? '1px solid #E5E7EB' : 'none' }}&gt;&#10;          &lt;Box style={{ width: 50, height: 50, borderRadius: 12, background: i === 4 ? '#0E3F8C' : '#1E4FA8', justifyContent: 'center', alignItems: 'center' }}&gt;&#10;            &lt;Text style={{ fontSize: 19, color: '#FFFFFF', fontWeight: 'bold' }}&gt;{it.n}&lt;/Text&gt;&#10;          &lt;/Box&gt;&#10;          &lt;Box style={{ flex: 1 }}&gt;&#10;            &lt;Text style={{ fontSize: 24, color: '#1A2230', fontWeight: 'bold' }}&gt;{it.t}&lt;/Text&gt;&#10;            &lt;Text style={{ fontSize: 14, color: '#4A5568', marginTop: 2 }}&gt;{it.d}&lt;/Text&gt;&#10;          &lt;/Box&gt;&#10;          &lt;FAIcon name='chevron-right' style={{ fill: '#8B97A8', width: 20, height: 20 }} /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914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Contents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9572625" y="295275"/>
            <a:ext cx="1819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 · 180 min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800100" y="1047750"/>
            <a:ext cx="2857500" cy="4953000"/>
          </a:xfrm>
          <a:prstGeom prst="roundRect">
            <a:avLst>
              <a:gd name="adj" fmla="val 4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1047750" y="2314575"/>
            <a:ext cx="2362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Inter"/>
                <a:ea typeface="Inter"/>
              </a:rPr>
              <a:t>5 Parts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1047750" y="2781300"/>
            <a:ext cx="236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Inter"/>
                <a:ea typeface="Inter"/>
              </a:rPr>
              <a:t>180 min in total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1047750" y="3124200"/>
            <a:ext cx="23622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1047750" y="3276600"/>
            <a:ext cx="23622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Parts 1–4 cover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theory and perspective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,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part 5 is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hands-on practice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1047750" y="4267200"/>
            <a:ext cx="23622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Theory ≈ 90 min · Lab ≈ 75 min · Quiz &amp; wrap-up 15 min</a:t>
            </a:r>
            <a:endParaRPr/>
          </a:p>
        </p:txBody>
      </p:sp>
      <p:sp>
        <p:nvSpPr>
          <p:cNvPr id="405" name=""/>
          <p:cNvSpPr/>
          <p:nvPr/>
        </p:nvSpPr>
        <p:spPr>
          <a:xfrm rot="0" flipH="0" flipV="0">
            <a:off x="3924300" y="164782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06" name=""/>
          <p:cNvSpPr/>
          <p:nvPr/>
        </p:nvSpPr>
        <p:spPr>
          <a:xfrm rot="0" flipH="0" flipV="0">
            <a:off x="4000500" y="178117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4133850" y="191452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4667250" y="1790700"/>
            <a:ext cx="62674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Course Overview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4667250" y="2085975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Structure · assessment · 16-week calendar · academic integrity</a:t>
            </a:r>
            <a:endParaRPr/>
          </a:p>
        </p:txBody>
      </p:sp>
      <p:pic>
        <p:nvPicPr>
          <p:cNvPr id="4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1924050"/>
            <a:ext cx="190500" cy="190500"/>
          </a:xfrm>
          <a:prstGeom prst="rect">
            <a:avLst/>
          </a:prstGeom>
          <a:ln/>
        </p:spPr>
      </p:pic>
      <p:sp>
        <p:nvSpPr>
          <p:cNvPr id="411" name=""/>
          <p:cNvSpPr/>
          <p:nvPr/>
        </p:nvSpPr>
        <p:spPr>
          <a:xfrm rot="0" flipH="0" flipV="0">
            <a:off x="3924300" y="240030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12" name=""/>
          <p:cNvSpPr/>
          <p:nvPr/>
        </p:nvSpPr>
        <p:spPr>
          <a:xfrm rot="0" flipH="0" flipV="0">
            <a:off x="4000500" y="253365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4133850" y="2667000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4667250" y="2543175"/>
            <a:ext cx="62674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What is AI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4667250" y="2838450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Technology hierarchy · three learning paradigms · waves and winters</a:t>
            </a:r>
            <a:endParaRPr/>
          </a:p>
        </p:txBody>
      </p:sp>
      <p:pic>
        <p:nvPicPr>
          <p:cNvPr id="4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2676525"/>
            <a:ext cx="190500" cy="190500"/>
          </a:xfrm>
          <a:prstGeom prst="rect">
            <a:avLst/>
          </a:prstGeom>
          <a:ln/>
        </p:spPr>
      </p:pic>
      <p:sp>
        <p:nvSpPr>
          <p:cNvPr id="417" name=""/>
          <p:cNvSpPr/>
          <p:nvPr/>
        </p:nvSpPr>
        <p:spPr>
          <a:xfrm rot="0" flipH="0" flipV="0">
            <a:off x="3924300" y="315277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18" name=""/>
          <p:cNvSpPr/>
          <p:nvPr/>
        </p:nvSpPr>
        <p:spPr>
          <a:xfrm rot="0" flipH="0" flipV="0">
            <a:off x="4000500" y="328612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4133850" y="341947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4667250" y="3295650"/>
            <a:ext cx="62674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Domains &amp; Careers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4667250" y="3590925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Four domains · landmark breakthroughs · career paths · ethics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3429000"/>
            <a:ext cx="190500" cy="19050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3924300" y="390525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4" name=""/>
          <p:cNvSpPr/>
          <p:nvPr/>
        </p:nvSpPr>
        <p:spPr>
          <a:xfrm rot="0" flipH="0" flipV="0">
            <a:off x="4000500" y="403860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4133850" y="4171950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4667250" y="4048125"/>
            <a:ext cx="62674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Project Lifecycle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4667250" y="4343400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Six stages · case walkthrough · the 80% rule · toolchain</a:t>
            </a:r>
            <a:endParaRPr/>
          </a:p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181475"/>
            <a:ext cx="190500" cy="190500"/>
          </a:xfrm>
          <a:prstGeom prst="rect">
            <a:avLst/>
          </a:prstGeom>
          <a:ln/>
        </p:spPr>
      </p:pic>
      <p:sp>
        <p:nvSpPr>
          <p:cNvPr id="429" name=""/>
          <p:cNvSpPr/>
          <p:nvPr/>
        </p:nvSpPr>
        <p:spPr>
          <a:xfrm rot="0" flipH="0" flipV="0">
            <a:off x="4000500" y="479107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4133850" y="492442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4667250" y="4800600"/>
            <a:ext cx="62674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Lab: Hands-on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4667250" y="5095875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Environment setup · Git · first ML program · deliverables</a:t>
            </a:r>
            <a:endParaRPr/>
          </a:p>
        </p:txBody>
      </p:sp>
      <p:pic>
        <p:nvPicPr>
          <p:cNvPr id="4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933950"/>
            <a:ext cx="190500" cy="190500"/>
          </a:xfrm>
          <a:prstGeom prst="rect">
            <a:avLst/>
          </a:prstGeom>
          <a:ln/>
        </p:spPr>
      </p:pic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02 / 32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931" name="" descr="&lt;Slide style={{ width: '1280px', height: '720px', background: '#F7F9FC', padding: '0px', position: 'relative', overflow: 'hidden', fontFamily: 'Inter, Helvetica Neue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1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1&lt;/Text&gt;&#10;      &lt;/Box&gt;&#10;      &lt;Box style={{ paddingTop: 6 }}&gt;&#10;        &lt;Text style={{ fontSize: 44, color: '#1A2230', fontWeight: 'bold' }}&gt;Course Overview&lt;/Text&gt;&#10;        &lt;Text style={{ fontSize: 26, color: '#8B97A8', fontWeight: '600', marginTop: 6 }}&gt;How this course works&lt;/Text&gt;&#10;      &lt;/Box&gt;&#10;    &lt;/Box&gt;&#10;    &lt;Box style={{ flexDirection: 'row', gap: 24 }}&gt;&#10;      {[&#10;        { t: '4 Modules', e: '16 weeks · 64 hours' },&#10;        { t: 'Assessment', e: '70% hands-on' },&#10;        { t: 'Policies', e: 'What to expect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3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34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935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36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937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4194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Course Overview</a:t>
            </a:r>
            <a:endParaRPr/>
          </a:p>
        </p:txBody>
      </p:sp>
      <p:sp>
        <p:nvSpPr>
          <p:cNvPr id="938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4194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How this course works</a:t>
            </a:r>
            <a:endParaRPr/>
          </a:p>
        </p:txBody>
      </p:sp>
      <p:sp>
        <p:nvSpPr>
          <p:cNvPr id="939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0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1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4 Modules</a:t>
            </a:r>
            <a:endParaRPr/>
          </a:p>
        </p:txBody>
      </p:sp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16 weeks · 64 hours</a:t>
            </a:r>
            <a:endParaRPr/>
          </a:p>
        </p:txBody>
      </p:sp>
      <p:sp>
        <p:nvSpPr>
          <p:cNvPr id="943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4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5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Assessment</a:t>
            </a:r>
            <a:endParaRPr/>
          </a:p>
        </p:txBody>
      </p:sp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70% hands-on</a:t>
            </a:r>
            <a:endParaRPr/>
          </a:p>
        </p:txBody>
      </p:sp>
      <p:sp>
        <p:nvSpPr>
          <p:cNvPr id="947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8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9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Policies</a:t>
            </a:r>
            <a:endParaRPr/>
          </a:p>
        </p:txBody>
      </p:sp>
      <p:sp>
        <p:nvSpPr>
          <p:cNvPr id="950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What to expect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057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urse Structure &amp;amp; Assessment&lt;/Text&gt;&#10;    &lt;Text style={{ fontSize: 15, color: 'rgba(255,255,255,0.85)' }}&gt;Module 1 · Week 1&lt;/Text&gt;&#10;  &lt;/Box&gt;&#10;  &lt;Box style={{ position: 'absolute', top: 100, left: 0, width: '100%', height: 540, padding: '6px 84px', flexDirection: 'row', gap: 26 }}&gt;&#10;    &lt;Box style={{ flex: 1.15, gap: 14, justifyContent: 'center' }}&gt;&#10;      &lt;Text style={{ fontSize: 18, color: '#8B97A8', fontWeight: '600', marginBottom: 2 }}&gt;4 Modules · 16 Weeks · 64 Hours&lt;/Text&gt;&#10;      {[&#10;        { m: 'M1', w: 'W1–4', t: 'AI &amp; ML Foundations', c: '#1E4FA8' },&#10;        { m: 'M2', w: 'W5–8', t: 'Deep Learning &amp; CV', c: '#3D7BD9' },&#10;        { m: 'M3', w: 'W9–12', t: 'NLP &amp; Large Language Models', c: '#1E4FA8' },&#10;        { m: 'M4', w: 'W13–16', t: 'AI Application Engineering', c: '#0E3F8C' },&#10;      ].map((it, i) =&gt; (&#10;        &lt;Box key={i} style={{ flexDirection: 'row', alignItems: 'center', gap: 18, background: '#F7F9FC', border: '1px solid #E5E7EB', borderLeft: '5px solid ' + it.c, borderRadius: 10, padding: '13px 20px' }}&gt;&#10;          &lt;Box style={{ width: 46, height: 46, borderRadius: 10, background: it.c, justifyContent: 'center', alignItems: 'center', flexShrink: 0 }}&gt;&#10;            &lt;Text style={{ fontSize: 17, color: '#FFFFFF', fontWeight: 'bold' }}&gt;{it.m}&lt;/Text&gt;&#10;          &lt;/Box&gt;&#10;          &lt;Box style={{ flex: 1 }}&gt;&#10;            &lt;Text style={{ fontSize: 21, color: '#1A2230', fontWeight: 'bold' }}&gt;{it.t}&lt;/Text&gt;&#10;            &lt;Text style={{ fontSize: 14, color: '#4A5568', marginTop: 1 }}&gt;{it.w} · 180 min weekly (lecture + lab)&lt;/Text&gt;&#10;          &lt;/Box&gt;&#10;        &lt;/Box&gt;&#10;      ))}&#10;      &lt;Text style={{ fontSize: 15, color: '#8B97A8', marginTop: 2 }}&gt;&#10;        Positioning: &lt;span style={{ color: '#0E3F8C', fontWeight: 'bold' }}&gt;solid theory + balanced application&lt;/span&gt; — understand the principles first, then build.&#10;      &lt;/Text&gt;&#10;    &lt;/Box&gt;&#10;    &lt;Box style={{ flex: 1, background: '#F0F5FC', border: '1px solid #D6DCE5', borderRadius: 14, padding: '24px 26px', justifyContent: 'center' }}&gt;&#10;      &lt;Text style={{ fontSize: 20, color: '#0E3F8C', fontWeight: 'bold' }}&gt;Assessment&lt;/Text&gt;&#10;      &lt;Text style={{ fontSize: 14, color: '#8B97A8', marginTop: 2, marginBottom: 14 }}&gt;Out of 100 · no written exam&lt;/Text&gt;&#10;      {[&#10;        { n: 'Assignments ×3', v: 30, c: '#1E4FA8' },&#10;        { n: 'Midterm Project', v: 15, c: '#3D7BD9' },&#10;        { n: 'Capstone Project', v: 35, c: '#0E3F8C' },&#10;        { n: 'Lab &amp; Quizzes', v: 20, c: '#8B97A8' },&#10;      ].map((g, i) =&gt; (&#10;        &lt;Box key={i} style={{ marginBottom: 12 }}&gt;&#10;          &lt;Box style={{ flexDirection: 'row', justifyContent: 'space-between', alignItems: 'baseline' }}&gt;&#10;            &lt;Text style={{ fontSize: 16, color: '#1A2230', fontWeight: '600' }}&gt;{g.n}&lt;/Text&gt;&#10;            &lt;Text style={{ fontSize: 18, color: g.c, fontWeight: 'bold' }}&gt;{g.v}%&lt;/Text&gt;&#10;          &lt;/Box&gt;&#10;          &lt;Box style={{ width: '100%', height: 12, background: '#FFFFFF', borderRadius: 6, marginTop: 5, overflow: 'hidden' }}&gt;&#10;            &lt;Box style={{ width: g.v * 2.55 + '%', height: '100%', background: g.c, borderRadius: 6 }} /&gt;&#10;          &lt;/Box&gt;&#10;        &lt;/Box&gt;&#10;      ))}&#10;      &lt;Box style={{ marginTop: 6, background: '#FFFFFF', borderRadius: 8, padding: '12px 16px', borderLeft: '4px solid #0E3F8C' }}&gt;&#10;        &lt;Text style={{ fontSize: 15, color: '#1A2230', lineHeight: 1.6 }}&gt;&#10;          &lt;span style={{ fontWeight: 'bold', color: '#0E3F8C' }}&gt;Projects &amp;amp; labs weigh 70%&lt;/span&gt; — this course is not &quot;listened to&quot;, it is built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5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6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200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Course Structure &amp; Assessment</a:t>
            </a:r>
            <a:endParaRPr/>
          </a:p>
        </p:txBody>
      </p:sp>
      <p:sp>
        <p:nvSpPr>
          <p:cNvPr id="1061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800100" y="1524000"/>
            <a:ext cx="5534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4 Modules · 16 Weeks · 64 Hours</a:t>
            </a:r>
            <a:endParaRPr/>
          </a:p>
        </p:txBody>
      </p:sp>
      <p:sp>
        <p:nvSpPr>
          <p:cNvPr id="1063" name=""/>
          <p:cNvSpPr/>
          <p:nvPr/>
        </p:nvSpPr>
        <p:spPr>
          <a:xfrm rot="0" flipH="0" flipV="0">
            <a:off x="847725" y="1885950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64" name=""/>
          <p:cNvSpPr/>
          <p:nvPr/>
        </p:nvSpPr>
        <p:spPr>
          <a:xfrm rot="0" flipH="0" flipV="0">
            <a:off x="847725" y="1885950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65" name=""/>
          <p:cNvSpPr/>
          <p:nvPr/>
        </p:nvSpPr>
        <p:spPr>
          <a:xfrm rot="0" flipH="0" flipV="0">
            <a:off x="1038225" y="200977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66" name="" descr="{&quot;isTemplate&quot;:true,&quot;type&quot;:&quot;text&quot;}"/>
          <p:cNvSpPr txBox="1"/>
          <p:nvPr/>
        </p:nvSpPr>
        <p:spPr>
          <a:xfrm rot="0" flipH="0" flipV="0">
            <a:off x="1143000" y="2133600"/>
            <a:ext cx="23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M1</a:t>
            </a:r>
            <a:endParaRPr/>
          </a:p>
        </p:txBody>
      </p:sp>
      <p:sp>
        <p:nvSpPr>
          <p:cNvPr id="1067" name="" descr="{&quot;isTemplate&quot;:true,&quot;type&quot;:&quot;text&quot;}"/>
          <p:cNvSpPr txBox="1"/>
          <p:nvPr/>
        </p:nvSpPr>
        <p:spPr>
          <a:xfrm rot="0" flipH="0" flipV="0">
            <a:off x="1647825" y="2019300"/>
            <a:ext cx="4495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AI &amp; ML Foundations</a:t>
            </a:r>
            <a:endParaRPr/>
          </a:p>
        </p:txBody>
      </p:sp>
      <p:sp>
        <p:nvSpPr>
          <p:cNvPr id="1068" name="" descr="{&quot;isTemplate&quot;:true,&quot;type&quot;:&quot;text&quot;}"/>
          <p:cNvSpPr txBox="1"/>
          <p:nvPr/>
        </p:nvSpPr>
        <p:spPr>
          <a:xfrm rot="0" flipH="0" flipV="0">
            <a:off x="1647825" y="2276475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W1–4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· 180 min weekly (lecture + lab)</a:t>
            </a:r>
            <a:endParaRPr/>
          </a:p>
        </p:txBody>
      </p:sp>
      <p:sp>
        <p:nvSpPr>
          <p:cNvPr id="1069" name=""/>
          <p:cNvSpPr/>
          <p:nvPr/>
        </p:nvSpPr>
        <p:spPr>
          <a:xfrm rot="0" flipH="0" flipV="0">
            <a:off x="847725" y="2705100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0" name=""/>
          <p:cNvSpPr/>
          <p:nvPr/>
        </p:nvSpPr>
        <p:spPr>
          <a:xfrm rot="0" flipH="0" flipV="0">
            <a:off x="847725" y="2705100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71" name=""/>
          <p:cNvSpPr/>
          <p:nvPr/>
        </p:nvSpPr>
        <p:spPr>
          <a:xfrm rot="0" flipH="0" flipV="0">
            <a:off x="1038225" y="2828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72" name="" descr="{&quot;isTemplate&quot;:true,&quot;type&quot;:&quot;text&quot;}"/>
          <p:cNvSpPr txBox="1"/>
          <p:nvPr/>
        </p:nvSpPr>
        <p:spPr>
          <a:xfrm rot="0" flipH="0" flipV="0">
            <a:off x="1143000" y="2952750"/>
            <a:ext cx="23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M2</a:t>
            </a:r>
            <a:endParaRPr/>
          </a:p>
        </p:txBody>
      </p:sp>
      <p:sp>
        <p:nvSpPr>
          <p:cNvPr id="1073" name="" descr="{&quot;isTemplate&quot;:true,&quot;type&quot;:&quot;text&quot;}"/>
          <p:cNvSpPr txBox="1"/>
          <p:nvPr/>
        </p:nvSpPr>
        <p:spPr>
          <a:xfrm rot="0" flipH="0" flipV="0">
            <a:off x="1647825" y="2838450"/>
            <a:ext cx="4495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Deep Learning &amp; CV</a:t>
            </a:r>
            <a:endParaRPr/>
          </a:p>
        </p:txBody>
      </p:sp>
      <p:sp>
        <p:nvSpPr>
          <p:cNvPr id="1074" name="" descr="{&quot;isTemplate&quot;:true,&quot;type&quot;:&quot;text&quot;}"/>
          <p:cNvSpPr txBox="1"/>
          <p:nvPr/>
        </p:nvSpPr>
        <p:spPr>
          <a:xfrm rot="0" flipH="0" flipV="0">
            <a:off x="1647825" y="3095625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W5–8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· 180 min weekly (lecture + lab)</a:t>
            </a:r>
            <a:endParaRPr/>
          </a:p>
        </p:txBody>
      </p:sp>
      <p:sp>
        <p:nvSpPr>
          <p:cNvPr id="1075" name=""/>
          <p:cNvSpPr/>
          <p:nvPr/>
        </p:nvSpPr>
        <p:spPr>
          <a:xfrm rot="0" flipH="0" flipV="0">
            <a:off x="847725" y="3524250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6" name=""/>
          <p:cNvSpPr/>
          <p:nvPr/>
        </p:nvSpPr>
        <p:spPr>
          <a:xfrm rot="0" flipH="0" flipV="0">
            <a:off x="847725" y="3524250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77" name=""/>
          <p:cNvSpPr/>
          <p:nvPr/>
        </p:nvSpPr>
        <p:spPr>
          <a:xfrm rot="0" flipH="0" flipV="0">
            <a:off x="1038225" y="364807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78" name="" descr="{&quot;isTemplate&quot;:true,&quot;type&quot;:&quot;text&quot;}"/>
          <p:cNvSpPr txBox="1"/>
          <p:nvPr/>
        </p:nvSpPr>
        <p:spPr>
          <a:xfrm rot="0" flipH="0" flipV="0">
            <a:off x="1143000" y="3771900"/>
            <a:ext cx="23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M3</a:t>
            </a:r>
            <a:endParaRPr/>
          </a:p>
        </p:txBody>
      </p:sp>
      <p:sp>
        <p:nvSpPr>
          <p:cNvPr id="1079" name="" descr="{&quot;isTemplate&quot;:true,&quot;type&quot;:&quot;text&quot;}"/>
          <p:cNvSpPr txBox="1"/>
          <p:nvPr/>
        </p:nvSpPr>
        <p:spPr>
          <a:xfrm rot="0" flipH="0" flipV="0">
            <a:off x="1647825" y="3657600"/>
            <a:ext cx="4495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NLP &amp; Large Language Models</a:t>
            </a:r>
            <a:endParaRPr/>
          </a:p>
        </p:txBody>
      </p:sp>
      <p:sp>
        <p:nvSpPr>
          <p:cNvPr id="1080" name="" descr="{&quot;isTemplate&quot;:true,&quot;type&quot;:&quot;text&quot;}"/>
          <p:cNvSpPr txBox="1"/>
          <p:nvPr/>
        </p:nvSpPr>
        <p:spPr>
          <a:xfrm rot="0" flipH="0" flipV="0">
            <a:off x="1647825" y="3914775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W9–12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· 180 min weekly (lecture + lab)</a:t>
            </a:r>
            <a:endParaRPr/>
          </a:p>
        </p:txBody>
      </p:sp>
      <p:sp>
        <p:nvSpPr>
          <p:cNvPr id="1081" name=""/>
          <p:cNvSpPr/>
          <p:nvPr/>
        </p:nvSpPr>
        <p:spPr>
          <a:xfrm rot="0" flipH="0" flipV="0">
            <a:off x="847725" y="4343400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82" name=""/>
          <p:cNvSpPr/>
          <p:nvPr/>
        </p:nvSpPr>
        <p:spPr>
          <a:xfrm rot="0" flipH="0" flipV="0">
            <a:off x="847725" y="4343400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3" name=""/>
          <p:cNvSpPr/>
          <p:nvPr/>
        </p:nvSpPr>
        <p:spPr>
          <a:xfrm rot="0" flipH="0" flipV="0">
            <a:off x="1038225" y="4467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4" name="" descr="{&quot;isTemplate&quot;:true,&quot;type&quot;:&quot;text&quot;}"/>
          <p:cNvSpPr txBox="1"/>
          <p:nvPr/>
        </p:nvSpPr>
        <p:spPr>
          <a:xfrm rot="0" flipH="0" flipV="0">
            <a:off x="1143000" y="4591050"/>
            <a:ext cx="23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M4</a:t>
            </a:r>
            <a:endParaRPr/>
          </a:p>
        </p:txBody>
      </p:sp>
      <p:sp>
        <p:nvSpPr>
          <p:cNvPr id="1085" name="" descr="{&quot;isTemplate&quot;:true,&quot;type&quot;:&quot;text&quot;}"/>
          <p:cNvSpPr txBox="1"/>
          <p:nvPr/>
        </p:nvSpPr>
        <p:spPr>
          <a:xfrm rot="0" flipH="0" flipV="0">
            <a:off x="1647825" y="4476750"/>
            <a:ext cx="4495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AI Application Engineering</a:t>
            </a:r>
            <a:endParaRPr/>
          </a:p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1647825" y="4733925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W13–16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· 180 min weekly (lecture + lab)</a:t>
            </a:r>
            <a:endParaRPr/>
          </a:p>
        </p:txBody>
      </p:sp>
      <p:sp>
        <p:nvSpPr>
          <p:cNvPr id="1087" name="" descr="{&quot;isTemplate&quot;:true,&quot;type&quot;:&quot;text&quot;}"/>
          <p:cNvSpPr txBox="1"/>
          <p:nvPr/>
        </p:nvSpPr>
        <p:spPr>
          <a:xfrm rot="0" flipH="0" flipV="0">
            <a:off x="800100" y="5181600"/>
            <a:ext cx="553402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Positioning: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solid theory + balanced application</a:t>
            </a: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 — understand the principles first, then build.</a:t>
            </a:r>
            <a:endParaRPr/>
          </a:p>
        </p:txBody>
      </p:sp>
      <p:sp>
        <p:nvSpPr>
          <p:cNvPr id="1088" name=""/>
          <p:cNvSpPr/>
          <p:nvPr/>
        </p:nvSpPr>
        <p:spPr>
          <a:xfrm rot="0" flipH="0" flipV="0">
            <a:off x="6581775" y="1009650"/>
            <a:ext cx="4810125" cy="5029200"/>
          </a:xfrm>
          <a:prstGeom prst="roundRect">
            <a:avLst>
              <a:gd name="adj" fmla="val 2772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6829425" y="1866900"/>
            <a:ext cx="4314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Assessment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6829425" y="2114550"/>
            <a:ext cx="4314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Out of 100 · no written exam</a:t>
            </a:r>
            <a:endParaRPr/>
          </a:p>
        </p:txBody>
      </p:sp>
      <p:sp>
        <p:nvSpPr>
          <p:cNvPr id="1091" name="" descr="{&quot;isTemplate&quot;:true,&quot;type&quot;:&quot;text&quot;}"/>
          <p:cNvSpPr txBox="1"/>
          <p:nvPr/>
        </p:nvSpPr>
        <p:spPr>
          <a:xfrm rot="0" flipH="0" flipV="0">
            <a:off x="6829425" y="2409825"/>
            <a:ext cx="1162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Assignments ×3</a:t>
            </a:r>
            <a:endParaRPr/>
          </a:p>
        </p:txBody>
      </p:sp>
      <p:sp>
        <p:nvSpPr>
          <p:cNvPr id="1092" name="" descr="{&quot;isTemplate&quot;:true,&quot;type&quot;:&quot;text&quot;}"/>
          <p:cNvSpPr txBox="1"/>
          <p:nvPr/>
        </p:nvSpPr>
        <p:spPr>
          <a:xfrm rot="0" flipH="0" flipV="0">
            <a:off x="10772775" y="2409825"/>
            <a:ext cx="371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Inter"/>
                <a:ea typeface="Inter"/>
              </a:rPr>
              <a:t>30</a:t>
            </a:r>
            <a:r>
              <a:rPr lang="en-US" sz="1350" b="1">
                <a:solidFill>
                  <a:srgbClr val="1E4FA8"/>
                </a:solidFill>
                <a:latin typeface="Inter"/>
                <a:ea typeface="Inter"/>
              </a:rPr>
              <a:t>%</a:t>
            </a:r>
            <a:endParaRPr/>
          </a:p>
        </p:txBody>
      </p:sp>
      <p:sp>
        <p:nvSpPr>
          <p:cNvPr id="1093" name=""/>
          <p:cNvSpPr/>
          <p:nvPr/>
        </p:nvSpPr>
        <p:spPr>
          <a:xfrm rot="0" flipH="0" flipV="0">
            <a:off x="6829425" y="2667000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94" name=""/>
          <p:cNvSpPr/>
          <p:nvPr/>
        </p:nvSpPr>
        <p:spPr>
          <a:xfrm rot="0" flipH="0" flipV="0">
            <a:off x="6829425" y="2667000"/>
            <a:ext cx="3305175" cy="1143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95" name="" descr="{&quot;isTemplate&quot;:true,&quot;type&quot;:&quot;text&quot;}"/>
          <p:cNvSpPr txBox="1"/>
          <p:nvPr/>
        </p:nvSpPr>
        <p:spPr>
          <a:xfrm rot="0" flipH="0" flipV="0">
            <a:off x="6829425" y="2895600"/>
            <a:ext cx="1181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Midterm Project</a:t>
            </a:r>
            <a:endParaRPr/>
          </a:p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10772775" y="2895600"/>
            <a:ext cx="371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3D7BD9"/>
                </a:solidFill>
                <a:latin typeface="Inter"/>
                <a:ea typeface="Inter"/>
              </a:rPr>
              <a:t>15</a:t>
            </a:r>
            <a:r>
              <a:rPr lang="en-US" sz="1350" b="1">
                <a:solidFill>
                  <a:srgbClr val="3D7BD9"/>
                </a:solidFill>
                <a:latin typeface="Inter"/>
                <a:ea typeface="Inter"/>
              </a:rPr>
              <a:t>%</a:t>
            </a:r>
            <a:endParaRPr/>
          </a:p>
        </p:txBody>
      </p:sp>
      <p:sp>
        <p:nvSpPr>
          <p:cNvPr id="1097" name=""/>
          <p:cNvSpPr/>
          <p:nvPr/>
        </p:nvSpPr>
        <p:spPr>
          <a:xfrm rot="0" flipH="0" flipV="0">
            <a:off x="6829425" y="3152775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98" name=""/>
          <p:cNvSpPr/>
          <p:nvPr/>
        </p:nvSpPr>
        <p:spPr>
          <a:xfrm rot="0" flipH="0" flipV="0">
            <a:off x="6829425" y="3152775"/>
            <a:ext cx="1647825" cy="1143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99" name="" descr="{&quot;isTemplate&quot;:true,&quot;type&quot;:&quot;text&quot;}"/>
          <p:cNvSpPr txBox="1"/>
          <p:nvPr/>
        </p:nvSpPr>
        <p:spPr>
          <a:xfrm rot="0" flipH="0" flipV="0">
            <a:off x="6829425" y="3381375"/>
            <a:ext cx="1266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Capstone Project</a:t>
            </a:r>
            <a:endParaRPr/>
          </a:p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10772775" y="3381375"/>
            <a:ext cx="371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35</a:t>
            </a: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%</a:t>
            </a:r>
            <a:endParaRPr/>
          </a:p>
        </p:txBody>
      </p:sp>
      <p:sp>
        <p:nvSpPr>
          <p:cNvPr id="1101" name=""/>
          <p:cNvSpPr/>
          <p:nvPr/>
        </p:nvSpPr>
        <p:spPr>
          <a:xfrm rot="0" flipH="0" flipV="0">
            <a:off x="6829425" y="3638550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02" name=""/>
          <p:cNvSpPr/>
          <p:nvPr/>
        </p:nvSpPr>
        <p:spPr>
          <a:xfrm rot="0" flipH="0" flipV="0">
            <a:off x="6829425" y="3638550"/>
            <a:ext cx="3848100" cy="1143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03" name="" descr="{&quot;isTemplate&quot;:true,&quot;type&quot;:&quot;text&quot;}"/>
          <p:cNvSpPr txBox="1"/>
          <p:nvPr/>
        </p:nvSpPr>
        <p:spPr>
          <a:xfrm rot="0" flipH="0" flipV="0">
            <a:off x="6829425" y="3867150"/>
            <a:ext cx="1038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Lab &amp; Quizzes</a:t>
            </a:r>
            <a:endParaRPr/>
          </a:p>
        </p:txBody>
      </p:sp>
      <p:sp>
        <p:nvSpPr>
          <p:cNvPr id="1104" name="" descr="{&quot;isTemplate&quot;:true,&quot;type&quot;:&quot;text&quot;}"/>
          <p:cNvSpPr txBox="1"/>
          <p:nvPr/>
        </p:nvSpPr>
        <p:spPr>
          <a:xfrm rot="0" flipH="0" flipV="0">
            <a:off x="10772775" y="3867150"/>
            <a:ext cx="371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20</a:t>
            </a: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%</a:t>
            </a:r>
            <a:endParaRPr/>
          </a:p>
        </p:txBody>
      </p:sp>
      <p:sp>
        <p:nvSpPr>
          <p:cNvPr id="1105" name=""/>
          <p:cNvSpPr/>
          <p:nvPr/>
        </p:nvSpPr>
        <p:spPr>
          <a:xfrm rot="0" flipH="0" flipV="0">
            <a:off x="6829425" y="4124325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06" name=""/>
          <p:cNvSpPr/>
          <p:nvPr/>
        </p:nvSpPr>
        <p:spPr>
          <a:xfrm rot="0" flipH="0" flipV="0">
            <a:off x="6829425" y="4124325"/>
            <a:ext cx="2200275" cy="114300"/>
          </a:xfrm>
          <a:prstGeom prst="roundRect">
            <a:avLst>
              <a:gd name="adj" fmla="val 50000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1107" name=""/>
          <p:cNvSpPr/>
          <p:nvPr/>
        </p:nvSpPr>
        <p:spPr>
          <a:xfrm rot="0" flipH="0" flipV="0">
            <a:off x="6867525" y="4410075"/>
            <a:ext cx="431482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08" name=""/>
          <p:cNvSpPr/>
          <p:nvPr/>
        </p:nvSpPr>
        <p:spPr>
          <a:xfrm rot="0" flipH="0" flipV="0">
            <a:off x="6867525" y="4410075"/>
            <a:ext cx="4314825" cy="781050"/>
          </a:xfrm>
          <a:custGeom>
            <a:pathLst>
              <a:path w="453" h="8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8"/>
                </a:lnTo>
                <a:cubicBezTo>
                  <a:pt x="4" y="80"/>
                  <a:pt x="5" y="82"/>
                  <a:pt x="7" y="82"/>
                </a:cubicBezTo>
                <a:cubicBezTo>
                  <a:pt x="3" y="82"/>
                  <a:pt x="0" y="78"/>
                  <a:pt x="0" y="7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09" name="" descr="{&quot;isTemplate&quot;:true,&quot;type&quot;:&quot;text&quot;}"/>
          <p:cNvSpPr txBox="1"/>
          <p:nvPr/>
        </p:nvSpPr>
        <p:spPr>
          <a:xfrm rot="0" flipH="0" flipV="0">
            <a:off x="7019925" y="4524375"/>
            <a:ext cx="39719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Projects &amp; labs weigh 70%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— this course is not "listened to", it is built.</a:t>
            </a:r>
            <a:endParaRPr/>
          </a:p>
        </p:txBody>
      </p:sp>
      <p:sp>
        <p:nvSpPr>
          <p:cNvPr id="111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111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04 / 32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112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urse Calendar&lt;/Text&gt;&#10;    &lt;Text style={{ fontSize: 15, color: 'rgba(255,255,255,0.85)' }}&gt;16 Weeks · 180 min / week&lt;/Text&gt;&#10;  &lt;/Box&gt;&#10;  &lt;Box style={{ position: 'absolute', top: 94, left: 0, width: '100%', height: 430, padding: '0 84px', flexDirection: 'row', gap: 16 }}&gt;&#10;    {[&#10;      { m: 'M1', w: 'W1–4', n: 'AI &amp; ML Foundations', c: '#1E4FA8', weeks: [&#10;        { w: 'W1', t: 'Intro &amp; Environment Setup', e: 'Overview · First ML program' },&#10;        { w: 'W2', t: 'Data Handling', e: 'NumPy · Pandas · EDA' },&#10;        { w: 'W3', t: 'ML Fundamentals', e: 'scikit-learn pipeline' },&#10;        { w: 'W4', t: 'Evaluation &amp; Tuning', e: 'Metrics · Validation', b: 'A1 out' },&#10;      ]},&#10;      { m: 'M2', w: 'W5–8', n: 'Deep Learning &amp; CV', c: '#3D7BD9', weeks: [&#10;        { w: 'W5', t: 'Neural Networks', e: 'Backprop basics' },&#10;        { w: 'W6', t: 'PyTorch Training', e: 'Tensors · Training loop' },&#10;        { w: 'W7', t: 'CNN &amp; Transfer Learning', e: 'Convnets · Fine-tuning', b: 'A2 out' },&#10;        { w: 'W8', t: 'CV Apps · Midterm', e: 'Midterm presentations', b: 'Midterm' },&#10;      ]},&#10;      { m: 'M3', w: 'W9–12', n: 'NLP &amp; LLMs', c: '#1E4FA8', weeks: [&#10;        { w: 'W9', t: 'NLP Fundamentals', e: 'Tokenization · Tasks' },&#10;        { w: 'W10', t: 'Embeddings &amp; Seq Models', e: 'Word2Vec · RNN / LSTM', b: 'A3 out' },&#10;        { w: 'W11', t: 'Transformer &amp; BERT', e: 'Attention · Fine-tuning' },&#10;        { w: 'W12', t: 'LLM · Prompting · RAG', e: 'Prompt patterns · RAG' },&#10;      ]},&#10;      { m: 'M4', w: 'W13–16', n: 'AI App Engineering', c: '#0E3F8C', weeks: [&#10;        { w: 'W13', t: 'GenAI &amp; Agents', e: 'Agents · Tool use' },&#10;        { w: 'W14', t: 'Model Deployment', e: 'FastAPI · Docker' },&#10;        { w: 'W15', t: 'MLOps', e: 'Monitoring · CI/CD' },&#10;        { w: 'W16', t: 'Capstone Showcase', e: 'Final presentations', b: 'Capstone' },&#10;      ]},&#10;    ].map((mod, i) =&gt; (&#10;      &lt;Box key={i} style={{ flex: 1, gap: 7 }}&gt;&#10;        &lt;Box style={{ background: mod.c, borderRadius: 10, padding: '10px 14px', flexDirection: 'row', alignItems: 'center', gap: 10 }}&gt;&#10;          &lt;Text style={{ fontSize: 16, color: '#FFFFFF', fontWeight: 'bold' }}&gt;{mod.m}&lt;/Text&gt;&#10;          &lt;Box style={{ flex: 1 }}&gt;&#10;            &lt;Text style={{ fontSize: 14, color: '#FFFFFF', fontWeight: '600' }}&gt;{mod.n}&lt;/Text&gt;&#10;            &lt;Text style={{ fontSize: 11, color: 'rgba(255,255,255,0.8)' }}&gt;{mod.w} · 180 min weekly&lt;/Text&gt;&#10;          &lt;/Box&gt;&#10;        &lt;/Box&gt;&#10;        {mod.weeks.map((k, j) =&gt; (&#10;          &lt;Box key={j} style={{ flex: 1, background: k.b ? '#F0F5FC' : '#F7F9FC', border: '1px solid #E5E7EB', borderLeft: '4px solid ' + mod.c, borderRadius: 8, padding: '8px 12px', flexDirection: 'row', alignItems: 'center', gap: 9 }}&gt;&#10;            &lt;Text style={{ fontSize: 13, color: mod.c, fontWeight: 'bold', width: 30, flexShrink: 0 }}&gt;{k.w}&lt;/Text&gt;&#10;            &lt;Box style={{ flex: 1 }}&gt;&#10;              &lt;Text style={{ fontSize: 14, color: '#1A2230', fontWeight: '600' }}&gt;{k.t}&lt;/Text&gt;&#10;              &lt;Text style={{ fontSize: 11, color: '#8B97A8', marginTop: 1 }}&gt;{k.e}&lt;/Text&gt;&#10;            &lt;/Box&gt;&#10;            {k.b ? (&#10;              &lt;Box style={{ background: mod.c, borderRadius: 6, padding: '3px 8px', flexShrink: 0 }}&gt;&#10;                &lt;Text style={{ fontSize: 11, color: '#FFFFFF', fontWeight: 'bold' }}&gt;{k.b}&lt;/Text&gt;&#10;              &lt;/Box&gt;&#10;            ) : null}&#10;          &lt;/Box&gt;&#10;        ))}&#10;      &lt;/Box&gt;&#10;    ))}&#10;  &lt;/Box&gt;&#10;  &lt;Box style={{ position: 'absolute', top: 540, left: 0, width: '100%', height: 100, padding: '10px 84px' }}&gt;&#10;    &lt;Box style={{ width: '100%', height: '100%', background: '#F0F5FC', border: '1px solid #D6DCE5', borderRadius: 12, padding: '10px 20px', flexDirection: 'row', alignItems: 'center', justifyContent: 'space-between', gap: 8 }}&gt;&#10;      &lt;Text style={{ fontSize: 14, color: '#0E3F8C', fontWeight: 'bold', flexShrink: 0 }}&gt;Key Dates&lt;/Text&gt;&#10;      {[&#10;        { w: 'W4', t: 'Assignment 1 released', c: '#1E4FA8' },&#10;        { w: 'W7', t: 'Assignment 2 released', c: '#1E4FA8' },&#10;        { w: 'W8', t: 'Midterm presentations', c: '#3D7BD9' },&#10;        { w: 'W10', t: 'Assignment 3 released', c: '#1E4FA8' },&#10;        { w: 'W16', t: 'Capstone showcase', c: '#0E3F8C' },&#10;      ].map((ms, i) =&gt; (&#10;        &lt;Box key={i} style={{ flexDirection: 'row', alignItems: 'center', gap: 8, flex: 1, justifyContent: 'center' }}&gt;&#10;          &lt;Box style={{ width: 34, height: 34, borderRadius: 17, background: ms.c, justifyContent: 'center', alignItems: 'center', flexShrink: 0 }}&gt;&#10;            &lt;Text style={{ fontSize: 12, color: '#FFFFFF', fontWeight: 'bold' }}&gt;{ms.w}&lt;/Text&gt;&#10;          &lt;/Box&gt;&#10;          &lt;Text style={{ fontSize: 14, color: '#1A2230', fontWeight: '600' }}&gt;{ms.t}&lt;/Text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1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685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Course Calendar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9667875" y="295275"/>
            <a:ext cx="1724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16 Weeks · 180 min / week</a:t>
            </a:r>
            <a:endParaRPr/>
          </a:p>
        </p:txBody>
      </p:sp>
      <p:sp>
        <p:nvSpPr>
          <p:cNvPr id="1117" name=""/>
          <p:cNvSpPr/>
          <p:nvPr/>
        </p:nvSpPr>
        <p:spPr>
          <a:xfrm rot="0" flipH="0" flipV="0">
            <a:off x="80010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8" name="" descr="{&quot;isTemplate&quot;:true,&quot;type&quot;:&quot;text&quot;}"/>
          <p:cNvSpPr txBox="1"/>
          <p:nvPr/>
        </p:nvSpPr>
        <p:spPr>
          <a:xfrm rot="0" flipH="0" flipV="0">
            <a:off x="933450" y="104775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M1</a:t>
            </a:r>
            <a:endParaRPr/>
          </a:p>
        </p:txBody>
      </p:sp>
      <p:sp>
        <p:nvSpPr>
          <p:cNvPr id="1119" name="" descr="{&quot;isTemplate&quot;:true,&quot;type&quot;:&quot;text&quot;}"/>
          <p:cNvSpPr txBox="1"/>
          <p:nvPr/>
        </p:nvSpPr>
        <p:spPr>
          <a:xfrm rot="0" flipH="0" flipV="0">
            <a:off x="1257300" y="990600"/>
            <a:ext cx="1943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Inter"/>
                <a:ea typeface="Inter"/>
              </a:rPr>
              <a:t>AI &amp; ML Foundations</a:t>
            </a:r>
            <a:endParaRPr/>
          </a:p>
        </p:txBody>
      </p:sp>
      <p:sp>
        <p:nvSpPr>
          <p:cNvPr id="1120" name="" descr="{&quot;isTemplate&quot;:true,&quot;type&quot;:&quot;text&quot;}"/>
          <p:cNvSpPr txBox="1"/>
          <p:nvPr/>
        </p:nvSpPr>
        <p:spPr>
          <a:xfrm rot="0" flipH="0" flipV="0">
            <a:off x="1257300" y="1152525"/>
            <a:ext cx="19431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W1–4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 · 180 min weekly</a:t>
            </a:r>
            <a:endParaRPr/>
          </a:p>
        </p:txBody>
      </p:sp>
      <p:sp>
        <p:nvSpPr>
          <p:cNvPr id="1121" name=""/>
          <p:cNvSpPr/>
          <p:nvPr/>
        </p:nvSpPr>
        <p:spPr>
          <a:xfrm rot="0" flipH="0" flipV="0">
            <a:off x="83820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22" name=""/>
          <p:cNvSpPr/>
          <p:nvPr/>
        </p:nvSpPr>
        <p:spPr>
          <a:xfrm rot="0" flipH="0" flipV="0">
            <a:off x="83820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3" name="" descr="{&quot;isTemplate&quot;:true,&quot;type&quot;:&quot;text&quot;}"/>
          <p:cNvSpPr txBox="1"/>
          <p:nvPr/>
        </p:nvSpPr>
        <p:spPr>
          <a:xfrm rot="0" flipH="0" flipV="0">
            <a:off x="95250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W1</a:t>
            </a:r>
            <a:endParaRPr/>
          </a:p>
        </p:txBody>
      </p:sp>
      <p:sp>
        <p:nvSpPr>
          <p:cNvPr id="1124" name="" descr="{&quot;isTemplate&quot;:true,&quot;type&quot;:&quot;text&quot;}"/>
          <p:cNvSpPr txBox="1"/>
          <p:nvPr/>
        </p:nvSpPr>
        <p:spPr>
          <a:xfrm rot="0" flipH="0" flipV="0">
            <a:off x="132397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Intro &amp; Environment Setup</a:t>
            </a:r>
            <a:endParaRPr/>
          </a:p>
        </p:txBody>
      </p:sp>
      <p:sp>
        <p:nvSpPr>
          <p:cNvPr id="1125" name="" descr="{&quot;isTemplate&quot;:true,&quot;type&quot;:&quot;text&quot;}"/>
          <p:cNvSpPr txBox="1"/>
          <p:nvPr/>
        </p:nvSpPr>
        <p:spPr>
          <a:xfrm rot="0" flipH="0" flipV="0">
            <a:off x="132397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Overview · First ML program</a:t>
            </a:r>
            <a:endParaRPr/>
          </a:p>
        </p:txBody>
      </p:sp>
      <p:sp>
        <p:nvSpPr>
          <p:cNvPr id="1126" name=""/>
          <p:cNvSpPr/>
          <p:nvPr/>
        </p:nvSpPr>
        <p:spPr>
          <a:xfrm rot="0" flipH="0" flipV="0">
            <a:off x="83820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27" name=""/>
          <p:cNvSpPr/>
          <p:nvPr/>
        </p:nvSpPr>
        <p:spPr>
          <a:xfrm rot="0" flipH="0" flipV="0">
            <a:off x="83820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8" name="" descr="{&quot;isTemplate&quot;:true,&quot;type&quot;:&quot;text&quot;}"/>
          <p:cNvSpPr txBox="1"/>
          <p:nvPr/>
        </p:nvSpPr>
        <p:spPr>
          <a:xfrm rot="0" flipH="0" flipV="0">
            <a:off x="95250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1129" name="" descr="{&quot;isTemplate&quot;:true,&quot;type&quot;:&quot;text&quot;}"/>
          <p:cNvSpPr txBox="1"/>
          <p:nvPr/>
        </p:nvSpPr>
        <p:spPr>
          <a:xfrm rot="0" flipH="0" flipV="0">
            <a:off x="1323975" y="2619375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Data Handling</a:t>
            </a:r>
            <a:endParaRPr/>
          </a:p>
        </p:txBody>
      </p:sp>
      <p:sp>
        <p:nvSpPr>
          <p:cNvPr id="1130" name="" descr="{&quot;isTemplate&quot;:true,&quot;type&quot;:&quot;text&quot;}"/>
          <p:cNvSpPr txBox="1"/>
          <p:nvPr/>
        </p:nvSpPr>
        <p:spPr>
          <a:xfrm rot="0" flipH="0" flipV="0">
            <a:off x="1323975" y="2790825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NumPy · Pandas · EDA</a:t>
            </a:r>
            <a:endParaRPr/>
          </a:p>
        </p:txBody>
      </p:sp>
      <p:sp>
        <p:nvSpPr>
          <p:cNvPr id="1131" name=""/>
          <p:cNvSpPr/>
          <p:nvPr/>
        </p:nvSpPr>
        <p:spPr>
          <a:xfrm rot="0" flipH="0" flipV="0">
            <a:off x="83820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32" name=""/>
          <p:cNvSpPr/>
          <p:nvPr/>
        </p:nvSpPr>
        <p:spPr>
          <a:xfrm rot="0" flipH="0" flipV="0">
            <a:off x="83820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33" name="" descr="{&quot;isTemplate&quot;:true,&quot;type&quot;:&quot;text&quot;}"/>
          <p:cNvSpPr txBox="1"/>
          <p:nvPr/>
        </p:nvSpPr>
        <p:spPr>
          <a:xfrm rot="0" flipH="0" flipV="0">
            <a:off x="95250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W3</a:t>
            </a:r>
            <a:endParaRPr/>
          </a:p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1323975" y="352425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ML Fundamentals</a:t>
            </a:r>
            <a:endParaRPr/>
          </a:p>
        </p:txBody>
      </p:sp>
      <p:sp>
        <p:nvSpPr>
          <p:cNvPr id="1135" name="" descr="{&quot;isTemplate&quot;:true,&quot;type&quot;:&quot;text&quot;}"/>
          <p:cNvSpPr txBox="1"/>
          <p:nvPr/>
        </p:nvSpPr>
        <p:spPr>
          <a:xfrm rot="0" flipH="0" flipV="0">
            <a:off x="1323975" y="369570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scikit-learn pipeline</a:t>
            </a:r>
            <a:endParaRPr/>
          </a:p>
        </p:txBody>
      </p:sp>
      <p:sp>
        <p:nvSpPr>
          <p:cNvPr id="1136" name=""/>
          <p:cNvSpPr/>
          <p:nvPr/>
        </p:nvSpPr>
        <p:spPr>
          <a:xfrm rot="0" flipH="0" flipV="0">
            <a:off x="83820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37" name=""/>
          <p:cNvSpPr/>
          <p:nvPr/>
        </p:nvSpPr>
        <p:spPr>
          <a:xfrm rot="0" flipH="0" flipV="0">
            <a:off x="83820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38" name="" descr="{&quot;isTemplate&quot;:true,&quot;type&quot;:&quot;text&quot;}"/>
          <p:cNvSpPr txBox="1"/>
          <p:nvPr/>
        </p:nvSpPr>
        <p:spPr>
          <a:xfrm rot="0" flipH="0" flipV="0">
            <a:off x="95250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W4</a:t>
            </a:r>
            <a:endParaRPr/>
          </a:p>
        </p:txBody>
      </p:sp>
      <p:sp>
        <p:nvSpPr>
          <p:cNvPr id="1139" name="" descr="{&quot;isTemplate&quot;:true,&quot;type&quot;:&quot;text&quot;}"/>
          <p:cNvSpPr txBox="1"/>
          <p:nvPr/>
        </p:nvSpPr>
        <p:spPr>
          <a:xfrm rot="0" flipH="0" flipV="0">
            <a:off x="1323975" y="4419600"/>
            <a:ext cx="133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Evaluation &amp; Tuning</a:t>
            </a:r>
            <a:endParaRPr/>
          </a:p>
        </p:txBody>
      </p:sp>
      <p:sp>
        <p:nvSpPr>
          <p:cNvPr id="1140" name="" descr="{&quot;isTemplate&quot;:true,&quot;type&quot;:&quot;text&quot;}"/>
          <p:cNvSpPr txBox="1"/>
          <p:nvPr/>
        </p:nvSpPr>
        <p:spPr>
          <a:xfrm rot="0" flipH="0" flipV="0">
            <a:off x="1323975" y="4591050"/>
            <a:ext cx="1333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Metrics · Validation</a:t>
            </a:r>
            <a:endParaRPr/>
          </a:p>
        </p:txBody>
      </p:sp>
      <p:sp>
        <p:nvSpPr>
          <p:cNvPr id="1141" name=""/>
          <p:cNvSpPr/>
          <p:nvPr/>
        </p:nvSpPr>
        <p:spPr>
          <a:xfrm rot="0" flipH="0" flipV="0">
            <a:off x="2743200" y="4476750"/>
            <a:ext cx="476250" cy="19050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2819400" y="4505325"/>
            <a:ext cx="3238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Inter"/>
                <a:ea typeface="Inter"/>
              </a:rPr>
              <a:t>A1 out</a:t>
            </a:r>
            <a:endParaRPr/>
          </a:p>
        </p:txBody>
      </p:sp>
      <p:sp>
        <p:nvSpPr>
          <p:cNvPr id="1143" name=""/>
          <p:cNvSpPr/>
          <p:nvPr/>
        </p:nvSpPr>
        <p:spPr>
          <a:xfrm rot="0" flipH="0" flipV="0">
            <a:off x="348615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44" name="" descr="{&quot;isTemplate&quot;:true,&quot;type&quot;:&quot;text&quot;}"/>
          <p:cNvSpPr txBox="1"/>
          <p:nvPr/>
        </p:nvSpPr>
        <p:spPr>
          <a:xfrm rot="0" flipH="0" flipV="0">
            <a:off x="3619500" y="104775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M2</a:t>
            </a:r>
            <a:endParaRPr/>
          </a:p>
        </p:txBody>
      </p:sp>
      <p:sp>
        <p:nvSpPr>
          <p:cNvPr id="1145" name="" descr="{&quot;isTemplate&quot;:true,&quot;type&quot;:&quot;text&quot;}"/>
          <p:cNvSpPr txBox="1"/>
          <p:nvPr/>
        </p:nvSpPr>
        <p:spPr>
          <a:xfrm rot="0" flipH="0" flipV="0">
            <a:off x="3943350" y="990600"/>
            <a:ext cx="1943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Inter"/>
                <a:ea typeface="Inter"/>
              </a:rPr>
              <a:t>Deep Learning &amp; CV</a:t>
            </a:r>
            <a:endParaRPr/>
          </a:p>
        </p:txBody>
      </p:sp>
      <p:sp>
        <p:nvSpPr>
          <p:cNvPr id="1146" name="" descr="{&quot;isTemplate&quot;:true,&quot;type&quot;:&quot;text&quot;}"/>
          <p:cNvSpPr txBox="1"/>
          <p:nvPr/>
        </p:nvSpPr>
        <p:spPr>
          <a:xfrm rot="0" flipH="0" flipV="0">
            <a:off x="3943350" y="1152525"/>
            <a:ext cx="19431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W5–8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 · 180 min weekly</a:t>
            </a:r>
            <a:endParaRPr/>
          </a:p>
        </p:txBody>
      </p:sp>
      <p:sp>
        <p:nvSpPr>
          <p:cNvPr id="1147" name=""/>
          <p:cNvSpPr/>
          <p:nvPr/>
        </p:nvSpPr>
        <p:spPr>
          <a:xfrm rot="0" flipH="0" flipV="0">
            <a:off x="352425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48" name=""/>
          <p:cNvSpPr/>
          <p:nvPr/>
        </p:nvSpPr>
        <p:spPr>
          <a:xfrm rot="0" flipH="0" flipV="0">
            <a:off x="352425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49" name="" descr="{&quot;isTemplate&quot;:true,&quot;type&quot;:&quot;text&quot;}"/>
          <p:cNvSpPr txBox="1"/>
          <p:nvPr/>
        </p:nvSpPr>
        <p:spPr>
          <a:xfrm rot="0" flipH="0" flipV="0">
            <a:off x="363855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W5</a:t>
            </a:r>
            <a:endParaRPr/>
          </a:p>
        </p:txBody>
      </p:sp>
      <p:sp>
        <p:nvSpPr>
          <p:cNvPr id="1150" name="" descr="{&quot;isTemplate&quot;:true,&quot;type&quot;:&quot;text&quot;}"/>
          <p:cNvSpPr txBox="1"/>
          <p:nvPr/>
        </p:nvSpPr>
        <p:spPr>
          <a:xfrm rot="0" flipH="0" flipV="0">
            <a:off x="401002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Neural Networks</a:t>
            </a:r>
            <a:endParaRPr/>
          </a:p>
        </p:txBody>
      </p:sp>
      <p:sp>
        <p:nvSpPr>
          <p:cNvPr id="1151" name="" descr="{&quot;isTemplate&quot;:true,&quot;type&quot;:&quot;text&quot;}"/>
          <p:cNvSpPr txBox="1"/>
          <p:nvPr/>
        </p:nvSpPr>
        <p:spPr>
          <a:xfrm rot="0" flipH="0" flipV="0">
            <a:off x="401002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Backprop basics</a:t>
            </a:r>
            <a:endParaRPr/>
          </a:p>
        </p:txBody>
      </p:sp>
      <p:sp>
        <p:nvSpPr>
          <p:cNvPr id="1152" name=""/>
          <p:cNvSpPr/>
          <p:nvPr/>
        </p:nvSpPr>
        <p:spPr>
          <a:xfrm rot="0" flipH="0" flipV="0">
            <a:off x="352425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53" name=""/>
          <p:cNvSpPr/>
          <p:nvPr/>
        </p:nvSpPr>
        <p:spPr>
          <a:xfrm rot="0" flipH="0" flipV="0">
            <a:off x="352425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54" name="" descr="{&quot;isTemplate&quot;:true,&quot;type&quot;:&quot;text&quot;}"/>
          <p:cNvSpPr txBox="1"/>
          <p:nvPr/>
        </p:nvSpPr>
        <p:spPr>
          <a:xfrm rot="0" flipH="0" flipV="0">
            <a:off x="363855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W6</a:t>
            </a:r>
            <a:endParaRPr/>
          </a:p>
        </p:txBody>
      </p:sp>
      <p:sp>
        <p:nvSpPr>
          <p:cNvPr id="1155" name="" descr="{&quot;isTemplate&quot;:true,&quot;type&quot;:&quot;text&quot;}"/>
          <p:cNvSpPr txBox="1"/>
          <p:nvPr/>
        </p:nvSpPr>
        <p:spPr>
          <a:xfrm rot="0" flipH="0" flipV="0">
            <a:off x="4010025" y="2619375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PyTorch Training</a:t>
            </a:r>
            <a:endParaRPr/>
          </a:p>
        </p:txBody>
      </p:sp>
      <p:sp>
        <p:nvSpPr>
          <p:cNvPr id="1156" name="" descr="{&quot;isTemplate&quot;:true,&quot;type&quot;:&quot;text&quot;}"/>
          <p:cNvSpPr txBox="1"/>
          <p:nvPr/>
        </p:nvSpPr>
        <p:spPr>
          <a:xfrm rot="0" flipH="0" flipV="0">
            <a:off x="4010025" y="2790825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Tensors · Training loop</a:t>
            </a:r>
            <a:endParaRPr/>
          </a:p>
        </p:txBody>
      </p:sp>
      <p:sp>
        <p:nvSpPr>
          <p:cNvPr id="1157" name=""/>
          <p:cNvSpPr/>
          <p:nvPr/>
        </p:nvSpPr>
        <p:spPr>
          <a:xfrm rot="0" flipH="0" flipV="0">
            <a:off x="352425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58" name=""/>
          <p:cNvSpPr/>
          <p:nvPr/>
        </p:nvSpPr>
        <p:spPr>
          <a:xfrm rot="0" flipH="0" flipV="0">
            <a:off x="352425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59" name="" descr="{&quot;isTemplate&quot;:true,&quot;type&quot;:&quot;text&quot;}"/>
          <p:cNvSpPr txBox="1"/>
          <p:nvPr/>
        </p:nvSpPr>
        <p:spPr>
          <a:xfrm rot="0" flipH="0" flipV="0">
            <a:off x="363855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W7</a:t>
            </a:r>
            <a:endParaRPr/>
          </a:p>
        </p:txBody>
      </p:sp>
      <p:sp>
        <p:nvSpPr>
          <p:cNvPr id="1160" name="" descr="{&quot;isTemplate&quot;:true,&quot;type&quot;:&quot;text&quot;}"/>
          <p:cNvSpPr txBox="1"/>
          <p:nvPr/>
        </p:nvSpPr>
        <p:spPr>
          <a:xfrm rot="0" flipH="0" flipV="0">
            <a:off x="4010025" y="3524250"/>
            <a:ext cx="133350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CNN &amp; Transfer Learning</a:t>
            </a:r>
            <a:endParaRPr/>
          </a:p>
        </p:txBody>
      </p:sp>
      <p:sp>
        <p:nvSpPr>
          <p:cNvPr id="1161" name="" descr="{&quot;isTemplate&quot;:true,&quot;type&quot;:&quot;text&quot;}"/>
          <p:cNvSpPr txBox="1"/>
          <p:nvPr/>
        </p:nvSpPr>
        <p:spPr>
          <a:xfrm rot="0" flipH="0" flipV="0">
            <a:off x="4010025" y="3857625"/>
            <a:ext cx="1333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Convnets · Fine-tuning</a:t>
            </a:r>
            <a:endParaRPr/>
          </a:p>
        </p:txBody>
      </p:sp>
      <p:sp>
        <p:nvSpPr>
          <p:cNvPr id="1162" name=""/>
          <p:cNvSpPr/>
          <p:nvPr/>
        </p:nvSpPr>
        <p:spPr>
          <a:xfrm rot="0" flipH="0" flipV="0">
            <a:off x="5429250" y="3581400"/>
            <a:ext cx="476250" cy="19050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63" name="" descr="{&quot;isTemplate&quot;:true,&quot;type&quot;:&quot;text&quot;}"/>
          <p:cNvSpPr txBox="1"/>
          <p:nvPr/>
        </p:nvSpPr>
        <p:spPr>
          <a:xfrm rot="0" flipH="0" flipV="0">
            <a:off x="5505450" y="3609975"/>
            <a:ext cx="3238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Inter"/>
                <a:ea typeface="Inter"/>
              </a:rPr>
              <a:t>A2 out</a:t>
            </a:r>
            <a:endParaRPr/>
          </a:p>
        </p:txBody>
      </p:sp>
      <p:sp>
        <p:nvSpPr>
          <p:cNvPr id="1164" name=""/>
          <p:cNvSpPr/>
          <p:nvPr/>
        </p:nvSpPr>
        <p:spPr>
          <a:xfrm rot="0" flipH="0" flipV="0">
            <a:off x="352425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65" name=""/>
          <p:cNvSpPr/>
          <p:nvPr/>
        </p:nvSpPr>
        <p:spPr>
          <a:xfrm rot="0" flipH="0" flipV="0">
            <a:off x="352425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66" name="" descr="{&quot;isTemplate&quot;:true,&quot;type&quot;:&quot;text&quot;}"/>
          <p:cNvSpPr txBox="1"/>
          <p:nvPr/>
        </p:nvSpPr>
        <p:spPr>
          <a:xfrm rot="0" flipH="0" flipV="0">
            <a:off x="363855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W8</a:t>
            </a:r>
            <a:endParaRPr/>
          </a:p>
        </p:txBody>
      </p:sp>
      <p:sp>
        <p:nvSpPr>
          <p:cNvPr id="1167" name="" descr="{&quot;isTemplate&quot;:true,&quot;type&quot;:&quot;text&quot;}"/>
          <p:cNvSpPr txBox="1"/>
          <p:nvPr/>
        </p:nvSpPr>
        <p:spPr>
          <a:xfrm rot="0" flipH="0" flipV="0">
            <a:off x="4010025" y="441960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CV Apps · Midterm</a:t>
            </a:r>
            <a:endParaRPr/>
          </a:p>
        </p:txBody>
      </p:sp>
      <p:sp>
        <p:nvSpPr>
          <p:cNvPr id="1168" name="" descr="{&quot;isTemplate&quot;:true,&quot;type&quot;:&quot;text&quot;}"/>
          <p:cNvSpPr txBox="1"/>
          <p:nvPr/>
        </p:nvSpPr>
        <p:spPr>
          <a:xfrm rot="0" flipH="0" flipV="0">
            <a:off x="4010025" y="4591050"/>
            <a:ext cx="12382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Midterm presentations</a:t>
            </a:r>
            <a:endParaRPr/>
          </a:p>
        </p:txBody>
      </p:sp>
      <p:sp>
        <p:nvSpPr>
          <p:cNvPr id="1169" name=""/>
          <p:cNvSpPr/>
          <p:nvPr/>
        </p:nvSpPr>
        <p:spPr>
          <a:xfrm rot="0" flipH="0" flipV="0">
            <a:off x="5334000" y="4476750"/>
            <a:ext cx="571500" cy="19050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70" name="" descr="{&quot;isTemplate&quot;:true,&quot;type&quot;:&quot;text&quot;}"/>
          <p:cNvSpPr txBox="1"/>
          <p:nvPr/>
        </p:nvSpPr>
        <p:spPr>
          <a:xfrm rot="0" flipH="0" flipV="0">
            <a:off x="5410200" y="4505325"/>
            <a:ext cx="4191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Inter"/>
                <a:ea typeface="Inter"/>
              </a:rPr>
              <a:t>Midterm</a:t>
            </a:r>
            <a:endParaRPr/>
          </a:p>
        </p:txBody>
      </p:sp>
      <p:sp>
        <p:nvSpPr>
          <p:cNvPr id="1171" name=""/>
          <p:cNvSpPr/>
          <p:nvPr/>
        </p:nvSpPr>
        <p:spPr>
          <a:xfrm rot="0" flipH="0" flipV="0">
            <a:off x="617220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2" name="" descr="{&quot;isTemplate&quot;:true,&quot;type&quot;:&quot;text&quot;}"/>
          <p:cNvSpPr txBox="1"/>
          <p:nvPr/>
        </p:nvSpPr>
        <p:spPr>
          <a:xfrm rot="0" flipH="0" flipV="0">
            <a:off x="6305550" y="104775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M3</a:t>
            </a:r>
            <a:endParaRPr/>
          </a:p>
        </p:txBody>
      </p:sp>
      <p:sp>
        <p:nvSpPr>
          <p:cNvPr id="1173" name="" descr="{&quot;isTemplate&quot;:true,&quot;type&quot;:&quot;text&quot;}"/>
          <p:cNvSpPr txBox="1"/>
          <p:nvPr/>
        </p:nvSpPr>
        <p:spPr>
          <a:xfrm rot="0" flipH="0" flipV="0">
            <a:off x="6629400" y="990600"/>
            <a:ext cx="1943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Inter"/>
                <a:ea typeface="Inter"/>
              </a:rPr>
              <a:t>NLP &amp; LLMs</a:t>
            </a:r>
            <a:endParaRPr/>
          </a:p>
        </p:txBody>
      </p:sp>
      <p:sp>
        <p:nvSpPr>
          <p:cNvPr id="1174" name="" descr="{&quot;isTemplate&quot;:true,&quot;type&quot;:&quot;text&quot;}"/>
          <p:cNvSpPr txBox="1"/>
          <p:nvPr/>
        </p:nvSpPr>
        <p:spPr>
          <a:xfrm rot="0" flipH="0" flipV="0">
            <a:off x="6629400" y="1152525"/>
            <a:ext cx="19431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W9–12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 · 180 min weekly</a:t>
            </a:r>
            <a:endParaRPr/>
          </a:p>
        </p:txBody>
      </p:sp>
      <p:sp>
        <p:nvSpPr>
          <p:cNvPr id="1175" name=""/>
          <p:cNvSpPr/>
          <p:nvPr/>
        </p:nvSpPr>
        <p:spPr>
          <a:xfrm rot="0" flipH="0" flipV="0">
            <a:off x="621030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76" name=""/>
          <p:cNvSpPr/>
          <p:nvPr/>
        </p:nvSpPr>
        <p:spPr>
          <a:xfrm rot="0" flipH="0" flipV="0">
            <a:off x="621030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7" name="" descr="{&quot;isTemplate&quot;:true,&quot;type&quot;:&quot;text&quot;}"/>
          <p:cNvSpPr txBox="1"/>
          <p:nvPr/>
        </p:nvSpPr>
        <p:spPr>
          <a:xfrm rot="0" flipH="0" flipV="0">
            <a:off x="632460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W9</a:t>
            </a:r>
            <a:endParaRPr/>
          </a:p>
        </p:txBody>
      </p:sp>
      <p:sp>
        <p:nvSpPr>
          <p:cNvPr id="1178" name="" descr="{&quot;isTemplate&quot;:true,&quot;type&quot;:&quot;text&quot;}"/>
          <p:cNvSpPr txBox="1"/>
          <p:nvPr/>
        </p:nvSpPr>
        <p:spPr>
          <a:xfrm rot="0" flipH="0" flipV="0">
            <a:off x="669607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NLP Fundamentals</a:t>
            </a:r>
            <a:endParaRPr/>
          </a:p>
        </p:txBody>
      </p:sp>
      <p:sp>
        <p:nvSpPr>
          <p:cNvPr id="1179" name="" descr="{&quot;isTemplate&quot;:true,&quot;type&quot;:&quot;text&quot;}"/>
          <p:cNvSpPr txBox="1"/>
          <p:nvPr/>
        </p:nvSpPr>
        <p:spPr>
          <a:xfrm rot="0" flipH="0" flipV="0">
            <a:off x="669607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Tokenization · Tasks</a:t>
            </a:r>
            <a:endParaRPr/>
          </a:p>
        </p:txBody>
      </p:sp>
      <p:sp>
        <p:nvSpPr>
          <p:cNvPr id="1180" name=""/>
          <p:cNvSpPr/>
          <p:nvPr/>
        </p:nvSpPr>
        <p:spPr>
          <a:xfrm rot="0" flipH="0" flipV="0">
            <a:off x="621030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81" name=""/>
          <p:cNvSpPr/>
          <p:nvPr/>
        </p:nvSpPr>
        <p:spPr>
          <a:xfrm rot="0" flipH="0" flipV="0">
            <a:off x="621030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2" name="" descr="{&quot;isTemplate&quot;:true,&quot;type&quot;:&quot;text&quot;}"/>
          <p:cNvSpPr txBox="1"/>
          <p:nvPr/>
        </p:nvSpPr>
        <p:spPr>
          <a:xfrm rot="0" flipH="0" flipV="0">
            <a:off x="632460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W10</a:t>
            </a:r>
            <a:endParaRPr/>
          </a:p>
        </p:txBody>
      </p:sp>
      <p:sp>
        <p:nvSpPr>
          <p:cNvPr id="1183" name="" descr="{&quot;isTemplate&quot;:true,&quot;type&quot;:&quot;text&quot;}"/>
          <p:cNvSpPr txBox="1"/>
          <p:nvPr/>
        </p:nvSpPr>
        <p:spPr>
          <a:xfrm rot="0" flipH="0" flipV="0">
            <a:off x="6696075" y="2619375"/>
            <a:ext cx="133350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Embeddings &amp; Seq Models</a:t>
            </a:r>
            <a:endParaRPr/>
          </a:p>
        </p:txBody>
      </p:sp>
      <p:sp>
        <p:nvSpPr>
          <p:cNvPr id="1184" name="" descr="{&quot;isTemplate&quot;:true,&quot;type&quot;:&quot;text&quot;}"/>
          <p:cNvSpPr txBox="1"/>
          <p:nvPr/>
        </p:nvSpPr>
        <p:spPr>
          <a:xfrm rot="0" flipH="0" flipV="0">
            <a:off x="6696075" y="2952750"/>
            <a:ext cx="1333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Word2Vec · RNN / LSTM</a:t>
            </a:r>
            <a:endParaRPr/>
          </a:p>
        </p:txBody>
      </p:sp>
      <p:sp>
        <p:nvSpPr>
          <p:cNvPr id="1185" name=""/>
          <p:cNvSpPr/>
          <p:nvPr/>
        </p:nvSpPr>
        <p:spPr>
          <a:xfrm rot="0" flipH="0" flipV="0">
            <a:off x="8115300" y="2676525"/>
            <a:ext cx="476250" cy="19050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6" name="" descr="{&quot;isTemplate&quot;:true,&quot;type&quot;:&quot;text&quot;}"/>
          <p:cNvSpPr txBox="1"/>
          <p:nvPr/>
        </p:nvSpPr>
        <p:spPr>
          <a:xfrm rot="0" flipH="0" flipV="0">
            <a:off x="8191500" y="2705100"/>
            <a:ext cx="3238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Inter"/>
                <a:ea typeface="Inter"/>
              </a:rPr>
              <a:t>A3 out</a:t>
            </a:r>
            <a:endParaRPr/>
          </a:p>
        </p:txBody>
      </p:sp>
      <p:sp>
        <p:nvSpPr>
          <p:cNvPr id="1187" name=""/>
          <p:cNvSpPr/>
          <p:nvPr/>
        </p:nvSpPr>
        <p:spPr>
          <a:xfrm rot="0" flipH="0" flipV="0">
            <a:off x="621030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88" name=""/>
          <p:cNvSpPr/>
          <p:nvPr/>
        </p:nvSpPr>
        <p:spPr>
          <a:xfrm rot="0" flipH="0" flipV="0">
            <a:off x="621030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9" name="" descr="{&quot;isTemplate&quot;:true,&quot;type&quot;:&quot;text&quot;}"/>
          <p:cNvSpPr txBox="1"/>
          <p:nvPr/>
        </p:nvSpPr>
        <p:spPr>
          <a:xfrm rot="0" flipH="0" flipV="0">
            <a:off x="632460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W11</a:t>
            </a:r>
            <a:endParaRPr/>
          </a:p>
        </p:txBody>
      </p:sp>
      <p:sp>
        <p:nvSpPr>
          <p:cNvPr id="1190" name="" descr="{&quot;isTemplate&quot;:true,&quot;type&quot;:&quot;text&quot;}"/>
          <p:cNvSpPr txBox="1"/>
          <p:nvPr/>
        </p:nvSpPr>
        <p:spPr>
          <a:xfrm rot="0" flipH="0" flipV="0">
            <a:off x="6696075" y="352425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Transformer &amp; BERT</a:t>
            </a:r>
            <a:endParaRPr/>
          </a:p>
        </p:txBody>
      </p:sp>
      <p:sp>
        <p:nvSpPr>
          <p:cNvPr id="1191" name="" descr="{&quot;isTemplate&quot;:true,&quot;type&quot;:&quot;text&quot;}"/>
          <p:cNvSpPr txBox="1"/>
          <p:nvPr/>
        </p:nvSpPr>
        <p:spPr>
          <a:xfrm rot="0" flipH="0" flipV="0">
            <a:off x="6696075" y="369570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Attention · Fine-tuning</a:t>
            </a:r>
            <a:endParaRPr/>
          </a:p>
        </p:txBody>
      </p:sp>
      <p:sp>
        <p:nvSpPr>
          <p:cNvPr id="1192" name=""/>
          <p:cNvSpPr/>
          <p:nvPr/>
        </p:nvSpPr>
        <p:spPr>
          <a:xfrm rot="0" flipH="0" flipV="0">
            <a:off x="621030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93" name=""/>
          <p:cNvSpPr/>
          <p:nvPr/>
        </p:nvSpPr>
        <p:spPr>
          <a:xfrm rot="0" flipH="0" flipV="0">
            <a:off x="621030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94" name="" descr="{&quot;isTemplate&quot;:true,&quot;type&quot;:&quot;text&quot;}"/>
          <p:cNvSpPr txBox="1"/>
          <p:nvPr/>
        </p:nvSpPr>
        <p:spPr>
          <a:xfrm rot="0" flipH="0" flipV="0">
            <a:off x="632460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W12</a:t>
            </a:r>
            <a:endParaRPr/>
          </a:p>
        </p:txBody>
      </p:sp>
      <p:sp>
        <p:nvSpPr>
          <p:cNvPr id="1195" name="" descr="{&quot;isTemplate&quot;:true,&quot;type&quot;:&quot;text&quot;}"/>
          <p:cNvSpPr txBox="1"/>
          <p:nvPr/>
        </p:nvSpPr>
        <p:spPr>
          <a:xfrm rot="0" flipH="0" flipV="0">
            <a:off x="6696075" y="44196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LLM · Prompting · RAG</a:t>
            </a:r>
            <a:endParaRPr/>
          </a:p>
        </p:txBody>
      </p:sp>
      <p:sp>
        <p:nvSpPr>
          <p:cNvPr id="1196" name="" descr="{&quot;isTemplate&quot;:true,&quot;type&quot;:&quot;text&quot;}"/>
          <p:cNvSpPr txBox="1"/>
          <p:nvPr/>
        </p:nvSpPr>
        <p:spPr>
          <a:xfrm rot="0" flipH="0" flipV="0">
            <a:off x="6696075" y="45910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Prompt patterns · RAG</a:t>
            </a:r>
            <a:endParaRPr/>
          </a:p>
        </p:txBody>
      </p:sp>
      <p:sp>
        <p:nvSpPr>
          <p:cNvPr id="1197" name=""/>
          <p:cNvSpPr/>
          <p:nvPr/>
        </p:nvSpPr>
        <p:spPr>
          <a:xfrm rot="0" flipH="0" flipV="0">
            <a:off x="885825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98" name="" descr="{&quot;isTemplate&quot;:true,&quot;type&quot;:&quot;text&quot;}"/>
          <p:cNvSpPr txBox="1"/>
          <p:nvPr/>
        </p:nvSpPr>
        <p:spPr>
          <a:xfrm rot="0" flipH="0" flipV="0">
            <a:off x="8991600" y="104775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M4</a:t>
            </a:r>
            <a:endParaRPr/>
          </a:p>
        </p:txBody>
      </p:sp>
      <p:sp>
        <p:nvSpPr>
          <p:cNvPr id="1199" name="" descr="{&quot;isTemplate&quot;:true,&quot;type&quot;:&quot;text&quot;}"/>
          <p:cNvSpPr txBox="1"/>
          <p:nvPr/>
        </p:nvSpPr>
        <p:spPr>
          <a:xfrm rot="0" flipH="0" flipV="0">
            <a:off x="9315450" y="990600"/>
            <a:ext cx="1943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Inter"/>
                <a:ea typeface="Inter"/>
              </a:rPr>
              <a:t>AI App Engineering</a:t>
            </a:r>
            <a:endParaRPr/>
          </a:p>
        </p:txBody>
      </p:sp>
      <p:sp>
        <p:nvSpPr>
          <p:cNvPr id="1200" name="" descr="{&quot;isTemplate&quot;:true,&quot;type&quot;:&quot;text&quot;}"/>
          <p:cNvSpPr txBox="1"/>
          <p:nvPr/>
        </p:nvSpPr>
        <p:spPr>
          <a:xfrm rot="0" flipH="0" flipV="0">
            <a:off x="9315450" y="1152525"/>
            <a:ext cx="19431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W13–16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 · 180 min weekly</a:t>
            </a:r>
            <a:endParaRPr/>
          </a:p>
        </p:txBody>
      </p:sp>
      <p:sp>
        <p:nvSpPr>
          <p:cNvPr id="1201" name=""/>
          <p:cNvSpPr/>
          <p:nvPr/>
        </p:nvSpPr>
        <p:spPr>
          <a:xfrm rot="0" flipH="0" flipV="0">
            <a:off x="889635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02" name=""/>
          <p:cNvSpPr/>
          <p:nvPr/>
        </p:nvSpPr>
        <p:spPr>
          <a:xfrm rot="0" flipH="0" flipV="0">
            <a:off x="889635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03" name="" descr="{&quot;isTemplate&quot;:true,&quot;type&quot;:&quot;text&quot;}"/>
          <p:cNvSpPr txBox="1"/>
          <p:nvPr/>
        </p:nvSpPr>
        <p:spPr>
          <a:xfrm rot="0" flipH="0" flipV="0">
            <a:off x="901065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W13</a:t>
            </a:r>
            <a:endParaRPr/>
          </a:p>
        </p:txBody>
      </p:sp>
      <p:sp>
        <p:nvSpPr>
          <p:cNvPr id="1204" name="" descr="{&quot;isTemplate&quot;:true,&quot;type&quot;:&quot;text&quot;}"/>
          <p:cNvSpPr txBox="1"/>
          <p:nvPr/>
        </p:nvSpPr>
        <p:spPr>
          <a:xfrm rot="0" flipH="0" flipV="0">
            <a:off x="938212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GenAI &amp; Agents</a:t>
            </a:r>
            <a:endParaRPr/>
          </a:p>
        </p:txBody>
      </p:sp>
      <p:sp>
        <p:nvSpPr>
          <p:cNvPr id="1205" name="" descr="{&quot;isTemplate&quot;:true,&quot;type&quot;:&quot;text&quot;}"/>
          <p:cNvSpPr txBox="1"/>
          <p:nvPr/>
        </p:nvSpPr>
        <p:spPr>
          <a:xfrm rot="0" flipH="0" flipV="0">
            <a:off x="938212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Agents · Tool use</a:t>
            </a:r>
            <a:endParaRPr/>
          </a:p>
        </p:txBody>
      </p:sp>
      <p:sp>
        <p:nvSpPr>
          <p:cNvPr id="1206" name=""/>
          <p:cNvSpPr/>
          <p:nvPr/>
        </p:nvSpPr>
        <p:spPr>
          <a:xfrm rot="0" flipH="0" flipV="0">
            <a:off x="889635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07" name=""/>
          <p:cNvSpPr/>
          <p:nvPr/>
        </p:nvSpPr>
        <p:spPr>
          <a:xfrm rot="0" flipH="0" flipV="0">
            <a:off x="889635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08" name="" descr="{&quot;isTemplate&quot;:true,&quot;type&quot;:&quot;text&quot;}"/>
          <p:cNvSpPr txBox="1"/>
          <p:nvPr/>
        </p:nvSpPr>
        <p:spPr>
          <a:xfrm rot="0" flipH="0" flipV="0">
            <a:off x="901065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W14</a:t>
            </a:r>
            <a:endParaRPr/>
          </a:p>
        </p:txBody>
      </p:sp>
      <p:sp>
        <p:nvSpPr>
          <p:cNvPr id="1209" name="" descr="{&quot;isTemplate&quot;:true,&quot;type&quot;:&quot;text&quot;}"/>
          <p:cNvSpPr txBox="1"/>
          <p:nvPr/>
        </p:nvSpPr>
        <p:spPr>
          <a:xfrm rot="0" flipH="0" flipV="0">
            <a:off x="9382125" y="2619375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Model Deployment</a:t>
            </a:r>
            <a:endParaRPr/>
          </a:p>
        </p:txBody>
      </p:sp>
      <p:sp>
        <p:nvSpPr>
          <p:cNvPr id="1210" name="" descr="{&quot;isTemplate&quot;:true,&quot;type&quot;:&quot;text&quot;}"/>
          <p:cNvSpPr txBox="1"/>
          <p:nvPr/>
        </p:nvSpPr>
        <p:spPr>
          <a:xfrm rot="0" flipH="0" flipV="0">
            <a:off x="9382125" y="2790825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FastAPI · Docker</a:t>
            </a:r>
            <a:endParaRPr/>
          </a:p>
        </p:txBody>
      </p:sp>
      <p:sp>
        <p:nvSpPr>
          <p:cNvPr id="1211" name=""/>
          <p:cNvSpPr/>
          <p:nvPr/>
        </p:nvSpPr>
        <p:spPr>
          <a:xfrm rot="0" flipH="0" flipV="0">
            <a:off x="889635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12" name=""/>
          <p:cNvSpPr/>
          <p:nvPr/>
        </p:nvSpPr>
        <p:spPr>
          <a:xfrm rot="0" flipH="0" flipV="0">
            <a:off x="889635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13" name="" descr="{&quot;isTemplate&quot;:true,&quot;type&quot;:&quot;text&quot;}"/>
          <p:cNvSpPr txBox="1"/>
          <p:nvPr/>
        </p:nvSpPr>
        <p:spPr>
          <a:xfrm rot="0" flipH="0" flipV="0">
            <a:off x="901065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W15</a:t>
            </a:r>
            <a:endParaRPr/>
          </a:p>
        </p:txBody>
      </p:sp>
      <p:sp>
        <p:nvSpPr>
          <p:cNvPr id="1214" name="" descr="{&quot;isTemplate&quot;:true,&quot;type&quot;:&quot;text&quot;}"/>
          <p:cNvSpPr txBox="1"/>
          <p:nvPr/>
        </p:nvSpPr>
        <p:spPr>
          <a:xfrm rot="0" flipH="0" flipV="0">
            <a:off x="9382125" y="352425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MLOps</a:t>
            </a:r>
            <a:endParaRPr/>
          </a:p>
        </p:txBody>
      </p:sp>
      <p:sp>
        <p:nvSpPr>
          <p:cNvPr id="1215" name="" descr="{&quot;isTemplate&quot;:true,&quot;type&quot;:&quot;text&quot;}"/>
          <p:cNvSpPr txBox="1"/>
          <p:nvPr/>
        </p:nvSpPr>
        <p:spPr>
          <a:xfrm rot="0" flipH="0" flipV="0">
            <a:off x="9382125" y="369570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Monitoring · CI/CD</a:t>
            </a:r>
            <a:endParaRPr/>
          </a:p>
        </p:txBody>
      </p:sp>
      <p:sp>
        <p:nvSpPr>
          <p:cNvPr id="1216" name=""/>
          <p:cNvSpPr/>
          <p:nvPr/>
        </p:nvSpPr>
        <p:spPr>
          <a:xfrm rot="0" flipH="0" flipV="0">
            <a:off x="889635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17" name=""/>
          <p:cNvSpPr/>
          <p:nvPr/>
        </p:nvSpPr>
        <p:spPr>
          <a:xfrm rot="0" flipH="0" flipV="0">
            <a:off x="889635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18" name="" descr="{&quot;isTemplate&quot;:true,&quot;type&quot;:&quot;text&quot;}"/>
          <p:cNvSpPr txBox="1"/>
          <p:nvPr/>
        </p:nvSpPr>
        <p:spPr>
          <a:xfrm rot="0" flipH="0" flipV="0">
            <a:off x="901065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W16</a:t>
            </a:r>
            <a:endParaRPr/>
          </a:p>
        </p:txBody>
      </p:sp>
      <p:sp>
        <p:nvSpPr>
          <p:cNvPr id="1219" name="" descr="{&quot;isTemplate&quot;:true,&quot;type&quot;:&quot;text&quot;}"/>
          <p:cNvSpPr txBox="1"/>
          <p:nvPr/>
        </p:nvSpPr>
        <p:spPr>
          <a:xfrm rot="0" flipH="0" flipV="0">
            <a:off x="9382125" y="4419600"/>
            <a:ext cx="1171575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Capstone Showcase</a:t>
            </a:r>
            <a:endParaRPr/>
          </a:p>
        </p:txBody>
      </p:sp>
      <p:sp>
        <p:nvSpPr>
          <p:cNvPr id="1220" name="" descr="{&quot;isTemplate&quot;:true,&quot;type&quot;:&quot;text&quot;}"/>
          <p:cNvSpPr txBox="1"/>
          <p:nvPr/>
        </p:nvSpPr>
        <p:spPr>
          <a:xfrm rot="0" flipH="0" flipV="0">
            <a:off x="9382125" y="4752975"/>
            <a:ext cx="1171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Final presentations</a:t>
            </a:r>
            <a:endParaRPr/>
          </a:p>
        </p:txBody>
      </p:sp>
      <p:sp>
        <p:nvSpPr>
          <p:cNvPr id="1221" name=""/>
          <p:cNvSpPr/>
          <p:nvPr/>
        </p:nvSpPr>
        <p:spPr>
          <a:xfrm rot="0" flipH="0" flipV="0">
            <a:off x="10639425" y="4476750"/>
            <a:ext cx="638175" cy="190500"/>
          </a:xfrm>
          <a:prstGeom prst="roundRect">
            <a:avLst>
              <a:gd name="adj" fmla="val 3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22" name="" descr="{&quot;isTemplate&quot;:true,&quot;type&quot;:&quot;text&quot;}"/>
          <p:cNvSpPr txBox="1"/>
          <p:nvPr/>
        </p:nvSpPr>
        <p:spPr>
          <a:xfrm rot="0" flipH="0" flipV="0">
            <a:off x="10715625" y="4505325"/>
            <a:ext cx="4857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Inter"/>
                <a:ea typeface="Inter"/>
              </a:rPr>
              <a:t>Capstone</a:t>
            </a:r>
            <a:endParaRPr/>
          </a:p>
        </p:txBody>
      </p:sp>
      <p:sp>
        <p:nvSpPr>
          <p:cNvPr id="1223" name=""/>
          <p:cNvSpPr/>
          <p:nvPr/>
        </p:nvSpPr>
        <p:spPr>
          <a:xfrm rot="0" flipH="0" flipV="0">
            <a:off x="800100" y="5238750"/>
            <a:ext cx="10591800" cy="762000"/>
          </a:xfrm>
          <a:prstGeom prst="roundRect">
            <a:avLst>
              <a:gd name="adj" fmla="val 150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24" name="" descr="{&quot;isTemplate&quot;:true,&quot;type&quot;:&quot;text&quot;}"/>
          <p:cNvSpPr txBox="1"/>
          <p:nvPr/>
        </p:nvSpPr>
        <p:spPr>
          <a:xfrm rot="0" flipH="0" flipV="0">
            <a:off x="990600" y="5543550"/>
            <a:ext cx="657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Inter"/>
                <a:ea typeface="Inter"/>
              </a:rPr>
              <a:t>Key Dates</a:t>
            </a:r>
            <a:endParaRPr/>
          </a:p>
        </p:txBody>
      </p:sp>
      <p:sp>
        <p:nvSpPr>
          <p:cNvPr id="1225" name=""/>
          <p:cNvSpPr/>
          <p:nvPr/>
        </p:nvSpPr>
        <p:spPr>
          <a:xfrm rot="0" flipH="0" flipV="0">
            <a:off x="1724025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6" name="" descr="{&quot;isTemplate&quot;:true,&quot;type&quot;:&quot;text&quot;}"/>
          <p:cNvSpPr txBox="1"/>
          <p:nvPr/>
        </p:nvSpPr>
        <p:spPr>
          <a:xfrm rot="0" flipH="0" flipV="0">
            <a:off x="1800225" y="5553075"/>
            <a:ext cx="171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W4</a:t>
            </a:r>
            <a:endParaRPr/>
          </a:p>
        </p:txBody>
      </p:sp>
      <p:sp>
        <p:nvSpPr>
          <p:cNvPr id="1227" name="" descr="{&quot;isTemplate&quot;:true,&quot;type&quot;:&quot;text&quot;}"/>
          <p:cNvSpPr txBox="1"/>
          <p:nvPr/>
        </p:nvSpPr>
        <p:spPr>
          <a:xfrm rot="0" flipH="0" flipV="0">
            <a:off x="2124075" y="5543550"/>
            <a:ext cx="1438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Assignment 1 released</a:t>
            </a:r>
            <a:endParaRPr/>
          </a:p>
        </p:txBody>
      </p:sp>
      <p:sp>
        <p:nvSpPr>
          <p:cNvPr id="1228" name=""/>
          <p:cNvSpPr/>
          <p:nvPr/>
        </p:nvSpPr>
        <p:spPr>
          <a:xfrm rot="0" flipH="0" flipV="0">
            <a:off x="3638550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9" name="" descr="{&quot;isTemplate&quot;:true,&quot;type&quot;:&quot;text&quot;}"/>
          <p:cNvSpPr txBox="1"/>
          <p:nvPr/>
        </p:nvSpPr>
        <p:spPr>
          <a:xfrm rot="0" flipH="0" flipV="0">
            <a:off x="3714750" y="5553075"/>
            <a:ext cx="171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W7</a:t>
            </a:r>
            <a:endParaRPr/>
          </a:p>
        </p:txBody>
      </p:sp>
      <p:sp>
        <p:nvSpPr>
          <p:cNvPr id="1230" name="" descr="{&quot;isTemplate&quot;:true,&quot;type&quot;:&quot;text&quot;}"/>
          <p:cNvSpPr txBox="1"/>
          <p:nvPr/>
        </p:nvSpPr>
        <p:spPr>
          <a:xfrm rot="0" flipH="0" flipV="0">
            <a:off x="4038600" y="5543550"/>
            <a:ext cx="1428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Assignment 2 released</a:t>
            </a:r>
            <a:endParaRPr/>
          </a:p>
        </p:txBody>
      </p:sp>
      <p:sp>
        <p:nvSpPr>
          <p:cNvPr id="1231" name=""/>
          <p:cNvSpPr/>
          <p:nvPr/>
        </p:nvSpPr>
        <p:spPr>
          <a:xfrm rot="0" flipH="0" flipV="0">
            <a:off x="5543550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32" name="" descr="{&quot;isTemplate&quot;:true,&quot;type&quot;:&quot;text&quot;}"/>
          <p:cNvSpPr txBox="1"/>
          <p:nvPr/>
        </p:nvSpPr>
        <p:spPr>
          <a:xfrm rot="0" flipH="0" flipV="0">
            <a:off x="5619750" y="5553075"/>
            <a:ext cx="171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W8</a:t>
            </a:r>
            <a:endParaRPr/>
          </a:p>
        </p:txBody>
      </p:sp>
      <p:sp>
        <p:nvSpPr>
          <p:cNvPr id="1233" name="" descr="{&quot;isTemplate&quot;:true,&quot;type&quot;:&quot;text&quot;}"/>
          <p:cNvSpPr txBox="1"/>
          <p:nvPr/>
        </p:nvSpPr>
        <p:spPr>
          <a:xfrm rot="0" flipH="0" flipV="0">
            <a:off x="5943600" y="5543550"/>
            <a:ext cx="1438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Midterm presentations</a:t>
            </a:r>
            <a:endParaRPr/>
          </a:p>
        </p:txBody>
      </p:sp>
      <p:sp>
        <p:nvSpPr>
          <p:cNvPr id="1234" name=""/>
          <p:cNvSpPr/>
          <p:nvPr/>
        </p:nvSpPr>
        <p:spPr>
          <a:xfrm rot="0" flipH="0" flipV="0">
            <a:off x="7458075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5" name="" descr="{&quot;isTemplate&quot;:true,&quot;type&quot;:&quot;text&quot;}"/>
          <p:cNvSpPr txBox="1"/>
          <p:nvPr/>
        </p:nvSpPr>
        <p:spPr>
          <a:xfrm rot="0" flipH="0" flipV="0">
            <a:off x="7505700" y="5553075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W10</a:t>
            </a:r>
            <a:endParaRPr/>
          </a:p>
        </p:txBody>
      </p:sp>
      <p:sp>
        <p:nvSpPr>
          <p:cNvPr id="1236" name="" descr="{&quot;isTemplate&quot;:true,&quot;type&quot;:&quot;text&quot;}"/>
          <p:cNvSpPr txBox="1"/>
          <p:nvPr/>
        </p:nvSpPr>
        <p:spPr>
          <a:xfrm rot="0" flipH="0" flipV="0">
            <a:off x="7858125" y="5543550"/>
            <a:ext cx="1428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Assignment 3 released</a:t>
            </a:r>
            <a:endParaRPr/>
          </a:p>
        </p:txBody>
      </p:sp>
      <p:sp>
        <p:nvSpPr>
          <p:cNvPr id="1237" name=""/>
          <p:cNvSpPr/>
          <p:nvPr/>
        </p:nvSpPr>
        <p:spPr>
          <a:xfrm rot="0" flipH="0" flipV="0">
            <a:off x="9439275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38" name="" descr="{&quot;isTemplate&quot;:true,&quot;type&quot;:&quot;text&quot;}"/>
          <p:cNvSpPr txBox="1"/>
          <p:nvPr/>
        </p:nvSpPr>
        <p:spPr>
          <a:xfrm rot="0" flipH="0" flipV="0">
            <a:off x="9486900" y="5553075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W16</a:t>
            </a:r>
            <a:endParaRPr/>
          </a:p>
        </p:txBody>
      </p:sp>
      <p:sp>
        <p:nvSpPr>
          <p:cNvPr id="1239" name="" descr="{&quot;isTemplate&quot;:true,&quot;type&quot;:&quot;text&quot;}"/>
          <p:cNvSpPr txBox="1"/>
          <p:nvPr/>
        </p:nvSpPr>
        <p:spPr>
          <a:xfrm rot="0" flipH="0" flipV="0">
            <a:off x="9839325" y="5543550"/>
            <a:ext cx="1295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Capstone showcase</a:t>
            </a:r>
            <a:endParaRPr/>
          </a:p>
        </p:txBody>
      </p:sp>
      <p:sp>
        <p:nvSpPr>
          <p:cNvPr id="124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241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05 / 32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42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Grading Details &amp;amp; Integrity&lt;/Text&gt;&#10;    &lt;Text style={{ fontSize: 15, color: 'rgba(255,255,255,0.85)' }}&gt;Module 1 · Week 1&lt;/Text&gt;&#10;  &lt;/Box&gt;&#10;  &lt;Box style={{ position: 'absolute', top: 96, left: 0, width: '100%', height: 550, padding: '6px 84px', flexDirection: 'row', gap: 24 }}&gt;&#10;    &lt;Box style={{ flex: 1.25, gap: 10, justifyContent: 'center' }}&gt;&#10;      &lt;Text style={{ fontSize: 18, color: '#8B97A8', fontWeight: '600', marginBottom: 2 }}&gt;How Each Point Is Earned&lt;/Text&gt;&#10;      {[&#10;        { n: 'Assignments ×3', v: '30%', d: '10% each: code + short report + reproducible run', c: '#1E4FA8' },&#10;        { n: 'Midterm Project', v: '15%', d: 'Team of 2–3 · 5-min live demo + code', c: '#3D7BD9' },&#10;        { n: 'Capstone Project', v: '35%', d: 'Proposal 5% + demo 15% + report 15%', c: '#0E3F8C' },&#10;        { n: 'Lab &amp; Quizzes', v: '20%', d: 'Attendance &amp; participation 10% + in-class quizzes 10%', c: '#8B97A8' },&#10;      ].map((g, i) =&gt; (&#10;        &lt;Box key={i} style={{ background: '#F7F9FC', border: '1px solid #E5E7EB', borderLeft: '5px solid ' + g.c, borderRadius: 10, padding: '13px 18px' }}&gt;&#10;          &lt;Box style={{ flexDirection: 'row', justifyContent: 'space-between', alignItems: 'baseline' }}&gt;&#10;            &lt;Text style={{ fontSize: 18, color: '#1A2230', fontWeight: 'bold' }}&gt;{g.n}&lt;/Text&gt;&#10;            &lt;Text style={{ fontSize: 20, color: g.c, fontWeight: 'bold' }}&gt;{g.v}&lt;/Text&gt;&#10;          &lt;/Box&gt;&#10;          &lt;Text style={{ fontSize: 14, color: '#4A5568', marginTop: 3 }}&gt;{g.d}&lt;/Text&gt;&#10;        &lt;/Box&gt;&#10;      ))}&#10;      &lt;Box style={{ background: '#FFFFFF', border: '1px dashed #8B97A8', borderRadius: 8, padding: '9px 16px' }}&gt;&#10;        &lt;Text style={{ fontSize: 14, color: '#4A5568' }}&gt;Late policy: −10% per 24 h late; not accepted after 72 h.&lt;/Text&gt;&#10;      &lt;/Box&gt;&#10;    &lt;/Box&gt;&#10;    &lt;Box style={{ flex: 1, background: '#F0F5FC', border: '1px solid #D6DCE5', borderRadius: 14, padding: '24px 26px', justifyContent: 'center' }}&gt;&#10;      &lt;Text style={{ fontSize: 20, color: '#0E3F8C', fontWeight: 'bold' }}&gt;Academic Integrity&lt;/Text&gt;&#10;      &lt;Box style={{ width: '100%', height: 2, background: '#D6DCE5', marginTop: 12, marginBottom: 14 }} /&gt;&#10;      {[&#10;        { i: 'robot', t: 'AI tools allowed — but declared', d: 'State which parts were AI-assisted when you submit. Undeclared use = a violation.' },&#10;        { i: 'user-check', t: 'You must be able to explain every line you submit', d: 'Random spot-checks: if you can\u2019t explain it, that part scores zero.' },&#10;        { i: 'ban', t: 'Plagiarism or ghost-writing = zero for that item', d: 'Includes copying classmates or submitting ready-made answers found online.' },&#10;        { i: 'handshake', t: 'Team projects: state the division of work', d: 'Each member\u2019s responsibility and contribution must be clear in the report.' },&#10;      ].map((r, i) =&gt; (&#10;        &lt;Box key={i} style={{ flexDirection: 'row', gap: 12, alignItems: 'flex-start', marginBottom: 13 }}&gt;&#10;          &lt;Box style={{ width: 36, height: 36, borderRadius: 10, background: '#FFFFFF', border: '1px solid #D6DCE5', justifyContent: 'center', alignItems: 'center', flexShrink: 0 }}&gt;&#10;            &lt;FAIcon name={r.i} style={{ fill: '#1E4FA8', width: 18, height: 18 }} /&gt;&#10;          &lt;/Box&gt;&#10;          &lt;Box style={{ flex: 1 }}&gt;&#10;            &lt;Text style={{ fontSize: 16, color: '#1A2230', fontWeight: 'bold' }}&gt;{r.t}&lt;/Text&gt;&#10;            &lt;Text style={{ fontSize: 13, color: '#4A5568', marginTop: 2, lineHeight: 1.5 }}&gt;{r.d}&lt;/Text&gt;&#10;          &lt;/Box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4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4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38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Grading Details &amp; Integrity</a:t>
            </a:r>
            <a:endParaRPr/>
          </a:p>
        </p:txBody>
      </p:sp>
      <p:sp>
        <p:nvSpPr>
          <p:cNvPr id="124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1247" name="" descr="{&quot;isTemplate&quot;:true,&quot;type&quot;:&quot;text&quot;}"/>
          <p:cNvSpPr txBox="1"/>
          <p:nvPr/>
        </p:nvSpPr>
        <p:spPr>
          <a:xfrm rot="0" flipH="0" flipV="0">
            <a:off x="800100" y="1685925"/>
            <a:ext cx="575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How Each Point Is Earned</a:t>
            </a:r>
            <a:endParaRPr/>
          </a:p>
        </p:txBody>
      </p:sp>
      <p:sp>
        <p:nvSpPr>
          <p:cNvPr id="1248" name=""/>
          <p:cNvSpPr/>
          <p:nvPr/>
        </p:nvSpPr>
        <p:spPr>
          <a:xfrm rot="0" flipH="0" flipV="0">
            <a:off x="847725" y="2009775"/>
            <a:ext cx="57531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49" name=""/>
          <p:cNvSpPr/>
          <p:nvPr/>
        </p:nvSpPr>
        <p:spPr>
          <a:xfrm rot="0" flipH="0" flipV="0">
            <a:off x="847725" y="2009775"/>
            <a:ext cx="5753100" cy="666750"/>
          </a:xfrm>
          <a:custGeom>
            <a:pathLst>
              <a:path w="604" h="7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5"/>
                </a:lnTo>
                <a:cubicBezTo>
                  <a:pt x="5" y="67"/>
                  <a:pt x="7" y="69"/>
                  <a:pt x="9" y="70"/>
                </a:cubicBezTo>
                <a:cubicBezTo>
                  <a:pt x="4" y="69"/>
                  <a:pt x="0" y="65"/>
                  <a:pt x="0" y="6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50" name="" descr="{&quot;isTemplate&quot;:true,&quot;type&quot;:&quot;text&quot;}"/>
          <p:cNvSpPr txBox="1"/>
          <p:nvPr/>
        </p:nvSpPr>
        <p:spPr>
          <a:xfrm rot="0" flipH="0" flipV="0">
            <a:off x="1019175" y="2133600"/>
            <a:ext cx="1314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Assignments ×3</a:t>
            </a:r>
            <a:endParaRPr/>
          </a:p>
        </p:txBody>
      </p:sp>
      <p:sp>
        <p:nvSpPr>
          <p:cNvPr id="1251" name="" descr="{&quot;isTemplate&quot;:true,&quot;type&quot;:&quot;text&quot;}"/>
          <p:cNvSpPr txBox="1"/>
          <p:nvPr/>
        </p:nvSpPr>
        <p:spPr>
          <a:xfrm rot="0" flipH="0" flipV="0">
            <a:off x="5972175" y="2133600"/>
            <a:ext cx="409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Inter"/>
                <a:ea typeface="Inter"/>
              </a:rPr>
              <a:t>30%</a:t>
            </a:r>
            <a:endParaRPr/>
          </a:p>
        </p:txBody>
      </p:sp>
      <p:sp>
        <p:nvSpPr>
          <p:cNvPr id="1252" name="" descr="{&quot;isTemplate&quot;:true,&quot;type&quot;:&quot;text&quot;}"/>
          <p:cNvSpPr txBox="1"/>
          <p:nvPr/>
        </p:nvSpPr>
        <p:spPr>
          <a:xfrm rot="0" flipH="0" flipV="0">
            <a:off x="1019175" y="23907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10% each: code + short report + reproducible run</a:t>
            </a:r>
            <a:endParaRPr/>
          </a:p>
        </p:txBody>
      </p:sp>
      <p:sp>
        <p:nvSpPr>
          <p:cNvPr id="1253" name=""/>
          <p:cNvSpPr/>
          <p:nvPr/>
        </p:nvSpPr>
        <p:spPr>
          <a:xfrm rot="0" flipH="0" flipV="0">
            <a:off x="847725" y="2771775"/>
            <a:ext cx="57531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54" name=""/>
          <p:cNvSpPr/>
          <p:nvPr/>
        </p:nvSpPr>
        <p:spPr>
          <a:xfrm rot="0" flipH="0" flipV="0">
            <a:off x="847725" y="2771775"/>
            <a:ext cx="5753100" cy="666750"/>
          </a:xfrm>
          <a:custGeom>
            <a:pathLst>
              <a:path w="604" h="7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5"/>
                </a:lnTo>
                <a:cubicBezTo>
                  <a:pt x="5" y="67"/>
                  <a:pt x="7" y="69"/>
                  <a:pt x="9" y="70"/>
                </a:cubicBezTo>
                <a:cubicBezTo>
                  <a:pt x="4" y="69"/>
                  <a:pt x="0" y="65"/>
                  <a:pt x="0" y="6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55" name="" descr="{&quot;isTemplate&quot;:true,&quot;type&quot;:&quot;text&quot;}"/>
          <p:cNvSpPr txBox="1"/>
          <p:nvPr/>
        </p:nvSpPr>
        <p:spPr>
          <a:xfrm rot="0" flipH="0" flipV="0">
            <a:off x="1019175" y="2895600"/>
            <a:ext cx="13239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Midterm Project</a:t>
            </a:r>
            <a:endParaRPr/>
          </a:p>
        </p:txBody>
      </p:sp>
      <p:sp>
        <p:nvSpPr>
          <p:cNvPr id="1256" name="" descr="{&quot;isTemplate&quot;:true,&quot;type&quot;:&quot;text&quot;}"/>
          <p:cNvSpPr txBox="1"/>
          <p:nvPr/>
        </p:nvSpPr>
        <p:spPr>
          <a:xfrm rot="0" flipH="0" flipV="0">
            <a:off x="5972175" y="2895600"/>
            <a:ext cx="409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D7BD9"/>
                </a:solidFill>
                <a:latin typeface="Inter"/>
                <a:ea typeface="Inter"/>
              </a:rPr>
              <a:t>15%</a:t>
            </a:r>
            <a:endParaRPr/>
          </a:p>
        </p:txBody>
      </p:sp>
      <p:sp>
        <p:nvSpPr>
          <p:cNvPr id="1257" name="" descr="{&quot;isTemplate&quot;:true,&quot;type&quot;:&quot;text&quot;}"/>
          <p:cNvSpPr txBox="1"/>
          <p:nvPr/>
        </p:nvSpPr>
        <p:spPr>
          <a:xfrm rot="0" flipH="0" flipV="0">
            <a:off x="1019175" y="31527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Team of 2–3 · 5-min live demo + code</a:t>
            </a:r>
            <a:endParaRPr/>
          </a:p>
        </p:txBody>
      </p:sp>
      <p:sp>
        <p:nvSpPr>
          <p:cNvPr id="1258" name=""/>
          <p:cNvSpPr/>
          <p:nvPr/>
        </p:nvSpPr>
        <p:spPr>
          <a:xfrm rot="0" flipH="0" flipV="0">
            <a:off x="847725" y="3533775"/>
            <a:ext cx="57531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59" name=""/>
          <p:cNvSpPr/>
          <p:nvPr/>
        </p:nvSpPr>
        <p:spPr>
          <a:xfrm rot="0" flipH="0" flipV="0">
            <a:off x="847725" y="3533775"/>
            <a:ext cx="5753100" cy="666750"/>
          </a:xfrm>
          <a:custGeom>
            <a:pathLst>
              <a:path w="604" h="7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5"/>
                </a:lnTo>
                <a:cubicBezTo>
                  <a:pt x="5" y="67"/>
                  <a:pt x="7" y="69"/>
                  <a:pt x="9" y="70"/>
                </a:cubicBezTo>
                <a:cubicBezTo>
                  <a:pt x="4" y="69"/>
                  <a:pt x="0" y="65"/>
                  <a:pt x="0" y="6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60" name="" descr="{&quot;isTemplate&quot;:true,&quot;type&quot;:&quot;text&quot;}"/>
          <p:cNvSpPr txBox="1"/>
          <p:nvPr/>
        </p:nvSpPr>
        <p:spPr>
          <a:xfrm rot="0" flipH="0" flipV="0">
            <a:off x="1019175" y="365760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Capstone Project</a:t>
            </a:r>
            <a:endParaRPr/>
          </a:p>
        </p:txBody>
      </p:sp>
      <p:sp>
        <p:nvSpPr>
          <p:cNvPr id="1261" name="" descr="{&quot;isTemplate&quot;:true,&quot;type&quot;:&quot;text&quot;}"/>
          <p:cNvSpPr txBox="1"/>
          <p:nvPr/>
        </p:nvSpPr>
        <p:spPr>
          <a:xfrm rot="0" flipH="0" flipV="0">
            <a:off x="5972175" y="3657600"/>
            <a:ext cx="409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35%</a:t>
            </a:r>
            <a:endParaRPr/>
          </a:p>
        </p:txBody>
      </p:sp>
      <p:sp>
        <p:nvSpPr>
          <p:cNvPr id="1262" name="" descr="{&quot;isTemplate&quot;:true,&quot;type&quot;:&quot;text&quot;}"/>
          <p:cNvSpPr txBox="1"/>
          <p:nvPr/>
        </p:nvSpPr>
        <p:spPr>
          <a:xfrm rot="0" flipH="0" flipV="0">
            <a:off x="1019175" y="39147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Proposal 5% + demo 15% + report 15%</a:t>
            </a:r>
            <a:endParaRPr/>
          </a:p>
        </p:txBody>
      </p:sp>
      <p:sp>
        <p:nvSpPr>
          <p:cNvPr id="1263" name=""/>
          <p:cNvSpPr/>
          <p:nvPr/>
        </p:nvSpPr>
        <p:spPr>
          <a:xfrm rot="0" flipH="0" flipV="0">
            <a:off x="847725" y="4295775"/>
            <a:ext cx="57531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64" name=""/>
          <p:cNvSpPr/>
          <p:nvPr/>
        </p:nvSpPr>
        <p:spPr>
          <a:xfrm rot="0" flipH="0" flipV="0">
            <a:off x="847725" y="4295775"/>
            <a:ext cx="5753100" cy="666750"/>
          </a:xfrm>
          <a:custGeom>
            <a:pathLst>
              <a:path w="604" h="7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5"/>
                </a:lnTo>
                <a:cubicBezTo>
                  <a:pt x="5" y="67"/>
                  <a:pt x="7" y="69"/>
                  <a:pt x="9" y="70"/>
                </a:cubicBezTo>
                <a:cubicBezTo>
                  <a:pt x="4" y="69"/>
                  <a:pt x="0" y="65"/>
                  <a:pt x="0" y="6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/>
        </p:txBody>
      </p:sp>
      <p:sp>
        <p:nvSpPr>
          <p:cNvPr id="1265" name="" descr="{&quot;isTemplate&quot;:true,&quot;type&quot;:&quot;text&quot;}"/>
          <p:cNvSpPr txBox="1"/>
          <p:nvPr/>
        </p:nvSpPr>
        <p:spPr>
          <a:xfrm rot="0" flipH="0" flipV="0">
            <a:off x="1019175" y="4419600"/>
            <a:ext cx="1171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Lab &amp; Quizzes</a:t>
            </a:r>
            <a:endParaRPr/>
          </a:p>
        </p:txBody>
      </p:sp>
      <p:sp>
        <p:nvSpPr>
          <p:cNvPr id="1266" name="" descr="{&quot;isTemplate&quot;:true,&quot;type&quot;:&quot;text&quot;}"/>
          <p:cNvSpPr txBox="1"/>
          <p:nvPr/>
        </p:nvSpPr>
        <p:spPr>
          <a:xfrm rot="0" flipH="0" flipV="0">
            <a:off x="5972175" y="4419600"/>
            <a:ext cx="409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Inter"/>
                <a:ea typeface="Inter"/>
              </a:rPr>
              <a:t>20%</a:t>
            </a:r>
            <a:endParaRPr/>
          </a:p>
        </p:txBody>
      </p:sp>
      <p:sp>
        <p:nvSpPr>
          <p:cNvPr id="1267" name="" descr="{&quot;isTemplate&quot;:true,&quot;type&quot;:&quot;text&quot;}"/>
          <p:cNvSpPr txBox="1"/>
          <p:nvPr/>
        </p:nvSpPr>
        <p:spPr>
          <a:xfrm rot="0" flipH="0" flipV="0">
            <a:off x="1019175" y="46767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Attendance &amp; participation 10% + in-class quizzes 10%</a:t>
            </a:r>
            <a:endParaRPr/>
          </a:p>
        </p:txBody>
      </p:sp>
      <p:sp>
        <p:nvSpPr>
          <p:cNvPr id="1268" name=""/>
          <p:cNvSpPr/>
          <p:nvPr/>
        </p:nvSpPr>
        <p:spPr>
          <a:xfrm rot="0" flipH="0" flipV="0">
            <a:off x="800100" y="5057775"/>
            <a:ext cx="575310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8B97A8"/>
            </a:solidFill>
            <a:prstDash val="dash"/>
          </a:ln>
        </p:spPr>
        <p:txBody>
          <a:bodyPr/>
          <a:p/>
        </p:txBody>
      </p:sp>
      <p:sp>
        <p:nvSpPr>
          <p:cNvPr id="1269" name="" descr="{&quot;isTemplate&quot;:true,&quot;type&quot;:&quot;text&quot;}"/>
          <p:cNvSpPr txBox="1"/>
          <p:nvPr/>
        </p:nvSpPr>
        <p:spPr>
          <a:xfrm rot="0" flipH="0" flipV="0">
            <a:off x="952500" y="5143500"/>
            <a:ext cx="5448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Late policy: −10% per 24 h late; not accepted after 72 h.</a:t>
            </a:r>
            <a:endParaRPr/>
          </a:p>
        </p:txBody>
      </p:sp>
      <p:sp>
        <p:nvSpPr>
          <p:cNvPr id="1270" name=""/>
          <p:cNvSpPr/>
          <p:nvPr/>
        </p:nvSpPr>
        <p:spPr>
          <a:xfrm rot="0" flipH="0" flipV="0">
            <a:off x="6781800" y="971550"/>
            <a:ext cx="4610100" cy="5124450"/>
          </a:xfrm>
          <a:prstGeom prst="roundRect">
            <a:avLst>
              <a:gd name="adj" fmla="val 289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71" name="" descr="{&quot;isTemplate&quot;:true,&quot;type&quot;:&quot;text&quot;}"/>
          <p:cNvSpPr txBox="1"/>
          <p:nvPr/>
        </p:nvSpPr>
        <p:spPr>
          <a:xfrm rot="0" flipH="0" flipV="0">
            <a:off x="7029450" y="1838325"/>
            <a:ext cx="4114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Academic Integrity</a:t>
            </a:r>
            <a:endParaRPr/>
          </a:p>
        </p:txBody>
      </p:sp>
      <p:sp>
        <p:nvSpPr>
          <p:cNvPr id="1272" name=""/>
          <p:cNvSpPr/>
          <p:nvPr/>
        </p:nvSpPr>
        <p:spPr>
          <a:xfrm rot="0" flipH="0" flipV="0">
            <a:off x="7029450" y="2181225"/>
            <a:ext cx="41148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273" name=""/>
          <p:cNvSpPr/>
          <p:nvPr/>
        </p:nvSpPr>
        <p:spPr>
          <a:xfrm rot="0" flipH="0" flipV="0">
            <a:off x="7029450" y="2333625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2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115175" y="2419350"/>
            <a:ext cx="171450" cy="171450"/>
          </a:xfrm>
          <a:prstGeom prst="rect">
            <a:avLst/>
          </a:prstGeom>
          <a:ln/>
        </p:spPr>
      </p:pic>
      <p:sp>
        <p:nvSpPr>
          <p:cNvPr id="1275" name="" descr="{&quot;isTemplate&quot;:true,&quot;type&quot;:&quot;text&quot;}"/>
          <p:cNvSpPr txBox="1"/>
          <p:nvPr/>
        </p:nvSpPr>
        <p:spPr>
          <a:xfrm rot="0" flipH="0" flipV="0">
            <a:off x="7486650" y="2333625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AI tools allowed — but declared</a:t>
            </a:r>
            <a:endParaRPr/>
          </a:p>
        </p:txBody>
      </p:sp>
      <p:sp>
        <p:nvSpPr>
          <p:cNvPr id="1276" name="" descr="{&quot;isTemplate&quot;:true,&quot;type&quot;:&quot;text&quot;}"/>
          <p:cNvSpPr txBox="1"/>
          <p:nvPr/>
        </p:nvSpPr>
        <p:spPr>
          <a:xfrm rot="0" flipH="0" flipV="0">
            <a:off x="7486650" y="2543175"/>
            <a:ext cx="36576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State which parts were AI-assisted when you submit. Undeclared use = a violation.</a:t>
            </a:r>
            <a:endParaRPr/>
          </a:p>
        </p:txBody>
      </p:sp>
      <p:sp>
        <p:nvSpPr>
          <p:cNvPr id="1277" name=""/>
          <p:cNvSpPr/>
          <p:nvPr/>
        </p:nvSpPr>
        <p:spPr>
          <a:xfrm rot="0" flipH="0" flipV="0">
            <a:off x="7029450" y="3114675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2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115175" y="3200400"/>
            <a:ext cx="171450" cy="171450"/>
          </a:xfrm>
          <a:prstGeom prst="rect">
            <a:avLst/>
          </a:prstGeom>
          <a:ln/>
        </p:spPr>
      </p:pic>
      <p:sp>
        <p:nvSpPr>
          <p:cNvPr id="1279" name="" descr="{&quot;isTemplate&quot;:true,&quot;type&quot;:&quot;text&quot;}"/>
          <p:cNvSpPr txBox="1"/>
          <p:nvPr/>
        </p:nvSpPr>
        <p:spPr>
          <a:xfrm rot="0" flipH="0" flipV="0">
            <a:off x="7486650" y="3114675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You must be able to explain every line you submit</a:t>
            </a:r>
            <a:endParaRPr/>
          </a:p>
        </p:txBody>
      </p:sp>
      <p:sp>
        <p:nvSpPr>
          <p:cNvPr id="1280" name="" descr="{&quot;isTemplate&quot;:true,&quot;type&quot;:&quot;text&quot;}"/>
          <p:cNvSpPr txBox="1"/>
          <p:nvPr/>
        </p:nvSpPr>
        <p:spPr>
          <a:xfrm rot="0" flipH="0" flipV="0">
            <a:off x="7486650" y="3324225"/>
            <a:ext cx="36576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Random spot-checks: if you can’t explain it, that part scores zero.</a:t>
            </a:r>
            <a:endParaRPr/>
          </a:p>
        </p:txBody>
      </p:sp>
      <p:sp>
        <p:nvSpPr>
          <p:cNvPr id="1281" name=""/>
          <p:cNvSpPr/>
          <p:nvPr/>
        </p:nvSpPr>
        <p:spPr>
          <a:xfrm rot="0" flipH="0" flipV="0">
            <a:off x="7029450" y="3676650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2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115175" y="3762375"/>
            <a:ext cx="171450" cy="171450"/>
          </a:xfrm>
          <a:prstGeom prst="rect">
            <a:avLst/>
          </a:prstGeom>
          <a:ln/>
        </p:spPr>
      </p:pic>
      <p:sp>
        <p:nvSpPr>
          <p:cNvPr id="1283" name="" descr="{&quot;isTemplate&quot;:true,&quot;type&quot;:&quot;text&quot;}"/>
          <p:cNvSpPr txBox="1"/>
          <p:nvPr/>
        </p:nvSpPr>
        <p:spPr>
          <a:xfrm rot="0" flipH="0" flipV="0">
            <a:off x="7486650" y="3676650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Plagiarism or ghost-writing = zero for that item</a:t>
            </a:r>
            <a:endParaRPr/>
          </a:p>
        </p:txBody>
      </p:sp>
      <p:sp>
        <p:nvSpPr>
          <p:cNvPr id="1284" name="" descr="{&quot;isTemplate&quot;:true,&quot;type&quot;:&quot;text&quot;}"/>
          <p:cNvSpPr txBox="1"/>
          <p:nvPr/>
        </p:nvSpPr>
        <p:spPr>
          <a:xfrm rot="0" flipH="0" flipV="0">
            <a:off x="7486650" y="3886200"/>
            <a:ext cx="36576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Includes copying classmates or submitting ready-made answers found online.</a:t>
            </a:r>
            <a:endParaRPr/>
          </a:p>
        </p:txBody>
      </p:sp>
      <p:sp>
        <p:nvSpPr>
          <p:cNvPr id="1285" name=""/>
          <p:cNvSpPr/>
          <p:nvPr/>
        </p:nvSpPr>
        <p:spPr>
          <a:xfrm rot="0" flipH="0" flipV="0">
            <a:off x="7029450" y="4457700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2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115175" y="4543425"/>
            <a:ext cx="171450" cy="171450"/>
          </a:xfrm>
          <a:prstGeom prst="rect">
            <a:avLst/>
          </a:prstGeom>
          <a:ln/>
        </p:spPr>
      </p:pic>
      <p:sp>
        <p:nvSpPr>
          <p:cNvPr id="1287" name="" descr="{&quot;isTemplate&quot;:true,&quot;type&quot;:&quot;text&quot;}"/>
          <p:cNvSpPr txBox="1"/>
          <p:nvPr/>
        </p:nvSpPr>
        <p:spPr>
          <a:xfrm rot="0" flipH="0" flipV="0">
            <a:off x="7486650" y="4457700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Team projects: state the division of work</a:t>
            </a:r>
            <a:endParaRPr/>
          </a:p>
        </p:txBody>
      </p:sp>
      <p:sp>
        <p:nvSpPr>
          <p:cNvPr id="1288" name="" descr="{&quot;isTemplate&quot;:true,&quot;type&quot;:&quot;text&quot;}"/>
          <p:cNvSpPr txBox="1"/>
          <p:nvPr/>
        </p:nvSpPr>
        <p:spPr>
          <a:xfrm rot="0" flipH="0" flipV="0">
            <a:off x="7486650" y="4667250"/>
            <a:ext cx="36576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Each member’s responsibility and contribution must be clear in the report.</a:t>
            </a:r>
            <a:endParaRPr/>
          </a:p>
        </p:txBody>
      </p:sp>
      <p:sp>
        <p:nvSpPr>
          <p:cNvPr id="128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290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06 / 32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291" name="" descr="&lt;Slide style={{ width: '1280px', height: '720px', background: '#F7F9FC', padding: '0px', position: 'relative', overflow: 'hidden', fontFamily: 'Inter, Helvetica Neue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2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2&lt;/Text&gt;&#10;      &lt;/Box&gt;&#10;      &lt;Box style={{ paddingTop: 6 }}&gt;&#10;        &lt;Text style={{ fontSize: 44, color: '#1A2230', fontWeight: 'bold' }}&gt;What is AI?&lt;/Text&gt;&#10;        &lt;Text style={{ fontSize: 26, color: '#8B97A8', fontWeight: '600', marginTop: 6 }}&gt;The technology landscape&lt;/Text&gt;&#10;      &lt;/Box&gt;&#10;    &lt;/Box&gt;&#10;    &lt;Box style={{ flexDirection: 'row', gap: 24 }}&gt;&#10;      {[&#10;        { t: 'The Hierarchy', e: 'AI / ML / DL / GenAI' },&#10;        { t: 'Three Waves', e: '1950s → today' },&#10;        { t: 'Why SE Students', e: 'Your entry window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9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94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1295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96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1297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1051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What is AI?</a:t>
            </a:r>
            <a:endParaRPr/>
          </a:p>
        </p:txBody>
      </p:sp>
      <p:sp>
        <p:nvSpPr>
          <p:cNvPr id="1298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105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The technology landscape</a:t>
            </a:r>
            <a:endParaRPr/>
          </a:p>
        </p:txBody>
      </p:sp>
      <p:sp>
        <p:nvSpPr>
          <p:cNvPr id="1299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0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1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The Hierarchy</a:t>
            </a:r>
            <a:endParaRPr/>
          </a:p>
        </p:txBody>
      </p:sp>
      <p:sp>
        <p:nvSpPr>
          <p:cNvPr id="1302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AI / ML / DL / GenAI</a:t>
            </a:r>
            <a:endParaRPr/>
          </a:p>
        </p:txBody>
      </p:sp>
      <p:sp>
        <p:nvSpPr>
          <p:cNvPr id="1303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4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5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Three Waves</a:t>
            </a:r>
            <a:endParaRPr/>
          </a:p>
        </p:txBody>
      </p:sp>
      <p:sp>
        <p:nvSpPr>
          <p:cNvPr id="1306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1950s → today</a:t>
            </a:r>
            <a:endParaRPr/>
          </a:p>
        </p:txBody>
      </p:sp>
      <p:sp>
        <p:nvSpPr>
          <p:cNvPr id="1307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8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9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Why SE Students</a:t>
            </a:r>
            <a:endParaRPr/>
          </a:p>
        </p:txBody>
      </p:sp>
      <p:sp>
        <p:nvSpPr>
          <p:cNvPr id="1310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Your entry window</a:t>
            </a:r>
            <a:endParaRPr/>
          </a:p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11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AI ⊃ ML ⊃ DL ⊃ GenAI · The Hierarchy&lt;/Text&gt;&#10;    &lt;Text style={{ fontSize: 15, color: 'rgba(255,255,255,0.85)' }}&gt;Module 1 · Week 1&lt;/Text&gt;&#10;  &lt;/Box&gt;&#10;  &lt;Box style={{ position: 'absolute', top: 100, left: 0, width: '100%', height: 540, padding: '10px 84px', flexDirection: 'row', gap: 40, alignItems: 'center' }}&gt;&#10;    &lt;Box style={{ width: 560, height: 500, position: 'relative', flexShrink: 0 }}&gt;&#10;      &lt;svg width={560} height={500} viewBox='0 0 560 500'&gt;&#10;        &lt;defs&gt;&#10;          &lt;linearGradient id='gradAI' x1='0' y1='0' x2='1' y2='1'&gt;&#10;            &lt;stop offset='0%' stopColor='#0E3F8C' /&gt;&#10;            &lt;stop offset='100%' stopColor='#1E4FA8' /&gt;&#10;          &lt;/linearGradient&gt;&#10;        &lt;/defs&gt;&#10;        &lt;rect x='0' y='0' width='560' height='500' rx='26' fill='#F0F5FC' /&gt;&#10;        &lt;rect x='60' y='40' width='440' height='420' rx='22' fill='#FFFFFF' stroke='#1E4FA8' strokeWidth='3' /&gt;&#10;        &lt;rect x='118' y='80' width='324' height='340' rx='20' fill='#F7F9FC' stroke='#3D7BD9' strokeWidth='2.5' /&gt;&#10;        &lt;rect x='175' y='120' width='210' height='260' rx='18' fill='#FFFFFF' stroke='#3D7BD9' strokeWidth='2' strokeDasharray='6 4' /&gt;&#10;        &lt;rect x='222' y='155' width='116' height='105' rx='14' fill='#0E3F8C' /&gt;&#10;        &lt;text x='280' y='193' textAnchor='middle' fill='#FFFFFF' fontSize='26' fontWeight='bold' fontFamily='Inter, sans-serif'&gt;GenAI&lt;/text&gt;&#10;        &lt;text x='280' y='222' textAnchor='middle' fill='rgba(255,255,255,0.85)' fontSize='13' fontFamily='Inter, sans-serif'&gt;Generates content&lt;/text&gt;&#10;        &lt;text x='280' y='330' textAnchor='middle' fill='#0E3F8C' fontSize='26' fontWeight='bold'&gt;DL&lt;/text&gt;&#10;        &lt;text x='280' y='356' textAnchor='middle' fill='#4A5568' fontSize='15'&gt;Neural networks&lt;/text&gt;&#10;        &lt;text x='280' y='440' textAnchor='middle' fill='#1E4FA8' fontSize='26' fontWeight='bold'&gt;ML&lt;/text&gt;&#10;        &lt;text x='280' y='466' textAnchor='middle' fill='#4A5568' fontSize='15'&gt;Learns from data&lt;/text&gt;&#10;        &lt;text x='280' y='492' textAnchor='middle' fill='#1A2230' fontSize='30' fontWeight='bold'&gt;AI&lt;/text&gt;&#10;      &lt;/svg&gt;&#10;    &lt;/Box&gt;&#10;    &lt;Box style={{ flex: 1, gap: 16 }}&gt;&#10;      &lt;Text style={{ fontSize: 30, color: '#0E3F8C', fontWeight: 'bold' }}&gt;Each level is a subset of the one above&lt;/Text&gt;&#10;      &lt;Text style={{ fontSize: 17, color: '#4A5568', lineHeight: 1.6 }}&gt;&#10;        &lt;span style={{ fontWeight: 'bold', color: '#1A2230' }}&gt;AI&lt;/span&gt; simulates intelligence; &lt;span style={{ fontWeight: 'bold', color: '#1A2230' }}&gt;ML&lt;/span&gt; learns from data;&#10;        &lt;span style={{ fontWeight: 'bold', color: '#1A2230' }}&gt;DL&lt;/span&gt; uses multi-layer neural networks; &lt;span style={{ fontWeight: 'bold', color: '#1A2230' }}&gt;GenAI&lt;/span&gt; generates new content.&#10;      &lt;/Text&gt;&#10;      &lt;Box style={{ background: '#F7F9FC', border: '1px solid #E5E7EB', borderRadius: 12, padding: '18px 22px' }}&gt;&#10;        &lt;Text style={{ fontSize: 17, color: '#0E3F8C', fontWeight: 'bold', marginBottom: 10 }}&gt;How to classify · 3 Questions&lt;/Text&gt;&#10;        {[&#10;          { q: 'Does it learn from data?', a: '→ ML or higher' },&#10;          { q: 'Does it use neural networks?', a: '→ DL or higher' },&#10;          { q: 'Does it generate new content?', a: '→ GenAI' },&#10;        ].map((r, i) =&gt; (&#10;          &lt;Box key={i} style={{ flexDirection: 'row', alignItems: 'center', gap: 12, marginBottom: 8 }}&gt;&#10;            &lt;Box style={{ width: 26, height: 26, borderRadius: 8, background: '#E8EFF8', justifyContent: 'center', alignItems: 'center', flexShrink: 0 }}&gt;&#10;              &lt;Text style={{ fontSize: 14, color: '#1E4FA8', fontWeight: 'bold' }}&gt;{i + 1}&lt;/Text&gt;&#10;            &lt;/Box&gt;&#10;            &lt;Text style={{ fontSize: 16, color: '#1A2230', flex: 1 }}&gt;{r.q}&lt;/Text&gt;&#10;            &lt;Text style={{ fontSize: 15, color: '#3D7BD9', fontWeight: '600' }}&gt;{r.a}&lt;/Text&gt;&#10;          &lt;/Box&gt;&#10;        ))}&#10;      &lt;/Box&gt;&#10;      &lt;Box style={{ borderLeft: '4px solid #0E3F8C', paddingLeft: 14 }}&gt;&#10;        &lt;Text style={{ fontSize: 16, color: '#1A2230', lineHeight: 1.6 }}&gt;&#10;          Examples: ChatGPT = &lt;span style={{ fontWeight: 'bold', color: '#0E3F8C' }}&gt;GenAI&lt;/span&gt;; face unlock = DL; spam filtering = ML (beyond rules)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1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762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AI ⊃ ML ⊃ DL ⊃ GenAI · The Hierarchy</a:t>
            </a:r>
            <a:endParaRPr/>
          </a:p>
        </p:txBody>
      </p:sp>
      <p:sp>
        <p:nvSpPr>
          <p:cNvPr id="131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1316" name="" descr="{&quot;isTemplate&quot;:true,&quot;type&quot;:&quot;text&quot;}"/>
          <p:cNvSpPr txBox="1"/>
          <p:nvPr/>
        </p:nvSpPr>
        <p:spPr>
          <a:xfrm rot="0" flipH="0" flipV="0">
            <a:off x="6515100" y="1543050"/>
            <a:ext cx="4876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Inter"/>
                <a:ea typeface="Inter"/>
              </a:rPr>
              <a:t>Each level is a subset of the one above</a:t>
            </a:r>
            <a:endParaRPr/>
          </a:p>
        </p:txBody>
      </p:sp>
      <p:sp>
        <p:nvSpPr>
          <p:cNvPr id="1317" name="" descr="{&quot;isTemplate&quot;:true,&quot;type&quot;:&quot;text&quot;}"/>
          <p:cNvSpPr txBox="1"/>
          <p:nvPr/>
        </p:nvSpPr>
        <p:spPr>
          <a:xfrm rot="0" flipH="0" flipV="0">
            <a:off x="6515100" y="2381250"/>
            <a:ext cx="48768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AI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simulates intelligence; </a:t>
            </a: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ML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learns from data;</a:t>
            </a: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DL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uses multi-layer neural networks; </a:t>
            </a: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GenAI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generates new content.</a:t>
            </a:r>
            <a:endParaRPr/>
          </a:p>
        </p:txBody>
      </p:sp>
      <p:sp>
        <p:nvSpPr>
          <p:cNvPr id="1318" name=""/>
          <p:cNvSpPr/>
          <p:nvPr/>
        </p:nvSpPr>
        <p:spPr>
          <a:xfrm rot="0" flipH="0" flipV="0">
            <a:off x="6515100" y="3162300"/>
            <a:ext cx="4876800" cy="1609725"/>
          </a:xfrm>
          <a:prstGeom prst="roundRect">
            <a:avLst>
              <a:gd name="adj" fmla="val 7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19" name="" descr="{&quot;isTemplate&quot;:true,&quot;type&quot;:&quot;text&quot;}"/>
          <p:cNvSpPr txBox="1"/>
          <p:nvPr/>
        </p:nvSpPr>
        <p:spPr>
          <a:xfrm rot="0" flipH="0" flipV="0">
            <a:off x="6724650" y="3333750"/>
            <a:ext cx="445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How to classify · 3 Questions</a:t>
            </a:r>
            <a:endParaRPr/>
          </a:p>
        </p:txBody>
      </p:sp>
      <p:sp>
        <p:nvSpPr>
          <p:cNvPr id="1320" name=""/>
          <p:cNvSpPr/>
          <p:nvPr/>
        </p:nvSpPr>
        <p:spPr>
          <a:xfrm rot="0" flipH="0" flipV="0">
            <a:off x="6724650" y="36290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21" name="" descr="{&quot;isTemplate&quot;:true,&quot;type&quot;:&quot;text&quot;}"/>
          <p:cNvSpPr txBox="1"/>
          <p:nvPr/>
        </p:nvSpPr>
        <p:spPr>
          <a:xfrm rot="0" flipH="0" flipV="0">
            <a:off x="6810375" y="36766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1322" name="" descr="{&quot;isTemplate&quot;:true,&quot;type&quot;:&quot;text&quot;}"/>
          <p:cNvSpPr txBox="1"/>
          <p:nvPr/>
        </p:nvSpPr>
        <p:spPr>
          <a:xfrm rot="0" flipH="0" flipV="0">
            <a:off x="7086600" y="3657600"/>
            <a:ext cx="2924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Does it learn from data?</a:t>
            </a:r>
            <a:endParaRPr/>
          </a:p>
        </p:txBody>
      </p:sp>
      <p:sp>
        <p:nvSpPr>
          <p:cNvPr id="1323" name="" descr="{&quot;isTemplate&quot;:true,&quot;type&quot;:&quot;text&quot;}"/>
          <p:cNvSpPr txBox="1"/>
          <p:nvPr/>
        </p:nvSpPr>
        <p:spPr>
          <a:xfrm rot="0" flipH="0" flipV="0">
            <a:off x="10125075" y="3667125"/>
            <a:ext cx="1057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Inter"/>
                <a:ea typeface="Inter"/>
              </a:rPr>
              <a:t>→ ML or higher</a:t>
            </a:r>
            <a:endParaRPr/>
          </a:p>
        </p:txBody>
      </p:sp>
      <p:sp>
        <p:nvSpPr>
          <p:cNvPr id="1324" name=""/>
          <p:cNvSpPr/>
          <p:nvPr/>
        </p:nvSpPr>
        <p:spPr>
          <a:xfrm rot="0" flipH="0" flipV="0">
            <a:off x="6724650" y="39528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25" name="" descr="{&quot;isTemplate&quot;:true,&quot;type&quot;:&quot;text&quot;}"/>
          <p:cNvSpPr txBox="1"/>
          <p:nvPr/>
        </p:nvSpPr>
        <p:spPr>
          <a:xfrm rot="0" flipH="0" flipV="0">
            <a:off x="6810375" y="40005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1326" name="" descr="{&quot;isTemplate&quot;:true,&quot;type&quot;:&quot;text&quot;}"/>
          <p:cNvSpPr txBox="1"/>
          <p:nvPr/>
        </p:nvSpPr>
        <p:spPr>
          <a:xfrm rot="0" flipH="0" flipV="0">
            <a:off x="7086600" y="3981450"/>
            <a:ext cx="2952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Does it use neural networks?</a:t>
            </a:r>
            <a:endParaRPr/>
          </a:p>
        </p:txBody>
      </p:sp>
      <p:sp>
        <p:nvSpPr>
          <p:cNvPr id="1327" name="" descr="{&quot;isTemplate&quot;:true,&quot;type&quot;:&quot;text&quot;}"/>
          <p:cNvSpPr txBox="1"/>
          <p:nvPr/>
        </p:nvSpPr>
        <p:spPr>
          <a:xfrm rot="0" flipH="0" flipV="0">
            <a:off x="10153650" y="3990975"/>
            <a:ext cx="102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Inter"/>
                <a:ea typeface="Inter"/>
              </a:rPr>
              <a:t>→ DL or higher</a:t>
            </a:r>
            <a:endParaRPr/>
          </a:p>
        </p:txBody>
      </p:sp>
      <p:sp>
        <p:nvSpPr>
          <p:cNvPr id="1328" name=""/>
          <p:cNvSpPr/>
          <p:nvPr/>
        </p:nvSpPr>
        <p:spPr>
          <a:xfrm rot="0" flipH="0" flipV="0">
            <a:off x="6724650" y="42767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29" name="" descr="{&quot;isTemplate&quot;:true,&quot;type&quot;:&quot;text&quot;}"/>
          <p:cNvSpPr txBox="1"/>
          <p:nvPr/>
        </p:nvSpPr>
        <p:spPr>
          <a:xfrm rot="0" flipH="0" flipV="0">
            <a:off x="6810375" y="43243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1330" name="" descr="{&quot;isTemplate&quot;:true,&quot;type&quot;:&quot;text&quot;}"/>
          <p:cNvSpPr txBox="1"/>
          <p:nvPr/>
        </p:nvSpPr>
        <p:spPr>
          <a:xfrm rot="0" flipH="0" flipV="0">
            <a:off x="7086600" y="4305300"/>
            <a:ext cx="3381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Does it generate new content?</a:t>
            </a:r>
            <a:endParaRPr/>
          </a:p>
        </p:txBody>
      </p:sp>
      <p:sp>
        <p:nvSpPr>
          <p:cNvPr id="1331" name="" descr="{&quot;isTemplate&quot;:true,&quot;type&quot;:&quot;text&quot;}"/>
          <p:cNvSpPr txBox="1"/>
          <p:nvPr/>
        </p:nvSpPr>
        <p:spPr>
          <a:xfrm rot="0" flipH="0" flipV="0">
            <a:off x="10582275" y="4314825"/>
            <a:ext cx="600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Inter"/>
                <a:ea typeface="Inter"/>
              </a:rPr>
              <a:t>→ GenAI</a:t>
            </a:r>
            <a:endParaRPr/>
          </a:p>
        </p:txBody>
      </p:sp>
      <p:sp>
        <p:nvSpPr>
          <p:cNvPr id="1332" name=""/>
          <p:cNvSpPr/>
          <p:nvPr/>
        </p:nvSpPr>
        <p:spPr>
          <a:xfrm rot="0" flipH="0" flipV="0">
            <a:off x="6515100" y="4924425"/>
            <a:ext cx="4914900" cy="590550"/>
          </a:xfrm>
          <a:custGeom>
            <a:pathLst>
              <a:path w="516" h="62">
                <a:moveTo>
                  <a:pt x="0" y="0"/>
                </a:moveTo>
                <a:lnTo>
                  <a:pt x="4" y="0"/>
                </a:lnTo>
                <a:lnTo>
                  <a:pt x="4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33" name="" descr="{&quot;isTemplate&quot;:true,&quot;type&quot;:&quot;text&quot;}"/>
          <p:cNvSpPr txBox="1"/>
          <p:nvPr/>
        </p:nvSpPr>
        <p:spPr>
          <a:xfrm rot="0" flipH="0" flipV="0">
            <a:off x="6686550" y="4924425"/>
            <a:ext cx="47053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Examples: ChatGPT =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GenAI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; face unlock = DL; spam filtering = ML (beyond rules).</a:t>
            </a:r>
            <a:endParaRPr/>
          </a:p>
        </p:txBody>
      </p:sp>
      <p:pic>
        <p:nvPicPr>
          <p:cNvPr id="13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143000"/>
            <a:ext cx="5334000" cy="4762500"/>
          </a:xfrm>
          <a:prstGeom prst="rect">
            <a:avLst/>
          </a:prstGeom>
          <a:ln/>
        </p:spPr>
      </p:pic>
      <p:sp>
        <p:nvSpPr>
          <p:cNvPr id="133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336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08 / 32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37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ree Learning Paradigms&lt;/Text&gt;&#10;    &lt;Text style={{ fontSize: 15, color: 'rgba(255,255,255,0.85)' }}&gt;What is AI · Part 02&lt;/Text&gt;&#10;  &lt;/Box&gt;&#10;  &lt;Box style={{ position: 'absolute', top: 96, left: 0, width: '100%', height: 470, padding: '6px 84px', flexDirection: 'row', gap: 22 }}&gt;&#10;    {[&#10;      { i: 'tags', t: 'Supervised Learning', q: 'Given answers, learn the rules', d: 'Train on labeled data: every input comes with a ground-truth answer.', tasks: 'Classification · Regression', ex: 'Spam detection · house-price prediction · image classification', c: '#1E4FA8', focus: true },&#10;      { i: 'layer-group', t: 'Unsupervised Learning', q: 'No answers, find the structure', d: 'Data has no labels; the algorithm discovers hidden structure on its own.', tasks: 'Clustering · Dimensionality Reduction', ex: 'Customer segmentation · anomaly detection · topic discovery', c: '#3D7BD9' },&#10;      { i: 'gamepad', t: 'Reinforcement Learning', q: 'Given rewards, learn a policy', d: 'An agent interacts with an environment, maximizing cumulative reward through trial and error.', tasks: 'Policy · Reward · Exploration vs. Exploitation', ex: 'Game AI · robot control · recommendation strategies', c: '#0E3F8C' },&#10;    ].map((p, i) =&gt; (&#10;      &lt;Box key={i} style={{ flex: 1, background: '#F7F9FC', border: '1px solid #E5E7EB', borderTop: '5px solid ' + p.c, borderRadius: 12, padding: '22px 22px', justifyContent: 'space-between' }}&gt;&#10;        &lt;Box&gt;&#10;          &lt;Box style={{ flexDirection: 'row', alignItems: 'center', gap: 12 }}&gt;&#10;            &lt;Box style={{ width: 46, height: 46, borderRadius: 12, background: p.c, justifyContent: 'center', alignItems: 'center' }}&gt;&#10;              &lt;FAIcon name={p.i} style={{ fill: '#FFFFFF', width: 22, height: 22 }} /&gt;&#10;            &lt;/Box&gt;&#10;            &lt;Box&gt;&#10;              &lt;Text style={{ fontSize: 21, color: '#1A2230', fontWeight: 'bold' }}&gt;{p.t}&lt;/Text&gt;&#10;            &lt;/Box&gt;&#10;          &lt;/Box&gt;&#10;          &lt;Box style={{ background: '#FFFFFF', borderRadius: 8, padding: '9px 14px', marginTop: 16, borderLeft: '4px solid ' + p.c }}&gt;&#10;            &lt;Text style={{ fontSize: 16, color: p.c, fontWeight: 'bold' }}&gt;{p.q}&lt;/Text&gt;&#10;          &lt;/Box&gt;&#10;          &lt;Text style={{ fontSize: 15, color: '#4A5568', lineHeight: 1.65, marginTop: 14 }}&gt;{p.d}&lt;/Text&gt;&#10;          &lt;Text style={{ fontSize: 13.5, color: '#1A2230', marginTop: 12, fontWeight: '600' }}&gt;Typical tasks: &lt;span style={{ color: '#4A5568', fontWeight: '400' }}&gt;{p.tasks}&lt;/span&gt;&lt;/Text&gt;&#10;          &lt;Text style={{ fontSize: 13.5, color: '#1A2230', marginTop: 6, fontWeight: '600' }}&gt;Real examples: &lt;span style={{ color: '#4A5568', fontWeight: '400' }}&gt;{p.ex}&lt;/span&gt;&lt;/Text&gt;&#10;        &lt;/Box&gt;&#10;        {p.focus ? (&#10;          &lt;Box style={{ background: p.c, borderRadius: 8, padding: '8px 14px', marginTop: 14 }}&gt;&#10;            &lt;Text style={{ fontSize: 13.5, color: '#FFFFFF', fontWeight: 'bold' }}&gt;Focus of this course&lt;/Text&gt;&#10;          &lt;/Box&gt;&#10;        ) : (&#10;          &lt;Box style={{ background: '#FFFFFF', border: '1px dashed #D6DCE5', borderRadius: 8, padding: '8px 14px', marginTop: 14 }}&gt;&#10;            &lt;Text style={{ fontSize: 13.5, color: '#8B97A8' }}&gt;Used in later modules&lt;/Text&gt;&#10;          &lt;/Box&gt;&#10;        )}&#10;      &lt;/Box&gt;&#10;    ))}&#10;  &lt;/Box&gt;&#10;  &lt;Box style={{ position: 'absolute', top: 578, left: 0, width: '100%', height: 68, padding: '6px 84px' }}&gt;&#10;    &lt;Box style={{ width: '100%', height: '100%', background: '#F0F5FC', border: '1px solid #D6DCE5', borderRadius: 12, padding: '10px 20px', flexDirection: 'row', alignItems: 'center', gap: 14 }}&gt;&#10;      &lt;FAIcon name='lightbulb' style={{ fill: '#0E3F8C', width: 26, height: 26, flexShrink: 0 }} /&gt;&#10;      &lt;Text style={{ fontSize: 15, color: '#1A2230', lineHeight: 1.55, flex: 1 }}&gt;&#10;        &lt;span style={{ fontWeight: 'bold', color: '#0E3F8C' }}&gt;Think:&lt;/span&gt; “Cluster users by purchasing behavior” — which paradigm? No labels, looking for structure → unsupervised (clustering)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3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4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47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Three Learning Paradigms</a:t>
            </a:r>
            <a:endParaRPr/>
          </a:p>
        </p:txBody>
      </p:sp>
      <p:sp>
        <p:nvSpPr>
          <p:cNvPr id="1341" name="" descr="{&quot;isTemplate&quot;:true,&quot;type&quot;:&quot;text&quot;}"/>
          <p:cNvSpPr txBox="1"/>
          <p:nvPr/>
        </p:nvSpPr>
        <p:spPr>
          <a:xfrm rot="0" flipH="0" flipV="0">
            <a:off x="10163175" y="295275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What is AI · Part 02</a:t>
            </a:r>
            <a:endParaRPr/>
          </a:p>
        </p:txBody>
      </p:sp>
      <p:sp>
        <p:nvSpPr>
          <p:cNvPr id="1342" name=""/>
          <p:cNvSpPr/>
          <p:nvPr/>
        </p:nvSpPr>
        <p:spPr>
          <a:xfrm rot="0" flipH="0" flipV="0">
            <a:off x="800100" y="1019175"/>
            <a:ext cx="3390900" cy="436245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43" name=""/>
          <p:cNvSpPr/>
          <p:nvPr/>
        </p:nvSpPr>
        <p:spPr>
          <a:xfrm rot="0" flipH="0" flipV="0">
            <a:off x="800100" y="1019175"/>
            <a:ext cx="3390900" cy="4362450"/>
          </a:xfrm>
          <a:custGeom>
            <a:pathLst>
              <a:path w="356" h="458">
                <a:moveTo>
                  <a:pt x="345" y="0"/>
                </a:moveTo>
                <a:cubicBezTo>
                  <a:pt x="350" y="0"/>
                  <a:pt x="355" y="4"/>
                  <a:pt x="356" y="10"/>
                </a:cubicBezTo>
                <a:cubicBezTo>
                  <a:pt x="355" y="7"/>
                  <a:pt x="352" y="5"/>
                  <a:pt x="34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44" name=""/>
          <p:cNvSpPr/>
          <p:nvPr/>
        </p:nvSpPr>
        <p:spPr>
          <a:xfrm rot="0" flipH="0" flipV="0">
            <a:off x="1009650" y="1228725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13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23950" y="1343025"/>
            <a:ext cx="209550" cy="209550"/>
          </a:xfrm>
          <a:prstGeom prst="rect">
            <a:avLst/>
          </a:prstGeom>
          <a:ln/>
        </p:spPr>
      </p:pic>
      <p:sp>
        <p:nvSpPr>
          <p:cNvPr id="1346" name="" descr="{&quot;isTemplate&quot;:true,&quot;type&quot;:&quot;text&quot;}"/>
          <p:cNvSpPr txBox="1"/>
          <p:nvPr/>
        </p:nvSpPr>
        <p:spPr>
          <a:xfrm rot="0" flipH="0" flipV="0">
            <a:off x="1562100" y="1323975"/>
            <a:ext cx="1962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Supervised Learning</a:t>
            </a:r>
            <a:endParaRPr/>
          </a:p>
        </p:txBody>
      </p:sp>
      <p:sp>
        <p:nvSpPr>
          <p:cNvPr id="1347" name=""/>
          <p:cNvSpPr/>
          <p:nvPr/>
        </p:nvSpPr>
        <p:spPr>
          <a:xfrm rot="0" flipH="0" flipV="0">
            <a:off x="1047750" y="1819275"/>
            <a:ext cx="29718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48" name=""/>
          <p:cNvSpPr/>
          <p:nvPr/>
        </p:nvSpPr>
        <p:spPr>
          <a:xfrm rot="0" flipH="0" flipV="0">
            <a:off x="1047750" y="1819275"/>
            <a:ext cx="2971800" cy="361950"/>
          </a:xfrm>
          <a:custGeom>
            <a:pathLst>
              <a:path w="312" h="3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4"/>
                </a:lnTo>
                <a:cubicBezTo>
                  <a:pt x="4" y="36"/>
                  <a:pt x="5" y="38"/>
                  <a:pt x="7" y="38"/>
                </a:cubicBezTo>
                <a:cubicBezTo>
                  <a:pt x="3" y="38"/>
                  <a:pt x="0" y="34"/>
                  <a:pt x="0" y="3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49" name="" descr="{&quot;isTemplate&quot;:true,&quot;type&quot;:&quot;text&quot;}"/>
          <p:cNvSpPr txBox="1"/>
          <p:nvPr/>
        </p:nvSpPr>
        <p:spPr>
          <a:xfrm rot="0" flipH="0" flipV="0">
            <a:off x="1181100" y="1905000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Given answers, learn the rules</a:t>
            </a:r>
            <a:endParaRPr/>
          </a:p>
        </p:txBody>
      </p:sp>
      <p:sp>
        <p:nvSpPr>
          <p:cNvPr id="1350" name="" descr="{&quot;isTemplate&quot;:true,&quot;type&quot;:&quot;text&quot;}"/>
          <p:cNvSpPr txBox="1"/>
          <p:nvPr/>
        </p:nvSpPr>
        <p:spPr>
          <a:xfrm rot="0" flipH="0" flipV="0">
            <a:off x="1009650" y="2314575"/>
            <a:ext cx="2971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Train on labeled data: every input comes with a ground-truth answer.</a:t>
            </a:r>
            <a:endParaRPr/>
          </a:p>
        </p:txBody>
      </p:sp>
      <p:sp>
        <p:nvSpPr>
          <p:cNvPr id="1351" name="" descr="{&quot;isTemplate&quot;:true,&quot;type&quot;:&quot;text&quot;}"/>
          <p:cNvSpPr txBox="1"/>
          <p:nvPr/>
        </p:nvSpPr>
        <p:spPr>
          <a:xfrm rot="0" flipH="0" flipV="0">
            <a:off x="1009650" y="3000375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Typical tasks: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Classification · Regression</a:t>
            </a:r>
            <a:endParaRPr/>
          </a:p>
        </p:txBody>
      </p:sp>
      <p:sp>
        <p:nvSpPr>
          <p:cNvPr id="1352" name="" descr="{&quot;isTemplate&quot;:true,&quot;type&quot;:&quot;text&quot;}"/>
          <p:cNvSpPr txBox="1"/>
          <p:nvPr/>
        </p:nvSpPr>
        <p:spPr>
          <a:xfrm rot="0" flipH="0" flipV="0">
            <a:off x="1009650" y="3219450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Real examples: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Spam detection · house-price prediction · image classification</a:t>
            </a:r>
            <a:endParaRPr/>
          </a:p>
        </p:txBody>
      </p:sp>
      <p:sp>
        <p:nvSpPr>
          <p:cNvPr id="1353" name=""/>
          <p:cNvSpPr/>
          <p:nvPr/>
        </p:nvSpPr>
        <p:spPr>
          <a:xfrm rot="0" flipH="0" flipV="0">
            <a:off x="1009650" y="4810125"/>
            <a:ext cx="2971800" cy="314325"/>
          </a:xfrm>
          <a:prstGeom prst="roundRect">
            <a:avLst>
              <a:gd name="adj" fmla="val 2424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54" name="" descr="{&quot;isTemplate&quot;:true,&quot;type&quot;:&quot;text&quot;}"/>
          <p:cNvSpPr txBox="1"/>
          <p:nvPr/>
        </p:nvSpPr>
        <p:spPr>
          <a:xfrm rot="0" flipH="0" flipV="0">
            <a:off x="1143000" y="4886325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Inter"/>
                <a:ea typeface="Inter"/>
              </a:rPr>
              <a:t>Focus of this course</a:t>
            </a:r>
            <a:endParaRPr/>
          </a:p>
        </p:txBody>
      </p:sp>
      <p:sp>
        <p:nvSpPr>
          <p:cNvPr id="1355" name=""/>
          <p:cNvSpPr/>
          <p:nvPr/>
        </p:nvSpPr>
        <p:spPr>
          <a:xfrm rot="0" flipH="0" flipV="0">
            <a:off x="4400550" y="1019175"/>
            <a:ext cx="3390900" cy="436245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56" name=""/>
          <p:cNvSpPr/>
          <p:nvPr/>
        </p:nvSpPr>
        <p:spPr>
          <a:xfrm rot="0" flipH="0" flipV="0">
            <a:off x="4400550" y="1019175"/>
            <a:ext cx="3390900" cy="4362450"/>
          </a:xfrm>
          <a:custGeom>
            <a:pathLst>
              <a:path w="356" h="458">
                <a:moveTo>
                  <a:pt x="345" y="0"/>
                </a:moveTo>
                <a:cubicBezTo>
                  <a:pt x="350" y="0"/>
                  <a:pt x="355" y="4"/>
                  <a:pt x="356" y="10"/>
                </a:cubicBezTo>
                <a:cubicBezTo>
                  <a:pt x="355" y="7"/>
                  <a:pt x="352" y="5"/>
                  <a:pt x="34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4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357" name=""/>
          <p:cNvSpPr/>
          <p:nvPr/>
        </p:nvSpPr>
        <p:spPr>
          <a:xfrm rot="0" flipH="0" flipV="0">
            <a:off x="4610100" y="1228725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13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724400" y="1343025"/>
            <a:ext cx="209550" cy="209550"/>
          </a:xfrm>
          <a:prstGeom prst="rect">
            <a:avLst/>
          </a:prstGeom>
          <a:ln/>
        </p:spPr>
      </p:pic>
      <p:sp>
        <p:nvSpPr>
          <p:cNvPr id="1359" name="" descr="{&quot;isTemplate&quot;:true,&quot;type&quot;:&quot;text&quot;}"/>
          <p:cNvSpPr txBox="1"/>
          <p:nvPr/>
        </p:nvSpPr>
        <p:spPr>
          <a:xfrm rot="0" flipH="0" flipV="0">
            <a:off x="5162550" y="1323975"/>
            <a:ext cx="2209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Unsupervised Learning</a:t>
            </a:r>
            <a:endParaRPr/>
          </a:p>
        </p:txBody>
      </p:sp>
      <p:sp>
        <p:nvSpPr>
          <p:cNvPr id="1360" name=""/>
          <p:cNvSpPr/>
          <p:nvPr/>
        </p:nvSpPr>
        <p:spPr>
          <a:xfrm rot="0" flipH="0" flipV="0">
            <a:off x="4648200" y="1819275"/>
            <a:ext cx="29718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61" name=""/>
          <p:cNvSpPr/>
          <p:nvPr/>
        </p:nvSpPr>
        <p:spPr>
          <a:xfrm rot="0" flipH="0" flipV="0">
            <a:off x="4648200" y="1819275"/>
            <a:ext cx="2971800" cy="361950"/>
          </a:xfrm>
          <a:custGeom>
            <a:pathLst>
              <a:path w="312" h="3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4"/>
                </a:lnTo>
                <a:cubicBezTo>
                  <a:pt x="4" y="36"/>
                  <a:pt x="5" y="38"/>
                  <a:pt x="7" y="38"/>
                </a:cubicBezTo>
                <a:cubicBezTo>
                  <a:pt x="3" y="38"/>
                  <a:pt x="0" y="34"/>
                  <a:pt x="0" y="3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362" name="" descr="{&quot;isTemplate&quot;:true,&quot;type&quot;:&quot;text&quot;}"/>
          <p:cNvSpPr txBox="1"/>
          <p:nvPr/>
        </p:nvSpPr>
        <p:spPr>
          <a:xfrm rot="0" flipH="0" flipV="0">
            <a:off x="4781550" y="1905000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3D7BD9"/>
                </a:solidFill>
                <a:latin typeface="Inter"/>
                <a:ea typeface="Inter"/>
              </a:rPr>
              <a:t>No answers, find the structure</a:t>
            </a:r>
            <a:endParaRPr/>
          </a:p>
        </p:txBody>
      </p:sp>
      <p:sp>
        <p:nvSpPr>
          <p:cNvPr id="1363" name="" descr="{&quot;isTemplate&quot;:true,&quot;type&quot;:&quot;text&quot;}"/>
          <p:cNvSpPr txBox="1"/>
          <p:nvPr/>
        </p:nvSpPr>
        <p:spPr>
          <a:xfrm rot="0" flipH="0" flipV="0">
            <a:off x="4610100" y="2314575"/>
            <a:ext cx="2971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Data has no labels; the algorithm discovers hidden structure on its own.</a:t>
            </a:r>
            <a:endParaRPr/>
          </a:p>
        </p:txBody>
      </p:sp>
      <p:sp>
        <p:nvSpPr>
          <p:cNvPr id="1364" name="" descr="{&quot;isTemplate&quot;:true,&quot;type&quot;:&quot;text&quot;}"/>
          <p:cNvSpPr txBox="1"/>
          <p:nvPr/>
        </p:nvSpPr>
        <p:spPr>
          <a:xfrm rot="0" flipH="0" flipV="0">
            <a:off x="4610100" y="3000375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Typical tasks: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Clustering · Dimensionality Reduction</a:t>
            </a:r>
            <a:endParaRPr/>
          </a:p>
        </p:txBody>
      </p:sp>
      <p:sp>
        <p:nvSpPr>
          <p:cNvPr id="1365" name="" descr="{&quot;isTemplate&quot;:true,&quot;type&quot;:&quot;text&quot;}"/>
          <p:cNvSpPr txBox="1"/>
          <p:nvPr/>
        </p:nvSpPr>
        <p:spPr>
          <a:xfrm rot="0" flipH="0" flipV="0">
            <a:off x="4610100" y="3371850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Real examples: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Customer segmentation · anomaly detection · topic discovery</a:t>
            </a:r>
            <a:endParaRPr/>
          </a:p>
        </p:txBody>
      </p:sp>
      <p:sp>
        <p:nvSpPr>
          <p:cNvPr id="1366" name=""/>
          <p:cNvSpPr/>
          <p:nvPr/>
        </p:nvSpPr>
        <p:spPr>
          <a:xfrm rot="0" flipH="0" flipV="0">
            <a:off x="4610100" y="4810125"/>
            <a:ext cx="2971800" cy="314325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1367" name="" descr="{&quot;isTemplate&quot;:true,&quot;type&quot;:&quot;text&quot;}"/>
          <p:cNvSpPr txBox="1"/>
          <p:nvPr/>
        </p:nvSpPr>
        <p:spPr>
          <a:xfrm rot="0" flipH="0" flipV="0">
            <a:off x="4743450" y="4886325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Inter"/>
                <a:ea typeface="Inter"/>
              </a:rPr>
              <a:t>Used in later modules</a:t>
            </a:r>
            <a:endParaRPr/>
          </a:p>
        </p:txBody>
      </p:sp>
      <p:sp>
        <p:nvSpPr>
          <p:cNvPr id="1368" name=""/>
          <p:cNvSpPr/>
          <p:nvPr/>
        </p:nvSpPr>
        <p:spPr>
          <a:xfrm rot="0" flipH="0" flipV="0">
            <a:off x="8001000" y="1019175"/>
            <a:ext cx="3390900" cy="436245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69" name=""/>
          <p:cNvSpPr/>
          <p:nvPr/>
        </p:nvSpPr>
        <p:spPr>
          <a:xfrm rot="0" flipH="0" flipV="0">
            <a:off x="8001000" y="1019175"/>
            <a:ext cx="3390900" cy="4362450"/>
          </a:xfrm>
          <a:custGeom>
            <a:pathLst>
              <a:path w="356" h="458">
                <a:moveTo>
                  <a:pt x="345" y="0"/>
                </a:moveTo>
                <a:cubicBezTo>
                  <a:pt x="350" y="0"/>
                  <a:pt x="355" y="4"/>
                  <a:pt x="356" y="10"/>
                </a:cubicBezTo>
                <a:cubicBezTo>
                  <a:pt x="355" y="7"/>
                  <a:pt x="352" y="5"/>
                  <a:pt x="34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4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70" name=""/>
          <p:cNvSpPr/>
          <p:nvPr/>
        </p:nvSpPr>
        <p:spPr>
          <a:xfrm rot="0" flipH="0" flipV="0">
            <a:off x="8210550" y="1228725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3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24850" y="1343025"/>
            <a:ext cx="209550" cy="209550"/>
          </a:xfrm>
          <a:prstGeom prst="rect">
            <a:avLst/>
          </a:prstGeom>
          <a:ln/>
        </p:spPr>
      </p:pic>
      <p:sp>
        <p:nvSpPr>
          <p:cNvPr id="1372" name="" descr="{&quot;isTemplate&quot;:true,&quot;type&quot;:&quot;text&quot;}"/>
          <p:cNvSpPr txBox="1"/>
          <p:nvPr/>
        </p:nvSpPr>
        <p:spPr>
          <a:xfrm rot="0" flipH="0" flipV="0">
            <a:off x="8763000" y="1323975"/>
            <a:ext cx="2305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Reinforcement Learning</a:t>
            </a:r>
            <a:endParaRPr/>
          </a:p>
        </p:txBody>
      </p:sp>
      <p:sp>
        <p:nvSpPr>
          <p:cNvPr id="1373" name=""/>
          <p:cNvSpPr/>
          <p:nvPr/>
        </p:nvSpPr>
        <p:spPr>
          <a:xfrm rot="0" flipH="0" flipV="0">
            <a:off x="8248650" y="1819275"/>
            <a:ext cx="29718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74" name=""/>
          <p:cNvSpPr/>
          <p:nvPr/>
        </p:nvSpPr>
        <p:spPr>
          <a:xfrm rot="0" flipH="0" flipV="0">
            <a:off x="8248650" y="1819275"/>
            <a:ext cx="2971800" cy="361950"/>
          </a:xfrm>
          <a:custGeom>
            <a:pathLst>
              <a:path w="312" h="3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4"/>
                </a:lnTo>
                <a:cubicBezTo>
                  <a:pt x="4" y="36"/>
                  <a:pt x="5" y="38"/>
                  <a:pt x="7" y="38"/>
                </a:cubicBezTo>
                <a:cubicBezTo>
                  <a:pt x="3" y="38"/>
                  <a:pt x="0" y="34"/>
                  <a:pt x="0" y="3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75" name="" descr="{&quot;isTemplate&quot;:true,&quot;type&quot;:&quot;text&quot;}"/>
          <p:cNvSpPr txBox="1"/>
          <p:nvPr/>
        </p:nvSpPr>
        <p:spPr>
          <a:xfrm rot="0" flipH="0" flipV="0">
            <a:off x="8382000" y="1905000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Given rewards, learn a policy</a:t>
            </a:r>
            <a:endParaRPr/>
          </a:p>
        </p:txBody>
      </p:sp>
      <p:sp>
        <p:nvSpPr>
          <p:cNvPr id="1376" name="" descr="{&quot;isTemplate&quot;:true,&quot;type&quot;:&quot;text&quot;}"/>
          <p:cNvSpPr txBox="1"/>
          <p:nvPr/>
        </p:nvSpPr>
        <p:spPr>
          <a:xfrm rot="0" flipH="0" flipV="0">
            <a:off x="8210550" y="2314575"/>
            <a:ext cx="29718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An agent interacts with an environment, maximizing cumulative reward through trial and error.</a:t>
            </a:r>
            <a:endParaRPr/>
          </a:p>
        </p:txBody>
      </p:sp>
      <p:sp>
        <p:nvSpPr>
          <p:cNvPr id="1377" name="" descr="{&quot;isTemplate&quot;:true,&quot;type&quot;:&quot;text&quot;}"/>
          <p:cNvSpPr txBox="1"/>
          <p:nvPr/>
        </p:nvSpPr>
        <p:spPr>
          <a:xfrm rot="0" flipH="0" flipV="0">
            <a:off x="8210550" y="3286125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Typical tasks: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Policy · Reward · Exploration vs. Exploitation</a:t>
            </a:r>
            <a:endParaRPr/>
          </a:p>
        </p:txBody>
      </p:sp>
      <p:sp>
        <p:nvSpPr>
          <p:cNvPr id="1378" name="" descr="{&quot;isTemplate&quot;:true,&quot;type&quot;:&quot;text&quot;}"/>
          <p:cNvSpPr txBox="1"/>
          <p:nvPr/>
        </p:nvSpPr>
        <p:spPr>
          <a:xfrm rot="0" flipH="0" flipV="0">
            <a:off x="8210550" y="3657600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Real examples: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Game AI · robot control · recommendation strategies</a:t>
            </a:r>
            <a:endParaRPr/>
          </a:p>
        </p:txBody>
      </p:sp>
      <p:sp>
        <p:nvSpPr>
          <p:cNvPr id="1379" name=""/>
          <p:cNvSpPr/>
          <p:nvPr/>
        </p:nvSpPr>
        <p:spPr>
          <a:xfrm rot="0" flipH="0" flipV="0">
            <a:off x="8210550" y="4810125"/>
            <a:ext cx="2971800" cy="314325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1380" name="" descr="{&quot;isTemplate&quot;:true,&quot;type&quot;:&quot;text&quot;}"/>
          <p:cNvSpPr txBox="1"/>
          <p:nvPr/>
        </p:nvSpPr>
        <p:spPr>
          <a:xfrm rot="0" flipH="0" flipV="0">
            <a:off x="8343900" y="4886325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Inter"/>
                <a:ea typeface="Inter"/>
              </a:rPr>
              <a:t>Used in later modules</a:t>
            </a:r>
            <a:endParaRPr/>
          </a:p>
        </p:txBody>
      </p:sp>
      <p:sp>
        <p:nvSpPr>
          <p:cNvPr id="1381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3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90600" y="5705475"/>
            <a:ext cx="247650" cy="247650"/>
          </a:xfrm>
          <a:prstGeom prst="rect">
            <a:avLst/>
          </a:prstGeom>
          <a:ln/>
        </p:spPr>
      </p:pic>
      <p:sp>
        <p:nvSpPr>
          <p:cNvPr id="1383" name="" descr="{&quot;isTemplate&quot;:true,&quot;type&quot;:&quot;text&quot;}"/>
          <p:cNvSpPr txBox="1"/>
          <p:nvPr/>
        </p:nvSpPr>
        <p:spPr>
          <a:xfrm rot="0" flipH="0" flipV="0">
            <a:off x="1371600" y="5695950"/>
            <a:ext cx="9829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Think: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“Cluster users by purchasing behavior” — which paradigm? No labels, looking for structure → unsupervised (clustering).</a:t>
            </a:r>
            <a:endParaRPr/>
          </a:p>
        </p:txBody>
      </p:sp>
      <p:sp>
        <p:nvSpPr>
          <p:cNvPr id="138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385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09 / 32</a:t>
            </a:r>
            <a:endParaRPr/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22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ree Waves of AI&lt;/Text&gt;&#10;    &lt;Text style={{ fontSize: 15, color: 'rgba(255,255,255,0.85)' }}&gt;Module 1 · Week 1&lt;/Text&gt;&#10;  &lt;/Box&gt;&#10;  &lt;Box style={{ position: 'absolute', top: 100, left: 0, width: '100%', height: 540, padding: '16px 84px', flexDirection: 'column' }}&gt;&#10;    &lt;Box style={{ flexDirection: 'row', alignItems: 'center', marginBottom: 8 }}&gt;&#10;      &lt;Box style={{ width: 130, flexShrink: 0 }}&gt;&#10;        &lt;Text style={{ fontSize: 16, color: '#8B97A8', fontWeight: '600' }}&gt;Timeline&lt;/Text&gt;&#10;      &lt;/Box&gt;&#10;      &lt;Box style={{ flex: 1, height: 3, background: '#D6DCE5', borderRadius: 2, position: 'relative' }}&gt;&#10;        &lt;Box style={{ position: 'absolute', left: '8%', top: -5, width: 13, height: 13, borderRadius: 7, background: '#3D7BD9' }} /&gt;&#10;        &lt;Box style={{ position: 'absolute', left: '38%', top: -5, width: 13, height: 13, borderRadius: 7, background: '#1E4FA8' }} /&gt;&#10;        &lt;Box style={{ position: 'absolute', left: '78%', top: -5, width: 13, height: 13, borderRadius: 7, background: '#0E3F8C' }} /&gt;&#10;      &lt;/Box&gt;&#10;    &lt;/Box&gt;&#10;    &lt;Box style={{ flexDirection: 'row', gap: 20, flex: 1, marginTop: 18 }}&gt;&#10;      {[&#10;        {&#10;          y: '1950s–1970s', t: 'Symbolic Era',&#10;          d: 'Turing Test; the Dartmouth Conference coins &quot;AI&quot;; expert systems. Limited by compute and data → the first AI winter.',&#10;          c: '#3D7BD9',&#10;        },&#10;        {&#10;          y: '1980s–2000s', t: 'Statistical ML',&#10;          d: 'Backpropagation revives neural networks; SVM and random forests mature; the internet brings massive data, making statistical learning mainstream.',&#10;          c: '#1E4FA8',&#10;        },&#10;        {&#10;          y: '2012 – Today', t: 'Deep Learning &amp; GenAI',&#10;          d: 'AlexNet wins ImageNet; the Transformer (2017) leads to GPT and BERT; large language models and generative AI explode.',&#10;          c: '#0E3F8C',&#10;        },&#10;      ].map((w, i) =&gt; (&#10;        &lt;Box key={i} style={{ flex: 1, background: '#F7F9FC', border: '1px solid #E5E7EB', borderTop: '4px solid ' + w.c, borderRadius: 12, padding: '20px 22px', justifyContent: 'space-between' }}&gt;&#10;          &lt;Box&gt;&#10;            &lt;Text style={{ fontSize: 17, color: w.c, fontWeight: 'bold' }}&gt;{w.y}&lt;/Text&gt;&#10;            &lt;Text style={{ fontSize: 23, color: '#1A2230', fontWeight: 'bold', marginTop: 4 }}&gt;{w.t}&lt;/Text&gt;&#10;            &lt;Text style={{ fontSize: 15, color: '#4A5568', lineHeight: 1.65, marginTop: 10 }}&gt;{w.d}&lt;/Text&gt;&#10;          &lt;/Box&gt;&#10;        &lt;/Box&gt;&#10;      ))}&#10;    &lt;/Box&gt;&#10;    &lt;Box style={{ background: '#F0F5FC', border: '1px solid #D6DCE5', borderRadius: 10, padding: '14px 20px', marginTop: 16 }}&gt;&#10;      &lt;Text style={{ fontSize: 16, color: '#1A2230', lineHeight: 1.6 }}&gt;&#10;        &lt;span style={{ fontWeight: 'bold', color: '#0E3F8C' }}&gt;Takeaway:&lt;/span&gt; we are in the &quot;application-engineering&quot; era — model capabilities are commoditized, and&#10;        &lt;span style={{ fontWeight: 'bold', color: '#0E3F8C' }}&gt; the entry window for software engineers is open&lt;/span&gt;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809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Three Waves of AI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123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Inter"/>
                <a:ea typeface="Inter"/>
              </a:rPr>
              <a:t>Timeline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800100" y="1581150"/>
            <a:ext cx="3400425" cy="339090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800100" y="1581150"/>
            <a:ext cx="3400425" cy="3390900"/>
          </a:xfrm>
          <a:custGeom>
            <a:pathLst>
              <a:path w="357" h="356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009650" y="1771650"/>
            <a:ext cx="2981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D7BD9"/>
                </a:solidFill>
                <a:latin typeface="Inter"/>
                <a:ea typeface="Inter"/>
              </a:rPr>
              <a:t>1950s–1970s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009650" y="2009775"/>
            <a:ext cx="298132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1A2230"/>
                </a:solidFill>
                <a:latin typeface="Inter"/>
                <a:ea typeface="Inter"/>
              </a:rPr>
              <a:t>Symbolic Era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09650" y="2371725"/>
            <a:ext cx="2981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Turing Test; the Dartmouth Conference coins "AI"; expert systems. Limited by compute and data → the first AI winter.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4391025" y="1581150"/>
            <a:ext cx="3409950" cy="339090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4391025" y="1581150"/>
            <a:ext cx="3409950" cy="3390900"/>
          </a:xfrm>
          <a:custGeom>
            <a:pathLst>
              <a:path w="358" h="356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4600575" y="1771650"/>
            <a:ext cx="2990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Inter"/>
                <a:ea typeface="Inter"/>
              </a:rPr>
              <a:t>1980s–2000s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600575" y="2009775"/>
            <a:ext cx="29908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1A2230"/>
                </a:solidFill>
                <a:latin typeface="Inter"/>
                <a:ea typeface="Inter"/>
              </a:rPr>
              <a:t>Statistical ML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600575" y="2371725"/>
            <a:ext cx="299085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Backpropagation revives neural networks; SVM and random forests mature; the internet brings massive data, making statistical learning mainstream.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7991475" y="1581150"/>
            <a:ext cx="3400425" cy="339090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7991475" y="1581150"/>
            <a:ext cx="3400425" cy="3390900"/>
          </a:xfrm>
          <a:custGeom>
            <a:pathLst>
              <a:path w="357" h="356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8201025" y="1771650"/>
            <a:ext cx="2981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2012 – Today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201025" y="2009775"/>
            <a:ext cx="298132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1A2230"/>
                </a:solidFill>
                <a:latin typeface="Inter"/>
                <a:ea typeface="Inter"/>
              </a:rPr>
              <a:t>Deep Learning &amp; GenAI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201025" y="2371725"/>
            <a:ext cx="2981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AlexNet wins ImageNet; the Transformer (2017) leads to GPT and BERT; large language models and generative AI explode.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800100" y="5086350"/>
            <a:ext cx="10591800" cy="857250"/>
          </a:xfrm>
          <a:prstGeom prst="roundRect">
            <a:avLst>
              <a:gd name="adj" fmla="val 1111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990600" y="5219700"/>
            <a:ext cx="102108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Takeaway: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we are in the "application-engineering" era — model capabilities are commoditized, and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 the entry window for software engineers is open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2038350" y="1190625"/>
            <a:ext cx="9353550" cy="28575"/>
          </a:xfrm>
          <a:prstGeom prst="roundRect">
            <a:avLst>
              <a:gd name="adj" fmla="val 66667"/>
            </a:avLst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6" name=""/>
          <p:cNvSpPr/>
          <p:nvPr/>
        </p:nvSpPr>
        <p:spPr>
          <a:xfrm rot="0" flipH="0" flipV="0">
            <a:off x="2790825" y="1143000"/>
            <a:ext cx="123825" cy="123825"/>
          </a:xfrm>
          <a:prstGeom prst="roundRect">
            <a:avLst>
              <a:gd name="adj" fmla="val 5384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" name=""/>
          <p:cNvSpPr/>
          <p:nvPr/>
        </p:nvSpPr>
        <p:spPr>
          <a:xfrm rot="0" flipH="0" flipV="0">
            <a:off x="5591175" y="1143000"/>
            <a:ext cx="123825" cy="123825"/>
          </a:xfrm>
          <a:prstGeom prst="roundRect">
            <a:avLst>
              <a:gd name="adj" fmla="val 5384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" name=""/>
          <p:cNvSpPr/>
          <p:nvPr/>
        </p:nvSpPr>
        <p:spPr>
          <a:xfrm rot="0" flipH="0" flipV="0">
            <a:off x="9334500" y="1143000"/>
            <a:ext cx="123825" cy="123825"/>
          </a:xfrm>
          <a:prstGeom prst="roundRect">
            <a:avLst>
              <a:gd name="adj" fmla="val 5384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10 / 32</a:t>
            </a:r>
            <a:endParaRPr/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51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wo AI Winters&lt;/Text&gt;&#10;    &lt;Text style={{ fontSize: 15, color: 'rgba(255,255,255,0.85)' }}&gt;What is AI · Part 02&lt;/Text&gt;&#10;  &lt;/Box&gt;&#10;  &lt;Box style={{ position: 'absolute', top: 96, left: 0, width: '100%', height: 470, padding: '6px 84px', flexDirection: 'row', gap: 24 }}&gt;&#10;    {[&#10;      { n: 'Winter I', y: '1974 – 1980', t: 'The First Winter', c: '#8B97A8', rows: [&#10;        { k: 'What happened', v: 'Perceptron limitations proven (Minsky &amp; Papert, 1969); symbolic systems fell far short of expectations' },&#10;        { k: 'Trigger', v: 'The UK Lighthill Report (1973) + drastic funding cuts in the UK and US' },&#10;        { k: 'The promise then', v: '“Machines will do everything humans can within a generation.”' },&#10;      ]},&#10;      { n: 'Winter II', y: '1987 – 1993', t: 'The Second Winter', c: '#0E3F8C', rows: [&#10;        { k: 'What happened', v: 'Expert systems cost far more to maintain than they earned; the Lisp machine market collapsed' },&#10;        { k: 'Trigger', v: 'Dedicated hardware replaced by commodity PCs; commercial investment walked away' },&#10;        { k: 'The promise then', v: '“Expert systems will enter every company.”' },&#10;      ]},&#10;    ].map((w, i) =&gt; (&#10;      &lt;Box key={i} style={{ flex: 1, background: '#F7F9FC', border: '1px solid #E5E7EB', borderRadius: 12, padding: '22px 24px' }}&gt;&#10;        &lt;Box style={{ flexDirection: 'row', alignItems: 'baseline', gap: 12 }}&gt;&#10;          &lt;Text style={{ fontSize: 26, color: w.c, fontWeight: 'bold' }}&gt;{w.n}&lt;/Text&gt;&#10;          &lt;Text style={{ fontSize: 15, color: '#8B97A8', fontWeight: '600' }}&gt;{w.y}&lt;/Text&gt;&#10;        &lt;/Box&gt;&#10;        &lt;Text style={{ fontSize: 19, color: '#1A2230', fontWeight: 'bold', marginTop: 4 }}&gt;{w.t}&lt;/Text&gt;&#10;        &lt;Box style={{ width: '100%', height: 2, background: '#E5E7EB', margin: '14px 0' }} /&gt;&#10;        {w.rows.map((r, j) =&gt; (&#10;          &lt;Box key={j} style={{ marginBottom: 13 }}&gt;&#10;            &lt;Text style={{ fontSize: 13, color: w.c, fontWeight: 'bold' }}&gt;{r.k}&lt;/Text&gt;&#10;            &lt;Text style={{ fontSize: 14.5, color: '#4A5568', lineHeight: 1.6, marginTop: 2 }}&gt;{r.v}&lt;/Text&gt;&#10;          &lt;/Box&gt;&#10;        ))}&#10;      &lt;/Box&gt;&#10;    ))}&#10;  &lt;/Box&gt;&#10;  &lt;Box style={{ position: 'absolute', top: 578, left: 0, width: '100%', height: 68, padding: '6px 84px' }}&gt;&#10;    &lt;Box style={{ width: '100%', height: '100%', background: '#0E3F8C', borderRadius: 12, padding: '10px 20px', flexDirection: 'row', alignItems: 'center', gap: 16 }}&gt;&#10;      &lt;Text style={{ fontSize: 16, color: '#FFFFFF', fontWeight: 'bold', flexShrink: 0 }}&gt;Three Lessons&lt;/Text&gt;&#10;      &lt;Box style={{ flex: 1, flexDirection: 'row', justifyContent: 'space-between', gap: 14 }}&gt;&#10;        {[&#10;          'Expectation bubbles: when promises outrun capability, capital retreats',&#10;          'Data and compute are the foundation: without them, capability is castles in the air',&#10;          'Stay sober today: AI is not magic — it is engineering',&#10;        ].map((t, i) =&gt; (&#10;          &lt;Text key={i} style={{ fontSize: 14, color: 'rgba(255,255,255,0.95)', lineHeight: 1.5, flex: 1 }}&gt;{i + 1}. {t}&lt;/Text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495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Two AI Winters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0163175" y="295275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What is AI · Part 02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800100" y="971550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028700" y="11811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Winter I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2057400" y="1181100"/>
            <a:ext cx="7905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8B97A8"/>
                </a:solidFill>
                <a:latin typeface="Inter"/>
                <a:ea typeface="Inter"/>
              </a:rPr>
              <a:t>1974 – 1980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028700" y="1524000"/>
            <a:ext cx="4724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The First Winter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1028700" y="1876425"/>
            <a:ext cx="4724400" cy="190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28700" y="20288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What happened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028700" y="2200275"/>
            <a:ext cx="4724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Perceptron limitations proven (Minsky &amp; Papert, 1969); symbolic systems fell far short of expectations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28700" y="28575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Trigger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1028700" y="3028950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The UK Lighthill Report (1973) + drastic funding cuts in the UK and US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028700" y="34194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The promise then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028700" y="3590925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“Machines will do everything humans can within a generation.”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210300" y="971550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438900" y="1181100"/>
            <a:ext cx="99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0E3F8C"/>
                </a:solidFill>
                <a:latin typeface="Inter"/>
                <a:ea typeface="Inter"/>
              </a:rPr>
              <a:t>Winter II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7543800" y="1181100"/>
            <a:ext cx="7905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8B97A8"/>
                </a:solidFill>
                <a:latin typeface="Inter"/>
                <a:ea typeface="Inter"/>
              </a:rPr>
              <a:t>1987 – 1993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438900" y="1524000"/>
            <a:ext cx="4724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The Second Winter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438900" y="1876425"/>
            <a:ext cx="4724400" cy="190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438900" y="20288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What happened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438900" y="2200275"/>
            <a:ext cx="4724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Expert systems cost far more to maintain than they earned; the Lisp machine market collapsed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6438900" y="28575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Trigger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438900" y="3028950"/>
            <a:ext cx="4724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Dedicated hardware replaced by commodity PCs; commercial investment walked away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438900" y="36861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The promise then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438900" y="3857625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“Expert systems will enter every company.”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800100" y="5562600"/>
            <a:ext cx="10591800" cy="676275"/>
          </a:xfrm>
          <a:prstGeom prst="roundRect">
            <a:avLst>
              <a:gd name="adj" fmla="val 169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90600" y="5810250"/>
            <a:ext cx="1066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Three Lessons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2209800" y="5657850"/>
            <a:ext cx="29051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1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. 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Expectation bubbles: when promises outrun capability, capital retreats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248275" y="5657850"/>
            <a:ext cx="29146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2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. 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Data and compute are the foundation: without them, capability is castles in the air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8296275" y="5657850"/>
            <a:ext cx="29051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3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. 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Stay sober today: AI is not magic — it is engineering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11 / 32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5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Why Should SE Students Learn AI?&lt;/Text&gt;&#10;    &lt;Text style={{ fontSize: 15, color: 'rgba(255,255,255,0.85)' }}&gt;Module 1 · Week 1&lt;/Text&gt;&#10;  &lt;/Box&gt;&#10;  &lt;Box style={{ position: 'absolute', top: 100, left: 0, width: '100%', height: 540, padding: '16px 84px', flexDirection: 'row', gap: 30 }}&gt;&#10;    &lt;Box style={{ width: 290, background: '#0E3F8C', borderRadius: 14, padding: '28px 24px', justifyContent: 'space-between', flexShrink: 0 }}&gt;&#10;      &lt;Text style={{ fontSize: 40, color: '#FFFFFF', fontWeight: 'bold', lineHeight: 1.3 }}&gt;&#10;        Role Shift&#10;        &lt;br /&gt;&#10;        &lt;span style={{ fontSize: 24, fontWeight: '600' }}&gt;From Training to Product&lt;/span&gt;&#10;      &lt;/Text&gt;&#10;      &lt;Box&gt;&#10;        &lt;Box style={{ width: '100%', height: 2, background: 'rgba(255,255,255,0.25)', marginBottom: 16 }} /&gt;&#10;        &lt;Text style={{ fontSize: 16, color: 'rgba(255,255,255,0.9)', lineHeight: 1.7 }}&gt;&#10;          Frameworks and APIs have commoditized model capability — an engineer's value now lies in&#10;          &lt;span style={{ fontWeight: 'bold' }}&gt; turning models into products&lt;/span&gt;.&#10;        &lt;/Text&gt;&#10;      &lt;/Box&gt;&#10;    &lt;/Box&gt;&#10;    &lt;Box style={{ flex: 1, gap: 16, justifyContent: 'center' }}&gt;&#10;      {[&#10;        { i: 'database', t: 'Feature → Data Engineering', d: 'With model capability built in, value shifts to data quality and pipelines — get the data right and the model follows.' },&#10;        { i: 'cogs', t: 'Rules → Systems', d: 'Not &quot;if-then&quot; business rules, but the design of complete systems: data + model + evaluation + iteration.' },&#10;        { i: 'robot', t: 'Apps → Agents', d: 'LLMs create new paradigms — agents, RAG, multimodal — each a fresh set of engineering problems.' },&#10;      ].map((r, i) =&gt; (&#10;        &lt;Box key={i} style={{ flexDirection: 'row', gap: 20, background: '#F7F9FC', border: '1px solid #E5E7EB', borderRadius: 12, padding: '16px 22px', alignItems: 'center' }}&gt;&#10;          &lt;Box style={{ width: 52, height: 52, borderRadius: 14, background: '#E8EFF8', justifyContent: 'center', alignItems: 'center', flexShrink: 0 }}&gt;&#10;            &lt;FAIcon name={r.i} style={{ fill: '#1E4FA8', width: 26, height: 26 }} /&gt;&#10;          &lt;/Box&gt;&#10;          &lt;Box style={{ flex: 1 }}&gt;&#10;            &lt;Text style={{ fontSize: 22, color: '#1A2230', fontWeight: 'bold' }}&gt;{r.t}&lt;/Text&gt;&#10;            &lt;Text style={{ fontSize: 15, color: '#4A5568', marginTop: 3 }}&gt;{r.d}&lt;/Text&gt;&#10;          &lt;/Box&gt;&#10;        &lt;/Box&gt;&#10;      ))}&#10;      &lt;Box style={{ borderLeft: '4px solid #0E3F8C', paddingLeft: 16, marginTop: 2 }}&gt;&#10;        &lt;Text style={{ fontSize: 16, color: '#1A2230', lineHeight: 1.6 }}&gt;&#10;          &lt;span style={{ fontWeight: 'bold', color: '#0E3F8C' }}&gt;Conclusion:&lt;/span&gt; an SE's edge is not &quot;training better models&quot; — it is&#10;          &lt;span style={{ fontWeight: 'bold', color: '#0E3F8C' }}&gt; delivering models as reliable software systems&lt;/span&gt;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4861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Why Should SE Students Learn AI?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800100" y="1104900"/>
            <a:ext cx="2762250" cy="4838700"/>
          </a:xfrm>
          <a:prstGeom prst="roundRect">
            <a:avLst>
              <a:gd name="adj" fmla="val 482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28700" y="1371600"/>
            <a:ext cx="2305050" cy="1314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3000" b="1">
                <a:solidFill>
                  <a:srgbClr val="FFFFFF"/>
                </a:solidFill>
                <a:latin typeface="Inter"/>
                <a:ea typeface="Inter"/>
              </a:rPr>
              <a:t>Role Shift</a:t>
            </a:r>
            <a:endParaRPr/>
          </a:p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FFFFFF"/>
                </a:solidFill>
                <a:latin typeface="Inter"/>
                <a:ea typeface="Inter"/>
              </a:rPr>
              <a:t>From Training to Product</a:t>
            </a:r>
            <a:endParaRPr/>
          </a:p>
        </p:txBody>
      </p:sp>
      <p:sp>
        <p:nvSpPr>
          <p:cNvPr id="92" name=""/>
          <p:cNvSpPr/>
          <p:nvPr/>
        </p:nvSpPr>
        <p:spPr>
          <a:xfrm rot="0" flipH="0" flipV="0">
            <a:off x="1028700" y="4257675"/>
            <a:ext cx="230505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1028700" y="4429125"/>
            <a:ext cx="2305050" cy="1247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00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Frameworks and APIs have commoditized model capability — an engineer's value now lies in</a:t>
            </a:r>
            <a:r>
              <a:rPr lang="en-US" sz="1200" b="1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 turning models into products</a:t>
            </a:r>
            <a:r>
              <a:rPr lang="en-US" sz="1200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3848100" y="1590675"/>
            <a:ext cx="7543800" cy="933450"/>
          </a:xfrm>
          <a:prstGeom prst="roundRect">
            <a:avLst>
              <a:gd name="adj" fmla="val 1224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4057650" y="180975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81475" y="1933575"/>
            <a:ext cx="247650" cy="247650"/>
          </a:xfrm>
          <a:prstGeom prst="rect">
            <a:avLst/>
          </a:prstGeom>
          <a:ln/>
        </p:spPr>
      </p:pic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743450" y="1743075"/>
            <a:ext cx="6438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Inter"/>
                <a:ea typeface="Inter"/>
              </a:rPr>
              <a:t>Feature → Data Engineering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4743450" y="2028825"/>
            <a:ext cx="64389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With model capability built in, value shifts to data quality and pipelines — get the data right and the model follows.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3848100" y="2676525"/>
            <a:ext cx="7543800" cy="933450"/>
          </a:xfrm>
          <a:prstGeom prst="roundRect">
            <a:avLst>
              <a:gd name="adj" fmla="val 1224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0" name=""/>
          <p:cNvSpPr/>
          <p:nvPr/>
        </p:nvSpPr>
        <p:spPr>
          <a:xfrm rot="0" flipH="0" flipV="0">
            <a:off x="4057650" y="289560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181475" y="3019425"/>
            <a:ext cx="247650" cy="247650"/>
          </a:xfrm>
          <a:prstGeom prst="rect">
            <a:avLst/>
          </a:prstGeom>
          <a:ln/>
        </p:spPr>
      </p:pic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4743450" y="2828925"/>
            <a:ext cx="6438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Inter"/>
                <a:ea typeface="Inter"/>
              </a:rPr>
              <a:t>Rules → Systems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4743450" y="3114675"/>
            <a:ext cx="64389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Not "if-then" business rules, but the design of complete systems: data + model + evaluation + iteration.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3848100" y="3762375"/>
            <a:ext cx="7543800" cy="933450"/>
          </a:xfrm>
          <a:prstGeom prst="roundRect">
            <a:avLst>
              <a:gd name="adj" fmla="val 1224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5" name=""/>
          <p:cNvSpPr/>
          <p:nvPr/>
        </p:nvSpPr>
        <p:spPr>
          <a:xfrm rot="0" flipH="0" flipV="0">
            <a:off x="4057650" y="398145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181475" y="4105275"/>
            <a:ext cx="247650" cy="247650"/>
          </a:xfrm>
          <a:prstGeom prst="rect">
            <a:avLst/>
          </a:prstGeom>
          <a:ln/>
        </p:spPr>
      </p:pic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4743450" y="3914775"/>
            <a:ext cx="6438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Inter"/>
                <a:ea typeface="Inter"/>
              </a:rPr>
              <a:t>Apps → Agents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4743450" y="4200525"/>
            <a:ext cx="64389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LLMs create new paradigms — agents, RAG, multimodal — each a fresh set of engineering problems.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3848100" y="4867275"/>
            <a:ext cx="7581900" cy="590550"/>
          </a:xfrm>
          <a:custGeom>
            <a:pathLst>
              <a:path w="796" h="62">
                <a:moveTo>
                  <a:pt x="0" y="0"/>
                </a:moveTo>
                <a:lnTo>
                  <a:pt x="4" y="0"/>
                </a:lnTo>
                <a:lnTo>
                  <a:pt x="4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4038600" y="4867275"/>
            <a:ext cx="73533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Conclusion: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an SE's edge is not "training better models" — it is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 delivering models as reliable software systems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12 / 32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13" name="" descr="&lt;Slide style={{ width: '1280px', height: '720px', background: '#F7F9FC', padding: '0px', position: 'relative', overflow: 'hidden', fontFamily: 'Inter, Helvetica Neue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3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3&lt;/Text&gt;&#10;      &lt;/Box&gt;&#10;      &lt;Box style={{ paddingTop: 6 }}&gt;&#10;        &lt;Text style={{ fontSize: 44, color: '#1A2230', fontWeight: 'bold' }}&gt;Domains &amp;amp; Careers&lt;/Text&gt;&#10;        &lt;Text style={{ fontSize: 26, color: '#8B97A8', fontWeight: '600', marginTop: 6 }}&gt;Where AI is applied&lt;/Text&gt;&#10;      &lt;/Box&gt;&#10;    &lt;/Box&gt;&#10;    &lt;Box style={{ flexDirection: 'row', gap: 24 }}&gt;&#10;      {[&#10;        { t: '4 Domains', e: 'CV · NLP · Multimodal · RecSys' },&#10;        { t: 'Career Roles', e: '4 paths' },&#10;        { t: 'SE Leverage', e: 'AI App Eng / MLOps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8671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Domains &amp; Careers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867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Where AI is applied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4 Domains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CV · NLP · Multimodal · RecSys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6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Career Roles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4 paths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SE Leverage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AI App Eng / MLOps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3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Application Domains&lt;/Text&gt;&#10;    &lt;Text style={{ fontSize: 15, color: 'rgba(255,255,255,0.85)' }}&gt;Module 1 · Week 1&lt;/Text&gt;&#10;  &lt;/Box&gt;&#10;  &lt;Box style={{ position: 'absolute', top: 100, left: 0, width: '100%', height: 540, padding: '10px 84px', flexDirection: 'row', gap: 26 }}&gt;&#10;    &lt;Box style={{ flex: 1.3, justifyContent: 'space-between' }}&gt;&#10;      &lt;Box style={{ flexDirection: 'row', gap: 20, flex: 1, marginBottom: 14 }}&gt;&#10;        &lt;Box style={{ flex: 1, background: '#F7F9FC', border: '1px solid #E5E7EB', borderLeft: '5px solid #1E4FA8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eye' style={{ fill: '#1E4FA8', width: 20, height: 20 }} /&gt;&#10;            &lt;/Box&gt;&#10;            &lt;Box&gt;&#10;              &lt;Text style={{ fontSize: 20, color: '#1A2230', fontWeight: 'bold' }}&gt;Computer Vision&lt;/Text&gt;&#10;              &lt;Text style={{ fontSize: 13, color: '#8B97A8' }}&gt;CV&lt;/Text&gt;&#10;            &lt;/Box&gt;&#10;          &lt;/Box&gt;&#10;          &lt;Text style={{ fontSize: 14.5, color: '#4A5568', lineHeight: 1.55, marginTop: 10 }}&gt;Image classification, object detection, face recognition, defect inspection, autonomous-driving perception.&lt;/Text&gt;&#10;        &lt;/Box&gt;&#10;        &lt;Box style={{ flex: 1, background: '#F7F9FC', border: '1px solid #E5E7EB', borderLeft: '5px solid #3D7BD9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language' style={{ fill: '#3D7BD9', width: 20, height: 20 }} /&gt;&#10;            &lt;/Box&gt;&#10;            &lt;Box&gt;&#10;              &lt;Text style={{ fontSize: 20, color: '#1A2230', fontWeight: 'bold' }}&gt;NLP&lt;/Text&gt;&#10;              &lt;Text style={{ fontSize: 13, color: '#8B97A8' }}&gt;Natural Language Processing&lt;/Text&gt;&#10;            &lt;/Box&gt;&#10;          &lt;/Box&gt;&#10;          &lt;Text style={{ fontSize: 14.5, color: '#4A5568', lineHeight: 1.55, marginTop: 10 }}&gt;Machine translation, sentiment analysis, text summarization, question answering, intelligent customer service.&lt;/Text&gt;&#10;        &lt;/Box&gt;&#10;      &lt;/Box&gt;&#10;      &lt;Box style={{ flexDirection: 'row', gap: 20, flex: 1 }}&gt;&#10;        &lt;Box style={{ flex: 1, background: '#F7F9FC', border: '1px solid #E5E7EB', borderLeft: '5px solid #1E4FA8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microphone' style={{ fill: '#1E4FA8', width: 20, height: 20 }} /&gt;&#10;            &lt;/Box&gt;&#10;            &lt;Box&gt;&#10;              &lt;Text style={{ fontSize: 20, color: '#1A2230', fontWeight: 'bold' }}&gt;Speech &amp;amp; Multimodal&lt;/Text&gt;&#10;              &lt;Text style={{ fontSize: 13, color: '#8B97A8' }}&gt;Audio · Vision · Text&lt;/Text&gt;&#10;            &lt;/Box&gt;&#10;          &lt;/Box&gt;&#10;          &lt;Text style={{ fontSize: 14.5, color: '#4A5568', lineHeight: 1.55, marginTop: 10 }}&gt;Speech recognition/synthesis, text-to-image, video understanding, multimodal assistants.&lt;/Text&gt;&#10;        &lt;/Box&gt;&#10;        &lt;Box style={{ flex: 1, background: '#F7F9FC', border: '1px solid #E5E7EB', borderLeft: '5px solid #0E3F8C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chart-line' style={{ fill: '#0E3F8C', width: 20, height: 20 }} /&gt;&#10;            &lt;/Box&gt;&#10;            &lt;Box&gt;&#10;              &lt;Text style={{ fontSize: 20, color: '#1A2230', fontWeight: 'bold' }}&gt;Recommendation &amp;amp; Decision&lt;/Text&gt;&#10;              &lt;Text style={{ fontSize: 13, color: '#8B97A8' }}&gt;RecSys&lt;/Text&gt;&#10;            &lt;/Box&gt;&#10;          &lt;/Box&gt;&#10;          &lt;Text style={{ fontSize: 14.5, color: '#4A5568', lineHeight: 1.55, marginTop: 10 }}&gt;Recommender systems, risk control and fraud detection, supply-chain forecasting, pricing optimization.&lt;/Text&gt;&#10;        &lt;/Box&gt;&#10;      &lt;/Box&gt;&#10;    &lt;/Box&gt;&#10;    &lt;Box style={{ width: 290, background: '#F0F5FC', border: '1px solid #D6DCE5', borderRadius: 14, padding: '26px 24px', justifyContent: 'center', flexShrink: 0 }}&gt;&#10;      &lt;Text style={{ fontSize: 40, color: '#0E3F8C', fontWeight: 'bold', lineHeight: 1.2 }}&gt;&#10;        Perceive&#10;        &lt;br /&gt;&#10;        Understand&#10;        &lt;br /&gt;&#10;        Generate&#10;        &lt;br /&gt;&#10;        Decide&#10;      &lt;/Text&gt;&#10;      &lt;Text style={{ fontSize: 15, color: '#8B97A8', marginTop: 6 }}&gt;The four verbs behind every AI product&lt;/Text&gt;&#10;      &lt;Box style={{ width: '100%', height: 2, background: '#D6DCE5', marginTop: 18 }} /&gt;&#10;      &lt;Text style={{ fontSize: 16, color: '#1A2230', lineHeight: 1.7, marginTop: 16 }}&gt;&#10;        All four domains converge: &lt;span style={{ fontWeight: 'bold', color: '#0E3F8C' }}&gt;every AI application completes a loop from input to judgment/output&lt;/span&gt;. In the coming labs you will build this loop yourself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076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Application Domains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847725" y="1047750"/>
            <a:ext cx="3695700" cy="2409825"/>
          </a:xfrm>
          <a:prstGeom prst="roundRect">
            <a:avLst>
              <a:gd name="adj" fmla="val 47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9" name=""/>
          <p:cNvSpPr/>
          <p:nvPr/>
        </p:nvSpPr>
        <p:spPr>
          <a:xfrm rot="0" flipH="0" flipV="0">
            <a:off x="847725" y="1047750"/>
            <a:ext cx="3695700" cy="2409825"/>
          </a:xfrm>
          <a:custGeom>
            <a:pathLst>
              <a:path w="388" h="253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46"/>
                </a:lnTo>
                <a:cubicBezTo>
                  <a:pt x="5" y="249"/>
                  <a:pt x="7" y="252"/>
                  <a:pt x="10" y="253"/>
                </a:cubicBezTo>
                <a:cubicBezTo>
                  <a:pt x="4" y="252"/>
                  <a:pt x="0" y="247"/>
                  <a:pt x="0" y="241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1038225" y="1200150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33475" y="1295400"/>
            <a:ext cx="190500" cy="190500"/>
          </a:xfrm>
          <a:prstGeom prst="rect">
            <a:avLst/>
          </a:prstGeom>
          <a:ln/>
        </p:spPr>
      </p:pic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533525" y="1200150"/>
            <a:ext cx="1514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Computer Vision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533525" y="1428750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CV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1038225" y="1676400"/>
            <a:ext cx="32670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Image classification, object detection, face recognition, defect inspection, autonomous-driving perception.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4733925" y="1047750"/>
            <a:ext cx="3695700" cy="2409825"/>
          </a:xfrm>
          <a:prstGeom prst="roundRect">
            <a:avLst>
              <a:gd name="adj" fmla="val 47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4733925" y="1047750"/>
            <a:ext cx="3695700" cy="2409825"/>
          </a:xfrm>
          <a:custGeom>
            <a:pathLst>
              <a:path w="388" h="253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46"/>
                </a:lnTo>
                <a:cubicBezTo>
                  <a:pt x="5" y="249"/>
                  <a:pt x="7" y="252"/>
                  <a:pt x="10" y="253"/>
                </a:cubicBezTo>
                <a:cubicBezTo>
                  <a:pt x="4" y="252"/>
                  <a:pt x="0" y="247"/>
                  <a:pt x="0" y="241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4924425" y="1200150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019675" y="1295400"/>
            <a:ext cx="190500" cy="190500"/>
          </a:xfrm>
          <a:prstGeom prst="rect">
            <a:avLst/>
          </a:prstGeom>
          <a:ln/>
        </p:spPr>
      </p:pic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5419725" y="1200150"/>
            <a:ext cx="1638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NLP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5419725" y="1428750"/>
            <a:ext cx="163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Natural Language Processing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924425" y="1676400"/>
            <a:ext cx="32670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Machine translation, sentiment analysis, text summarization, question answering, intelligent customer service.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847725" y="3590925"/>
            <a:ext cx="3695700" cy="2409825"/>
          </a:xfrm>
          <a:prstGeom prst="roundRect">
            <a:avLst>
              <a:gd name="adj" fmla="val 47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3" name=""/>
          <p:cNvSpPr/>
          <p:nvPr/>
        </p:nvSpPr>
        <p:spPr>
          <a:xfrm rot="0" flipH="0" flipV="0">
            <a:off x="847725" y="3590925"/>
            <a:ext cx="3695700" cy="2409825"/>
          </a:xfrm>
          <a:custGeom>
            <a:pathLst>
              <a:path w="388" h="253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46"/>
                </a:lnTo>
                <a:cubicBezTo>
                  <a:pt x="5" y="249"/>
                  <a:pt x="7" y="252"/>
                  <a:pt x="10" y="253"/>
                </a:cubicBezTo>
                <a:cubicBezTo>
                  <a:pt x="4" y="252"/>
                  <a:pt x="0" y="247"/>
                  <a:pt x="0" y="241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4" name=""/>
          <p:cNvSpPr/>
          <p:nvPr/>
        </p:nvSpPr>
        <p:spPr>
          <a:xfrm rot="0" flipH="0" flipV="0">
            <a:off x="1038225" y="3743325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133475" y="3838575"/>
            <a:ext cx="190500" cy="190500"/>
          </a:xfrm>
          <a:prstGeom prst="rect">
            <a:avLst/>
          </a:prstGeom>
          <a:ln/>
        </p:spPr>
      </p:pic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1533525" y="3743325"/>
            <a:ext cx="1933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Speech &amp; Multimodal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533525" y="3971925"/>
            <a:ext cx="1933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Audio · Vision · Text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038225" y="4219575"/>
            <a:ext cx="32670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Speech recognition/synthesis, text-to-image, video understanding, multimodal assistants.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4733925" y="3590925"/>
            <a:ext cx="3695700" cy="2409825"/>
          </a:xfrm>
          <a:prstGeom prst="roundRect">
            <a:avLst>
              <a:gd name="adj" fmla="val 47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4733925" y="3590925"/>
            <a:ext cx="3695700" cy="2409825"/>
          </a:xfrm>
          <a:custGeom>
            <a:pathLst>
              <a:path w="388" h="253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46"/>
                </a:lnTo>
                <a:cubicBezTo>
                  <a:pt x="5" y="249"/>
                  <a:pt x="7" y="252"/>
                  <a:pt x="10" y="253"/>
                </a:cubicBezTo>
                <a:cubicBezTo>
                  <a:pt x="4" y="252"/>
                  <a:pt x="0" y="247"/>
                  <a:pt x="0" y="241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4924425" y="3743325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019675" y="3838575"/>
            <a:ext cx="190500" cy="190500"/>
          </a:xfrm>
          <a:prstGeom prst="rect">
            <a:avLst/>
          </a:prstGeom>
          <a:ln/>
        </p:spPr>
      </p:pic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5419725" y="3743325"/>
            <a:ext cx="2638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Recommendation &amp; Decision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5419725" y="3971925"/>
            <a:ext cx="2638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RecSys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4924425" y="4219575"/>
            <a:ext cx="32670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Recommender systems, risk control and fraud detection, supply-chain forecasting, pricing optimization.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8629650" y="1047750"/>
            <a:ext cx="2762250" cy="5000625"/>
          </a:xfrm>
          <a:prstGeom prst="roundRect">
            <a:avLst>
              <a:gd name="adj" fmla="val 48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8858250" y="1295400"/>
            <a:ext cx="2305050" cy="22002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0E3F8C"/>
                </a:solidFill>
                <a:latin typeface="Inter"/>
                <a:ea typeface="Inter"/>
              </a:rPr>
              <a:t>Perceive</a:t>
            </a:r>
            <a:endParaRPr/>
          </a:p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0E3F8C"/>
                </a:solidFill>
                <a:latin typeface="Inter"/>
                <a:ea typeface="Inter"/>
              </a:rPr>
              <a:t>Understand</a:t>
            </a:r>
            <a:endParaRPr/>
          </a:p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0E3F8C"/>
                </a:solidFill>
                <a:latin typeface="Inter"/>
                <a:ea typeface="Inter"/>
              </a:rPr>
              <a:t>Generate</a:t>
            </a:r>
            <a:endParaRPr/>
          </a:p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0E3F8C"/>
                </a:solidFill>
                <a:latin typeface="Inter"/>
                <a:ea typeface="Inter"/>
              </a:rPr>
              <a:t>Decide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8858250" y="3552825"/>
            <a:ext cx="23050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The four verbs behind every AI product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8858250" y="4067175"/>
            <a:ext cx="230505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858250" y="4238625"/>
            <a:ext cx="2305050" cy="1562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All four domains converge: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every AI application completes a loop from input to judgment/output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 In the coming labs you will build this loop yourself.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14 / 32</a:t>
            </a:r>
            <a:endParaRPr/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173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Six Breakthroughs That Changed Everything&lt;/Text&gt;&#10;    &lt;Text style={{ fontSize: 15, color: 'rgba(255,255,255,0.85)' }}&gt;Domains &amp;amp; Careers · Part 03&lt;/Text&gt;&#10;  &lt;/Box&gt;&#10;  &lt;Box style={{ position: 'absolute', top: 100, left: 0, width: '100%', height: 340, padding: '10px 84px', flexDirection: 'row', gap: 16, alignItems: 'stretch' }}&gt;&#10;    {[&#10;      { y: '2012', t: 'AlexNet', d: 'The deep-learning ignition point: ImageNet error dropped 10 points; GPU training became standard.', e: 'Deep learning ignition' },&#10;      { y: '2016', t: 'AlphaGo', d: 'RL beat Lee Sedol; “intuitive” moves stunned the world and ignited a global AI boom.', e: 'RL beats world champion' },&#10;      { y: '2017', t: 'Transformer', d: '“Attention Is All You Need”: attention became the foundation of every large model today.', e: 'Foundation of all LLMs' },&#10;      { y: '2020', t: 'GPT-3', d: '175B parameters, few-shot learning: scale brought emergent capability for the first time.', e: 'Scale brings emergence' },&#10;      { y: '2022', t: 'ChatGPT', d: '100M users in two months; conversational AI entered daily life — the year of GenAI.', e: 'GenAI goes mainstream' },&#10;      { y: '2023+', t: 'Multimodal', d: 'GPT-4V / Gemini: unified understanding and generation of text, image, audio, and video.', e: 'Multimodal era' },&#10;    ].map((b, i) =&gt; (&#10;      &lt;Box key={i} style={{ flex: 1, flexDirection: 'column' }}&gt;&#10;        &lt;Box style={{ height: 46, background: i &lt; 5 ? '#1E4FA8' : '#0E3F8C', borderRadius: 10, justifyContent: 'center', alignItems: 'center' }}&gt;&#10;          &lt;Text style={{ fontSize: 19, color: '#FFFFFF', fontWeight: 'bold' }}&gt;{b.y}&lt;/Text&gt;&#10;        &lt;/Box&gt;&#10;        &lt;Box style={{ flex: 1, background: '#F7F9FC', border: '1px solid #E5E7EB', borderTop: 'none', borderRadius: '0 0 10px 10px', padding: '14px 13px' }}&gt;&#10;          &lt;Text style={{ fontSize: 17, color: '#1A2230', fontWeight: 'bold' }}&gt;{b.t}&lt;/Text&gt;&#10;          &lt;Text style={{ fontSize: 12, color: '#8B97A8', marginTop: 1 }}&gt;{b.e}&lt;/Text&gt;&#10;          &lt;Text style={{ fontSize: 13, color: '#4A5568', lineHeight: 1.6, marginTop: 8 }}&gt;{b.d}&lt;/Text&gt;&#10;        &lt;/Box&gt;&#10;      &lt;/Box&gt;&#10;    ))}&#10;  &lt;/Box&gt;&#10;  &lt;Box style={{ position: 'absolute', top: 470, left: 0, width: '100%', height: 176, padding: '6px 84px' }}&gt;&#10;    &lt;Box style={{ width: '100%', height: '100%', background: '#F0F5FC', border: '1px solid #D6DCE5', borderRadius: 12, padding: '16px 24px', justifyContent: 'center' }}&gt;&#10;      &lt;Text style={{ fontSize: 17, color: '#0E3F8C', fontWeight: 'bold' }}&gt;How to Read This Timeline&lt;/Text&gt;&#10;      &lt;Box style={{ flexDirection: 'row', gap: 22, marginTop: 12 }}&gt;&#10;        {[&#10;          { k: 'The pace is accelerating', v: 'AlexNet to ChatGPT took 10 years; since then, every year is a milestone.' },&#10;          { k: 'Paradigms are converging', v: 'Different tasks (CV / NLP / speech) all converged on the unified Transformer architecture.' },&#10;          { k: 'The barrier is falling', v: 'Paper-to-product time shrank from years to months — that is the application engineer\u2019s window.' },&#10;        ].map((t, i) =&gt; (&#10;          &lt;Box key={i} style={{ flex: 1, background: '#FFFFFF', borderRadius: 8, padding: '12px 16px', borderLeft: '4px solid #1E4FA8' }}&gt;&#10;            &lt;Text style={{ fontSize: 15, color: '#1A2230', fontWeight: 'bold' }}&gt;{t.k}&lt;/Text&gt;&#10;            &lt;Text style={{ fontSize: 13.5, color: '#4A5568', lineHeight: 1.6, marginTop: 4 }}&gt;{t.v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429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Six Breakthroughs That Changed Everything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9572625" y="295275"/>
            <a:ext cx="1819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Domains &amp; Careers · Part 03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8001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1419225" y="1162050"/>
            <a:ext cx="409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2012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8001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9239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AlexNet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9239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Deep learning ignition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923925" y="2047875"/>
            <a:ext cx="1390650" cy="1190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The deep-learning ignition point: ImageNet error dropped 10 points; GPU training became standard.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25908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3209925" y="1162050"/>
            <a:ext cx="409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2016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25908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27146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AlphaGo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27146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RL beats world champion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2714625" y="2047875"/>
            <a:ext cx="13906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RL beat Lee Sedol; “intuitive” moves stunned the world and ignited a global AI boom.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43815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5000625" y="1162050"/>
            <a:ext cx="409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2017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43815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5053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Transformer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5053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Foundation of all LLMs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505325" y="2047875"/>
            <a:ext cx="13906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“Attention Is All You Need”: attention became the foundation of every large model today.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61722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791325" y="1162050"/>
            <a:ext cx="409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2020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61722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62960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GPT-3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62960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Scale brings emergence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6296025" y="2047875"/>
            <a:ext cx="1390650" cy="1190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175B parameters, few-shot learning: scale brought emergent capability for the first time.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79629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8582025" y="1162050"/>
            <a:ext cx="409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2022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79629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0867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ChatGPT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0867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GenAI goes mainstream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8086725" y="2047875"/>
            <a:ext cx="13906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100M users in two months; conversational AI entered daily life — the year of GenAI.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97536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0315575" y="1162050"/>
            <a:ext cx="514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2023+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97536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98774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Multimodal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98774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Multimodal era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877425" y="2047875"/>
            <a:ext cx="13906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GPT-4V / Gemini: unified understanding and generation of text, image, audio, and video.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800100" y="4533900"/>
            <a:ext cx="10591800" cy="1800225"/>
          </a:xfrm>
          <a:prstGeom prst="roundRect">
            <a:avLst>
              <a:gd name="adj" fmla="val 634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1028700" y="4686300"/>
            <a:ext cx="1013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How to Read This Timeline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1066800" y="5000625"/>
            <a:ext cx="3238500" cy="11811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7" name=""/>
          <p:cNvSpPr/>
          <p:nvPr/>
        </p:nvSpPr>
        <p:spPr>
          <a:xfrm rot="0" flipH="0" flipV="0">
            <a:off x="1066800" y="5000625"/>
            <a:ext cx="3238500" cy="1181100"/>
          </a:xfrm>
          <a:custGeom>
            <a:pathLst>
              <a:path w="340" h="124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20"/>
                </a:lnTo>
                <a:cubicBezTo>
                  <a:pt x="4" y="122"/>
                  <a:pt x="5" y="124"/>
                  <a:pt x="7" y="124"/>
                </a:cubicBezTo>
                <a:cubicBezTo>
                  <a:pt x="3" y="124"/>
                  <a:pt x="0" y="120"/>
                  <a:pt x="0" y="116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219200" y="5114925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The pace is accelerating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1219200" y="5324475"/>
            <a:ext cx="2895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AlexNet to ChatGPT took 10 years; since then, every year is a milestone.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4514850" y="5000625"/>
            <a:ext cx="3238500" cy="11811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1" name=""/>
          <p:cNvSpPr/>
          <p:nvPr/>
        </p:nvSpPr>
        <p:spPr>
          <a:xfrm rot="0" flipH="0" flipV="0">
            <a:off x="4514850" y="5000625"/>
            <a:ext cx="3238500" cy="1181100"/>
          </a:xfrm>
          <a:custGeom>
            <a:pathLst>
              <a:path w="340" h="124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20"/>
                </a:lnTo>
                <a:cubicBezTo>
                  <a:pt x="4" y="122"/>
                  <a:pt x="5" y="124"/>
                  <a:pt x="7" y="124"/>
                </a:cubicBezTo>
                <a:cubicBezTo>
                  <a:pt x="3" y="124"/>
                  <a:pt x="0" y="120"/>
                  <a:pt x="0" y="116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4667250" y="5114925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Paradigms are converging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4667250" y="5324475"/>
            <a:ext cx="2895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Different tasks (CV / NLP / speech) all converged on the unified Transformer architecture.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7962900" y="5000625"/>
            <a:ext cx="3238500" cy="11811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7962900" y="5000625"/>
            <a:ext cx="3238500" cy="1181100"/>
          </a:xfrm>
          <a:custGeom>
            <a:pathLst>
              <a:path w="340" h="124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20"/>
                </a:lnTo>
                <a:cubicBezTo>
                  <a:pt x="4" y="122"/>
                  <a:pt x="5" y="124"/>
                  <a:pt x="7" y="124"/>
                </a:cubicBezTo>
                <a:cubicBezTo>
                  <a:pt x="3" y="124"/>
                  <a:pt x="0" y="120"/>
                  <a:pt x="0" y="116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115300" y="5114925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The barrier is falling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8115300" y="5324475"/>
            <a:ext cx="28956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Paper-to-product time shrank from years to months — that is the application engineer’s window.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15 / 32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230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areer Paths&lt;/Text&gt;&#10;    &lt;Text style={{ fontSize: 15, color: 'rgba(255,255,255,0.85)' }}&gt;Module 1 · Week 1&lt;/Text&gt;&#10;  &lt;/Box&gt;&#10;  &lt;Box style={{ position: 'absolute', top: 100, left: 0, width: '100%', height: 540, padding: '16px 84px', flexDirection: 'row', gap: 26 }}&gt;&#10;    &lt;Box style={{ width: 270, background: '#0E3F8C', borderRadius: 14, padding: '26px 24px', justifyContent: 'space-between', flexShrink: 0 }}&gt;&#10;      &lt;Text style={{ fontSize: 40, color: '#FFFFFF', fontWeight: 'bold', lineHeight: 1.3 }}&gt;&#10;        4 Roles&#10;      &lt;/Text&gt;&#10;      &lt;Box&gt;&#10;        &lt;Box style={{ width: '100%', height: 2, background: 'rgba(255,255,255,0.25)', marginBottom: 14 }} /&gt;&#10;        &lt;Text style={{ fontSize: 15, color: 'rgba(255,255,255,0.9)', lineHeight: 1.7 }}&gt;&#10;          You don't need to become an algorithm researcher — engineering skill is your differentiator.&#10;        &lt;/Text&gt;&#10;      &lt;/Box&gt;&#10;    &lt;/Box&gt;&#10;    &lt;Box style={{ flex: 1, justifyContent: 'center', gap: 12 }}&gt;&#10;      {[&#10;        { r: 'ML Engineer', w: 'Train, evaluate, deploy, and monitor models; build ML pipelines', m: 'M1–2, M4', c: '#1E4FA8' },&#10;        { r: 'AI Application Engineer', w: 'Build applications on LLMs/APIs: RAG, agents, product integration', m: 'M3–4', c: '#3D7BD9' },&#10;        { r: 'Data Scientist', w: 'Model business problems, analyze data, design experiments, derive insights', m: 'M1', c: '#1E4FA8' },&#10;        { r: 'MLOps Engineer', w: 'CI/CD, model serving, monitoring, and reliability engineering', m: 'M4', c: '#0E3F8C' },&#10;      ].map((j, i) =&gt; (&#10;        &lt;Box key={i} style={{ flexDirection: 'row', alignItems: 'center', gap: 16, background: '#F7F9FC', border: '1px solid #E5E7EB', borderLeft: '5px solid ' + j.c, borderRadius: 10, padding: '13px 20px' }}&gt;&#10;          &lt;Box style={{ width: 46, height: 46, borderRadius: 12, background: '#E8EFF8', justifyContent: 'center', alignItems: 'center', flexShrink: 0 }}&gt;&#10;            &lt;Text style={{ fontSize: 17, color: j.c, fontWeight: 'bold' }}&gt;{i + 1}&lt;/Text&gt;&#10;          &lt;/Box&gt;&#10;          &lt;Box style={{ flex: 1 }}&gt;&#10;            &lt;Text style={{ fontSize: 20, color: '#1A2230', fontWeight: 'bold' }}&gt;{j.r}&lt;/Text&gt;&#10;            &lt;Text style={{ fontSize: 14.5, color: '#4A5568', marginTop: 2 }}&gt;{j.w}&lt;/Text&gt;&#10;          &lt;/Box&gt;&#10;          &lt;Box style={{ background: j.c, borderRadius: 8, padding: '5px 12px', flexShrink: 0 }}&gt;&#10;            &lt;Text style={{ fontSize: 13, color: '#FFFFFF', fontWeight: 'bold' }}&gt;{j.m}&lt;/Text&gt;&#10;          &lt;/Box&gt;&#10;        &lt;/Box&gt;&#10;      ))}&#10;      &lt;Box style={{ borderLeft: '4px solid #0E3F8C', paddingLeft: 16, marginTop: 4 }}&gt;&#10;        &lt;Text style={{ fontSize: 16, color: '#1A2230', lineHeight: 1.6 }}&gt;&#10;          &lt;span style={{ fontWeight: 'bold', color: '#0E3F8C' }}&gt;Highest leverage for SE students:&lt;/span&gt; AI Application Engineer &amp;amp; MLOps — Modules 3–4 target these directly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304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Career Paths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800100" y="1104900"/>
            <a:ext cx="2571750" cy="4838700"/>
          </a:xfrm>
          <a:prstGeom prst="roundRect">
            <a:avLst>
              <a:gd name="adj" fmla="val 51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028700" y="135255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3000" b="1">
                <a:solidFill>
                  <a:srgbClr val="FFFFFF"/>
                </a:solidFill>
                <a:latin typeface="Inter"/>
                <a:ea typeface="Inter"/>
              </a:rPr>
              <a:t>4 Roles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1028700" y="4371975"/>
            <a:ext cx="211455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028700" y="4524375"/>
            <a:ext cx="211455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125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You don't need to become an algorithm researcher — engineering skill is your differentiator.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3667125" y="17621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3667125" y="17621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3857625" y="18859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4029075" y="2009775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4448175" y="1895475"/>
            <a:ext cx="5810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ML Engineer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4448175" y="2143125"/>
            <a:ext cx="5810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Train, evaluate, deploy, and monitor models; build ML pipelines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10410825" y="1981200"/>
            <a:ext cx="790575" cy="247650"/>
          </a:xfrm>
          <a:prstGeom prst="roundRect">
            <a:avLst>
              <a:gd name="adj" fmla="val 3076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10525125" y="2028825"/>
            <a:ext cx="561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M1–2, M4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3667125" y="25622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8" name=""/>
          <p:cNvSpPr/>
          <p:nvPr/>
        </p:nvSpPr>
        <p:spPr>
          <a:xfrm rot="0" flipH="0" flipV="0">
            <a:off x="3667125" y="25622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3857625" y="26860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029075" y="2809875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D7BD9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448175" y="2695575"/>
            <a:ext cx="6057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AI Application Engineer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4448175" y="2943225"/>
            <a:ext cx="6057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Build applications on LLMs/APIs: RAG, agents, product integration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10658475" y="2781300"/>
            <a:ext cx="542925" cy="247650"/>
          </a:xfrm>
          <a:prstGeom prst="roundRect">
            <a:avLst>
              <a:gd name="adj" fmla="val 3076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10772775" y="2828925"/>
            <a:ext cx="314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M3–4</a:t>
            </a:r>
            <a:endParaRPr/>
          </a:p>
        </p:txBody>
      </p:sp>
      <p:sp>
        <p:nvSpPr>
          <p:cNvPr id="255" name=""/>
          <p:cNvSpPr/>
          <p:nvPr/>
        </p:nvSpPr>
        <p:spPr>
          <a:xfrm rot="0" flipH="0" flipV="0">
            <a:off x="3667125" y="33623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6" name=""/>
          <p:cNvSpPr/>
          <p:nvPr/>
        </p:nvSpPr>
        <p:spPr>
          <a:xfrm rot="0" flipH="0" flipV="0">
            <a:off x="3667125" y="33623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3857625" y="34861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4029075" y="3609975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4448175" y="3495675"/>
            <a:ext cx="6181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Data Scientist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4448175" y="3743325"/>
            <a:ext cx="6181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Model business problems, analyze data, design experiments, derive insights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10782300" y="3581400"/>
            <a:ext cx="419100" cy="247650"/>
          </a:xfrm>
          <a:prstGeom prst="roundRect">
            <a:avLst>
              <a:gd name="adj" fmla="val 3076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0896600" y="3629025"/>
            <a:ext cx="190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M1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3667125" y="41624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3667125" y="41624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3857625" y="42862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4029075" y="4410075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4448175" y="4295775"/>
            <a:ext cx="6181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MLOps Engineer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4448175" y="4543425"/>
            <a:ext cx="6181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CI/CD, model serving, monitoring, and reliability engineering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10782300" y="4381500"/>
            <a:ext cx="419100" cy="247650"/>
          </a:xfrm>
          <a:prstGeom prst="roundRect">
            <a:avLst>
              <a:gd name="adj" fmla="val 3076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0896600" y="4429125"/>
            <a:ext cx="190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M4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3619500" y="5000625"/>
            <a:ext cx="7810500" cy="295275"/>
          </a:xfrm>
          <a:custGeom>
            <a:pathLst>
              <a:path w="820" h="31">
                <a:moveTo>
                  <a:pt x="0" y="0"/>
                </a:moveTo>
                <a:lnTo>
                  <a:pt x="4" y="0"/>
                </a:lnTo>
                <a:lnTo>
                  <a:pt x="4" y="31"/>
                </a:lnTo>
                <a:lnTo>
                  <a:pt x="0" y="3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3810000" y="5000625"/>
            <a:ext cx="75819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Highest leverage for SE students: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AI Application Engineer &amp; MLOps — Modules 3–4 target these directly.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16 / 32</a:t>
            </a:r>
            <a:endParaRPr/>
          </a:p>
        </p:txBody>
      </p:sp>
    </p:spTree>
  </p:cSld>
</p:sld>
</file>

<file path=ppt/slides/slide1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75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Ethics &amp;amp; Responsibility&lt;/Text&gt;&#10;    &lt;Text style={{ fontSize: 15, color: 'rgba(255,255,255,0.85)' }}&gt;Domains &amp;amp; Careers · Part 03&lt;/Text&gt;&#10;  &lt;/Box&gt;&#10;  &lt;Box style={{ position: 'absolute', top: 96, left: 0, width: '100%', height: 380, padding: '6px 84px', flexDirection: 'row', gap: 16 }}&gt;&#10;    {[&#10;      { i: 'balance-scale', t: 'Bias &amp; Fairness', d: 'Training data carries historical bias; models learn it and amplify it.', ex: 'Amazon\u2019s recruiting tool penalized women\u2019s résumés (scrapped in 2018)', c: '#1E4FA8' },&#10;      { i: 'user-shield', t: 'Privacy &amp; Data', d: 'Models can “memorize” and leak personal information from training data.', ex: 'A chatbot reciting phone numbers from its training set', c: '#3D7BD9' },&#10;      { i: 'comment-dots', t: 'Hallucination &amp; Misuse', d: 'Generative models fabricate facts with a straight face; diffusion models enable deepfakes.', ex: 'AI-cited papers that do not exist; deepfake fraud', c: '#0E3F8C' },&#10;      { i: 'briefcase', t: 'Accountability', d: 'When an AI system fails, who is responsible — the developer, the deployer, or the user?', ex: 'The liability chain in an autonomous-driving accident', c: '#8B97A8' },&#10;    ].map((r, i) =&gt; (&#10;      &lt;Box key={i} style={{ flex: 1, background: '#F7F9FC', border: '1px solid #E5E7EB', borderTop: '5px solid ' + r.c, borderRadius: 12, padding: '20px 18px' }}&gt;&#10;        &lt;Box style={{ width: 44, height: 44, borderRadius: 12, background: r.c, justifyContent: 'center', alignItems: 'center' }}&gt;&#10;          &lt;FAIcon name={r.i} style={{ fill: '#FFFFFF', width: 20, height: 20 }} /&gt;&#10;        &lt;/Box&gt;&#10;        &lt;Text style={{ fontSize: 18, color: '#1A2230', fontWeight: 'bold', marginTop: 14 }}&gt;{r.t}&lt;/Text&gt;&#10;        &lt;Text style={{ fontSize: 14, color: '#4A5568', lineHeight: 1.65, marginTop: 10 }}&gt;{r.d}&lt;/Text&gt;&#10;        &lt;Box style={{ background: '#FFFFFF', borderRadius: 8, padding: '9px 12px', marginTop: 12, border: '1px solid #E5E7EB' }}&gt;&#10;          &lt;Text style={{ fontSize: 12.5, color: '#8B97A8' }}&gt;Case&lt;/Text&gt;&#10;          &lt;Text style={{ fontSize: 13, color: '#1A2230', lineHeight: 1.5, marginTop: 2 }}&gt;{r.ex}&lt;/Text&gt;&#10;        &lt;/Box&gt;&#10;      &lt;/Box&gt;&#10;    ))}&#10;  &lt;/Box&gt;&#10;  &lt;Box style={{ position: 'absolute', top: 492, left: 0, width: '100%', height: 154, padding: '6px 84px' }}&gt;&#10;    &lt;Box style={{ width: '100%', height: '100%', background: '#0E3F8C', borderRadius: 12, padding: '16px 26px', flexDirection: 'row', alignItems: 'center', gap: 26 }}&gt;&#10;      &lt;Box style={{ flexShrink: 0, alignItems: 'center' }}&gt;&#10;        &lt;Text style={{ fontSize: 15, color: 'rgba(255,255,255,0.75)' }}&gt;Our stance&lt;/Text&gt;&#10;        &lt;Text style={{ fontSize: 24, color: '#FFFFFF', fontWeight: 'bold', marginTop: 2 }}&gt;The Builder&amp;apos;s Responsibility&lt;/Text&gt;&#10;      &lt;/Box&gt;&#10;      &lt;Box style={{ width: 2, height: 100, background: 'rgba(255,255,255,0.25)' }} /&gt;&#10;      &lt;Text style={{ fontSize: 15.5, color: 'rgba(255,255,255,0.95)', lineHeight: 1.7, flex: 1 }}&gt;&#10;        In every AI application you ship, bias, privacy, and hallucination are not “someone else&amp;apos;s problem” — they are &lt;b&gt;questions your code must answer&lt;/b&gt;.&#10;        Every assignment in this course is graded with an “Ethics” line: even two sentences answering “who could this system hurt?”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286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Ethics &amp; Responsibility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9572625" y="295275"/>
            <a:ext cx="1819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Domains &amp; Careers · Part 03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80010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81" name=""/>
          <p:cNvSpPr/>
          <p:nvPr/>
        </p:nvSpPr>
        <p:spPr>
          <a:xfrm rot="0" flipH="0" flipV="0">
            <a:off x="80010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2" name=""/>
          <p:cNvSpPr/>
          <p:nvPr/>
        </p:nvSpPr>
        <p:spPr>
          <a:xfrm rot="0" flipH="0" flipV="0">
            <a:off x="97155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2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1323975"/>
            <a:ext cx="190500" cy="190500"/>
          </a:xfrm>
          <a:prstGeom prst="rect">
            <a:avLst/>
          </a:prstGeom>
          <a:ln/>
        </p:spPr>
      </p:pic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97155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Bias &amp; Fairness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971550" y="2066925"/>
            <a:ext cx="21907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Training data carries historical bias; models learn it and amplify it.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971550" y="2714625"/>
            <a:ext cx="2190750" cy="1009650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085850" y="2800350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Case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085850" y="2962275"/>
            <a:ext cx="19621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1A2230"/>
                </a:solidFill>
                <a:latin typeface="Inter"/>
                <a:ea typeface="Inter"/>
              </a:rPr>
              <a:t>Amazon’s recruiting tool penalized women’s résumés (scrapped in 2018)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348615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348615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1" name=""/>
          <p:cNvSpPr/>
          <p:nvPr/>
        </p:nvSpPr>
        <p:spPr>
          <a:xfrm rot="0" flipH="0" flipV="0">
            <a:off x="36576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2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71900" y="1323975"/>
            <a:ext cx="190500" cy="190500"/>
          </a:xfrm>
          <a:prstGeom prst="rect">
            <a:avLst/>
          </a:prstGeom>
          <a:ln/>
        </p:spPr>
      </p:pic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365760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Privacy &amp; Data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3657600" y="2066925"/>
            <a:ext cx="21907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Models can “memorize” and leak personal information from training data.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3657600" y="2981325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3771900" y="3067050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Case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771900" y="3228975"/>
            <a:ext cx="19621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1A2230"/>
                </a:solidFill>
                <a:latin typeface="Inter"/>
                <a:ea typeface="Inter"/>
              </a:rPr>
              <a:t>A chatbot reciting phone numbers from its training set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617220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617220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0" name=""/>
          <p:cNvSpPr/>
          <p:nvPr/>
        </p:nvSpPr>
        <p:spPr>
          <a:xfrm rot="0" flipH="0" flipV="0">
            <a:off x="634365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57950" y="1323975"/>
            <a:ext cx="190500" cy="190500"/>
          </a:xfrm>
          <a:prstGeom prst="rect">
            <a:avLst/>
          </a:prstGeom>
          <a:ln/>
        </p:spPr>
      </p:pic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34365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Hallucination &amp; Misuse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343650" y="2066925"/>
            <a:ext cx="21907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Generative models fabricate facts with a straight face; diffusion models enable deepfakes.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6343650" y="2981325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457950" y="3067050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Case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457950" y="3228975"/>
            <a:ext cx="19621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1A2230"/>
                </a:solidFill>
                <a:latin typeface="Inter"/>
                <a:ea typeface="Inter"/>
              </a:rPr>
              <a:t>AI-cited papers that do not exist; deepfake fraud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885825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08" name=""/>
          <p:cNvSpPr/>
          <p:nvPr/>
        </p:nvSpPr>
        <p:spPr>
          <a:xfrm rot="0" flipH="0" flipV="0">
            <a:off x="885825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90297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8B97A8"/>
          </a:solidFill>
          <a:ln/>
        </p:spPr>
        <p:txBody>
          <a:bodyPr/>
          <a:p/>
        </p:txBody>
      </p:sp>
      <p:pic>
        <p:nvPicPr>
          <p:cNvPr id="3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144000" y="1323975"/>
            <a:ext cx="190500" cy="190500"/>
          </a:xfrm>
          <a:prstGeom prst="rect">
            <a:avLst/>
          </a:prstGeom>
          <a:ln/>
        </p:spPr>
      </p:pic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902970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Accountability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9029700" y="2066925"/>
            <a:ext cx="21907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When an AI system fails, who is responsible — the developer, the deployer, or the user?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9029700" y="2981325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9144000" y="3067050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Case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9144000" y="3228975"/>
            <a:ext cx="19621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1A2230"/>
                </a:solidFill>
                <a:latin typeface="Inter"/>
                <a:ea typeface="Inter"/>
              </a:rPr>
              <a:t>The liability chain in an autonomous-driving accident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800100" y="4743450"/>
            <a:ext cx="10591800" cy="1352550"/>
          </a:xfrm>
          <a:prstGeom prst="roundRect">
            <a:avLst>
              <a:gd name="adj" fmla="val 845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2209800" y="51911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Our stance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1047750" y="5381625"/>
            <a:ext cx="30289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Inter"/>
                <a:ea typeface="Inter"/>
              </a:rPr>
              <a:t>The Builder's Responsibility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4324350" y="4943475"/>
            <a:ext cx="19050" cy="95250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4591050" y="5114925"/>
            <a:ext cx="655320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163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In every AI application you ship, bias, privacy, and hallucination are not “someone else's problem” — they are 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questions your code must answer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. Every assignment in this course is graded with an “Ethics” line: even two sentences answering “who could this system hurt?”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17 / 32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323" name="" descr="&lt;Slide style={{ width: '1280px', height: '720px', background: '#F7F9FC', padding: '0px', position: 'relative', overflow: 'hidden', fontFamily: 'Inter, Helvetica Neue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4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4&lt;/Text&gt;&#10;      &lt;/Box&gt;&#10;      &lt;Box style={{ paddingTop: 6 }}&gt;&#10;        &lt;Text style={{ fontSize: 44, color: '#1A2230', fontWeight: 'bold' }}&gt;The AI Project Lifecycle&lt;/Text&gt;&#10;        &lt;Text style={{ fontSize: 26, color: '#8B97A8', fontWeight: '600', marginTop: 6 }}&gt;From idea to operations&lt;/Text&gt;&#10;      &lt;/Box&gt;&#10;    &lt;/Box&gt;&#10;    &lt;Box style={{ flexDirection: 'row', gap: 24 }}&gt;&#10;      {[&#10;        { t: '6 Stages', e: 'Define → Monitor' },&#10;        { t: 'The 80% Rule', e: 'Data &amp; engineering' },&#10;        { t: 'Capstone Roadmap', e: 'Your final project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5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7339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The AI Project Lifecycle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7339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From idea to operations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6 Stages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Define → Monitor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6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The 80% Rule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Data &amp; engineering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Capstone Roadmap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Your final project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43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6-Stage Lifecycle&lt;/Text&gt;&#10;    &lt;Text style={{ fontSize: 15, color: 'rgba(255,255,255,0.85)' }}&gt;Module 1 · Week 1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Define', d: 'Goal · metrics · constraints' },&#10;        { n: '2', t: 'Collect', d: 'Data · EDA · feasibility' },&#10;        { n: '3', t: 'Process', d: 'Clean · transform · features' },&#10;        { n: '4', t: 'Model', d: 'Baseline · train · iterate' },&#10;        { n: '5', t: 'Deploy', d: 'API · Docker · product' },&#10;        { n: '6', t: 'Monitor', d: 'Drift · retrain · optimize' },&#10;      ].map((s, i) =&gt; (&#10;        &lt;Box key={i} style={{ flex: 1, position: 'relative' }}&gt;&#10;          &lt;Box style={{ background: i &lt; 2 ? '#F0F5FC' : i &lt; 4 ? '#E8EFF8' : '#F0F5FC', border: '1px solid #D6DCE5', borderTop: '4px solid #1E4FA8', borderRadius: 12, padding: '16px 14px', height: 210, justifyContent: 'space-between' }}&gt;&#10;            &lt;Box style={{ width: 40, height: 40, borderRadius: 10, background: '#1E4FA8', justifyContent: 'center', alignItems: 'center' }}&gt;&#10;              &lt;Text style={{ fontSize: 19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.5, color: '#4A5568', marginTop: 6 }}&gt;{s.d}&lt;/Text&gt;&#10;            &lt;/Box&gt;&#10;          &lt;/Box&gt;&#10;          {i &lt; 5 &amp;&amp; (&#10;            &lt;Box style={{ position: 'absolute', right: -14, top: 90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12, marginTop: 22, alignItems: 'center' }}&gt;&#10;      &lt;Box style={{ width: 240, background: '#0E3F8C', borderRadius: 10, padding: '12px 18px', flexShrink: 0 }}&gt;&#10;        &lt;Text style={{ fontSize: 15, color: '#FFFFFF', fontWeight: 'bold' }}&gt;Capstone = the full journey&lt;/Text&gt;&#10;      &lt;/Box&gt;&#10;      &lt;Text style={{ fontSize: 16, color: '#1A2230', lineHeight: 1.6, flex: 1 }}&gt;&#10;        Your final project runs from &lt;span style={{ fontWeight: 'bold', color: '#0E3F8C' }}&gt;problem definition&lt;/span&gt; to &lt;span style={{ fontWeight: 'bold', color: '#0E3F8C' }}&gt;Docker deployment&lt;/span&gt; —&#10;        &lt;span style={{ fontWeight: 'bold', color: '#0E3F8C' }}&gt; this six-stage chain is your roadmap&lt;/span&gt;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1621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6-Stage Lifecycle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800100" y="4429125"/>
            <a:ext cx="2286000" cy="40005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971550" y="4543425"/>
            <a:ext cx="1943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Capstone = the full journey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3200400" y="4486275"/>
            <a:ext cx="81915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Your final project runs from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problem definition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to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Docker deployment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—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 this six-stage chain is your roadmap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800100" y="225742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800100" y="225742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3" name=""/>
          <p:cNvSpPr/>
          <p:nvPr/>
        </p:nvSpPr>
        <p:spPr>
          <a:xfrm rot="0" flipH="0" flipV="0">
            <a:off x="933450" y="24098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076325" y="249555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933450" y="34671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Define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933450" y="3752850"/>
            <a:ext cx="1400175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Goal · metrics · constraints</a:t>
            </a:r>
            <a:endParaRPr/>
          </a:p>
        </p:txBody>
      </p:sp>
      <p:sp>
        <p:nvSpPr>
          <p:cNvPr id="357" name=""/>
          <p:cNvSpPr/>
          <p:nvPr/>
        </p:nvSpPr>
        <p:spPr>
          <a:xfrm rot="0" flipH="0" flipV="0">
            <a:off x="2581275" y="2257425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58" name=""/>
          <p:cNvSpPr/>
          <p:nvPr/>
        </p:nvSpPr>
        <p:spPr>
          <a:xfrm rot="0" flipH="0" flipV="0">
            <a:off x="2581275" y="2257425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9" name=""/>
          <p:cNvSpPr/>
          <p:nvPr/>
        </p:nvSpPr>
        <p:spPr>
          <a:xfrm rot="0" flipH="0" flipV="0">
            <a:off x="2714625" y="24098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2857500" y="249555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2714625" y="361950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Collect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2714625" y="3905250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Data · EDA · feasibility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4371975" y="225742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64" name=""/>
          <p:cNvSpPr/>
          <p:nvPr/>
        </p:nvSpPr>
        <p:spPr>
          <a:xfrm rot="0" flipH="0" flipV="0">
            <a:off x="4371975" y="225742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5" name=""/>
          <p:cNvSpPr/>
          <p:nvPr/>
        </p:nvSpPr>
        <p:spPr>
          <a:xfrm rot="0" flipH="0" flipV="0">
            <a:off x="4505325" y="24098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4648200" y="249555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4505325" y="34671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Process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4505325" y="3752850"/>
            <a:ext cx="1400175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Clean · transform · features</a:t>
            </a:r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6153150" y="225742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70" name=""/>
          <p:cNvSpPr/>
          <p:nvPr/>
        </p:nvSpPr>
        <p:spPr>
          <a:xfrm rot="0" flipH="0" flipV="0">
            <a:off x="6153150" y="225742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1" name=""/>
          <p:cNvSpPr/>
          <p:nvPr/>
        </p:nvSpPr>
        <p:spPr>
          <a:xfrm rot="0" flipH="0" flipV="0">
            <a:off x="6286500" y="24098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6429375" y="249555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6286500" y="36195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Model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286500" y="390525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Baseline · train · iterate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7934325" y="2257425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7934325" y="2257425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8067675" y="24098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8210550" y="249555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8067675" y="361950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Deploy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8067675" y="3905250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API · Docker · product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9725025" y="225742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9725025" y="225742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9858375" y="24098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10001250" y="249555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6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9858375" y="36195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Monitor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9858375" y="390525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Drift · retrain · optimize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19 / 32</a:t>
            </a:r>
            <a:endParaRPr/>
          </a:p>
        </p:txBody>
      </p:sp>
      <p:pic>
        <p:nvPicPr>
          <p:cNvPr id="38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409825" y="3076575"/>
            <a:ext cx="190500" cy="190500"/>
          </a:xfrm>
          <a:prstGeom prst="rect">
            <a:avLst/>
          </a:prstGeom>
          <a:ln/>
        </p:spPr>
      </p:pic>
      <p:pic>
        <p:nvPicPr>
          <p:cNvPr id="3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00525" y="3076575"/>
            <a:ext cx="190500" cy="190500"/>
          </a:xfrm>
          <a:prstGeom prst="rect">
            <a:avLst/>
          </a:prstGeom>
          <a:ln/>
        </p:spPr>
      </p:pic>
      <p:pic>
        <p:nvPicPr>
          <p:cNvPr id="3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81700" y="3076575"/>
            <a:ext cx="190500" cy="190500"/>
          </a:xfrm>
          <a:prstGeom prst="rect">
            <a:avLst/>
          </a:prstGeom>
          <a:ln/>
        </p:spPr>
      </p:pic>
      <p:pic>
        <p:nvPicPr>
          <p:cNvPr id="3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762875" y="3076575"/>
            <a:ext cx="190500" cy="190500"/>
          </a:xfrm>
          <a:prstGeom prst="rect">
            <a:avLst/>
          </a:prstGeom>
          <a:ln/>
        </p:spPr>
      </p:pic>
      <p:pic>
        <p:nvPicPr>
          <p:cNvPr id="3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53575" y="3076575"/>
            <a:ext cx="190500" cy="190500"/>
          </a:xfrm>
          <a:prstGeom prst="rect">
            <a:avLst/>
          </a:prstGeom>
          <a:ln/>
        </p:spPr>
      </p:pic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436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ase Walkthrough: Canteen Queue Prediction&lt;/Text&gt;&#10;    &lt;Text style={{ fontSize: 15, color: 'rgba(255,255,255,0.85)' }}&gt;Project Lifecycle · Part 04&lt;/Text&gt;&#10;  &lt;/Box&gt;&#10;  &lt;Box style={{ position: 'absolute', top: 96, left: 0, width: '100%', height: 60, padding: '0 84px', alignItems: 'center' }}&gt;&#10;    &lt;Text style={{ fontSize: 16, color: '#4A5568', lineHeight: 1.5 }}&gt;&#10;      One running example through all six stages — “predict canteen queue time”.&#10;    &lt;/Text&gt;&#10;  &lt;/Box&gt;&#10;  &lt;Box style={{ position: 'absolute', top: 158, left: 0, width: '100%', height: 430, padding: '4px 84px', flexDirection: 'column', gap: 10 }}&gt;&#10;    {[&#10;      { n: '1', t: 'Problem Definition', d: 'Predict each counter\u2019s queue time for the next 15 minutes, within ±5 min error', out: 'Output: binary (crowded / not) or regression (minutes)? → Regression', c: '#1E4FA8' },&#10;      { n: '2', t: 'Data Collection', d: 'POS transaction logs (dish, time) + camera-based foot-traffic counts + academic calendar (exam weeks spike)', out: 'Pitfall: camera footage must be de-identified first — never store faces', c: '#1E4FA8' },&#10;      { n: '3', t: 'Feature Engineering', d: 'Time of day, weekday, weather, menu popularity, foot traffic in the ±15-minute window', out: 'Common-sense features often beat fancy models', c: '#3D7BD9' },&#10;      { n: '4', t: 'Modeling &amp; Training', d: 'Run a mean baseline first, then gradient-boosted trees (GBDT); compare errors', out: 'Remember: shipping without a baseline = flying blind', c: '#3D7BD9' },&#10;      { n: '5', t: 'Deployment', d: 'Wrap the model as a REST API with FastAPI; the mini-program polls predictions every 5 minutes', out: 'The model is not the product — API + UI is', c: '#0E3F8C' },&#10;      { n: '6', t: 'Monitoring &amp; Iteration', d: 'Weekly error reports; a new canteen opening = data drift → triggers retraining', out: 'Launch day is when the project really begins', c: '#0E3F8C' },&#10;    ].map((s, i) =&gt; (&#10;      &lt;Box key={i} style={{ flex: 1, flexDirection: 'row', alignItems: 'center', background: '#F7F9FC', border: '1px solid #E5E7EB', borderLeft: '5px solid ' + s.c, borderRadius: 10, padding: '8px 20px', gap: 16 }}&gt;&#10;        &lt;Box style={{ width: 38, height: 38, borderRadius: 19, background: s.c, justifyContent: 'center', alignItems: 'center', flexShrink: 0 }}&gt;&#10;          &lt;Text style={{ fontSize: 17, color: '#FFFFFF', fontWeight: 'bold' }}&gt;{s.n}&lt;/Text&gt;&#10;        &lt;/Box&gt;&#10;        &lt;Box style={{ width: 150, flexShrink: 0 }}&gt;&#10;          &lt;Text style={{ fontSize: 17, color: '#1A2230', fontWeight: 'bold' }}&gt;{s.t}&lt;/Text&gt;&#10;        &lt;/Box&gt;&#10;        &lt;Text style={{ fontSize: 14, color: '#4A5568', lineHeight: 1.5, flex: 1 }}&gt;{s.d}&lt;/Text&gt;&#10;        &lt;Box style={{ width: 340, flexShrink: 0, background: '#FFFFFF', borderRadius: 8, padding: '8px 14px', borderLeft: '3px solid ' + s.c }}&gt;&#10;          &lt;Text style={{ fontSize: 12.5, color: s.c, lineHeight: 1.5, fontWeight: '600' }}&gt;{s.out}&lt;/Text&gt;&#10;        &lt;/Box&gt;&#10;      &lt;/Box&gt;&#10;    ))}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5815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Case Walkthrough: Canteen Queue Prediction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9753600" y="29527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Project Lifecycle · Part 04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3486150" y="914400"/>
            <a:ext cx="52197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Inter"/>
                <a:ea typeface="Inter"/>
              </a:rPr>
              <a:t>One running example through all six stages — “predict canteen queue time”.</a:t>
            </a:r>
            <a:endParaRPr/>
          </a:p>
        </p:txBody>
      </p:sp>
      <p:sp>
        <p:nvSpPr>
          <p:cNvPr id="442" name=""/>
          <p:cNvSpPr/>
          <p:nvPr/>
        </p:nvSpPr>
        <p:spPr>
          <a:xfrm rot="0" flipH="0" flipV="0">
            <a:off x="847725" y="1543050"/>
            <a:ext cx="10591800" cy="733425"/>
          </a:xfrm>
          <a:prstGeom prst="roundRect">
            <a:avLst>
              <a:gd name="adj" fmla="val 129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43" name=""/>
          <p:cNvSpPr/>
          <p:nvPr/>
        </p:nvSpPr>
        <p:spPr>
          <a:xfrm rot="0" flipH="0" flipV="0">
            <a:off x="847725" y="1543050"/>
            <a:ext cx="10591800" cy="733425"/>
          </a:xfrm>
          <a:custGeom>
            <a:pathLst>
              <a:path w="1112" h="7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72"/>
                </a:lnTo>
                <a:cubicBezTo>
                  <a:pt x="5" y="74"/>
                  <a:pt x="7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4" name=""/>
          <p:cNvSpPr/>
          <p:nvPr/>
        </p:nvSpPr>
        <p:spPr>
          <a:xfrm rot="0" flipH="0" flipV="0">
            <a:off x="1038225" y="17335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171575" y="1819275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1552575" y="1714500"/>
            <a:ext cx="14287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Problem Definition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3133725" y="1790700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Predict each counter’s queue time for the next 15 minutes, within ±5 min error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7991475" y="1619250"/>
            <a:ext cx="3209925" cy="581025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9" name=""/>
          <p:cNvSpPr/>
          <p:nvPr/>
        </p:nvSpPr>
        <p:spPr>
          <a:xfrm rot="0" flipH="0" flipV="0">
            <a:off x="7991475" y="1619250"/>
            <a:ext cx="3209925" cy="581025"/>
          </a:xfrm>
          <a:custGeom>
            <a:pathLst>
              <a:path w="337" h="6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6"/>
                </a:lnTo>
                <a:cubicBezTo>
                  <a:pt x="3" y="58"/>
                  <a:pt x="5" y="60"/>
                  <a:pt x="7" y="61"/>
                </a:cubicBezTo>
                <a:cubicBezTo>
                  <a:pt x="3" y="60"/>
                  <a:pt x="0" y="57"/>
                  <a:pt x="0" y="5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8124825" y="1695450"/>
            <a:ext cx="29432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Output: binary (crowded / not) or regression (minutes)? → Regression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847725" y="2371725"/>
            <a:ext cx="10591800" cy="733425"/>
          </a:xfrm>
          <a:prstGeom prst="roundRect">
            <a:avLst>
              <a:gd name="adj" fmla="val 129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52" name=""/>
          <p:cNvSpPr/>
          <p:nvPr/>
        </p:nvSpPr>
        <p:spPr>
          <a:xfrm rot="0" flipH="0" flipV="0">
            <a:off x="847725" y="2371725"/>
            <a:ext cx="10591800" cy="733425"/>
          </a:xfrm>
          <a:custGeom>
            <a:pathLst>
              <a:path w="1112" h="7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72"/>
                </a:lnTo>
                <a:cubicBezTo>
                  <a:pt x="5" y="74"/>
                  <a:pt x="7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3" name=""/>
          <p:cNvSpPr/>
          <p:nvPr/>
        </p:nvSpPr>
        <p:spPr>
          <a:xfrm rot="0" flipH="0" flipV="0">
            <a:off x="1038225" y="256222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1171575" y="2647950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1552575" y="263842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Data Collection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3133725" y="2495550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POS transaction logs (dish, time) + camera-based foot-traffic counts + academic calendar (exam weeks spike)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7991475" y="2447925"/>
            <a:ext cx="3209925" cy="581025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7991475" y="2447925"/>
            <a:ext cx="3209925" cy="581025"/>
          </a:xfrm>
          <a:custGeom>
            <a:pathLst>
              <a:path w="337" h="6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6"/>
                </a:lnTo>
                <a:cubicBezTo>
                  <a:pt x="3" y="58"/>
                  <a:pt x="5" y="60"/>
                  <a:pt x="7" y="61"/>
                </a:cubicBezTo>
                <a:cubicBezTo>
                  <a:pt x="3" y="60"/>
                  <a:pt x="0" y="57"/>
                  <a:pt x="0" y="5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8124825" y="2524125"/>
            <a:ext cx="29432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Pitfall: camera footage must be de-identified first — never store faces</a:t>
            </a:r>
            <a:endParaRPr/>
          </a:p>
        </p:txBody>
      </p:sp>
      <p:sp>
        <p:nvSpPr>
          <p:cNvPr id="460" name=""/>
          <p:cNvSpPr/>
          <p:nvPr/>
        </p:nvSpPr>
        <p:spPr>
          <a:xfrm rot="0" flipH="0" flipV="0">
            <a:off x="847725" y="3200400"/>
            <a:ext cx="10591800" cy="638175"/>
          </a:xfrm>
          <a:prstGeom prst="roundRect">
            <a:avLst>
              <a:gd name="adj" fmla="val 1492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61" name=""/>
          <p:cNvSpPr/>
          <p:nvPr/>
        </p:nvSpPr>
        <p:spPr>
          <a:xfrm rot="0" flipH="0" flipV="0">
            <a:off x="847725" y="3200400"/>
            <a:ext cx="10591800" cy="638175"/>
          </a:xfrm>
          <a:custGeom>
            <a:pathLst>
              <a:path w="1112" h="6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2"/>
                </a:lnTo>
                <a:cubicBezTo>
                  <a:pt x="5" y="64"/>
                  <a:pt x="7" y="66"/>
                  <a:pt x="9" y="67"/>
                </a:cubicBezTo>
                <a:cubicBezTo>
                  <a:pt x="4" y="66"/>
                  <a:pt x="0" y="62"/>
                  <a:pt x="0" y="5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2" name=""/>
          <p:cNvSpPr/>
          <p:nvPr/>
        </p:nvSpPr>
        <p:spPr>
          <a:xfrm rot="0" flipH="0" flipV="0">
            <a:off x="1038225" y="33432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1171575" y="3429000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1552575" y="3324225"/>
            <a:ext cx="14287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Feature Engineering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3133725" y="3276600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Time of day, weekday, weather, menu popularity, foot traffic in the ±15-minute window</a:t>
            </a:r>
            <a:endParaRPr/>
          </a:p>
        </p:txBody>
      </p:sp>
      <p:sp>
        <p:nvSpPr>
          <p:cNvPr id="466" name=""/>
          <p:cNvSpPr/>
          <p:nvPr/>
        </p:nvSpPr>
        <p:spPr>
          <a:xfrm rot="0" flipH="0" flipV="0">
            <a:off x="7991475" y="3333750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7" name=""/>
          <p:cNvSpPr/>
          <p:nvPr/>
        </p:nvSpPr>
        <p:spPr>
          <a:xfrm rot="0" flipH="0" flipV="0">
            <a:off x="7991475" y="3333750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8124825" y="3409950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3D7BD9"/>
                </a:solidFill>
                <a:latin typeface="Inter"/>
                <a:ea typeface="Inter"/>
              </a:rPr>
              <a:t>Common-sense features often beat fancy models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847725" y="3933825"/>
            <a:ext cx="10591800" cy="733425"/>
          </a:xfrm>
          <a:prstGeom prst="roundRect">
            <a:avLst>
              <a:gd name="adj" fmla="val 129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0" name=""/>
          <p:cNvSpPr/>
          <p:nvPr/>
        </p:nvSpPr>
        <p:spPr>
          <a:xfrm rot="0" flipH="0" flipV="0">
            <a:off x="847725" y="3933825"/>
            <a:ext cx="10591800" cy="733425"/>
          </a:xfrm>
          <a:custGeom>
            <a:pathLst>
              <a:path w="1112" h="7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72"/>
                </a:lnTo>
                <a:cubicBezTo>
                  <a:pt x="5" y="74"/>
                  <a:pt x="7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1" name=""/>
          <p:cNvSpPr/>
          <p:nvPr/>
        </p:nvSpPr>
        <p:spPr>
          <a:xfrm rot="0" flipH="0" flipV="0">
            <a:off x="1038225" y="412432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1171575" y="4210050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1552575" y="4105275"/>
            <a:ext cx="14287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Modeling &amp; Training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3133725" y="4057650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Run a mean baseline first, then gradient-boosted trees (GBDT); compare errors</a:t>
            </a:r>
            <a:endParaRPr/>
          </a:p>
        </p:txBody>
      </p:sp>
      <p:sp>
        <p:nvSpPr>
          <p:cNvPr id="475" name=""/>
          <p:cNvSpPr/>
          <p:nvPr/>
        </p:nvSpPr>
        <p:spPr>
          <a:xfrm rot="0" flipH="0" flipV="0">
            <a:off x="7991475" y="4010025"/>
            <a:ext cx="3209925" cy="581025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6" name=""/>
          <p:cNvSpPr/>
          <p:nvPr/>
        </p:nvSpPr>
        <p:spPr>
          <a:xfrm rot="0" flipH="0" flipV="0">
            <a:off x="7991475" y="4010025"/>
            <a:ext cx="3209925" cy="581025"/>
          </a:xfrm>
          <a:custGeom>
            <a:pathLst>
              <a:path w="337" h="6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6"/>
                </a:lnTo>
                <a:cubicBezTo>
                  <a:pt x="3" y="58"/>
                  <a:pt x="5" y="60"/>
                  <a:pt x="7" y="61"/>
                </a:cubicBezTo>
                <a:cubicBezTo>
                  <a:pt x="3" y="60"/>
                  <a:pt x="0" y="57"/>
                  <a:pt x="0" y="5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8124825" y="4086225"/>
            <a:ext cx="29432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3D7BD9"/>
                </a:solidFill>
                <a:latin typeface="Inter"/>
                <a:ea typeface="Inter"/>
              </a:rPr>
              <a:t>Remember: shipping without a baseline = flying blind</a:t>
            </a:r>
            <a:endParaRPr/>
          </a:p>
        </p:txBody>
      </p:sp>
      <p:sp>
        <p:nvSpPr>
          <p:cNvPr id="478" name=""/>
          <p:cNvSpPr/>
          <p:nvPr/>
        </p:nvSpPr>
        <p:spPr>
          <a:xfrm rot="0" flipH="0" flipV="0">
            <a:off x="847725" y="4762500"/>
            <a:ext cx="10591800" cy="638175"/>
          </a:xfrm>
          <a:prstGeom prst="roundRect">
            <a:avLst>
              <a:gd name="adj" fmla="val 1492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9" name=""/>
          <p:cNvSpPr/>
          <p:nvPr/>
        </p:nvSpPr>
        <p:spPr>
          <a:xfrm rot="0" flipH="0" flipV="0">
            <a:off x="847725" y="4762500"/>
            <a:ext cx="10591800" cy="638175"/>
          </a:xfrm>
          <a:custGeom>
            <a:pathLst>
              <a:path w="1112" h="6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2"/>
                </a:lnTo>
                <a:cubicBezTo>
                  <a:pt x="5" y="64"/>
                  <a:pt x="7" y="66"/>
                  <a:pt x="9" y="67"/>
                </a:cubicBezTo>
                <a:cubicBezTo>
                  <a:pt x="4" y="66"/>
                  <a:pt x="0" y="62"/>
                  <a:pt x="0" y="5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0" name=""/>
          <p:cNvSpPr/>
          <p:nvPr/>
        </p:nvSpPr>
        <p:spPr>
          <a:xfrm rot="0" flipH="0" flipV="0">
            <a:off x="1038225" y="49053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1171575" y="4991100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1552575" y="498157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Deployment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3133725" y="4838700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Wrap the model as a REST API with FastAPI; the mini-program polls predictions every 5 minutes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7991475" y="4895850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7991475" y="4895850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8124825" y="4972050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0E3F8C"/>
                </a:solidFill>
                <a:latin typeface="Inter"/>
                <a:ea typeface="Inter"/>
              </a:rPr>
              <a:t>The model is not the product — API + UI is</a:t>
            </a:r>
            <a:endParaRPr/>
          </a:p>
        </p:txBody>
      </p:sp>
      <p:sp>
        <p:nvSpPr>
          <p:cNvPr id="487" name=""/>
          <p:cNvSpPr/>
          <p:nvPr/>
        </p:nvSpPr>
        <p:spPr>
          <a:xfrm rot="0" flipH="0" flipV="0">
            <a:off x="847725" y="5495925"/>
            <a:ext cx="10591800" cy="542925"/>
          </a:xfrm>
          <a:prstGeom prst="roundRect">
            <a:avLst>
              <a:gd name="adj" fmla="val 1754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88" name=""/>
          <p:cNvSpPr/>
          <p:nvPr/>
        </p:nvSpPr>
        <p:spPr>
          <a:xfrm rot="0" flipH="0" flipV="0">
            <a:off x="847725" y="5495925"/>
            <a:ext cx="10591800" cy="542925"/>
          </a:xfrm>
          <a:custGeom>
            <a:pathLst>
              <a:path w="1112" h="5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2"/>
                </a:lnTo>
                <a:cubicBezTo>
                  <a:pt x="5" y="54"/>
                  <a:pt x="7" y="56"/>
                  <a:pt x="9" y="57"/>
                </a:cubicBezTo>
                <a:cubicBezTo>
                  <a:pt x="4" y="56"/>
                  <a:pt x="0" y="52"/>
                  <a:pt x="0" y="4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9" name=""/>
          <p:cNvSpPr/>
          <p:nvPr/>
        </p:nvSpPr>
        <p:spPr>
          <a:xfrm rot="0" flipH="0" flipV="0">
            <a:off x="1038225" y="55911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1171575" y="5676900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6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1552575" y="5572125"/>
            <a:ext cx="14287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Monitoring &amp; Iteration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3133725" y="5648325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Weekly error reports; a new canteen opening = data drift → triggers retraining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7991475" y="5581650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4" name=""/>
          <p:cNvSpPr/>
          <p:nvPr/>
        </p:nvSpPr>
        <p:spPr>
          <a:xfrm rot="0" flipH="0" flipV="0">
            <a:off x="7991475" y="5581650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8124825" y="5657850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0E3F8C"/>
                </a:solidFill>
                <a:latin typeface="Inter"/>
                <a:ea typeface="Inter"/>
              </a:rPr>
              <a:t>Launch day is when the project really begins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20 / 32</a:t>
            </a:r>
            <a:endParaRPr/>
          </a:p>
        </p:txBody>
      </p:sp>
    </p:spTree>
  </p:cSld>
</p:sld>
</file>

<file path=ppt/slides/slide21.xml><?xml version="1.0" encoding="utf-8"?>
<p:sld xmlns:a="http://schemas.openxmlformats.org/drawingml/2006/main" xmlns:p="http://schemas.openxmlformats.org/presentationml/2006/main">
  <p:cSld>
    <p:spTree>
      <p:nvGrpSpPr>
        <p:cNvPr id="498" name="" descr="&lt;Slide style={{ width: '1280px', height: '720px', background: '#0E3F8C', padding: '0px', fontFamily: 'Inter, Helvetica Neue, Arial, sans-serif' }}&gt;&#10;  &lt;Box style={{ position: 'absolute', top: 0, left: 0, width: '100%', height: 10, background: '#1E4FA8' }} /&gt;&#10;  &lt;Box style={{ position: 'absolute', top: 0, right: 0, width: '45%', height: '100%', background: 'rgba(30,79,168,0.35)' }} /&gt;&#10;  &lt;Box style={{ position: 'absolute', top: 60, left: 84, right: 84, height: 620, padding: '30px 0', flexDirection: 'row', alignItems: 'center', gap: 60 }}&gt;&#10;    &lt;Box style={{ flexShrink: 0, alignItems: 'flex-end' }}&gt;&#10;      &lt;Text style={{ fontSize: 200, color: '#FFFFFF', fontWeight: 'bold', lineHeight: 0.95 }}&gt;80%&lt;/Text&gt;&#10;      &lt;Text style={{ fontSize: 22, color: 'rgba(255,255,255,0.75)', marginTop: 10, textAlign: 'right' }}&gt;of project time goes to&lt;/Text&gt;&#10;      &lt;Text style={{ fontSize: 22, color: 'rgba(255,255,255,0.75)', textAlign: 'right' }}&gt;data &amp;amp; engineering&lt;/Text&gt;&#10;    &lt;/Box&gt;&#10;    &lt;Box style={{ flex: 1, gap: 18 }}&gt;&#10;      &lt;Text style={{ fontSize: 30, color: '#FFFFFF', fontWeight: 'bold' }}&gt;Training the model is only ~20%&lt;/Text&gt;&#10;      &lt;Text style={{ fontSize: 18, color: 'rgba(255,255,255,0.92)', lineHeight: 1.7 }}&gt;&#10;        In real industry, about 80% of AI project time goes to &lt;Text as='span' style={{ fontWeight: 'bold' }}&gt;data processing and engineering&lt;/Text&gt; (stages 2–3 and 5–6),&#10;        and only about 20% to &quot;training the model&quot;.&#10;      &lt;/Text&gt;&#10;      &lt;Box style={{ flexDirection: 'row', gap: 0, marginTop: 8 }}&gt;&#10;        &lt;Box style={{ flex: 4, height: 20, background: '#FFC107', borderRadius: '10px 0 0 10px', position: 'relative' }}&gt;&#10;          &lt;Text style={{ position: 'absolute', left: 12, top: -1, fontSize: 14, color: '#0E3F8C', fontWeight: 'bold' }}&gt;Data &amp;amp; engineering 80%&lt;/Text&gt;&#10;        &lt;/Box&gt;&#10;        &lt;Box style={{ flex: 1, height: 20, background: 'rgba(255,255,255,0.35)', borderRadius: '0 10px 10px 0' }}&gt;&#10;          &lt;Text style={{ position: 'absolute', left: 0, top: -1, fontSize: 14, color: 'rgba(255,255,255,0.9)', fontWeight: 'bold' }}&gt;&amp;nbsp;&amp;nbsp;Training 20%&lt;/Text&gt;&#10;        &lt;/Box&gt;&#10;      &lt;/Box&gt;&#10;      &lt;Box style={{ background: 'rgba(255,255,255,0.12)', borderRadius: 12, padding: '18px 22px', marginTop: 6 }}&gt;&#10;        &lt;Text style={{ fontSize: 17, color: '#FFFFFF', lineHeight: 1.7 }}&gt;&#10;          &lt;span style={{ fontWeight: 'bold', color: '#FFC107' }}&gt;Two implications:&lt;/span&gt;&#10;          ① this course allocates heavy lab time to data handling and deployment — because that is where the real work happens;&#10;          ② your employability comes precisely from the engineering delivery others are least good at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rgba(255,255,255,0.6)' }}&gt;AI Application Development · Week 1&lt;/Text&gt;&#10;    &lt;Text style={{ fontSize: 14, color: 'rgba(255,255,255,0.9)', fontWeight: '600' }}&gt;2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0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6705600" y="0"/>
            <a:ext cx="5486400" cy="6858000"/>
          </a:xfrm>
          <a:prstGeom prst="rect">
            <a:avLst/>
          </a:prstGeom>
          <a:solidFill>
            <a:srgbClr val="1E4FA8">
              <a:alpha val="35000"/>
            </a:srgbClr>
          </a:solidFill>
          <a:ln/>
        </p:spPr>
        <p:txBody>
          <a:bodyPr/>
          <a:p/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800100" y="2133600"/>
            <a:ext cx="4029075" cy="2171700"/>
          </a:xfrm>
          <a:prstGeom prst="rect"/>
        </p:spPr>
        <p:txBody>
          <a:bodyPr wrap="none" lIns="0" tIns="0" rIns="0" bIns="0"/>
          <a:p>
            <a:pPr>
              <a:lnSpc>
                <a:spcPct val="95000"/>
              </a:lnSpc>
            </a:pPr>
            <a:r>
              <a:rPr lang="en-US" sz="15000" b="1">
                <a:solidFill>
                  <a:srgbClr val="FFFFFF"/>
                </a:solidFill>
                <a:latin typeface="Inter"/>
                <a:ea typeface="Inter"/>
              </a:rPr>
              <a:t>80%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2714625" y="4400550"/>
            <a:ext cx="2114550" cy="2571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65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of project time goes to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3067050" y="4657725"/>
            <a:ext cx="1762125" cy="2571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65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data &amp; engineering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5400675" y="2076450"/>
            <a:ext cx="5991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Inter"/>
                <a:ea typeface="Inter"/>
              </a:rPr>
              <a:t>Training the model is only ~20%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5400675" y="2590800"/>
            <a:ext cx="5991225" cy="1057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In real industry, about 80% of AI project time goes to 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data processing and engineering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 (stages 2–3 and 5–6), and only about 20% to "training the model".</a:t>
            </a:r>
            <a:endParaRPr/>
          </a:p>
        </p:txBody>
      </p:sp>
      <p:sp>
        <p:nvSpPr>
          <p:cNvPr id="507" name=""/>
          <p:cNvSpPr/>
          <p:nvPr/>
        </p:nvSpPr>
        <p:spPr>
          <a:xfrm rot="0" flipH="0" flipV="0">
            <a:off x="10191750" y="3895725"/>
            <a:ext cx="1200150" cy="190500"/>
          </a:xfrm>
          <a:custGeom>
            <a:pathLst>
              <a:path w="126" h="20">
                <a:moveTo>
                  <a:pt x="0" y="0"/>
                </a:moveTo>
                <a:lnTo>
                  <a:pt x="116" y="0"/>
                </a:lnTo>
                <a:cubicBezTo>
                  <a:pt x="122" y="0"/>
                  <a:pt x="126" y="4"/>
                  <a:pt x="126" y="10"/>
                </a:cubicBezTo>
                <a:lnTo>
                  <a:pt x="126" y="10"/>
                </a:lnTo>
                <a:cubicBezTo>
                  <a:pt x="126" y="16"/>
                  <a:pt x="122" y="20"/>
                  <a:pt x="116" y="20"/>
                </a:cubicBezTo>
                <a:lnTo>
                  <a:pt x="0" y="20"/>
                </a:lnTo>
                <a:lnTo>
                  <a:pt x="0" y="2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35000"/>
            </a:srgbClr>
          </a:solidFill>
          <a:ln/>
        </p:spPr>
        <p:txBody>
          <a:bodyPr/>
          <a:p/>
        </p:txBody>
      </p:sp>
      <p:sp>
        <p:nvSpPr>
          <p:cNvPr id="508" name=""/>
          <p:cNvSpPr/>
          <p:nvPr/>
        </p:nvSpPr>
        <p:spPr>
          <a:xfrm rot="0" flipH="0" flipV="0">
            <a:off x="5400675" y="4314825"/>
            <a:ext cx="5991225" cy="1666875"/>
          </a:xfrm>
          <a:prstGeom prst="roundRect">
            <a:avLst>
              <a:gd name="adj" fmla="val 6857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5610225" y="4486275"/>
            <a:ext cx="5572125" cy="1323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 b="1">
                <a:solidFill>
                  <a:srgbClr val="FFC107"/>
                </a:solidFill>
                <a:latin typeface="Inter"/>
                <a:ea typeface="Inter"/>
              </a:rPr>
              <a:t>Two implications:</a:t>
            </a:r>
            <a:r>
              <a:rPr lang="en-US" sz="1275">
                <a:solidFill>
                  <a:srgbClr val="FFFFFF"/>
                </a:solidFill>
                <a:latin typeface="Inter"/>
                <a:ea typeface="Inter"/>
              </a:rPr>
              <a:t>① this course allocates heavy lab time to data handling and deployment — because that is where the real work happens; ② your employability comes precisely from the engineering delivery others are least good at.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5400675" y="3895725"/>
            <a:ext cx="4791075" cy="190500"/>
          </a:xfrm>
          <a:custGeom>
            <a:pathLst>
              <a:path w="503" h="20">
                <a:moveTo>
                  <a:pt x="10" y="0"/>
                </a:moveTo>
                <a:lnTo>
                  <a:pt x="503" y="0"/>
                </a:lnTo>
                <a:lnTo>
                  <a:pt x="503" y="0"/>
                </a:lnTo>
                <a:lnTo>
                  <a:pt x="503" y="20"/>
                </a:lnTo>
                <a:lnTo>
                  <a:pt x="503" y="20"/>
                </a:lnTo>
                <a:lnTo>
                  <a:pt x="10" y="20"/>
                </a:lnTo>
                <a:cubicBezTo>
                  <a:pt x="4" y="20"/>
                  <a:pt x="0" y="16"/>
                  <a:pt x="0" y="10"/>
                </a:cubicBez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5514975" y="3886200"/>
            <a:ext cx="1533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Inter"/>
                <a:ea typeface="Inter"/>
              </a:rPr>
              <a:t>Data &amp; engineering 80%</a:t>
            </a:r>
            <a:endParaRPr/>
          </a:p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10191750" y="388620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  Training 20%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0000"/>
                  </a:srgbClr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21 / 32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5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urse Toolchain&lt;/Text&gt;&#10;    &lt;Text style={{ fontSize: 15, color: 'rgba(255,255,255,0.85)' }}&gt;Project Lifecycle · Part 04&lt;/Text&gt;&#10;  &lt;/Box&gt;&#10;  &lt;Box style={{ position: 'absolute', top: 96, left: 0, width: '100%', height: 470, padding: '6px 84px', flexDirection: 'row', gap: 18 }}&gt;&#10;    {[&#10;      { m: 'M1 · W1–4', t: 'Foundations', c: '#1E4FA8', tools: [&#10;        { n: 'Python 3.11 + Conda', d: 'Language &amp; virtual environments' },&#10;        { n: 'JupyterLab / Colab', d: 'Interactive development' },&#10;        { n: 'Git + GitHub', d: 'Version control &amp; collaboration' },&#10;        { n: 'NumPy · Pandas · scikit-learn', d: 'Data processing &amp; classic ML' },&#10;      ]},&#10;      { m: 'M2 · W5–8', t: 'Deep Learning', c: '#3D7BD9', tools: [&#10;        { n: 'PyTorch', d: 'The main framework of this course' },&#10;        { n: 'torchvision', d: 'Vision models &amp; datasets' },&#10;        { n: 'Colab GPU', d: 'Free compute' },&#10;        { n: 'Matplotlib', d: 'Training-curve visualization' },&#10;      ]},&#10;      { m: 'M3 · W9–12', t: 'NLP &amp; LLMs', c: '#1E4FA8', tools: [&#10;        { n: 'Hugging Face Transformers', d: 'The second most important library' },&#10;        { n: 'Datasets · Tokenizers', d: 'Data &amp; tokenization' },&#10;        { n: 'Ollama', d: 'Run open LLMs locally' },&#10;        { n: 'LangChain', d: 'Application orchestration framework' },&#10;      ]},&#10;      { m: 'M4 · W13–16', t: 'Engineering', c: '#0E3F8C', tools: [&#10;        { n: 'FastAPI', d: 'Serving models as APIs' },&#10;        { n: 'Docker', d: 'Environment packaging &amp; delivery' },&#10;        { n: 'Streamlit', d: 'Rapid app interfaces' },&#10;        { n: 'MLflow', d: 'Experiment tracking' },&#10;      ]},&#10;    ].map((col, i) =&gt; (&#10;      &lt;Box key={i} style={{ flex: 1, flexDirection: 'column', gap: 9 }}&gt;&#10;        &lt;Box style={{ background: col.c, borderRadius: 10, padding: '10px 16px' }}&gt;&#10;          &lt;Text style={{ fontSize: 13, color: 'rgba(255,255,255,0.85)' }}&gt;{col.m}&lt;/Text&gt;&#10;          &lt;Text style={{ fontSize: 17, color: '#FFFFFF', fontWeight: 'bold' }}&gt;{col.t}&lt;/Text&gt;&#10;        &lt;/Box&gt;&#10;        {col.tools.map((t, j) =&gt; (&#10;          &lt;Box key={j} style={{ flex: 1, background: '#F7F9FC', border: '1px solid #E5E7EB', borderLeft: '4px solid ' + col.c, borderRadius: 8, padding: '9px 14px', justifyContent: 'center' }}&gt;&#10;            &lt;Text style={{ fontSize: 14.5, color: '#1A2230', fontWeight: '600' }}&gt;{t.n}&lt;/Text&gt;&#10;            &lt;Text style={{ fontSize: 12.5, color: '#8B97A8', marginTop: 1 }}&gt;{t.d}&lt;/Text&gt;&#10;          &lt;/Box&gt;&#10;        ))}&#10;      &lt;/Box&gt;&#10;    ))}&#10;  &lt;/Box&gt;&#10;  &lt;Box style={{ position: 'absolute', top: 578, left: 0, width: '100%', height: 68, padding: '6px 84px' }}&gt;&#10;    &lt;Box style={{ width: '100%', height: '100%', background: '#F0F5FC', border: '1px solid #D6DCE5', borderRadius: 12, padding: '10px 20px', flexDirection: 'row', alignItems: 'center', gap: 14 }}&gt;&#10;      &lt;FAIcon name='coins' style={{ fill: '#0E3F8C', width: 24, height: 24, flexShrink: 0 }} /&gt;&#10;      &lt;Text style={{ fontSize: 15, color: '#1A2230', lineHeight: 1.55, flex: 1 }}&gt;&#10;        Everything above is &lt;b&gt;free&lt;/b&gt;: the open-source Anaconda distribution plus free Colab quota covers every assignment — the only account you need is GitHub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743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Course Toolchain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9753600" y="29527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Project Lifecycle · Part 04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800100" y="971550"/>
            <a:ext cx="2524125" cy="542925"/>
          </a:xfrm>
          <a:prstGeom prst="roundRect">
            <a:avLst>
              <a:gd name="adj" fmla="val 1754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952500" y="106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M1 · W1–4</a:t>
            </a:r>
            <a:endParaRPr/>
          </a:p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952500" y="1219200"/>
            <a:ext cx="2219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Foundations</a:t>
            </a:r>
            <a:endParaRPr/>
          </a:p>
        </p:txBody>
      </p:sp>
      <p:sp>
        <p:nvSpPr>
          <p:cNvPr id="523" name=""/>
          <p:cNvSpPr/>
          <p:nvPr/>
        </p:nvSpPr>
        <p:spPr>
          <a:xfrm rot="0" flipH="0" flipV="0">
            <a:off x="838200" y="1600200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24" name=""/>
          <p:cNvSpPr/>
          <p:nvPr/>
        </p:nvSpPr>
        <p:spPr>
          <a:xfrm rot="0" flipH="0" flipV="0">
            <a:off x="838200" y="1600200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971550" y="18764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Python 3.11 + Conda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971550" y="20574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Language &amp; virtual environments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838200" y="2552700"/>
            <a:ext cx="2524125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28" name=""/>
          <p:cNvSpPr/>
          <p:nvPr/>
        </p:nvSpPr>
        <p:spPr>
          <a:xfrm rot="0" flipH="0" flipV="0">
            <a:off x="838200" y="2552700"/>
            <a:ext cx="2524125" cy="876300"/>
          </a:xfrm>
          <a:custGeom>
            <a:pathLst>
              <a:path w="265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971550" y="28289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JupyterLab / Colab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971550" y="30099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Interactive development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838200" y="35147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2" name=""/>
          <p:cNvSpPr/>
          <p:nvPr/>
        </p:nvSpPr>
        <p:spPr>
          <a:xfrm rot="0" flipH="0" flipV="0">
            <a:off x="838200" y="35147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971550" y="37909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Git + GitHub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971550" y="39719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Version control &amp; collaboration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838200" y="44672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6" name=""/>
          <p:cNvSpPr/>
          <p:nvPr/>
        </p:nvSpPr>
        <p:spPr>
          <a:xfrm rot="0" flipH="0" flipV="0">
            <a:off x="838200" y="44672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971550" y="47434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NumPy · Pandas · scikit-learn</a:t>
            </a:r>
            <a:endParaRPr/>
          </a:p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971550" y="49244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Data processing &amp; classic ML</a:t>
            </a:r>
            <a:endParaRPr/>
          </a:p>
        </p:txBody>
      </p:sp>
      <p:sp>
        <p:nvSpPr>
          <p:cNvPr id="539" name=""/>
          <p:cNvSpPr/>
          <p:nvPr/>
        </p:nvSpPr>
        <p:spPr>
          <a:xfrm rot="0" flipH="0" flipV="0">
            <a:off x="3495675" y="971550"/>
            <a:ext cx="2514600" cy="542925"/>
          </a:xfrm>
          <a:prstGeom prst="roundRect">
            <a:avLst>
              <a:gd name="adj" fmla="val 17544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3648075" y="10668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M2 · W5–8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3648075" y="1219200"/>
            <a:ext cx="2209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Deep Learning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533775" y="1600200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3533775" y="1600200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3667125" y="18764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PyTorch</a:t>
            </a:r>
            <a:endParaRPr/>
          </a:p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3667125" y="20574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The main framework of this course</a:t>
            </a:r>
            <a:endParaRPr/>
          </a:p>
        </p:txBody>
      </p:sp>
      <p:sp>
        <p:nvSpPr>
          <p:cNvPr id="546" name=""/>
          <p:cNvSpPr/>
          <p:nvPr/>
        </p:nvSpPr>
        <p:spPr>
          <a:xfrm rot="0" flipH="0" flipV="0">
            <a:off x="3533775" y="2552700"/>
            <a:ext cx="2514600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47" name=""/>
          <p:cNvSpPr/>
          <p:nvPr/>
        </p:nvSpPr>
        <p:spPr>
          <a:xfrm rot="0" flipH="0" flipV="0">
            <a:off x="3533775" y="2552700"/>
            <a:ext cx="2514600" cy="876300"/>
          </a:xfrm>
          <a:custGeom>
            <a:pathLst>
              <a:path w="264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667125" y="28289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torchvision</a:t>
            </a:r>
            <a:endParaRPr/>
          </a:p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3667125" y="30099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Vision models &amp; datasets</a:t>
            </a:r>
            <a:endParaRPr/>
          </a:p>
        </p:txBody>
      </p:sp>
      <p:sp>
        <p:nvSpPr>
          <p:cNvPr id="550" name=""/>
          <p:cNvSpPr/>
          <p:nvPr/>
        </p:nvSpPr>
        <p:spPr>
          <a:xfrm rot="0" flipH="0" flipV="0">
            <a:off x="3533775" y="35147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1" name=""/>
          <p:cNvSpPr/>
          <p:nvPr/>
        </p:nvSpPr>
        <p:spPr>
          <a:xfrm rot="0" flipH="0" flipV="0">
            <a:off x="3533775" y="35147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3667125" y="37909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Colab GPU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667125" y="39719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Free compute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3533775" y="44672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5" name=""/>
          <p:cNvSpPr/>
          <p:nvPr/>
        </p:nvSpPr>
        <p:spPr>
          <a:xfrm rot="0" flipH="0" flipV="0">
            <a:off x="3533775" y="44672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3667125" y="47434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Matplotlib</a:t>
            </a:r>
            <a:endParaRPr/>
          </a:p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3667125" y="49244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Training-curve visualization</a:t>
            </a:r>
            <a:endParaRPr/>
          </a:p>
        </p:txBody>
      </p:sp>
      <p:sp>
        <p:nvSpPr>
          <p:cNvPr id="558" name=""/>
          <p:cNvSpPr/>
          <p:nvPr/>
        </p:nvSpPr>
        <p:spPr>
          <a:xfrm rot="0" flipH="0" flipV="0">
            <a:off x="6181725" y="971550"/>
            <a:ext cx="2524125" cy="542925"/>
          </a:xfrm>
          <a:prstGeom prst="roundRect">
            <a:avLst>
              <a:gd name="adj" fmla="val 1754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6334125" y="106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M3 · W9–12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6334125" y="1219200"/>
            <a:ext cx="2219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NLP &amp; LLMs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6219825" y="1600200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62" name=""/>
          <p:cNvSpPr/>
          <p:nvPr/>
        </p:nvSpPr>
        <p:spPr>
          <a:xfrm rot="0" flipH="0" flipV="0">
            <a:off x="6219825" y="1600200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6353175" y="18764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Hugging Face Transformers</a:t>
            </a:r>
            <a:endParaRPr/>
          </a:p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6353175" y="20574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The second most important library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6219825" y="2552700"/>
            <a:ext cx="2524125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66" name=""/>
          <p:cNvSpPr/>
          <p:nvPr/>
        </p:nvSpPr>
        <p:spPr>
          <a:xfrm rot="0" flipH="0" flipV="0">
            <a:off x="6219825" y="2552700"/>
            <a:ext cx="2524125" cy="876300"/>
          </a:xfrm>
          <a:custGeom>
            <a:pathLst>
              <a:path w="265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6353175" y="28289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Datasets · Tokenizers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6353175" y="30099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Data &amp; tokenization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6219825" y="35147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0" name=""/>
          <p:cNvSpPr/>
          <p:nvPr/>
        </p:nvSpPr>
        <p:spPr>
          <a:xfrm rot="0" flipH="0" flipV="0">
            <a:off x="6219825" y="35147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6353175" y="37909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Ollama</a:t>
            </a:r>
            <a:endParaRPr/>
          </a:p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6353175" y="39719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Run open LLMs locally</a:t>
            </a:r>
            <a:endParaRPr/>
          </a:p>
        </p:txBody>
      </p:sp>
      <p:sp>
        <p:nvSpPr>
          <p:cNvPr id="573" name=""/>
          <p:cNvSpPr/>
          <p:nvPr/>
        </p:nvSpPr>
        <p:spPr>
          <a:xfrm rot="0" flipH="0" flipV="0">
            <a:off x="6219825" y="44672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4" name=""/>
          <p:cNvSpPr/>
          <p:nvPr/>
        </p:nvSpPr>
        <p:spPr>
          <a:xfrm rot="0" flipH="0" flipV="0">
            <a:off x="6219825" y="44672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6353175" y="47434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LangChain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6353175" y="49244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Application orchestration framework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8877300" y="971550"/>
            <a:ext cx="2514600" cy="542925"/>
          </a:xfrm>
          <a:prstGeom prst="roundRect">
            <a:avLst>
              <a:gd name="adj" fmla="val 1754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9029700" y="10668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M4 · W13–16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9029700" y="1219200"/>
            <a:ext cx="2209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Engineering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8915400" y="1600200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8915400" y="1600200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9048750" y="18764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FastAPI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9048750" y="20574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Serving models as APIs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8915400" y="2552700"/>
            <a:ext cx="2514600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5" name=""/>
          <p:cNvSpPr/>
          <p:nvPr/>
        </p:nvSpPr>
        <p:spPr>
          <a:xfrm rot="0" flipH="0" flipV="0">
            <a:off x="8915400" y="2552700"/>
            <a:ext cx="2514600" cy="876300"/>
          </a:xfrm>
          <a:custGeom>
            <a:pathLst>
              <a:path w="264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9048750" y="28289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Docker</a:t>
            </a:r>
            <a:endParaRPr/>
          </a:p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9048750" y="30099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Environment packaging &amp; delivery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8915400" y="35147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9" name=""/>
          <p:cNvSpPr/>
          <p:nvPr/>
        </p:nvSpPr>
        <p:spPr>
          <a:xfrm rot="0" flipH="0" flipV="0">
            <a:off x="8915400" y="35147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9048750" y="37909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Streamlit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9048750" y="39719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Rapid app interfaces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8915400" y="44672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93" name=""/>
          <p:cNvSpPr/>
          <p:nvPr/>
        </p:nvSpPr>
        <p:spPr>
          <a:xfrm rot="0" flipH="0" flipV="0">
            <a:off x="8915400" y="44672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9048750" y="47434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MLflow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9048750" y="49244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Experiment tracking</a:t>
            </a:r>
            <a:endParaRPr/>
          </a:p>
        </p:txBody>
      </p:sp>
      <p:sp>
        <p:nvSpPr>
          <p:cNvPr id="596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5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90600" y="5715000"/>
            <a:ext cx="228600" cy="228600"/>
          </a:xfrm>
          <a:prstGeom prst="rect">
            <a:avLst/>
          </a:prstGeom>
          <a:ln/>
        </p:spPr>
      </p:pic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352550" y="5695950"/>
            <a:ext cx="98488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Everything above is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free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: the open-source Anaconda distribution plus free Colab quota covers every assignment — the only account you need is GitHub.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22 / 32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01" name="" descr="&lt;Slide style={{ width: '1280px', height: '720px', background: '#F7F9FC', padding: '0px', position: 'relative', overflow: 'hidden', fontFamily: 'Inter, Helvetica Neue, Arial, sans-serif' }}&gt;&#10;  &lt;Box style={{ position: 'absolute', top: 0, left: 0, width: '100%', height: 10, background: '#0E3F8C' }} /&gt;&#10;  &lt;Box style={{ position: 'absolute', right: 0, top: 40, opacity: 0.05, width: 700, height: 560, overflow: 'hidden' }}&gt;&#10;    &lt;Text style={{ fontSize: 520, fontWeight: 'bold', color: '#0E3F8C', lineHeight: 0.95, textAlign: 'right' }}&gt;05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5&lt;/Text&gt;&#10;      &lt;/Box&gt;&#10;      &lt;Box style={{ paddingTop: 6 }}&gt;&#10;        &lt;Text style={{ fontSize: 44, color: '#1A2230', fontWeight: 'bold' }}&gt;Lab: Hands-on Practice&lt;/Text&gt;&#10;        &lt;Text style={{ fontSize: 26, color: '#8B97A8', fontWeight: '600', marginTop: 6 }}&gt;Environment &amp;amp; Your First ML Program&lt;/Text&gt;&#10;      &lt;/Box&gt;&#10;    &lt;/Box&gt;&#10;    &lt;Box style={{ flexDirection: 'row', gap: 24 }}&gt;&#10;      {[&#10;        { t: 'Environment Setup', e: 'Conda · Packages' },&#10;        { t: 'Jupyter &amp; Git', e: 'Notebooks · Version Control' },&#10;        { t: 'Your First Model', e: 'Iris + scikit-learn' },&#10;      ].map((k, i) =&gt; (&#10;        &lt;Box key={i} style={{ flex: 1, background: '#FFFFFF', border: '1px solid #D6DCE5', borderLeft: '4px solid #0E3F8C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  &lt;Box style={{ background: '#0E3F8C', borderRadius: 10, padding: '14px 24px', flexDirection: 'row', alignItems: 'center', gap: 16 }}&gt;&#10;      &lt;FAIcon name='clock' style={{ fill: '#FFFFFF', width: 24, height: 24 }} /&gt;&#10;      &lt;Text style={{ fontSize: 16, color: '#FFFFFF' }}&gt;&#10;        Next ~75 minutes: follow along step by step and raise your hand whenever you get stuck — everyone leaves with a working model today.&#10;      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0E3F8C">
                    <a:alpha val="5000"/>
                  </a:srgbClr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605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714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Lab: Hands-on Practice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7148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Environment &amp; Your First ML Program</a:t>
            </a:r>
            <a:endParaRPr/>
          </a:p>
        </p:txBody>
      </p:sp>
      <p:sp>
        <p:nvSpPr>
          <p:cNvPr id="609" name=""/>
          <p:cNvSpPr/>
          <p:nvPr/>
        </p:nvSpPr>
        <p:spPr>
          <a:xfrm rot="0" flipH="0" flipV="0">
            <a:off x="895350" y="34004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0" name=""/>
          <p:cNvSpPr/>
          <p:nvPr/>
        </p:nvSpPr>
        <p:spPr>
          <a:xfrm rot="0" flipH="0" flipV="0">
            <a:off x="895350" y="34004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1104900" y="35718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Environment Setup</a:t>
            </a:r>
            <a:endParaRPr/>
          </a:p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1104900" y="38671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Conda · Packages</a:t>
            </a:r>
            <a:endParaRPr/>
          </a:p>
        </p:txBody>
      </p:sp>
      <p:sp>
        <p:nvSpPr>
          <p:cNvPr id="613" name=""/>
          <p:cNvSpPr/>
          <p:nvPr/>
        </p:nvSpPr>
        <p:spPr>
          <a:xfrm rot="0" flipH="0" flipV="0">
            <a:off x="4467225" y="34004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4" name=""/>
          <p:cNvSpPr/>
          <p:nvPr/>
        </p:nvSpPr>
        <p:spPr>
          <a:xfrm rot="0" flipH="0" flipV="0">
            <a:off x="4467225" y="34004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4676775" y="35718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Jupyter &amp; Git</a:t>
            </a:r>
            <a:endParaRPr/>
          </a:p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4676775" y="38671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Notebooks · Version Control</a:t>
            </a:r>
            <a:endParaRPr/>
          </a:p>
        </p:txBody>
      </p:sp>
      <p:sp>
        <p:nvSpPr>
          <p:cNvPr id="617" name=""/>
          <p:cNvSpPr/>
          <p:nvPr/>
        </p:nvSpPr>
        <p:spPr>
          <a:xfrm rot="0" flipH="0" flipV="0">
            <a:off x="8029575" y="34004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8" name=""/>
          <p:cNvSpPr/>
          <p:nvPr/>
        </p:nvSpPr>
        <p:spPr>
          <a:xfrm rot="0" flipH="0" flipV="0">
            <a:off x="8029575" y="34004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8239125" y="35718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Your First Model</a:t>
            </a:r>
            <a:endParaRPr/>
          </a:p>
        </p:txBody>
      </p:sp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8239125" y="38671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Iris + scikit-learn</a:t>
            </a:r>
            <a:endParaRPr/>
          </a:p>
        </p:txBody>
      </p:sp>
      <p:sp>
        <p:nvSpPr>
          <p:cNvPr id="621" name=""/>
          <p:cNvSpPr/>
          <p:nvPr/>
        </p:nvSpPr>
        <p:spPr>
          <a:xfrm rot="0" flipH="0" flipV="0">
            <a:off x="857250" y="5314950"/>
            <a:ext cx="10477500" cy="495300"/>
          </a:xfrm>
          <a:prstGeom prst="roundRect">
            <a:avLst>
              <a:gd name="adj" fmla="val 19231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5448300"/>
            <a:ext cx="228600" cy="228600"/>
          </a:xfrm>
          <a:prstGeom prst="rect">
            <a:avLst/>
          </a:prstGeom>
          <a:ln/>
        </p:spPr>
      </p:pic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466850" y="5467350"/>
            <a:ext cx="9344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Inter"/>
                <a:ea typeface="Inter"/>
              </a:rPr>
              <a:t>Next ~75 minutes: follow along step by step and raise your hand whenever you get stuck — everyone leaves with a working model today.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4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0 · Overview &amp;amp; Checklist&lt;/Text&gt;&#10;    &lt;Text style={{ fontSize: 15, color: 'rgba(255,255,255,0.85)' }}&gt;Lab · Part 05&lt;/Text&gt;&#10;  &lt;/Box&gt;&#10;  &lt;Box style={{ position: 'absolute', top: 96, left: 0, width: '100%', height: 300, padding: '6px 84px', flexDirection: 'row', gap: 24 }}&gt;&#10;    &lt;Box style={{ flex: 1.3, background: '#F7F9FC', border: '1px solid #E5E7EB', borderRadius: 12, padding: '20px 24px' }}&gt;&#10;      &lt;Text style={{ fontSize: 18, color: '#0E3F8C', fontWeight: 'bold' }}&gt;Today&amp;apos;s Four Steps&lt;/Text&gt;&#10;      {[&#10;        { n: '1', t: 'Install Miniconda and create the ai-app env', d: 'All dependencies isolated in one environment, nothing pollutes your system' },&#10;        { n: '2', t: 'Get JupyterLab (or Colab) running', d: 'Interactive coding — the main workbench for the rest of the course' },&#10;        { n: '3', t: 'Initialize Git and push to GitHub', d: 'Every assignment starts by cloning your repo' },&#10;        { n: '4', t: 'Train your first model: Iris classification', d: 'Ten lines of code, the full ML pipeline end to end' },&#10;      ].map((s, i) =&gt; (&#10;        &lt;Box key={i} style={{ flexDirection: 'row', gap: 14, alignItems: 'center', background: '#FFFFFF', border: '1px solid #E5E7EB', borderRadius: 8, padding: '10px 16px', marginTop: 10 }}&gt;&#10;          &lt;Box style={{ width: 32, height: 32, borderRadius: 16, background: '#1E4FA8', justifyContent: 'center', alignItems: 'center', flexShrink: 0 }}&gt;&#10;            &lt;Text style={{ fontSize: 15, color: '#FFFFFF', fontWeight: 'bold' }}&gt;{s.n}&lt;/Text&gt;&#10;          &lt;/Box&gt;&#10;          &lt;Box style={{ flex: 1 }}&gt;&#10;            &lt;Text style={{ fontSize: 15.5, color: '#1A2230', fontWeight: '600' }}&gt;{s.t}&lt;/Text&gt;&#10;            &lt;Text style={{ fontSize: 12.5, color: '#8B97A8', marginTop: 1 }}&gt;{s.d}&lt;/Text&gt;&#10;          &lt;/Box&gt;&#10;        &lt;/Box&gt;&#10;      ))}&#10;    &lt;/Box&gt;&#10;    &lt;Box style={{ flex: 1, background: '#F0F5FC', border: '1px solid #D6DCE5', borderRadius: 12, padding: '20px 24px' }}&gt;&#10;      &lt;Text style={{ fontSize: 18, color: '#0E3F8C', fontWeight: 'bold' }}&gt;Exit Checklist&lt;/Text&gt;&#10;      &lt;Text style={{ fontSize: 13, color: '#8B97A8', marginTop: 2 }}&gt;All four checked = Lab complete&lt;/Text&gt;&#10;      &lt;Box style={{ marginTop: 14 }}&gt;&#10;        {[&#10;          'conda activate ai-app succeeds with no errors',&#10;          'JupyterLab opens and runs a cell',&#10;          'GitHub repo created, at least 1 commit + push',&#10;          'Iris model accuracy ≥ 0.9 printed on screen',&#10;        ].map((c, i) =&gt; (&#10;          &lt;Box key={i} style={{ flexDirection: 'row', gap: 12, alignItems: 'center', background: '#FFFFFF', borderRadius: 8, padding: '11px 16px', borderLeft: '4px solid #1E4FA8', marginBottom: 9 }}&gt;&#10;            &lt;FAIcon name='check-square' style={{ fill: '#1E4FA8', width: 20, height: 20, flexShrink: 0 }} /&gt;&#10;            &lt;Text style={{ fontSize: 14.5, color: '#1A2230' }}&gt;{c}&lt;/Text&gt;&#10;          &lt;/Box&gt;&#10;        ))}&#10;      &lt;/Box&gt;&#10;      &lt;Text style={{ fontSize: 13, color: '#4A5568', marginTop: 6, lineHeight: 1.6 }}&gt;&#10;        Stuck? &lt;b&gt;Raise your hand — don&amp;apos;t grind alone&lt;/b&gt;. TAs are patrolling the front rows.&#10;      &lt;/Text&gt;&#10;    &lt;/Box&gt;&#10;  &lt;/Box&gt;&#10;  &lt;Box style={{ position: 'absolute', top: 412, left: 0, width: '100%', height: 234, padding: '6px 84px' }}&gt;&#10;    &lt;Box style={{ width: '100%', height: '100%', background: '#F7F9FC', border: '1px solid #E5E7EB', borderRadius: 12, padding: '16px 24px', justifyContent: 'center' }}&gt;&#10;      &lt;Text style={{ fontSize: 16, color: '#0E3F8C', fontWeight: 'bold', marginBottom: 10 }}&gt;Your Stack at a Glance&lt;/Text&gt;&#10;      &lt;Box style={{ flexDirection: 'row', alignItems: 'center', gap: 12 }}&gt;&#10;        {[&#10;          { t: 'OS', s: 'macOS / Windows / Linux', c: '#8B97A8' },&#10;          { t: 'Package Manager', s: 'Miniconda', c: '#1E4FA8' },&#10;          { t: 'Isolated Env', s: 'conda env: ai-app', c: '#1E4FA8' },&#10;          { t: 'Core Packages', s: 'numpy pandas sklearn jupyter', c: '#3D7BD9' },&#10;          { t: 'Editor', s: 'VS Code / JupyterLab', c: '#3D7BD9' },&#10;          { t: 'Remote', s: 'GitHub + Colab', c: '#0E3F8C' },&#10;        ].map((b, i) =&gt; (&#10;          &lt;Box key={i} style={{ flex: 1, background: '#FFFFFF', border: '1px solid #E5E7EB', borderTop: '4px solid ' + b.c, borderRadius: 8, padding: '10px 12px', alignItems: 'center' }}&gt;&#10;            &lt;Text style={{ fontSize: 12, color: '#8B97A8' }}&gt;{b.t}&lt;/Text&gt;&#10;            &lt;Text style={{ fontSize: 13.5, color: '#1A2230', fontWeight: '600', marginTop: 3, textAlign: 'center' }}&gt;{b.s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479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0 · Overview &amp; Checklist</a:t>
            </a:r>
            <a:endParaRPr/>
          </a:p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10563225" y="295275"/>
            <a:ext cx="828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Lab · Part 05</a:t>
            </a:r>
            <a:endParaRPr/>
          </a:p>
        </p:txBody>
      </p:sp>
      <p:sp>
        <p:nvSpPr>
          <p:cNvPr id="629" name=""/>
          <p:cNvSpPr/>
          <p:nvPr/>
        </p:nvSpPr>
        <p:spPr>
          <a:xfrm rot="0" flipH="0" flipV="0">
            <a:off x="800100" y="971550"/>
            <a:ext cx="5857875" cy="3067050"/>
          </a:xfrm>
          <a:prstGeom prst="roundRect">
            <a:avLst>
              <a:gd name="adj" fmla="val 372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1028700" y="1162050"/>
            <a:ext cx="54006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Today's Four Steps</a:t>
            </a:r>
            <a:endParaRPr/>
          </a:p>
        </p:txBody>
      </p:sp>
      <p:sp>
        <p:nvSpPr>
          <p:cNvPr id="631" name=""/>
          <p:cNvSpPr/>
          <p:nvPr/>
        </p:nvSpPr>
        <p:spPr>
          <a:xfrm rot="0" flipH="0" flipV="0">
            <a:off x="1028700" y="1466850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2" name=""/>
          <p:cNvSpPr/>
          <p:nvPr/>
        </p:nvSpPr>
        <p:spPr>
          <a:xfrm rot="0" flipH="0" flipV="0">
            <a:off x="1181100" y="158115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1295400" y="16478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1619250" y="1562100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Install Miniconda and create the ai-app env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1619250" y="1752600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All dependencies isolated in one environment, nothing pollutes your system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1028700" y="2085975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7" name=""/>
          <p:cNvSpPr/>
          <p:nvPr/>
        </p:nvSpPr>
        <p:spPr>
          <a:xfrm rot="0" flipH="0" flipV="0">
            <a:off x="1181100" y="220027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1295400" y="22669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1619250" y="2181225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Get JupyterLab (or Colab) running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1619250" y="2371725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Interactive coding — the main workbench for the rest of the course</a:t>
            </a:r>
            <a:endParaRPr/>
          </a:p>
        </p:txBody>
      </p:sp>
      <p:sp>
        <p:nvSpPr>
          <p:cNvPr id="641" name=""/>
          <p:cNvSpPr/>
          <p:nvPr/>
        </p:nvSpPr>
        <p:spPr>
          <a:xfrm rot="0" flipH="0" flipV="0">
            <a:off x="1028700" y="2705100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42" name=""/>
          <p:cNvSpPr/>
          <p:nvPr/>
        </p:nvSpPr>
        <p:spPr>
          <a:xfrm rot="0" flipH="0" flipV="0">
            <a:off x="1181100" y="28194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3" name="" descr="{&quot;isTemplate&quot;:true,&quot;type&quot;:&quot;text&quot;}"/>
          <p:cNvSpPr txBox="1"/>
          <p:nvPr/>
        </p:nvSpPr>
        <p:spPr>
          <a:xfrm rot="0" flipH="0" flipV="0">
            <a:off x="1295400" y="28860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1619250" y="2800350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Initialize Git and push to GitHub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619250" y="2990850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Every assignment starts by cloning your repo</a:t>
            </a:r>
            <a:endParaRPr/>
          </a:p>
        </p:txBody>
      </p:sp>
      <p:sp>
        <p:nvSpPr>
          <p:cNvPr id="646" name=""/>
          <p:cNvSpPr/>
          <p:nvPr/>
        </p:nvSpPr>
        <p:spPr>
          <a:xfrm rot="0" flipH="0" flipV="0">
            <a:off x="1028700" y="3324225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47" name=""/>
          <p:cNvSpPr/>
          <p:nvPr/>
        </p:nvSpPr>
        <p:spPr>
          <a:xfrm rot="0" flipH="0" flipV="0">
            <a:off x="1181100" y="343852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1295400" y="35052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1619250" y="3419475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Train your first model: Iris classification</a:t>
            </a:r>
            <a:endParaRPr/>
          </a:p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1619250" y="3609975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Ten lines of code, the full ML pipeline end to end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6886575" y="971550"/>
            <a:ext cx="4505325" cy="3371850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7115175" y="1162050"/>
            <a:ext cx="40481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Exit Checklist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7115175" y="1390650"/>
            <a:ext cx="404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All four checked = Lab complete</a:t>
            </a:r>
            <a:endParaRPr/>
          </a:p>
        </p:txBody>
      </p:sp>
      <p:sp>
        <p:nvSpPr>
          <p:cNvPr id="654" name=""/>
          <p:cNvSpPr/>
          <p:nvPr/>
        </p:nvSpPr>
        <p:spPr>
          <a:xfrm rot="0" flipH="0" flipV="0">
            <a:off x="7153275" y="167640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5" name=""/>
          <p:cNvSpPr/>
          <p:nvPr/>
        </p:nvSpPr>
        <p:spPr>
          <a:xfrm rot="0" flipH="0" flipV="0">
            <a:off x="7153275" y="1676400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1781175"/>
            <a:ext cx="190500" cy="190500"/>
          </a:xfrm>
          <a:prstGeom prst="rect">
            <a:avLst/>
          </a:prstGeom>
          <a:ln/>
        </p:spPr>
      </p:pic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7610475" y="1790700"/>
            <a:ext cx="2867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conda activate ai-app succeeds with no errors</a:t>
            </a:r>
            <a:endParaRPr/>
          </a:p>
        </p:txBody>
      </p:sp>
      <p:sp>
        <p:nvSpPr>
          <p:cNvPr id="658" name=""/>
          <p:cNvSpPr/>
          <p:nvPr/>
        </p:nvSpPr>
        <p:spPr>
          <a:xfrm rot="0" flipH="0" flipV="0">
            <a:off x="7153275" y="216217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9" name=""/>
          <p:cNvSpPr/>
          <p:nvPr/>
        </p:nvSpPr>
        <p:spPr>
          <a:xfrm rot="0" flipH="0" flipV="0">
            <a:off x="7153275" y="2162175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2266950"/>
            <a:ext cx="190500" cy="190500"/>
          </a:xfrm>
          <a:prstGeom prst="rect">
            <a:avLst/>
          </a:prstGeom>
          <a:ln/>
        </p:spPr>
      </p:pic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7610475" y="2276475"/>
            <a:ext cx="2057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JupyterLab opens and runs a cell</a:t>
            </a:r>
            <a:endParaRPr/>
          </a:p>
        </p:txBody>
      </p:sp>
      <p:sp>
        <p:nvSpPr>
          <p:cNvPr id="662" name=""/>
          <p:cNvSpPr/>
          <p:nvPr/>
        </p:nvSpPr>
        <p:spPr>
          <a:xfrm rot="0" flipH="0" flipV="0">
            <a:off x="7153275" y="264795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3" name=""/>
          <p:cNvSpPr/>
          <p:nvPr/>
        </p:nvSpPr>
        <p:spPr>
          <a:xfrm rot="0" flipH="0" flipV="0">
            <a:off x="7153275" y="2647950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2752725"/>
            <a:ext cx="190500" cy="190500"/>
          </a:xfrm>
          <a:prstGeom prst="rect">
            <a:avLst/>
          </a:prstGeom>
          <a:ln/>
        </p:spPr>
      </p:pic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7610475" y="2762250"/>
            <a:ext cx="2867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GitHub repo created, at least 1 commit + push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7153275" y="313372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7153275" y="3133725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3238500"/>
            <a:ext cx="190500" cy="190500"/>
          </a:xfrm>
          <a:prstGeom prst="rect">
            <a:avLst/>
          </a:prstGeom>
          <a:ln/>
        </p:spPr>
      </p:pic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7610475" y="3248025"/>
            <a:ext cx="2676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Iris model accuracy ≥ 0.9 printed on screen</a:t>
            </a:r>
            <a:endParaRPr/>
          </a:p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7115175" y="3676650"/>
            <a:ext cx="40481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Stuck?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Raise your hand — don't grind alone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. TAs are patrolling the front rows.</a:t>
            </a:r>
            <a:endParaRPr/>
          </a:p>
        </p:txBody>
      </p:sp>
      <p:sp>
        <p:nvSpPr>
          <p:cNvPr id="671" name=""/>
          <p:cNvSpPr/>
          <p:nvPr/>
        </p:nvSpPr>
        <p:spPr>
          <a:xfrm rot="0" flipH="0" flipV="0">
            <a:off x="800100" y="3981450"/>
            <a:ext cx="10591800" cy="2114550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1028700" y="4543425"/>
            <a:ext cx="10134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Your Stack at a Glance</a:t>
            </a:r>
            <a:endParaRPr/>
          </a:p>
        </p:txBody>
      </p:sp>
      <p:sp>
        <p:nvSpPr>
          <p:cNvPr id="673" name=""/>
          <p:cNvSpPr/>
          <p:nvPr/>
        </p:nvSpPr>
        <p:spPr>
          <a:xfrm rot="0" flipH="0" flipV="0">
            <a:off x="1028700" y="4867275"/>
            <a:ext cx="159067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4" name=""/>
          <p:cNvSpPr/>
          <p:nvPr/>
        </p:nvSpPr>
        <p:spPr>
          <a:xfrm rot="0" flipH="0" flipV="0">
            <a:off x="1028700" y="4867275"/>
            <a:ext cx="1590675" cy="714375"/>
          </a:xfrm>
          <a:custGeom>
            <a:pathLst>
              <a:path w="167" h="75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1743075" y="4962525"/>
            <a:ext cx="1619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OS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3000" y="5133975"/>
            <a:ext cx="1362075" cy="3143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macOS / Windows / Linux</a:t>
            </a:r>
            <a:endParaRPr/>
          </a:p>
        </p:txBody>
      </p:sp>
      <p:sp>
        <p:nvSpPr>
          <p:cNvPr id="677" name=""/>
          <p:cNvSpPr/>
          <p:nvPr/>
        </p:nvSpPr>
        <p:spPr>
          <a:xfrm rot="0" flipH="0" flipV="0">
            <a:off x="2733675" y="4943475"/>
            <a:ext cx="160020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8" name=""/>
          <p:cNvSpPr/>
          <p:nvPr/>
        </p:nvSpPr>
        <p:spPr>
          <a:xfrm rot="0" flipH="0" flipV="0">
            <a:off x="2733675" y="4943475"/>
            <a:ext cx="1600200" cy="561975"/>
          </a:xfrm>
          <a:custGeom>
            <a:pathLst>
              <a:path w="168" h="59">
                <a:moveTo>
                  <a:pt x="160" y="0"/>
                </a:moveTo>
                <a:cubicBezTo>
                  <a:pt x="164" y="0"/>
                  <a:pt x="167" y="3"/>
                  <a:pt x="168" y="7"/>
                </a:cubicBezTo>
                <a:cubicBezTo>
                  <a:pt x="167" y="5"/>
                  <a:pt x="166" y="4"/>
                  <a:pt x="164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60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3067050" y="5038725"/>
            <a:ext cx="933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Package Manager</a:t>
            </a:r>
            <a:endParaRPr/>
          </a:p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3209925" y="5210175"/>
            <a:ext cx="64770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Miniconda</a:t>
            </a:r>
            <a:endParaRPr/>
          </a:p>
        </p:txBody>
      </p:sp>
      <p:sp>
        <p:nvSpPr>
          <p:cNvPr id="681" name=""/>
          <p:cNvSpPr/>
          <p:nvPr/>
        </p:nvSpPr>
        <p:spPr>
          <a:xfrm rot="0" flipH="0" flipV="0">
            <a:off x="4448175" y="4943475"/>
            <a:ext cx="1590675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2" name=""/>
          <p:cNvSpPr/>
          <p:nvPr/>
        </p:nvSpPr>
        <p:spPr>
          <a:xfrm rot="0" flipH="0" flipV="0">
            <a:off x="4448175" y="4943475"/>
            <a:ext cx="1590675" cy="561975"/>
          </a:xfrm>
          <a:custGeom>
            <a:pathLst>
              <a:path w="167" h="59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4933950" y="5038725"/>
            <a:ext cx="628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Isolated Env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4695825" y="5210175"/>
            <a:ext cx="110490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conda env: ai-app</a:t>
            </a:r>
            <a:endParaRPr/>
          </a:p>
        </p:txBody>
      </p:sp>
      <p:sp>
        <p:nvSpPr>
          <p:cNvPr id="685" name=""/>
          <p:cNvSpPr/>
          <p:nvPr/>
        </p:nvSpPr>
        <p:spPr>
          <a:xfrm rot="0" flipH="0" flipV="0">
            <a:off x="6153150" y="4867275"/>
            <a:ext cx="159067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6" name=""/>
          <p:cNvSpPr/>
          <p:nvPr/>
        </p:nvSpPr>
        <p:spPr>
          <a:xfrm rot="0" flipH="0" flipV="0">
            <a:off x="6153150" y="4867275"/>
            <a:ext cx="1590675" cy="714375"/>
          </a:xfrm>
          <a:custGeom>
            <a:pathLst>
              <a:path w="167" h="75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6562725" y="4962525"/>
            <a:ext cx="781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Core Packages</a:t>
            </a:r>
            <a:endParaRPr/>
          </a:p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6267450" y="5133975"/>
            <a:ext cx="1362075" cy="3143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numpy pandas sklearn jupyter</a:t>
            </a:r>
            <a:endParaRPr/>
          </a:p>
        </p:txBody>
      </p:sp>
      <p:sp>
        <p:nvSpPr>
          <p:cNvPr id="689" name=""/>
          <p:cNvSpPr/>
          <p:nvPr/>
        </p:nvSpPr>
        <p:spPr>
          <a:xfrm rot="0" flipH="0" flipV="0">
            <a:off x="7858125" y="4943475"/>
            <a:ext cx="160020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90" name=""/>
          <p:cNvSpPr/>
          <p:nvPr/>
        </p:nvSpPr>
        <p:spPr>
          <a:xfrm rot="0" flipH="0" flipV="0">
            <a:off x="7858125" y="4943475"/>
            <a:ext cx="1600200" cy="561975"/>
          </a:xfrm>
          <a:custGeom>
            <a:pathLst>
              <a:path w="168" h="59">
                <a:moveTo>
                  <a:pt x="160" y="0"/>
                </a:moveTo>
                <a:cubicBezTo>
                  <a:pt x="164" y="0"/>
                  <a:pt x="167" y="3"/>
                  <a:pt x="168" y="7"/>
                </a:cubicBezTo>
                <a:cubicBezTo>
                  <a:pt x="167" y="5"/>
                  <a:pt x="166" y="4"/>
                  <a:pt x="164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6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8505825" y="5038725"/>
            <a:ext cx="30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Editor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7991475" y="5210175"/>
            <a:ext cx="1343025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VS Code / JupyterLab</a:t>
            </a:r>
            <a:endParaRPr/>
          </a:p>
        </p:txBody>
      </p:sp>
      <p:sp>
        <p:nvSpPr>
          <p:cNvPr id="693" name=""/>
          <p:cNvSpPr/>
          <p:nvPr/>
        </p:nvSpPr>
        <p:spPr>
          <a:xfrm rot="0" flipH="0" flipV="0">
            <a:off x="9572625" y="4943475"/>
            <a:ext cx="1590675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94" name=""/>
          <p:cNvSpPr/>
          <p:nvPr/>
        </p:nvSpPr>
        <p:spPr>
          <a:xfrm rot="0" flipH="0" flipV="0">
            <a:off x="9572625" y="4943475"/>
            <a:ext cx="1590675" cy="561975"/>
          </a:xfrm>
          <a:custGeom>
            <a:pathLst>
              <a:path w="167" h="59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10163175" y="5038725"/>
            <a:ext cx="409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Remote</a:t>
            </a:r>
            <a:endParaRPr/>
          </a:p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9896475" y="5210175"/>
            <a:ext cx="942975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GitHub + Colab</a:t>
            </a:r>
            <a:endParaRPr/>
          </a:p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24 / 32</a:t>
            </a:r>
            <a:endParaRPr/>
          </a:p>
        </p:txBody>
      </p:sp>
    </p:spTree>
  </p:cSld>
</p:sld>
</file>

<file path=ppt/slides/slide2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99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1 · Environment Setup&lt;/Text&gt;&#10;    &lt;Text style={{ fontSize: 15, color: 'rgba(255,255,255,0.85)' }}&gt;Lab · Part 05&lt;/Text&gt;&#10;  &lt;/Box&gt;&#10;  &lt;Box style={{ position: 'absolute', top: 96, left: 0, width: '100%', height: 550, padding: '6px 84px', flexDirection: 'row', gap: 28 }}&gt;&#10;    &lt;Box style={{ width: 640, flexShrink: 0 }}&gt;&#10;      &lt;Text style={{ fontSize: 16, color: '#8B97A8', fontWeight: '600', marginBottom: 10 }}&gt;Follow Along&lt;/Text&gt;&#10;      &lt;Box style={{ background: '#1A2230', borderRadius: 12, padding: '18px 24px' }}&gt;&#10;        {[&#10;          { c: '# 1. Download and install Miniconda (official site or a mirror)', s: 'https://docs.conda.io/en/latest/miniconda.html' },&#10;          { c: '# 2. Create and enter the course environment', s: 'conda create -n ai-app python=3.11 -y' },&#10;          { c: '', s: 'conda activate ai-app' },&#10;          { c: '# 3. Install the core packages for this semester', s: 'conda install numpy pandas matplotlib \\' },&#10;          { c: '', s: '    scikit-learn jupyter -y' },&#10;          { c: '# 4. Verify the installation', s: 'python -c &quot;import sklearn; print(sklearn.__version__)&quot;' },&#10;          { c: '# 5. Export the environment (for the deliverable)', s: 'conda env export &gt; environment.yml' },&#10;        ].map((l, i) =&gt; (&#10;          &lt;Box key={i} style={{ marginBottom: 9 }}&gt;&#10;            {l.c ? &lt;Text style={{ fontSize: 13, color: '#7A8797', fontFamily: 'Consolas, Menlo, monospace' }}&gt;{l.c}&lt;/Text&gt; : null}&#10;            &lt;Text style={{ fontSize: 15, color: '#A8D8B9', fontFamily: 'Consolas, Menlo, monospace', lineHeight: 1.55 }}&gt;{l.s}&lt;/Text&gt;&#10;          &lt;/Box&gt;&#10;        ))}&#10;      &lt;/Box&gt;&#10;      &lt;Box style={{ background: '#F0F5FC', border: '1px solid #D6DCE5', borderRadius: 10, padding: '11px 18px', marginTop: 14 }}&gt;&#10;        &lt;Text style={{ fontSize: 14, color: '#4A5568', lineHeight: 1.6 }}&gt;&#10;          &lt;span style={{ fontWeight: 'bold', color: '#1E4FA8' }}&gt;Why environments?&lt;/span&gt; Different courses and projects need different package versions — isolated environments keep them from clashing. Build this engineering habit on day one.&#10;        &lt;/Text&gt;&#10;      &lt;/Box&gt;&#10;    &lt;/Box&gt;&#10;    &lt;Box style={{ flex: 1, gap: 12, justifyContent: 'center' }}&gt;&#10;      &lt;Text style={{ fontSize: 17, color: '#0E3F8C', fontWeight: 'bold' }}&gt;Top 3 Errors&lt;/Text&gt;&#10;      {[&#10;        { i: 'triangle-exclamation', t: 'conda: command not found', d: 'Terminal not reopened after install. Close it and open a new one; on Windows use “Anaconda Prompt”; if conda is still missing, add it to PATH.' },&#10;        { i: 'wifi', t: 'Slow downloads / SSL errors', d: 'On a restricted network, switch to a mirror (TUNA / Aliyun) or use a phone hotspot — the big downloads are one-time only.' },&#10;        { i: 'code', t: 'PackageNotFoundError', d: 'Nine times out of ten you forgot conda activate ai-app and are running in base. Check whether your prompt shows the (ai-app) prefix.' },&#10;      ].map((e, i) =&gt; (&#10;        &lt;Box key={i} style={{ background: '#FFF9F0', border: '1px solid #F0DFC0', borderLeft: '5px solid #D97706', borderRadius: 10, padding: '13px 16px' }}&gt;&#10;          &lt;Box style={{ flexDirection: 'row', alignItems: 'center', gap: 9 }}&gt;&#10;            &lt;FAIcon name={e.i} style={{ fill: '#D97706', width: 17, height: 17 }} /&gt;&#10;            &lt;Text style={{ fontSize: 15, color: '#1A2230', fontWeight: 'bold', fontFamily: 'Consolas, Menlo, monospace' }}&gt;{e.t}&lt;/Text&gt;&#10;          &lt;/Box&gt;&#10;          &lt;Text style={{ fontSize: 13.5, color: '#4A5568', lineHeight: 1.6, marginTop: 5 }}&gt;{e.d}&lt;/Text&gt;&#10;        &lt;/Box&gt;&#10;      ))}&#10;      &lt;Box style={{ background: '#0E3F8C', borderRadius: 10, padding: '11px 16px' }}&gt;&#10;        &lt;Text style={{ fontSize: 13.5, color: '#FFFFFF', lineHeight: 1.55 }}&gt;&#10;          TAs are circulating — raise your hand if you are stuck for more than 5 minut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28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1 · Environment Setup</a:t>
            </a:r>
            <a:endParaRPr/>
          </a:p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10563225" y="295275"/>
            <a:ext cx="828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Lab · Part 05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800100" y="971550"/>
            <a:ext cx="6096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Inter"/>
                <a:ea typeface="Inter"/>
              </a:rPr>
              <a:t>Follow Along</a:t>
            </a:r>
            <a:endParaRPr/>
          </a:p>
        </p:txBody>
      </p:sp>
      <p:sp>
        <p:nvSpPr>
          <p:cNvPr id="705" name=""/>
          <p:cNvSpPr/>
          <p:nvPr/>
        </p:nvSpPr>
        <p:spPr>
          <a:xfrm rot="0" flipH="0" flipV="0">
            <a:off x="800100" y="1257300"/>
            <a:ext cx="6096000" cy="3571875"/>
          </a:xfrm>
          <a:prstGeom prst="roundRect">
            <a:avLst>
              <a:gd name="adj" fmla="val 320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1028700" y="142875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1. Download and install Miniconda (official site or a mirror)</a:t>
            </a:r>
            <a:endParaRPr/>
          </a:p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1028700" y="158115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https://docs.conda.io/en/latest/miniconda.html</a:t>
            </a:r>
            <a:endParaRPr/>
          </a:p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1028700" y="1933575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2. Create and enter the course environment</a:t>
            </a:r>
            <a:endParaRPr/>
          </a:p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1028700" y="2085975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create -n ai-app python=3.11 -y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1028700" y="243840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activate ai-app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1028700" y="2790825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3. Install the core packages for this semester</a:t>
            </a:r>
            <a:endParaRPr/>
          </a:p>
        </p:txBody>
      </p:sp>
      <p:sp>
        <p:nvSpPr>
          <p:cNvPr id="712" name="" descr="{&quot;isTemplate&quot;:true,&quot;type&quot;:&quot;text&quot;}"/>
          <p:cNvSpPr txBox="1"/>
          <p:nvPr/>
        </p:nvSpPr>
        <p:spPr>
          <a:xfrm rot="0" flipH="0" flipV="0">
            <a:off x="1028700" y="2943225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install numpy pandas matplotlib \</a:t>
            </a:r>
            <a:endParaRPr/>
          </a:p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1028700" y="329565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   scikit-learn jupyter -y</a:t>
            </a:r>
            <a:endParaRPr/>
          </a:p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1028700" y="3648075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4. Verify the installation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1028700" y="3800475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python -c "import sklearn; print(sklearn.__version__)"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1028700" y="415290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5. Export the environment (for the deliverable)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1028700" y="430530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env export &gt; environment.yml</a:t>
            </a:r>
            <a:endParaRPr/>
          </a:p>
        </p:txBody>
      </p:sp>
      <p:sp>
        <p:nvSpPr>
          <p:cNvPr id="718" name=""/>
          <p:cNvSpPr/>
          <p:nvPr/>
        </p:nvSpPr>
        <p:spPr>
          <a:xfrm rot="0" flipH="0" flipV="0">
            <a:off x="800100" y="4962525"/>
            <a:ext cx="60960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19" name="" descr="{&quot;isTemplate&quot;:true,&quot;type&quot;:&quot;text&quot;}"/>
          <p:cNvSpPr txBox="1"/>
          <p:nvPr/>
        </p:nvSpPr>
        <p:spPr>
          <a:xfrm rot="0" flipH="0" flipV="0">
            <a:off x="971550" y="5067300"/>
            <a:ext cx="5753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Why environments?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Different courses and projects need different package versions — isolated environments keep them from clashing. Build this engineering habit on day one.</a:t>
            </a:r>
            <a:endParaRPr/>
          </a:p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7162800" y="1171575"/>
            <a:ext cx="4229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Top 3 Errors</a:t>
            </a:r>
            <a:endParaRPr/>
          </a:p>
        </p:txBody>
      </p:sp>
      <p:sp>
        <p:nvSpPr>
          <p:cNvPr id="721" name=""/>
          <p:cNvSpPr/>
          <p:nvPr/>
        </p:nvSpPr>
        <p:spPr>
          <a:xfrm rot="0" flipH="0" flipV="0">
            <a:off x="7210425" y="1485900"/>
            <a:ext cx="4229100" cy="1209675"/>
          </a:xfrm>
          <a:prstGeom prst="roundRect">
            <a:avLst>
              <a:gd name="adj" fmla="val 7874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22" name=""/>
          <p:cNvSpPr/>
          <p:nvPr/>
        </p:nvSpPr>
        <p:spPr>
          <a:xfrm rot="0" flipH="0" flipV="0">
            <a:off x="7210425" y="1485900"/>
            <a:ext cx="4229100" cy="1209675"/>
          </a:xfrm>
          <a:custGeom>
            <a:pathLst>
              <a:path w="444" h="12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22"/>
                </a:lnTo>
                <a:cubicBezTo>
                  <a:pt x="5" y="124"/>
                  <a:pt x="7" y="126"/>
                  <a:pt x="9" y="127"/>
                </a:cubicBezTo>
                <a:cubicBezTo>
                  <a:pt x="4" y="126"/>
                  <a:pt x="0" y="122"/>
                  <a:pt x="0" y="11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7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62825" y="1619250"/>
            <a:ext cx="161925" cy="161925"/>
          </a:xfrm>
          <a:prstGeom prst="rect">
            <a:avLst/>
          </a:prstGeom>
          <a:ln/>
        </p:spPr>
      </p:pic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7610475" y="1609725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Consolas"/>
                <a:ea typeface="Consolas"/>
              </a:rPr>
              <a:t>conda: command not found</a:t>
            </a:r>
            <a:endParaRPr/>
          </a:p>
        </p:txBody>
      </p:sp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7362825" y="1828800"/>
            <a:ext cx="3876675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Terminal not reopened after install. Close it and open a new one; on Windows use “Anaconda Prompt”; if conda is still missing, add it to PATH.</a:t>
            </a:r>
            <a:endParaRPr/>
          </a:p>
        </p:txBody>
      </p:sp>
      <p:sp>
        <p:nvSpPr>
          <p:cNvPr id="726" name=""/>
          <p:cNvSpPr/>
          <p:nvPr/>
        </p:nvSpPr>
        <p:spPr>
          <a:xfrm rot="0" flipH="0" flipV="0">
            <a:off x="7210425" y="2809875"/>
            <a:ext cx="4229100" cy="962025"/>
          </a:xfrm>
          <a:prstGeom prst="roundRect">
            <a:avLst>
              <a:gd name="adj" fmla="val 9901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27" name=""/>
          <p:cNvSpPr/>
          <p:nvPr/>
        </p:nvSpPr>
        <p:spPr>
          <a:xfrm rot="0" flipH="0" flipV="0">
            <a:off x="7210425" y="2809875"/>
            <a:ext cx="4229100" cy="962025"/>
          </a:xfrm>
          <a:custGeom>
            <a:pathLst>
              <a:path w="444" h="10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6"/>
                </a:lnTo>
                <a:cubicBezTo>
                  <a:pt x="5" y="98"/>
                  <a:pt x="7" y="100"/>
                  <a:pt x="9" y="101"/>
                </a:cubicBezTo>
                <a:cubicBezTo>
                  <a:pt x="4" y="100"/>
                  <a:pt x="0" y="96"/>
                  <a:pt x="0" y="9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7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62825" y="2943225"/>
            <a:ext cx="161925" cy="161925"/>
          </a:xfrm>
          <a:prstGeom prst="rect">
            <a:avLst/>
          </a:prstGeom>
          <a:ln/>
        </p:spPr>
      </p:pic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7610475" y="2933700"/>
            <a:ext cx="2324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Consolas"/>
                <a:ea typeface="Consolas"/>
              </a:rPr>
              <a:t>Slow downloads / SSL errors</a:t>
            </a:r>
            <a:endParaRPr/>
          </a:p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7362825" y="3152775"/>
            <a:ext cx="387667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On a restricted network, switch to a mirror (TUNA / Aliyun) or use a phone hotspot — the big downloads are one-time only.</a:t>
            </a:r>
            <a:endParaRPr/>
          </a:p>
        </p:txBody>
      </p:sp>
      <p:sp>
        <p:nvSpPr>
          <p:cNvPr id="731" name=""/>
          <p:cNvSpPr/>
          <p:nvPr/>
        </p:nvSpPr>
        <p:spPr>
          <a:xfrm rot="0" flipH="0" flipV="0">
            <a:off x="7210425" y="3886200"/>
            <a:ext cx="4229100" cy="1209675"/>
          </a:xfrm>
          <a:prstGeom prst="roundRect">
            <a:avLst>
              <a:gd name="adj" fmla="val 7874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32" name=""/>
          <p:cNvSpPr/>
          <p:nvPr/>
        </p:nvSpPr>
        <p:spPr>
          <a:xfrm rot="0" flipH="0" flipV="0">
            <a:off x="7210425" y="3886200"/>
            <a:ext cx="4229100" cy="1209675"/>
          </a:xfrm>
          <a:custGeom>
            <a:pathLst>
              <a:path w="444" h="12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22"/>
                </a:lnTo>
                <a:cubicBezTo>
                  <a:pt x="5" y="124"/>
                  <a:pt x="7" y="126"/>
                  <a:pt x="9" y="127"/>
                </a:cubicBezTo>
                <a:cubicBezTo>
                  <a:pt x="4" y="126"/>
                  <a:pt x="0" y="122"/>
                  <a:pt x="0" y="11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7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362825" y="4019550"/>
            <a:ext cx="161925" cy="161925"/>
          </a:xfrm>
          <a:prstGeom prst="rect">
            <a:avLst/>
          </a:prstGeom>
          <a:ln/>
        </p:spPr>
      </p:pic>
      <p:sp>
        <p:nvSpPr>
          <p:cNvPr id="734" name="" descr="{&quot;isTemplate&quot;:true,&quot;type&quot;:&quot;text&quot;}"/>
          <p:cNvSpPr txBox="1"/>
          <p:nvPr/>
        </p:nvSpPr>
        <p:spPr>
          <a:xfrm rot="0" flipH="0" flipV="0">
            <a:off x="7610475" y="4010025"/>
            <a:ext cx="1724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Consolas"/>
                <a:ea typeface="Consolas"/>
              </a:rPr>
              <a:t>PackageNotFoundError</a:t>
            </a:r>
            <a:endParaRPr/>
          </a:p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7362825" y="4229100"/>
            <a:ext cx="3876675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Nine times out of ten you forgot conda activate ai-app and are running in base. Check whether your prompt shows the (ai-app) prefix.</a:t>
            </a:r>
            <a:endParaRPr/>
          </a:p>
        </p:txBody>
      </p:sp>
      <p:sp>
        <p:nvSpPr>
          <p:cNvPr id="736" name=""/>
          <p:cNvSpPr/>
          <p:nvPr/>
        </p:nvSpPr>
        <p:spPr>
          <a:xfrm rot="0" flipH="0" flipV="0">
            <a:off x="7162800" y="5210175"/>
            <a:ext cx="4229100" cy="695325"/>
          </a:xfrm>
          <a:prstGeom prst="roundRect">
            <a:avLst>
              <a:gd name="adj" fmla="val 1369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7315200" y="5314950"/>
            <a:ext cx="39243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13">
                <a:solidFill>
                  <a:srgbClr val="FFFFFF"/>
                </a:solidFill>
                <a:latin typeface="Inter"/>
                <a:ea typeface="Inter"/>
              </a:rPr>
              <a:t>TAs are circulating — raise your hand if you are stuck for more than 5 minutes.</a:t>
            </a:r>
            <a:endParaRPr/>
          </a:p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25 / 32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40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2 · JupyterLab &amp;amp; Colab&lt;/Text&gt;&#10;    &lt;Text style={{ fontSize: 15, color: 'rgba(255,255,255,0.85)' }}&gt;Lab · Part 05&lt;/Text&gt;&#10;  &lt;/Box&gt;&#10;  &lt;Box style={{ position: 'absolute', top: 96, left: 0, width: '100%', height: 470, padding: '6px 84px', flexDirection: 'row', gap: 24 }}&gt;&#10;    {[&#10;      { i: 'laptop', t: 'JupyterLab', s: 'Local', c: '#1E4FA8', rows: [&#10;        { k: 'Launch', v: 'After conda activate ai-app, run jupyter lab — the browser opens automatically' },&#10;        { k: 'Key concepts', v: 'Cells (code / Markdown) + Kernel (the runtime)' },&#10;        { k: 'Key operations', v: 'Shift+Enter runs a cell · Esc then B inserts a cell · Kernel → Restart resets state' },&#10;        { k: 'Best for', v: 'Daily assignments, small data, offline development' },&#10;      ]},&#10;      { i: 'cloud', t: 'Google Colab', s: 'Cloud', c: '#3D7BD9', rows: [&#10;        { k: 'Launch', v: 'colab.research.google.com — sign in with a Google account, zero install' },&#10;        { k: 'Key concepts', v: 'Notebooks run on a cloud VM with a free GPU tier (T4)' },&#10;        { k: 'Key operations', v: 'Runtime → Change runtime type → GPU · mount Google Drive on the left' },&#10;        { k: 'Best for', v: 'Deep-learning training from W5 on, and experiments your laptop can\u2019t handle' },&#10;      ]},&#10;    ].map((w, i) =&gt; (&#10;      &lt;Box key={i} style={{ flex: 1, background: '#F7F9FC', border: '1px solid #E5E7EB', borderTop: '5px solid ' + w.c, borderRadius: 12, padding: '20px 24px' }}&gt;&#10;        &lt;Box style={{ flexDirection: 'row', alignItems: 'center', gap: 12 }}&gt;&#10;          &lt;Box style={{ width: 44, height: 44, borderRadius: 12, background: w.c, justifyContent: 'center', alignItems: 'center' }}&gt;&#10;            &lt;FAIcon name={w.i} style={{ fill: '#FFFFFF', width: 21, height: 21 }} /&gt;&#10;          &lt;/Box&gt;&#10;          &lt;Box&gt;&#10;            &lt;Text style={{ fontSize: 20, color: '#1A2230', fontWeight: 'bold' }}&gt;{w.t}&lt;/Text&gt;&#10;            &lt;Text style={{ fontSize: 12.5, color: '#8B97A8' }}&gt;{w.s}&lt;/Text&gt;&#10;          &lt;/Box&gt;&#10;        &lt;/Box&gt;&#10;        {w.rows.map((r, j) =&gt; (&#10;          &lt;Box key={j} style={{ marginTop: 12 }}&gt;&#10;            &lt;Text style={{ fontSize: 13, color: w.c, fontWeight: 'bold' }}&gt;{r.k}&lt;/Text&gt;&#10;            &lt;Text style={{ fontSize: 14, color: '#4A5568', lineHeight: 1.55, marginTop: 2 }}&gt;{r.v}&lt;/Text&gt;&#10;          &lt;/Box&gt;&#10;        ))}&#10;      &lt;/Box&gt;&#10;    ))}&#10;  &lt;/Box&gt;&#10;  &lt;Box style={{ position: 'absolute', top: 578, left: 0, width: '100%', height: 68, padding: '6px 84px' }}&gt;&#10;    &lt;Box style={{ width: '100%', height: '100%', background: '#F0F5FC', border: '1px solid #D6DCE5', borderRadius: 12, padding: '10px 20px', flexDirection: 'row', alignItems: 'center', gap: 16 }}&gt;&#10;      &lt;Text style={{ fontSize: 15, color: '#0E3F8C', fontWeight: 'bold', flexShrink: 0 }}&gt;Which one?&lt;/Text&gt;&#10;      &lt;Text style={{ fontSize: 14.5, color: '#1A2230', lineHeight: 1.55, flex: 1 }}&gt;&#10;        Default to JupyterLab; the moment your code has &lt;span style={{ fontFamily: 'Consolas, Menlo, monospace', color: '#1E4FA8' }}&gt;import torch&lt;/span&gt; and needs training — move it to a Colab GPU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4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955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2 · JupyterLab &amp; Colab</a:t>
            </a:r>
            <a:endParaRPr/>
          </a:p>
        </p:txBody>
      </p:sp>
      <p:sp>
        <p:nvSpPr>
          <p:cNvPr id="744" name="" descr="{&quot;isTemplate&quot;:true,&quot;type&quot;:&quot;text&quot;}"/>
          <p:cNvSpPr txBox="1"/>
          <p:nvPr/>
        </p:nvSpPr>
        <p:spPr>
          <a:xfrm rot="0" flipH="0" flipV="0">
            <a:off x="10563225" y="295275"/>
            <a:ext cx="828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Lab · Part 05</a:t>
            </a:r>
            <a:endParaRPr/>
          </a:p>
        </p:txBody>
      </p:sp>
      <p:sp>
        <p:nvSpPr>
          <p:cNvPr id="745" name=""/>
          <p:cNvSpPr/>
          <p:nvPr/>
        </p:nvSpPr>
        <p:spPr>
          <a:xfrm rot="0" flipH="0" flipV="0">
            <a:off x="800100" y="1019175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46" name=""/>
          <p:cNvSpPr/>
          <p:nvPr/>
        </p:nvSpPr>
        <p:spPr>
          <a:xfrm rot="0" flipH="0" flipV="0">
            <a:off x="800100" y="1019175"/>
            <a:ext cx="5181600" cy="4362450"/>
          </a:xfrm>
          <a:custGeom>
            <a:pathLst>
              <a:path w="544" h="458">
                <a:moveTo>
                  <a:pt x="533" y="0"/>
                </a:moveTo>
                <a:cubicBezTo>
                  <a:pt x="538" y="0"/>
                  <a:pt x="543" y="4"/>
                  <a:pt x="544" y="10"/>
                </a:cubicBezTo>
                <a:cubicBezTo>
                  <a:pt x="543" y="7"/>
                  <a:pt x="540" y="5"/>
                  <a:pt x="53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32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7" name=""/>
          <p:cNvSpPr/>
          <p:nvPr/>
        </p:nvSpPr>
        <p:spPr>
          <a:xfrm rot="0" flipH="0" flipV="0">
            <a:off x="10287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7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43000" y="1323975"/>
            <a:ext cx="200025" cy="200025"/>
          </a:xfrm>
          <a:prstGeom prst="rect">
            <a:avLst/>
          </a:prstGeom>
          <a:ln/>
        </p:spPr>
      </p:pic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562100" y="1238250"/>
            <a:ext cx="1028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JupyterLab</a:t>
            </a:r>
            <a:endParaRPr/>
          </a:p>
        </p:txBody>
      </p:sp>
      <p:sp>
        <p:nvSpPr>
          <p:cNvPr id="750" name="" descr="{&quot;isTemplate&quot;:true,&quot;type&quot;:&quot;text&quot;}"/>
          <p:cNvSpPr txBox="1"/>
          <p:nvPr/>
        </p:nvSpPr>
        <p:spPr>
          <a:xfrm rot="0" flipH="0" flipV="0">
            <a:off x="1562100" y="1466850"/>
            <a:ext cx="1028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Local</a:t>
            </a:r>
            <a:endParaRPr/>
          </a:p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1028700" y="17430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Launch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1028700" y="191452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After conda activate ai-app, run jupyter lab — the browser opens automatically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1028700" y="22860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Key concepts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1028700" y="245745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Cells (code / Markdown) + Kernel (the runtime)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1028700" y="28289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Key operations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1028700" y="300037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Shift+Enter runs a cell · Esc then B inserts a cell · Kernel → Restart resets state</a:t>
            </a:r>
            <a:endParaRPr/>
          </a:p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1028700" y="337185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Best for</a:t>
            </a:r>
            <a:endParaRPr/>
          </a:p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1028700" y="354330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Daily assignments, small data, offline development</a:t>
            </a:r>
            <a:endParaRPr/>
          </a:p>
        </p:txBody>
      </p:sp>
      <p:sp>
        <p:nvSpPr>
          <p:cNvPr id="759" name=""/>
          <p:cNvSpPr/>
          <p:nvPr/>
        </p:nvSpPr>
        <p:spPr>
          <a:xfrm rot="0" flipH="0" flipV="0">
            <a:off x="6210300" y="1019175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0" name=""/>
          <p:cNvSpPr/>
          <p:nvPr/>
        </p:nvSpPr>
        <p:spPr>
          <a:xfrm rot="0" flipH="0" flipV="0">
            <a:off x="6210300" y="1019175"/>
            <a:ext cx="5181600" cy="4362450"/>
          </a:xfrm>
          <a:custGeom>
            <a:pathLst>
              <a:path w="544" h="458">
                <a:moveTo>
                  <a:pt x="533" y="0"/>
                </a:moveTo>
                <a:cubicBezTo>
                  <a:pt x="538" y="0"/>
                  <a:pt x="543" y="4"/>
                  <a:pt x="544" y="10"/>
                </a:cubicBezTo>
                <a:cubicBezTo>
                  <a:pt x="543" y="7"/>
                  <a:pt x="540" y="5"/>
                  <a:pt x="53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32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1" name=""/>
          <p:cNvSpPr/>
          <p:nvPr/>
        </p:nvSpPr>
        <p:spPr>
          <a:xfrm rot="0" flipH="0" flipV="0">
            <a:off x="64389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7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553200" y="1323975"/>
            <a:ext cx="200025" cy="200025"/>
          </a:xfrm>
          <a:prstGeom prst="rect">
            <a:avLst/>
          </a:prstGeom>
          <a:ln/>
        </p:spPr>
      </p:pic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6972300" y="1238250"/>
            <a:ext cx="1238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Google Colab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6972300" y="1466850"/>
            <a:ext cx="1238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Cloud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6438900" y="17430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Launch</a:t>
            </a:r>
            <a:endParaRPr/>
          </a:p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6438900" y="191452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colab.research.google.com — sign in with a Google account, zero install</a:t>
            </a:r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6438900" y="22860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Key concepts</a:t>
            </a:r>
            <a:endParaRPr/>
          </a:p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6438900" y="245745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Notebooks run on a cloud VM with a free GPU tier (T4)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6438900" y="28289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Key operations</a:t>
            </a:r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6438900" y="300037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Runtime → Change runtime type → GPU · mount Google Drive on the left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6438900" y="337185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Best for</a:t>
            </a:r>
            <a:endParaRPr/>
          </a:p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6438900" y="354330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Deep-learning training from W5 on, and experiments your laptop can’t handle</a:t>
            </a:r>
            <a:endParaRPr/>
          </a:p>
        </p:txBody>
      </p:sp>
      <p:sp>
        <p:nvSpPr>
          <p:cNvPr id="773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74" name="" descr="{&quot;isTemplate&quot;:true,&quot;type&quot;:&quot;text&quot;}"/>
          <p:cNvSpPr txBox="1"/>
          <p:nvPr/>
        </p:nvSpPr>
        <p:spPr>
          <a:xfrm rot="0" flipH="0" flipV="0">
            <a:off x="990600" y="5743575"/>
            <a:ext cx="800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Which one?</a:t>
            </a:r>
            <a:endParaRPr/>
          </a:p>
        </p:txBody>
      </p:sp>
      <p:sp>
        <p:nvSpPr>
          <p:cNvPr id="775" name="" descr="{&quot;isTemplate&quot;:true,&quot;type&quot;:&quot;text&quot;}"/>
          <p:cNvSpPr txBox="1"/>
          <p:nvPr/>
        </p:nvSpPr>
        <p:spPr>
          <a:xfrm rot="0" flipH="0" flipV="0">
            <a:off x="1943100" y="5705475"/>
            <a:ext cx="92583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Default to JupyterLab; the moment your code has </a:t>
            </a:r>
            <a:r>
              <a:rPr lang="en-US" sz="1088">
                <a:solidFill>
                  <a:srgbClr val="1E4FA8"/>
                </a:solidFill>
                <a:latin typeface="Inter"/>
                <a:ea typeface="Inter"/>
              </a:rPr>
              <a:t>import torch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and needs training — move it to a Colab GPU.</a:t>
            </a:r>
            <a:endParaRPr/>
          </a:p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26 / 32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78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3 · Git in 5 Minutes&lt;/Text&gt;&#10;    &lt;Text style={{ fontSize: 15, color: 'rgba(255,255,255,0.85)' }}&gt;Lab · Part 05&lt;/Text&gt;&#10;  &lt;/Box&gt;&#10;  &lt;Box style={{ position: 'absolute', top: 96, left: 0, width: '100%', height: 550, padding: '6px 84px', flexDirection: 'row', gap: 28 }}&gt;&#10;    &lt;Box style={{ width: 620, flexShrink: 0 }}&gt;&#10;      &lt;Text style={{ fontSize: 16, color: '#8B97A8', fontWeight: '600', marginBottom: 10 }}&gt;Today&amp;apos;s Commands&lt;/Text&gt;&#10;      &lt;Box style={{ background: '#1A2230', borderRadius: 12, padding: '18px 24px' }}&gt;&#10;        {[&#10;          { c: '# First-time config (use your GitHub username and email)', s: 'git config --global user.name &quot;Your Name&quot;' },&#10;          { c: '', s: 'git config --global user.email &quot;you@example.com&quot;' },&#10;          { c: '# Initialize a repo in the project directory', s: 'git init' },&#10;          { c: '# Stage + commit', s: 'git add . &amp;&amp; git commit -m &quot;week1: env + iris model&quot;' },&#10;          { c: '# Link GitHub and push', s: 'git remote add origin &lt;your-repo-url&gt;' },&#10;          { c: '', s: 'git push -u origin main' },&#10;        ].map((l, i) =&gt; (&#10;          &lt;Box key={i} style={{ marginBottom: 9 }}&gt;&#10;            {l.c ? &lt;Text style={{ fontSize: 13, color: '#7A8797', fontFamily: 'Consolas, Menlo, monospace' }}&gt;{l.c}&lt;/Text&gt; : null}&#10;            &lt;Text style={{ fontSize: 15, color: '#A8D8B9', fontFamily: 'Consolas, Menlo, monospace', lineHeight: 1.55 }}&gt;{l.s}&lt;/Text&gt;&#10;          &lt;/Box&gt;&#10;        ))}&#10;      &lt;/Box&gt;&#10;      &lt;Box style={{ background: '#FFF9F0', border: '1px solid #F0DFC0', borderLeft: '5px solid #D97706', borderRadius: 10, padding: '11px 18px', marginTop: 14 }}&gt;&#10;        &lt;Text style={{ fontSize: 13.5, color: '#4A5568', lineHeight: 1.6 }}&gt;&#10;          &lt;span style={{ fontWeight: 'bold', color: '#D97706' }}&gt;Reminder:&lt;/span&gt; create a &lt;span style={{ fontFamily: 'Consolas, Menlo, monospace' }}&gt;.gitignore&lt;/span&gt; first and list &lt;span style={{ fontFamily: 'Consolas, Menlo, monospace' }}&gt;data/&lt;/span&gt; and &lt;span style={{ fontFamily: 'Consolas, Menlo, monospace' }}&gt;*.ipynb_checkpoints/&lt;/span&gt; — keep data and caches out of the repo.&#10;        &lt;/Text&gt;&#10;      &lt;/Box&gt;&#10;    &lt;/Box&gt;&#10;    &lt;Box style={{ flex: 1, gap: 12, justifyContent: 'center' }}&gt;&#10;      &lt;Text style={{ fontSize: 17, color: '#0E3F8C', fontWeight: 'bold' }}&gt;Why Git Matters Even More for AI&lt;/Text&gt;&#10;      {[&#10;        { i: 'code', t: 'Traceable experiments', d: '“Which lines dropped accuracy by 3 points?” — your commit history is the experiment log.' },&#10;        { i: 'rotate', t: 'Roll back anytime', d: 'Broke something? git checkout takes you back to the last working version in a second.' },&#10;        { i: 'users', t: 'Assignments become a portfolio', d: 'By semester end your GitHub holds four complete projects — more convincing than any line on a résumé.' },&#10;      ].map((k, i) =&gt; (&#10;        &lt;Box key={i} style={{ flexDirection: 'row', gap: 14, background: '#F7F9FC', border: '1px solid #E5E7EB', borderRadius: 10, padding: '13px 16px', alignItems: 'flex-start' }}&gt;&#10;          &lt;Box style={{ width: 38, height: 38, borderRadius: 10, background: '#E8EFF8', justifyContent: 'center', alignItems: 'center', flexShrink: 0 }}&gt;&#10;            &lt;FAIcon name={k.i} style={{ fill: '#1E4FA8', width: 19, height: 19 }} /&gt;&#10;          &lt;/Box&gt;&#10;          &lt;Box&gt;&#10;            &lt;Text style={{ fontSize: 16, color: '#1A2230', fontWeight: 'bold' }}&gt;{k.t}&lt;/Text&gt;&#10;            &lt;Text style={{ fontSize: 13.5, color: '#4A5568', lineHeight: 1.55, marginTop: 2 }}&gt;{k.d}&lt;/Text&gt;&#10;          &lt;/Box&gt;&#10;        &lt;/Box&gt;&#10;      ))}&#10;      &lt;Text style={{ fontSize: 13, color: '#8B97A8', lineHeight: 1.6 }}&gt;&#10;        Write commit messages that say what you did: “week1: add iris knn baseline”, not “update”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8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286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3 · Git in 5 Minutes</a:t>
            </a:r>
            <a:endParaRPr/>
          </a:p>
        </p:txBody>
      </p:sp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10563225" y="295275"/>
            <a:ext cx="828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Lab · Part 05</a:t>
            </a:r>
            <a:endParaRPr/>
          </a:p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800100" y="971550"/>
            <a:ext cx="5905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Inter"/>
                <a:ea typeface="Inter"/>
              </a:rPr>
              <a:t>Today's Commands</a:t>
            </a:r>
            <a:endParaRPr/>
          </a:p>
        </p:txBody>
      </p:sp>
      <p:sp>
        <p:nvSpPr>
          <p:cNvPr id="784" name=""/>
          <p:cNvSpPr/>
          <p:nvPr/>
        </p:nvSpPr>
        <p:spPr>
          <a:xfrm rot="0" flipH="0" flipV="0">
            <a:off x="800100" y="1257300"/>
            <a:ext cx="5905500" cy="3067050"/>
          </a:xfrm>
          <a:prstGeom prst="roundRect">
            <a:avLst>
              <a:gd name="adj" fmla="val 3727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1028700" y="1428750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First-time config (use your GitHub username and email)</a:t>
            </a:r>
            <a:endParaRPr/>
          </a:p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1028700" y="1581150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config --global user.name "Your Name"</a:t>
            </a:r>
            <a:endParaRPr/>
          </a:p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1028700" y="1933575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config --global user.email "you@example.com"</a:t>
            </a:r>
            <a:endParaRPr/>
          </a:p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1028700" y="2286000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Initialize a repo in the project directory</a:t>
            </a:r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1028700" y="2438400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init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1028700" y="2790825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Stage + commit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1028700" y="2943225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add . &amp;&amp; git commit -m "week1: env + iris model"</a:t>
            </a:r>
            <a:endParaRPr/>
          </a:p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1028700" y="3295650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Link GitHub and push</a:t>
            </a:r>
            <a:endParaRPr/>
          </a:p>
        </p:txBody>
      </p:sp>
      <p:sp>
        <p:nvSpPr>
          <p:cNvPr id="793" name="" descr="{&quot;isTemplate&quot;:true,&quot;type&quot;:&quot;text&quot;}"/>
          <p:cNvSpPr txBox="1"/>
          <p:nvPr/>
        </p:nvSpPr>
        <p:spPr>
          <a:xfrm rot="0" flipH="0" flipV="0">
            <a:off x="1028700" y="3448050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remote add origin &lt;your-repo-url&gt;</a:t>
            </a:r>
            <a:endParaRPr/>
          </a:p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1028700" y="3800475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push -u origin main</a:t>
            </a:r>
            <a:endParaRPr/>
          </a:p>
        </p:txBody>
      </p:sp>
      <p:sp>
        <p:nvSpPr>
          <p:cNvPr id="795" name=""/>
          <p:cNvSpPr/>
          <p:nvPr/>
        </p:nvSpPr>
        <p:spPr>
          <a:xfrm rot="0" flipH="0" flipV="0">
            <a:off x="847725" y="4457700"/>
            <a:ext cx="5905500" cy="704850"/>
          </a:xfrm>
          <a:prstGeom prst="roundRect">
            <a:avLst>
              <a:gd name="adj" fmla="val 13514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96" name=""/>
          <p:cNvSpPr/>
          <p:nvPr/>
        </p:nvSpPr>
        <p:spPr>
          <a:xfrm rot="0" flipH="0" flipV="0">
            <a:off x="847725" y="4457700"/>
            <a:ext cx="5905500" cy="704850"/>
          </a:xfrm>
          <a:custGeom>
            <a:pathLst>
              <a:path w="620" h="7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9"/>
                </a:lnTo>
                <a:cubicBezTo>
                  <a:pt x="5" y="71"/>
                  <a:pt x="7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sp>
        <p:nvSpPr>
          <p:cNvPr id="797" name="" descr="{&quot;isTemplate&quot;:true,&quot;type&quot;:&quot;text&quot;}"/>
          <p:cNvSpPr txBox="1"/>
          <p:nvPr/>
        </p:nvSpPr>
        <p:spPr>
          <a:xfrm rot="0" flipH="0" flipV="0">
            <a:off x="1019175" y="4562475"/>
            <a:ext cx="551497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 b="1">
                <a:solidFill>
                  <a:srgbClr val="D97706"/>
                </a:solidFill>
                <a:latin typeface="Inter"/>
                <a:ea typeface="Inter"/>
              </a:rPr>
              <a:t>Reminder: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 create a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.gitignore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 first and list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data/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 and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*.ipynb_checkpoints/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 — keep data and caches out of the repo.</a:t>
            </a:r>
            <a:endParaRPr/>
          </a:p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6972300" y="1552575"/>
            <a:ext cx="441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Why Git Matters Even More for AI</a:t>
            </a:r>
            <a:endParaRPr/>
          </a:p>
        </p:txBody>
      </p:sp>
      <p:sp>
        <p:nvSpPr>
          <p:cNvPr id="799" name=""/>
          <p:cNvSpPr/>
          <p:nvPr/>
        </p:nvSpPr>
        <p:spPr>
          <a:xfrm rot="0" flipH="0" flipV="0">
            <a:off x="6972300" y="1866900"/>
            <a:ext cx="441960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00" name=""/>
          <p:cNvSpPr/>
          <p:nvPr/>
        </p:nvSpPr>
        <p:spPr>
          <a:xfrm rot="0" flipH="0" flipV="0">
            <a:off x="7124700" y="19907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219950" y="2085975"/>
            <a:ext cx="180975" cy="180975"/>
          </a:xfrm>
          <a:prstGeom prst="rect">
            <a:avLst/>
          </a:prstGeom>
          <a:ln/>
        </p:spPr>
      </p:pic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7620000" y="1990725"/>
            <a:ext cx="361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Traceable experiments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620000" y="2200275"/>
            <a:ext cx="36195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“Which lines dropped accuracy by 3 points?” — your commit history is the experiment log.</a:t>
            </a:r>
            <a:endParaRPr/>
          </a:p>
        </p:txBody>
      </p:sp>
      <p:sp>
        <p:nvSpPr>
          <p:cNvPr id="804" name=""/>
          <p:cNvSpPr/>
          <p:nvPr/>
        </p:nvSpPr>
        <p:spPr>
          <a:xfrm rot="0" flipH="0" flipV="0">
            <a:off x="6972300" y="2924175"/>
            <a:ext cx="441960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05" name=""/>
          <p:cNvSpPr/>
          <p:nvPr/>
        </p:nvSpPr>
        <p:spPr>
          <a:xfrm rot="0" flipH="0" flipV="0">
            <a:off x="7124700" y="30480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219950" y="3143250"/>
            <a:ext cx="180975" cy="180975"/>
          </a:xfrm>
          <a:prstGeom prst="rect">
            <a:avLst/>
          </a:prstGeom>
          <a:ln/>
        </p:spPr>
      </p:pic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7620000" y="3048000"/>
            <a:ext cx="361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Roll back anytime</a:t>
            </a:r>
            <a:endParaRPr/>
          </a:p>
        </p:txBody>
      </p:sp>
      <p:sp>
        <p:nvSpPr>
          <p:cNvPr id="808" name="" descr="{&quot;isTemplate&quot;:true,&quot;type&quot;:&quot;text&quot;}"/>
          <p:cNvSpPr txBox="1"/>
          <p:nvPr/>
        </p:nvSpPr>
        <p:spPr>
          <a:xfrm rot="0" flipH="0" flipV="0">
            <a:off x="7620000" y="3257550"/>
            <a:ext cx="36195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Broke something? git checkout takes you back to the last working version in a second.</a:t>
            </a:r>
            <a:endParaRPr/>
          </a:p>
        </p:txBody>
      </p:sp>
      <p:sp>
        <p:nvSpPr>
          <p:cNvPr id="809" name=""/>
          <p:cNvSpPr/>
          <p:nvPr/>
        </p:nvSpPr>
        <p:spPr>
          <a:xfrm rot="0" flipH="0" flipV="0">
            <a:off x="6972300" y="3981450"/>
            <a:ext cx="441960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0" name=""/>
          <p:cNvSpPr/>
          <p:nvPr/>
        </p:nvSpPr>
        <p:spPr>
          <a:xfrm rot="0" flipH="0" flipV="0">
            <a:off x="7124700" y="41052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219950" y="4200525"/>
            <a:ext cx="180975" cy="180975"/>
          </a:xfrm>
          <a:prstGeom prst="rect">
            <a:avLst/>
          </a:prstGeom>
          <a:ln/>
        </p:spPr>
      </p:pic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7620000" y="4105275"/>
            <a:ext cx="361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Assignments become a portfolio</a:t>
            </a:r>
            <a:endParaRPr/>
          </a:p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7620000" y="4314825"/>
            <a:ext cx="36195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By semester end your GitHub holds four complete projects — more convincing than any line on a résumé.</a:t>
            </a:r>
            <a:endParaRPr/>
          </a:p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6972300" y="5038725"/>
            <a:ext cx="44196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Write commit messages that say what you did: “week1: add iris knn baseline”, not “update”.</a:t>
            </a:r>
            <a:endParaRPr/>
          </a:p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27 / 32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817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4 · Your First ML Program&lt;/Text&gt;&#10;    &lt;Text style={{ fontSize: 15, color: 'rgba(255,255,255,0.85)' }}&gt;Lab · Part 05&lt;/Text&gt;&#10;  &lt;/Box&gt;&#10;  &lt;Box style={{ position: 'absolute', top: 96, left: 0, width: '100%', height: 550, padding: '6px 84px', flexDirection: 'row', gap: 28 }}&gt;&#10;    &lt;Box style={{ width: 600, flexShrink: 0 }}&gt;&#10;      &lt;Text style={{ fontSize: 16, color: '#8B97A8', fontWeight: '600', marginBottom: 10 }}&gt;Iris Classification · Fully Runnable&lt;/Text&gt;&#10;      &lt;Box style={{ background: '#1A2230', borderRadius: 12, padding: '18px 24px' }}&gt;&#10;        {[&#10;          { c: 'from sklearn.datasets import load_iris', s: 'from sklearn.model_selection import train_test_split' },&#10;          { c: 'from sklearn.neighbors import KNeighborsClassifier', s: '' },&#10;          { c: '', s: '# 1. Load data: 150 flowers · 4 features · 3 species' },&#10;          { c: 'X, y = load_iris(return_X_y=True)', s: '' },&#10;          { c: '', s: '# 2. Split: 80% train / 20% test' },&#10;          { c: 'X_train, X_test, y_train, y_test = train_test_split(', s: '    X, y, test_size=0.2, random_state=42)' },&#10;          { c: '', s: '# 3. Train: K-nearest neighbors classifier' },&#10;          { c: 'model = KNeighborsClassifier(n_neighbors=3)', s: 'model.fit(X_train, y_train)' },&#10;          { c: '', s: '# 4. Evaluate + predict a new flower' },&#10;          { c: 'print(&quot;accuracy:&quot;, model.score(X_test, y_test))', s: 'print(model.predict([[5.1, 3.5, 1.4, 0.2]]))' },&#10;        ].map((l, i) =&gt; (&#10;          &lt;Box key={i} style={{ marginBottom: 7 }}&gt;&#10;            {l.c ? &lt;Text style={{ fontSize: 14, color: l.c.startsWith('#') ? '#7A8797' : '#A8D8B9', fontFamily: 'Consolas, Menlo, monospace', lineHeight: 1.5 }}&gt;{l.c}&lt;/Text&gt; : null}&#10;            {l.s ? &lt;Text style={{ fontSize: 14, color: l.s.startsWith('#') ? '#7A8797' : '#A8D8B9', fontFamily: 'Consolas, Menlo, monospace', lineHeight: 1.5 }}&gt;{l.s}&lt;/Text&gt; : null}&#10;          &lt;/Box&gt;&#10;        ))}&#10;      &lt;/Box&gt;&#10;    &lt;/Box&gt;&#10;    &lt;Box style={{ flex: 1, gap: 11, justifyContent: 'center' }}&gt;&#10;      &lt;Text style={{ fontSize: 17, color: '#0E3F8C', fontWeight: 'bold' }}&gt;The 5-Step Pattern&lt;/Text&gt;&#10;      {[&#10;        { n: '1', t: 'Load', d: 'Where data comes from: built-in datasets / CSV / APIs' },&#10;        { n: '2', t: 'Split', d: 'Train set learns the rules, test set proves them — never mix the two' },&#10;        { n: '3', t: 'Train', d: 'fit(): the model “looks at” training data and adjusts parameters' },&#10;        { n: '4', t: 'Evaluate', d: 'score(): an exam on data the model has never seen' },&#10;        { n: '5', t: 'Predict', d: 'predict(): serving real, new samples' },&#10;      ].map((s, i) =&gt; (&#10;        &lt;Box key={i} style={{ flexDirection: 'row', gap: 12, alignItems: 'center', background: '#F7F9FC', border: '1px solid #E5E7EB', borderLeft: '4px solid #1E4FA8', borderRadius: 8, padding: '9px 14px' }}&gt;&#10;          &lt;Box style={{ width: 28, height: 28, borderRadius: 14, background: '#1E4FA8', justifyContent: 'center', alignItems: 'center', flexShrink: 0 }}&gt;&#10;            &lt;Text style={{ fontSize: 13, color: '#FFFFFF', fontWeight: 'bold' }}&gt;{s.n}&lt;/Text&gt;&#10;          &lt;/Box&gt;&#10;          &lt;Text style={{ fontSize: 14.5, color: '#1A2230', fontWeight: '600', width: 74, flexShrink: 0 }}&gt;{s.t}&lt;/Text&gt;&#10;          &lt;Text style={{ fontSize: 13, color: '#4A5568', flex: 1 }}&gt;{s.d}&lt;/Text&gt;&#10;        &lt;/Box&gt;&#10;      ))}&#10;      &lt;Box style={{ background: '#0E3F8C', borderRadius: 10, padding: '11px 16px', marginTop: 3 }}&gt;&#10;        &lt;Text style={{ fontSize: 13.5, color: '#FFFFFF', lineHeight: 1.55 }}&gt;&#10;          These five lines are the semester&amp;apos;s main theme — only the model changes (KNN → neural nets → Transformer); the skeleton stay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4 · Your First ML Program</a:t>
            </a:r>
            <a:endParaRPr/>
          </a:p>
        </p:txBody>
      </p:sp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10563225" y="295275"/>
            <a:ext cx="828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Lab · Part 05</a:t>
            </a:r>
            <a:endParaRPr/>
          </a:p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800100" y="971550"/>
            <a:ext cx="5715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Inter"/>
                <a:ea typeface="Inter"/>
              </a:rPr>
              <a:t>Iris Classification · Fully Runnable</a:t>
            </a:r>
            <a:endParaRPr/>
          </a:p>
        </p:txBody>
      </p:sp>
      <p:sp>
        <p:nvSpPr>
          <p:cNvPr id="823" name=""/>
          <p:cNvSpPr/>
          <p:nvPr/>
        </p:nvSpPr>
        <p:spPr>
          <a:xfrm rot="0" flipH="0" flipV="0">
            <a:off x="800100" y="1257300"/>
            <a:ext cx="5715000" cy="4476750"/>
          </a:xfrm>
          <a:prstGeom prst="roundRect">
            <a:avLst>
              <a:gd name="adj" fmla="val 2553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1028700" y="142875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from sklearn.datasets import load_iris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1028700" y="16764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from sklearn.model_selection import train_test_split</a:t>
            </a:r>
            <a:endParaRPr/>
          </a:p>
        </p:txBody>
      </p:sp>
      <p:sp>
        <p:nvSpPr>
          <p:cNvPr id="826" name="" descr="{&quot;isTemplate&quot;:true,&quot;type&quot;:&quot;text&quot;}"/>
          <p:cNvSpPr txBox="1"/>
          <p:nvPr/>
        </p:nvSpPr>
        <p:spPr>
          <a:xfrm rot="0" flipH="0" flipV="0">
            <a:off x="1028700" y="19907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from sklearn.neighbors import KNeighborsClassifier</a:t>
            </a:r>
            <a:endParaRPr/>
          </a:p>
        </p:txBody>
      </p:sp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1028700" y="230505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1. Load data: 150 flowers · 4 features · 3 species</a:t>
            </a:r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1028700" y="26193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X, y = load_iris(return_X_y=True)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1028700" y="29337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2. Split: 80% train / 20% test</a:t>
            </a:r>
            <a:endParaRPr/>
          </a:p>
        </p:txBody>
      </p:sp>
      <p:sp>
        <p:nvSpPr>
          <p:cNvPr id="830" name="" descr="{&quot;isTemplate&quot;:true,&quot;type&quot;:&quot;text&quot;}"/>
          <p:cNvSpPr txBox="1"/>
          <p:nvPr/>
        </p:nvSpPr>
        <p:spPr>
          <a:xfrm rot="0" flipH="0" flipV="0">
            <a:off x="1028700" y="32480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X_train, X_test, y_train, y_test = train_test_split(</a:t>
            </a:r>
            <a:endParaRPr/>
          </a:p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1028700" y="34956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    X, y, test_size=0.2, random_state=42)</a:t>
            </a:r>
            <a:endParaRPr/>
          </a:p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1028700" y="38100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3. Train: K-nearest neighbors classifier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1028700" y="41243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model = KNeighborsClassifier(n_neighbors=3)</a:t>
            </a:r>
            <a:endParaRPr/>
          </a:p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1028700" y="43719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model.fit(X_train, y_train)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1028700" y="46863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4. Evaluate + predict a new flower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028700" y="50006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print("accuracy:", model.score(X_test, y_test))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1028700" y="52482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print(model.predict([[5.1, 3.5, 1.4, 0.2]]))</a:t>
            </a:r>
            <a:endParaRPr/>
          </a:p>
        </p:txBody>
      </p:sp>
      <p:sp>
        <p:nvSpPr>
          <p:cNvPr id="838" name="" descr="{&quot;isTemplate&quot;:true,&quot;type&quot;:&quot;text&quot;}"/>
          <p:cNvSpPr txBox="1"/>
          <p:nvPr/>
        </p:nvSpPr>
        <p:spPr>
          <a:xfrm rot="0" flipH="0" flipV="0">
            <a:off x="6781800" y="1628775"/>
            <a:ext cx="4610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The 5-Step Pattern</a:t>
            </a:r>
            <a:endParaRPr/>
          </a:p>
        </p:txBody>
      </p:sp>
      <p:sp>
        <p:nvSpPr>
          <p:cNvPr id="839" name=""/>
          <p:cNvSpPr/>
          <p:nvPr/>
        </p:nvSpPr>
        <p:spPr>
          <a:xfrm rot="0" flipH="0" flipV="0">
            <a:off x="6819900" y="1933575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6819900" y="1933575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1" name=""/>
          <p:cNvSpPr/>
          <p:nvPr/>
        </p:nvSpPr>
        <p:spPr>
          <a:xfrm rot="0" flipH="0" flipV="0">
            <a:off x="6953250" y="20193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7048500" y="207645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7334250" y="20669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Load</a:t>
            </a:r>
            <a:endParaRPr/>
          </a:p>
        </p:txBody>
      </p:sp>
      <p:sp>
        <p:nvSpPr>
          <p:cNvPr id="844" name="" descr="{&quot;isTemplate&quot;:true,&quot;type&quot;:&quot;text&quot;}"/>
          <p:cNvSpPr txBox="1"/>
          <p:nvPr/>
        </p:nvSpPr>
        <p:spPr>
          <a:xfrm rot="0" flipH="0" flipV="0">
            <a:off x="8153400" y="2076450"/>
            <a:ext cx="3105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Where data comes from: built-in datasets / CSV / APIs</a:t>
            </a:r>
            <a:endParaRPr/>
          </a:p>
        </p:txBody>
      </p:sp>
      <p:sp>
        <p:nvSpPr>
          <p:cNvPr id="845" name=""/>
          <p:cNvSpPr/>
          <p:nvPr/>
        </p:nvSpPr>
        <p:spPr>
          <a:xfrm rot="0" flipH="0" flipV="0">
            <a:off x="6819900" y="2476500"/>
            <a:ext cx="4610100" cy="47625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46" name=""/>
          <p:cNvSpPr/>
          <p:nvPr/>
        </p:nvSpPr>
        <p:spPr>
          <a:xfrm rot="0" flipH="0" flipV="0">
            <a:off x="6819900" y="2476500"/>
            <a:ext cx="4610100" cy="476250"/>
          </a:xfrm>
          <a:custGeom>
            <a:pathLst>
              <a:path w="484" h="50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6"/>
                </a:lnTo>
                <a:cubicBezTo>
                  <a:pt x="4" y="48"/>
                  <a:pt x="5" y="50"/>
                  <a:pt x="7" y="50"/>
                </a:cubicBezTo>
                <a:cubicBezTo>
                  <a:pt x="3" y="50"/>
                  <a:pt x="0" y="46"/>
                  <a:pt x="0" y="4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7" name=""/>
          <p:cNvSpPr/>
          <p:nvPr/>
        </p:nvSpPr>
        <p:spPr>
          <a:xfrm rot="0" flipH="0" flipV="0">
            <a:off x="6953250" y="25812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7048500" y="263842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849" name="" descr="{&quot;isTemplate&quot;:true,&quot;type&quot;:&quot;text&quot;}"/>
          <p:cNvSpPr txBox="1"/>
          <p:nvPr/>
        </p:nvSpPr>
        <p:spPr>
          <a:xfrm rot="0" flipH="0" flipV="0">
            <a:off x="7334250" y="2628900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Split</a:t>
            </a:r>
            <a:endParaRPr/>
          </a:p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8153400" y="2562225"/>
            <a:ext cx="31051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Train set learns the rules, test set proves them — never mix the two</a:t>
            </a:r>
            <a:endParaRPr/>
          </a:p>
        </p:txBody>
      </p:sp>
      <p:sp>
        <p:nvSpPr>
          <p:cNvPr id="851" name=""/>
          <p:cNvSpPr/>
          <p:nvPr/>
        </p:nvSpPr>
        <p:spPr>
          <a:xfrm rot="0" flipH="0" flipV="0">
            <a:off x="6819900" y="3057525"/>
            <a:ext cx="4610100" cy="47625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2" name=""/>
          <p:cNvSpPr/>
          <p:nvPr/>
        </p:nvSpPr>
        <p:spPr>
          <a:xfrm rot="0" flipH="0" flipV="0">
            <a:off x="6819900" y="3057525"/>
            <a:ext cx="4610100" cy="476250"/>
          </a:xfrm>
          <a:custGeom>
            <a:pathLst>
              <a:path w="484" h="50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6"/>
                </a:lnTo>
                <a:cubicBezTo>
                  <a:pt x="4" y="48"/>
                  <a:pt x="5" y="50"/>
                  <a:pt x="7" y="50"/>
                </a:cubicBezTo>
                <a:cubicBezTo>
                  <a:pt x="3" y="50"/>
                  <a:pt x="0" y="46"/>
                  <a:pt x="0" y="4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3" name=""/>
          <p:cNvSpPr/>
          <p:nvPr/>
        </p:nvSpPr>
        <p:spPr>
          <a:xfrm rot="0" flipH="0" flipV="0">
            <a:off x="6953250" y="31623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4" name="" descr="{&quot;isTemplate&quot;:true,&quot;type&quot;:&quot;text&quot;}"/>
          <p:cNvSpPr txBox="1"/>
          <p:nvPr/>
        </p:nvSpPr>
        <p:spPr>
          <a:xfrm rot="0" flipH="0" flipV="0">
            <a:off x="7048500" y="321945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7334250" y="32099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Train</a:t>
            </a:r>
            <a:endParaRPr/>
          </a:p>
        </p:txBody>
      </p:sp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8153400" y="3143250"/>
            <a:ext cx="31051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fit(): the model “looks at” training data and adjusts parameters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6819900" y="3638550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8" name=""/>
          <p:cNvSpPr/>
          <p:nvPr/>
        </p:nvSpPr>
        <p:spPr>
          <a:xfrm rot="0" flipH="0" flipV="0">
            <a:off x="6819900" y="3638550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9" name=""/>
          <p:cNvSpPr/>
          <p:nvPr/>
        </p:nvSpPr>
        <p:spPr>
          <a:xfrm rot="0" flipH="0" flipV="0">
            <a:off x="6953250" y="37242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7048500" y="378142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861" name="" descr="{&quot;isTemplate&quot;:true,&quot;type&quot;:&quot;text&quot;}"/>
          <p:cNvSpPr txBox="1"/>
          <p:nvPr/>
        </p:nvSpPr>
        <p:spPr>
          <a:xfrm rot="0" flipH="0" flipV="0">
            <a:off x="7334250" y="3771900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Evaluate</a:t>
            </a:r>
            <a:endParaRPr/>
          </a:p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8153400" y="3781425"/>
            <a:ext cx="3105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score(): an exam on data the model has never seen</a:t>
            </a:r>
            <a:endParaRPr/>
          </a:p>
        </p:txBody>
      </p:sp>
      <p:sp>
        <p:nvSpPr>
          <p:cNvPr id="863" name=""/>
          <p:cNvSpPr/>
          <p:nvPr/>
        </p:nvSpPr>
        <p:spPr>
          <a:xfrm rot="0" flipH="0" flipV="0">
            <a:off x="6819900" y="4181475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64" name=""/>
          <p:cNvSpPr/>
          <p:nvPr/>
        </p:nvSpPr>
        <p:spPr>
          <a:xfrm rot="0" flipH="0" flipV="0">
            <a:off x="6819900" y="4181475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5" name=""/>
          <p:cNvSpPr/>
          <p:nvPr/>
        </p:nvSpPr>
        <p:spPr>
          <a:xfrm rot="0" flipH="0" flipV="0">
            <a:off x="6953250" y="42672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7048500" y="432435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7334250" y="43148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Predict</a:t>
            </a:r>
            <a:endParaRPr/>
          </a:p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8153400" y="4324350"/>
            <a:ext cx="3105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predict(): serving real, new samples</a:t>
            </a:r>
            <a:endParaRPr/>
          </a:p>
        </p:txBody>
      </p:sp>
      <p:sp>
        <p:nvSpPr>
          <p:cNvPr id="869" name=""/>
          <p:cNvSpPr/>
          <p:nvPr/>
        </p:nvSpPr>
        <p:spPr>
          <a:xfrm rot="0" flipH="0" flipV="0">
            <a:off x="6781800" y="4752975"/>
            <a:ext cx="4610100" cy="695325"/>
          </a:xfrm>
          <a:prstGeom prst="roundRect">
            <a:avLst>
              <a:gd name="adj" fmla="val 1369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6934200" y="4857750"/>
            <a:ext cx="43053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13">
                <a:solidFill>
                  <a:srgbClr val="FFFFFF"/>
                </a:solidFill>
                <a:latin typeface="Inter"/>
                <a:ea typeface="Inter"/>
              </a:rPr>
              <a:t>These five lines are the semester's main theme — only the model changes (KNN → neural nets → Transformer); the skeleton stays.</a:t>
            </a:r>
            <a:endParaRPr/>
          </a:p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28 / 32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73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Deliverables &amp;amp; Rubric&lt;/Text&gt;&#10;    &lt;Text style={{ fontSize: 15, color: 'rgba(255,255,255,0.85)' }}&gt;Lab · Part 05&lt;/Text&gt;&#10;  &lt;/Box&gt;&#10;  &lt;Box style={{ position: 'absolute', top: 96, left: 0, width: '100%', height: 470, padding: '6px 84px', flexDirection: 'row', gap: 24 }}&gt;&#10;    &lt;Box style={{ flex: 1.35, gap: 10, justifyContent: 'center' }}&gt;&#10;      &lt;Text style={{ fontSize: 18, color: '#8B97A8', fontWeight: '600', marginBottom: 2 }}&gt;What to Submit (100 pts)&lt;/Text&gt;&#10;      {[&#10;        { i: 'file-code', t: 'environment.yml', v: 20, d: 'Exported with conda env export — lets TAs reproduce your environment in one command' },&#10;        { i: 'book', t: 'week1_lab.ipynb', v: 30, d: 'Notebook with Markdown notes: environment checks + the full Iris pipeline' },&#10;        { i: 'code-branch', t: 'GitHub repo', v: 20, d: '≥ 3 meaningful commits + a one-line README' },&#10;        { i: 'flask', t: 'Model comparison', v: 20, d: 'Try KNN n_neighbors = 1 / 3 / 10, report and explain the accuracy changes' },&#10;        { i: 'comment', t: 'Reflection', v: 10, d: 'If accuracy were only 0.4, what would you check first? Three sentences' },&#10;      ].map((g, i) =&gt; (&#10;        &lt;Box key={i} style={{ flexDirection: 'row', gap: 14, alignItems: 'center', background: '#F7F9FC', border: '1px solid #E5E7EB', borderLeft: '5px solid #1E4FA8', borderRadius: 10, padding: '11px 16px' }}&gt;&#10;          &lt;Box style={{ width: 38, height: 38, borderRadius: 10, background: '#E8EFF8', justifyContent: 'center', alignItems: 'center', flexShrink: 0 }}&gt;&#10;            &lt;FAIcon name={g.i} style={{ fill: '#1E4FA8', width: 18, height: 18 }} /&gt;&#10;          &lt;/Box&gt;&#10;          &lt;Box style={{ flex: 1 }}&gt;&#10;            &lt;Text style={{ fontSize: 15.5, color: '#1A2230', fontWeight: 'bold' }}&gt;{g.t}&lt;/Text&gt;&#10;            &lt;Text style={{ fontSize: 13, color: '#4A5568', marginTop: 1 }}&gt;{g.d}&lt;/Text&gt;&#10;          &lt;/Box&gt;&#10;          &lt;Text style={{ fontSize: 19, color: '#1E4FA8', fontWeight: 'bold', flexShrink: 0 }}&gt;{g.v}&lt;/Text&gt;&#10;        &lt;/Box&gt;&#10;      ))}&#10;    &lt;/Box&gt;&#10;    &lt;Box style={{ width: 380, flexShrink: 0, flexDirection: 'column', gap: 14, justifyContent: 'center' }}&gt;&#10;      &lt;Box style={{ background: '#0E3F8C', borderRadius: 14, padding: '20px 24px' }}&gt;&#10;        &lt;Text style={{ fontSize: 14, color: 'rgba(255,255,255,0.75)' }}&gt;Deadline&lt;/Text&gt;&#10;        &lt;Text style={{ fontSize: 24, color: '#FFFFFF', fontWeight: 'bold', marginTop: 4 }}&gt;Next Monday 23:59&lt;/Text&gt;&#10;        &lt;Text style={{ fontSize: 13.5, color: 'rgba(255,255,255,0.85)', marginTop: 8, lineHeight: 1.6 }}&gt;&#10;          Submit on the course platform: upload a link to your repo (including environment.yml and the notebook).&#10;        &lt;/Text&gt;&#10;      &lt;/Box&gt;&#10;      &lt;Box style={{ background: '#F0F5FC', border: '1px solid #D6DCE5', borderRadius: 14, padding: '18px 22px' }}&gt;&#10;        &lt;Text style={{ fontSize: 16, color: '#0E3F8C', fontWeight: 'bold' }}&gt;Three Tips from Your Instructor&lt;/Text&gt;&#10;        {[&#10;          'Get it running first, optimize later — tonight has one goal: accuracy printed on screen',&#10;          'Commit early, commit often — never one big upload at the end',&#10;          'AI assistants are allowed — declare it in the notebook and be ready to explain every line',&#10;        ].map((t, i) =&gt; (&#10;          &lt;Box key={i} style={{ flexDirection: 'row', gap: 10, marginTop: 10 }}&gt;&#10;            &lt;Text style={{ fontSize: 14, color: '#1E4FA8', fontWeight: 'bold', flexShrink: 0 }}&gt;{i + 1}.&lt;/Text&gt;&#10;            &lt;Text style={{ fontSize: 13.5, color: '#4A5568', lineHeight: 1.6 }}&gt;{t}&lt;/Text&gt;&#10;          &lt;/Box&gt;&#10;        ))}&#10;      &lt;/Box&gt;&#10;    &lt;/Box&gt;&#10;  &lt;/Box&gt;&#10;  &lt;Box style={{ position: 'absolute', top: 578, left: 0, width: '100%', height: 68, padding: '6px 84px' }}&gt;&#10;    &lt;Box style={{ width: '100%', height: '100%', background: '#F7F9FC', border: '1px dashed #8B97A8', borderRadius: 12, padding: '10px 20px', flexDirection: 'row', alignItems: 'center', gap: 14 }}&gt;&#10;      &lt;FAIcon name='circle-info' style={{ fill: '#8B97A8', width: 22, height: 22, flexShrink: 0 }} /&gt;&#10;      &lt;Text style={{ fontSize: 14, color: '#4A5568', lineHeight: 1.55, flex: 1 }}&gt;&#10;        Broken env and can&amp;apos;t submit? Hand in “error screenshots + your debugging process” for half credit — &lt;b&gt;showing how you debug is worth more than the result&lt;/b&gt;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152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Deliverables &amp; Rubric</a:t>
            </a:r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10563225" y="295275"/>
            <a:ext cx="828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Lab · Part 05</a:t>
            </a:r>
            <a:endParaRPr/>
          </a:p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800100" y="1371600"/>
            <a:ext cx="6743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What to Submit (100 pts)</a:t>
            </a:r>
            <a:endParaRPr/>
          </a:p>
        </p:txBody>
      </p:sp>
      <p:sp>
        <p:nvSpPr>
          <p:cNvPr id="879" name=""/>
          <p:cNvSpPr/>
          <p:nvPr/>
        </p:nvSpPr>
        <p:spPr>
          <a:xfrm rot="0" flipH="0" flipV="0">
            <a:off x="847725" y="169545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80" name=""/>
          <p:cNvSpPr/>
          <p:nvPr/>
        </p:nvSpPr>
        <p:spPr>
          <a:xfrm rot="0" flipH="0" flipV="0">
            <a:off x="847725" y="169545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1" name=""/>
          <p:cNvSpPr/>
          <p:nvPr/>
        </p:nvSpPr>
        <p:spPr>
          <a:xfrm rot="0" flipH="0" flipV="0">
            <a:off x="1000125" y="18002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95375" y="1895475"/>
            <a:ext cx="171450" cy="171450"/>
          </a:xfrm>
          <a:prstGeom prst="rect">
            <a:avLst/>
          </a:prstGeom>
          <a:ln/>
        </p:spPr>
      </p:pic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1495425" y="1809750"/>
            <a:ext cx="5553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environment.yml</a:t>
            </a:r>
            <a:endParaRPr/>
          </a:p>
        </p:txBody>
      </p:sp>
      <p:sp>
        <p:nvSpPr>
          <p:cNvPr id="884" name="" descr="{&quot;isTemplate&quot;:true,&quot;type&quot;:&quot;text&quot;}"/>
          <p:cNvSpPr txBox="1"/>
          <p:nvPr/>
        </p:nvSpPr>
        <p:spPr>
          <a:xfrm rot="0" flipH="0" flipV="0">
            <a:off x="1495425" y="2000250"/>
            <a:ext cx="5553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Exported with conda env export — lets TAs reproduce your environment in one command</a:t>
            </a:r>
            <a:endParaRPr/>
          </a:p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7181850" y="187642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Inter"/>
                <a:ea typeface="Inter"/>
              </a:rPr>
              <a:t>20</a:t>
            </a:r>
            <a:endParaRPr/>
          </a:p>
        </p:txBody>
      </p:sp>
      <p:sp>
        <p:nvSpPr>
          <p:cNvPr id="886" name=""/>
          <p:cNvSpPr/>
          <p:nvPr/>
        </p:nvSpPr>
        <p:spPr>
          <a:xfrm rot="0" flipH="0" flipV="0">
            <a:off x="847725" y="236220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87" name=""/>
          <p:cNvSpPr/>
          <p:nvPr/>
        </p:nvSpPr>
        <p:spPr>
          <a:xfrm rot="0" flipH="0" flipV="0">
            <a:off x="847725" y="236220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8" name=""/>
          <p:cNvSpPr/>
          <p:nvPr/>
        </p:nvSpPr>
        <p:spPr>
          <a:xfrm rot="0" flipH="0" flipV="0">
            <a:off x="1000125" y="24669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8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95375" y="2562225"/>
            <a:ext cx="171450" cy="171450"/>
          </a:xfrm>
          <a:prstGeom prst="rect">
            <a:avLst/>
          </a:prstGeom>
          <a:ln/>
        </p:spPr>
      </p:pic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1495425" y="2476500"/>
            <a:ext cx="5553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week1_lab.ipynb</a:t>
            </a:r>
            <a:endParaRPr/>
          </a:p>
        </p:txBody>
      </p:sp>
      <p:sp>
        <p:nvSpPr>
          <p:cNvPr id="891" name="" descr="{&quot;isTemplate&quot;:true,&quot;type&quot;:&quot;text&quot;}"/>
          <p:cNvSpPr txBox="1"/>
          <p:nvPr/>
        </p:nvSpPr>
        <p:spPr>
          <a:xfrm rot="0" flipH="0" flipV="0">
            <a:off x="1495425" y="2667000"/>
            <a:ext cx="5553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Notebook with Markdown notes: environment checks + the full Iris pipeline</a:t>
            </a:r>
            <a:endParaRPr/>
          </a:p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7181850" y="254317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Inter"/>
                <a:ea typeface="Inter"/>
              </a:rPr>
              <a:t>30</a:t>
            </a:r>
            <a:endParaRPr/>
          </a:p>
        </p:txBody>
      </p:sp>
      <p:sp>
        <p:nvSpPr>
          <p:cNvPr id="893" name=""/>
          <p:cNvSpPr/>
          <p:nvPr/>
        </p:nvSpPr>
        <p:spPr>
          <a:xfrm rot="0" flipH="0" flipV="0">
            <a:off x="847725" y="302895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94" name=""/>
          <p:cNvSpPr/>
          <p:nvPr/>
        </p:nvSpPr>
        <p:spPr>
          <a:xfrm rot="0" flipH="0" flipV="0">
            <a:off x="847725" y="302895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5" name=""/>
          <p:cNvSpPr/>
          <p:nvPr/>
        </p:nvSpPr>
        <p:spPr>
          <a:xfrm rot="0" flipH="0" flipV="0">
            <a:off x="1000125" y="31337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95375" y="3228975"/>
            <a:ext cx="171450" cy="171450"/>
          </a:xfrm>
          <a:prstGeom prst="rect">
            <a:avLst/>
          </a:prstGeom>
          <a:ln/>
        </p:spPr>
      </p:pic>
      <p:sp>
        <p:nvSpPr>
          <p:cNvPr id="897" name="" descr="{&quot;isTemplate&quot;:true,&quot;type&quot;:&quot;text&quot;}"/>
          <p:cNvSpPr txBox="1"/>
          <p:nvPr/>
        </p:nvSpPr>
        <p:spPr>
          <a:xfrm rot="0" flipH="0" flipV="0">
            <a:off x="1495425" y="3143250"/>
            <a:ext cx="5553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GitHub repo</a:t>
            </a:r>
            <a:endParaRPr/>
          </a:p>
        </p:txBody>
      </p:sp>
      <p:sp>
        <p:nvSpPr>
          <p:cNvPr id="898" name="" descr="{&quot;isTemplate&quot;:true,&quot;type&quot;:&quot;text&quot;}"/>
          <p:cNvSpPr txBox="1"/>
          <p:nvPr/>
        </p:nvSpPr>
        <p:spPr>
          <a:xfrm rot="0" flipH="0" flipV="0">
            <a:off x="1495425" y="3333750"/>
            <a:ext cx="5553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≥ 3 meaningful commits + a one-line README</a:t>
            </a:r>
            <a:endParaRPr/>
          </a:p>
        </p:txBody>
      </p:sp>
      <p:sp>
        <p:nvSpPr>
          <p:cNvPr id="899" name="" descr="{&quot;isTemplate&quot;:true,&quot;type&quot;:&quot;text&quot;}"/>
          <p:cNvSpPr txBox="1"/>
          <p:nvPr/>
        </p:nvSpPr>
        <p:spPr>
          <a:xfrm rot="0" flipH="0" flipV="0">
            <a:off x="7181850" y="320992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Inter"/>
                <a:ea typeface="Inter"/>
              </a:rPr>
              <a:t>20</a:t>
            </a:r>
            <a:endParaRPr/>
          </a:p>
        </p:txBody>
      </p:sp>
      <p:sp>
        <p:nvSpPr>
          <p:cNvPr id="900" name=""/>
          <p:cNvSpPr/>
          <p:nvPr/>
        </p:nvSpPr>
        <p:spPr>
          <a:xfrm rot="0" flipH="0" flipV="0">
            <a:off x="847725" y="369570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01" name=""/>
          <p:cNvSpPr/>
          <p:nvPr/>
        </p:nvSpPr>
        <p:spPr>
          <a:xfrm rot="0" flipH="0" flipV="0">
            <a:off x="847725" y="369570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2" name=""/>
          <p:cNvSpPr/>
          <p:nvPr/>
        </p:nvSpPr>
        <p:spPr>
          <a:xfrm rot="0" flipH="0" flipV="0">
            <a:off x="1000125" y="38004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95375" y="3895725"/>
            <a:ext cx="171450" cy="171450"/>
          </a:xfrm>
          <a:prstGeom prst="rect">
            <a:avLst/>
          </a:prstGeom>
          <a:ln/>
        </p:spPr>
      </p:pic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1495425" y="3810000"/>
            <a:ext cx="5553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Model comparison</a:t>
            </a:r>
            <a:endParaRPr/>
          </a:p>
        </p:txBody>
      </p:sp>
      <p:sp>
        <p:nvSpPr>
          <p:cNvPr id="905" name="" descr="{&quot;isTemplate&quot;:true,&quot;type&quot;:&quot;text&quot;}"/>
          <p:cNvSpPr txBox="1"/>
          <p:nvPr/>
        </p:nvSpPr>
        <p:spPr>
          <a:xfrm rot="0" flipH="0" flipV="0">
            <a:off x="1495425" y="4000500"/>
            <a:ext cx="5553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Try KNN n_neighbors = 1 / 3 / 10, report and explain the accuracy changes</a:t>
            </a:r>
            <a:endParaRPr/>
          </a:p>
        </p:txBody>
      </p:sp>
      <p:sp>
        <p:nvSpPr>
          <p:cNvPr id="906" name="" descr="{&quot;isTemplate&quot;:true,&quot;type&quot;:&quot;text&quot;}"/>
          <p:cNvSpPr txBox="1"/>
          <p:nvPr/>
        </p:nvSpPr>
        <p:spPr>
          <a:xfrm rot="0" flipH="0" flipV="0">
            <a:off x="7181850" y="387667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Inter"/>
                <a:ea typeface="Inter"/>
              </a:rPr>
              <a:t>20</a:t>
            </a:r>
            <a:endParaRPr/>
          </a:p>
        </p:txBody>
      </p:sp>
      <p:sp>
        <p:nvSpPr>
          <p:cNvPr id="907" name=""/>
          <p:cNvSpPr/>
          <p:nvPr/>
        </p:nvSpPr>
        <p:spPr>
          <a:xfrm rot="0" flipH="0" flipV="0">
            <a:off x="847725" y="436245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08" name=""/>
          <p:cNvSpPr/>
          <p:nvPr/>
        </p:nvSpPr>
        <p:spPr>
          <a:xfrm rot="0" flipH="0" flipV="0">
            <a:off x="847725" y="436245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9" name=""/>
          <p:cNvSpPr/>
          <p:nvPr/>
        </p:nvSpPr>
        <p:spPr>
          <a:xfrm rot="0" flipH="0" flipV="0">
            <a:off x="1000125" y="44672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1095375" y="4562475"/>
            <a:ext cx="171450" cy="171450"/>
          </a:xfrm>
          <a:prstGeom prst="rect">
            <a:avLst/>
          </a:prstGeom>
          <a:ln/>
        </p:spPr>
      </p:pic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1495425" y="4476750"/>
            <a:ext cx="5553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Reflection</a:t>
            </a:r>
            <a:endParaRPr/>
          </a:p>
        </p:txBody>
      </p:sp>
      <p:sp>
        <p:nvSpPr>
          <p:cNvPr id="912" name="" descr="{&quot;isTemplate&quot;:true,&quot;type&quot;:&quot;text&quot;}"/>
          <p:cNvSpPr txBox="1"/>
          <p:nvPr/>
        </p:nvSpPr>
        <p:spPr>
          <a:xfrm rot="0" flipH="0" flipV="0">
            <a:off x="1495425" y="4667250"/>
            <a:ext cx="5553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If accuracy were only 0.4, what would you check first? Three sentences</a:t>
            </a:r>
            <a:endParaRPr/>
          </a:p>
        </p:txBody>
      </p:sp>
      <p:sp>
        <p:nvSpPr>
          <p:cNvPr id="913" name="" descr="{&quot;isTemplate&quot;:true,&quot;type&quot;:&quot;text&quot;}"/>
          <p:cNvSpPr txBox="1"/>
          <p:nvPr/>
        </p:nvSpPr>
        <p:spPr>
          <a:xfrm rot="0" flipH="0" flipV="0">
            <a:off x="7181850" y="454342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Inter"/>
                <a:ea typeface="Inter"/>
              </a:rPr>
              <a:t>10</a:t>
            </a:r>
            <a:endParaRPr/>
          </a:p>
        </p:txBody>
      </p:sp>
      <p:sp>
        <p:nvSpPr>
          <p:cNvPr id="914" name=""/>
          <p:cNvSpPr/>
          <p:nvPr/>
        </p:nvSpPr>
        <p:spPr>
          <a:xfrm rot="0" flipH="0" flipV="0">
            <a:off x="7772400" y="1219200"/>
            <a:ext cx="3619500" cy="1428750"/>
          </a:xfrm>
          <a:prstGeom prst="roundRect">
            <a:avLst>
              <a:gd name="adj" fmla="val 933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15" name="" descr="{&quot;isTemplate&quot;:true,&quot;type&quot;:&quot;text&quot;}"/>
          <p:cNvSpPr txBox="1"/>
          <p:nvPr/>
        </p:nvSpPr>
        <p:spPr>
          <a:xfrm rot="0" flipH="0" flipV="0">
            <a:off x="8001000" y="1409700"/>
            <a:ext cx="3162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Deadline</a:t>
            </a:r>
            <a:endParaRPr/>
          </a:p>
        </p:txBody>
      </p:sp>
      <p:sp>
        <p:nvSpPr>
          <p:cNvPr id="916" name="" descr="{&quot;isTemplate&quot;:true,&quot;type&quot;:&quot;text&quot;}"/>
          <p:cNvSpPr txBox="1"/>
          <p:nvPr/>
        </p:nvSpPr>
        <p:spPr>
          <a:xfrm rot="0" flipH="0" flipV="0">
            <a:off x="8001000" y="1609725"/>
            <a:ext cx="31623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Inter"/>
                <a:ea typeface="Inter"/>
              </a:rPr>
              <a:t>Next Monday 23:59</a:t>
            </a:r>
            <a:endParaRPr/>
          </a:p>
        </p:txBody>
      </p:sp>
      <p:sp>
        <p:nvSpPr>
          <p:cNvPr id="917" name="" descr="{&quot;isTemplate&quot;:true,&quot;type&quot;:&quot;text&quot;}"/>
          <p:cNvSpPr txBox="1"/>
          <p:nvPr/>
        </p:nvSpPr>
        <p:spPr>
          <a:xfrm rot="0" flipH="0" flipV="0">
            <a:off x="8001000" y="1962150"/>
            <a:ext cx="31623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Submit on the course platform: upload a link to your repo (including environment.yml and the notebook).</a:t>
            </a:r>
            <a:endParaRPr/>
          </a:p>
        </p:txBody>
      </p:sp>
      <p:sp>
        <p:nvSpPr>
          <p:cNvPr id="918" name=""/>
          <p:cNvSpPr/>
          <p:nvPr/>
        </p:nvSpPr>
        <p:spPr>
          <a:xfrm rot="0" flipH="0" flipV="0">
            <a:off x="7772400" y="2781300"/>
            <a:ext cx="3619500" cy="2305050"/>
          </a:xfrm>
          <a:prstGeom prst="roundRect">
            <a:avLst>
              <a:gd name="adj" fmla="val 5785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7981950" y="2952750"/>
            <a:ext cx="3200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Three Tips from Your Instructor</a:t>
            </a:r>
            <a:endParaRPr/>
          </a:p>
        </p:txBody>
      </p:sp>
      <p:sp>
        <p:nvSpPr>
          <p:cNvPr id="920" name="" descr="{&quot;isTemplate&quot;:true,&quot;type&quot;:&quot;text&quot;}"/>
          <p:cNvSpPr txBox="1"/>
          <p:nvPr/>
        </p:nvSpPr>
        <p:spPr>
          <a:xfrm rot="0" flipH="0" flipV="0">
            <a:off x="7981950" y="3238500"/>
            <a:ext cx="114300" cy="495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21" name="" descr="{&quot;isTemplate&quot;:true,&quot;type&quot;:&quot;text&quot;}"/>
          <p:cNvSpPr txBox="1"/>
          <p:nvPr/>
        </p:nvSpPr>
        <p:spPr>
          <a:xfrm rot="0" flipH="0" flipV="0">
            <a:off x="8191500" y="3238500"/>
            <a:ext cx="299085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Get it running first, optimize later — tonight has one goal: accuracy printed on screen</a:t>
            </a:r>
            <a:endParaRPr/>
          </a:p>
        </p:txBody>
      </p:sp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7981950" y="3829050"/>
            <a:ext cx="114300" cy="495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23" name="" descr="{&quot;isTemplate&quot;:true,&quot;type&quot;:&quot;text&quot;}"/>
          <p:cNvSpPr txBox="1"/>
          <p:nvPr/>
        </p:nvSpPr>
        <p:spPr>
          <a:xfrm rot="0" flipH="0" flipV="0">
            <a:off x="8191500" y="3829050"/>
            <a:ext cx="299085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Commit early, commit often — never one big upload at the end</a:t>
            </a:r>
            <a:endParaRPr/>
          </a:p>
        </p:txBody>
      </p:sp>
      <p:sp>
        <p:nvSpPr>
          <p:cNvPr id="924" name="" descr="{&quot;isTemplate&quot;:true,&quot;type&quot;:&quot;text&quot;}"/>
          <p:cNvSpPr txBox="1"/>
          <p:nvPr/>
        </p:nvSpPr>
        <p:spPr>
          <a:xfrm rot="0" flipH="0" flipV="0">
            <a:off x="7981950" y="4419600"/>
            <a:ext cx="114300" cy="495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8191500" y="4419600"/>
            <a:ext cx="299085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AI assistants are allowed — declare it in the notebook and be ready to explain every line</a:t>
            </a:r>
            <a:endParaRPr/>
          </a:p>
        </p:txBody>
      </p:sp>
      <p:sp>
        <p:nvSpPr>
          <p:cNvPr id="926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F7F9FC"/>
          </a:solidFill>
          <a:ln w="12700">
            <a:solidFill>
              <a:srgbClr val="8B97A8"/>
            </a:solidFill>
            <a:prstDash val="dash"/>
          </a:ln>
        </p:spPr>
        <p:txBody>
          <a:bodyPr/>
          <a:p/>
        </p:txBody>
      </p:sp>
      <p:pic>
        <p:nvPicPr>
          <p:cNvPr id="9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990600" y="5724525"/>
            <a:ext cx="209550" cy="209550"/>
          </a:xfrm>
          <a:prstGeom prst="rect">
            <a:avLst/>
          </a:prstGeom>
          <a:ln/>
        </p:spPr>
      </p:pic>
      <p:sp>
        <p:nvSpPr>
          <p:cNvPr id="928" name="" descr="{&quot;isTemplate&quot;:true,&quot;type&quot;:&quot;text&quot;}"/>
          <p:cNvSpPr txBox="1"/>
          <p:nvPr/>
        </p:nvSpPr>
        <p:spPr>
          <a:xfrm rot="0" flipH="0" flipV="0">
            <a:off x="1333500" y="5705475"/>
            <a:ext cx="98679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Broken env and can't submit? Hand in “error screenshots + your debugging process” for half credit — 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showing how you debug is worth more than the result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930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29 / 32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951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Quick Quiz (counts 10% of Lab)&lt;/Text&gt;&#10;    &lt;Text style={{ fontSize: 15, color: 'rgba(255,255,255,0.85)' }}&gt;Module 1 · Week 1&lt;/Text&gt;&#10;  &lt;/Box&gt;&#10;  &lt;Box style={{ position: 'absolute', top: 96, left: 0, width: '100%', height: 550, padding: '10px 84px', flexDirection: 'column', gap: 14 }}&gt;&#10;    &lt;Text style={{ fontSize: 15, color: '#8B97A8' }}&gt;No notes, 60 seconds each · vote by raising your hand — wrong answers are good: mistakes stick best.&lt;/Text&gt;&#10;    {[&#10;      { n: 'Q1', q: '“Deep learning is not machine learning — it is an independent technical line.” True or false?', opts: ['True — DL stands alone', 'False — DL ⊂ ML ⊂ AI'], a: 'Answer: B — DL is a subset of ML, using multi-layer neural networks to learn features automatically.' },&#10;      { n: 'Q2', q: 'Grouping 100,000 users into 5 clusters by purchase behavior, with no labels at all — which paradigm?', opts: ['Supervised learning', 'Unsupervised (clustering)', 'Reinforcement learning'], a: 'Answer: B — no labels, find structure → unsupervised clustering (K-Means etc.; hands-on in W3).' },&#10;      { n: 'Q3', q: 'In a typical AI project, roughly how much of an engineer\u2019s time goes to “training the model” itself?', opts: ['~80%', '~50%', '~20%'], a: 'Answer: C — 80% goes to data and engineering (the 80% rule); training takes only about a fifth.' },&#10;    ].map((q, i) =&gt; (&#10;      &lt;Box key={i} style={{ flex: 1, background: '#F7F9FC', border: '1px solid #E5E7EB', borderLeft: '5px solid #1E4FA8', borderRadius: 12, padding: '16px 24px', justifyContent: 'center' }}&gt;&#10;        &lt;Box style={{ flexDirection: 'row', alignItems: 'center', gap: 14 }}&gt;&#10;          &lt;Box style={{ width: 46, height: 46, borderRadius: 12, background: '#1E4FA8', justifyContent: 'center', alignItems: 'center', flexShrink: 0 }}&gt;&#10;            &lt;Text style={{ fontSize: 17, color: '#FFFFFF', fontWeight: 'bold' }}&gt;{q.n}&lt;/Text&gt;&#10;          &lt;/Box&gt;&#10;          &lt;Text style={{ fontSize: 17.5, color: '#1A2230', fontWeight: '600', flex: 1 }}&gt;{q.q}&lt;/Text&gt;&#10;        &lt;/Box&gt;&#10;        &lt;Box style={{ flexDirection: 'row', gap: 14, marginTop: 12, marginLeft: 60 }}&gt;&#10;          {q.opts.map((o, j) =&gt; (&#10;            &lt;Box key={j} style={{ flex: 1, background: '#FFFFFF', border: '1px solid #D6DCE5', borderRadius: 8, padding: '9px 14px', flexDirection: 'row', alignItems: 'center', gap: 10 }}&gt;&#10;              &lt;Box style={{ width: 24, height: 24, borderRadius: 12, border: '2px solid #8B97A8', flexShrink: 0 }} /&gt;&#10;              &lt;Text style={{ fontSize: 14, color: '#4A5568' }}&gt;{o}&lt;/Text&gt;&#10;            &lt;/Box&gt;&#10;          ))}&#10;        &lt;/Box&gt;&#10;        &lt;Text style={{ fontSize: 13, color: '#8B97A8', marginTop: 10, marginLeft: 60, fontStyle: 'italic' }}&gt;{q.a}&lt;/Text&gt;&#10;      &lt;/Box&gt;&#10;    ))}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3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5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152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Quick Quiz (counts 10% of Lab)</a:t>
            </a:r>
            <a:endParaRPr/>
          </a:p>
        </p:txBody>
      </p:sp>
      <p:sp>
        <p:nvSpPr>
          <p:cNvPr id="95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956" name="" descr="{&quot;isTemplate&quot;:true,&quot;type&quot;:&quot;text&quot;}"/>
          <p:cNvSpPr txBox="1"/>
          <p:nvPr/>
        </p:nvSpPr>
        <p:spPr>
          <a:xfrm rot="0" flipH="0" flipV="0">
            <a:off x="800100" y="1009650"/>
            <a:ext cx="1059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No notes, 60 seconds each · vote by raising your hand — wrong answers are good: mistakes stick best.</a:t>
            </a:r>
            <a:endParaRPr/>
          </a:p>
        </p:txBody>
      </p:sp>
      <p:sp>
        <p:nvSpPr>
          <p:cNvPr id="957" name=""/>
          <p:cNvSpPr/>
          <p:nvPr/>
        </p:nvSpPr>
        <p:spPr>
          <a:xfrm rot="0" flipH="0" flipV="0">
            <a:off x="847725" y="1314450"/>
            <a:ext cx="10591800" cy="1504950"/>
          </a:xfrm>
          <a:prstGeom prst="roundRect">
            <a:avLst>
              <a:gd name="adj" fmla="val 75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58" name=""/>
          <p:cNvSpPr/>
          <p:nvPr/>
        </p:nvSpPr>
        <p:spPr>
          <a:xfrm rot="0" flipH="0" flipV="0">
            <a:off x="847725" y="1314450"/>
            <a:ext cx="10591800" cy="1504950"/>
          </a:xfrm>
          <a:custGeom>
            <a:pathLst>
              <a:path w="1112" h="158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51"/>
                </a:lnTo>
                <a:cubicBezTo>
                  <a:pt x="5" y="154"/>
                  <a:pt x="7" y="157"/>
                  <a:pt x="10" y="158"/>
                </a:cubicBezTo>
                <a:cubicBezTo>
                  <a:pt x="4" y="157"/>
                  <a:pt x="0" y="152"/>
                  <a:pt x="0" y="1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9" name=""/>
          <p:cNvSpPr/>
          <p:nvPr/>
        </p:nvSpPr>
        <p:spPr>
          <a:xfrm rot="0" flipH="0" flipV="0">
            <a:off x="1076325" y="14668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60" name="" descr="{&quot;isTemplate&quot;:true,&quot;type&quot;:&quot;text&quot;}"/>
          <p:cNvSpPr txBox="1"/>
          <p:nvPr/>
        </p:nvSpPr>
        <p:spPr>
          <a:xfrm rot="0" flipH="0" flipV="0">
            <a:off x="1190625" y="1590675"/>
            <a:ext cx="219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Q1</a:t>
            </a:r>
            <a:endParaRPr/>
          </a:p>
        </p:txBody>
      </p:sp>
      <p:sp>
        <p:nvSpPr>
          <p:cNvPr id="961" name="" descr="{&quot;isTemplate&quot;:true,&quot;type&quot;:&quot;text&quot;}"/>
          <p:cNvSpPr txBox="1"/>
          <p:nvPr/>
        </p:nvSpPr>
        <p:spPr>
          <a:xfrm rot="0" flipH="0" flipV="0">
            <a:off x="1647825" y="1590675"/>
            <a:ext cx="9515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“Deep learning is not machine learning — it is an independent technical line.” True or false?</a:t>
            </a:r>
            <a:endParaRPr/>
          </a:p>
        </p:txBody>
      </p:sp>
      <p:sp>
        <p:nvSpPr>
          <p:cNvPr id="962" name=""/>
          <p:cNvSpPr/>
          <p:nvPr/>
        </p:nvSpPr>
        <p:spPr>
          <a:xfrm rot="0" flipH="0" flipV="0">
            <a:off x="1647825" y="2019300"/>
            <a:ext cx="46958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63" name=""/>
          <p:cNvSpPr/>
          <p:nvPr/>
        </p:nvSpPr>
        <p:spPr>
          <a:xfrm rot="0" flipH="0" flipV="0">
            <a:off x="1781175" y="21050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64" name="" descr="{&quot;isTemplate&quot;:true,&quot;type&quot;:&quot;text&quot;}"/>
          <p:cNvSpPr txBox="1"/>
          <p:nvPr/>
        </p:nvSpPr>
        <p:spPr>
          <a:xfrm rot="0" flipH="0" flipV="0">
            <a:off x="2105025" y="2143125"/>
            <a:ext cx="1428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True — DL stands alone</a:t>
            </a:r>
            <a:endParaRPr/>
          </a:p>
        </p:txBody>
      </p:sp>
      <p:sp>
        <p:nvSpPr>
          <p:cNvPr id="965" name=""/>
          <p:cNvSpPr/>
          <p:nvPr/>
        </p:nvSpPr>
        <p:spPr>
          <a:xfrm rot="0" flipH="0" flipV="0">
            <a:off x="6477000" y="2019300"/>
            <a:ext cx="46863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66" name=""/>
          <p:cNvSpPr/>
          <p:nvPr/>
        </p:nvSpPr>
        <p:spPr>
          <a:xfrm rot="0" flipH="0" flipV="0">
            <a:off x="6610350" y="21050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67" name="" descr="{&quot;isTemplate&quot;:true,&quot;type&quot;:&quot;text&quot;}"/>
          <p:cNvSpPr txBox="1"/>
          <p:nvPr/>
        </p:nvSpPr>
        <p:spPr>
          <a:xfrm rot="0" flipH="0" flipV="0">
            <a:off x="6934200" y="2143125"/>
            <a:ext cx="133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False — DL ⊂ ML ⊂ AI</a:t>
            </a:r>
            <a:endParaRPr/>
          </a:p>
        </p:txBody>
      </p:sp>
      <p:sp>
        <p:nvSpPr>
          <p:cNvPr id="968" name="" descr="{&quot;isTemplate&quot;:true,&quot;type&quot;:&quot;text&quot;}"/>
          <p:cNvSpPr txBox="1"/>
          <p:nvPr/>
        </p:nvSpPr>
        <p:spPr>
          <a:xfrm rot="0" flipH="0" flipV="0">
            <a:off x="1647825" y="2514600"/>
            <a:ext cx="951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i="1">
                <a:solidFill>
                  <a:srgbClr val="8B97A8"/>
                </a:solidFill>
                <a:latin typeface="Inter"/>
                <a:ea typeface="Inter"/>
              </a:rPr>
              <a:t>Answer: B — DL is a subset of ML, using multi-layer neural networks to learn features automatically.</a:t>
            </a:r>
            <a:endParaRPr/>
          </a:p>
        </p:txBody>
      </p:sp>
      <p:sp>
        <p:nvSpPr>
          <p:cNvPr id="969" name=""/>
          <p:cNvSpPr/>
          <p:nvPr/>
        </p:nvSpPr>
        <p:spPr>
          <a:xfrm rot="0" flipH="0" flipV="0">
            <a:off x="847725" y="2952750"/>
            <a:ext cx="10591800" cy="1504950"/>
          </a:xfrm>
          <a:prstGeom prst="roundRect">
            <a:avLst>
              <a:gd name="adj" fmla="val 75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70" name=""/>
          <p:cNvSpPr/>
          <p:nvPr/>
        </p:nvSpPr>
        <p:spPr>
          <a:xfrm rot="0" flipH="0" flipV="0">
            <a:off x="847725" y="2952750"/>
            <a:ext cx="10591800" cy="1504950"/>
          </a:xfrm>
          <a:custGeom>
            <a:pathLst>
              <a:path w="1112" h="158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51"/>
                </a:lnTo>
                <a:cubicBezTo>
                  <a:pt x="5" y="154"/>
                  <a:pt x="7" y="157"/>
                  <a:pt x="10" y="158"/>
                </a:cubicBezTo>
                <a:cubicBezTo>
                  <a:pt x="4" y="157"/>
                  <a:pt x="0" y="152"/>
                  <a:pt x="0" y="1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1" name=""/>
          <p:cNvSpPr/>
          <p:nvPr/>
        </p:nvSpPr>
        <p:spPr>
          <a:xfrm rot="0" flipH="0" flipV="0">
            <a:off x="1076325" y="31051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2" name="" descr="{&quot;isTemplate&quot;:true,&quot;type&quot;:&quot;text&quot;}"/>
          <p:cNvSpPr txBox="1"/>
          <p:nvPr/>
        </p:nvSpPr>
        <p:spPr>
          <a:xfrm rot="0" flipH="0" flipV="0">
            <a:off x="1190625" y="3228975"/>
            <a:ext cx="219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Q2</a:t>
            </a:r>
            <a:endParaRPr/>
          </a:p>
        </p:txBody>
      </p:sp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1647825" y="3228975"/>
            <a:ext cx="9515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Grouping 100,000 users into 5 clusters by purchase behavior, with no labels at all — which paradigm?</a:t>
            </a:r>
            <a:endParaRPr/>
          </a:p>
        </p:txBody>
      </p:sp>
      <p:sp>
        <p:nvSpPr>
          <p:cNvPr id="974" name=""/>
          <p:cNvSpPr/>
          <p:nvPr/>
        </p:nvSpPr>
        <p:spPr>
          <a:xfrm rot="0" flipH="0" flipV="0">
            <a:off x="1647825" y="36576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75" name=""/>
          <p:cNvSpPr/>
          <p:nvPr/>
        </p:nvSpPr>
        <p:spPr>
          <a:xfrm rot="0" flipH="0" flipV="0">
            <a:off x="1781175" y="37433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76" name="" descr="{&quot;isTemplate&quot;:true,&quot;type&quot;:&quot;text&quot;}"/>
          <p:cNvSpPr txBox="1"/>
          <p:nvPr/>
        </p:nvSpPr>
        <p:spPr>
          <a:xfrm rot="0" flipH="0" flipV="0">
            <a:off x="2105025" y="378142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Supervised learning</a:t>
            </a:r>
            <a:endParaRPr/>
          </a:p>
        </p:txBody>
      </p:sp>
      <p:sp>
        <p:nvSpPr>
          <p:cNvPr id="977" name=""/>
          <p:cNvSpPr/>
          <p:nvPr/>
        </p:nvSpPr>
        <p:spPr>
          <a:xfrm rot="0" flipH="0" flipV="0">
            <a:off x="4867275" y="3657600"/>
            <a:ext cx="307657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78" name=""/>
          <p:cNvSpPr/>
          <p:nvPr/>
        </p:nvSpPr>
        <p:spPr>
          <a:xfrm rot="0" flipH="0" flipV="0">
            <a:off x="5000625" y="37433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79" name="" descr="{&quot;isTemplate&quot;:true,&quot;type&quot;:&quot;text&quot;}"/>
          <p:cNvSpPr txBox="1"/>
          <p:nvPr/>
        </p:nvSpPr>
        <p:spPr>
          <a:xfrm rot="0" flipH="0" flipV="0">
            <a:off x="5324475" y="3781425"/>
            <a:ext cx="1514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Unsupervised (clustering)</a:t>
            </a:r>
            <a:endParaRPr/>
          </a:p>
        </p:txBody>
      </p:sp>
      <p:sp>
        <p:nvSpPr>
          <p:cNvPr id="980" name=""/>
          <p:cNvSpPr/>
          <p:nvPr/>
        </p:nvSpPr>
        <p:spPr>
          <a:xfrm rot="0" flipH="0" flipV="0">
            <a:off x="8077200" y="36576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81" name=""/>
          <p:cNvSpPr/>
          <p:nvPr/>
        </p:nvSpPr>
        <p:spPr>
          <a:xfrm rot="0" flipH="0" flipV="0">
            <a:off x="8210550" y="37433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82" name="" descr="{&quot;isTemplate&quot;:true,&quot;type&quot;:&quot;text&quot;}"/>
          <p:cNvSpPr txBox="1"/>
          <p:nvPr/>
        </p:nvSpPr>
        <p:spPr>
          <a:xfrm rot="0" flipH="0" flipV="0">
            <a:off x="8534400" y="3781425"/>
            <a:ext cx="1381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Reinforcement learning</a:t>
            </a:r>
            <a:endParaRPr/>
          </a:p>
        </p:txBody>
      </p:sp>
      <p:sp>
        <p:nvSpPr>
          <p:cNvPr id="983" name="" descr="{&quot;isTemplate&quot;:true,&quot;type&quot;:&quot;text&quot;}"/>
          <p:cNvSpPr txBox="1"/>
          <p:nvPr/>
        </p:nvSpPr>
        <p:spPr>
          <a:xfrm rot="0" flipH="0" flipV="0">
            <a:off x="1647825" y="4152900"/>
            <a:ext cx="951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i="1">
                <a:solidFill>
                  <a:srgbClr val="8B97A8"/>
                </a:solidFill>
                <a:latin typeface="Inter"/>
                <a:ea typeface="Inter"/>
              </a:rPr>
              <a:t>Answer: B — no labels, find structure → unsupervised clustering (K-Means etc.; hands-on in W3).</a:t>
            </a:r>
            <a:endParaRPr/>
          </a:p>
        </p:txBody>
      </p:sp>
      <p:sp>
        <p:nvSpPr>
          <p:cNvPr id="984" name=""/>
          <p:cNvSpPr/>
          <p:nvPr/>
        </p:nvSpPr>
        <p:spPr>
          <a:xfrm rot="0" flipH="0" flipV="0">
            <a:off x="847725" y="4591050"/>
            <a:ext cx="10591800" cy="1504950"/>
          </a:xfrm>
          <a:prstGeom prst="roundRect">
            <a:avLst>
              <a:gd name="adj" fmla="val 75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85" name=""/>
          <p:cNvSpPr/>
          <p:nvPr/>
        </p:nvSpPr>
        <p:spPr>
          <a:xfrm rot="0" flipH="0" flipV="0">
            <a:off x="847725" y="4591050"/>
            <a:ext cx="10591800" cy="1504950"/>
          </a:xfrm>
          <a:custGeom>
            <a:pathLst>
              <a:path w="1112" h="158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51"/>
                </a:lnTo>
                <a:cubicBezTo>
                  <a:pt x="5" y="154"/>
                  <a:pt x="7" y="157"/>
                  <a:pt x="10" y="158"/>
                </a:cubicBezTo>
                <a:cubicBezTo>
                  <a:pt x="4" y="157"/>
                  <a:pt x="0" y="152"/>
                  <a:pt x="0" y="1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6" name=""/>
          <p:cNvSpPr/>
          <p:nvPr/>
        </p:nvSpPr>
        <p:spPr>
          <a:xfrm rot="0" flipH="0" flipV="0">
            <a:off x="1076325" y="47434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7" name="" descr="{&quot;isTemplate&quot;:true,&quot;type&quot;:&quot;text&quot;}"/>
          <p:cNvSpPr txBox="1"/>
          <p:nvPr/>
        </p:nvSpPr>
        <p:spPr>
          <a:xfrm rot="0" flipH="0" flipV="0">
            <a:off x="1190625" y="4867275"/>
            <a:ext cx="219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Q3</a:t>
            </a:r>
            <a:endParaRPr/>
          </a:p>
        </p:txBody>
      </p:sp>
      <p:sp>
        <p:nvSpPr>
          <p:cNvPr id="988" name="" descr="{&quot;isTemplate&quot;:true,&quot;type&quot;:&quot;text&quot;}"/>
          <p:cNvSpPr txBox="1"/>
          <p:nvPr/>
        </p:nvSpPr>
        <p:spPr>
          <a:xfrm rot="0" flipH="0" flipV="0">
            <a:off x="1647825" y="4867275"/>
            <a:ext cx="9515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In a typical AI project, roughly how much of an engineer’s time goes to “training the model” itself?</a:t>
            </a:r>
            <a:endParaRPr/>
          </a:p>
        </p:txBody>
      </p:sp>
      <p:sp>
        <p:nvSpPr>
          <p:cNvPr id="989" name=""/>
          <p:cNvSpPr/>
          <p:nvPr/>
        </p:nvSpPr>
        <p:spPr>
          <a:xfrm rot="0" flipH="0" flipV="0">
            <a:off x="1647825" y="52959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90" name=""/>
          <p:cNvSpPr/>
          <p:nvPr/>
        </p:nvSpPr>
        <p:spPr>
          <a:xfrm rot="0" flipH="0" flipV="0">
            <a:off x="1781175" y="53816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91" name="" descr="{&quot;isTemplate&quot;:true,&quot;type&quot;:&quot;text&quot;}"/>
          <p:cNvSpPr txBox="1"/>
          <p:nvPr/>
        </p:nvSpPr>
        <p:spPr>
          <a:xfrm rot="0" flipH="0" flipV="0">
            <a:off x="2105025" y="5419725"/>
            <a:ext cx="361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~80%</a:t>
            </a:r>
            <a:endParaRPr/>
          </a:p>
        </p:txBody>
      </p:sp>
      <p:sp>
        <p:nvSpPr>
          <p:cNvPr id="992" name=""/>
          <p:cNvSpPr/>
          <p:nvPr/>
        </p:nvSpPr>
        <p:spPr>
          <a:xfrm rot="0" flipH="0" flipV="0">
            <a:off x="4867275" y="5295900"/>
            <a:ext cx="307657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93" name=""/>
          <p:cNvSpPr/>
          <p:nvPr/>
        </p:nvSpPr>
        <p:spPr>
          <a:xfrm rot="0" flipH="0" flipV="0">
            <a:off x="5000625" y="53816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94" name="" descr="{&quot;isTemplate&quot;:true,&quot;type&quot;:&quot;text&quot;}"/>
          <p:cNvSpPr txBox="1"/>
          <p:nvPr/>
        </p:nvSpPr>
        <p:spPr>
          <a:xfrm rot="0" flipH="0" flipV="0">
            <a:off x="5324475" y="5419725"/>
            <a:ext cx="361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~50%</a:t>
            </a:r>
            <a:endParaRPr/>
          </a:p>
        </p:txBody>
      </p:sp>
      <p:sp>
        <p:nvSpPr>
          <p:cNvPr id="995" name=""/>
          <p:cNvSpPr/>
          <p:nvPr/>
        </p:nvSpPr>
        <p:spPr>
          <a:xfrm rot="0" flipH="0" flipV="0">
            <a:off x="8077200" y="52959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96" name=""/>
          <p:cNvSpPr/>
          <p:nvPr/>
        </p:nvSpPr>
        <p:spPr>
          <a:xfrm rot="0" flipH="0" flipV="0">
            <a:off x="8210550" y="53816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97" name="" descr="{&quot;isTemplate&quot;:true,&quot;type&quot;:&quot;text&quot;}"/>
          <p:cNvSpPr txBox="1"/>
          <p:nvPr/>
        </p:nvSpPr>
        <p:spPr>
          <a:xfrm rot="0" flipH="0" flipV="0">
            <a:off x="8534400" y="5419725"/>
            <a:ext cx="361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~20%</a:t>
            </a:r>
            <a:endParaRPr/>
          </a:p>
        </p:txBody>
      </p:sp>
      <p:sp>
        <p:nvSpPr>
          <p:cNvPr id="998" name="" descr="{&quot;isTemplate&quot;:true,&quot;type&quot;:&quot;text&quot;}"/>
          <p:cNvSpPr txBox="1"/>
          <p:nvPr/>
        </p:nvSpPr>
        <p:spPr>
          <a:xfrm rot="0" flipH="0" flipV="0">
            <a:off x="1647825" y="5791200"/>
            <a:ext cx="951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i="1">
                <a:solidFill>
                  <a:srgbClr val="8B97A8"/>
                </a:solidFill>
                <a:latin typeface="Inter"/>
                <a:ea typeface="Inter"/>
              </a:rPr>
              <a:t>Answer: C — 80% goes to data and engineering (the 80% rule); training takes only about a fifth.</a:t>
            </a:r>
            <a:endParaRPr/>
          </a:p>
        </p:txBody>
      </p:sp>
      <p:sp>
        <p:nvSpPr>
          <p:cNvPr id="99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000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30 / 32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01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Summary&lt;/Text&gt;&#10;    &lt;Text style={{ fontSize: 15, color: 'rgba(255,255,255,0.85)' }}&gt;Module 1 · Week 1&lt;/Text&gt;&#10;  &lt;/Box&gt;&#10;  &lt;Box style={{ position: 'absolute', top: 100, left: 0, width: '100%', height: 540, padding: '16px 84px', flexDirection: 'row', gap: 26 }}&gt;&#10;    &lt;Box style={{ flex: 1.2, gap: 13, justifyContent: 'center' }}&gt;&#10;      &lt;Text style={{ fontSize: 18, color: '#8B97A8', fontWeight: '600', marginBottom: 2 }}&gt;5 Key Takeaways&lt;/Text&gt;&#10;      {[&#10;        'AI ⊃ ML ⊃ DL ⊃ GenAI — nested subsets; classify with 3 questions',&#10;        'Three waves: symbolic → statistical ML → deep &amp; generative',&#10;        'We are in the application-engineering era; SE leverage is turning models into products',&#10;        'Six lifecycle stages: Define → Data → Features → Model → Deploy → Monitor',&#10;        '80% of time goes to data &amp; engineering; only 20% to training',&#10;      ].map((t, i) =&gt; (&#10;        &lt;Box key={i} style={{ flexDirection: 'row', gap: 14, alignItems: 'flex-start', background: '#F7F9FC', border: '1px solid #E5E7EB', borderRadius: 10, padding: '12px 18px' }}&gt;&#10;          &lt;FAIcon name='check-circle' style={{ fill: '#1E4FA8', width: 22, height: 22, marginTop: 2 }} /&gt;&#10;          &lt;Text style={{ fontSize: 16.5, color: '#1A2230', lineHeight: 1.55, flex: 1 }}&gt;{t}&lt;/Text&gt;&#10;        &lt;/Box&gt;&#10;      ))}&#10;    &lt;/Box&gt;&#10;    &lt;Box style={{ width: 340, background: '#F0F5FC', border: '1px solid #D6DCE5', borderRadius: 14, padding: '24px 24px', justifyContent: 'center', flexShrink: 0 }}&gt;&#10;      &lt;Text style={{ fontSize: 22, color: '#0E3F8C', fontWeight: 'bold' }}&gt;Lab Recap · What you did today&lt;/Text&gt;&#10;      &lt;Box style={{ width: '100%', height: 2, background: '#D6DCE5', marginTop: 12, marginBottom: 14 }} /&gt;&#10;      {[&#10;        { i: 'box', t: 'Environment', d: 'conda ai-app · install dependencies' },&#10;        { i: 'laptop', t: 'Jupyter + Colab', d: 'Run locally + verify Colab GPU' },&#10;        { i: 'code-branch', t: 'Git setup', d: 'init → commit → push to GitHub' },&#10;        { i: 'microchip', t: 'First model', d: 'scikit-learn Iris classifier' },&#10;      ].map((r, i) =&gt; (&#10;        &lt;Box key={i} style={{ flexDirection: 'row', gap: 12, alignItems: 'center', marginBottom: 13 }}&gt;&#10;          &lt;Box style={{ width: 38, height: 38, borderRadius: 10, background: '#FFFFFF', border: '1px solid #D6DCE5', justifyContent: 'center', alignItems: 'center', flexShrink: 0 }}&gt;&#10;            &lt;FAIcon name={r.i} style={{ fill: '#1E4FA8', width: 19, height: 19 }} /&gt;&#10;          &lt;/Box&gt;&#10;          &lt;Box&gt;&#10;            &lt;Text style={{ fontSize: 16, color: '#1A2230', fontWeight: 'bold' }}&gt;{r.t}&lt;/Text&gt;&#10;            &lt;Text style={{ fontSize: 13, color: '#4A5568' }}&gt;{r.d}&lt;/Text&gt;&#10;          &lt;/Box&gt;&#10;        &lt;/Box&gt;&#10;      ))}&#10;      &lt;Box style={{ background: '#0E3F8C', borderRadius: 8, padding: '10px 16px', marginTop: 4 }}&gt;&#10;        &lt;Text style={{ fontSize: 14.5, color: '#FFFFFF', lineHeight: 1.5 }}&gt;&#10;          Deliverables: environment.yml + notebook + GitHub link · due next Monday 23:59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3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0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0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952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Summary</a:t>
            </a:r>
            <a:endParaRPr/>
          </a:p>
        </p:txBody>
      </p:sp>
      <p:sp>
        <p:nvSpPr>
          <p:cNvPr id="100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1006" name="" descr="{&quot;isTemplate&quot;:true,&quot;type&quot;:&quot;text&quot;}"/>
          <p:cNvSpPr txBox="1"/>
          <p:nvPr/>
        </p:nvSpPr>
        <p:spPr>
          <a:xfrm rot="0" flipH="0" flipV="0">
            <a:off x="800100" y="1790700"/>
            <a:ext cx="7105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5 Key Takeaways</a:t>
            </a:r>
            <a:endParaRPr/>
          </a:p>
        </p:txBody>
      </p:sp>
      <p:sp>
        <p:nvSpPr>
          <p:cNvPr id="1007" name=""/>
          <p:cNvSpPr/>
          <p:nvPr/>
        </p:nvSpPr>
        <p:spPr>
          <a:xfrm rot="0" flipH="0" flipV="0">
            <a:off x="800100" y="21431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276475"/>
            <a:ext cx="209550" cy="209550"/>
          </a:xfrm>
          <a:prstGeom prst="rect">
            <a:avLst/>
          </a:prstGeom>
          <a:ln/>
        </p:spPr>
      </p:pic>
      <p:sp>
        <p:nvSpPr>
          <p:cNvPr id="1009" name="" descr="{&quot;isTemplate&quot;:true,&quot;type&quot;:&quot;text&quot;}"/>
          <p:cNvSpPr txBox="1"/>
          <p:nvPr/>
        </p:nvSpPr>
        <p:spPr>
          <a:xfrm rot="0" flipH="0" flipV="0">
            <a:off x="1314450" y="22574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AI ⊃ ML ⊃ DL ⊃ GenAI — nested subsets; classify with 3 questions</a:t>
            </a:r>
            <a:endParaRPr/>
          </a:p>
        </p:txBody>
      </p:sp>
      <p:sp>
        <p:nvSpPr>
          <p:cNvPr id="1010" name=""/>
          <p:cNvSpPr/>
          <p:nvPr/>
        </p:nvSpPr>
        <p:spPr>
          <a:xfrm rot="0" flipH="0" flipV="0">
            <a:off x="800100" y="27908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924175"/>
            <a:ext cx="209550" cy="209550"/>
          </a:xfrm>
          <a:prstGeom prst="rect">
            <a:avLst/>
          </a:prstGeom>
          <a:ln/>
        </p:spPr>
      </p:pic>
      <p:sp>
        <p:nvSpPr>
          <p:cNvPr id="1012" name="" descr="{&quot;isTemplate&quot;:true,&quot;type&quot;:&quot;text&quot;}"/>
          <p:cNvSpPr txBox="1"/>
          <p:nvPr/>
        </p:nvSpPr>
        <p:spPr>
          <a:xfrm rot="0" flipH="0" flipV="0">
            <a:off x="1314450" y="29051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Three waves: symbolic → statistical ML → deep &amp; generative</a:t>
            </a:r>
            <a:endParaRPr/>
          </a:p>
        </p:txBody>
      </p:sp>
      <p:sp>
        <p:nvSpPr>
          <p:cNvPr id="1013" name=""/>
          <p:cNvSpPr/>
          <p:nvPr/>
        </p:nvSpPr>
        <p:spPr>
          <a:xfrm rot="0" flipH="0" flipV="0">
            <a:off x="800100" y="34385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3571875"/>
            <a:ext cx="209550" cy="209550"/>
          </a:xfrm>
          <a:prstGeom prst="rect">
            <a:avLst/>
          </a:prstGeom>
          <a:ln/>
        </p:spPr>
      </p:pic>
      <p:sp>
        <p:nvSpPr>
          <p:cNvPr id="1015" name="" descr="{&quot;isTemplate&quot;:true,&quot;type&quot;:&quot;text&quot;}"/>
          <p:cNvSpPr txBox="1"/>
          <p:nvPr/>
        </p:nvSpPr>
        <p:spPr>
          <a:xfrm rot="0" flipH="0" flipV="0">
            <a:off x="1314450" y="35528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We are in the application-engineering era; SE leverage is turning models into products</a:t>
            </a:r>
            <a:endParaRPr/>
          </a:p>
        </p:txBody>
      </p:sp>
      <p:sp>
        <p:nvSpPr>
          <p:cNvPr id="1016" name=""/>
          <p:cNvSpPr/>
          <p:nvPr/>
        </p:nvSpPr>
        <p:spPr>
          <a:xfrm rot="0" flipH="0" flipV="0">
            <a:off x="800100" y="40862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219575"/>
            <a:ext cx="209550" cy="209550"/>
          </a:xfrm>
          <a:prstGeom prst="rect">
            <a:avLst/>
          </a:prstGeom>
          <a:ln/>
        </p:spPr>
      </p:pic>
      <p:sp>
        <p:nvSpPr>
          <p:cNvPr id="1018" name="" descr="{&quot;isTemplate&quot;:true,&quot;type&quot;:&quot;text&quot;}"/>
          <p:cNvSpPr txBox="1"/>
          <p:nvPr/>
        </p:nvSpPr>
        <p:spPr>
          <a:xfrm rot="0" flipH="0" flipV="0">
            <a:off x="1314450" y="42005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Six lifecycle stages: Define → Data → Features → Model → Deploy → Monitor</a:t>
            </a:r>
            <a:endParaRPr/>
          </a:p>
        </p:txBody>
      </p:sp>
      <p:sp>
        <p:nvSpPr>
          <p:cNvPr id="1019" name=""/>
          <p:cNvSpPr/>
          <p:nvPr/>
        </p:nvSpPr>
        <p:spPr>
          <a:xfrm rot="0" flipH="0" flipV="0">
            <a:off x="800100" y="47339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867275"/>
            <a:ext cx="209550" cy="209550"/>
          </a:xfrm>
          <a:prstGeom prst="rect">
            <a:avLst/>
          </a:prstGeom>
          <a:ln/>
        </p:spPr>
      </p:pic>
      <p:sp>
        <p:nvSpPr>
          <p:cNvPr id="1021" name="" descr="{&quot;isTemplate&quot;:true,&quot;type&quot;:&quot;text&quot;}"/>
          <p:cNvSpPr txBox="1"/>
          <p:nvPr/>
        </p:nvSpPr>
        <p:spPr>
          <a:xfrm rot="0" flipH="0" flipV="0">
            <a:off x="1314450" y="48482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80% of time goes to data &amp; engineering; only 20% to training</a:t>
            </a:r>
            <a:endParaRPr/>
          </a:p>
        </p:txBody>
      </p:sp>
      <p:sp>
        <p:nvSpPr>
          <p:cNvPr id="1022" name=""/>
          <p:cNvSpPr/>
          <p:nvPr/>
        </p:nvSpPr>
        <p:spPr>
          <a:xfrm rot="0" flipH="0" flipV="0">
            <a:off x="8153400" y="1104900"/>
            <a:ext cx="3238500" cy="4838700"/>
          </a:xfrm>
          <a:prstGeom prst="roundRect">
            <a:avLst>
              <a:gd name="adj" fmla="val 411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23" name="" descr="{&quot;isTemplate&quot;:true,&quot;type&quot;:&quot;text&quot;}"/>
          <p:cNvSpPr txBox="1"/>
          <p:nvPr/>
        </p:nvSpPr>
        <p:spPr>
          <a:xfrm rot="0" flipH="0" flipV="0">
            <a:off x="8382000" y="1676400"/>
            <a:ext cx="27813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Lab Recap · What you did today</a:t>
            </a:r>
            <a:endParaRPr/>
          </a:p>
        </p:txBody>
      </p:sp>
      <p:sp>
        <p:nvSpPr>
          <p:cNvPr id="1024" name=""/>
          <p:cNvSpPr/>
          <p:nvPr/>
        </p:nvSpPr>
        <p:spPr>
          <a:xfrm rot="0" flipH="0" flipV="0">
            <a:off x="8382000" y="2295525"/>
            <a:ext cx="27813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025" name=""/>
          <p:cNvSpPr/>
          <p:nvPr/>
        </p:nvSpPr>
        <p:spPr>
          <a:xfrm rot="0" flipH="0" flipV="0">
            <a:off x="8382000" y="24479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477250" y="2543175"/>
            <a:ext cx="180975" cy="180975"/>
          </a:xfrm>
          <a:prstGeom prst="rect">
            <a:avLst/>
          </a:prstGeom>
          <a:ln/>
        </p:spPr>
      </p:pic>
      <p:sp>
        <p:nvSpPr>
          <p:cNvPr id="1027" name="" descr="{&quot;isTemplate&quot;:true,&quot;type&quot;:&quot;text&quot;}"/>
          <p:cNvSpPr txBox="1"/>
          <p:nvPr/>
        </p:nvSpPr>
        <p:spPr>
          <a:xfrm rot="0" flipH="0" flipV="0">
            <a:off x="8858250" y="2457450"/>
            <a:ext cx="1981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Environment</a:t>
            </a:r>
            <a:endParaRPr/>
          </a:p>
        </p:txBody>
      </p:sp>
      <p:sp>
        <p:nvSpPr>
          <p:cNvPr id="1028" name="" descr="{&quot;isTemplate&quot;:true,&quot;type&quot;:&quot;text&quot;}"/>
          <p:cNvSpPr txBox="1"/>
          <p:nvPr/>
        </p:nvSpPr>
        <p:spPr>
          <a:xfrm rot="0" flipH="0" flipV="0">
            <a:off x="8858250" y="2647950"/>
            <a:ext cx="1981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conda ai-app · install dependencies</a:t>
            </a:r>
            <a:endParaRPr/>
          </a:p>
        </p:txBody>
      </p:sp>
      <p:sp>
        <p:nvSpPr>
          <p:cNvPr id="1029" name=""/>
          <p:cNvSpPr/>
          <p:nvPr/>
        </p:nvSpPr>
        <p:spPr>
          <a:xfrm rot="0" flipH="0" flipV="0">
            <a:off x="8382000" y="29337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3028950"/>
            <a:ext cx="180975" cy="180975"/>
          </a:xfrm>
          <a:prstGeom prst="rect">
            <a:avLst/>
          </a:prstGeom>
          <a:ln/>
        </p:spPr>
      </p:pic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8858250" y="2943225"/>
            <a:ext cx="17049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Jupyter + Colab</a:t>
            </a:r>
            <a:endParaRPr/>
          </a:p>
        </p:txBody>
      </p:sp>
      <p:sp>
        <p:nvSpPr>
          <p:cNvPr id="1032" name="" descr="{&quot;isTemplate&quot;:true,&quot;type&quot;:&quot;text&quot;}"/>
          <p:cNvSpPr txBox="1"/>
          <p:nvPr/>
        </p:nvSpPr>
        <p:spPr>
          <a:xfrm rot="0" flipH="0" flipV="0">
            <a:off x="8858250" y="3133725"/>
            <a:ext cx="1704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Run locally + verify Colab GPU</a:t>
            </a:r>
            <a:endParaRPr/>
          </a:p>
        </p:txBody>
      </p:sp>
      <p:sp>
        <p:nvSpPr>
          <p:cNvPr id="1033" name=""/>
          <p:cNvSpPr/>
          <p:nvPr/>
        </p:nvSpPr>
        <p:spPr>
          <a:xfrm rot="0" flipH="0" flipV="0">
            <a:off x="8382000" y="34194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477250" y="3514725"/>
            <a:ext cx="180975" cy="180975"/>
          </a:xfrm>
          <a:prstGeom prst="rect">
            <a:avLst/>
          </a:prstGeom>
          <a:ln/>
        </p:spPr>
      </p:pic>
      <p:sp>
        <p:nvSpPr>
          <p:cNvPr id="1035" name="" descr="{&quot;isTemplate&quot;:true,&quot;type&quot;:&quot;text&quot;}"/>
          <p:cNvSpPr txBox="1"/>
          <p:nvPr/>
        </p:nvSpPr>
        <p:spPr>
          <a:xfrm rot="0" flipH="0" flipV="0">
            <a:off x="8858250" y="3429000"/>
            <a:ext cx="1809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Git setup</a:t>
            </a:r>
            <a:endParaRPr/>
          </a:p>
        </p:txBody>
      </p:sp>
      <p:sp>
        <p:nvSpPr>
          <p:cNvPr id="1036" name="" descr="{&quot;isTemplate&quot;:true,&quot;type&quot;:&quot;text&quot;}"/>
          <p:cNvSpPr txBox="1"/>
          <p:nvPr/>
        </p:nvSpPr>
        <p:spPr>
          <a:xfrm rot="0" flipH="0" flipV="0">
            <a:off x="8858250" y="3619500"/>
            <a:ext cx="1809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init → commit → push to GitHub</a:t>
            </a:r>
            <a:endParaRPr/>
          </a:p>
        </p:txBody>
      </p:sp>
      <p:sp>
        <p:nvSpPr>
          <p:cNvPr id="1037" name=""/>
          <p:cNvSpPr/>
          <p:nvPr/>
        </p:nvSpPr>
        <p:spPr>
          <a:xfrm rot="0" flipH="0" flipV="0">
            <a:off x="8382000" y="39052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8477250" y="4000500"/>
            <a:ext cx="180975" cy="180975"/>
          </a:xfrm>
          <a:prstGeom prst="rect">
            <a:avLst/>
          </a:prstGeom>
          <a:ln/>
        </p:spPr>
      </p:pic>
      <p:sp>
        <p:nvSpPr>
          <p:cNvPr id="1039" name="" descr="{&quot;isTemplate&quot;:true,&quot;type&quot;:&quot;text&quot;}"/>
          <p:cNvSpPr txBox="1"/>
          <p:nvPr/>
        </p:nvSpPr>
        <p:spPr>
          <a:xfrm rot="0" flipH="0" flipV="0">
            <a:off x="8858250" y="3914775"/>
            <a:ext cx="13239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First model</a:t>
            </a:r>
            <a:endParaRPr/>
          </a:p>
        </p:txBody>
      </p:sp>
      <p:sp>
        <p:nvSpPr>
          <p:cNvPr id="1040" name="" descr="{&quot;isTemplate&quot;:true,&quot;type&quot;:&quot;text&quot;}"/>
          <p:cNvSpPr txBox="1"/>
          <p:nvPr/>
        </p:nvSpPr>
        <p:spPr>
          <a:xfrm rot="0" flipH="0" flipV="0">
            <a:off x="8858250" y="4105275"/>
            <a:ext cx="1323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scikit-learn Iris classifier</a:t>
            </a:r>
            <a:endParaRPr/>
          </a:p>
        </p:txBody>
      </p:sp>
      <p:sp>
        <p:nvSpPr>
          <p:cNvPr id="1041" name=""/>
          <p:cNvSpPr/>
          <p:nvPr/>
        </p:nvSpPr>
        <p:spPr>
          <a:xfrm rot="0" flipH="0" flipV="0">
            <a:off x="8382000" y="4429125"/>
            <a:ext cx="2781300" cy="942975"/>
          </a:xfrm>
          <a:prstGeom prst="roundRect">
            <a:avLst>
              <a:gd name="adj" fmla="val 808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42" name="" descr="{&quot;isTemplate&quot;:true,&quot;type&quot;:&quot;text&quot;}"/>
          <p:cNvSpPr txBox="1"/>
          <p:nvPr/>
        </p:nvSpPr>
        <p:spPr>
          <a:xfrm rot="0" flipH="0" flipV="0">
            <a:off x="8534400" y="4524375"/>
            <a:ext cx="24765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88">
                <a:solidFill>
                  <a:srgbClr val="FFFFFF"/>
                </a:solidFill>
                <a:latin typeface="Inter"/>
                <a:ea typeface="Inter"/>
              </a:rPr>
              <a:t>Deliverables: environment.yml + notebook + GitHub link · due next Monday 23:59</a:t>
            </a:r>
            <a:endParaRPr/>
          </a:p>
        </p:txBody>
      </p:sp>
      <p:sp>
        <p:nvSpPr>
          <p:cNvPr id="104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044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31 / 32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1045" name="" descr="&lt;Slide style={{ width: '1280px', height: '720px', background: '#FFFFFF', padding: '0px', position: 'relative', overflow: 'hidden', fontFamily: 'Inter, Helvetica Neue, Arial, sans-serif' }}&gt;&#10;  &lt;Box style={{ position: 'absolute', top: 0, left: 0, width: '100%', height: 12, background: '#1E4FA8' }} /&gt;&#10;  &lt;Box style={{ position: 'absolute', top: 12, left: 0, width: '100%', height: 5, background: '#3D7BD9' }} /&gt;&#10;  &lt;Box style={{ position: 'absolute', left: 0, top: 300, opacity: 0.05, width: 560, height: 340, overflow: 'hidden' }}&gt;&#10;    &lt;Text style={{ fontSize: 320, fontWeight: 'bold', color: '#1E4FA8', lineHeight: 1 }}&gt;AI&lt;/Text&gt;&#10;  &lt;/Box&gt;&#10;  &lt;Box style={{ position: 'relative', width: '100%', height: '100%', padding: '120px 90px', justifyContent: 'space-between' }}&gt;&#10;    &lt;Box style={{ alignItems: 'center' }}&gt;&#10;      &lt;Box style={{ width: 84, height: 84, borderRadius: 20, background: '#0E3F8C', justifyContent: 'center', alignItems: 'center', marginBottom: 26 }}&gt;&#10;        &lt;Text style={{ fontSize: 36, color: '#FFFFFF', fontWeight: 'bold' }}&gt;W1&lt;/Text&gt;&#10;      &lt;/Box&gt;&#10;      &lt;Text style={{ fontSize: 40, color: '#1A2230', fontWeight: 'bold', textAlign: 'center', lineHeight: 1.4 }}&gt;&#10;        &quot;AI won't replace engineers.&lt;br /&gt;Engineers using AI will.&quot;&#10;      &lt;/Text&gt;&#10;      &lt;Text style={{ fontSize: 20, fontStyle: 'italic', color: '#8B97A8', marginTop: 14, textAlign: 'center' }}&gt;&#10;        The best way to predict the future is to build it.&#10;      &lt;/Text&gt;&#10;    &lt;/Box&gt;&#10;    &lt;Box style={{ alignItems: 'center', gap: 8 }}&gt;&#10;      &lt;Text style={{ fontSize: 18, color: '#0E3F8C', fontWeight: 'bold' }}&gt;Thank You&lt;/Text&gt;&#10;      &lt;Text style={{ fontSize: 15, color: '#8B97A8' }}&gt;&#10;        Next week: Data Handling Fundamentals for AI — NumPy, Pandas &amp;amp; Visualization&#10;      &lt;/Text&gt;&#10;      &lt;Text style={{ fontSize: 13, color: '#B0B8C4', marginTop: 6 }}&gt;AI Application Development · Week 1 Lecture · 32 / 32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47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8" name=""/>
          <p:cNvSpPr/>
          <p:nvPr/>
        </p:nvSpPr>
        <p:spPr>
          <a:xfrm rot="0" flipH="0" flipV="0">
            <a:off x="0" y="114300"/>
            <a:ext cx="12192000" cy="476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49" name="" descr="{&quot;isTemplate&quot;:true,&quot;type&quot;:&quot;text&quot;}"/>
          <p:cNvSpPr txBox="1"/>
          <p:nvPr/>
        </p:nvSpPr>
        <p:spPr>
          <a:xfrm rot="0" flipH="0" flipV="0">
            <a:off x="0" y="2857500"/>
            <a:ext cx="5334000" cy="3657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AI</a:t>
            </a:r>
            <a:endParaRPr/>
          </a:p>
        </p:txBody>
      </p:sp>
      <p:sp>
        <p:nvSpPr>
          <p:cNvPr id="1050" name=""/>
          <p:cNvSpPr/>
          <p:nvPr/>
        </p:nvSpPr>
        <p:spPr>
          <a:xfrm rot="0" flipH="0" flipV="0">
            <a:off x="5695950" y="1143000"/>
            <a:ext cx="800100" cy="80010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51" name="" descr="{&quot;isTemplate&quot;:true,&quot;type&quot;:&quot;text&quot;}"/>
          <p:cNvSpPr txBox="1"/>
          <p:nvPr/>
        </p:nvSpPr>
        <p:spPr>
          <a:xfrm rot="0" flipH="0" flipV="0">
            <a:off x="5838825" y="1333500"/>
            <a:ext cx="5143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FFFFFF"/>
                </a:solidFill>
                <a:latin typeface="Inter"/>
                <a:ea typeface="Inter"/>
              </a:rPr>
              <a:t>W1</a:t>
            </a:r>
            <a:endParaRPr/>
          </a:p>
        </p:txBody>
      </p:sp>
      <p:sp>
        <p:nvSpPr>
          <p:cNvPr id="1052" name="" descr="{&quot;isTemplate&quot;:true,&quot;type&quot;:&quot;text&quot;}"/>
          <p:cNvSpPr txBox="1"/>
          <p:nvPr/>
        </p:nvSpPr>
        <p:spPr>
          <a:xfrm rot="0" flipH="0" flipV="0">
            <a:off x="3533775" y="2190750"/>
            <a:ext cx="5124450" cy="1285875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3000" b="1">
                <a:solidFill>
                  <a:srgbClr val="1A2230"/>
                </a:solidFill>
                <a:latin typeface="Inter"/>
                <a:ea typeface="Inter"/>
              </a:rPr>
              <a:t>"AI won't replace engineers.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3000" b="1">
                <a:solidFill>
                  <a:srgbClr val="1A2230"/>
                </a:solidFill>
                <a:latin typeface="Inter"/>
                <a:ea typeface="Inter"/>
              </a:rPr>
              <a:t>Engineers using AI will."</a:t>
            </a:r>
            <a:endParaRPr/>
          </a:p>
        </p:txBody>
      </p:sp>
      <p:sp>
        <p:nvSpPr>
          <p:cNvPr id="1053" name="" descr="{&quot;isTemplate&quot;:true,&quot;type&quot;:&quot;text&quot;}"/>
          <p:cNvSpPr txBox="1"/>
          <p:nvPr/>
        </p:nvSpPr>
        <p:spPr>
          <a:xfrm rot="0" flipH="0" flipV="0">
            <a:off x="4124325" y="3609975"/>
            <a:ext cx="3952875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500" i="1">
                <a:solidFill>
                  <a:srgbClr val="8B97A8"/>
                </a:solidFill>
                <a:latin typeface="Inter"/>
                <a:ea typeface="Inter"/>
              </a:rPr>
              <a:t>The best way to predict the future is to build it.</a:t>
            </a:r>
            <a:endParaRPr/>
          </a:p>
        </p:txBody>
      </p:sp>
      <p:sp>
        <p:nvSpPr>
          <p:cNvPr id="1054" name="" descr="{&quot;isTemplate&quot;:true,&quot;type&quot;:&quot;text&quot;}"/>
          <p:cNvSpPr txBox="1"/>
          <p:nvPr/>
        </p:nvSpPr>
        <p:spPr>
          <a:xfrm rot="0" flipH="0" flipV="0">
            <a:off x="5667375" y="49720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Thank You</a:t>
            </a:r>
            <a:endParaRPr/>
          </a:p>
        </p:txBody>
      </p:sp>
      <p:sp>
        <p:nvSpPr>
          <p:cNvPr id="1055" name="" descr="{&quot;isTemplate&quot;:true,&quot;type&quot;:&quot;text&quot;}"/>
          <p:cNvSpPr txBox="1"/>
          <p:nvPr/>
        </p:nvSpPr>
        <p:spPr>
          <a:xfrm rot="0" flipH="0" flipV="0">
            <a:off x="3505200" y="5257800"/>
            <a:ext cx="5191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Next week: Data Handling Fundamentals for AI — NumPy, Pandas &amp; Visualization</a:t>
            </a:r>
            <a:endParaRPr/>
          </a:p>
        </p:txBody>
      </p:sp>
      <p:sp>
        <p:nvSpPr>
          <p:cNvPr id="1056" name="" descr="{&quot;isTemplate&quot;:true,&quot;type&quot;:&quot;text&quot;}"/>
          <p:cNvSpPr txBox="1"/>
          <p:nvPr/>
        </p:nvSpPr>
        <p:spPr>
          <a:xfrm rot="0" flipH="0" flipV="0">
            <a:off x="4600575" y="55626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0B8C4"/>
                </a:solidFill>
                <a:latin typeface="Inter"/>
                <a:ea typeface="Inter"/>
              </a:rPr>
              <a:t>AI Application Development · Week 1 Lecture · 32 / 32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2026-08-24T13:00:16Z</dcterms:created>
  <dcterms:modified xsi:type="dcterms:W3CDTF">2026-08-24T13:00:16Z</dcterms:modified>
</cp:coreProperties>
</file>