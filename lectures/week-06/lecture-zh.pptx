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训练准确率</c:v>
                </c:pt>
              </c:strCache>
            </c:strRef>
          </c:tx>
          <c:spPr>
            <a:ln w="22225">
              <a:solidFill>
                <a:srgbClr val="1E4FA8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0.1</c:v>
                </c:pt>
                <c:pt idx="1">
                  <c:v>0.725</c:v>
                </c:pt>
                <c:pt idx="2">
                  <c:v>0.9875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验证准确率</c:v>
                </c:pt>
              </c:strCache>
            </c:strRef>
          </c:tx>
          <c:spPr>
            <a:ln w="22225">
              <a:solidFill>
                <a:srgbClr val="D97706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0.1</c:v>
                </c:pt>
                <c:pt idx="1">
                  <c:v>0.4815</c:v>
                </c:pt>
                <c:pt idx="2">
                  <c:v>0.8074</c:v>
                </c:pt>
                <c:pt idx="3">
                  <c:v>0.8185</c:v>
                </c:pt>
                <c:pt idx="4">
                  <c:v>0.8296</c:v>
                </c:pt>
                <c:pt idx="5">
                  <c:v>0.8333</c:v>
                </c:pt>
                <c:pt idx="6">
                  <c:v>0.8296</c:v>
                </c:pt>
                <c:pt idx="7">
                  <c:v>0.837</c:v>
                </c:pt>
                <c:pt idx="8">
                  <c:v>0.837</c:v>
                </c:pt>
                <c:pt idx="9">
                  <c:v>0.8333</c:v>
                </c:pt>
                <c:pt idx="10">
                  <c:v>0.837</c:v>
                </c:pt>
                <c:pt idx="11">
                  <c:v>0.837</c:v>
                </c:pt>
                <c:pt idx="12">
                  <c:v>0.8333</c:v>
                </c:pt>
                <c:pt idx="13">
                  <c:v>0.8407</c:v>
                </c:pt>
                <c:pt idx="14">
                  <c:v>0.837</c:v>
                </c:pt>
                <c:pt idx="15">
                  <c:v>0.837</c:v>
                </c:pt>
                <c:pt idx="16">
                  <c:v>0.837</c:v>
                </c:pt>
                <c:pt idx="17">
                  <c:v>0.8407</c:v>
                </c:pt>
                <c:pt idx="18">
                  <c:v>0.8333</c:v>
                </c:pt>
                <c:pt idx="19">
                  <c:v>0.837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训练轮次（每 20 轮取一点）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准确率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无正则（基线）</c:v>
                </c:pt>
              </c:strCache>
            </c:strRef>
          </c:tx>
          <c:spPr>
            <a:ln w="31750">
              <a:solidFill>
                <a:srgbClr val="B91C1C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2.2906</c:v>
                </c:pt>
                <c:pt idx="1">
                  <c:v>1.5293</c:v>
                </c:pt>
                <c:pt idx="2">
                  <c:v>0.7305</c:v>
                </c:pt>
                <c:pt idx="3">
                  <c:v>0.65</c:v>
                </c:pt>
                <c:pt idx="4">
                  <c:v>0.6357</c:v>
                </c:pt>
                <c:pt idx="5">
                  <c:v>0.6704</c:v>
                </c:pt>
                <c:pt idx="6">
                  <c:v>0.6983</c:v>
                </c:pt>
                <c:pt idx="7">
                  <c:v>0.7168</c:v>
                </c:pt>
                <c:pt idx="8">
                  <c:v>0.742</c:v>
                </c:pt>
                <c:pt idx="9">
                  <c:v>0.7549</c:v>
                </c:pt>
                <c:pt idx="10">
                  <c:v>0.7706</c:v>
                </c:pt>
                <c:pt idx="11">
                  <c:v>0.7859</c:v>
                </c:pt>
                <c:pt idx="12">
                  <c:v>0.7947</c:v>
                </c:pt>
                <c:pt idx="13">
                  <c:v>0.8054</c:v>
                </c:pt>
                <c:pt idx="14">
                  <c:v>0.8193</c:v>
                </c:pt>
                <c:pt idx="15">
                  <c:v>0.8309</c:v>
                </c:pt>
                <c:pt idx="16">
                  <c:v>0.8389</c:v>
                </c:pt>
                <c:pt idx="17">
                  <c:v>0.8472</c:v>
                </c:pt>
                <c:pt idx="18">
                  <c:v>0.8593</c:v>
                </c:pt>
                <c:pt idx="19">
                  <c:v>0.8672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权重衰减 1e-2</c:v>
                </c:pt>
              </c:strCache>
            </c:strRef>
          </c:tx>
          <c:spPr>
            <a:ln w="22225">
              <a:solidFill>
                <a:srgbClr val="059669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2.292</c:v>
                </c:pt>
                <c:pt idx="1">
                  <c:v>1.7454</c:v>
                </c:pt>
                <c:pt idx="2">
                  <c:v>0.9045</c:v>
                </c:pt>
                <c:pt idx="3">
                  <c:v>0.7215</c:v>
                </c:pt>
                <c:pt idx="4">
                  <c:v>0.6261</c:v>
                </c:pt>
                <c:pt idx="5">
                  <c:v>0.612</c:v>
                </c:pt>
                <c:pt idx="6">
                  <c:v>0.5973</c:v>
                </c:pt>
                <c:pt idx="7">
                  <c:v>0.6032</c:v>
                </c:pt>
                <c:pt idx="8">
                  <c:v>0.6098</c:v>
                </c:pt>
                <c:pt idx="9">
                  <c:v>0.5859</c:v>
                </c:pt>
                <c:pt idx="10">
                  <c:v>0.6025</c:v>
                </c:pt>
                <c:pt idx="11">
                  <c:v>0.5929</c:v>
                </c:pt>
                <c:pt idx="12">
                  <c:v>0.5794</c:v>
                </c:pt>
                <c:pt idx="13">
                  <c:v>0.5808</c:v>
                </c:pt>
                <c:pt idx="14">
                  <c:v>0.5953</c:v>
                </c:pt>
                <c:pt idx="15">
                  <c:v>0.6027</c:v>
                </c:pt>
                <c:pt idx="16">
                  <c:v>0.5895</c:v>
                </c:pt>
                <c:pt idx="17">
                  <c:v>0.5928</c:v>
                </c:pt>
                <c:pt idx="18">
                  <c:v>0.6088</c:v>
                </c:pt>
                <c:pt idx="19">
                  <c:v>0.5956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训练轮次（每 20 轮取一点）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6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验证集损失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本科 · 来华项目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模型评估、过拟合与正则化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Evaluation, Overfitting and Regularization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6 · 指标与业务代价 · 评估协议 · 偏差-方差诊断 · 早停/权重衰减/Dropout/增强 · 实验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225548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90988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模块二 · W5–8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7881" y="5295600"/>
            <a:ext cx="3383222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0681" y="5364000"/>
            <a:ext cx="3037622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授课 + 实验 + 小测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84304" y="5295600"/>
            <a:ext cx="202993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7104" y="5364000"/>
            <a:ext cx="168433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KT11 · KT12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7438" y="5295600"/>
            <a:ext cx="225548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0238" y="5364000"/>
            <a:ext cx="190988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留学生班 · 英文授课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49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本周结构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训练集上的分数从来不是你的成绩单。
本周回答三个问题：
该看哪个数字、这个数字可不可信、怎么让它变可信。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理论约 90 min · Lab 80 min · 小测与小结 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评估指标：选对那个数字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准确率的陷阱 · 混淆矩阵 · 精确率/召回率/F1 · 业务代价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评估协议：数字可不可信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70/15/15 · 分层抽样 · 测试集只碰一次 · K 折交叉验证 · 数据泄漏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偏差-方差：按证据诊断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Diagnosis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欠拟合 / 刚好 / 过拟合 · 从曲线读数 · 症状到对策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正则化：四个刹车及其代价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Regularization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早停 · 权重衰减 · Dropout · 数据增强 · 本机实测对照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实验 5 过拟合复现与正则化对比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先制造过拟合 · 再逐一施加四种手段 · 用验证损失量化效果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评估指标：选对那个数字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「准确率 99%」是一个可以被制造出来的数字。
当你决定优化什么，你就决定了模型会牺牲什么——所以先想清楚代价由谁承担。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准确率会骗人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不平衡数据下尤甚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混淆矩阵是源头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四个格子推出所有指标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代价决定选择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漏报与误报代价不同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先看一个真实会发生的失败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同一个模型，换一个指标，故事完全相反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4320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32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91C1C"/>
                </a:solidFill>
                <a:latin typeface="Source Han Sans SC"/>
              </a:rPr>
              <a:t>99% 准确率的检测系统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测试集 1000 个样本，其中只有 10 个是真正的缺陷样本。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模型永远输出「正常」——准确率 (990/1000) = 99.0%。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但它一个缺陷都没抓到：召回率 = 0%。产线上一件都拦不住。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准确率在这里不是「好」，而是「没用」——数据不平衡替模型把分数刷高了。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4320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432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45309"/>
                </a:solidFill>
                <a:latin typeface="Source Han Sans SC"/>
              </a:rPr>
              <a:t>把代价写下来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cost asymmetry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漏报一个真缺陷（FN）：客户收到废品，退货 + 信誉损失。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误报一个正常件（FP）：一次复检工时，几块钱。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两者代价差 100 倍，却在准确率里被当成一样重。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指标选择的本质，是把你真正在乎的代价写进公式。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432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于是你该问的问题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decision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① 这个系统错了以后，谁会疼？怎么疼？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② 两类错误（漏报 / 误报）谁的代价更高？高多少倍？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③ 类别比例是多少？不平衡到什么程度？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④ 这个业务有下游兜底吗？还是这里就是唯一一道闸门？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先把这四个格子数对：命中 / 误报 / 漏报 / 正确排除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四个指标只是这四个格子上的算术题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7199" y="1389600"/>
            <a:ext cx="552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6B7280"/>
                </a:solidFill>
                <a:latin typeface="Source Han Sans SC"/>
              </a:rPr>
              <a:t>模型判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7199" y="1591200"/>
            <a:ext cx="266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判为缺陷 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9200" y="1591200"/>
            <a:ext cx="266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判为正常 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1828800"/>
            <a:ext cx="1098000" cy="13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缺陷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3412800"/>
            <a:ext cx="1098000" cy="13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正常 140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200" y="3313800"/>
            <a:ext cx="118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 i="0">
                <a:solidFill>
                  <a:srgbClr val="6B7280"/>
                </a:solidFill>
                <a:latin typeface="Source Han Sans SC"/>
              </a:rPr>
              <a:t>真实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7199" y="1828800"/>
            <a:ext cx="2664000" cy="1386000"/>
          </a:xfrm>
          <a:prstGeom prst="rect">
            <a:avLst/>
          </a:prstGeom>
          <a:solidFill>
            <a:srgbClr val="ECFDF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13199" y="1980000"/>
            <a:ext cx="2412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059669"/>
                </a:solidFill>
                <a:latin typeface="Source Han Sans SC"/>
              </a:rPr>
              <a:t>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3199" y="2469600"/>
            <a:ext cx="241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059669"/>
                </a:solidFill>
                <a:latin typeface="Source Han Sans SC"/>
              </a:rPr>
              <a:t>命中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9200" y="1828800"/>
            <a:ext cx="2664000" cy="1386000"/>
          </a:xfrm>
          <a:prstGeom prst="rect">
            <a:avLst/>
          </a:prstGeom>
          <a:solidFill>
            <a:srgbClr val="FEF2F2"/>
          </a:solidFill>
          <a:ln w="1778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5199" y="1980000"/>
            <a:ext cx="2412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B91C1C"/>
                </a:solidFill>
                <a:latin typeface="Source Han Sans SC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5199" y="2469600"/>
            <a:ext cx="241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B91C1C"/>
                </a:solidFill>
                <a:latin typeface="Source Han Sans SC"/>
              </a:rPr>
              <a:t>误报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7199" y="3412800"/>
            <a:ext cx="2664000" cy="1386000"/>
          </a:xfrm>
          <a:prstGeom prst="rect">
            <a:avLst/>
          </a:prstGeom>
          <a:solidFill>
            <a:srgbClr val="FEF2F2"/>
          </a:solidFill>
          <a:ln w="1778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13199" y="3564000"/>
            <a:ext cx="2412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B91C1C"/>
                </a:solidFill>
                <a:latin typeface="Source Han Sans SC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13199" y="4053600"/>
            <a:ext cx="241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B91C1C"/>
                </a:solidFill>
                <a:latin typeface="Source Han Sans SC"/>
              </a:rPr>
              <a:t>漏报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9200" y="3412800"/>
            <a:ext cx="2664000" cy="1386000"/>
          </a:xfrm>
          <a:prstGeom prst="rect">
            <a:avLst/>
          </a:prstGeom>
          <a:solidFill>
            <a:srgbClr val="ECFDF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5199" y="3564000"/>
            <a:ext cx="2412000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059669"/>
                </a:solidFill>
                <a:latin typeface="Source Han Sans SC"/>
              </a:rPr>
              <a:t>132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5199" y="4053600"/>
            <a:ext cx="241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059669"/>
                </a:solidFill>
                <a:latin typeface="Source Han Sans SC"/>
              </a:rPr>
              <a:t>正确排除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5200" y="1389600"/>
            <a:ext cx="3537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由这四个格子算出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55200" y="1710000"/>
            <a:ext cx="3537719" cy="628424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6400" y="1789200"/>
            <a:ext cx="15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919" y="1760400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 i="0">
                <a:solidFill>
                  <a:srgbClr val="1E4FA8"/>
                </a:solidFill>
                <a:latin typeface="Source Han Sans SC"/>
              </a:rPr>
              <a:t>0.900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6400" y="2041200"/>
            <a:ext cx="3235319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判对的比例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55200" y="2410424"/>
            <a:ext cx="3537719" cy="628424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6400" y="2489624"/>
            <a:ext cx="15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Precision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919" y="2460824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 i="0">
                <a:solidFill>
                  <a:srgbClr val="1E4FA8"/>
                </a:solidFill>
                <a:latin typeface="Source Han Sans SC"/>
              </a:rPr>
              <a:t>0.857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6400" y="2741624"/>
            <a:ext cx="3235319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判为缺陷的里面有多少是真的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55200" y="3110849"/>
            <a:ext cx="3537719" cy="628424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6400" y="3190049"/>
            <a:ext cx="15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Recall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919" y="3161249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 i="0">
                <a:solidFill>
                  <a:srgbClr val="1E4FA8"/>
                </a:solidFill>
                <a:latin typeface="Source Han Sans SC"/>
              </a:rPr>
              <a:t>0.800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6400" y="3442049"/>
            <a:ext cx="3235319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真正的缺陷找出来多少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55200" y="3811274"/>
            <a:ext cx="3537719" cy="628424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6400" y="3890474"/>
            <a:ext cx="15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F1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8919" y="3861674"/>
            <a:ext cx="1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" b="1" i="0">
                <a:solidFill>
                  <a:srgbClr val="1E4FA8"/>
                </a:solidFill>
                <a:latin typeface="Source Han Sans SC"/>
              </a:rPr>
              <a:t>0.828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6400" y="4142474"/>
            <a:ext cx="3235319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精确率与召回率的调和平均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55200" y="4547698"/>
            <a:ext cx="3537719" cy="661349"/>
          </a:xfrm>
          <a:prstGeom prst="rect">
            <a:avLst/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6400" y="4648498"/>
            <a:ext cx="3235319" cy="5461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B91C1C"/>
                </a:solidFill>
                <a:latin typeface="Source Han Sans SC"/>
              </a:rPr>
              <a:t>200 件里 140 件是好的：全判「正常」就已经有 0.700。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四个格子推出全部指标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混淆矩阵（Confusion Matrix）：先把它数对，指标才有意义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3999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3384000"/>
                <a:gridCol w="2951999"/>
                <a:gridCol w="2700000"/>
              </a:tblGrid>
              <a:tr h="414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格子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含义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由它导出的指标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谁最关心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TP 真阳性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真的是缺陷，模型也判成缺陷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精确率（分子）、召回率（分子）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产线：这是唯一真正拦下来的一类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FN 假阴性（漏报）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真的是缺陷，模型判成正常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召回率（分母）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客户与质检：代价最高的一类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FP 假阳性（误报）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本来是正常件，模型判成缺陷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精确率（分母）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产线与复检岗：浪费工时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TN 真阴性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正常件判成正常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准确率（分子）——TN 撑起准确率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没人关心，但它最容易把准确率刷好看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366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上面经典失败的 99% 就是靠 990 个 TN 堆出来的。记住：TP / FP / FN / TN 只要数对，四个指标都是算术题。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把矩阵数出来，再看指标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永远先看混淆矩阵，再看单个数字——顺序反了就容易被骗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① 数出矩阵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from sklearn.metrics import confusion_matrix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numpy as np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cm = confusion_matrix(y_true, y_pred, labels=[0, 1])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tn, fp, fn, tp = cm.ravel()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print(cm)                       # 先看这张表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[[990   0]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 [ 10   0]]   &lt;- 10 个缺陷全判成正常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acc = (tp + tn) / cm.sum()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prec = tp / (tp + fp) if tp + fp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rec  = tp / (tp + fn) if tp + fn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f1   = 2 * prec * rec / (prec + rec) if prec + rec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print(f'acc={acc:.3f} prec={prec:.3f} rec={rec:.3f} f1={f1:.3f}')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acc=0.990 prec=0.000 rec=0.000 f1=0.000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② 精确率与召回率的取舍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同一批预测分数，换阈值就换一套指标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for t in (0.3, 0.5, 0.7, 0.9):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yp = (probs &gt;= t).astype(int)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tn, fp, fn, tp = confusion_matrix(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y_true, yp, labels=[0, 1]).ravel()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 = tp / (tp + fp) if tp + fp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 = tp / (tp + fn) if tp + fn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print(f't={t}  P={p:.3f}  R={r:.3f}')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t=0.3  P=0.42  R=0.91   &lt;- 阈值低，抓得多也报得多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t=0.5  P=0.61  R=0.74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t=0.7  P=0.80  R=0.48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t=0.9  P=0.95  R=0.17   &lt;- 阈值高，准但漏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没有免费的午餐：P 与 R 此消彼长，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选哪个点取决于你把代价放在哪一侧。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41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阈值本身也是一个要「按代价选」的超参数——不要默认 0.5。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指标选择：把代价翻译成公式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每类指标对应一种「你更怕哪种错」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3327240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3327240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漏报代价高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看召回率（Recall）= TP / (TP + FN)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宁可误报，不可漏报：安全告警、疾病筛查、缺陷拦截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代价：误报上升，复检工时增加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必要时加人工复核环节，把 FP 挡在最后一道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440" y="1170000"/>
            <a:ext cx="3327240" cy="4104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440" y="1170000"/>
            <a:ext cx="3327240" cy="54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844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误报代价高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440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看精确率（Precision）= TP / (TP + FP)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不能打扰用户：垃圾邮件拦截、自动推荐、自动处置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代价：漏掉一部分真目标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把阈值调高即可换到高精确率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679" y="1170000"/>
            <a:ext cx="3327240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679" y="1170000"/>
            <a:ext cx="3327240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1679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两者都要，比例固定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679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看 F1 = 2PR / (P + R)，调和平均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调和平均会被短板拖住：P 或 R 有一个很低，F1 就上不去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适合在数据不平衡且两类错误都不可忽视时汇报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排序能力看 AUC / PR-AUC；代价不对称时用代价加权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汇报时给一个数字是不够的：写清「在什么阈值下、哪个类别的 P/R、类别比例多少」，否则无法被别人复核。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评估协议：数字可不可信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一个算错的数据划分，能让模型的成绩凭空涨 20 个百分点。
这不是模型变好了，是你把答案提前告诉了它。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先划分，后处理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标准化/增强只在训练集上拟合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测试集只碰一次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用它调参就不再是测试集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小数据用 K 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一次划分的运气成分太大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三段式划分：各司其职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70 / 15 / 15 —— 谁都不能越界干活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2015999"/>
            <a:ext cx="7372404" cy="111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2214000"/>
            <a:ext cx="7372404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" y="2527200"/>
            <a:ext cx="737240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200" y="3330000"/>
            <a:ext cx="7055604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模型参数在这里更新。只会越拟合越好，所以它自己的分数永远不能当成绩。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4804" y="2015999"/>
            <a:ext cx="1545857" cy="1116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4804" y="2214000"/>
            <a:ext cx="1545857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验证集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804" y="2527200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804" y="3330000"/>
            <a:ext cx="1229057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超参数、阈值、早停的决策依据。你可以多次用它，但每用一次就多一分过拟合的风险。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03862" y="2015999"/>
            <a:ext cx="1545857" cy="111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3862" y="2214000"/>
            <a:ext cx="1545857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测试集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3862" y="2527200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3862" y="3330000"/>
            <a:ext cx="1229057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上锁。只在全部决策定稿后跑一次，得到唯一的最终数字。看过它就不能再回头调参。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4392000"/>
            <a:ext cx="105937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E3F8C"/>
                </a:solidFill>
                <a:latin typeface="Source Han Sans SC"/>
              </a:rPr>
              <a:t>本课程的实验 5 就按 70/15/15 分层划分、并在 5 个随机种子上重复——单次划分的结果我们不当作结论。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三个会让分数虚高的典型错误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它们的共同点是：答案在评估之前就泄露出去了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4320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32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91C1C"/>
                </a:solidFill>
                <a:latin typeface="Source Han Sans SC"/>
              </a:rPr>
              <a:t>数据泄漏（Data Leakage）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wrong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错误顺序：先对全量数据标准化 / 过采样 / 增强，再划分。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后果：验证集的均值与方差里，掺进了验证集自己的信息。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典型症状：验证准确率 0.99，换一批真实数据掉到 0.7。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正确顺序：先划分 → 只用训练集拟合预处理 → 再 transform 验证/测试集。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4320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432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45309"/>
                </a:solidFill>
                <a:latin typeface="Source Han Sans SC"/>
              </a:rPr>
              <a:t>用测试集调参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peeking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做法：看测试集结果 → 改学习率 → 再看 → 再改……循环 20 次。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后果：测试集被当成了验证集，你报出的数字是「挑出来的最好一次」。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本质：每看一次测试集，它就少了一次独立的证据价值。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本课程要求：测试集结果只出现在最终提交里，且附上这之前的所有决策记录。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432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不重复、不设种子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noise as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只跑一次、只看一个随机种子，然后把 1 个百分点的差异当成「方法更优」。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后果：验证集只有几百个样本时，1 个百分点可能就等于 2 个样本的运气。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本周实测中，同一个改动在不同种子下的波动达到 ±3 个百分点。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正确做法：至少 3–5 个种子，报告均值 ± 标准差，并说明结论是否稳定。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K 折交叉验证：小数据时的更稳做法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同一份数据，轮流当验证集，取平均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16848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第 1 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7199" y="15840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7199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7679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7679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8159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8159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640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640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9120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9120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23112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第 2 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7199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87199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37679" y="22104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7679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8159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8159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640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640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9120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9120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200" y="29376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第 3 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87199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87199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37679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7679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88159" y="28368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88159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验证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38640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640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9120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9120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200" y="35640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第 4 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7199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87199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37679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37679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88159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88159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38640" y="34632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38640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验证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9120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9120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9200" y="4190399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E3F8C"/>
                </a:solidFill>
                <a:latin typeface="Source Han Sans SC"/>
              </a:rPr>
              <a:t>第 5 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87199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87199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37679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7679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88159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88159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38640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38640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训练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9120" y="40896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89120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验证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1656000"/>
            <a:ext cx="4077719" cy="3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每一折轮流当验证集，训练 K 次，得到 K 个分数。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报告「均值 ± 标准差」，把划分运气显式地写出来。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代价：训练时间是单次的 K 倍。数据够多时不必用。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类别不平衡时必须用分层 K 折（StratifiedKFold）。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本课程要求：实验报告需给出「是否跨种子/跨折稳定」的说明。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9200" y="4968000"/>
            <a:ext cx="1059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B7280"/>
                </a:solidFill>
                <a:latin typeface="Source Han Sans SC"/>
              </a:rPr>
              <a:t>K 折不是为了让分数更高，而是为了让「分数不确定性」被看见。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偏差-方差：按证据诊断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不要「感觉好像过拟合了」。
过拟合有且只有一个可靠的证据：训练损失还在降，验证损失已经开始升。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看损失，不看准确率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准确率有天花板，会掩盖退化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成对读数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训练与验证必须画在同一张图上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诊断先于开药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欠拟合和过拟合的对策相反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先认形状：欠拟合 / 刚好 / 过拟合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这三张图只画形状，不声称任何数值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00" y="1188000"/>
            <a:ext cx="3303240" cy="43920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400" y="1382400"/>
            <a:ext cx="2712840" cy="384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欠拟合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400" y="1709024"/>
            <a:ext cx="2712840" cy="3175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两条线都高、都平、贴在一起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4400" y="4720125"/>
            <a:ext cx="2540040" cy="0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94400" y="2318174"/>
            <a:ext cx="0" cy="2401951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3594840" y="4648125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022400" y="2206574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94400" y="2642006"/>
            <a:ext cx="2604840" cy="420572"/>
          </a:xfrm>
          <a:custGeom>
            <a:avLst/>
            <a:gdLst/>
            <a:ahLst/>
            <a:cxnLst/>
            <a:rect l="l" t="t" r="r" b="b"/>
            <a:pathLst>
              <a:path w="2604840" h="420572">
                <a:moveTo>
                  <a:pt x="0" y="0"/>
                </a:moveTo>
                <a:lnTo>
                  <a:pt x="43414" y="7009"/>
                </a:lnTo>
                <a:lnTo>
                  <a:pt x="86828" y="14019"/>
                </a:lnTo>
                <a:lnTo>
                  <a:pt x="130242" y="21029"/>
                </a:lnTo>
                <a:lnTo>
                  <a:pt x="173656" y="28038"/>
                </a:lnTo>
                <a:lnTo>
                  <a:pt x="217070" y="35048"/>
                </a:lnTo>
                <a:lnTo>
                  <a:pt x="260484" y="42057"/>
                </a:lnTo>
                <a:lnTo>
                  <a:pt x="303898" y="49067"/>
                </a:lnTo>
                <a:lnTo>
                  <a:pt x="347312" y="56076"/>
                </a:lnTo>
                <a:lnTo>
                  <a:pt x="390726" y="63086"/>
                </a:lnTo>
                <a:lnTo>
                  <a:pt x="434140" y="70095"/>
                </a:lnTo>
                <a:lnTo>
                  <a:pt x="477554" y="77105"/>
                </a:lnTo>
                <a:lnTo>
                  <a:pt x="520968" y="84114"/>
                </a:lnTo>
                <a:lnTo>
                  <a:pt x="564382" y="91124"/>
                </a:lnTo>
                <a:lnTo>
                  <a:pt x="607796" y="98133"/>
                </a:lnTo>
                <a:lnTo>
                  <a:pt x="651210" y="105143"/>
                </a:lnTo>
                <a:lnTo>
                  <a:pt x="694624" y="112152"/>
                </a:lnTo>
                <a:lnTo>
                  <a:pt x="738038" y="119162"/>
                </a:lnTo>
                <a:lnTo>
                  <a:pt x="781452" y="126171"/>
                </a:lnTo>
                <a:lnTo>
                  <a:pt x="824866" y="133181"/>
                </a:lnTo>
                <a:lnTo>
                  <a:pt x="868280" y="140190"/>
                </a:lnTo>
                <a:lnTo>
                  <a:pt x="911694" y="147200"/>
                </a:lnTo>
                <a:lnTo>
                  <a:pt x="955108" y="154210"/>
                </a:lnTo>
                <a:lnTo>
                  <a:pt x="998522" y="161219"/>
                </a:lnTo>
                <a:lnTo>
                  <a:pt x="1041936" y="168229"/>
                </a:lnTo>
                <a:lnTo>
                  <a:pt x="1085350" y="175238"/>
                </a:lnTo>
                <a:lnTo>
                  <a:pt x="1128764" y="182248"/>
                </a:lnTo>
                <a:lnTo>
                  <a:pt x="1172178" y="189257"/>
                </a:lnTo>
                <a:lnTo>
                  <a:pt x="1215592" y="196267"/>
                </a:lnTo>
                <a:lnTo>
                  <a:pt x="1259006" y="203276"/>
                </a:lnTo>
                <a:lnTo>
                  <a:pt x="1302420" y="210286"/>
                </a:lnTo>
                <a:lnTo>
                  <a:pt x="1345834" y="217295"/>
                </a:lnTo>
                <a:lnTo>
                  <a:pt x="1389248" y="224305"/>
                </a:lnTo>
                <a:lnTo>
                  <a:pt x="1432662" y="231314"/>
                </a:lnTo>
                <a:lnTo>
                  <a:pt x="1476076" y="238324"/>
                </a:lnTo>
                <a:lnTo>
                  <a:pt x="1519490" y="245333"/>
                </a:lnTo>
                <a:lnTo>
                  <a:pt x="1562904" y="252343"/>
                </a:lnTo>
                <a:lnTo>
                  <a:pt x="1606318" y="259352"/>
                </a:lnTo>
                <a:lnTo>
                  <a:pt x="1649732" y="266362"/>
                </a:lnTo>
                <a:lnTo>
                  <a:pt x="1693146" y="273372"/>
                </a:lnTo>
                <a:lnTo>
                  <a:pt x="1736560" y="280381"/>
                </a:lnTo>
                <a:lnTo>
                  <a:pt x="1779974" y="287391"/>
                </a:lnTo>
                <a:lnTo>
                  <a:pt x="1823387" y="294400"/>
                </a:lnTo>
                <a:lnTo>
                  <a:pt x="1866802" y="301410"/>
                </a:lnTo>
                <a:lnTo>
                  <a:pt x="1910215" y="308419"/>
                </a:lnTo>
                <a:lnTo>
                  <a:pt x="1953630" y="315429"/>
                </a:lnTo>
                <a:lnTo>
                  <a:pt x="1997043" y="322438"/>
                </a:lnTo>
                <a:lnTo>
                  <a:pt x="2040458" y="329448"/>
                </a:lnTo>
                <a:lnTo>
                  <a:pt x="2083871" y="336457"/>
                </a:lnTo>
                <a:lnTo>
                  <a:pt x="2127286" y="343467"/>
                </a:lnTo>
                <a:lnTo>
                  <a:pt x="2170699" y="350476"/>
                </a:lnTo>
                <a:lnTo>
                  <a:pt x="2214114" y="357486"/>
                </a:lnTo>
                <a:lnTo>
                  <a:pt x="2257528" y="364495"/>
                </a:lnTo>
                <a:lnTo>
                  <a:pt x="2300942" y="371505"/>
                </a:lnTo>
                <a:lnTo>
                  <a:pt x="2344356" y="378514"/>
                </a:lnTo>
                <a:lnTo>
                  <a:pt x="2387770" y="385524"/>
                </a:lnTo>
                <a:lnTo>
                  <a:pt x="2431184" y="392534"/>
                </a:lnTo>
                <a:lnTo>
                  <a:pt x="2474598" y="399543"/>
                </a:lnTo>
                <a:lnTo>
                  <a:pt x="2518012" y="406553"/>
                </a:lnTo>
                <a:lnTo>
                  <a:pt x="2561426" y="413562"/>
                </a:lnTo>
                <a:lnTo>
                  <a:pt x="2604840" y="420572"/>
                </a:lnTo>
              </a:path>
            </a:pathLst>
          </a:custGeom>
          <a:noFill/>
          <a:ln w="304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94400" y="2543048"/>
            <a:ext cx="2604840" cy="395832"/>
          </a:xfrm>
          <a:custGeom>
            <a:avLst/>
            <a:gdLst/>
            <a:ahLst/>
            <a:cxnLst/>
            <a:rect l="l" t="t" r="r" b="b"/>
            <a:pathLst>
              <a:path w="2604840" h="395832">
                <a:moveTo>
                  <a:pt x="0" y="0"/>
                </a:moveTo>
                <a:lnTo>
                  <a:pt x="43414" y="6597"/>
                </a:lnTo>
                <a:lnTo>
                  <a:pt x="86828" y="13194"/>
                </a:lnTo>
                <a:lnTo>
                  <a:pt x="130242" y="19791"/>
                </a:lnTo>
                <a:lnTo>
                  <a:pt x="173656" y="26389"/>
                </a:lnTo>
                <a:lnTo>
                  <a:pt x="217070" y="32986"/>
                </a:lnTo>
                <a:lnTo>
                  <a:pt x="260484" y="39583"/>
                </a:lnTo>
                <a:lnTo>
                  <a:pt x="303898" y="46180"/>
                </a:lnTo>
                <a:lnTo>
                  <a:pt x="347312" y="52778"/>
                </a:lnTo>
                <a:lnTo>
                  <a:pt x="390726" y="59375"/>
                </a:lnTo>
                <a:lnTo>
                  <a:pt x="434140" y="65972"/>
                </a:lnTo>
                <a:lnTo>
                  <a:pt x="477554" y="72569"/>
                </a:lnTo>
                <a:lnTo>
                  <a:pt x="520968" y="79166"/>
                </a:lnTo>
                <a:lnTo>
                  <a:pt x="564382" y="85764"/>
                </a:lnTo>
                <a:lnTo>
                  <a:pt x="607796" y="92361"/>
                </a:lnTo>
                <a:lnTo>
                  <a:pt x="651210" y="98958"/>
                </a:lnTo>
                <a:lnTo>
                  <a:pt x="694624" y="105555"/>
                </a:lnTo>
                <a:lnTo>
                  <a:pt x="738038" y="112152"/>
                </a:lnTo>
                <a:lnTo>
                  <a:pt x="781452" y="118750"/>
                </a:lnTo>
                <a:lnTo>
                  <a:pt x="824866" y="125347"/>
                </a:lnTo>
                <a:lnTo>
                  <a:pt x="868280" y="131944"/>
                </a:lnTo>
                <a:lnTo>
                  <a:pt x="911694" y="138541"/>
                </a:lnTo>
                <a:lnTo>
                  <a:pt x="955108" y="145138"/>
                </a:lnTo>
                <a:lnTo>
                  <a:pt x="998522" y="151736"/>
                </a:lnTo>
                <a:lnTo>
                  <a:pt x="1041936" y="158333"/>
                </a:lnTo>
                <a:lnTo>
                  <a:pt x="1085350" y="164930"/>
                </a:lnTo>
                <a:lnTo>
                  <a:pt x="1128764" y="171527"/>
                </a:lnTo>
                <a:lnTo>
                  <a:pt x="1172178" y="178124"/>
                </a:lnTo>
                <a:lnTo>
                  <a:pt x="1215592" y="184722"/>
                </a:lnTo>
                <a:lnTo>
                  <a:pt x="1259006" y="191319"/>
                </a:lnTo>
                <a:lnTo>
                  <a:pt x="1302420" y="197916"/>
                </a:lnTo>
                <a:lnTo>
                  <a:pt x="1345834" y="204513"/>
                </a:lnTo>
                <a:lnTo>
                  <a:pt x="1389248" y="211110"/>
                </a:lnTo>
                <a:lnTo>
                  <a:pt x="1432662" y="217708"/>
                </a:lnTo>
                <a:lnTo>
                  <a:pt x="1476076" y="224305"/>
                </a:lnTo>
                <a:lnTo>
                  <a:pt x="1519490" y="230902"/>
                </a:lnTo>
                <a:lnTo>
                  <a:pt x="1562904" y="237499"/>
                </a:lnTo>
                <a:lnTo>
                  <a:pt x="1606318" y="244096"/>
                </a:lnTo>
                <a:lnTo>
                  <a:pt x="1649732" y="250694"/>
                </a:lnTo>
                <a:lnTo>
                  <a:pt x="1693146" y="257291"/>
                </a:lnTo>
                <a:lnTo>
                  <a:pt x="1736560" y="263888"/>
                </a:lnTo>
                <a:lnTo>
                  <a:pt x="1779974" y="270485"/>
                </a:lnTo>
                <a:lnTo>
                  <a:pt x="1823387" y="277082"/>
                </a:lnTo>
                <a:lnTo>
                  <a:pt x="1866802" y="283680"/>
                </a:lnTo>
                <a:lnTo>
                  <a:pt x="1910215" y="290277"/>
                </a:lnTo>
                <a:lnTo>
                  <a:pt x="1953630" y="296874"/>
                </a:lnTo>
                <a:lnTo>
                  <a:pt x="1997043" y="303471"/>
                </a:lnTo>
                <a:lnTo>
                  <a:pt x="2040458" y="310068"/>
                </a:lnTo>
                <a:lnTo>
                  <a:pt x="2083871" y="316666"/>
                </a:lnTo>
                <a:lnTo>
                  <a:pt x="2127286" y="323263"/>
                </a:lnTo>
                <a:lnTo>
                  <a:pt x="2170699" y="329860"/>
                </a:lnTo>
                <a:lnTo>
                  <a:pt x="2214114" y="336457"/>
                </a:lnTo>
                <a:lnTo>
                  <a:pt x="2257528" y="343054"/>
                </a:lnTo>
                <a:lnTo>
                  <a:pt x="2300942" y="349652"/>
                </a:lnTo>
                <a:lnTo>
                  <a:pt x="2344356" y="356249"/>
                </a:lnTo>
                <a:lnTo>
                  <a:pt x="2387770" y="362846"/>
                </a:lnTo>
                <a:lnTo>
                  <a:pt x="2431184" y="369443"/>
                </a:lnTo>
                <a:lnTo>
                  <a:pt x="2474598" y="376040"/>
                </a:lnTo>
                <a:lnTo>
                  <a:pt x="2518012" y="382638"/>
                </a:lnTo>
                <a:lnTo>
                  <a:pt x="2561426" y="389235"/>
                </a:lnTo>
                <a:lnTo>
                  <a:pt x="2604840" y="395832"/>
                </a:lnTo>
              </a:path>
            </a:pathLst>
          </a:custGeom>
          <a:noFill/>
          <a:ln w="3048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4400" y="4777725"/>
            <a:ext cx="260484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训练过程 (epoch) →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4400" y="5072925"/>
            <a:ext cx="198000" cy="0"/>
          </a:xfrm>
          <a:prstGeom prst="line">
            <a:avLst/>
          </a:prstGeom>
          <a:ln w="33020">
            <a:solidFill>
              <a:srgbClr val="1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46400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训练集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50820" y="5072925"/>
            <a:ext cx="198000" cy="0"/>
          </a:xfrm>
          <a:prstGeom prst="line">
            <a:avLst/>
          </a:prstGeom>
          <a:ln w="33020">
            <a:solidFill>
              <a:srgbClr val="D9770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02820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验证集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4400" y="5224125"/>
            <a:ext cx="27128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还没学会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4440" y="1188000"/>
            <a:ext cx="3303240" cy="43920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9640" y="1382400"/>
            <a:ext cx="2712840" cy="384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刚好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9640" y="1709024"/>
            <a:ext cx="2712840" cy="3175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两条线都降下来，留一条稳定的缝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39640" y="4720125"/>
            <a:ext cx="2540040" cy="0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39640" y="2318174"/>
            <a:ext cx="0" cy="2401951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240080" y="4648125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4667640" y="2206574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739640" y="2320392"/>
            <a:ext cx="2604840" cy="2213846"/>
          </a:xfrm>
          <a:custGeom>
            <a:avLst/>
            <a:gdLst/>
            <a:ahLst/>
            <a:cxnLst/>
            <a:rect l="l" t="t" r="r" b="b"/>
            <a:pathLst>
              <a:path w="2604840" h="2213846">
                <a:moveTo>
                  <a:pt x="0" y="0"/>
                </a:moveTo>
                <a:lnTo>
                  <a:pt x="43414" y="132546"/>
                </a:lnTo>
                <a:lnTo>
                  <a:pt x="86828" y="257373"/>
                </a:lnTo>
                <a:lnTo>
                  <a:pt x="130242" y="374931"/>
                </a:lnTo>
                <a:lnTo>
                  <a:pt x="173656" y="485643"/>
                </a:lnTo>
                <a:lnTo>
                  <a:pt x="217070" y="589907"/>
                </a:lnTo>
                <a:lnTo>
                  <a:pt x="260484" y="688100"/>
                </a:lnTo>
                <a:lnTo>
                  <a:pt x="303898" y="780574"/>
                </a:lnTo>
                <a:lnTo>
                  <a:pt x="347312" y="867663"/>
                </a:lnTo>
                <a:lnTo>
                  <a:pt x="390726" y="949680"/>
                </a:lnTo>
                <a:lnTo>
                  <a:pt x="434140" y="1026921"/>
                </a:lnTo>
                <a:lnTo>
                  <a:pt x="477554" y="1099664"/>
                </a:lnTo>
                <a:lnTo>
                  <a:pt x="520968" y="1168170"/>
                </a:lnTo>
                <a:lnTo>
                  <a:pt x="564382" y="1232687"/>
                </a:lnTo>
                <a:lnTo>
                  <a:pt x="607796" y="1293447"/>
                </a:lnTo>
                <a:lnTo>
                  <a:pt x="651210" y="1350669"/>
                </a:lnTo>
                <a:lnTo>
                  <a:pt x="694624" y="1404558"/>
                </a:lnTo>
                <a:lnTo>
                  <a:pt x="738038" y="1455309"/>
                </a:lnTo>
                <a:lnTo>
                  <a:pt x="781452" y="1503104"/>
                </a:lnTo>
                <a:lnTo>
                  <a:pt x="824866" y="1548116"/>
                </a:lnTo>
                <a:lnTo>
                  <a:pt x="868280" y="1590507"/>
                </a:lnTo>
                <a:lnTo>
                  <a:pt x="911694" y="1630429"/>
                </a:lnTo>
                <a:lnTo>
                  <a:pt x="955108" y="1668026"/>
                </a:lnTo>
                <a:lnTo>
                  <a:pt x="998522" y="1703434"/>
                </a:lnTo>
                <a:lnTo>
                  <a:pt x="1041936" y="1736779"/>
                </a:lnTo>
                <a:lnTo>
                  <a:pt x="1085349" y="1768183"/>
                </a:lnTo>
                <a:lnTo>
                  <a:pt x="1128764" y="1797758"/>
                </a:lnTo>
                <a:lnTo>
                  <a:pt x="1172178" y="1825611"/>
                </a:lnTo>
                <a:lnTo>
                  <a:pt x="1215592" y="1851842"/>
                </a:lnTo>
                <a:lnTo>
                  <a:pt x="1259005" y="1876545"/>
                </a:lnTo>
                <a:lnTo>
                  <a:pt x="1302420" y="1899809"/>
                </a:lnTo>
                <a:lnTo>
                  <a:pt x="1345834" y="1921719"/>
                </a:lnTo>
                <a:lnTo>
                  <a:pt x="1389248" y="1942353"/>
                </a:lnTo>
                <a:lnTo>
                  <a:pt x="1432662" y="1961785"/>
                </a:lnTo>
                <a:lnTo>
                  <a:pt x="1476076" y="1980085"/>
                </a:lnTo>
                <a:lnTo>
                  <a:pt x="1519490" y="1997320"/>
                </a:lnTo>
                <a:lnTo>
                  <a:pt x="1562904" y="2013551"/>
                </a:lnTo>
                <a:lnTo>
                  <a:pt x="1606317" y="2028837"/>
                </a:lnTo>
                <a:lnTo>
                  <a:pt x="1649732" y="2043233"/>
                </a:lnTo>
                <a:lnTo>
                  <a:pt x="1693146" y="2056790"/>
                </a:lnTo>
                <a:lnTo>
                  <a:pt x="1736560" y="2069558"/>
                </a:lnTo>
                <a:lnTo>
                  <a:pt x="1779973" y="2081582"/>
                </a:lnTo>
                <a:lnTo>
                  <a:pt x="1823388" y="2092906"/>
                </a:lnTo>
                <a:lnTo>
                  <a:pt x="1866802" y="2103571"/>
                </a:lnTo>
                <a:lnTo>
                  <a:pt x="1910216" y="2113615"/>
                </a:lnTo>
                <a:lnTo>
                  <a:pt x="1953629" y="2123073"/>
                </a:lnTo>
                <a:lnTo>
                  <a:pt x="1997044" y="2131981"/>
                </a:lnTo>
                <a:lnTo>
                  <a:pt x="2040458" y="2140370"/>
                </a:lnTo>
                <a:lnTo>
                  <a:pt x="2083872" y="2148271"/>
                </a:lnTo>
                <a:lnTo>
                  <a:pt x="2127285" y="2155711"/>
                </a:lnTo>
                <a:lnTo>
                  <a:pt x="2170700" y="2162718"/>
                </a:lnTo>
                <a:lnTo>
                  <a:pt x="2214114" y="2169317"/>
                </a:lnTo>
                <a:lnTo>
                  <a:pt x="2257528" y="2175532"/>
                </a:lnTo>
                <a:lnTo>
                  <a:pt x="2300941" y="2181385"/>
                </a:lnTo>
                <a:lnTo>
                  <a:pt x="2344356" y="2186897"/>
                </a:lnTo>
                <a:lnTo>
                  <a:pt x="2387770" y="2192088"/>
                </a:lnTo>
                <a:lnTo>
                  <a:pt x="2431184" y="2196977"/>
                </a:lnTo>
                <a:lnTo>
                  <a:pt x="2474597" y="2201581"/>
                </a:lnTo>
                <a:lnTo>
                  <a:pt x="2518012" y="2205917"/>
                </a:lnTo>
                <a:lnTo>
                  <a:pt x="2561426" y="2210000"/>
                </a:lnTo>
                <a:lnTo>
                  <a:pt x="2604840" y="2213846"/>
                </a:lnTo>
              </a:path>
            </a:pathLst>
          </a:custGeom>
          <a:noFill/>
          <a:ln w="304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739640" y="2295653"/>
            <a:ext cx="2604840" cy="2088334"/>
          </a:xfrm>
          <a:custGeom>
            <a:avLst/>
            <a:gdLst/>
            <a:ahLst/>
            <a:cxnLst/>
            <a:rect l="l" t="t" r="r" b="b"/>
            <a:pathLst>
              <a:path w="2604840" h="2088334">
                <a:moveTo>
                  <a:pt x="0" y="0"/>
                </a:moveTo>
                <a:lnTo>
                  <a:pt x="43414" y="113069"/>
                </a:lnTo>
                <a:lnTo>
                  <a:pt x="86828" y="220265"/>
                </a:lnTo>
                <a:lnTo>
                  <a:pt x="130242" y="321894"/>
                </a:lnTo>
                <a:lnTo>
                  <a:pt x="173656" y="418245"/>
                </a:lnTo>
                <a:lnTo>
                  <a:pt x="217070" y="509592"/>
                </a:lnTo>
                <a:lnTo>
                  <a:pt x="260484" y="596194"/>
                </a:lnTo>
                <a:lnTo>
                  <a:pt x="303898" y="678299"/>
                </a:lnTo>
                <a:lnTo>
                  <a:pt x="347312" y="756140"/>
                </a:lnTo>
                <a:lnTo>
                  <a:pt x="390726" y="829938"/>
                </a:lnTo>
                <a:lnTo>
                  <a:pt x="434140" y="899903"/>
                </a:lnTo>
                <a:lnTo>
                  <a:pt x="477554" y="966234"/>
                </a:lnTo>
                <a:lnTo>
                  <a:pt x="520968" y="1029121"/>
                </a:lnTo>
                <a:lnTo>
                  <a:pt x="564382" y="1088741"/>
                </a:lnTo>
                <a:lnTo>
                  <a:pt x="607796" y="1145265"/>
                </a:lnTo>
                <a:lnTo>
                  <a:pt x="651210" y="1198853"/>
                </a:lnTo>
                <a:lnTo>
                  <a:pt x="694624" y="1249658"/>
                </a:lnTo>
                <a:lnTo>
                  <a:pt x="738038" y="1297825"/>
                </a:lnTo>
                <a:lnTo>
                  <a:pt x="781452" y="1343489"/>
                </a:lnTo>
                <a:lnTo>
                  <a:pt x="824866" y="1386783"/>
                </a:lnTo>
                <a:lnTo>
                  <a:pt x="868280" y="1427827"/>
                </a:lnTo>
                <a:lnTo>
                  <a:pt x="911694" y="1466741"/>
                </a:lnTo>
                <a:lnTo>
                  <a:pt x="955108" y="1503633"/>
                </a:lnTo>
                <a:lnTo>
                  <a:pt x="998522" y="1538609"/>
                </a:lnTo>
                <a:lnTo>
                  <a:pt x="1041936" y="1571768"/>
                </a:lnTo>
                <a:lnTo>
                  <a:pt x="1085349" y="1603205"/>
                </a:lnTo>
                <a:lnTo>
                  <a:pt x="1128764" y="1633010"/>
                </a:lnTo>
                <a:lnTo>
                  <a:pt x="1172178" y="1661267"/>
                </a:lnTo>
                <a:lnTo>
                  <a:pt x="1215592" y="1688056"/>
                </a:lnTo>
                <a:lnTo>
                  <a:pt x="1259005" y="1713454"/>
                </a:lnTo>
                <a:lnTo>
                  <a:pt x="1302420" y="1737532"/>
                </a:lnTo>
                <a:lnTo>
                  <a:pt x="1345834" y="1760361"/>
                </a:lnTo>
                <a:lnTo>
                  <a:pt x="1389248" y="1782003"/>
                </a:lnTo>
                <a:lnTo>
                  <a:pt x="1432662" y="1802522"/>
                </a:lnTo>
                <a:lnTo>
                  <a:pt x="1476076" y="1821975"/>
                </a:lnTo>
                <a:lnTo>
                  <a:pt x="1519490" y="1840417"/>
                </a:lnTo>
                <a:lnTo>
                  <a:pt x="1562904" y="1857902"/>
                </a:lnTo>
                <a:lnTo>
                  <a:pt x="1606317" y="1874479"/>
                </a:lnTo>
                <a:lnTo>
                  <a:pt x="1649732" y="1890195"/>
                </a:lnTo>
                <a:lnTo>
                  <a:pt x="1693146" y="1905094"/>
                </a:lnTo>
                <a:lnTo>
                  <a:pt x="1736560" y="1919220"/>
                </a:lnTo>
                <a:lnTo>
                  <a:pt x="1779973" y="1932612"/>
                </a:lnTo>
                <a:lnTo>
                  <a:pt x="1823388" y="1945308"/>
                </a:lnTo>
                <a:lnTo>
                  <a:pt x="1866802" y="1957346"/>
                </a:lnTo>
                <a:lnTo>
                  <a:pt x="1910216" y="1968757"/>
                </a:lnTo>
                <a:lnTo>
                  <a:pt x="1953629" y="1979577"/>
                </a:lnTo>
                <a:lnTo>
                  <a:pt x="1997044" y="1989834"/>
                </a:lnTo>
                <a:lnTo>
                  <a:pt x="2040458" y="1999559"/>
                </a:lnTo>
                <a:lnTo>
                  <a:pt x="2083872" y="2008778"/>
                </a:lnTo>
                <a:lnTo>
                  <a:pt x="2127285" y="2017519"/>
                </a:lnTo>
                <a:lnTo>
                  <a:pt x="2170700" y="2025806"/>
                </a:lnTo>
                <a:lnTo>
                  <a:pt x="2214114" y="2033662"/>
                </a:lnTo>
                <a:lnTo>
                  <a:pt x="2257528" y="2041111"/>
                </a:lnTo>
                <a:lnTo>
                  <a:pt x="2300941" y="2048172"/>
                </a:lnTo>
                <a:lnTo>
                  <a:pt x="2344356" y="2054867"/>
                </a:lnTo>
                <a:lnTo>
                  <a:pt x="2387770" y="2061214"/>
                </a:lnTo>
                <a:lnTo>
                  <a:pt x="2431184" y="2067232"/>
                </a:lnTo>
                <a:lnTo>
                  <a:pt x="2474597" y="2072936"/>
                </a:lnTo>
                <a:lnTo>
                  <a:pt x="2518012" y="2078345"/>
                </a:lnTo>
                <a:lnTo>
                  <a:pt x="2561426" y="2083473"/>
                </a:lnTo>
                <a:lnTo>
                  <a:pt x="2604840" y="2088334"/>
                </a:lnTo>
              </a:path>
            </a:pathLst>
          </a:custGeom>
          <a:noFill/>
          <a:ln w="3048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9640" y="4777725"/>
            <a:ext cx="260484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训练过程 (epoch) →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39640" y="5072925"/>
            <a:ext cx="198000" cy="0"/>
          </a:xfrm>
          <a:prstGeom prst="line">
            <a:avLst/>
          </a:prstGeom>
          <a:ln w="33020">
            <a:solidFill>
              <a:srgbClr val="1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1640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训练集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59" y="5072925"/>
            <a:ext cx="198001" cy="0"/>
          </a:xfrm>
          <a:prstGeom prst="line">
            <a:avLst/>
          </a:prstGeom>
          <a:ln w="33020">
            <a:solidFill>
              <a:srgbClr val="D9770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48059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验证集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9640" y="5224125"/>
            <a:ext cx="27128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059669"/>
                </a:solidFill>
                <a:latin typeface="Source Han Sans SC"/>
              </a:rPr>
              <a:t>缝不再变大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9679" y="1188000"/>
            <a:ext cx="3303240" cy="43920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4879" y="1382400"/>
            <a:ext cx="2712840" cy="384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过拟合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4879" y="1709024"/>
            <a:ext cx="2712840" cy="3175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训练线继续降，验证线掉头向上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84879" y="4720125"/>
            <a:ext cx="2540041" cy="0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384879" y="2318174"/>
            <a:ext cx="0" cy="2401951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10885320" y="4648125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12879" y="2206574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4879" y="2308023"/>
            <a:ext cx="2604841" cy="2345834"/>
          </a:xfrm>
          <a:custGeom>
            <a:avLst/>
            <a:gdLst/>
            <a:ahLst/>
            <a:cxnLst/>
            <a:rect l="l" t="t" r="r" b="b"/>
            <a:pathLst>
              <a:path w="2604841" h="2345834">
                <a:moveTo>
                  <a:pt x="0" y="0"/>
                </a:moveTo>
                <a:lnTo>
                  <a:pt x="43415" y="167933"/>
                </a:lnTo>
                <a:lnTo>
                  <a:pt x="86828" y="323992"/>
                </a:lnTo>
                <a:lnTo>
                  <a:pt x="130242" y="469016"/>
                </a:lnTo>
                <a:lnTo>
                  <a:pt x="173656" y="603786"/>
                </a:lnTo>
                <a:lnTo>
                  <a:pt x="217071" y="729026"/>
                </a:lnTo>
                <a:lnTo>
                  <a:pt x="260484" y="845411"/>
                </a:lnTo>
                <a:lnTo>
                  <a:pt x="303898" y="953566"/>
                </a:lnTo>
                <a:lnTo>
                  <a:pt x="347312" y="1054073"/>
                </a:lnTo>
                <a:lnTo>
                  <a:pt x="390727" y="1147474"/>
                </a:lnTo>
                <a:lnTo>
                  <a:pt x="434140" y="1234271"/>
                </a:lnTo>
                <a:lnTo>
                  <a:pt x="477554" y="1314930"/>
                </a:lnTo>
                <a:lnTo>
                  <a:pt x="520968" y="1389886"/>
                </a:lnTo>
                <a:lnTo>
                  <a:pt x="564383" y="1459542"/>
                </a:lnTo>
                <a:lnTo>
                  <a:pt x="607796" y="1524273"/>
                </a:lnTo>
                <a:lnTo>
                  <a:pt x="651210" y="1584426"/>
                </a:lnTo>
                <a:lnTo>
                  <a:pt x="694624" y="1640326"/>
                </a:lnTo>
                <a:lnTo>
                  <a:pt x="738039" y="1692274"/>
                </a:lnTo>
                <a:lnTo>
                  <a:pt x="781452" y="1740548"/>
                </a:lnTo>
                <a:lnTo>
                  <a:pt x="824866" y="1785409"/>
                </a:lnTo>
                <a:lnTo>
                  <a:pt x="868280" y="1827098"/>
                </a:lnTo>
                <a:lnTo>
                  <a:pt x="911695" y="1865839"/>
                </a:lnTo>
                <a:lnTo>
                  <a:pt x="955108" y="1901841"/>
                </a:lnTo>
                <a:lnTo>
                  <a:pt x="998522" y="1935297"/>
                </a:lnTo>
                <a:lnTo>
                  <a:pt x="1041936" y="1966387"/>
                </a:lnTo>
                <a:lnTo>
                  <a:pt x="1085351" y="1995279"/>
                </a:lnTo>
                <a:lnTo>
                  <a:pt x="1128764" y="2022128"/>
                </a:lnTo>
                <a:lnTo>
                  <a:pt x="1172178" y="2047079"/>
                </a:lnTo>
                <a:lnTo>
                  <a:pt x="1215592" y="2070266"/>
                </a:lnTo>
                <a:lnTo>
                  <a:pt x="1259007" y="2091812"/>
                </a:lnTo>
                <a:lnTo>
                  <a:pt x="1302420" y="2111836"/>
                </a:lnTo>
                <a:lnTo>
                  <a:pt x="1345835" y="2130443"/>
                </a:lnTo>
                <a:lnTo>
                  <a:pt x="1389248" y="2147735"/>
                </a:lnTo>
                <a:lnTo>
                  <a:pt x="1432663" y="2163804"/>
                </a:lnTo>
                <a:lnTo>
                  <a:pt x="1476076" y="2178737"/>
                </a:lnTo>
                <a:lnTo>
                  <a:pt x="1519490" y="2192614"/>
                </a:lnTo>
                <a:lnTo>
                  <a:pt x="1562904" y="2205510"/>
                </a:lnTo>
                <a:lnTo>
                  <a:pt x="1606319" y="2217494"/>
                </a:lnTo>
                <a:lnTo>
                  <a:pt x="1649732" y="2228631"/>
                </a:lnTo>
                <a:lnTo>
                  <a:pt x="1693146" y="2238980"/>
                </a:lnTo>
                <a:lnTo>
                  <a:pt x="1736560" y="2248597"/>
                </a:lnTo>
                <a:lnTo>
                  <a:pt x="1779975" y="2257534"/>
                </a:lnTo>
                <a:lnTo>
                  <a:pt x="1823388" y="2265840"/>
                </a:lnTo>
                <a:lnTo>
                  <a:pt x="1866802" y="2273558"/>
                </a:lnTo>
                <a:lnTo>
                  <a:pt x="1910216" y="2280730"/>
                </a:lnTo>
                <a:lnTo>
                  <a:pt x="1953631" y="2287395"/>
                </a:lnTo>
                <a:lnTo>
                  <a:pt x="1997045" y="2293589"/>
                </a:lnTo>
                <a:lnTo>
                  <a:pt x="2040458" y="2299345"/>
                </a:lnTo>
                <a:lnTo>
                  <a:pt x="2083873" y="2304694"/>
                </a:lnTo>
                <a:lnTo>
                  <a:pt x="2127287" y="2309665"/>
                </a:lnTo>
                <a:lnTo>
                  <a:pt x="2170701" y="2314284"/>
                </a:lnTo>
                <a:lnTo>
                  <a:pt x="2214114" y="2318577"/>
                </a:lnTo>
                <a:lnTo>
                  <a:pt x="2257529" y="2322566"/>
                </a:lnTo>
                <a:lnTo>
                  <a:pt x="2300943" y="2326273"/>
                </a:lnTo>
                <a:lnTo>
                  <a:pt x="2344357" y="2329718"/>
                </a:lnTo>
                <a:lnTo>
                  <a:pt x="2387770" y="2332919"/>
                </a:lnTo>
                <a:lnTo>
                  <a:pt x="2431185" y="2335894"/>
                </a:lnTo>
                <a:lnTo>
                  <a:pt x="2474599" y="2338659"/>
                </a:lnTo>
                <a:lnTo>
                  <a:pt x="2518013" y="2341228"/>
                </a:lnTo>
                <a:lnTo>
                  <a:pt x="2561426" y="2343615"/>
                </a:lnTo>
                <a:lnTo>
                  <a:pt x="2604841" y="2345834"/>
                </a:lnTo>
              </a:path>
            </a:pathLst>
          </a:custGeom>
          <a:noFill/>
          <a:ln w="304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4879" y="2332762"/>
            <a:ext cx="2604841" cy="1691118"/>
          </a:xfrm>
          <a:custGeom>
            <a:avLst/>
            <a:gdLst/>
            <a:ahLst/>
            <a:cxnLst/>
            <a:rect l="l" t="t" r="r" b="b"/>
            <a:pathLst>
              <a:path w="2604841" h="1691118">
                <a:moveTo>
                  <a:pt x="0" y="0"/>
                </a:moveTo>
                <a:lnTo>
                  <a:pt x="43415" y="133589"/>
                </a:lnTo>
                <a:lnTo>
                  <a:pt x="86828" y="258901"/>
                </a:lnTo>
                <a:lnTo>
                  <a:pt x="130242" y="376389"/>
                </a:lnTo>
                <a:lnTo>
                  <a:pt x="173656" y="486483"/>
                </a:lnTo>
                <a:lnTo>
                  <a:pt x="217071" y="589589"/>
                </a:lnTo>
                <a:lnTo>
                  <a:pt x="260484" y="686086"/>
                </a:lnTo>
                <a:lnTo>
                  <a:pt x="303898" y="776333"/>
                </a:lnTo>
                <a:lnTo>
                  <a:pt x="347312" y="860664"/>
                </a:lnTo>
                <a:lnTo>
                  <a:pt x="390727" y="939394"/>
                </a:lnTo>
                <a:lnTo>
                  <a:pt x="434140" y="1012816"/>
                </a:lnTo>
                <a:lnTo>
                  <a:pt x="477554" y="1081205"/>
                </a:lnTo>
                <a:lnTo>
                  <a:pt x="520968" y="1144818"/>
                </a:lnTo>
                <a:lnTo>
                  <a:pt x="564383" y="1203896"/>
                </a:lnTo>
                <a:lnTo>
                  <a:pt x="607796" y="1258664"/>
                </a:lnTo>
                <a:lnTo>
                  <a:pt x="651210" y="1309332"/>
                </a:lnTo>
                <a:lnTo>
                  <a:pt x="694624" y="1356096"/>
                </a:lnTo>
                <a:lnTo>
                  <a:pt x="738039" y="1399138"/>
                </a:lnTo>
                <a:lnTo>
                  <a:pt x="781452" y="1438630"/>
                </a:lnTo>
                <a:lnTo>
                  <a:pt x="824866" y="1474730"/>
                </a:lnTo>
                <a:lnTo>
                  <a:pt x="868280" y="1507588"/>
                </a:lnTo>
                <a:lnTo>
                  <a:pt x="911695" y="1537342"/>
                </a:lnTo>
                <a:lnTo>
                  <a:pt x="955108" y="1564119"/>
                </a:lnTo>
                <a:lnTo>
                  <a:pt x="998522" y="1588040"/>
                </a:lnTo>
                <a:lnTo>
                  <a:pt x="1041936" y="1609217"/>
                </a:lnTo>
                <a:lnTo>
                  <a:pt x="1085351" y="1627752"/>
                </a:lnTo>
                <a:lnTo>
                  <a:pt x="1128764" y="1643742"/>
                </a:lnTo>
                <a:lnTo>
                  <a:pt x="1172178" y="1657276"/>
                </a:lnTo>
                <a:lnTo>
                  <a:pt x="1215592" y="1668436"/>
                </a:lnTo>
                <a:lnTo>
                  <a:pt x="1259007" y="1677299"/>
                </a:lnTo>
                <a:lnTo>
                  <a:pt x="1302420" y="1683936"/>
                </a:lnTo>
                <a:lnTo>
                  <a:pt x="1345835" y="1688412"/>
                </a:lnTo>
                <a:lnTo>
                  <a:pt x="1389248" y="1690788"/>
                </a:lnTo>
                <a:lnTo>
                  <a:pt x="1432663" y="1691118"/>
                </a:lnTo>
                <a:lnTo>
                  <a:pt x="1476076" y="1689455"/>
                </a:lnTo>
                <a:lnTo>
                  <a:pt x="1519490" y="1685846"/>
                </a:lnTo>
                <a:lnTo>
                  <a:pt x="1562904" y="1680332"/>
                </a:lnTo>
                <a:lnTo>
                  <a:pt x="1606319" y="1672955"/>
                </a:lnTo>
                <a:lnTo>
                  <a:pt x="1649732" y="1663749"/>
                </a:lnTo>
                <a:lnTo>
                  <a:pt x="1693146" y="1652748"/>
                </a:lnTo>
                <a:lnTo>
                  <a:pt x="1736560" y="1639982"/>
                </a:lnTo>
                <a:lnTo>
                  <a:pt x="1779975" y="1625477"/>
                </a:lnTo>
                <a:lnTo>
                  <a:pt x="1823388" y="1609258"/>
                </a:lnTo>
                <a:lnTo>
                  <a:pt x="1866802" y="1591347"/>
                </a:lnTo>
                <a:lnTo>
                  <a:pt x="1910216" y="1571764"/>
                </a:lnTo>
                <a:lnTo>
                  <a:pt x="1953631" y="1550524"/>
                </a:lnTo>
                <a:lnTo>
                  <a:pt x="1997045" y="1527645"/>
                </a:lnTo>
                <a:lnTo>
                  <a:pt x="2040458" y="1503139"/>
                </a:lnTo>
                <a:lnTo>
                  <a:pt x="2083873" y="1477018"/>
                </a:lnTo>
                <a:lnTo>
                  <a:pt x="2127287" y="1449293"/>
                </a:lnTo>
                <a:lnTo>
                  <a:pt x="2170701" y="1419970"/>
                </a:lnTo>
                <a:lnTo>
                  <a:pt x="2214114" y="1389058"/>
                </a:lnTo>
                <a:lnTo>
                  <a:pt x="2257529" y="1356561"/>
                </a:lnTo>
                <a:lnTo>
                  <a:pt x="2300943" y="1322485"/>
                </a:lnTo>
                <a:lnTo>
                  <a:pt x="2344357" y="1286832"/>
                </a:lnTo>
                <a:lnTo>
                  <a:pt x="2387770" y="1249604"/>
                </a:lnTo>
                <a:lnTo>
                  <a:pt x="2431185" y="1210801"/>
                </a:lnTo>
                <a:lnTo>
                  <a:pt x="2474599" y="1170425"/>
                </a:lnTo>
                <a:lnTo>
                  <a:pt x="2518013" y="1128473"/>
                </a:lnTo>
                <a:lnTo>
                  <a:pt x="2561426" y="1084944"/>
                </a:lnTo>
                <a:lnTo>
                  <a:pt x="2604841" y="1039836"/>
                </a:lnTo>
              </a:path>
            </a:pathLst>
          </a:custGeom>
          <a:noFill/>
          <a:ln w="3048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4879" y="4777725"/>
            <a:ext cx="260484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训练过程 (epoch) →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84879" y="5072925"/>
            <a:ext cx="198001" cy="0"/>
          </a:xfrm>
          <a:prstGeom prst="line">
            <a:avLst/>
          </a:prstGeom>
          <a:ln w="33020">
            <a:solidFill>
              <a:srgbClr val="1E4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636879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训练集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741299" y="5072925"/>
            <a:ext cx="198000" cy="0"/>
          </a:xfrm>
          <a:prstGeom prst="line">
            <a:avLst/>
          </a:prstGeom>
          <a:ln w="33020">
            <a:solidFill>
              <a:srgbClr val="D9770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993299" y="5000925"/>
            <a:ext cx="10144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验证集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4879" y="5224125"/>
            <a:ext cx="27128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B91C1C"/>
                </a:solidFill>
                <a:latin typeface="Source Han Sans SC"/>
              </a:rPr>
              <a:t>分叉点就是该停的地方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三种状态，三条曲线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看两条线的「位置」与「走向」，不看某一个点的数值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3327240" cy="4104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3327240" cy="54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欠拟合（高偏差）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训练损失高且降不下去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验证损失同样高，两条线贴得很近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本轮实测的证据：数据增强臂训练准确率只到 0.960，测试 0.824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对策：加容量、加特征、减少正则强度、训练更久——不是加正则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440" y="1170000"/>
            <a:ext cx="3327240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440" y="1170000"/>
            <a:ext cx="3327240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844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拟合良好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440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训练损失降到低位并趋于平缓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验证损失跟着降，并在最低点附近平稳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两条线之间有缺口，但缺口稳定、不再扩大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这是一个可以交付的状态，不是一个「完美」的状态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679" y="1170000"/>
            <a:ext cx="3327240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679" y="1170000"/>
            <a:ext cx="3327240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1679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过拟合（高方差）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679" y="1890000"/>
            <a:ext cx="2895240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训练损失持续下降，一路逼近 0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验证损失降到某轮后掉头上升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两条线的缺口持续扩大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本轮实测的证据：训练准确率 1.000，验证损失从第 85 轮的 0.516 升到第 400 轮的 0.671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注意：验证「准确率」在同一批实验里几乎没变（0.856 上下）。所以判断过拟合必须看损失。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过拟合长什么样：训练 vs 验证（本机实测）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曲线：seed 42 单次运行，每 20 轮取一点（第 1, 21, …, 381 轮）｜表中统计量为 5 个种子（42–46）的均值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29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33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440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训练准确率在第 41 轮就已经到 0.9875，第 61 轮起恒为 1.000。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验证准确率卡在 0.83–0.84 一线，之后 300 多轮几乎没有任何提升。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只画这一张图，你已经可以判定：模型已经记住训练集，而不是学到规律。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但准确率是粗尺子——它把「变差」这件事藏起来了。下一张图才是关键。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关键证据：验证损失掉头向上（本机实测）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曲线：seed 42 单次运行，每 20 轮取一点（第 1, 21, …, 381 轮）｜表中统计量为 5 个种子（42–46）的均值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29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33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440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基线：第 5 个点（第 81 轮）触底 0.6357，此后单调上升到第 400 轮的 0.8672。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同样的 400 轮，加了权重衰减的那条线在 0.58–0.61 之间横住，没有掉头。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跨 5 个种子平均：基线验证损失上升 +0.155±0.089；权重衰减只上升 +0.027±0.014。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这条曲线的分岔，就是过拟合与不过拟合的分界线。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症状 → 诊断 → 对策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先读证据，再动手；开错药会越治越差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24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000"/>
                <a:gridCol w="2448000"/>
                <a:gridCol w="4680000"/>
              </a:tblGrid>
              <a:tr h="414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你看到的现象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诊断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该做什么 / 不该做什么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训练损失高，验证损失也高，两条线贴近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欠拟合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加宽/加深网络、补特征、减弱或撤掉正则、训练更久。此时加 Dropout 只会更糟。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训练损失持续下降，验证损失掉头上升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过拟合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早停、权重衰减、Dropout、数据增强、增加数据量。注意：验证「准确率」可能看不出变化。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训练与验证都很好，换新数据崩掉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数据泄漏或分布漂移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回查划分顺序与预处理位置；检查新数据的采集条件是否与训练集一致。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多次运行结果在 ±3 个百分点内跳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噪声，不是结论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换 3–5 个种子重跑，报告均值 ± 标准差；差异小于一个标准差时不要宣布「更优」。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验证损失在最低点附近来回小幅波动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正常收敛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保留该状态即可。不要去追第 400 轮那个更低的训练损失。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780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本课程要求：把「诊断依据」写进实验报告，而不是只写结论。依据 = 训练/验证损失曲线的具体轮次与数值。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正则化：四个刹车及其代价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Regularization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正则化不是「免费的提分技巧」，它是用一点训练集拟合度，换一点泛化可靠性。
刹车踩多了，车会停住——那叫欠拟合。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早停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在验证损失最低处停下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权重衰减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惩罚大权重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Dropout / 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给数据与表示加扰动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四种手段，各自在刹车什么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它们都在限制模型的「自由度」，但限制的方式完全不同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248642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32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早停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04002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Early stopping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04002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监视验证损失，连续 N 轮不改善就停，并恢复到最佳权重。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刹车对象：训练时长。不改模型、不改数据。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最大副作用：验证集被用于决策，反复使用会渐渐失效。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本轮实测：把 400 轮砍到 105 轮，测试准确率 0.874 vs 基线 0.878。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1629" y="1296000"/>
            <a:ext cx="2486429" cy="4320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1629" y="1296000"/>
            <a:ext cx="32400" cy="432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4829" y="1483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权重衰减（L2）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829" y="1713600"/>
            <a:ext cx="204002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Weight decay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829" y="1915200"/>
            <a:ext cx="204002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在损失里加 λ‖w‖²，让权重被持续拉向 0，模型更「平缓」。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刹车对象：参数幅度。一行参数即可启用。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关键经验：它压住的是验证损失的上升，而不是提高准确率。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本轮实测：验证损失上升 +0.027±0.014，基线为 +0.155±0.089。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4059" y="1296000"/>
            <a:ext cx="2486429" cy="4320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4059" y="1296000"/>
            <a:ext cx="32400" cy="432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7259" y="1483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45309"/>
                </a:solidFill>
                <a:latin typeface="Source Han Sans SC"/>
              </a:rPr>
              <a:t>Dropout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7259" y="1713600"/>
            <a:ext cx="204002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Dropout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7259" y="1915200"/>
            <a:ext cx="204002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训练时随机把一部分神经元置零，迫使网络不依赖某个单点特征。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刹车对象：神经元之间的共适应。评估时必须关闭。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易踩的坑：model.train() / model.eval() 忘记切换，结果每次评估都不一样。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本轮实测：测试准确率 0.884±0.011 vs 基线 0.878±0.012 —— 差 0.006，小于一个标准差。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6489" y="1296000"/>
            <a:ext cx="2486429" cy="4320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06489" y="1296000"/>
            <a:ext cx="32400" cy="432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9689" y="1483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91C1C"/>
                </a:solidFill>
                <a:latin typeface="Source Han Sans SC"/>
              </a:rPr>
              <a:t>数据增强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9689" y="1713600"/>
            <a:ext cx="204002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Augmentation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9689" y="1915200"/>
            <a:ext cx="204002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对训练样本施加保持标签不变的变换，等价于扩充数据多样性。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刹车对象：训练集规模。增强算子必须符合数据语义。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本任务上的实测反例：像素级位移 + 噪声把测试准确率拉到 0.824，反而更差。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原因：8×8 的手写数字只有 64 个像素，位移会抹掉笔画结构，等于制造了错标签。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四种手段在 PyTorch 里怎么写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全部改动加起来不到 15 行——难点不在写代码，在于知道什么时候不该写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① 早停 + ② 权重衰减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② 权重衰减：只是一行参数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opt = torch.optim.Adam(model.parameters(),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   lr=1e-3, weight_decay=1e-2)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① 早停：自己维护最佳状态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best, best_state, bad = float('inf'), None, 0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for ep in range(1, 401):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train_one_epoch(model, opt, loader)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va_loss, va_acc = evaluate(model, Xva, yva)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if va_loss &lt; best - 1e-4: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best, bad = va_loss, 0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best_state = {k: v.clone() for k, v in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  model.state_dict().items()}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else: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bad += 1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if bad &gt;= 20: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break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model.load_state_dict(best_state)   # 恢复最佳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③ Dropout + ④ 增强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③ Dropout：插在隐藏层之间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net = nn.Sequential(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nn.Linear(64, 128), nn.ReLU(), nn.Dropout(0.3),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nn.Linear(128, 64), nn.ReLU(), nn.Dropout(0.3),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nn.Linear(64, 10))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net.train()   # 训练：Dropout 生效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net.eval()    # 评估：Dropout 自动关闭！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④ 增强：只作用在训练 batch 上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def augment(xb):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xb = shift_pixels(xb, max_shift=1)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noise = torch.randn_like(xb) * 0.15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return (xb + noise).clamp(0, 1)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for xb, yb in train_loader: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xb = augment(xb)          # 验证集绝不增强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loss = F.cross_entropy(net(xb), yb)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41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记住 train/eval 切换是 Dropout 的第一号 bug 来源：评估时忘记 net.eval()，验证准确率会随机抖动，你甚至可能因此得出错误的「正则化有效」。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本机实测：六种方案横向对照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digits 8×8 · 70/15/15 · 训练集 n=80 · 64-128-64-10 MLP · Adam 1e-3 · 400 轮 · 5 个随机种子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223999" cy="289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000"/>
                <a:gridCol w="1548000"/>
                <a:gridCol w="1655999"/>
                <a:gridCol w="2052000"/>
                <a:gridCol w="1584000"/>
                <a:gridCol w="1620000"/>
              </a:tblGrid>
              <a:tr h="41399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方案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训练准确率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验证准确率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验证损失 最低→第400轮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损失上升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ource Han Sans SC"/>
                        </a:rPr>
                        <a:t>测试准确率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无正则（基线）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0.516 → 0.671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早停（patience 20）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0.858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0.516 → 0.534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+0.018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0.874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权重衰减 1e-2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0.497 → 0.524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Dropout 0.3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0.857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0.474 → 0.645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+0.171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0.884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数据增强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0.529 → 0.606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组合（衰减+Dropout+增强）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0.875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0.716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0.849 → 0.884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+0.035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0.740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193999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表内为 5 个种子（42–46）的均值；测试准确率的标准差在 0.010–0.024 之间。读取方式见下一页。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怎么读这张表：三条诚实的结论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这次实验没有给出「正则化提高准确率」这个漂亮答案 —— 我们照实报告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32400" cy="73799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339200"/>
            <a:ext cx="900000" cy="32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4112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结论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267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正则化压住的是验证损失，不是提高准确率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4939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基线验证损失上升 +0.155，早停只 +0.018，权重衰减只 +0.027。但六种方案的验证准确率全落在 0.716–0.858，测试准确率差异也都在一个标准差内。用准确率根本分辨不出谁更好；用验证损失一眼就能看出谁在退化。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041200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041200"/>
            <a:ext cx="32400" cy="73799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228400"/>
            <a:ext cx="900000" cy="32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3004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结论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156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数据增强与组合正则在本任务上有害，是欠拟合不是过拟合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383200"/>
            <a:ext cx="9153719" cy="34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增强把测试准确率从 0.878 拉到 0.824，训练准确率也从 1.000 掉到 0.960；组合方案更是崩到 0.740。原因不是「正则太弱」，而是刹车踩过头：8×8 只有 64 个像素，位移会抹掉笔画结构，等于给训练数据制造了错标签。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2930399"/>
            <a:ext cx="10593719" cy="73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2930399"/>
            <a:ext cx="32400" cy="73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117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189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结论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0455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一次实验的差异可能是噪声，必须跨种子重复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272399"/>
            <a:ext cx="9153719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同一个改动在不同种子下，测试准确率波动可达 ±3 个百分点。Dropout 的 0.884 对基线 0.878 只差 0.006，小于一个标准差（0.012）——按本课程的判定规则，这不足以宣布「Dropout 更优」，只能说「未观察到显著差异」。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Lab · 实验 5 过拟合复现与正则化对比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先故意制造一次过拟合，再逐一施加四种手段。
要求不是「让分数变高」，而是「用曲线说清楚每个手段到底改了什么」。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制造过拟合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小训练集 + 大网络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逐个施加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一次只改一个变量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量化改善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用验证损失与最佳轮次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实验任务：五个部分，逐步推进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每一部分都有可检验的产出，做不出来就停下来查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4320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32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B91C1C"/>
                </a:solidFill>
                <a:latin typeface="Source Han Sans SC"/>
              </a:rPr>
              <a:t>A · 先制造过拟合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before any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数据：sklearn digits（8×8，1797 张，离线），先标准化到 0–1。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划分：70/15/15 分层，随机种子固定；训练集只取 80 张。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模型：64-128-64-10 的 MLP（17,226 个参数）。参数是样本数的 215 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产出：训练/验证准确率与损失四条曲线，指出验证损失的最低轮次。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43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432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 · 逐个施加四种手段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one at a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早停（patience=20，恢复最佳权重）；权重衰减（weight_decay=1e-2）。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Dropout（p=0.3）；数据增强（高斯噪声 σ=0.15 + ±1 像素位移）。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每次只改一个变量，其余与 A 完全一致；再加一个「全部组合」的对照臂。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必须记录：验证损失最低值与第 400 轮的值、最佳轮次、实跑轮次。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4320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432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 · 量化 + D 诚实结论 + E 复现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355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量化：每臂给出「验证损失上升幅度」Δ = 第400轮 − 最低点，做成对照表。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诚实结论：写出哪个手段对本任务有效、哪个无效、哪个反而有害，并给原因。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跨种子：至少 3 个种子重跑主结论，报告均值 ± 标准差。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复现：固定随机种子，脚本一条命令可重跑；附上环境信息与库版本。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交付物与评分（实验 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100 分制，事前公布；核心是「证据链是否完整」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24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6588000"/>
                <a:gridCol w="1620000"/>
              </a:tblGrid>
              <a:tr h="414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交付物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具体要求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分值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过拟合复现证据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训练/验证四条曲线 + 验证损失最低轮次的具体数值；能指出「训练准确率已饱和到 1.000」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正则化对照表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六臂（基线/早停/权重衰减/Dropout/增强/组合）的训练、验证、测试准确率与验证损失上升幅度 Δ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30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量化结论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明确说明哪个手段有效、哪个无效、哪个有害，并给出机理解释（而不是「效果不好」四个字）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跨种子稳定性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至少 3 个种子的重跑结果，报告均值 ± 标准差；说明结论是否稳定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15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可复现性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一条命令可重跑全部结果；固定种子；附环境与库版本（Python / torch / sklearn）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780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扣分重点：只贴曲线不给轮次数值；把「准确率没变」写成「正则化无效」；只跑一个种子就下结论。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随堂小测 · 模块二综合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先自己选，再对照下一页的答案与理由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5200" y="1296000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某二分类器在 1000 个样本（50 个正例）上准确率 0.95。最需要补看哪个指标？为什么？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1908000"/>
            <a:ext cx="4801859" cy="164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不用看，0.95 已经足够好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召回率：正例只占 5%，全部判负就能拿到 0.95，先确认正例有没有被漏掉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训练损失：它最能反映模型状态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参数量：模型太大才需要担心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59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1059" y="1296000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训练准确率 1.000、验证准确率 0.856、验证损失从第 85 轮起持续上升。诊断是什么？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59" y="1908000"/>
            <a:ext cx="4801859" cy="164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欠拟合，应该加大模型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过拟合，证据是验证损失已掉头上升（准确率被天花板掩盖了）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数据有问题，应该重新采集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看不出来，必须看测试集才能判断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7200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200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5200" y="3986999"/>
            <a:ext cx="3793859" cy="35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以下哪个做法会让验证分数虚高？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200" y="4599000"/>
            <a:ext cx="4801859" cy="1646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先划分数据集，再只用训练集拟合标准化参数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对全量数据先做过采样与标准化，再划分训练/验证集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用 StratifiedKFold 做分层交叉验证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用 5 个随机种子重跑并报告均值 ± 标准差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059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3059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3059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正则化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1059" y="3986999"/>
            <a:ext cx="3793859" cy="35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本机实测中，权重衰减 1e-2 最干净的收益是什么？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059" y="4599000"/>
            <a:ext cx="4801859" cy="1646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把测试准确率从 0.878 提到 0.95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把训练准确率降到 0.90，避免过拟合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把验证损失的上升幅度从 +0.155 压到 +0.027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减少参数量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本周要点与课后任务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把「训练集分数」和「可信的分数」彻底区分开来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指标选择的本质是把业务代价写进公式：漏报贵看召回率，误报贵看精确率，两者都要看 F1，排序能力看 AUC。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评估协议决定数字是否可信：先划分后处理、测试集只碰一次、小数据用分层 K 折、结论必须跨种子重复。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过拟合的唯一可靠证据是验证损失掉头上升；验证准确率会因为天花板效应看不出退化。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四种正则化手段动作不同：早停限时长、权重衰减限幅度、Dropout 限共适应、增强限数据多样性——都不是免费的。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本周实测结论：正则化压住了验证损失，但没有提高准确率；数据增强与组合正则在 8×8 图像上反而有害。照实报告。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课后任务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提交正则化对比实验报告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含六臂对照表、验证损失上升幅度 Δ、跨种子均值 ± 标准差，以及「哪种手段对本任务最有效及原因」的明确结论。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完成模块二综合小测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覆盖 W5–W8 知识点（KT9–KT14），下次课复习导入环节对答案。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W6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先证明你的数字可信，
再谈你的模型多好。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下周：卷积神经网络与计算机视觉应用 —— 实验 6 会用到本周的评估协议与增强策略，请把曲线读法带过去。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FA8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W7 · 卷积、池化与感受野 · 用增强与 GPU 训练 CNN · 混淆矩阵与错分案例分析（实验 6）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 Lecture · 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