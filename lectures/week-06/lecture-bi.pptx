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 / 训练准确率</c:v>
                </c:pt>
              </c:strCache>
            </c:strRef>
          </c:tx>
          <c:spPr>
            <a:ln w="22225">
              <a:solidFill>
                <a:srgbClr val="1E4FA8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0.1</c:v>
                </c:pt>
                <c:pt idx="1">
                  <c:v>0.725</c:v>
                </c:pt>
                <c:pt idx="2">
                  <c:v>0.9875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1.0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1.0</c:v>
                </c:pt>
                <c:pt idx="16">
                  <c:v>1.0</c:v>
                </c:pt>
                <c:pt idx="17">
                  <c:v>1.0</c:v>
                </c:pt>
                <c:pt idx="18">
                  <c:v>1.0</c:v>
                </c:pt>
                <c:pt idx="19">
                  <c:v>1.0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 / 验证准确率</c:v>
                </c:pt>
              </c:strCache>
            </c:strRef>
          </c:tx>
          <c:spPr>
            <a:ln w="22225">
              <a:solidFill>
                <a:srgbClr val="D97706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0.1</c:v>
                </c:pt>
                <c:pt idx="1">
                  <c:v>0.4815</c:v>
                </c:pt>
                <c:pt idx="2">
                  <c:v>0.8074</c:v>
                </c:pt>
                <c:pt idx="3">
                  <c:v>0.8185</c:v>
                </c:pt>
                <c:pt idx="4">
                  <c:v>0.8296</c:v>
                </c:pt>
                <c:pt idx="5">
                  <c:v>0.8333</c:v>
                </c:pt>
                <c:pt idx="6">
                  <c:v>0.8296</c:v>
                </c:pt>
                <c:pt idx="7">
                  <c:v>0.837</c:v>
                </c:pt>
                <c:pt idx="8">
                  <c:v>0.837</c:v>
                </c:pt>
                <c:pt idx="9">
                  <c:v>0.8333</c:v>
                </c:pt>
                <c:pt idx="10">
                  <c:v>0.837</c:v>
                </c:pt>
                <c:pt idx="11">
                  <c:v>0.837</c:v>
                </c:pt>
                <c:pt idx="12">
                  <c:v>0.8333</c:v>
                </c:pt>
                <c:pt idx="13">
                  <c:v>0.8407</c:v>
                </c:pt>
                <c:pt idx="14">
                  <c:v>0.837</c:v>
                </c:pt>
                <c:pt idx="15">
                  <c:v>0.837</c:v>
                </c:pt>
                <c:pt idx="16">
                  <c:v>0.837</c:v>
                </c:pt>
                <c:pt idx="17">
                  <c:v>0.8407</c:v>
                </c:pt>
                <c:pt idx="18">
                  <c:v>0.8333</c:v>
                </c:pt>
                <c:pt idx="19">
                  <c:v>0.837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 (one point every 20) / 训练轮次（每 20 轮取一点）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Accuracy / 准确率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regularization (baseline) / 无正则（基线）</c:v>
                </c:pt>
              </c:strCache>
            </c:strRef>
          </c:tx>
          <c:spPr>
            <a:ln w="31750">
              <a:solidFill>
                <a:srgbClr val="B91C1C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2.2906</c:v>
                </c:pt>
                <c:pt idx="1">
                  <c:v>1.5293</c:v>
                </c:pt>
                <c:pt idx="2">
                  <c:v>0.7305</c:v>
                </c:pt>
                <c:pt idx="3">
                  <c:v>0.65</c:v>
                </c:pt>
                <c:pt idx="4">
                  <c:v>0.6357</c:v>
                </c:pt>
                <c:pt idx="5">
                  <c:v>0.6704</c:v>
                </c:pt>
                <c:pt idx="6">
                  <c:v>0.6983</c:v>
                </c:pt>
                <c:pt idx="7">
                  <c:v>0.7168</c:v>
                </c:pt>
                <c:pt idx="8">
                  <c:v>0.742</c:v>
                </c:pt>
                <c:pt idx="9">
                  <c:v>0.7549</c:v>
                </c:pt>
                <c:pt idx="10">
                  <c:v>0.7706</c:v>
                </c:pt>
                <c:pt idx="11">
                  <c:v>0.7859</c:v>
                </c:pt>
                <c:pt idx="12">
                  <c:v>0.7947</c:v>
                </c:pt>
                <c:pt idx="13">
                  <c:v>0.8054</c:v>
                </c:pt>
                <c:pt idx="14">
                  <c:v>0.8193</c:v>
                </c:pt>
                <c:pt idx="15">
                  <c:v>0.8309</c:v>
                </c:pt>
                <c:pt idx="16">
                  <c:v>0.8389</c:v>
                </c:pt>
                <c:pt idx="17">
                  <c:v>0.8472</c:v>
                </c:pt>
                <c:pt idx="18">
                  <c:v>0.8593</c:v>
                </c:pt>
                <c:pt idx="19">
                  <c:v>0.8672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 decay 1e-2 / 权重衰减 1e-2</c:v>
                </c:pt>
              </c:strCache>
            </c:strRef>
          </c:tx>
          <c:spPr>
            <a:ln w="22225">
              <a:solidFill>
                <a:srgbClr val="059669"/>
              </a:solidFill>
            </a:ln>
          </c:spPr>
          <c:marker>
            <c:symbol val="none"/>
          </c:marker>
          <c:cat>
            <c:strRef>
              <c:f>Sheet1!$A$2:$A$21</c:f>
              <c:strCache>
                <c:ptCount val="20"/>
                <c:pt idx="0">
                  <c:v>1</c:v>
                </c:pt>
                <c:pt idx="1">
                  <c:v>21</c:v>
                </c:pt>
                <c:pt idx="2">
                  <c:v>41</c:v>
                </c:pt>
                <c:pt idx="3">
                  <c:v>61</c:v>
                </c:pt>
                <c:pt idx="4">
                  <c:v>81</c:v>
                </c:pt>
                <c:pt idx="5">
                  <c:v>101</c:v>
                </c:pt>
                <c:pt idx="6">
                  <c:v>121</c:v>
                </c:pt>
                <c:pt idx="7">
                  <c:v>141</c:v>
                </c:pt>
                <c:pt idx="8">
                  <c:v>161</c:v>
                </c:pt>
                <c:pt idx="9">
                  <c:v>181</c:v>
                </c:pt>
                <c:pt idx="10">
                  <c:v>201</c:v>
                </c:pt>
                <c:pt idx="11">
                  <c:v>221</c:v>
                </c:pt>
                <c:pt idx="12">
                  <c:v>241</c:v>
                </c:pt>
                <c:pt idx="13">
                  <c:v>261</c:v>
                </c:pt>
                <c:pt idx="14">
                  <c:v>281</c:v>
                </c:pt>
                <c:pt idx="15">
                  <c:v>301</c:v>
                </c:pt>
                <c:pt idx="16">
                  <c:v>321</c:v>
                </c:pt>
                <c:pt idx="17">
                  <c:v>341</c:v>
                </c:pt>
                <c:pt idx="18">
                  <c:v>361</c:v>
                </c:pt>
                <c:pt idx="19">
                  <c:v>381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2.292</c:v>
                </c:pt>
                <c:pt idx="1">
                  <c:v>1.7454</c:v>
                </c:pt>
                <c:pt idx="2">
                  <c:v>0.9045</c:v>
                </c:pt>
                <c:pt idx="3">
                  <c:v>0.7215</c:v>
                </c:pt>
                <c:pt idx="4">
                  <c:v>0.6261</c:v>
                </c:pt>
                <c:pt idx="5">
                  <c:v>0.612</c:v>
                </c:pt>
                <c:pt idx="6">
                  <c:v>0.5973</c:v>
                </c:pt>
                <c:pt idx="7">
                  <c:v>0.6032</c:v>
                </c:pt>
                <c:pt idx="8">
                  <c:v>0.6098</c:v>
                </c:pt>
                <c:pt idx="9">
                  <c:v>0.5859</c:v>
                </c:pt>
                <c:pt idx="10">
                  <c:v>0.6025</c:v>
                </c:pt>
                <c:pt idx="11">
                  <c:v>0.5929</c:v>
                </c:pt>
                <c:pt idx="12">
                  <c:v>0.5794</c:v>
                </c:pt>
                <c:pt idx="13">
                  <c:v>0.5808</c:v>
                </c:pt>
                <c:pt idx="14">
                  <c:v>0.5953</c:v>
                </c:pt>
                <c:pt idx="15">
                  <c:v>0.6027</c:v>
                </c:pt>
                <c:pt idx="16">
                  <c:v>0.5895</c:v>
                </c:pt>
                <c:pt idx="17">
                  <c:v>0.5928</c:v>
                </c:pt>
                <c:pt idx="18">
                  <c:v>0.6088</c:v>
                </c:pt>
                <c:pt idx="19">
                  <c:v>0.5956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 (one point every 20) / 训练轮次（每 20 轮取一点）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6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Validation loss / 验证集损失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52015CC3BV · UNDERGRADUATE · INTERNATIONAL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52015CC3BV · 本科 · 来华项目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458000"/>
            <a:ext cx="10593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 i="0">
                <a:solidFill>
                  <a:srgbClr val="0E3F8C"/>
                </a:solidFill>
                <a:latin typeface="Source Han Sans SC"/>
              </a:rPr>
              <a:t>Evaluation, Overfitting and Regularization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106000"/>
            <a:ext cx="10593719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300" b="1" i="0">
                <a:solidFill>
                  <a:srgbClr val="1F2937"/>
                </a:solidFill>
                <a:latin typeface="Source Han Sans SC"/>
              </a:rPr>
              <a:t>模型评估、过拟合与正则化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2718000"/>
            <a:ext cx="10593719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6B7280"/>
                </a:solidFill>
                <a:latin typeface="Source Han Sans SC"/>
              </a:rPr>
              <a:t>Measure honestly, diagnose with evidence, regularise with restraint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200" y="3384000"/>
            <a:ext cx="10593719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6B7280"/>
                </a:solidFill>
                <a:latin typeface="Source Han Sans SC"/>
              </a:rPr>
              <a:t>Week 6 · Metrics and business cost · Evaluation protocol · Bias-variance diagnosis · Early stop / weight decay / dropout / augmentation · Lab 5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Week 6 · 指标与业务代价 · 评估协议 · 偏差-方差诊断 · 早停/权重衰减/Dropout/增强 · 实验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200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2000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Module 2 · W5-8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7881" y="5295600"/>
            <a:ext cx="3383222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681" y="5364000"/>
            <a:ext cx="3037622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180 min · Lecture + Lab + Quiz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84304" y="5295600"/>
            <a:ext cx="2029933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7104" y="5364000"/>
            <a:ext cx="1684333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KT11 · KT12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37438" y="5295600"/>
            <a:ext cx="225548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0238" y="5364000"/>
            <a:ext cx="190988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International Students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Lecturer: ____________  ·  School of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Contents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27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7600" y="2163600"/>
            <a:ext cx="2361600" cy="9654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5 Parts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030" b="0" i="0">
                <a:solidFill>
                  <a:srgbClr val="6B7280"/>
                </a:solidFill>
                <a:latin typeface="Source Han Sans SC"/>
              </a:rPr>
              <a:t>5 部分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600" y="3093077"/>
            <a:ext cx="2361600" cy="480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Part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本周结构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7600" y="3540973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7600" y="3634573"/>
            <a:ext cx="2361600" cy="1222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760" b="0" i="0">
                <a:solidFill>
                  <a:srgbClr val="1F2937"/>
                </a:solidFill>
                <a:latin typeface="Source Han Sans SC"/>
              </a:rPr>
              <a:t>The score on your training set was never your report card. This week answers three questions: which number to read, whether it can be trusted, and how to make it trustworthy.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训练集上的分数从来不是你的成绩单。 本周回答三个问题： 该看哪个数字、这个数字可不可信、怎么让它变可信。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7600" y="4962532"/>
            <a:ext cx="2361600" cy="934267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0800" y="5041732"/>
            <a:ext cx="2095200" cy="7758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Theory ~90 min · Lab 80 min · Quiz &amp; Summary 10 min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理论约 90 min · Lab 80 min · 小测与小结 10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1742400"/>
            <a:ext cx="6120000" cy="30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Metrics: Choosing the Right Number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评估指标：选对那个数字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1993967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The accuracy trap · confusion matrix · precision/recall/F1 · business cost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准确率的陷阱 · 混淆矩阵 · 精确率/召回率/F1 · 业务代价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7200" y="2494800"/>
            <a:ext cx="6120000" cy="30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Protocol: Can the Number Be Trusted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评估协议：数字可不可信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746367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70/15/15 · stratification · touch the test set once · K-fold · leakage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70/15/15 · 分层抽样 · 测试集只碰一次 · K 折交叉验证 · 数据泄漏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7200" y="3247200"/>
            <a:ext cx="6120000" cy="30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Bias and Variance: Diagnose with Evidence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偏差-方差：按证据诊断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7200" y="3498767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Underfit / just right / overfit · reading curves · symptoms to remedies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欠拟合 / 刚好 / 过拟合 · 从曲线读数 · 症状到对策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87200" y="3999600"/>
            <a:ext cx="6120000" cy="30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Regularization: Four Brakes and Their Cost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正则化：四个刹车及其代价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7200" y="4251167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Early stop · weight decay · dropout · augmentation · measured comparison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早停 · 权重衰减 · Dropout · 数据增强 · 本机实测对照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87200" y="4752000"/>
            <a:ext cx="6120000" cy="309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Lab · Overfitting Reproduction and Regularization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Lab · 实验 5 过拟合复现与正则化对比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7200" y="5003567"/>
            <a:ext cx="62496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Manufacture overfitting first · then apply four remedies · quantify with validation loss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先制造过拟合 · 再逐一施加四种手段 · 用验证损失量化效果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6243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Metrics: Choosing the Right Number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评估指标：选对那个数字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801577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"99% accuracy" is a number you can manufacture.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moment you choose what to optimise, you choose what the model will sacrifice — so decide first who pays the cost.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「准确率 99%」是一个可以被制造出来的数字。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当你决定优化什么，你就决定了模型会牺牲什么——所以先想清楚代价由谁承担。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Accuracy Misleads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准确率会骗人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Especially on imbalanced data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不平衡数据下尤甚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604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840" y="5148000"/>
            <a:ext cx="296243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The Matrix Is the Source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混淆矩阵是源头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840" y="5637426"/>
            <a:ext cx="296243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Four cells generate every metric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四个格子推出所有指标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2879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679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Cost Decides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代价决定选择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679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A miss and a false alarm cost differently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漏报与误报代价不同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Start with a Failure That Really Happens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先看一个真实会发生的失败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 same model, a different metric, the opposite story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同一个模型，换一个指标，故事完全相反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4728744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72874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91C1C"/>
                </a:solidFill>
                <a:latin typeface="Source Han Sans SC"/>
              </a:rPr>
              <a:t>The 99%-Accuracy Detector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99% 准确率的检测系统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2033090"/>
            <a:ext cx="2940839" cy="39196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1,000 test samples; only 10 of them are genuine defects.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测试集 1000 个样本，其中只有 10 个是真正的缺陷样本。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model always answers "normal" — accuracy (990/1000) = 99.0%.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模型永远输出「正常」——准确率 (990/1000) = 99.0%。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Yet it catches zero defects: recall = 0%. Not one item is stopped on the line.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但它一个缺陷都没抓到：召回率 = 0%。产线上一件都拦不住。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Accuracy here is not "good", it is "useless" — class imbalance inflates the score for free.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准确率在这里不是「好」，而是「没用」——数据不平衡替模型把分数刷高了。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4728744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472874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45309"/>
                </a:solidFill>
                <a:latin typeface="Source Han Sans SC"/>
              </a:rPr>
              <a:t>Write the Cost Down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把代价写下来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2033090"/>
            <a:ext cx="2940839" cy="39196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Missing a true defect (FN): the customer receives scrap — recall plus reputation.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漏报一个真缺陷（FN）：客户收到废品，退货 + 信誉损失。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Flagging a good item (FP): one re-inspection, a few yuan.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误报一个正常件（FP）：一次复检工时，几块钱。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The two costs differ 100-fold, yet accuracy weighs them identically.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两者代价差 100 倍，却在准确率里被当成一样重。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Choosing a metric is really writing the cost you care about into a formula.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指标选择的本质，是把你真正在乎的代价写进公式。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296000"/>
            <a:ext cx="3387239" cy="4728744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2400" cy="472874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So the Questions You Should Ask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于是你该问的问题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2298265"/>
            <a:ext cx="2940839" cy="36544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1) When this system is wrong, who hurts, and how?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① 这个系统错了以后，谁会疼？怎么疼？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2) Of the two error types (miss / false alarm), which costs more — by how many times?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② 两类错误（漏报 / 误报）谁的代价更高？高多少倍？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3) What is the class ratio? How imbalanced is it?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③ 类别比例是多少？不平衡到什么程度？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4) Is there a downstream safety net, or is this the only gate?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④ 这个业务有下游兜底吗？还是这里就是唯一一道闸门？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Four Cells Generate Every Metric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四个格子推出全部指标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Count the confusion matrix correctly first — only then do metrics mean anything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混淆矩阵（Confusion Matrix）：先把它数对，指标才有意义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3999" cy="3676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000"/>
                <a:gridCol w="3384000"/>
                <a:gridCol w="2951999"/>
                <a:gridCol w="2700000"/>
              </a:tblGrid>
              <a:tr h="735319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Cell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格子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Meaning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含义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Metric it feeds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由它导出的指标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Who cares most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谁最关心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73531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TP true positive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TP 真阳性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Truly a defect; model also says defect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真的是缺陷，模型也判成缺陷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precision (numerator), recall (numerator)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精确率（分子）、召回率（分子）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The line: the only items actually stopped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产线：这是唯一真正拦下来的一类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531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FN false negative (miss)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FN 假阴性（漏报）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Truly a defect; model says normal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真的是缺陷，模型判成正常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recall (denominator)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召回率（分母）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Customer and QA: the costliest cell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客户与质检：代价最高的一类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73531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FP false positive (false alarm)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FP 假阳性（误报）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Actually fine; model says defect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本来是正常件，模型判成缺陷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precision (denominator)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精确率（分母）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The line and re-inspection: wasted hours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产线与复检岗：浪费工时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5323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TN true negative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TN 真阴性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Fine item judged fine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正常件判成正常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accuracy (numerator) — TN props accuracy up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准确率（分子）——TN 撑起准确率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Nobody watches it, yet it is the cheap way to inflate accuracy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没人关心，但它最容易把准确率刷好看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954599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famous 99% above was built entirely out of 990 TNs. Once TP / FP / FN / TN are counted, every metric is arithmetic.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上面经典失败的 99% 就是靠 990 个 TN 堆出来的。记住：TP / FP / FN / TN 只要数对，四个指标都是算术题。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Count the Matrix, Then Read the Metrics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把矩阵数出来，再看指标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Always read the matrix before a single number — reverse the order and you get fooled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永远先看混淆矩阵，再看单个数字——顺序反了就容易被骗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1. Count the matrix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① 数出矩阵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sklearn.metrics import confusion_matrix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numpy as np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cm = confusion_matrix(y_true, y_pred, labels=[0, 1])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tn, fp, fn, tp = cm.ravel()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print(cm)                       # read this table first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[[990   0]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 [ 10   0]]   &lt;- all 10 defects called normal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acc = (tp + tn) / cm.sum()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prec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rec 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f1   = 2 * prec * rec / (prec + rec) if prec + rec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print(f'acc={acc:.3f} prec={prec:.3f} rec={rec:.3f} f1={f1:.3f}')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acc=0.990 prec=0.000 rec=0.000 f1=0.000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06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2. The precision / recall trade-off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② 精确率与召回率的取舍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58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same scores, different threshold, different metrics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for t in (0.3, 0.5, 0.7, 0.9):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yp = (probs &gt;= t).astype(int)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tn, fp, fn, tp = confusion_matrix(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y_true, yp, labels=[0, 1]).ravel()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 = tp / (tp + fp) if tp + fp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 = tp / (tp + fn) if tp + fn else 0.0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print(f't={t}  P={p:.3f}  R={r:.3f}')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t=0.3  P=0.42  R=0.91   &lt;- low bar: catch more, alarm more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t=0.5  P=0.61  R=0.74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t=0.7  P=0.80  R=0.48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t=0.9  P=0.95  R=0.17   &lt;- high bar: precise but blind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No free lunch: P and R trade off;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where you sit depends on which side pays.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41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threshold is a hyper-parameter you also choose by cost — do not leave it at 0.5 by default.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阈值本身也是一个要「按代价选」的超参数——不要默认 0.5。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Choosing a Metric: Translating Cost into a Formula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指标选择：把代价翻译成公式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Each metric family encodes which mistake you fear more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每类指标对应一种「你更怕哪种错」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285442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 Miss Is Expensive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漏报代价高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Read recall = TP / (TP + FN)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看召回率（Recall）= TP / (TP + FN)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Prefer a false alarm to a miss: safety alerts, screening, defect blocking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宁可误报，不可漏报：安全告警、疾病筛查、缺陷拦截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Price paid: more false alarms, more inspection hours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代价：误报上升，复检工时增加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Add a human review stage to absorb the FPs at the end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必要时加人工复核环节，把 FP 挡在最后一道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285442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A False Alarm Is Expensive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误报代价高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Read precision = TP / (TP + FP)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看精确率（Precision）= TP / (TP + FP)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Do not disturb the user: spam filters, auto-recommendation, auto-remediation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不能打扰用户：垃圾邮件拦截、自动推荐、自动处置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Price paid: some true targets are missed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代价：漏掉一部分真目标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Raise the threshold to buy precision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把阈值调高即可换到高精确率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285442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Both, with a Fixed Budget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两者都要，比例固定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Read F1 = 2PR / (P + R), the harmonic mean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看 F1 = 2PR / (P + R)，调和平均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A harmonic mean is pulled down by the weaker side: a low P or R caps F1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调和平均会被短板拖住：P 或 R 有一个很低，F1 就上不去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Report it when classes are imbalanced and neither error type is negligible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适合在数据不平衡且两类错误都不可忽视时汇报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For ranking, look at AUC / PR-AUC; when costs are asymmetric, weight them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排序能力看 AUC / PR-AUC；代价不对称时用代价加权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617442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One number is not a report. State the threshold, the per-class P/R and the class ratio — otherwise nobody can reproduce it.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汇报时给一个数字是不够的：写清「在什么阈值下、哪个类别的 P/R、类别比例多少」，否则无法被别人复核。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6243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Protocol: Can the Number Be Trusted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评估协议：数字可不可信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801577"/>
            <a:ext cx="8640000" cy="12946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One wrong split can add twenty points of accuracy out of thin air.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model did not improve — you simply told it the answers in advance.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一个算错的数据划分，能让模型的成绩凭空涨 20 个百分点。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这不是模型变好了，是你把答案提前告诉了它。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Split First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先划分，后处理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Fit scaling/augmentation on train only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标准化/增强只在训练集上拟合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604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84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Touch Test Once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测试集只碰一次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84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Tuning on it destroys its meaning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用它调参就不再是测试集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2879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679" y="5148000"/>
            <a:ext cx="2962439" cy="33111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K-Fold for Small Data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小数据用 K 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679" y="5414313"/>
            <a:ext cx="2962439" cy="6480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A single split is mostly luck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一次划分的运气成分太大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Three-Way Split: Each Part Has One Job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三段式划分：各司其职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70 / 15 / 15 — nobody is allowed to do someone else's job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70 / 15 / 15 —— 谁都不能越界干活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2015999"/>
            <a:ext cx="7372404" cy="111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800" y="2174400"/>
            <a:ext cx="7293204" cy="54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90" b="0" i="0">
                <a:solidFill>
                  <a:srgbClr val="CFDDF2"/>
                </a:solidFill>
                <a:latin typeface="Source Han Sans SC"/>
              </a:rPr>
              <a:t>训练集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696858"/>
            <a:ext cx="7372404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70%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14804" y="2015999"/>
            <a:ext cx="1545857" cy="111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4404" y="2174400"/>
            <a:ext cx="1466658" cy="54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Validation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90" b="0" i="0">
                <a:solidFill>
                  <a:srgbClr val="CFDDF2"/>
                </a:solidFill>
                <a:latin typeface="Source Han Sans SC"/>
              </a:rPr>
              <a:t>验证集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804" y="2696858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03862" y="2015999"/>
            <a:ext cx="1545857" cy="111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43462" y="2174400"/>
            <a:ext cx="1466658" cy="5440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Test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1090" b="0" i="0">
                <a:solidFill>
                  <a:srgbClr val="CFDDF2"/>
                </a:solidFill>
                <a:latin typeface="Source Han Sans SC"/>
              </a:rPr>
              <a:t>测试集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03862" y="2696858"/>
            <a:ext cx="1545857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FFFFFF"/>
                </a:solidFill>
                <a:latin typeface="Source Han Sans SC"/>
              </a:rPr>
              <a:t>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9200" y="3330000"/>
            <a:ext cx="7055604" cy="21480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Source Han Sans SC"/>
              </a:rPr>
              <a:t>Parameters are updated here. Fit only improves, so its own score can never be the report card.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模型参数在这里更新。只会越拟合越好，所以它自己的分数永远不能当成绩。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804" y="3330000"/>
            <a:ext cx="1229057" cy="21480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Source Han Sans SC"/>
              </a:rPr>
              <a:t>Where hyper-parameters, thresholds and early stopping are decided. You may reuse it — each reuse costs a little honesty.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超参数、阈值、早停的决策依据。你可以多次用它，但每用一次就多一分过拟合的风险。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3862" y="3330000"/>
            <a:ext cx="1229057" cy="21480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F2937"/>
                </a:solidFill>
                <a:latin typeface="Source Han Sans SC"/>
              </a:rPr>
              <a:t>Padlocked. Run once, after every decision is frozen, for the single final number. Once seen, you may not go back and tune.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上锁。只在全部决策定稿后跑一次，得到唯一的最终数字。看过它就不能再回头调参。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478061"/>
            <a:ext cx="10593719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0E3F8C"/>
                </a:solidFill>
                <a:latin typeface="Source Han Sans SC"/>
              </a:rPr>
              <a:t>Lab 5 of this course uses a stratified 70/15/15 split repeated over five seeds — a single split is never treated as a conclusion.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本课程的实验 5 就按 70/15/15 分层划分、并在 5 个随机种子上重复——单次划分的结果我们不当作结论。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Three Classic Ways to Inflate a Score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三个会让分数虚高的典型错误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Their common root: the answer leaks out before evaluation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它们的共同点是：答案在评估之前就泄露出去了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5038115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503811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91C1C"/>
                </a:solidFill>
                <a:latin typeface="Source Han Sans SC"/>
              </a:rPr>
              <a:t>Data Leakage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数据泄漏（Data Leakage）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2033090"/>
            <a:ext cx="2940839" cy="4229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Wrong order: normalise / oversample / augment the whole dataset, then split.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错误顺序：先对全量数据标准化 / 过采样 / 增强，再划分。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Result: the validation set's own statistics leak into its own preprocessing.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后果：验证集的均值与方差里，掺进了验证集自己的信息。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Symptom: validation accuracy 0.99, then 0.7 on a genuinely fresh batch.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典型症状：验证准确率 0.99，换一批真实数据掉到 0.7。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Correct order: split first, fit preprocessing on train only, then transform val/test.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正确顺序：先划分 → 只用训练集拟合预处理 → 再 transform 验证/测试集。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5038115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503811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45309"/>
                </a:solidFill>
                <a:latin typeface="Source Han Sans SC"/>
              </a:rPr>
              <a:t>Tuning on the Test Set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用测试集调参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2033090"/>
            <a:ext cx="2940839" cy="4229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The loop: read test result, change the learning rate, read again, change again — twenty times.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做法：看测试集结果 → 改学习率 → 再看 → 再改……循环 20 次。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Result: the test set silently became a validation set; you report the best of twenty draws.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后果：测试集被当成了验证集，你报出的数字是「挑出来的最好一次」。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In essence: every peek spends one unit of its value as independent evidence.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本质：每看一次测试集，它就少了一次独立的证据价值。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Course rule: the test result appears only in the final submission, alongside a log of every earlier decision.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本课程要求：测试集结果只出现在最终提交里，且附上这之前的所有决策记录。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296000"/>
            <a:ext cx="3387239" cy="503811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2400" cy="503811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One Run, No Seed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不重复、不设种子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2033090"/>
            <a:ext cx="2940839" cy="42290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Run once, with one seed, then treat a 1-point difference as "this method is better".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只跑一次、只看一个随机种子，然后把 1 个百分点的差异当成「方法更优」。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Result: with a few hundred validation samples, one point can be two samples of luck.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后果：验证集只有几百个样本时，1 个百分点可能就等于 2 个样本的运气。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In this week's measurements, the same change swung by ±3 points across seeds.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本周实测中，同一个改动在不同种子下的波动达到 ±3 个百分点。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Correct practice: 3-5 seeds minimum, report mean ± sd, and state whether the conclusion holds.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正确做法：至少 3–5 个种子，报告均值 ± 标准差，并说明结论是否稳定。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K-Fold Cross-Validation: Steadier on Small Data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K 折交叉验证：小数据时的更稳做法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Take turns being the validation set, then average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同一份数据，轮流当验证集，取平均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16848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Fold 1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第 1 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7199" y="15840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719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3767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767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8159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8159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64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64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9120" y="15840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9120" y="17136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23112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Fold 2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第 2 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8719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8719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37679" y="22104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767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验证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88159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8159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3864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3864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9120" y="22104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9120" y="23400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9200" y="29376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Fold 3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第 3 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8719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8719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37679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3767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088159" y="28368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88159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验证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3864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864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89120" y="28368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89120" y="29664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9200" y="3564000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Fold 4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第 4 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98719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98719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3767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3767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88159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088159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38640" y="34632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3864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验证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89120" y="34632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89120" y="35928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9200" y="4190399"/>
            <a:ext cx="108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0E3F8C"/>
                </a:solidFill>
                <a:latin typeface="Source Han Sans SC"/>
              </a:rPr>
              <a:t>Fold 5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第 5 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98719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8719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767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767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88159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88159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38640" y="4089600"/>
            <a:ext cx="1000079" cy="475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3864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train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训练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89120" y="4089600"/>
            <a:ext cx="1000079" cy="475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89120" y="4219200"/>
            <a:ext cx="100007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val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验证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0" y="1656000"/>
            <a:ext cx="4077719" cy="34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Each fold takes a turn as validation; K trainings give K scores.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每一折轮流当验证集，训练 K 次，得到 K 个分数。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Report mean ± sd, making split luck explicit rather than hidden.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报告「均值 ± 标准差」，把划分运气显式地写出来。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Cost: K times the training time. With plenty of data, skip it.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代价：训练时间是单次的 K 倍。数据够多时不必用。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With imbalanced classes, stratify — use StratifiedKFold.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类别不平衡时必须用分层 K 折（StratifiedKFold）。</a:t>
            </a: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Course rule: reports must state whether the result holds across seeds or folds.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本课程要求：实验报告需给出「是否跨种子/跨折稳定」的说明。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9200" y="49680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6B7280"/>
                </a:solidFill>
                <a:latin typeface="Source Han Sans SC"/>
              </a:rPr>
              <a:t>K-fold does not raise the score; it makes the uncertainty in the score visible.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K 折不是为了让分数更高，而是为了让「分数不确定性」被看见。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6243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Bias and Variance: Diagnose with Evidence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偏差-方差：按证据诊断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801577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Never "it feels like it is overfitting".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There is one reliable piece of evidence: training loss still falling while validation loss has turned upward.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不要「感觉好像过拟合了」。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过拟合有且只有一个可靠的证据：训练损失还在降，验证损失已经开始升。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96243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Read Loss, Not Accuracy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看损失，不看准确率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637426"/>
            <a:ext cx="296243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Accuracy has a ceiling and hides decay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准确率有天花板，会掩盖退化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604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84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Read Them Together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成对读数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84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Train and validation on one chart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训练与验证必须画在同一张图上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2879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679" y="5148000"/>
            <a:ext cx="296243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Diagnose Before Prescribing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诊断先于开药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679" y="5637426"/>
            <a:ext cx="296243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Underfit and overfit need opposite remedies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欠拟合和过拟合的对策相反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Three States, Three Curve Shapes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三种状态，三条曲线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Read the position and the direction of two lines — not the value of one point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看两条线的「位置」与「走向」，不看某一个点的数值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3327240" cy="4285442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3327240" cy="54000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Underfitting (high bias)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欠拟合（高偏差）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Training loss is high and will not fall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训练损失高且降不下去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Validation loss is equally high; the two lines sit close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验证损失同样高，两条线贴得很近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Evidence from this week: the augmentation arm reaches only 0.960 train accuracy, 0.824 test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本轮实测的证据：数据增强臂训练准确率只到 0.960，测试 0.824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Remedy: more capacity, better features, less regularisation, train longer — not more regularisation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对策：加容量、加特征、减少正则强度、训练更久——不是加正则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2440" y="1170000"/>
            <a:ext cx="3327240" cy="4285442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2440" y="1170000"/>
            <a:ext cx="3327240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8440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Well Fitted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拟合良好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440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Training loss settles low and flattens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训练损失降到低位并趋于平缓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Validation loss follows it down and stays flat near its minimum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验证损失跟着降，并在最低点附近平稳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A gap remains, but it is stable and stops widening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两条线之间有缺口，但缺口稳定、不再扩大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This is a shippable state, not a perfect one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这是一个可以交付的状态，不是一个「完美」的状态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679" y="1170000"/>
            <a:ext cx="3327240" cy="4285442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679" y="1170000"/>
            <a:ext cx="3327240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1679" y="1321200"/>
            <a:ext cx="289524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Overfitting (high variance)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50" b="0" i="0">
                <a:solidFill>
                  <a:srgbClr val="CFDDF2"/>
                </a:solidFill>
                <a:latin typeface="Source Han Sans SC"/>
              </a:rPr>
              <a:t>过拟合（高方差）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679" y="1890000"/>
            <a:ext cx="2895240" cy="34574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Training loss keeps falling toward zero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训练损失持续下降，一路逼近 0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Validation loss falls to some epoch, then turns upward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验证损失降到某轮后掉头上升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The gap between the two lines keeps widening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两条线的缺口持续扩大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Evidence from this week: train accuracy 1.000 while validation loss rises from 0.516 at epoch 85 to 0.671 at epoch 400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本轮实测的证据：训练准确率 1.000，验证损失从第 85 轮的 0.516 升到第 400 轮的 0.671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9200" y="5617442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Note: validation accuracy barely moved in the same experiments (around 0.856). That is why overfitting must be judged on loss.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80" b="0" i="0">
                <a:solidFill>
                  <a:srgbClr val="6B7280"/>
                </a:solidFill>
                <a:latin typeface="Source Han Sans SC"/>
              </a:rPr>
              <a:t>注意：验证「准确率」在同一批实验里几乎没变（0.856 上下）。所以判断过拟合必须看损失。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974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97429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97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What Overfitting Looks Like: Train vs Validation (measured)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过拟合长什么样：训练 vs 验证（本机实测）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19217"/>
            <a:ext cx="7713719" cy="435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Curve: one seed-42 run, one point every 20 epochs (epochs 1, 21, ..., 381) | table figures are means over 5 seeds (42-46)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曲线：seed 42 单次运行，每 20 轮取一点（第 1, 21, …, 381 轮）｜表中统计量为 5 个种子（42–46）的均值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27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Train accuracy hits 0.9875 by epoch 41 and is pinned at 1.000 from epoch 61 on.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训练准确率在第 41 轮就已经到 0.9875，第 61 轮起恒为 1.000。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Validation accuracy sticks at 0.83-0.84 and gains nothing over the next 300 epochs.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验证准确率卡在 0.83–0.84 一线，之后 300 多轮几乎没有任何提升。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From this chart alone you can already conclude: the model has memorised the training set.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只画这一张图，你已经可以判定：模型已经记住训练集，而不是学到规律。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But accuracy is a coarse ruler — it hides the degradation. The next chart is the decisive one.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但准确率是粗尺子——它把「变差」这件事藏起来了。下一张图才是关键。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974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97429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5976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The Decisive Evidence: Validation Loss Turns Upward (measured)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关键证据：验证损失掉头向上（本机实测）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19217"/>
            <a:ext cx="7713719" cy="4358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Curve: one seed-42 run, one point every 20 epochs (epochs 1, 21, ..., 381) | table figures are means over 5 seeds (42-46)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曲线：seed 42 单次运行，每 20 轮取一点（第 1, 21, …, 381 轮）｜表中统计量为 5 个种子（42–46）的均值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27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332000"/>
          <a:ext cx="6840000" cy="417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440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Baseline: bottoms out at 0.6357 at point 5 (epoch 81), then climbs monotonically to 0.8672 at epoch 400.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基线：第 5 个点（第 81 轮）触底 0.6357，此后单调上升到第 400 轮的 0.8672。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Over the same 400 epochs, the weight-decay line stays flat in 0.58-0.61 and never turns up.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同样的 400 轮，加了权重衰减的那条线在 0.58–0.61 之间横住，没有掉头。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Averaged over 5 seeds: baseline validation loss rises by +0.155±0.089; weight decay only +0.027±0.014.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跨 5 个种子平均：基线验证损失上升 +0.155±0.089；权重衰减只上升 +0.027±0.014。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• This fork in the curve is the line between overfitting and not.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00" b="0" i="0">
                <a:solidFill>
                  <a:srgbClr val="6B7280"/>
                </a:solidFill>
                <a:latin typeface="Source Han Sans SC"/>
              </a:rPr>
              <a:t>• 这条曲线的分岔，就是过拟合与不过拟合的分界线。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Symptom to Diagnosis to Remedy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症状 → 诊断 → 对策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Read the evidence first; the wrong prescription makes it worse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先读证据，再动手；开错药会越治越差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43258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000"/>
                <a:gridCol w="2448000"/>
                <a:gridCol w="4680000"/>
              </a:tblGrid>
              <a:tr h="720969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What you see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你看到的现象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Diagnosis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诊断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Do / do not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该做什么 / 不该做什么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72096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loss high, validation loss high, lines close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训练损失高，验证损失也高，两条线贴近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Underfitting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欠拟合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Widen/deepen, add features, weaken or remove regularisation, train longer. Adding dropout here makes it worse.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加宽/加深网络、补特征、减弱或撤掉正则、训练更久。此时加 Dropout 只会更糟。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96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loss keeps falling, validation loss turns upward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训练损失持续下降，验证损失掉头上升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Overfitting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过拟合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Early stop, weight decay, dropout, augmentation, more data. Note: validation accuracy may show nothing.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早停、权重衰减、Dropout、数据增强、增加数据量。注意：验证「准确率」可能看不出变化。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72096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Both look great, then a fresh batch collapses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训练与验证都很好，换新数据崩掉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Leakage or distribution shift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数据泄漏或分布漂移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Re-audit the split order and where preprocessing was fitted; check whether the new data was collected the same way.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回查划分顺序与预处理位置；检查新数据的采集条件是否与训练集一致。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96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Repeated runs swing within ±3 points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多次运行结果在 ±3 个百分点内跳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Noise, not a conclusion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噪声，不是结论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Re-run over 3-5 seeds, report mean ± sd; do not declare a win when the difference is under one sd.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换 3–5 个种子重跑，报告均值 ± 标准差；差异小于一个标准差时不要宣布「更优」。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720969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Validation loss wobbles slightly near its minimum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验证损失在最低点附近来回小幅波动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Normal convergence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正常收敛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Keep this state. Do not chase the lower training loss at epoch 400.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保留该状态即可。不要去追第 400 轮那个更低的训练损失。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5603814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Course rule: put the evidence in the report, not just the verdict. Evidence = concrete epochs and values from the train/validation loss curves.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本课程要求：把「诊断依据」写进实验报告，而不是只写结论。依据 = 训练/验证损失曲线的具体轮次与数值。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62437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Regularization: Four Brakes and Their Cost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340" b="0" i="0">
                <a:solidFill>
                  <a:srgbClr val="6B7280"/>
                </a:solidFill>
                <a:latin typeface="Source Han Sans SC"/>
              </a:rPr>
              <a:t>正则化：四个刹车及其代价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801577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Regularisation is not a free score boost. It trades a little training fit for a little generalisation.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Brake too hard and the car stops — that is called underfitting.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正则化不是「免费的提分技巧」，它是用一点训练集拟合度，换一点泛化可靠性。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刹车踩多了，车会停住——那叫欠拟合。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Early Stop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早停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Stop at the validation-loss minimum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在验证损失最低处停下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604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84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Weight Decay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权重衰减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84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Penalise large weights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惩罚大权重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2879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679" y="5148000"/>
            <a:ext cx="2962439" cy="5542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20" b="1" i="0">
                <a:solidFill>
                  <a:srgbClr val="0E3F8C"/>
                </a:solidFill>
                <a:latin typeface="Source Han Sans SC"/>
              </a:rPr>
              <a:t>Dropout / Augmentation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50" b="0" i="0">
                <a:solidFill>
                  <a:srgbClr val="6B7280"/>
                </a:solidFill>
                <a:latin typeface="Source Han Sans SC"/>
              </a:rPr>
              <a:t>Dropout / 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679" y="5637426"/>
            <a:ext cx="2962439" cy="4249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Perturb data and representation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给数据与表示加扰动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Four Brakes, Four Things Being Slowed Down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四种手段，各自在刹车什么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All four limit the model's freedom, but in completely different ways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它们都在限制模型的「自由度」，但限制的方式完全不同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2486429" cy="4888764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4888764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47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Early Stop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早停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2033090"/>
            <a:ext cx="2040029" cy="4079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Watch validation loss; stop after N epochs without improvement, then restore the best weights.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监视验证损失，连续 N 轮不改善就停，并恢复到最佳权重。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Slows: training time. Changes neither the model nor the data.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刹车对象：训练时长。不改模型、不改数据。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Main side effect: validation is now used for decisions; repeated reuse wears it out.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最大副作用：验证集被用于决策，反复使用会渐渐失效。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Measured this week: 400 epochs cut to 105, test accuracy 0.874 vs baseline 0.878.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本轮实测：把 400 轮砍到 105 轮，测试准确率 0.874 vs 基线 0.878。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1629" y="1296000"/>
            <a:ext cx="2486429" cy="4888764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1629" y="1296000"/>
            <a:ext cx="32400" cy="4888764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4829" y="1447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Weight Decay (L2)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权重衰减（L2）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829" y="2033090"/>
            <a:ext cx="2040029" cy="4079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Add λ‖w‖² to the loss, pulling weights toward zero and making the function smoother.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在损失里加 λ‖w‖²，让权重被持续拉向 0，模型更「平缓」。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Slows: parameter magnitude. One argument to enable.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刹车对象：参数幅度。一行参数即可启用。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Key lesson: it suppresses the rise in validation loss rather than raising accuracy.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关键经验：它压住的是验证损失的上升，而不是提高准确率。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Measured this week: validation loss rise +0.027±0.014 versus +0.155±0.089 for the baseline.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本轮实测：验证损失上升 +0.027±0.014，基线为 +0.155±0.089。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059" y="1296000"/>
            <a:ext cx="2486429" cy="4888764"/>
          </a:xfrm>
          <a:prstGeom prst="rect">
            <a:avLst/>
          </a:prstGeom>
          <a:solidFill>
            <a:srgbClr val="FFFBE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4059" y="1296000"/>
            <a:ext cx="32400" cy="4888764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7259" y="1447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45309"/>
                </a:solidFill>
                <a:latin typeface="Source Han Sans SC"/>
              </a:rPr>
              <a:t>Dropout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7259" y="1798775"/>
            <a:ext cx="2040029" cy="43139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Randomly zero a fraction of neurons during training, so the net cannot rely on one unit.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训练时随机把一部分神经元置零，迫使网络不依赖某个单点特征。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Slows: co-adaptation between neurons. Must be off at evaluation time.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刹车对象：神经元之间的共适应。评估时必须关闭。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Classic bug: forgetting model.train() / model.eval(), so every evaluation differs.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易踩的坑：model.train() / model.eval() 忘记切换，结果每次评估都不一样。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Measured this week: test 0.884±0.011 vs baseline 0.878±0.012 — a 0.006 gap, under one sd.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本轮实测：测试准确率 0.884±0.011 vs 基线 0.878±0.012 —— 差 0.006，小于一个标准差。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6489" y="1296000"/>
            <a:ext cx="2486429" cy="4888764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6489" y="1296000"/>
            <a:ext cx="32400" cy="48887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9689" y="1447200"/>
            <a:ext cx="204002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91C1C"/>
                </a:solidFill>
                <a:latin typeface="Source Han Sans SC"/>
              </a:rPr>
              <a:t>Data Augmentation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数据增强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9689" y="2033090"/>
            <a:ext cx="2040029" cy="4079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Apply label-preserving transforms to training samples — diversity instead of more data.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对训练样本施加保持标签不变的变换，等价于扩充数据多样性。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Slows: effective dataset size. The transform must respect the data's semantics.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刹车对象：训练集规模。增强算子必须符合数据语义。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Measured counter-example here: pixel shifts + noise drop test accuracy to 0.824 — worse.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本任务上的实测反例：像素级位移 + 噪声把测试准确率拉到 0.824，反而更差。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900" b="0" i="0">
                <a:solidFill>
                  <a:srgbClr val="1F2937"/>
                </a:solidFill>
                <a:latin typeface="Source Han Sans SC"/>
              </a:rPr>
              <a:t>• Why: at 8x8 there are only 64 pixels; shifting erases stroke structure and creates mislabelled data.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• 原因：8×8 的手写数字只有 64 个像素，位移会抹掉笔画结构，等于制造了错标签。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Four Brakes in PyTorch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四种手段在 PyTorch 里怎么写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Under 15 lines in total — the hard part is knowing when not to write them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全部改动加起来不到 15 行——难点不在写代码，在于知道什么时候不该写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70000"/>
            <a:ext cx="5185259" cy="42643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1. Early stop + 2. Weight decay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① 早停 + ② 权重衰减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584000"/>
            <a:ext cx="4789259" cy="3778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2. Weight decay: just one argument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opt = torch.optim.Adam(model.parameters(),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 lr=1e-3, weight_decay=1e-2)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1. Early stop: keep the best state yourself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best, best_state, bad = float('inf'), None,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ep in range(1, 401):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train_one_epoch(model, opt, loader)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va_loss, va_acc = evaluate(model, Xva, yva)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if va_loss &lt; best - 1e-4: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best, bad = va_loss, 0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best_state = {k: v.clone() for k, v in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          model.state_dict().items()}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else: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bad += 1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if bad &gt;= 20: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        break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model.load_state_dict(best_state)   # restore best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70000"/>
            <a:ext cx="5185259" cy="426436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70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56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3. Dropout + 4. Augmentation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③ Dropout + ④ 增强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584000"/>
            <a:ext cx="4789259" cy="37783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3. Dropout: insert between hidden layers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 = nn.Sequential(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128),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nn.Linear(128, 64), nn.ReLU(), nn.Dropout(0.3),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nn.Linear(64, 10))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net.train()   # training: Dropout is active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net.eval()    # eval: Dropout switches off!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# 4. Augmentation: training batch only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def augment(xb):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shift_pixels(xb, max_shift=1)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noise = torch.randn_like(xb) * 0.15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return (xb + noise).clamp(0, 1)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for xb, yb in train_loader: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xb = augment(xb)          # never augment val</a:t>
            </a:r>
          </a:p>
          <a:p>
            <a:pPr algn="l">
              <a:lnSpc>
                <a:spcPct val="128000"/>
              </a:lnSpc>
            </a:pPr>
            <a:r>
              <a:rPr sz="1000" b="0" i="0">
                <a:solidFill>
                  <a:srgbClr val="E2E8F0"/>
                </a:solidFill>
                <a:latin typeface="Menlo"/>
              </a:rPr>
              <a:t>    loss = F.cross_entropy(net(xb), yb)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614362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The train/eval switch is bug number one for dropout: forget net.eval() and validation accuracy jitters randomly — enough to make you believe a regulariser works when it does not.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记住 train/eval 切换是 Dropout 的第一号 bug 来源：评估时忘记 net.eval()，验证准确率会随机抖动，你甚至可能因此得出错误的「正则化有效」。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Measured on This Machine: Six Arms Side by Side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本机实测：六种方案横向对照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digits 8x8 · 70/15/15 · n_train=80 · 64-128-64-10 MLP · Adam 1e-3 · 400 epochs · 5 seeds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digits 8×8 · 70/15/15 · 训练集 n=80 · 64-128-64-10 MLP · Adam 1e-3 · 400 轮 · 5 个随机种子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223999" cy="40491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000"/>
                <a:gridCol w="1548000"/>
                <a:gridCol w="1655999"/>
                <a:gridCol w="2052000"/>
                <a:gridCol w="1584000"/>
                <a:gridCol w="1620000"/>
              </a:tblGrid>
              <a:tr h="578457"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方案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Train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训练准确率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Val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验证准确率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Val loss best to 400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验证损失 最低→第400轮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Rise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损失上升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30" b="1">
                          <a:solidFill>
                            <a:srgbClr val="FFFFFF"/>
                          </a:solidFill>
                          <a:latin typeface="Source Han Sans SC"/>
                        </a:rPr>
                        <a:t>Test acc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C3D4EF"/>
                          </a:solidFill>
                          <a:latin typeface="Source Han Sans SC"/>
                        </a:rPr>
                        <a:t>测试准确率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Baseline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无正则（基线）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0.516 to 0.671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0.516 → 0.671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+0.155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Early stop (patience 20)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早停（patience 20）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0.858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0.516 to 0.534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0.516 → 0.534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+0.018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0.874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Weight decay 1e-2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权重衰减 1e-2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0.497 to 0.524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0.497 → 0.524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Dropout 0.3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1.000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0.857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0.474 to 0.645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0.474 → 0.645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+0.171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Augmentation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数据增强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0.960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0.529 to 0.606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0.529 → 0.606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8457"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Combined (wd + dropout + aug)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组合（衰减+Dropout+增强）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0.875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0.716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0.849 to 0.884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19" b="0">
                          <a:solidFill>
                            <a:srgbClr val="6B7280"/>
                          </a:solidFill>
                          <a:latin typeface="Source Han Sans SC"/>
                        </a:rPr>
                        <a:t>0.849 → 0.884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+0.035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9" b="0">
                          <a:solidFill>
                            <a:srgbClr val="1F2937"/>
                          </a:solidFill>
                          <a:latin typeface="Source Han Sans SC"/>
                        </a:rPr>
                        <a:t>0.740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5327199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Means over 5 seeds (42-46); test-accuracy standard deviations run 0.010-0.024. How to read this table is on the next slide.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表内为 5 个种子（42–46）的均值；测试准确率的标准差在 0.010–0.024 之间。读取方式见下一页。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How to Read That Table: Three Honest Conclusions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怎么读这张表：三条诚实的结论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This experiment did not produce the tidy answer "regularisation raises accuracy" — so we report what happened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这次实验没有给出「正则化提高准确率」这个漂亮答案 —— 我们照实报告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10593719" cy="166474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32400" cy="166474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772522"/>
            <a:ext cx="900000" cy="423701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772522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Finding 1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结论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259999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Regularisation suppresses validation loss — it does not raise accuracy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正则化压住的是验证损失，不是提高准确率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538999"/>
            <a:ext cx="9153719" cy="1223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Baseline validation loss rises +0.155; early stop only +0.018, weight decay only +0.027. Yet validation accuracy across all six arms sits in 0.716-0.858 and every test-accuracy difference is within one sd. Accuracy cannot tell them apart; validation loss tells you instantly who is degrading.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基线验证损失上升 +0.155，早停只 +0.018，权重衰减只 +0.027。但六种方案的验证准确率全落在 0.716–0.858，测试准确率差异也都在一个标准差内。用准确率根本分辨不出谁更好；用验证损失一眼就能看出谁在退化。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924745"/>
            <a:ext cx="10593719" cy="166474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924745"/>
            <a:ext cx="32400" cy="166474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3545268"/>
            <a:ext cx="900000" cy="423701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3545268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Finding 2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结论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3032745"/>
            <a:ext cx="9153719" cy="56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Augmentation and the combined arm hurt here — that is underfitting, not overfitting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数据增强与组合正则在本任务上有害，是欠拟合不是过拟合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3540345"/>
            <a:ext cx="9153719" cy="9951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Augmentation pulls test accuracy from 0.878 down to 0.824 and train accuracy from 1.000 to 0.960; the combined arm collapses to 0.740. The cause is not weak regularisation but an over-applied brake: at 8x8 there are only 64 pixels, and shifting erases stroke structure, effectively mislabelling the training data.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增强把测试准确率从 0.878 拉到 0.824，训练准确率也从 1.000 掉到 0.960；组合方案更是崩到 0.740。原因不是「正则太弱」，而是刹车踩过头：8×8 只有 64 个像素，位移会抹掉笔画结构，等于给训练数据制造了错标签。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4697491"/>
            <a:ext cx="10593719" cy="1664745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4697491"/>
            <a:ext cx="32400" cy="166474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5318013"/>
            <a:ext cx="900000" cy="423701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5318013"/>
            <a:ext cx="900000" cy="42370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Finding 3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CFDDF2"/>
                </a:solidFill>
                <a:latin typeface="Source Han Sans SC"/>
              </a:rPr>
              <a:t>结论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4805491"/>
            <a:ext cx="9153719" cy="336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A single run's difference may be noise — always repeat across seeds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980" b="0" i="0">
                <a:solidFill>
                  <a:srgbClr val="6B7280"/>
                </a:solidFill>
                <a:latin typeface="Source Han Sans SC"/>
              </a:rPr>
              <a:t>一次实验的差异可能是噪声，必须跨种子重复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5084491"/>
            <a:ext cx="9153719" cy="1223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The same change moves test accuracy by up to ±3 points across seeds. Dropout's 0.884 versus the baseline's 0.878 is a 0.006 gap, under one sd (0.012) — by this course's rule that is not enough to claim a win, only to say no significant difference was observed.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6B7280"/>
                </a:solidFill>
                <a:latin typeface="Source Han Sans SC"/>
              </a:rPr>
              <a:t>同一个改动在不同种子下，测试准确率波动可达 ±3 个百分点。Dropout 的 0.884 对基线 0.878 只差 0.006，小于一个标准差（0.012）——按本课程的判定规则，这不足以宣布「Dropout 更优」，只能说「未观察到显著差异」。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147540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Lab · Overfitting Reproduction and Regularization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2110" b="0" i="0">
                <a:solidFill>
                  <a:srgbClr val="6B7280"/>
                </a:solidFill>
                <a:latin typeface="Source Han Sans SC"/>
              </a:rPr>
              <a:t>Lab · 实验 5 过拟合复现与正则化对比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2736000"/>
            <a:ext cx="8640000" cy="16375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Manufacture overfitting on purpose, then apply the four remedies one at a time.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goal is not a higher score but curves that explain what each remedy actually changed.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先故意制造一次过拟合，再逐一施加四种手段。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70" b="0" i="0">
                <a:solidFill>
                  <a:srgbClr val="6B7280"/>
                </a:solidFill>
                <a:latin typeface="Source Han Sans SC"/>
              </a:rPr>
              <a:t>要求不是「让分数变高」，而是「用曲线说清楚每个手段到底改了什么」。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9920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00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Manufacture It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制造过拟合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800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Small train set, large net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小训练集 + 大网络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06040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6040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4840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One at a Time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逐个施加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4840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Change one variable per run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一次只改一个变量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12879" y="5000400"/>
            <a:ext cx="3380039" cy="1062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2879" y="5000400"/>
            <a:ext cx="338003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1679" y="5148000"/>
            <a:ext cx="2962439" cy="3457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0E3F8C"/>
                </a:solidFill>
                <a:latin typeface="Source Han Sans SC"/>
              </a:rPr>
              <a:t>Quantify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1010" b="0" i="0">
                <a:solidFill>
                  <a:srgbClr val="6B7280"/>
                </a:solidFill>
                <a:latin typeface="Source Han Sans SC"/>
              </a:rPr>
              <a:t>量化改善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1679" y="5428943"/>
            <a:ext cx="2962439" cy="633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B7280"/>
                </a:solidFill>
                <a:latin typeface="Source Han Sans SC"/>
              </a:rPr>
              <a:t>Validation loss and best epoch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用验证损失与最佳轮次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Lab Tasks: Five Parts, One Step at a Time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实验任务：五个部分，逐步推进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Every part ends in something checkable — if you cannot produce it, stop and debug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每一部分都有可检验的产出，做不出来就停下来查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96000"/>
            <a:ext cx="3387239" cy="5068595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96000"/>
            <a:ext cx="32400" cy="5068595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B91C1C"/>
                </a:solidFill>
                <a:latin typeface="Source Han Sans SC"/>
              </a:rPr>
              <a:t>A. Manufacture Overfitting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A · 先制造过拟合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2033090"/>
            <a:ext cx="2940839" cy="42595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Data: sklearn digits (8x8, 1797 images, offline), normalised to 0-1 first.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数据：sklearn digits（8×8，1797 张，离线），先标准化到 0–1。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Split 70/15/15, stratified, fixed seed; keep only 80 training images.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划分：70/15/15 分层，随机种子固定；训练集只取 80 张。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Model: 64-128-64-10 MLP (17,226 parameters) — 215 parameters per training sample.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模型：64-128-64-10 的 MLP（17,226 个参数）。参数是样本数的 215 倍。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Deliverable: four curves (train/val accuracy and loss) plus the epoch of minimum validation loss.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产出：训练/验证准确率与损失四条曲线，指出验证损失的最低轮次。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2440" y="1296000"/>
            <a:ext cx="3387239" cy="5068595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02440" y="1296000"/>
            <a:ext cx="32400" cy="5068595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563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B. Apply the Four Remedies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B · 逐个施加四种手段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5639" y="2033090"/>
            <a:ext cx="2940839" cy="42595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Early stop (patience 20, restore best); weight decay (weight_decay=1e-2).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早停（patience=20，恢复最佳权重）；权重衰减（weight_decay=1e-2）。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Dropout (p=0.3); augmentation (Gaussian noise sigma=0.15 + ±1 px shift).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Dropout（p=0.3）；数据增强（高斯噪声 σ=0.15 + ±1 像素位移）。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Change one variable at a time, everything else identical to A; add one combined arm.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每次只改一个变量，其余与 A 完全一致；再加一个「全部组合」的对照臂。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Record: validation loss at its minimum and at epoch 400, best epoch, epochs actually run.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必须记录：验证损失最低值与第 400 轮的值、最佳轮次、实跑轮次。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5679" y="1296000"/>
            <a:ext cx="3387239" cy="5068595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5679" y="1296000"/>
            <a:ext cx="32400" cy="5068595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8879" y="1447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0E3F8C"/>
                </a:solidFill>
                <a:latin typeface="Source Han Sans SC"/>
              </a:rPr>
              <a:t>C. Quantify, D. Conclude Honestly, E. Reproduce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130" b="0" i="0">
                <a:solidFill>
                  <a:srgbClr val="6B7280"/>
                </a:solidFill>
                <a:latin typeface="Source Han Sans SC"/>
              </a:rPr>
              <a:t>C · 量化 + D 诚实结论 + E 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8879" y="2298265"/>
            <a:ext cx="2940839" cy="39943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Quantify: for every arm compute Δ = loss at epoch 400 minus loss at its minimum, as a table.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量化：每臂给出「验证损失上升幅度」Δ = 第400轮 − 最低点，做成对照表。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Honest verdict: which remedy helped, which did nothing, which hurt — and why.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诚实结论：写出哪个手段对本任务有效、哪个无效、哪个反而有害，并给原因。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Across seeds: re-run the key claim over at least 3 seeds; report mean ± sd.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跨种子：至少 3 个种子重跑主结论，报告均值 ± 标准差。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• Reproduce: fixed seed, one command to re-run; attach environment and library versions.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• 复现：固定随机种子，脚本一条命令可重跑；附上环境信息与库版本。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Deliverables and Rubric (Lab 5)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交付物与评分（实验 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100 points, announced in advance; the core question is whether the evidence chain is complete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100 分制，事前公布；核心是「证据链是否完整」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27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152000"/>
          <a:ext cx="10584000" cy="3363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6588000"/>
                <a:gridCol w="1620000"/>
              </a:tblGrid>
              <a:tr h="560631"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Deliverable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交付物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Requirement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具体要求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30" b="1">
                          <a:solidFill>
                            <a:srgbClr val="FFFFFF"/>
                          </a:solidFill>
                          <a:latin typeface="Source Han Sans SC"/>
                        </a:rPr>
                        <a:t>Points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60" b="0">
                          <a:solidFill>
                            <a:srgbClr val="C3D4EF"/>
                          </a:solidFill>
                          <a:latin typeface="Source Han Sans SC"/>
                        </a:rPr>
                        <a:t>分值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60631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Overfitting evidence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过拟合复现证据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Four curves plus the exact epoch of minimum validation loss; must show train accuracy saturating at 1.000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训练/验证四条曲线 + 验证损失最低轮次的具体数值；能指出「训练准确率已饱和到 1.000」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631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Regularization comparison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正则化对照表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All six arms (baseline / early stop / weight decay / dropout / augmentation / combined) with train, val, test accuracy and Δ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六臂（基线/早停/权重衰减/Dropout/增强/组合）的训练、验证、测试准确率与验证损失上升幅度 Δ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30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60631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Quantified verdict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量化结论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State which remedy helped, which did not, which hurt, with a mechanism — not just "it did not work"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明确说明哪个手段有效、哪个无效、哪个有害，并给出机理解释（而不是「效果不好」四个字）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631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Cross-seed stability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跨种子稳定性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At least 3 seeds re-run, mean ± sd reported, and a statement of whether the conclusion holds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至少 3 个种子的重跑结果，报告均值 ± 标准差；说明结论是否稳定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15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60635"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Reproducibility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可复现性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One command re-runs everything; fixed seeds; environment and library versions attached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6B7280"/>
                          </a:solidFill>
                          <a:latin typeface="Source Han Sans SC"/>
                        </a:rPr>
                        <a:t>一条命令可重跑全部结果；固定种子；附环境与库版本（Python / torch / sklearn）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64179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Common deductions: curves without epoch numbers; reading "accuracy did not move" as "regularisation is useless"; concluding from a single seed.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扣分重点：只贴曲线不给轮次数值；把「准确率没变」写成「正则化无效」；只跑一个种子就下结论。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Quick Check · Module 2 Review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随堂小测 · 模块二综合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Answer first, then compare with the next page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先自己选，再对照下一页的答案与理由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34000"/>
            <a:ext cx="5197859" cy="251678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296000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296000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Metrics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指标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296000"/>
            <a:ext cx="3793859" cy="1142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A binary classifier scores 0.95 accuracy on 1,000 samples with 50 positives. Which metric must you look at next, and why?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某二分类器在 1000 个样本（50 个正例）上准确率 0.95。最需要补看哪个指标？为什么？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2410146"/>
            <a:ext cx="4801859" cy="1168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None — 0.95 is already good enough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不用看，0.95 已经足够好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Recall: positives are only 5%, so predicting all-negative already gives 0.95 — first confirm the positives are not being missed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召回率：正例只占 5%，全部判负就能拿到 0.95，先确认正例有没有被漏掉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Training loss: it reflects the model state best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训练损失：它最能反映模型状态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Parameter count: only large models are a worry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参数量：模型太大才需要担心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34000"/>
            <a:ext cx="5197859" cy="251678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296000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296000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Diagnosis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296000"/>
            <a:ext cx="3793859" cy="11429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Train accuracy 1.000, validation accuracy 0.856, validation loss rising since epoch 85. What is the diagnosis?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训练准确率 1.000、验证准确率 0.856、验证损失从第 85 轮起持续上升。诊断是什么？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2410146"/>
            <a:ext cx="4801859" cy="11686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Underfitting — enlarge the model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欠拟合，应该加大模型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Overfitting — the evidence is validation loss turning upward (accuracy hides it behind a ceiling)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过拟合，证据是验证损失已掉头上升（准确率被天花板掩盖了）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The data is broken — collect again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数据有问题，应该重新采集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Cannot tell — you need the test set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看不出来，必须看测试集才能判断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848781"/>
            <a:ext cx="5197859" cy="251678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4010781"/>
            <a:ext cx="900000" cy="408881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4010781"/>
            <a:ext cx="900000" cy="40888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Protocol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4010781"/>
            <a:ext cx="3793859" cy="522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Which of these inflates the validation score?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以下哪个做法会让验证分数虚高？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622781"/>
            <a:ext cx="4801859" cy="167078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Split first, then fit the scaler on the training set only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先划分数据集，再只用训练集拟合标准化参数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Oversample and normalise the whole dataset first, then split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对全量数据先做过采样与标准化，再划分训练/验证集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Use StratifiedKFold for cross-validation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用 StratifiedKFold 做分层交叉验证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Re-run over 5 seeds and report mean ± sd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用 5 个随机种子重跑并报告均值 ± 标准差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848781"/>
            <a:ext cx="5197859" cy="2516781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4010781"/>
            <a:ext cx="900000" cy="584903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4010781"/>
            <a:ext cx="900000" cy="5849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Regularization</a:t>
            </a:r>
          </a:p>
          <a:p>
            <a:pPr algn="ctr">
              <a:lnSpc>
                <a:spcPct val="105000"/>
              </a:lnSpc>
              <a:spcBef>
                <a:spcPts val="150"/>
              </a:spcBef>
            </a:pPr>
            <a:r>
              <a:rPr sz="819" b="0" i="0">
                <a:solidFill>
                  <a:srgbClr val="CFDDF2"/>
                </a:solidFill>
                <a:latin typeface="Source Han Sans SC"/>
              </a:rPr>
              <a:t>正则化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4010781"/>
            <a:ext cx="3793859" cy="7471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In this week's measurements, what was weight decay 1e-2's cleanest benefit?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00" b="0" i="0">
                <a:solidFill>
                  <a:srgbClr val="6B7280"/>
                </a:solidFill>
                <a:latin typeface="Source Han Sans SC"/>
              </a:rPr>
              <a:t>本机实测中，权重衰减 1e-2 最干净的收益是什么？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729146"/>
            <a:ext cx="4801859" cy="156441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A. Raising test accuracy from 0.878 to 0.95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A. 把测试准确率从 0.878 提到 0.95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B. Lowering train accuracy to 0.90 to avoid overfitting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B. 把训练准确率降到 0.90，避免过拟合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C. Suppressing the rise in validation loss from +0.155 to +0.027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C. 把验证损失的上升幅度从 +0.155 压到 +0.027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800" b="0" i="0">
                <a:solidFill>
                  <a:srgbClr val="1F2937"/>
                </a:solidFill>
                <a:latin typeface="Source Han Sans SC"/>
              </a:rPr>
              <a:t>D. Reducing the parameter count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D. 减少参数量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800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129600"/>
            <a:ext cx="7713719" cy="6628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This Week's Takeaways and Homework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210" b="0" i="0">
                <a:solidFill>
                  <a:srgbClr val="6B7280"/>
                </a:solidFill>
                <a:latin typeface="Source Han Sans SC"/>
              </a:rPr>
              <a:t>本周要点与课后任务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91645"/>
            <a:ext cx="7713719" cy="45318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Separate the training-set score from a trustworthy score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把「训练集分数」和「可信的分数」彻底区分开来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309600"/>
            <a:ext cx="2736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6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Module 2 · Week 6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00" b="0" i="0">
                <a:solidFill>
                  <a:srgbClr val="6B7280"/>
                </a:solidFill>
                <a:latin typeface="Source Han Sans SC"/>
              </a:rPr>
              <a:t>模块二 · Week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959074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95907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505537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09600"/>
            <a:ext cx="5832000" cy="8438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Choosing a metric is writing business cost into a formula: recall when a miss is costly, precision when a false alarm is, F1 when both matter, AUC for ranking.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指标选择的本质是把业务代价写进公式：漏报贵看召回率，误报贵看精确率，两者都要看 F1，排序能力看 AUC。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2147074"/>
            <a:ext cx="6696000" cy="959074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2147074"/>
            <a:ext cx="475200" cy="95907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500612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204674"/>
            <a:ext cx="5832000" cy="8438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The protocol decides whether the number is believable: split before processing, touch test once, stratify and K-fold on small data, and repeat across seeds.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评估协议决定数字是否可信：先划分后处理、测试集只碰一次、小数据用分层 K 折、结论必须跨种子重复。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3142149"/>
            <a:ext cx="6696000" cy="959074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3142149"/>
            <a:ext cx="475200" cy="95907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3495686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3199749"/>
            <a:ext cx="5832000" cy="8438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The only reliable evidence of overfitting is validation loss turning upward; validation accuracy hides the degradation behind a ceiling.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过拟合的唯一可靠证据是验证损失掉头上升；验证准确率会因为天花板效应看不出退化。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4137224"/>
            <a:ext cx="6696000" cy="959074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4137224"/>
            <a:ext cx="475200" cy="95907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4490761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4194824"/>
            <a:ext cx="5832000" cy="8438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The four remedies act differently: early stop limits time, weight decay limits magnitude, dropout limits co-adaptation, augmentation limits data diversity — none is free.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四种正则化手段动作不同：早停限时长、权重衰减限幅度、Dropout 限共适应、增强限数据多样性——都不是免费的。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9200" y="5132298"/>
            <a:ext cx="6696000" cy="959074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200" y="5132298"/>
            <a:ext cx="475200" cy="959074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9200" y="5485836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29200" y="5189898"/>
            <a:ext cx="5832000" cy="8438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1F2937"/>
                </a:solidFill>
                <a:latin typeface="Source Han Sans SC"/>
              </a:rPr>
              <a:t>What we measured: regularisation suppressed validation loss but did not raise accuracy; augmentation and combined regularisation actually hurt on 8x8 images. Report it as it is.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60" b="0" i="0">
                <a:solidFill>
                  <a:srgbClr val="6B7280"/>
                </a:solidFill>
                <a:latin typeface="Source Han Sans SC"/>
              </a:rPr>
              <a:t>本周实测结论：正则化压住了验证损失，但没有提高准确率；数据增强与组合正则在 8×8 图像上反而有害。照实报告。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17200" y="1267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  <a:r>
              <a:rPr sz="1090" b="0" i="0">
                <a:solidFill>
                  <a:srgbClr val="CFDDF2"/>
                </a:solidFill>
                <a:latin typeface="Source Han Sans SC"/>
              </a:rPr>
              <a:t> ｜ </a:t>
            </a:r>
            <a:r>
              <a:rPr sz="1090" b="0" i="0">
                <a:solidFill>
                  <a:srgbClr val="CFDDF2"/>
                </a:solidFill>
                <a:latin typeface="Source Han Sans SC"/>
              </a:rPr>
              <a:t>课后任务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01200" y="1818000"/>
            <a:ext cx="3591719" cy="1582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17200" y="19476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F8C"/>
                </a:solidFill>
                <a:latin typeface="Source Han Sans SC"/>
              </a:rPr>
              <a:t>Submit the regularization report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提交正则化对比实验报告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7200" y="2374048"/>
            <a:ext cx="3159719" cy="972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Six-arm table, the validation-loss rise Δ, cross-seed mean ± sd, and an explicit verdict on which remedy works best here and why.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含六臂对照表、验证损失上升幅度 Δ、跨种子均值 ± 标准差，以及「哪种手段对本任务最有效及原因」的明确结论。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01200" y="3508256"/>
            <a:ext cx="3591719" cy="1582256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7200" y="3637856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E3F8C"/>
                </a:solidFill>
                <a:latin typeface="Source Han Sans SC"/>
              </a:rPr>
              <a:t>Finish the Module 2 quiz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19" b="0" i="0">
                <a:solidFill>
                  <a:srgbClr val="6B7280"/>
                </a:solidFill>
                <a:latin typeface="Source Han Sans SC"/>
              </a:rPr>
              <a:t>完成模块二综合小测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7200" y="3869080"/>
            <a:ext cx="3159719" cy="1167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Covers W5-W8 knowledge points (KT9-KT14); answers reviewed at the start of next class.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覆盖 W5–W8 知识点（KT9–KT14），下次课复习导入环节对答案。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W6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75638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0E3F8C"/>
                </a:solidFill>
                <a:latin typeface="Source Han Sans SC"/>
              </a:rPr>
              <a:t>Prove your number is trustworthy first;</a:t>
            </a:r>
          </a:p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0E3F8C"/>
                </a:solidFill>
                <a:latin typeface="Source Han Sans SC"/>
              </a:rPr>
              <a:t>argue about how good your model is second.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789" b="0" i="0">
                <a:solidFill>
                  <a:srgbClr val="6B7280"/>
                </a:solidFill>
                <a:latin typeface="Source Han Sans SC"/>
              </a:rPr>
              <a:t>先证明你的数字可信，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789" b="0" i="0">
                <a:solidFill>
                  <a:srgbClr val="6B7280"/>
                </a:solidFill>
                <a:latin typeface="Source Han Sans SC"/>
              </a:rPr>
              <a:t>再谈你的模型多好。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628389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Next week: CNNs for Computer Vision — Lab 6 reuses this week's evaluation protocol and augmentation, so bring your curve-reading.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940" b="0" i="0">
                <a:solidFill>
                  <a:srgbClr val="6B7280"/>
                </a:solidFill>
                <a:latin typeface="Source Han Sans SC"/>
              </a:rPr>
              <a:t>下周：卷积神经网络与计算机视觉应用 —— 实验 6 会用到本周的评估协议与增强策略，请把曲线读法带过去。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427996"/>
            <a:ext cx="792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1480" b="0" i="0">
                <a:solidFill>
                  <a:srgbClr val="6B7280"/>
                </a:solidFill>
                <a:latin typeface="Source Han Sans SC"/>
              </a:rPr>
              <a:t>谢谢大家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184457"/>
            <a:ext cx="10593719" cy="818507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5292457"/>
            <a:ext cx="10089720" cy="2911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Next week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 ｜ </a:t>
            </a:r>
            <a:r>
              <a:rPr sz="860" b="0" i="0">
                <a:solidFill>
                  <a:srgbClr val="6B7280"/>
                </a:solidFill>
                <a:latin typeface="Source Han Sans SC"/>
              </a:rPr>
              <a:t>下周预告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544025"/>
            <a:ext cx="10089720" cy="4589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80" b="0" i="0">
                <a:solidFill>
                  <a:srgbClr val="0E3F8C"/>
                </a:solidFill>
                <a:latin typeface="Source Han Sans SC"/>
              </a:rPr>
              <a:t>W7 · Convolution, pooling and receptive fields · training a CNN with augmentation on GPU · confusion matrix and error-case analysis (Lab 6)</a:t>
            </a:r>
          </a:p>
          <a:p>
            <a:pPr algn="l">
              <a:lnSpc>
                <a:spcPct val="105000"/>
              </a:lnSpc>
              <a:spcBef>
                <a:spcPts val="150"/>
              </a:spcBef>
            </a:pPr>
            <a:r>
              <a:rPr sz="800" b="0" i="0">
                <a:solidFill>
                  <a:srgbClr val="6B7280"/>
                </a:solidFill>
                <a:latin typeface="Source Han Sans SC"/>
              </a:rPr>
              <a:t>W7 · 卷积、池化与感受野 · 用增强与 GPU 训练 CNN · 混淆矩阵与错分案例分析（实验 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6 Lecture · 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