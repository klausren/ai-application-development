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accuracy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0.1</c:v>
                </c:pt>
                <c:pt idx="1">
                  <c:v>0.725</c:v>
                </c:pt>
                <c:pt idx="2">
                  <c:v>0.9875</c:v>
                </c:pt>
                <c:pt idx="3">
                  <c:v>1.0</c:v>
                </c:pt>
                <c:pt idx="4">
                  <c:v>1.0</c:v>
                </c:pt>
                <c:pt idx="5">
                  <c:v>1.0</c:v>
                </c:pt>
                <c:pt idx="6">
                  <c:v>1.0</c:v>
                </c:pt>
                <c:pt idx="7">
                  <c:v>1.0</c:v>
                </c:pt>
                <c:pt idx="8">
                  <c:v>1.0</c:v>
                </c:pt>
                <c:pt idx="9">
                  <c:v>1.0</c:v>
                </c:pt>
                <c:pt idx="10">
                  <c:v>1.0</c:v>
                </c:pt>
                <c:pt idx="11">
                  <c:v>1.0</c:v>
                </c:pt>
                <c:pt idx="12">
                  <c:v>1.0</c:v>
                </c:pt>
                <c:pt idx="13">
                  <c:v>1.0</c:v>
                </c:pt>
                <c:pt idx="14">
                  <c:v>1.0</c:v>
                </c:pt>
                <c:pt idx="15">
                  <c:v>1.0</c:v>
                </c:pt>
                <c:pt idx="16">
                  <c:v>1.0</c:v>
                </c:pt>
                <c:pt idx="17">
                  <c:v>1.0</c:v>
                </c:pt>
                <c:pt idx="18">
                  <c:v>1.0</c:v>
                </c:pt>
                <c:pt idx="19">
                  <c:v>1.0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 accuracy</c:v>
                </c:pt>
              </c:strCache>
            </c:strRef>
          </c:tx>
          <c:spPr>
            <a:ln w="22225">
              <a:solidFill>
                <a:srgbClr val="D97706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0.1</c:v>
                </c:pt>
                <c:pt idx="1">
                  <c:v>0.4815</c:v>
                </c:pt>
                <c:pt idx="2">
                  <c:v>0.8074</c:v>
                </c:pt>
                <c:pt idx="3">
                  <c:v>0.8185</c:v>
                </c:pt>
                <c:pt idx="4">
                  <c:v>0.8296</c:v>
                </c:pt>
                <c:pt idx="5">
                  <c:v>0.8333</c:v>
                </c:pt>
                <c:pt idx="6">
                  <c:v>0.8296</c:v>
                </c:pt>
                <c:pt idx="7">
                  <c:v>0.837</c:v>
                </c:pt>
                <c:pt idx="8">
                  <c:v>0.837</c:v>
                </c:pt>
                <c:pt idx="9">
                  <c:v>0.8333</c:v>
                </c:pt>
                <c:pt idx="10">
                  <c:v>0.837</c:v>
                </c:pt>
                <c:pt idx="11">
                  <c:v>0.837</c:v>
                </c:pt>
                <c:pt idx="12">
                  <c:v>0.8333</c:v>
                </c:pt>
                <c:pt idx="13">
                  <c:v>0.8407</c:v>
                </c:pt>
                <c:pt idx="14">
                  <c:v>0.837</c:v>
                </c:pt>
                <c:pt idx="15">
                  <c:v>0.837</c:v>
                </c:pt>
                <c:pt idx="16">
                  <c:v>0.837</c:v>
                </c:pt>
                <c:pt idx="17">
                  <c:v>0.8407</c:v>
                </c:pt>
                <c:pt idx="18">
                  <c:v>0.8333</c:v>
                </c:pt>
                <c:pt idx="19">
                  <c:v>0.837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Epoch (one point every 20)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Accuracy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regularization (baseline)</c:v>
                </c:pt>
              </c:strCache>
            </c:strRef>
          </c:tx>
          <c:spPr>
            <a:ln w="31750">
              <a:solidFill>
                <a:srgbClr val="B91C1C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2.2906</c:v>
                </c:pt>
                <c:pt idx="1">
                  <c:v>1.5293</c:v>
                </c:pt>
                <c:pt idx="2">
                  <c:v>0.7305</c:v>
                </c:pt>
                <c:pt idx="3">
                  <c:v>0.65</c:v>
                </c:pt>
                <c:pt idx="4">
                  <c:v>0.6357</c:v>
                </c:pt>
                <c:pt idx="5">
                  <c:v>0.6704</c:v>
                </c:pt>
                <c:pt idx="6">
                  <c:v>0.6983</c:v>
                </c:pt>
                <c:pt idx="7">
                  <c:v>0.7168</c:v>
                </c:pt>
                <c:pt idx="8">
                  <c:v>0.742</c:v>
                </c:pt>
                <c:pt idx="9">
                  <c:v>0.7549</c:v>
                </c:pt>
                <c:pt idx="10">
                  <c:v>0.7706</c:v>
                </c:pt>
                <c:pt idx="11">
                  <c:v>0.7859</c:v>
                </c:pt>
                <c:pt idx="12">
                  <c:v>0.7947</c:v>
                </c:pt>
                <c:pt idx="13">
                  <c:v>0.8054</c:v>
                </c:pt>
                <c:pt idx="14">
                  <c:v>0.8193</c:v>
                </c:pt>
                <c:pt idx="15">
                  <c:v>0.8309</c:v>
                </c:pt>
                <c:pt idx="16">
                  <c:v>0.8389</c:v>
                </c:pt>
                <c:pt idx="17">
                  <c:v>0.8472</c:v>
                </c:pt>
                <c:pt idx="18">
                  <c:v>0.8593</c:v>
                </c:pt>
                <c:pt idx="19">
                  <c:v>0.8672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Weight decay 1e-2</c:v>
                </c:pt>
              </c:strCache>
            </c:strRef>
          </c:tx>
          <c:spPr>
            <a:ln w="22225">
              <a:solidFill>
                <a:srgbClr val="059669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2.292</c:v>
                </c:pt>
                <c:pt idx="1">
                  <c:v>1.7454</c:v>
                </c:pt>
                <c:pt idx="2">
                  <c:v>0.9045</c:v>
                </c:pt>
                <c:pt idx="3">
                  <c:v>0.7215</c:v>
                </c:pt>
                <c:pt idx="4">
                  <c:v>0.6261</c:v>
                </c:pt>
                <c:pt idx="5">
                  <c:v>0.612</c:v>
                </c:pt>
                <c:pt idx="6">
                  <c:v>0.5973</c:v>
                </c:pt>
                <c:pt idx="7">
                  <c:v>0.6032</c:v>
                </c:pt>
                <c:pt idx="8">
                  <c:v>0.6098</c:v>
                </c:pt>
                <c:pt idx="9">
                  <c:v>0.5859</c:v>
                </c:pt>
                <c:pt idx="10">
                  <c:v>0.6025</c:v>
                </c:pt>
                <c:pt idx="11">
                  <c:v>0.5929</c:v>
                </c:pt>
                <c:pt idx="12">
                  <c:v>0.5794</c:v>
                </c:pt>
                <c:pt idx="13">
                  <c:v>0.5808</c:v>
                </c:pt>
                <c:pt idx="14">
                  <c:v>0.5953</c:v>
                </c:pt>
                <c:pt idx="15">
                  <c:v>0.6027</c:v>
                </c:pt>
                <c:pt idx="16">
                  <c:v>0.5895</c:v>
                </c:pt>
                <c:pt idx="17">
                  <c:v>0.5928</c:v>
                </c:pt>
                <c:pt idx="18">
                  <c:v>0.6088</c:v>
                </c:pt>
                <c:pt idx="19">
                  <c:v>0.5956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Epoch (one point every 20)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6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Validation loss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UNDERGRADUATE · INTERNATIONAL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Evaluation, Overfitting and Regularization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Measure honestly, diagnose with evidence, regularise with restraint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6 · Metrics and business cost · Evaluation protocol · Bias-variance diagnosis · Early stop / weight decay / dropout / augmentation · Lab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Module 2 · W5-8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7881" y="5295600"/>
            <a:ext cx="3383222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0681" y="5364000"/>
            <a:ext cx="3037622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Lecture + Lab + Quiz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4304" y="5295600"/>
            <a:ext cx="202993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7104" y="5364000"/>
            <a:ext cx="168433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KT11 · KT12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37438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10238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International Students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The score on your training set was never your report card.
This week answers three questions: which number to read, whether it can be trusted, and how to make it trustworthy.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Theory ~90 min · Lab ~75 min · Quiz &amp; Summary 15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Metrics: Choosing the Right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Metrics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accuracy trap · confusion matrix · precision/recall/F1 · business cost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Protocol: Can the Number Be Trusted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Protocol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70/15/15 · stratification · touch the test set once · K-fold · leakage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Bias and Variance: Diagnose with 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Diagnosis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Underfit / just right / overfit · reading curves · symptoms to remedies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Regularization: Four Brakes and Their Cost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Regularization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Early stop · weight decay · dropout · augmentation · measured comparison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Overfitting Reproduction and Regularization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Manufacture overfitting first · then apply four remedies · quantify with validation loss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Metrics: Choosing the Right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"99% accuracy" is a number you can manufacture.
The moment you choose what to optimise, you choose what the model will sacrifice — so decide first who pays the cost.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Accuracy Misleads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Especially on imbalanced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The Matrix Is the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Four cells generate every metric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Cost Decides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 miss and a false alarm cost differently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Start with a Failure That Really Happens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same model, a different metric, the opposite 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The 99%-Accuracy Detector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trap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1,000 test samples; only 10 of them are genuine defects.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model always answers "normal" — accuracy (990/1000) = 99.0%.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Yet it catches zero defects: recall = 0%. Not one item is stopped on the line.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Accuracy here is not "good", it is "useless" — class imbalance inflates the score for free.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Write the Cost 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cost asymmetry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Missing a true defect (FN): the customer receives scrap — recall plus reputation.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Flagging a good item (FP): one re-inspection, a few yuan.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two costs differ 100-fold, yet accuracy weighs them identically.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Choosing a metric is really writing the cost you care about into a formula.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So the Questions You Should Ask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decision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1) When this system is wrong, who hurts, and how?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2) Of the two error types (miss / false alarm), which costs more — by how many times?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3) What is the class ratio? How imbalanced is it?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4) Is there a downstream safety net, or is this the only gate?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Four Cells Generate Every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Count the confusion matrix correctly first — only then do metrics mean anything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3999" cy="20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8000"/>
                <a:gridCol w="3384000"/>
                <a:gridCol w="2951999"/>
                <a:gridCol w="270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Cell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Meaning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Metric it feeds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Who cares most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TP true positive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Truly a defect; model also says defect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precision (numerator), recall (numerator)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The line: the only items actually stopped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FN false negative (miss)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Truly a defect; model says normal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recall (denominator)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Customer and QA: the costliest cell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FP false positive (false alarm)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Actually fine; model says defect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precision (denominator)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The line and re-inspection: wasted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TN true negative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Fine item judged fine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accuracy (numerator) — TN props accuracy up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Nobody watches it, yet it is the cheap way to inflate accuracy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36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famous 99% above was built entirely out of 990 TNs. Once TP / FP / FN / TN are counted, every metric is arithmetic.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Count the Matrix, Then Read the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Always read the matrix before a single number — reverse the order and you get fooled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1. Count the matrix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from sklearn.metrics import confusion_matrix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numpy as np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cm = confusion_matrix(y_true, y_pred, labels=[0, 1])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tn, fp, fn, tp = cm.ravel()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print(cm)                       # read this table first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[[990   0]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 [ 10   0]]   &lt;- all 10 defects called normal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acc = (tp + tn) / cm.sum()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prec = tp / (tp + fp) if tp + fp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rec  = tp / (tp + fn) if tp + fn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f1   = 2 * prec * rec / (prec + rec) if prec + rec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print(f'acc={acc:.3f} prec={prec:.3f} rec={rec:.3f} f1={f1:.3f}')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acc=0.990 prec=0.000 rec=0.000 f1=0.000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2. The precision / recall trade-off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same scores, different threshold, different metrics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for t in (0.3, 0.5, 0.7, 0.9):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yp = (probs &gt;= t).astype(int)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tn, fp, fn, tp = confusion_matrix(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y_true, yp, labels=[0, 1]).ravel()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 = tp / (tp + fp) if tp + fp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 = tp / (tp + fn) if tp + fn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print(f't={t}  P={p:.3f}  R={r:.3f}')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t=0.3  P=0.42  R=0.91   &lt;- low bar: catch more, alarm more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t=0.5  P=0.61  R=0.74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t=0.7  P=0.80  R=0.48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t=0.9  P=0.95  R=0.17   &lt;- high bar: precise but blind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No free lunch: P and R trade off;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where you sit depends on which side pays.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The threshold is a hyper-parameter you also choose by cost — do not leave it at 0.5 by default.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Choosing a Metric: Translating Cost into a Formula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Each metric family encodes which mistake you fear more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3327240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3327240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A Miss Is Expensive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Read recall = TP / (TP + FN)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Prefer a false alarm to a miss: safety alerts, screening, defect blocking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Price paid: more false alarms, more inspection hours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Add a human review stage to absorb the FPs at the 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2440" y="1170000"/>
            <a:ext cx="3327240" cy="4104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2440" y="1170000"/>
            <a:ext cx="3327240" cy="54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44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A False Alarm Is Expensive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44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Read precision = TP / (TP + FP)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Do not disturb the user: spam filters, auto-recommendation, auto-remediation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Price paid: some true targets are missed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Raise the threshold to buy precision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679" y="1170000"/>
            <a:ext cx="3327240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679" y="1170000"/>
            <a:ext cx="3327240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1679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Both, with a Fixed 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1679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Read F1 = 2PR / (P + R), the harmonic mean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 harmonic mean is pulled down by the weaker side: a low P or R caps F1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Report it when classes are imbalanced and neither error type is negligible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For ranking, look at AUC / PR-AUC; when costs are asymmetric, weight them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One number is not a report. State the threshold, the per-class P/R and the class ratio — otherwise nobody can reproduce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Protocol: Can the Number Be Trusted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One wrong split can add twenty points of accuracy out of thin air.
The model did not improve — you simply told it the answers in advance.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Split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Fit scaling/augmentation on train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Touch Test 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Tuning on it destroys its meaning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K-Fold for Small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 single split is mostly luck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Three-Way Split: Each Part Has One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70 / 15 / 15 — nobody is allowed to do someone else's job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2015999"/>
            <a:ext cx="7372404" cy="111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2214000"/>
            <a:ext cx="737240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200" y="2527200"/>
            <a:ext cx="7372404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9200" y="3330000"/>
            <a:ext cx="7055604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Parameters are updated here. Fit only improves, so its own score can never be the report card.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14804" y="2015999"/>
            <a:ext cx="1545857" cy="111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4804" y="2214000"/>
            <a:ext cx="1545857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4804" y="2527200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804" y="3330000"/>
            <a:ext cx="1229057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Where hyper-parameters, thresholds and early stopping are decided. You may reuse it — each reuse costs a little honesty.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03862" y="2015999"/>
            <a:ext cx="1545857" cy="111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3862" y="2214000"/>
            <a:ext cx="1545857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3862" y="2527200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83862" y="3330000"/>
            <a:ext cx="1229057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Padlocked. Run once, after every decision is frozen, for the single final number. Once seen, you may not go back and tune.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4392000"/>
            <a:ext cx="105937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0E3F8C"/>
                </a:solidFill>
                <a:latin typeface="Source Han Sans SC"/>
              </a:rPr>
              <a:t>Lab 5 of this course uses a stratified 70/15/15 split repeated over five seeds — a single split is never treated as a conclusion.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Three Classic Ways to Inflate a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Their common root: the answer leaks out before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Data Leakage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wrong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Wrong order: normalise / oversample / augment the whole dataset, then split.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Result: the validation set's own statistics leak into its own preprocessing.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Symptom: validation accuracy 0.99, then 0.7 on a genuinely fresh batch.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Correct order: split first, fit preprocessing on train only, then transform val/test.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Tuning on the Test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peeking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loop: read test result, change the learning rate, read again, change again — twenty times.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Result: the test set silently became a validation set; you report the best of twenty draws.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In essence: every peek spends one unit of its value as independent evidence.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Course rule: the test result appears only in the final submission, alongside a log of every earlier decision.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One Run, No Seed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noise as signal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Run once, with one seed, then treat a 1-point difference as "this method is better".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Result: with a few hundred validation samples, one point can be two samples of luck.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In this week's measurements, the same change swung by ±3 points across seeds.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Correct practice: 3-5 seeds minimum, report mean ± sd, and state whether the conclusion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K-Fold Cross-Validation: Steadier on Small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Take turns being the validation set, then average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16848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7199" y="15840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87199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11200" y="15840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1200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5200" y="15840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5200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59200" y="15840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9200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83199" y="15840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3199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23112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87199" y="22104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87199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11200" y="22104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11200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5200" y="22104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5200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59200" y="22104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59200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83199" y="22104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83199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200" y="29376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87199" y="28368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87199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11200" y="28368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11200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35200" y="28368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35200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59200" y="28368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59200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83199" y="28368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83199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9200" y="35640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87199" y="34632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87199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11200" y="34632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11200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35200" y="34632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35200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59200" y="34632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59200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83199" y="34632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83199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9200" y="41903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87199" y="40896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87199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11200" y="40896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11200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35200" y="40896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35200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59200" y="40896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59200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83199" y="40896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83199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0" y="1656000"/>
            <a:ext cx="407771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Each fold takes a turn as validation; K trainings give K scores.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Report mean ± sd, making split luck explicit rather than hidden.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Cost: K times the training time. With plenty of data, skip it.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With imbalanced classes, stratify — use StratifiedKFold.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Course rule: reports must state whether the result holds across seeds or folds.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9200" y="4968000"/>
            <a:ext cx="1059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B7280"/>
                </a:solidFill>
                <a:latin typeface="Source Han Sans SC"/>
              </a:rPr>
              <a:t>K-fold does not raise the score; it makes the uncertainty in the score visible.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Bias and Variance: Diagnose with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Never "it feels like it is overfitting".
There is one reliable piece of evidence: training loss still falling while validation loss has turned upward.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Read Loss, Not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Accuracy has a ceiling and hides decay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Read Them 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Train and validation on one chart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Diagnose Before Prescribing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Underfit and overfit need opposite remedies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Three States, Three Curve Shapes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Read the position and the direction of two lines — not the value of one 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3327240" cy="4104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3327240" cy="540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Underfitting (high bias)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Training loss is high and will not fall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Validation loss is equally high; the two lines sit close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Evidence from this week: the augmentation arm reaches only 0.960 train accuracy, 0.824 test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Remedy: more capacity, better features, less regularisation, train longer — not more regularisation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2440" y="1170000"/>
            <a:ext cx="3327240" cy="41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2440" y="1170000"/>
            <a:ext cx="3327240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44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Well Fitted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44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Training loss settles low and flattens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Validation loss follows it down and stays flat near its minimum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 gap remains, but it is stable and stops widening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This is a shippable state, not a perfect 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679" y="1170000"/>
            <a:ext cx="3327240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679" y="1170000"/>
            <a:ext cx="3327240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1679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Overfitting (high variance)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1679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Training loss keeps falling toward zero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Validation loss falls to some epoch, then turns upward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gap between the two lines keeps widening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Evidence from this week: train accuracy 1.000 while validation loss rises from 0.516 at epoch 85 to 0.671 at epoch 400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Note: validation accuracy barely moved in the same experiments (around 0.856). That is why overfitting must be judged on loss.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What Overfitting Looks Like: Train vs Validation (measured)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Curve: one seed-42 run, one point every 20 epochs (epochs 1, 21, ..., 381) | table figures are means over 5 seeds (42-46)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27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33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440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Train accuracy hits 0.9875 by epoch 41 and is pinned at 1.000 from epoch 61 on.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Validation accuracy sticks at 0.83-0.84 and gains nothing over the next 300 epochs.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From this chart alone you can already conclude: the model has memorised the training set.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But accuracy is a coarse ruler — it hides the degradation. The next chart is the decisive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Decisive Evidence: Validation Loss Turns Upward (measured)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Curve: one seed-42 run, one point every 20 epochs (epochs 1, 21, ..., 381) | table figures are means over 5 seeds (42-46)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27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33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440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Baseline: bottoms out at 0.6357 at point 5 (epoch 81), then climbs monotonically to 0.8672 at epoch 400.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Over the same 400 epochs, the weight-decay line stays flat in 0.58-0.61 and never turns up.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Averaged over 5 seeds: baseline validation loss rises by +0.155±0.089; weight decay only +0.027±0.014.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This fork in the curve is the line between overfitting and not.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Symptom to Diagnosis to Remedy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Read the evidence first; the wrong prescription makes it worse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24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6000"/>
                <a:gridCol w="2448000"/>
                <a:gridCol w="468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What you see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Diagnosis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Do / do not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Train loss high, validation loss high, lines 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Underfitting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Widen/deepen, add features, weaken or remove regularisation, train longer. Adding dropout here makes it worse.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Train loss keeps falling, validation loss turns upward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Overfitting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Early stop, weight decay, dropout, augmentation, more data. Note: validation accuracy may show nothing.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Both look great, then a fresh batch collapses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Leakage or distribution shift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Re-audit the split order and where preprocessing was fitted; check whether the new data was collected the same way.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Repeated runs swing within ±3 points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Noise, not a conclusion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Re-run over 3-5 seeds, report mean ± sd; do not declare a win when the difference is under one sd.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Validation loss wobbles slightly near its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Normal convergence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Keep this state. Do not chase the lower training loss at epoch 400.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78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Course rule: put the evidence in the report, not just the verdict. Evidence = concrete epochs and values from the train/validation loss curves.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Regularization: Four Brakes and Their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Regularization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Regularisation is not a free score boost. It trades a little training fit for a little generalisation.
Brake too hard and the car stops — that is called underfitting.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Early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Stop at the validation-loss minimum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Weight Decay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Penalise large weights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Dropout / Augmentation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Perturb data and representation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Four Brakes, Four Things Being Slowed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All four limit the model's freedom, but in completely different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248642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Early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Early stopping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Watch validation loss; stop after N epochs without improvement, then restore the best weights.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Slows: training time. Changes neither the model nor the data.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Main side effect: validation is now used for decisions; repeated reuse wears it out.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Measured this week: 400 epochs cut to 105, test accuracy 0.874 vs baseline 0.878.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1629" y="1296000"/>
            <a:ext cx="2486429" cy="4320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01629" y="1296000"/>
            <a:ext cx="32400" cy="432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2482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Weight Decay (L2)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482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Weight decay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482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Add λ‖w‖² to the loss, pulling weights toward zero and making the function smoother.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Slows: parameter magnitude. One argument to enable.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Key lesson: it suppresses the rise in validation loss rather than raising accuracy.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Measured this week: validation loss rise +0.027±0.014 versus +0.155±0.089 for the baseline.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4059" y="1296000"/>
            <a:ext cx="248642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4059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725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Dropout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725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Dropout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725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Randomly zero a fraction of neurons during training, so the net cannot rely on one unit.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Slows: co-adaptation between neurons. Must be off at evaluation time.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Classic bug: forgetting model.train() / model.eval(), so every evaluation differs.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Measured this week: test 0.884±0.011 vs baseline 0.878±0.012 — a 0.006 gap, under one sd.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06489" y="1296000"/>
            <a:ext cx="248642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06489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968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Data Augmentation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68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Augmentation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968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Apply label-preserving transforms to training samples — diversity instead of more data.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Slows: effective dataset size. The transform must respect the data's semantics.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Measured counter-example here: pixel shifts + noise drop test accuracy to 0.824 — worse.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Why: at 8x8 there are only 64 pixels; shifting erases stroke structure and creates mislabelled data.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Four Brakes in PyTorch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Under 15 lines in total — the hard part is knowing when not to write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1. Early stop + 2. Weight decay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2. Weight decay: just one argument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opt = torch.optim.Adam(model.parameters(),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 lr=1e-3, weight_decay=1e-2)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1. Early stop: keep the best state yourself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best, best_state, bad = float('inf'), None, 0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for ep in range(1, 401):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train_one_epoch(model, opt, loader)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va_loss, va_acc = evaluate(model, Xva, yva)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if va_loss &lt; best - 1e-4: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best, bad = va_loss, 0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best_state = {k: v.clone() for k, v in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model.state_dict().items()}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else: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bad += 1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if bad &gt;= 20: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break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model.load_state_dict(best_state)   # restore best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3. Dropout + 4. Augmentation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3. Dropout: insert between hidden layers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 = nn.Sequential(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nn.Linear(64, 128), nn.ReLU(), nn.Dropout(0.3),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nn.Linear(128, 64), nn.ReLU(), nn.Dropout(0.3),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nn.Linear(64, 10))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net.train()   # training: Dropout is active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net.eval()    # eval: Dropout switches off!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4. Augmentation: training batch only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def augment(xb):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xb = shift_pixels(xb, max_shift=1)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noise = torch.randn_like(xb) * 0.15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return (xb + noise).clamp(0, 1)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for xb, yb in train_loader: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xb = augment(xb)          # never augment val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loss = F.cross_entropy(net(xb), yb)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The train/eval switch is bug number one for dropout: forget net.eval() and validation accuracy jitters randomly — enough to make you believe a regulariser works when it does not.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Measured on This Machine: Six Arms Side by 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digits 8x8 · 70/15/15 · n_train=80 · 64-128-64-10 MLP · Adam 1e-3 · 400 epochs · 5 seeds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223999" cy="2897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000"/>
                <a:gridCol w="1548000"/>
                <a:gridCol w="1655999"/>
                <a:gridCol w="2052000"/>
                <a:gridCol w="1584000"/>
                <a:gridCol w="1620000"/>
              </a:tblGrid>
              <a:tr h="41399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Arm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Train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Val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Val loss best to 400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Rise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Test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0.516 to 0.671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Early stop (patience 20)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0.858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0.516 to 0.534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+0.018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0.874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Weight decay 1e-2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0.497 to 0.524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Dropout 0.3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0.857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0.474 to 0.645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+0.171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0.884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Augmentation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0.529 to 0.606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Combined (wd + dropout + aug)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0.875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0.716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0.849 to 0.884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+0.035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0.740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193999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Means over 5 seeds (42-46); test-accuracy standard deviations run 0.010-0.024. How to read this table is on the next slide.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How to Read That Table: Three Honest 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This experiment did not produce the tidy answer "regularisation raises accuracy" — so we report 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32400" cy="73799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339200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11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Finding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267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Regularisation suppresses validation loss — it does not raise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4939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Baseline validation loss rises +0.155; early stop only +0.018, weight decay only +0.027. Yet validation accuracy across all six arms sits in 0.716-0.858 and every test-accuracy difference is within one sd. Accuracy cannot tell them apart; validation loss tells you instantly who is degrading.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0412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041200"/>
            <a:ext cx="32400" cy="73799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228400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300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Finding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156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Augmentation and the combined arm hurt here — that is underfitting, not overfitting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3832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Augmentation pulls test accuracy from 0.878 down to 0.824 and train accuracy from 1.000 to 0.960; the combined arm collapses to 0.740. The cause is not weak regularisation but an over-applied brake: at 8x8 there are only 64 pixels, and shifting erases stroke structure, effectively mislabelling the training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29303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2930399"/>
            <a:ext cx="32400" cy="73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117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189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Finding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0455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 single run's difference may be noise — always repeat across seeds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2723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same change moves test accuracy by up to ±3 points across seeds. Dropout's 0.884 versus the baseline's 0.878 is a 0.006 gap, under one sd (0.012) — by this course's rule that is not enough to claim a win, only to say no significant difference was observed.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Overfitting Reproduction and Regularization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Manufacture overfitting on purpose, then apply the four remedies one at a time.
The goal is not a higher score but curves that explain what each remedy actually changed.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Manufacture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Small train set, large net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One at a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Change one variable per run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Quantify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Validation loss and best epoch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Lab Tasks: Five Parts, One Step at a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Every part ends in something checkable — if you cannot produce it, stop and debug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A. Manufacture Overfitting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before any fix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Data: sklearn digits (8x8, 1797 images, offline), normalised to 0-1 first.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Split 70/15/15, stratified, fixed seed; keep only 80 training images.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Model: 64-128-64-10 MLP (17,226 parameters) — 215 parameters per training sample.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Deliverable: four curves (train/val accuracy and loss) plus the epoch of minimum validation loss.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B. Apply the Four Remedies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one at a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Early stop (patience 20, restore best); weight decay (weight_decay=1e-2).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Dropout (p=0.3); augmentation (Gaussian noise sigma=0.15 + ±1 px shift).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Change one variable at a time, everything else identical to A; add one combined arm.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Record: validation loss at its minimum and at epoch 400, best epoch, epochs actually run.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C. Quantify, D. Conclude Honestly, E. Reproduce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Quantify: for every arm compute Δ = loss at epoch 400 minus loss at its minimum, as a table.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Honest verdict: which remedy helped, which did nothing, which hurt — and why.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Across seeds: re-run the key claim over at least 3 seeds; report mean ± sd.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Reproduce: fixed seed, one command to re-run; attach environment and library versions.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Deliverables and Rubric (Lab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100 points, announced in advance; the core question is whether the evidence chain is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24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00"/>
                <a:gridCol w="6588000"/>
                <a:gridCol w="162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Deliverable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Requirement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Points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Overfitting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Four curves plus the exact epoch of minimum validation loss; must show train accuracy saturating at 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Regularization comparison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All six arms (baseline / early stop / weight decay / dropout / augmentation / combined) with train, val, test accuracy and Δ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30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Quantified verdict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State which remedy helped, which did not, which hurt, with a mechanism — not just "it did not work"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Cross-seed stability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At least 3 seeds re-run, mean ± sd reported, and a statement of whether the conclusion holds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15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Reproducibility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One command re-runs everything; fixed seeds; environment and library versions attached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78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Common deductions: curves without epoch numbers; reading "accuracy did not move" as "regularisation is useless"; concluding from a single seed.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Quick Check · Module 2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Answer first, then compare with the next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7200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7200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200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A binary classifier scores 0.95 accuracy on 1,000 samples with 50 positives. Which metric must you look at next, and why?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None — 0.95 is already good enough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Recall: positives are only 5%, so predicting all-negative already gives 0.95 — first confirm the positives are not being missed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Training loss: it reflects the model state best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Parameter count: only large models are a worry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059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93059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3059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Diagnosis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1059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Train accuracy 1.000, validation accuracy 0.856, validation loss rising since epoch 85. What is the diagnosis?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59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Underfitting — enlarge the model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Overfitting — the evidence is validation loss turning upward (accuracy hides it behind a ceiling)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The data is broken — collect again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Cannot tell — you need the test set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7200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200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Protocol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5200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Which of these inflates the validation score?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200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Split first, then fit the scaler on the training set only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Oversample and normalise the whole dataset first, then split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Use StratifiedKFold for cross-validation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Re-run over 5 seeds and report mean ± sd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59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59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3059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Regularization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1059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In this week's measurements, what was weight decay 1e-2's cleanest benefit?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3059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Raising test accuracy from 0.878 to 0.95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Lowering train accuracy to 0.90 to avoid overfitting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Suppressing the rise in validation loss from +0.155 to +0.027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Reducing the parameter count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This Week's Takeaways and Homework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Separate the training-set score from a trustworthy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Choosing a metric is writing business cost into a formula: recall when a miss is costly, precision when a false alarm is, F1 when both matter, AUC for ranking.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The protocol decides whether the number is believable: split before processing, touch test once, stratify and K-fold on small data, and repeat across seeds.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The only reliable evidence of overfitting is validation loss turning upward; validation accuracy hides the degradation behind a ceiling.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The four remedies act differently: early stop limits time, weight decay limits magnitude, dropout limits co-adaptation, augmentation limits data diversity — none is free.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What we measured: regularisation suppressed validation loss but did not raise accuracy; augmentation and combined regularisation actually hurt on 8x8 images. Report it as it is.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After Class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Submit the regularization report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Six-arm table, the validation-loss rise Δ, cross-seed mean ± sd, and an explicit verdict on which remedy works best here and why.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Finish the Module 2 quiz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Covers W5-W8 knowledge points (KT9-KT14); answers reviewed at the start of next class.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W6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Prove your number is trustworthy first;
argue about how good your model is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Next week: CNNs for Computer Vision — Lab 6 reuses this week's evaluation protocol and augmentation, so bring your curve-reading.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Next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W7 · Convolution, pooling and receptive fields · training a CNN with augmentation on GPU · confusion matrix and error-case analysis (Lab 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 Lecture · 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