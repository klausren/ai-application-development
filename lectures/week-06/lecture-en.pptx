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22225">
              <a:solidFill>
                <a:srgbClr val="1E4FA8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0.1</c:v>
                </c:pt>
                <c:pt idx="1">
                  <c:v>0.725</c:v>
                </c:pt>
                <c:pt idx="2">
                  <c:v>0.9875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22225">
              <a:solidFill>
                <a:srgbClr val="D97706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0.1</c:v>
                </c:pt>
                <c:pt idx="1">
                  <c:v>0.4815</c:v>
                </c:pt>
                <c:pt idx="2">
                  <c:v>0.8074</c:v>
                </c:pt>
                <c:pt idx="3">
                  <c:v>0.8185</c:v>
                </c:pt>
                <c:pt idx="4">
                  <c:v>0.8296</c:v>
                </c:pt>
                <c:pt idx="5">
                  <c:v>0.8333</c:v>
                </c:pt>
                <c:pt idx="6">
                  <c:v>0.8296</c:v>
                </c:pt>
                <c:pt idx="7">
                  <c:v>0.837</c:v>
                </c:pt>
                <c:pt idx="8">
                  <c:v>0.837</c:v>
                </c:pt>
                <c:pt idx="9">
                  <c:v>0.8333</c:v>
                </c:pt>
                <c:pt idx="10">
                  <c:v>0.837</c:v>
                </c:pt>
                <c:pt idx="11">
                  <c:v>0.837</c:v>
                </c:pt>
                <c:pt idx="12">
                  <c:v>0.8333</c:v>
                </c:pt>
                <c:pt idx="13">
                  <c:v>0.8407</c:v>
                </c:pt>
                <c:pt idx="14">
                  <c:v>0.837</c:v>
                </c:pt>
                <c:pt idx="15">
                  <c:v>0.837</c:v>
                </c:pt>
                <c:pt idx="16">
                  <c:v>0.837</c:v>
                </c:pt>
                <c:pt idx="17">
                  <c:v>0.8407</c:v>
                </c:pt>
                <c:pt idx="18">
                  <c:v>0.8333</c:v>
                </c:pt>
                <c:pt idx="19">
                  <c:v>0.837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Epoch (one point every 20)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Accuracy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regularization (baseline)</c:v>
                </c:pt>
              </c:strCache>
            </c:strRef>
          </c:tx>
          <c:spPr>
            <a:ln w="31750">
              <a:solidFill>
                <a:srgbClr val="B91C1C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2.2906</c:v>
                </c:pt>
                <c:pt idx="1">
                  <c:v>1.5293</c:v>
                </c:pt>
                <c:pt idx="2">
                  <c:v>0.7305</c:v>
                </c:pt>
                <c:pt idx="3">
                  <c:v>0.65</c:v>
                </c:pt>
                <c:pt idx="4">
                  <c:v>0.6357</c:v>
                </c:pt>
                <c:pt idx="5">
                  <c:v>0.6704</c:v>
                </c:pt>
                <c:pt idx="6">
                  <c:v>0.6983</c:v>
                </c:pt>
                <c:pt idx="7">
                  <c:v>0.7168</c:v>
                </c:pt>
                <c:pt idx="8">
                  <c:v>0.742</c:v>
                </c:pt>
                <c:pt idx="9">
                  <c:v>0.7549</c:v>
                </c:pt>
                <c:pt idx="10">
                  <c:v>0.7706</c:v>
                </c:pt>
                <c:pt idx="11">
                  <c:v>0.7859</c:v>
                </c:pt>
                <c:pt idx="12">
                  <c:v>0.7947</c:v>
                </c:pt>
                <c:pt idx="13">
                  <c:v>0.8054</c:v>
                </c:pt>
                <c:pt idx="14">
                  <c:v>0.8193</c:v>
                </c:pt>
                <c:pt idx="15">
                  <c:v>0.8309</c:v>
                </c:pt>
                <c:pt idx="16">
                  <c:v>0.8389</c:v>
                </c:pt>
                <c:pt idx="17">
                  <c:v>0.8472</c:v>
                </c:pt>
                <c:pt idx="18">
                  <c:v>0.8593</c:v>
                </c:pt>
                <c:pt idx="19">
                  <c:v>0.8672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 decay 1e-2</c:v>
                </c:pt>
              </c:strCache>
            </c:strRef>
          </c:tx>
          <c:spPr>
            <a:ln w="22225">
              <a:solidFill>
                <a:srgbClr val="059669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2.292</c:v>
                </c:pt>
                <c:pt idx="1">
                  <c:v>1.7454</c:v>
                </c:pt>
                <c:pt idx="2">
                  <c:v>0.9045</c:v>
                </c:pt>
                <c:pt idx="3">
                  <c:v>0.7215</c:v>
                </c:pt>
                <c:pt idx="4">
                  <c:v>0.6261</c:v>
                </c:pt>
                <c:pt idx="5">
                  <c:v>0.612</c:v>
                </c:pt>
                <c:pt idx="6">
                  <c:v>0.5973</c:v>
                </c:pt>
                <c:pt idx="7">
                  <c:v>0.6032</c:v>
                </c:pt>
                <c:pt idx="8">
                  <c:v>0.6098</c:v>
                </c:pt>
                <c:pt idx="9">
                  <c:v>0.5859</c:v>
                </c:pt>
                <c:pt idx="10">
                  <c:v>0.6025</c:v>
                </c:pt>
                <c:pt idx="11">
                  <c:v>0.5929</c:v>
                </c:pt>
                <c:pt idx="12">
                  <c:v>0.5794</c:v>
                </c:pt>
                <c:pt idx="13">
                  <c:v>0.5808</c:v>
                </c:pt>
                <c:pt idx="14">
                  <c:v>0.5953</c:v>
                </c:pt>
                <c:pt idx="15">
                  <c:v>0.6027</c:v>
                </c:pt>
                <c:pt idx="16">
                  <c:v>0.5895</c:v>
                </c:pt>
                <c:pt idx="17">
                  <c:v>0.5928</c:v>
                </c:pt>
                <c:pt idx="18">
                  <c:v>0.6088</c:v>
                </c:pt>
                <c:pt idx="19">
                  <c:v>0.5956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Epoch (one point every 20)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6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Validation loss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UNDERGRADUATE ·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Evaluation, Overfitting and 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Measure honestly, diagnose with evidence, regularise with restraint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6 · Metrics and business cost · Evaluation protocol · Bias-variance diagnosis · Early stop / weight decay / dropout / augmentation · Lab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Module 2 · W5-8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7881" y="5295600"/>
            <a:ext cx="3383222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0681" y="5364000"/>
            <a:ext cx="3037622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Lecture + Lab +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4304" y="5295600"/>
            <a:ext cx="202993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7104" y="5364000"/>
            <a:ext cx="168433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KT11 · KT12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7438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0238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International 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49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The score on your training set was never your report card.
This week answers three questions: which number to read, whether it can be trusted, and how to make it trustworthy.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Theory ~90 min · Lab 80 min · Quiz &amp; Summary 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Metrics: Choosing the Right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accuracy trap · confusion matrix · precision/recall/F1 · business cost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Protocol: Can the Number Be Trusted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70/15/15 · stratification · touch the test set once · K-fold · leakage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Bias and Variance: Diagnose with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Diagnosis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Underfit / just right / overfit · reading curves · symptoms to remedies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Regularization: Four Brakes and Their Cost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Regularization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Early stop · weight decay · dropout · augmentation · measured comparison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Overfitting Reproduction and Regularization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Manufacture overfitting first · then apply four remedies · quantify with validation loss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Metrics: Choosing the Right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"99% accuracy" is a number you can manufacture.
The moment you choose what to optimise, you choose what the model will sacrifice — so decide first who pays the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Accuracy Misleads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Especially on imbalanced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The Matrix Is the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Four cells generate every 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Cost Decides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 miss and a false alarm cost differently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Start with a Failure That Really 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same model, a different metric, the opposite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The 99%-Accuracy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1,000 test samples; only 10 of them are genuine defects.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model always answers "normal" — accuracy (990/1000) = 99.0%.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Yet it catches zero defects: recall = 0%. Not one item is stopped on the line.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Accuracy here is not "good", it is "useless" — class imbalance inflates the score for free.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43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432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45309"/>
                </a:solidFill>
                <a:latin typeface="Source Han Sans SC"/>
              </a:rPr>
              <a:t>Write the Cost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cost asymmetry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Missing a true defect (FN): the customer receives scrap — recall plus reputation.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Flagging a good item (FP): one re-inspection, a few yuan.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two costs differ 100-fold, yet accuracy weighs them identically.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Choosing a metric is really writing the cost you care about into a formula.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So the Questions You Should 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decision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1) When this system is wrong, who hurts, and how?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2) Of the two error types (miss / false alarm), which costs more — by how many times?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3) What is the class ratio? How imbalanced is it?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4) Is there a downstream safety net, or is this the only gate?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Count These Four Cells First: Hit, False Alarm, Miss, Reject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Every metric is just arithmetic on these four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7199" y="1389600"/>
            <a:ext cx="552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6B7280"/>
                </a:solidFill>
                <a:latin typeface="Source Han Sans SC"/>
              </a:rPr>
              <a:t>Predicted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7199" y="1591200"/>
            <a:ext cx="266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Pred. defect 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9200" y="1591200"/>
            <a:ext cx="266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Pred. fine 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1828800"/>
            <a:ext cx="1098000" cy="13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Defect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3412800"/>
            <a:ext cx="1098000" cy="13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Fine 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200" y="3313800"/>
            <a:ext cx="11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 i="0">
                <a:solidFill>
                  <a:srgbClr val="6B7280"/>
                </a:solidFill>
                <a:latin typeface="Source Han Sans SC"/>
              </a:rPr>
              <a:t>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7199" y="1828800"/>
            <a:ext cx="2664000" cy="1386000"/>
          </a:xfrm>
          <a:prstGeom prst="rect">
            <a:avLst/>
          </a:prstGeom>
          <a:solidFill>
            <a:srgbClr val="ECFDF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3199" y="1980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059669"/>
                </a:solidFill>
                <a:latin typeface="Source Han Sans SC"/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3199" y="2469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059669"/>
                </a:solidFill>
                <a:latin typeface="Source Han Sans SC"/>
              </a:rPr>
              <a:t>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9200" y="1828800"/>
            <a:ext cx="2664000" cy="1386000"/>
          </a:xfrm>
          <a:prstGeom prst="rect">
            <a:avLst/>
          </a:prstGeom>
          <a:solidFill>
            <a:srgbClr val="FEF2F2"/>
          </a:solidFill>
          <a:ln w="1778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5199" y="1980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B91C1C"/>
                </a:solidFill>
                <a:latin typeface="Source Han Sans SC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5199" y="2469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B91C1C"/>
                </a:solidFill>
                <a:latin typeface="Source Han Sans SC"/>
              </a:rPr>
              <a:t>false alarm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7199" y="3412800"/>
            <a:ext cx="2664000" cy="1386000"/>
          </a:xfrm>
          <a:prstGeom prst="rect">
            <a:avLst/>
          </a:prstGeom>
          <a:solidFill>
            <a:srgbClr val="FEF2F2"/>
          </a:solidFill>
          <a:ln w="1778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3199" y="3564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B91C1C"/>
                </a:solidFill>
                <a:latin typeface="Source Han Sans SC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3199" y="4053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B91C1C"/>
                </a:solidFill>
                <a:latin typeface="Source Han Sans SC"/>
              </a:rPr>
              <a:t>missed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9200" y="3412800"/>
            <a:ext cx="2664000" cy="1386000"/>
          </a:xfrm>
          <a:prstGeom prst="rect">
            <a:avLst/>
          </a:prstGeom>
          <a:solidFill>
            <a:srgbClr val="ECFDF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5199" y="3564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059669"/>
                </a:solidFill>
                <a:latin typeface="Source Han Sans SC"/>
              </a:rPr>
              <a:t>132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5199" y="4053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059669"/>
                </a:solidFill>
                <a:latin typeface="Source Han Sans SC"/>
              </a:rPr>
              <a:t>correct reject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5200" y="1389600"/>
            <a:ext cx="3537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Derived from those four cells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55200" y="1710000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6400" y="1789200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919" y="17604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0.900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6400" y="2041200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share it got right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55200" y="2410424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6400" y="2489624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Precision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919" y="2460824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0.857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6400" y="2741624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of those flagged, how many were real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55200" y="3110849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6400" y="3190049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Recall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919" y="3161249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0.800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6400" y="3442049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of the real defects, how many it found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55200" y="3811274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6400" y="3890474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F1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919" y="3861674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0.828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6400" y="4142474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harmonic mean of the two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55200" y="4547698"/>
            <a:ext cx="3537719" cy="661349"/>
          </a:xfrm>
          <a:prstGeom prst="rect">
            <a:avLst/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6400" y="4648498"/>
            <a:ext cx="3235319" cy="5461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B91C1C"/>
                </a:solidFill>
                <a:latin typeface="Source Han Sans SC"/>
              </a:rPr>
              <a:t>140 of 200 are fine: answering "fine" every time already scores 0.700.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Cells Generate Every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Count the confusion matrix correctly first — only then do metrics mean anything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3999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3384000"/>
                <a:gridCol w="2951999"/>
                <a:gridCol w="2700000"/>
              </a:tblGrid>
              <a:tr h="41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Cell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Meaning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Metric it feeds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Who cares most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TP true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Truly a defect; model also says defect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precision (numerator), recall (numerator)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The line: the only items actually stopped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FN false negative (miss)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Truly a defect; model says normal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recall (denominator)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Customer and QA: the costliest cell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FP false positive (false alarm)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Actually fine; model says defect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precision (denominator)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The line and re-inspection: wasted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TN true negative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Fine item judged fine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accuracy (numerator) — TN props accuracy up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Nobody watches it, yet it is the cheap way to inflate accuracy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366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famous 99% above was built entirely out of 990 TNs. Once TP / FP / FN / TN are counted, every metric is arithmetic.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Count the Matrix, Then Read the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Always read the matrix before a single number — reverse the order and you get fooled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1. Count the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from sklearn.metrics import confusion_matrix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numpy as np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cm = confusion_matrix(y_true, y_pred, labels=[0, 1])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tn, fp, fn, tp = cm.ravel()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print(cm)                       # read this table first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[[990   0]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 [ 10   0]]   &lt;- all 10 defects called normal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acc = (tp + tn) / cm.sum()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prec = tp / (tp + fp) if tp + fp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rec  = tp / (tp + fn) if tp + fn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f1   = 2 * prec * rec / (prec + rec) if prec + rec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print(f'acc={acc:.3f} prec={prec:.3f} rec={rec:.3f} f1={f1:.3f}')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acc=0.990 prec=0.000 rec=0.000 f1=0.000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2. The precision / recall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same scores, different threshold, different metrics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for t in (0.3, 0.5, 0.7, 0.9):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yp = (probs &gt;= t).astype(int)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tn, fp, fn, tp = confusion_matrix(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y_true, yp, labels=[0, 1]).ravel()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 = tp / (tp + fp) if tp + fp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 = tp / (tp + fn) if tp + fn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print(f't={t}  P={p:.3f}  R={r:.3f}')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t=0.3  P=0.42  R=0.91   &lt;- low bar: catch more, alarm more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t=0.5  P=0.61  R=0.74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t=0.7  P=0.80  R=0.48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t=0.9  P=0.95  R=0.17   &lt;- high bar: precise but blind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No free lunch: P and R trade off;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where you sit depends on which side pays.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The threshold is a hyper-parameter you also choose by cost — do not leave it at 0.5 by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Choosing a Metric: Translating Cost into 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Each metric family encodes which mistake you fear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 Miss Is Expensive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Read recall = TP / (TP + FN)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Prefer a false alarm to a miss: safety alerts, screening, defect blocking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Price paid: more false alarms, more inspection hours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Add a human review stage to absorb the FPs at the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104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 False Alarm Is Expensive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Read precision = TP / (TP + FP)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Do not disturb the user: spam filters, auto-recommendation, auto-remediation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Price paid: some true targets are missed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Raise the threshold to buy precision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Both, with a Fixed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Read F1 = 2PR / (P + R), the harmonic mean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A harmonic mean is pulled down by the weaker side: a low P or R caps F1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Report it when classes are imbalanced and neither error type is negligible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For ranking, look at AUC / PR-AUC; when costs are asymmetric, weight 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One number is not a report. State the threshold, the per-class P/R and the class ratio — otherwise nobody can reproduce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Protocol: Can the Number Be Trusted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One wrong split can add twenty points of accuracy out of thin air.
The model did not improve — you simply told it the answers in advance.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Split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Fit scaling/augmentation on train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Touch Test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Tuning on it destroys its meaning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K-Fold for Small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 single split is mostly luck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Three-Way Split: Each Part Has One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70 / 15 / 15 — nobody is allowed to do someone else's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2015999"/>
            <a:ext cx="7372404" cy="111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2214000"/>
            <a:ext cx="737240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" y="2527200"/>
            <a:ext cx="737240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200" y="3330000"/>
            <a:ext cx="7055604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Parameters are updated here. Fit only improves, so its own score can never be the report card.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4804" y="2015999"/>
            <a:ext cx="1545857" cy="111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804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804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04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Where hyper-parameters, thresholds and early stopping are decided. You may reuse it — each reuse costs a little honesty.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3862" y="2015999"/>
            <a:ext cx="1545857" cy="111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3862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3862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3862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Padlocked. Run once, after every decision is frozen, for the single final number. Once seen, you may not go back and tune.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4392000"/>
            <a:ext cx="105937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E3F8C"/>
                </a:solidFill>
                <a:latin typeface="Source Han Sans SC"/>
              </a:rPr>
              <a:t>Lab 5 of this course uses a stratified 70/15/15 split repeated over five seeds — a single split is never treated as a conclusion.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Three Classic Ways to Inflate a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Their common root: the answer leaks out before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Data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wrong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Wrong order: normalise / oversample / augment the whole dataset, then split.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Result: the validation set's own statistics leak into its own preprocessing.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Symptom: validation accuracy 0.99, then 0.7 on a genuinely fresh batch.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Correct order: split first, fit preprocessing on train only, then transform val/test.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43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432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45309"/>
                </a:solidFill>
                <a:latin typeface="Source Han Sans SC"/>
              </a:rPr>
              <a:t>Tuning on the Test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peeking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loop: read test result, change the learning rate, read again, change again — twenty times.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Result: the test set silently became a validation set; you report the best of twenty draws.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In essence: every peek spends one unit of its value as independent evidence.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Course rule: the test result appears only in the final submission, alongside a log of every earlier decision.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One Run, No 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noise as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Run once, with one seed, then treat a 1-point difference as "this method is better".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Result: with a few hundred validation samples, one point can be two samples of luck.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In this week's measurements, the same change swung by ±3 points across seeds.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Correct practice: 3-5 seeds minimum, report mean ± sd, and state whether the conclusion holds.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K-Fold Cross-Validation: Steadier on Small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Take turns being the validation set, then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16848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Fold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7199" y="15840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719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7679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767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8159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815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640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640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9120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9120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23112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Fold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7199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8719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7679" y="22104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767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8159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815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640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640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9120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9120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200" y="29376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Fold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87199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8719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7679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767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8159" y="28368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8815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8640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640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9120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9120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200" y="35640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Fold 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719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8719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767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3767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815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8815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8640" y="34632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38640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9120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9120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200" y="4190399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Fold 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8719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8719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3767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767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8815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8815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38640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38640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9120" y="40896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89120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1656000"/>
            <a:ext cx="4077719" cy="3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Each fold takes a turn as validation; K trainings give K scores.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Report mean ± sd, making split luck explicit rather than hidden.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Cost: K times the training time. With plenty of data, skip it.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With imbalanced classes, stratify — use StratifiedKFold.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Course rule: reports must state whether the result holds across seeds or folds.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9200" y="49680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B7280"/>
                </a:solidFill>
                <a:latin typeface="Source Han Sans SC"/>
              </a:rPr>
              <a:t>K-fold does not raise the score; it makes the uncertainty in the score visible.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Bias and Variance: Diagnose with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Never "it feels like it is overfitting".
There is one reliable piece of evidence: training loss still falling while validation loss has turned upward.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Read Loss, Not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Accuracy has a ceiling and hides decay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Read Them 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Train and validation on one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Diagnose Before Prescribing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Underfit and overfit need opposite remedies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Read the Shapes First: Under-, Well- and Over-fitted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Three shapes only — these panels claim no particular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" y="1188000"/>
            <a:ext cx="3303240" cy="4392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400" y="1382400"/>
            <a:ext cx="2712840" cy="384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Underfitting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00" y="1709024"/>
            <a:ext cx="2712840" cy="527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both high, both flat, close together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4400" y="4720125"/>
            <a:ext cx="2540040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94400" y="2527723"/>
            <a:ext cx="0" cy="2192402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594840" y="4648125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022400" y="2416123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94400" y="2818028"/>
            <a:ext cx="2604840" cy="384948"/>
          </a:xfrm>
          <a:custGeom>
            <a:avLst/>
            <a:gdLst/>
            <a:ahLst/>
            <a:cxnLst/>
            <a:rect l="l" t="t" r="r" b="b"/>
            <a:pathLst>
              <a:path w="2604840" h="384948">
                <a:moveTo>
                  <a:pt x="0" y="0"/>
                </a:moveTo>
                <a:lnTo>
                  <a:pt x="43414" y="6415"/>
                </a:lnTo>
                <a:lnTo>
                  <a:pt x="86828" y="12831"/>
                </a:lnTo>
                <a:lnTo>
                  <a:pt x="130242" y="19247"/>
                </a:lnTo>
                <a:lnTo>
                  <a:pt x="173656" y="25663"/>
                </a:lnTo>
                <a:lnTo>
                  <a:pt x="217070" y="32079"/>
                </a:lnTo>
                <a:lnTo>
                  <a:pt x="260484" y="38494"/>
                </a:lnTo>
                <a:lnTo>
                  <a:pt x="303898" y="44910"/>
                </a:lnTo>
                <a:lnTo>
                  <a:pt x="347312" y="51326"/>
                </a:lnTo>
                <a:lnTo>
                  <a:pt x="390726" y="57742"/>
                </a:lnTo>
                <a:lnTo>
                  <a:pt x="434140" y="64158"/>
                </a:lnTo>
                <a:lnTo>
                  <a:pt x="477554" y="70574"/>
                </a:lnTo>
                <a:lnTo>
                  <a:pt x="520968" y="76989"/>
                </a:lnTo>
                <a:lnTo>
                  <a:pt x="564382" y="83405"/>
                </a:lnTo>
                <a:lnTo>
                  <a:pt x="607796" y="89821"/>
                </a:lnTo>
                <a:lnTo>
                  <a:pt x="651210" y="96237"/>
                </a:lnTo>
                <a:lnTo>
                  <a:pt x="694624" y="102653"/>
                </a:lnTo>
                <a:lnTo>
                  <a:pt x="738038" y="109068"/>
                </a:lnTo>
                <a:lnTo>
                  <a:pt x="781452" y="115484"/>
                </a:lnTo>
                <a:lnTo>
                  <a:pt x="824866" y="121900"/>
                </a:lnTo>
                <a:lnTo>
                  <a:pt x="868280" y="128316"/>
                </a:lnTo>
                <a:lnTo>
                  <a:pt x="911694" y="134732"/>
                </a:lnTo>
                <a:lnTo>
                  <a:pt x="955108" y="141147"/>
                </a:lnTo>
                <a:lnTo>
                  <a:pt x="998522" y="147563"/>
                </a:lnTo>
                <a:lnTo>
                  <a:pt x="1041936" y="153979"/>
                </a:lnTo>
                <a:lnTo>
                  <a:pt x="1085350" y="160395"/>
                </a:lnTo>
                <a:lnTo>
                  <a:pt x="1128764" y="166811"/>
                </a:lnTo>
                <a:lnTo>
                  <a:pt x="1172178" y="173226"/>
                </a:lnTo>
                <a:lnTo>
                  <a:pt x="1215592" y="179642"/>
                </a:lnTo>
                <a:lnTo>
                  <a:pt x="1259006" y="186058"/>
                </a:lnTo>
                <a:lnTo>
                  <a:pt x="1302420" y="192474"/>
                </a:lnTo>
                <a:lnTo>
                  <a:pt x="1345834" y="198890"/>
                </a:lnTo>
                <a:lnTo>
                  <a:pt x="1389248" y="205305"/>
                </a:lnTo>
                <a:lnTo>
                  <a:pt x="1432662" y="211721"/>
                </a:lnTo>
                <a:lnTo>
                  <a:pt x="1476076" y="218137"/>
                </a:lnTo>
                <a:lnTo>
                  <a:pt x="1519490" y="224553"/>
                </a:lnTo>
                <a:lnTo>
                  <a:pt x="1562904" y="230969"/>
                </a:lnTo>
                <a:lnTo>
                  <a:pt x="1606318" y="237384"/>
                </a:lnTo>
                <a:lnTo>
                  <a:pt x="1649732" y="243800"/>
                </a:lnTo>
                <a:lnTo>
                  <a:pt x="1693146" y="250216"/>
                </a:lnTo>
                <a:lnTo>
                  <a:pt x="1736560" y="256632"/>
                </a:lnTo>
                <a:lnTo>
                  <a:pt x="1779974" y="263048"/>
                </a:lnTo>
                <a:lnTo>
                  <a:pt x="1823387" y="269463"/>
                </a:lnTo>
                <a:lnTo>
                  <a:pt x="1866802" y="275879"/>
                </a:lnTo>
                <a:lnTo>
                  <a:pt x="1910215" y="282295"/>
                </a:lnTo>
                <a:lnTo>
                  <a:pt x="1953630" y="288711"/>
                </a:lnTo>
                <a:lnTo>
                  <a:pt x="1997043" y="295127"/>
                </a:lnTo>
                <a:lnTo>
                  <a:pt x="2040458" y="301542"/>
                </a:lnTo>
                <a:lnTo>
                  <a:pt x="2083871" y="307958"/>
                </a:lnTo>
                <a:lnTo>
                  <a:pt x="2127286" y="314374"/>
                </a:lnTo>
                <a:lnTo>
                  <a:pt x="2170699" y="320790"/>
                </a:lnTo>
                <a:lnTo>
                  <a:pt x="2214114" y="327206"/>
                </a:lnTo>
                <a:lnTo>
                  <a:pt x="2257528" y="333621"/>
                </a:lnTo>
                <a:lnTo>
                  <a:pt x="2300942" y="340037"/>
                </a:lnTo>
                <a:lnTo>
                  <a:pt x="2344356" y="346453"/>
                </a:lnTo>
                <a:lnTo>
                  <a:pt x="2387770" y="352869"/>
                </a:lnTo>
                <a:lnTo>
                  <a:pt x="2431184" y="359285"/>
                </a:lnTo>
                <a:lnTo>
                  <a:pt x="2474598" y="365700"/>
                </a:lnTo>
                <a:lnTo>
                  <a:pt x="2518012" y="372116"/>
                </a:lnTo>
                <a:lnTo>
                  <a:pt x="2561426" y="378532"/>
                </a:lnTo>
                <a:lnTo>
                  <a:pt x="2604840" y="384948"/>
                </a:lnTo>
              </a:path>
            </a:pathLst>
          </a:custGeom>
          <a:noFill/>
          <a:ln w="304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94400" y="2727452"/>
            <a:ext cx="2604840" cy="362304"/>
          </a:xfrm>
          <a:custGeom>
            <a:avLst/>
            <a:gdLst/>
            <a:ahLst/>
            <a:cxnLst/>
            <a:rect l="l" t="t" r="r" b="b"/>
            <a:pathLst>
              <a:path w="2604840" h="362304">
                <a:moveTo>
                  <a:pt x="0" y="0"/>
                </a:moveTo>
                <a:lnTo>
                  <a:pt x="43414" y="6038"/>
                </a:lnTo>
                <a:lnTo>
                  <a:pt x="86828" y="12076"/>
                </a:lnTo>
                <a:lnTo>
                  <a:pt x="130242" y="18115"/>
                </a:lnTo>
                <a:lnTo>
                  <a:pt x="173656" y="24153"/>
                </a:lnTo>
                <a:lnTo>
                  <a:pt x="217070" y="30192"/>
                </a:lnTo>
                <a:lnTo>
                  <a:pt x="260484" y="36230"/>
                </a:lnTo>
                <a:lnTo>
                  <a:pt x="303898" y="42268"/>
                </a:lnTo>
                <a:lnTo>
                  <a:pt x="347312" y="48307"/>
                </a:lnTo>
                <a:lnTo>
                  <a:pt x="390726" y="54345"/>
                </a:lnTo>
                <a:lnTo>
                  <a:pt x="434140" y="60384"/>
                </a:lnTo>
                <a:lnTo>
                  <a:pt x="477554" y="66422"/>
                </a:lnTo>
                <a:lnTo>
                  <a:pt x="520968" y="72460"/>
                </a:lnTo>
                <a:lnTo>
                  <a:pt x="564382" y="78499"/>
                </a:lnTo>
                <a:lnTo>
                  <a:pt x="607796" y="84537"/>
                </a:lnTo>
                <a:lnTo>
                  <a:pt x="651210" y="90576"/>
                </a:lnTo>
                <a:lnTo>
                  <a:pt x="694624" y="96614"/>
                </a:lnTo>
                <a:lnTo>
                  <a:pt x="738038" y="102652"/>
                </a:lnTo>
                <a:lnTo>
                  <a:pt x="781452" y="108691"/>
                </a:lnTo>
                <a:lnTo>
                  <a:pt x="824866" y="114729"/>
                </a:lnTo>
                <a:lnTo>
                  <a:pt x="868280" y="120768"/>
                </a:lnTo>
                <a:lnTo>
                  <a:pt x="911694" y="126806"/>
                </a:lnTo>
                <a:lnTo>
                  <a:pt x="955108" y="132844"/>
                </a:lnTo>
                <a:lnTo>
                  <a:pt x="998522" y="138883"/>
                </a:lnTo>
                <a:lnTo>
                  <a:pt x="1041936" y="144921"/>
                </a:lnTo>
                <a:lnTo>
                  <a:pt x="1085350" y="150960"/>
                </a:lnTo>
                <a:lnTo>
                  <a:pt x="1128764" y="156998"/>
                </a:lnTo>
                <a:lnTo>
                  <a:pt x="1172178" y="163037"/>
                </a:lnTo>
                <a:lnTo>
                  <a:pt x="1215592" y="169075"/>
                </a:lnTo>
                <a:lnTo>
                  <a:pt x="1259006" y="175113"/>
                </a:lnTo>
                <a:lnTo>
                  <a:pt x="1302420" y="181152"/>
                </a:lnTo>
                <a:lnTo>
                  <a:pt x="1345834" y="187190"/>
                </a:lnTo>
                <a:lnTo>
                  <a:pt x="1389248" y="193229"/>
                </a:lnTo>
                <a:lnTo>
                  <a:pt x="1432662" y="199267"/>
                </a:lnTo>
                <a:lnTo>
                  <a:pt x="1476076" y="205305"/>
                </a:lnTo>
                <a:lnTo>
                  <a:pt x="1519490" y="211344"/>
                </a:lnTo>
                <a:lnTo>
                  <a:pt x="1562904" y="217382"/>
                </a:lnTo>
                <a:lnTo>
                  <a:pt x="1606318" y="223421"/>
                </a:lnTo>
                <a:lnTo>
                  <a:pt x="1649732" y="229459"/>
                </a:lnTo>
                <a:lnTo>
                  <a:pt x="1693146" y="235497"/>
                </a:lnTo>
                <a:lnTo>
                  <a:pt x="1736560" y="241536"/>
                </a:lnTo>
                <a:lnTo>
                  <a:pt x="1779974" y="247574"/>
                </a:lnTo>
                <a:lnTo>
                  <a:pt x="1823387" y="253613"/>
                </a:lnTo>
                <a:lnTo>
                  <a:pt x="1866802" y="259651"/>
                </a:lnTo>
                <a:lnTo>
                  <a:pt x="1910215" y="265689"/>
                </a:lnTo>
                <a:lnTo>
                  <a:pt x="1953630" y="271728"/>
                </a:lnTo>
                <a:lnTo>
                  <a:pt x="1997043" y="277766"/>
                </a:lnTo>
                <a:lnTo>
                  <a:pt x="2040458" y="283805"/>
                </a:lnTo>
                <a:lnTo>
                  <a:pt x="2083871" y="289843"/>
                </a:lnTo>
                <a:lnTo>
                  <a:pt x="2127286" y="295881"/>
                </a:lnTo>
                <a:lnTo>
                  <a:pt x="2170699" y="301920"/>
                </a:lnTo>
                <a:lnTo>
                  <a:pt x="2214114" y="307958"/>
                </a:lnTo>
                <a:lnTo>
                  <a:pt x="2257528" y="313997"/>
                </a:lnTo>
                <a:lnTo>
                  <a:pt x="2300942" y="320035"/>
                </a:lnTo>
                <a:lnTo>
                  <a:pt x="2344356" y="326073"/>
                </a:lnTo>
                <a:lnTo>
                  <a:pt x="2387770" y="332112"/>
                </a:lnTo>
                <a:lnTo>
                  <a:pt x="2431184" y="338150"/>
                </a:lnTo>
                <a:lnTo>
                  <a:pt x="2474598" y="344189"/>
                </a:lnTo>
                <a:lnTo>
                  <a:pt x="2518012" y="350227"/>
                </a:lnTo>
                <a:lnTo>
                  <a:pt x="2561426" y="356265"/>
                </a:lnTo>
                <a:lnTo>
                  <a:pt x="2604840" y="362304"/>
                </a:lnTo>
              </a:path>
            </a:pathLst>
          </a:custGeom>
          <a:noFill/>
          <a:ln w="3048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4400" y="4777725"/>
            <a:ext cx="260484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training progress (epoch) 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4400" y="5072925"/>
            <a:ext cx="198000" cy="0"/>
          </a:xfrm>
          <a:prstGeom prst="line">
            <a:avLst/>
          </a:prstGeom>
          <a:ln w="33020">
            <a:solidFill>
              <a:srgbClr val="1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46400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50820" y="5072925"/>
            <a:ext cx="198000" cy="0"/>
          </a:xfrm>
          <a:prstGeom prst="line">
            <a:avLst/>
          </a:prstGeom>
          <a:ln w="33020">
            <a:solidFill>
              <a:srgbClr val="D9770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02820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400" y="5224125"/>
            <a:ext cx="27128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Has not learned yet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4440" y="1188000"/>
            <a:ext cx="3303240" cy="4392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9640" y="1382400"/>
            <a:ext cx="2712840" cy="384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Good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9640" y="1709024"/>
            <a:ext cx="2712840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both fall, then a small stable gap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39640" y="4720125"/>
            <a:ext cx="2540040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39640" y="2318174"/>
            <a:ext cx="0" cy="2401951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240080" y="4648125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4667640" y="2206574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739640" y="2320392"/>
            <a:ext cx="2604840" cy="2213846"/>
          </a:xfrm>
          <a:custGeom>
            <a:avLst/>
            <a:gdLst/>
            <a:ahLst/>
            <a:cxnLst/>
            <a:rect l="l" t="t" r="r" b="b"/>
            <a:pathLst>
              <a:path w="2604840" h="2213846">
                <a:moveTo>
                  <a:pt x="0" y="0"/>
                </a:moveTo>
                <a:lnTo>
                  <a:pt x="43414" y="132546"/>
                </a:lnTo>
                <a:lnTo>
                  <a:pt x="86828" y="257373"/>
                </a:lnTo>
                <a:lnTo>
                  <a:pt x="130242" y="374931"/>
                </a:lnTo>
                <a:lnTo>
                  <a:pt x="173656" y="485643"/>
                </a:lnTo>
                <a:lnTo>
                  <a:pt x="217070" y="589907"/>
                </a:lnTo>
                <a:lnTo>
                  <a:pt x="260484" y="688100"/>
                </a:lnTo>
                <a:lnTo>
                  <a:pt x="303898" y="780574"/>
                </a:lnTo>
                <a:lnTo>
                  <a:pt x="347312" y="867663"/>
                </a:lnTo>
                <a:lnTo>
                  <a:pt x="390726" y="949680"/>
                </a:lnTo>
                <a:lnTo>
                  <a:pt x="434140" y="1026921"/>
                </a:lnTo>
                <a:lnTo>
                  <a:pt x="477554" y="1099664"/>
                </a:lnTo>
                <a:lnTo>
                  <a:pt x="520968" y="1168170"/>
                </a:lnTo>
                <a:lnTo>
                  <a:pt x="564382" y="1232687"/>
                </a:lnTo>
                <a:lnTo>
                  <a:pt x="607796" y="1293447"/>
                </a:lnTo>
                <a:lnTo>
                  <a:pt x="651210" y="1350669"/>
                </a:lnTo>
                <a:lnTo>
                  <a:pt x="694624" y="1404558"/>
                </a:lnTo>
                <a:lnTo>
                  <a:pt x="738038" y="1455309"/>
                </a:lnTo>
                <a:lnTo>
                  <a:pt x="781452" y="1503104"/>
                </a:lnTo>
                <a:lnTo>
                  <a:pt x="824866" y="1548116"/>
                </a:lnTo>
                <a:lnTo>
                  <a:pt x="868280" y="1590507"/>
                </a:lnTo>
                <a:lnTo>
                  <a:pt x="911694" y="1630429"/>
                </a:lnTo>
                <a:lnTo>
                  <a:pt x="955108" y="1668026"/>
                </a:lnTo>
                <a:lnTo>
                  <a:pt x="998522" y="1703434"/>
                </a:lnTo>
                <a:lnTo>
                  <a:pt x="1041936" y="1736779"/>
                </a:lnTo>
                <a:lnTo>
                  <a:pt x="1085349" y="1768183"/>
                </a:lnTo>
                <a:lnTo>
                  <a:pt x="1128764" y="1797758"/>
                </a:lnTo>
                <a:lnTo>
                  <a:pt x="1172178" y="1825611"/>
                </a:lnTo>
                <a:lnTo>
                  <a:pt x="1215592" y="1851842"/>
                </a:lnTo>
                <a:lnTo>
                  <a:pt x="1259005" y="1876545"/>
                </a:lnTo>
                <a:lnTo>
                  <a:pt x="1302420" y="1899809"/>
                </a:lnTo>
                <a:lnTo>
                  <a:pt x="1345834" y="1921719"/>
                </a:lnTo>
                <a:lnTo>
                  <a:pt x="1389248" y="1942353"/>
                </a:lnTo>
                <a:lnTo>
                  <a:pt x="1432662" y="1961785"/>
                </a:lnTo>
                <a:lnTo>
                  <a:pt x="1476076" y="1980085"/>
                </a:lnTo>
                <a:lnTo>
                  <a:pt x="1519490" y="1997320"/>
                </a:lnTo>
                <a:lnTo>
                  <a:pt x="1562904" y="2013551"/>
                </a:lnTo>
                <a:lnTo>
                  <a:pt x="1606317" y="2028837"/>
                </a:lnTo>
                <a:lnTo>
                  <a:pt x="1649732" y="2043233"/>
                </a:lnTo>
                <a:lnTo>
                  <a:pt x="1693146" y="2056790"/>
                </a:lnTo>
                <a:lnTo>
                  <a:pt x="1736560" y="2069558"/>
                </a:lnTo>
                <a:lnTo>
                  <a:pt x="1779973" y="2081582"/>
                </a:lnTo>
                <a:lnTo>
                  <a:pt x="1823388" y="2092906"/>
                </a:lnTo>
                <a:lnTo>
                  <a:pt x="1866802" y="2103571"/>
                </a:lnTo>
                <a:lnTo>
                  <a:pt x="1910216" y="2113615"/>
                </a:lnTo>
                <a:lnTo>
                  <a:pt x="1953629" y="2123073"/>
                </a:lnTo>
                <a:lnTo>
                  <a:pt x="1997044" y="2131981"/>
                </a:lnTo>
                <a:lnTo>
                  <a:pt x="2040458" y="2140370"/>
                </a:lnTo>
                <a:lnTo>
                  <a:pt x="2083872" y="2148271"/>
                </a:lnTo>
                <a:lnTo>
                  <a:pt x="2127285" y="2155711"/>
                </a:lnTo>
                <a:lnTo>
                  <a:pt x="2170700" y="2162718"/>
                </a:lnTo>
                <a:lnTo>
                  <a:pt x="2214114" y="2169317"/>
                </a:lnTo>
                <a:lnTo>
                  <a:pt x="2257528" y="2175532"/>
                </a:lnTo>
                <a:lnTo>
                  <a:pt x="2300941" y="2181385"/>
                </a:lnTo>
                <a:lnTo>
                  <a:pt x="2344356" y="2186897"/>
                </a:lnTo>
                <a:lnTo>
                  <a:pt x="2387770" y="2192088"/>
                </a:lnTo>
                <a:lnTo>
                  <a:pt x="2431184" y="2196977"/>
                </a:lnTo>
                <a:lnTo>
                  <a:pt x="2474597" y="2201581"/>
                </a:lnTo>
                <a:lnTo>
                  <a:pt x="2518012" y="2205917"/>
                </a:lnTo>
                <a:lnTo>
                  <a:pt x="2561426" y="2210000"/>
                </a:lnTo>
                <a:lnTo>
                  <a:pt x="2604840" y="2213846"/>
                </a:lnTo>
              </a:path>
            </a:pathLst>
          </a:custGeom>
          <a:noFill/>
          <a:ln w="304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739640" y="2295653"/>
            <a:ext cx="2604840" cy="2088334"/>
          </a:xfrm>
          <a:custGeom>
            <a:avLst/>
            <a:gdLst/>
            <a:ahLst/>
            <a:cxnLst/>
            <a:rect l="l" t="t" r="r" b="b"/>
            <a:pathLst>
              <a:path w="2604840" h="2088334">
                <a:moveTo>
                  <a:pt x="0" y="0"/>
                </a:moveTo>
                <a:lnTo>
                  <a:pt x="43414" y="113069"/>
                </a:lnTo>
                <a:lnTo>
                  <a:pt x="86828" y="220265"/>
                </a:lnTo>
                <a:lnTo>
                  <a:pt x="130242" y="321894"/>
                </a:lnTo>
                <a:lnTo>
                  <a:pt x="173656" y="418245"/>
                </a:lnTo>
                <a:lnTo>
                  <a:pt x="217070" y="509592"/>
                </a:lnTo>
                <a:lnTo>
                  <a:pt x="260484" y="596194"/>
                </a:lnTo>
                <a:lnTo>
                  <a:pt x="303898" y="678299"/>
                </a:lnTo>
                <a:lnTo>
                  <a:pt x="347312" y="756140"/>
                </a:lnTo>
                <a:lnTo>
                  <a:pt x="390726" y="829938"/>
                </a:lnTo>
                <a:lnTo>
                  <a:pt x="434140" y="899903"/>
                </a:lnTo>
                <a:lnTo>
                  <a:pt x="477554" y="966234"/>
                </a:lnTo>
                <a:lnTo>
                  <a:pt x="520968" y="1029121"/>
                </a:lnTo>
                <a:lnTo>
                  <a:pt x="564382" y="1088741"/>
                </a:lnTo>
                <a:lnTo>
                  <a:pt x="607796" y="1145265"/>
                </a:lnTo>
                <a:lnTo>
                  <a:pt x="651210" y="1198853"/>
                </a:lnTo>
                <a:lnTo>
                  <a:pt x="694624" y="1249658"/>
                </a:lnTo>
                <a:lnTo>
                  <a:pt x="738038" y="1297825"/>
                </a:lnTo>
                <a:lnTo>
                  <a:pt x="781452" y="1343489"/>
                </a:lnTo>
                <a:lnTo>
                  <a:pt x="824866" y="1386783"/>
                </a:lnTo>
                <a:lnTo>
                  <a:pt x="868280" y="1427827"/>
                </a:lnTo>
                <a:lnTo>
                  <a:pt x="911694" y="1466741"/>
                </a:lnTo>
                <a:lnTo>
                  <a:pt x="955108" y="1503633"/>
                </a:lnTo>
                <a:lnTo>
                  <a:pt x="998522" y="1538609"/>
                </a:lnTo>
                <a:lnTo>
                  <a:pt x="1041936" y="1571768"/>
                </a:lnTo>
                <a:lnTo>
                  <a:pt x="1085349" y="1603205"/>
                </a:lnTo>
                <a:lnTo>
                  <a:pt x="1128764" y="1633010"/>
                </a:lnTo>
                <a:lnTo>
                  <a:pt x="1172178" y="1661267"/>
                </a:lnTo>
                <a:lnTo>
                  <a:pt x="1215592" y="1688056"/>
                </a:lnTo>
                <a:lnTo>
                  <a:pt x="1259005" y="1713454"/>
                </a:lnTo>
                <a:lnTo>
                  <a:pt x="1302420" y="1737532"/>
                </a:lnTo>
                <a:lnTo>
                  <a:pt x="1345834" y="1760361"/>
                </a:lnTo>
                <a:lnTo>
                  <a:pt x="1389248" y="1782003"/>
                </a:lnTo>
                <a:lnTo>
                  <a:pt x="1432662" y="1802522"/>
                </a:lnTo>
                <a:lnTo>
                  <a:pt x="1476076" y="1821975"/>
                </a:lnTo>
                <a:lnTo>
                  <a:pt x="1519490" y="1840417"/>
                </a:lnTo>
                <a:lnTo>
                  <a:pt x="1562904" y="1857902"/>
                </a:lnTo>
                <a:lnTo>
                  <a:pt x="1606317" y="1874479"/>
                </a:lnTo>
                <a:lnTo>
                  <a:pt x="1649732" y="1890195"/>
                </a:lnTo>
                <a:lnTo>
                  <a:pt x="1693146" y="1905094"/>
                </a:lnTo>
                <a:lnTo>
                  <a:pt x="1736560" y="1919220"/>
                </a:lnTo>
                <a:lnTo>
                  <a:pt x="1779973" y="1932612"/>
                </a:lnTo>
                <a:lnTo>
                  <a:pt x="1823388" y="1945308"/>
                </a:lnTo>
                <a:lnTo>
                  <a:pt x="1866802" y="1957346"/>
                </a:lnTo>
                <a:lnTo>
                  <a:pt x="1910216" y="1968757"/>
                </a:lnTo>
                <a:lnTo>
                  <a:pt x="1953629" y="1979577"/>
                </a:lnTo>
                <a:lnTo>
                  <a:pt x="1997044" y="1989834"/>
                </a:lnTo>
                <a:lnTo>
                  <a:pt x="2040458" y="1999559"/>
                </a:lnTo>
                <a:lnTo>
                  <a:pt x="2083872" y="2008778"/>
                </a:lnTo>
                <a:lnTo>
                  <a:pt x="2127285" y="2017519"/>
                </a:lnTo>
                <a:lnTo>
                  <a:pt x="2170700" y="2025806"/>
                </a:lnTo>
                <a:lnTo>
                  <a:pt x="2214114" y="2033662"/>
                </a:lnTo>
                <a:lnTo>
                  <a:pt x="2257528" y="2041111"/>
                </a:lnTo>
                <a:lnTo>
                  <a:pt x="2300941" y="2048172"/>
                </a:lnTo>
                <a:lnTo>
                  <a:pt x="2344356" y="2054867"/>
                </a:lnTo>
                <a:lnTo>
                  <a:pt x="2387770" y="2061214"/>
                </a:lnTo>
                <a:lnTo>
                  <a:pt x="2431184" y="2067232"/>
                </a:lnTo>
                <a:lnTo>
                  <a:pt x="2474597" y="2072936"/>
                </a:lnTo>
                <a:lnTo>
                  <a:pt x="2518012" y="2078345"/>
                </a:lnTo>
                <a:lnTo>
                  <a:pt x="2561426" y="2083473"/>
                </a:lnTo>
                <a:lnTo>
                  <a:pt x="2604840" y="2088334"/>
                </a:lnTo>
              </a:path>
            </a:pathLst>
          </a:custGeom>
          <a:noFill/>
          <a:ln w="3048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9640" y="4777725"/>
            <a:ext cx="260484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training progress (epoch) →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39640" y="5072925"/>
            <a:ext cx="198000" cy="0"/>
          </a:xfrm>
          <a:prstGeom prst="line">
            <a:avLst/>
          </a:prstGeom>
          <a:ln w="33020">
            <a:solidFill>
              <a:srgbClr val="1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1640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59" y="5072925"/>
            <a:ext cx="198001" cy="0"/>
          </a:xfrm>
          <a:prstGeom prst="line">
            <a:avLst/>
          </a:prstGeom>
          <a:ln w="33020">
            <a:solidFill>
              <a:srgbClr val="D9770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48059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9640" y="5224125"/>
            <a:ext cx="27128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059669"/>
                </a:solidFill>
                <a:latin typeface="Source Han Sans SC"/>
              </a:rPr>
              <a:t>The gap stops growing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9679" y="1188000"/>
            <a:ext cx="3303240" cy="4392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4879" y="1382400"/>
            <a:ext cx="2712840" cy="384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Overfitting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4879" y="1709024"/>
            <a:ext cx="2712840" cy="527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train keeps falling, validation turns up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84879" y="4720125"/>
            <a:ext cx="2540041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384879" y="2527723"/>
            <a:ext cx="0" cy="2192402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10885320" y="4648125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12879" y="2416123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4879" y="2512333"/>
            <a:ext cx="2604841" cy="2147137"/>
          </a:xfrm>
          <a:custGeom>
            <a:avLst/>
            <a:gdLst/>
            <a:ahLst/>
            <a:cxnLst/>
            <a:rect l="l" t="t" r="r" b="b"/>
            <a:pathLst>
              <a:path w="2604841" h="2147137">
                <a:moveTo>
                  <a:pt x="0" y="0"/>
                </a:moveTo>
                <a:lnTo>
                  <a:pt x="43415" y="153709"/>
                </a:lnTo>
                <a:lnTo>
                  <a:pt x="86828" y="296550"/>
                </a:lnTo>
                <a:lnTo>
                  <a:pt x="130242" y="429290"/>
                </a:lnTo>
                <a:lnTo>
                  <a:pt x="173656" y="552644"/>
                </a:lnTo>
                <a:lnTo>
                  <a:pt x="217071" y="667277"/>
                </a:lnTo>
                <a:lnTo>
                  <a:pt x="260484" y="773803"/>
                </a:lnTo>
                <a:lnTo>
                  <a:pt x="303898" y="872797"/>
                </a:lnTo>
                <a:lnTo>
                  <a:pt x="347312" y="964792"/>
                </a:lnTo>
                <a:lnTo>
                  <a:pt x="390727" y="1050281"/>
                </a:lnTo>
                <a:lnTo>
                  <a:pt x="434140" y="1129726"/>
                </a:lnTo>
                <a:lnTo>
                  <a:pt x="477554" y="1203553"/>
                </a:lnTo>
                <a:lnTo>
                  <a:pt x="520968" y="1272160"/>
                </a:lnTo>
                <a:lnTo>
                  <a:pt x="564383" y="1335916"/>
                </a:lnTo>
                <a:lnTo>
                  <a:pt x="607796" y="1395164"/>
                </a:lnTo>
                <a:lnTo>
                  <a:pt x="651210" y="1450222"/>
                </a:lnTo>
                <a:lnTo>
                  <a:pt x="694624" y="1501387"/>
                </a:lnTo>
                <a:lnTo>
                  <a:pt x="738039" y="1548935"/>
                </a:lnTo>
                <a:lnTo>
                  <a:pt x="781452" y="1593120"/>
                </a:lnTo>
                <a:lnTo>
                  <a:pt x="824866" y="1634181"/>
                </a:lnTo>
                <a:lnTo>
                  <a:pt x="868280" y="1672339"/>
                </a:lnTo>
                <a:lnTo>
                  <a:pt x="911695" y="1707799"/>
                </a:lnTo>
                <a:lnTo>
                  <a:pt x="955108" y="1740751"/>
                </a:lnTo>
                <a:lnTo>
                  <a:pt x="998522" y="1771373"/>
                </a:lnTo>
                <a:lnTo>
                  <a:pt x="1041936" y="1799830"/>
                </a:lnTo>
                <a:lnTo>
                  <a:pt x="1085351" y="1826275"/>
                </a:lnTo>
                <a:lnTo>
                  <a:pt x="1128764" y="1850850"/>
                </a:lnTo>
                <a:lnTo>
                  <a:pt x="1172178" y="1873687"/>
                </a:lnTo>
                <a:lnTo>
                  <a:pt x="1215592" y="1894910"/>
                </a:lnTo>
                <a:lnTo>
                  <a:pt x="1259007" y="1914632"/>
                </a:lnTo>
                <a:lnTo>
                  <a:pt x="1302420" y="1932959"/>
                </a:lnTo>
                <a:lnTo>
                  <a:pt x="1345835" y="1949991"/>
                </a:lnTo>
                <a:lnTo>
                  <a:pt x="1389248" y="1965818"/>
                </a:lnTo>
                <a:lnTo>
                  <a:pt x="1432663" y="1980526"/>
                </a:lnTo>
                <a:lnTo>
                  <a:pt x="1476076" y="1994194"/>
                </a:lnTo>
                <a:lnTo>
                  <a:pt x="1519490" y="2006895"/>
                </a:lnTo>
                <a:lnTo>
                  <a:pt x="1562904" y="2018699"/>
                </a:lnTo>
                <a:lnTo>
                  <a:pt x="1606319" y="2029668"/>
                </a:lnTo>
                <a:lnTo>
                  <a:pt x="1649732" y="2039861"/>
                </a:lnTo>
                <a:lnTo>
                  <a:pt x="1693146" y="2049334"/>
                </a:lnTo>
                <a:lnTo>
                  <a:pt x="1736560" y="2058136"/>
                </a:lnTo>
                <a:lnTo>
                  <a:pt x="1779975" y="2066317"/>
                </a:lnTo>
                <a:lnTo>
                  <a:pt x="1823388" y="2073918"/>
                </a:lnTo>
                <a:lnTo>
                  <a:pt x="1866802" y="2080983"/>
                </a:lnTo>
                <a:lnTo>
                  <a:pt x="1910216" y="2087548"/>
                </a:lnTo>
                <a:lnTo>
                  <a:pt x="1953631" y="2093648"/>
                </a:lnTo>
                <a:lnTo>
                  <a:pt x="1997045" y="2099318"/>
                </a:lnTo>
                <a:lnTo>
                  <a:pt x="2040458" y="2104586"/>
                </a:lnTo>
                <a:lnTo>
                  <a:pt x="2083873" y="2109482"/>
                </a:lnTo>
                <a:lnTo>
                  <a:pt x="2127287" y="2114032"/>
                </a:lnTo>
                <a:lnTo>
                  <a:pt x="2170701" y="2118260"/>
                </a:lnTo>
                <a:lnTo>
                  <a:pt x="2214114" y="2122189"/>
                </a:lnTo>
                <a:lnTo>
                  <a:pt x="2257529" y="2125840"/>
                </a:lnTo>
                <a:lnTo>
                  <a:pt x="2300943" y="2129233"/>
                </a:lnTo>
                <a:lnTo>
                  <a:pt x="2344357" y="2132386"/>
                </a:lnTo>
                <a:lnTo>
                  <a:pt x="2387770" y="2135316"/>
                </a:lnTo>
                <a:lnTo>
                  <a:pt x="2431185" y="2138039"/>
                </a:lnTo>
                <a:lnTo>
                  <a:pt x="2474599" y="2140570"/>
                </a:lnTo>
                <a:lnTo>
                  <a:pt x="2518013" y="2142921"/>
                </a:lnTo>
                <a:lnTo>
                  <a:pt x="2561426" y="2145106"/>
                </a:lnTo>
                <a:lnTo>
                  <a:pt x="2604841" y="2147137"/>
                </a:lnTo>
              </a:path>
            </a:pathLst>
          </a:custGeom>
          <a:noFill/>
          <a:ln w="304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4879" y="2534977"/>
            <a:ext cx="2604841" cy="1547877"/>
          </a:xfrm>
          <a:custGeom>
            <a:avLst/>
            <a:gdLst/>
            <a:ahLst/>
            <a:cxnLst/>
            <a:rect l="l" t="t" r="r" b="b"/>
            <a:pathLst>
              <a:path w="2604841" h="1547877">
                <a:moveTo>
                  <a:pt x="0" y="0"/>
                </a:moveTo>
                <a:lnTo>
                  <a:pt x="43415" y="122274"/>
                </a:lnTo>
                <a:lnTo>
                  <a:pt x="86828" y="236972"/>
                </a:lnTo>
                <a:lnTo>
                  <a:pt x="130242" y="344508"/>
                </a:lnTo>
                <a:lnTo>
                  <a:pt x="173656" y="445277"/>
                </a:lnTo>
                <a:lnTo>
                  <a:pt x="217071" y="539650"/>
                </a:lnTo>
                <a:lnTo>
                  <a:pt x="260484" y="627973"/>
                </a:lnTo>
                <a:lnTo>
                  <a:pt x="303898" y="710576"/>
                </a:lnTo>
                <a:lnTo>
                  <a:pt x="347312" y="787764"/>
                </a:lnTo>
                <a:lnTo>
                  <a:pt x="390727" y="859825"/>
                </a:lnTo>
                <a:lnTo>
                  <a:pt x="434140" y="927028"/>
                </a:lnTo>
                <a:lnTo>
                  <a:pt x="477554" y="989624"/>
                </a:lnTo>
                <a:lnTo>
                  <a:pt x="520968" y="1047850"/>
                </a:lnTo>
                <a:lnTo>
                  <a:pt x="564383" y="1101924"/>
                </a:lnTo>
                <a:lnTo>
                  <a:pt x="607796" y="1152053"/>
                </a:lnTo>
                <a:lnTo>
                  <a:pt x="651210" y="1198429"/>
                </a:lnTo>
                <a:lnTo>
                  <a:pt x="694624" y="1241231"/>
                </a:lnTo>
                <a:lnTo>
                  <a:pt x="738039" y="1280628"/>
                </a:lnTo>
                <a:lnTo>
                  <a:pt x="781452" y="1316775"/>
                </a:lnTo>
                <a:lnTo>
                  <a:pt x="824866" y="1349818"/>
                </a:lnTo>
                <a:lnTo>
                  <a:pt x="868280" y="1379892"/>
                </a:lnTo>
                <a:lnTo>
                  <a:pt x="911695" y="1407125"/>
                </a:lnTo>
                <a:lnTo>
                  <a:pt x="955108" y="1431635"/>
                </a:lnTo>
                <a:lnTo>
                  <a:pt x="998522" y="1453530"/>
                </a:lnTo>
                <a:lnTo>
                  <a:pt x="1041936" y="1472913"/>
                </a:lnTo>
                <a:lnTo>
                  <a:pt x="1085351" y="1489878"/>
                </a:lnTo>
                <a:lnTo>
                  <a:pt x="1128764" y="1504513"/>
                </a:lnTo>
                <a:lnTo>
                  <a:pt x="1172178" y="1516901"/>
                </a:lnTo>
                <a:lnTo>
                  <a:pt x="1215592" y="1527116"/>
                </a:lnTo>
                <a:lnTo>
                  <a:pt x="1259007" y="1535228"/>
                </a:lnTo>
                <a:lnTo>
                  <a:pt x="1302420" y="1541303"/>
                </a:lnTo>
                <a:lnTo>
                  <a:pt x="1345835" y="1545400"/>
                </a:lnTo>
                <a:lnTo>
                  <a:pt x="1389248" y="1547574"/>
                </a:lnTo>
                <a:lnTo>
                  <a:pt x="1432663" y="1547877"/>
                </a:lnTo>
                <a:lnTo>
                  <a:pt x="1476076" y="1546355"/>
                </a:lnTo>
                <a:lnTo>
                  <a:pt x="1519490" y="1543051"/>
                </a:lnTo>
                <a:lnTo>
                  <a:pt x="1562904" y="1538005"/>
                </a:lnTo>
                <a:lnTo>
                  <a:pt x="1606319" y="1531252"/>
                </a:lnTo>
                <a:lnTo>
                  <a:pt x="1649732" y="1522826"/>
                </a:lnTo>
                <a:lnTo>
                  <a:pt x="1693146" y="1512757"/>
                </a:lnTo>
                <a:lnTo>
                  <a:pt x="1736560" y="1501072"/>
                </a:lnTo>
                <a:lnTo>
                  <a:pt x="1779975" y="1487796"/>
                </a:lnTo>
                <a:lnTo>
                  <a:pt x="1823388" y="1472951"/>
                </a:lnTo>
                <a:lnTo>
                  <a:pt x="1866802" y="1456557"/>
                </a:lnTo>
                <a:lnTo>
                  <a:pt x="1910216" y="1438632"/>
                </a:lnTo>
                <a:lnTo>
                  <a:pt x="1953631" y="1419192"/>
                </a:lnTo>
                <a:lnTo>
                  <a:pt x="1997045" y="1398250"/>
                </a:lnTo>
                <a:lnTo>
                  <a:pt x="2040458" y="1375820"/>
                </a:lnTo>
                <a:lnTo>
                  <a:pt x="2083873" y="1351912"/>
                </a:lnTo>
                <a:lnTo>
                  <a:pt x="2127287" y="1326534"/>
                </a:lnTo>
                <a:lnTo>
                  <a:pt x="2170701" y="1299696"/>
                </a:lnTo>
                <a:lnTo>
                  <a:pt x="2214114" y="1271402"/>
                </a:lnTo>
                <a:lnTo>
                  <a:pt x="2257529" y="1241658"/>
                </a:lnTo>
                <a:lnTo>
                  <a:pt x="2300943" y="1210468"/>
                </a:lnTo>
                <a:lnTo>
                  <a:pt x="2344357" y="1177835"/>
                </a:lnTo>
                <a:lnTo>
                  <a:pt x="2387770" y="1143760"/>
                </a:lnTo>
                <a:lnTo>
                  <a:pt x="2431185" y="1108244"/>
                </a:lnTo>
                <a:lnTo>
                  <a:pt x="2474599" y="1071288"/>
                </a:lnTo>
                <a:lnTo>
                  <a:pt x="2518013" y="1032889"/>
                </a:lnTo>
                <a:lnTo>
                  <a:pt x="2561426" y="993047"/>
                </a:lnTo>
                <a:lnTo>
                  <a:pt x="2604841" y="951759"/>
                </a:lnTo>
              </a:path>
            </a:pathLst>
          </a:custGeom>
          <a:noFill/>
          <a:ln w="3048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4879" y="4777725"/>
            <a:ext cx="260484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training progress (epoch) →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84879" y="5072925"/>
            <a:ext cx="198001" cy="0"/>
          </a:xfrm>
          <a:prstGeom prst="line">
            <a:avLst/>
          </a:prstGeom>
          <a:ln w="33020">
            <a:solidFill>
              <a:srgbClr val="1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36879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train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41299" y="5072925"/>
            <a:ext cx="198000" cy="0"/>
          </a:xfrm>
          <a:prstGeom prst="line">
            <a:avLst/>
          </a:prstGeom>
          <a:ln w="33020">
            <a:solidFill>
              <a:srgbClr val="D9770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993299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validation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4879" y="5224125"/>
            <a:ext cx="27128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B91C1C"/>
                </a:solidFill>
                <a:latin typeface="Source Han Sans SC"/>
              </a:rPr>
              <a:t>The fork is where to stop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Three States, Three Curve Shapes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Read the position and the direction of two lines — not the value of one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104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Underfitting (high bias)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Training loss is high and will not fall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Validation loss is equally high; the two lines sit close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Evidence from this week: the augmentation arm reaches only 0.960 train accuracy, 0.824 test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Remedy: more capacity, better features, less regularisation, train longer — not more regularisation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Well Fitted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Training loss settles low and flattens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Validation loss follows it down and stays flat near its minimum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A gap remains, but it is stable and stops widening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This is a shippable state, not a perfect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Overfitting (high variance)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Training loss keeps falling toward zero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Validation loss falls to some epoch, then turns upward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gap between the two lines keeps widening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Evidence from this week: train accuracy 1.000 while validation loss rises from 0.516 at epoch 85 to 0.671 at epoch 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Note: validation accuracy barely moved in the same experiments (around 0.856). That is why overfitting must be judged on loss.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What Overfitting Looks Like: Train vs Validation (measured)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Curve: one seed-42 run, one point every 20 epochs (epochs 1, 21, ..., 381) | table figures are means over 5 seeds (42-46)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29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33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440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Train accuracy hits 0.9875 by epoch 41 and is pinned at 1.000 from epoch 61 on.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Validation accuracy sticks at 0.83-0.84 and gains nothing over the next 300 epochs.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From this chart alone you can already conclude: the model has memorised the training set.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But accuracy is a coarse ruler — it hides the degradation. The next chart is the decisive 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Decisive Evidence: Validation Loss Turns Upward (measured)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Curve: one seed-42 run, one point every 20 epochs (epochs 1, 21, ..., 381) | table figures are means over 5 seeds (42-46)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29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33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440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Baseline: bottoms out at 0.6357 at point 5 (epoch 81), then climbs monotonically to 0.8672 at epoch 400.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Over the same 400 epochs, the weight-decay line stays flat in 0.58-0.61 and never turns up.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Averaged over 5 seeds: baseline validation loss rises by +0.155±0.089; weight decay only +0.027±0.014.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This fork in the curve is the line between overfitting and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Symptom to Diagnosis to Remedy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Read the evidence first; the wrong prescription makes it worse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000"/>
                <a:gridCol w="2448000"/>
                <a:gridCol w="4680000"/>
              </a:tblGrid>
              <a:tr h="41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What you see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Diagnosis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Do / do not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Train loss high, validation loss high, lines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Underfitting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Widen/deepen, add features, weaken or remove regularisation, train longer. Adding dropout here makes it worse.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Train loss keeps falling, validation loss turns upward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Overfitting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Early stop, weight decay, dropout, augmentation, more data. Note: validation accuracy may show nothing.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Both look great, then a fresh batch collapses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Leakage or distribution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Re-audit the split order and where preprocessing was fitted; check whether the new data was collected the same way.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Repeated runs swing within ±3 points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Noise, not a conclusion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Re-run over 3-5 seeds, report mean ± sd; do not declare a win when the difference is under one sd.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Validation loss wobbles slightly near its 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Normal convergence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Keep this state. Do not chase the lower training loss at epoch 400.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78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Course rule: put the evidence in the report, not just the verdict. Evidence = concrete epochs and values from the train/validation loss curves.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Regularization: Four Brakes and Their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Regularisation is not a free score boost. It trades a little training fit for a little generalisation.
Brake too hard and the car stops — that is called underfitting.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Early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Stop at the validation-loss minimum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Weight Decay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Penalise large weights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Dropout / Augmentation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Perturb data and representation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Brakes, Four Things Being Slowed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All four limit the model's freedom, but in completely different 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248642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Early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Early stopping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Watch validation loss; stop after N epochs without improvement, then restore the best weights.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Slows: training time. Changes neither the model nor the data.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Main side effect: validation is now used for decisions; repeated reuse wears it out.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Measured this week: 400 epochs cut to 105, test accuracy 0.874 vs baseline 0.878.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1629" y="1296000"/>
            <a:ext cx="2486429" cy="4320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1629" y="1296000"/>
            <a:ext cx="32400" cy="432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4829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Weight Decay (L2)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829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Weight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829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Add λ‖w‖² to the loss, pulling weights toward zero and making the function smoother.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Slows: parameter magnitude. One argument to enable.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Key lesson: it suppresses the rise in validation loss rather than raising accuracy.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Measured this week: validation loss rise +0.027±0.014 versus +0.155±0.089 for the baseline.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4059" y="1296000"/>
            <a:ext cx="2486429" cy="43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4059" y="1296000"/>
            <a:ext cx="32400" cy="432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7259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45309"/>
                </a:solidFill>
                <a:latin typeface="Source Han Sans SC"/>
              </a:rPr>
              <a:t>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7259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Dropout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7259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Randomly zero a fraction of neurons during training, so the net cannot rely on one unit.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Slows: co-adaptation between neurons. Must be off at evaluation time.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Classic bug: forgetting model.train() / model.eval(), so every evaluation differs.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Measured this week: test 0.884±0.011 vs baseline 0.878±0.012 — a 0.006 gap, under one sd.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489" y="1296000"/>
            <a:ext cx="248642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06489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9689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Data Augmentation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9689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Augmentation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9689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Apply label-preserving transforms to training samples — diversity instead of more data.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Slows: effective dataset size. The transform must respect the data's semantics.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Measured counter-example here: pixel shifts + noise drop test accuracy to 0.824 — worse.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Why: at 8x8 there are only 64 pixels; shifting erases stroke structure and creates mislabelled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Four Brakes in PyTorch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Under 15 lines in total — the hard part is knowing when not to write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1. Early stop + 2. Weight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2. Weight decay: just one argument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opt = torch.optim.Adam(model.parameters(),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 lr=1e-3, weight_decay=1e-2)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1. Early stop: keep the best state yourself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best, best_state, bad = float('inf'), None, 0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ep in range(1, 401):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train_one_epoch(model, opt, loader)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va_loss, va_acc = evaluate(model, Xva, yva)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if va_loss &lt; best - 1e-4: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best, bad = va_loss, 0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best_state = {k: v.clone() for k, v in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model.state_dict().items()}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else: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bad += 1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if bad &gt;= 20: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break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model.load_state_dict(best_state)   # restore best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3. Dropout + 4.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3. Dropout: insert between hidden layers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 = nn.Sequential(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nn.Linear(64, 128), nn.ReLU(), nn.Dropout(0.3),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nn.Linear(128, 64), nn.ReLU(), nn.Dropout(0.3),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nn.Linear(64, 10))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net.train()   # training: Dropout is active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net.eval()    # eval: Dropout switches off!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4. Augmentation: training batch only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def augment(xb):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xb = shift_pixels(xb, max_shift=1)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noise = torch.randn_like(xb) * 0.15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return (xb + noise).clamp(0, 1)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xb, yb in train_loader: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xb = augment(xb)          # never augment val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loss = F.cross_entropy(net(xb), yb)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The train/eval switch is bug number one for dropout: forget net.eval() and validation accuracy jitters randomly — enough to make you believe a regulariser works when it does not.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Measured on This Machine: Six Arms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digits 8x8 · 70/15/15 · n_train=80 · 64-128-64-10 MLP · Adam 1e-3 · 400 epochs · 5 seeds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223999" cy="289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000"/>
                <a:gridCol w="1548000"/>
                <a:gridCol w="1655999"/>
                <a:gridCol w="2052000"/>
                <a:gridCol w="1584000"/>
                <a:gridCol w="1620000"/>
              </a:tblGrid>
              <a:tr h="41399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Arm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Train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Val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Val loss best to 400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Rise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Test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0.516 to 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Early stop (patience 20)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0.858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0.516 to 0.534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+0.018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0.874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Weight decay 1e-2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0.497 to 0.524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Dropout 0.3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0.857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0.474 to 0.645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+0.171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0.884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Augmentation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0.529 to 0.606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Combined (wd + dropout + aug)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0.875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0.716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0.849 to 0.884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+0.035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0.740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193999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Means over 5 seeds (42-46); test-accuracy standard deviations run 0.010-0.024. How to read this table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How to Read That Table: Three Honest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This experiment did not produce the tidy answer "regularisation raises accuracy" — so we report 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32400" cy="7379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339200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11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Finding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267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Regularisation suppresses validation loss — it does not raise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4939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Baseline validation loss rises +0.155; early stop only +0.018, weight decay only +0.027. Yet validation accuracy across all six arms sits in 0.716-0.858 and every test-accuracy difference is within one sd. Accuracy cannot tell them apart; validation loss tells you instantly who is degrading.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0412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041200"/>
            <a:ext cx="32400" cy="73799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228400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3004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Finding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156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Augmentation and the combined arm hurt here — that is underfitting, not overfitting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383200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Augmentation pulls test accuracy from 0.878 down to 0.824 and train accuracy from 1.000 to 0.960; the combined arm collapses to 0.740. The cause is not weak regularisation but an over-applied brake: at 8x8 there are only 64 pixels, and shifting erases stroke structure, effectively mislabelling the training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29303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2930399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117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189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Finding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0455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 single run's difference may be noise — always repeat across seeds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2723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same change moves test accuracy by up to ±3 points across seeds. Dropout's 0.884 versus the baseline's 0.878 is a 0.006 gap, under one sd (0.012) — by this course's rule that is not enough to claim a win, only to say no significant difference was observed.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Overfitting Reproduction and Regularization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Manufacture overfitting on purpose, then apply the four remedies one at a time.
The goal is not a higher score but curves that explain what each remedy actually changed.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Manufacture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Small train set, large 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One at 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Change one variable per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Quantify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Validation loss and best epoch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Lab Tasks: Five Parts, One Step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Every part ends in something checkable — if you cannot produce it, stop and 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A. Manufacture 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before any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Data: sklearn digits (8x8, 1797 images, offline), normalised to 0-1 first.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Split 70/15/15, stratified, fixed seed; keep only 80 training images.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Model: 64-128-64-10 MLP (17,226 parameters) — 215 parameters per training sample.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Deliverable: four curves (train/val accuracy and loss) plus the epoch of minimum validation loss.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B. Apply the Four Remedies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one at a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Early stop (patience 20, restore best); weight decay (weight_decay=1e-2).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Dropout (p=0.3); augmentation (Gaussian noise sigma=0.15 + ±1 px shift).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Change one variable at a time, everything else identical to A; add one combined arm.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Record: validation loss at its minimum and at epoch 400, best epoch, epochs actually run.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4320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432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C. Quantify, D. Conclude Honestly, E. Reproduce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Quantify: for every arm compute Δ = loss at epoch 400 minus loss at its minimum, as a table.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Honest verdict: which remedy helped, which did nothing, which hurt — and why.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Across seeds: re-run the key claim over at least 3 seeds; report mean ± sd.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Reproduce: fixed seed, one command to re-run; attach environment and library versions.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Deliverables and Rubric (Lab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100 points, announced in advance; the core question is whether the evidence chain is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6588000"/>
                <a:gridCol w="1620000"/>
              </a:tblGrid>
              <a:tr h="41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Deliverable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Requirement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Points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Overfitting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Four curves plus the exact epoch of minimum validation loss; must show train accuracy saturating at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Regularization comparison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All six arms (baseline / early stop / weight decay / dropout / augmentation / combined) with train, val, test accuracy and 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30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Quantified verdict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State which remedy helped, which did not, which hurt, with a mechanism — not just "it did not work"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Cross-seed stability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At least 3 seeds re-run, mean ± sd reported, and a statement of whether the conclusion holds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15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Reproducibility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One command re-runs everything; fixed seeds; environment and library versions attached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78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Common deductions: curves without epoch numbers; reading "accuracy did not move" as "regularisation is useless"; concluding from a single seed.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Quick Check · Module 2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Answer first, then compare with the next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5200" y="1296000"/>
            <a:ext cx="3793859" cy="8395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 binary classifier scores 0.95 accuracy on 1,000 samples with 50 positives. Which metric must you look at next, and why?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1908000"/>
            <a:ext cx="4801859" cy="164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None — 0.95 is already good enough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Recall: positives are only 5%, so predicting all-negative already gives 0.95 — first confirm the positives are not being missed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Training loss: it reflects the model state best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Parameter count: only large models are a worry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59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Diagnosis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059" y="1296000"/>
            <a:ext cx="3793859" cy="8395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Train accuracy 1.000, validation accuracy 0.856, validation loss rising since epoch 85. What is the diagnosis?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59" y="1908000"/>
            <a:ext cx="4801859" cy="164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Underfitting — enlarge the model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Overfitting — the evidence is validation loss turning upward (accuracy hides it behind a ceiling)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The data is broken — collect again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Cannot tell — you need the test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7200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200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5200" y="3986999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Which of these inflates the validation score?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00" y="4599000"/>
            <a:ext cx="4801859" cy="1646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Split first, then fit the scaler on the training set only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Oversample and normalise the whole dataset first, then split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Use StratifiedKFold for cross-validation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Re-run over 5 seeds and report mean ± sd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59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59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59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Regularization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059" y="3986999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In this week's measurements, what was weight decay 1e-2's cleanest benefit?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59" y="4599000"/>
            <a:ext cx="4801859" cy="1646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Raising test accuracy from 0.878 to 0.95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Lowering train accuracy to 0.90 to avoid overfitting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Suppressing the rise in validation loss from +0.155 to +0.027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Reducing the parameter count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This Week's Takeaways and 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Separate the training-set score from a trustworthy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Choosing a metric is writing business cost into a formula: recall when a miss is costly, precision when a false alarm is, F1 when both matter, AUC for ranking.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The protocol decides whether the number is believable: split before processing, touch test once, stratify and K-fold on small data, and repeat across seeds.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The only reliable evidence of overfitting is validation loss turning upward; validation accuracy hides the degradation behind a ceiling.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The four remedies act differently: early stop limits time, weight decay limits magnitude, dropout limits co-adaptation, augmentation limits data diversity — none is free.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What we measured: regularisation suppressed validation loss but did not raise accuracy; augmentation and combined regularisation actually hurt on 8x8 images. Report it as it 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After 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Submit the regularization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Six-arm table, the validation-loss rise Δ, cross-seed mean ± sd, and an explicit verdict on which remedy works best here and why.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Finish the Module 2 quiz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Covers W5-W8 knowledge points (KT9-KT14); answers reviewed at the start of next class.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W6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Prove your number is trustworthy first;
argue about how good your model is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Next week: CNNs for Computer Vision — Lab 6 reuses this week's evaluation protocol and augmentation, so bring your curve-reading.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Next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W7 · Convolution, pooling and receptive fields · training a CNN with augmentation on GPU · confusion matrix and error-case analysis (Lab 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 Lecture · 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