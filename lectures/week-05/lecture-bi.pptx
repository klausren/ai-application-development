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lr = 1e-1 (too large) / lr = 1e-1（过大）</c:v>
                </c:pt>
              </c:strCache>
            </c:strRef>
          </c:tx>
          <c:spPr>
            <a:ln w="31750">
              <a:solidFill>
                <a:srgbClr val="B91C1C"/>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2.3</c:v>
                </c:pt>
                <c:pt idx="1">
                  <c:v>2.58</c:v>
                </c:pt>
                <c:pt idx="2">
                  <c:v>2.09</c:v>
                </c:pt>
                <c:pt idx="3">
                  <c:v>2.64</c:v>
                </c:pt>
                <c:pt idx="4">
                  <c:v>2.04</c:v>
                </c:pt>
                <c:pt idx="5">
                  <c:v>2.71</c:v>
                </c:pt>
                <c:pt idx="6">
                  <c:v>2.16</c:v>
                </c:pt>
                <c:pt idx="7">
                  <c:v>2.56</c:v>
                </c:pt>
                <c:pt idx="8">
                  <c:v>2.22</c:v>
                </c:pt>
                <c:pt idx="9">
                  <c:v>2.67</c:v>
                </c:pt>
              </c:numCache>
            </c:numRef>
          </c:val>
          <c:smooth/>
        </c:ser>
        <c:ser>
          <c:idx val="1"/>
          <c:order val="1"/>
          <c:tx>
            <c:strRef>
              <c:f>Sheet1!$C$1</c:f>
              <c:strCache>
                <c:ptCount val="1"/>
                <c:pt idx="0">
                  <c:v>lr = 1e-3 (about right) / lr = 1e-3（合适）</c:v>
                </c:pt>
              </c:strCache>
            </c:strRef>
          </c:tx>
          <c:spPr>
            <a:ln w="22225">
              <a:solidFill>
                <a:srgbClr val="059669"/>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2.3</c:v>
                </c:pt>
                <c:pt idx="1">
                  <c:v>1.62</c:v>
                </c:pt>
                <c:pt idx="2">
                  <c:v>1.05</c:v>
                </c:pt>
                <c:pt idx="3">
                  <c:v>0.72</c:v>
                </c:pt>
                <c:pt idx="4">
                  <c:v>0.51</c:v>
                </c:pt>
                <c:pt idx="5">
                  <c:v>0.38</c:v>
                </c:pt>
                <c:pt idx="6">
                  <c:v>0.3</c:v>
                </c:pt>
                <c:pt idx="7">
                  <c:v>0.25</c:v>
                </c:pt>
                <c:pt idx="8">
                  <c:v>0.22</c:v>
                </c:pt>
                <c:pt idx="9">
                  <c:v>0.2</c:v>
                </c:pt>
              </c:numCache>
            </c:numRef>
          </c:val>
          <c:smooth/>
        </c:ser>
        <c:ser>
          <c:idx val="2"/>
          <c:order val="2"/>
          <c:tx>
            <c:strRef>
              <c:f>Sheet1!$D$1</c:f>
              <c:strCache>
                <c:ptCount val="1"/>
                <c:pt idx="0">
                  <c:v>lr = 1e-5 (too small) / lr = 1e-5（过小）</c:v>
                </c:pt>
              </c:strCache>
            </c:strRef>
          </c:tx>
          <c:spPr>
            <a:ln w="22225">
              <a:solidFill>
                <a:srgbClr val="6B7280"/>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Sheet1!$D$2:$D$11</c:f>
              <c:numCache>
                <c:formatCode>General</c:formatCode>
                <c:ptCount val="10"/>
                <c:pt idx="0">
                  <c:v>2.3</c:v>
                </c:pt>
                <c:pt idx="1">
                  <c:v>2.28</c:v>
                </c:pt>
                <c:pt idx="2">
                  <c:v>2.26</c:v>
                </c:pt>
                <c:pt idx="3">
                  <c:v>2.24</c:v>
                </c:pt>
                <c:pt idx="4">
                  <c:v>2.22</c:v>
                </c:pt>
                <c:pt idx="5">
                  <c:v>2.2</c:v>
                </c:pt>
                <c:pt idx="6">
                  <c:v>2.18</c:v>
                </c:pt>
                <c:pt idx="7">
                  <c:v>2.16</c:v>
                </c:pt>
                <c:pt idx="8">
                  <c:v>2.14</c:v>
                </c:pt>
                <c:pt idx="9">
                  <c:v>2.12</c:v>
                </c:pt>
              </c:numCache>
            </c:numRef>
          </c:val>
          <c:smooth/>
        </c:ser>
        <c:marker val="1"/>
        <c:smooth val="0"/>
        <c:axId val="2118791784"/>
        <c:axId val="2140495176"/>
      </c:lineChart>
      <c:catAx>
        <c:axId val="2118791784"/>
        <c:scaling>
          <c:orientation val="minMax"/>
        </c:scaling>
        <c:delete val="0"/>
        <c:axPos val="b"/>
        <c:title>
          <c:tx>
            <c:rich>
              <a:bodyPr/>
              <a:lstStyle/>
              <a:p>
                <a:r>
                  <a:t>Epoch → / 训练轮次 Epoch →</a:t>
                </a:r>
              </a:p>
            </c:rich>
          </c:tx>
          <c:layout/>
          <c:overlay val="0"/>
        </c:title>
        <c:majorTickMark val="out"/>
        <c:minorTickMark val="none"/>
        <c:tickLblPos val="nextTo"/>
        <c:crossAx val="2140495176"/>
        <c:crosses val="autoZero"/>
        <c:auto val="1"/>
        <c:lblAlgn val="ctr"/>
        <c:lblOffset val="100"/>
        <c:noMultiLvlLbl val="0"/>
      </c:catAx>
      <c:valAx>
        <c:axId val="2140495176"/>
        <c:scaling>
          <c:max val="2.8"/>
        </c:scaling>
        <c:delete val="0"/>
        <c:axPos val="l"/>
        <c:majorGridlines/>
        <c:title>
          <c:tx>
            <c:rich>
              <a:bodyPr/>
              <a:lstStyle/>
              <a:p>
                <a:r>
                  <a:t>Train loss / 训练损失 Train loss</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SGD · lr=1e-1 (diverges) / SGD · lr=1e-1（发散）</c:v>
                </c:pt>
              </c:strCache>
            </c:strRef>
          </c:tx>
          <c:spPr>
            <a:ln w="22225">
              <a:solidFill>
                <a:srgbClr val="B91C1C"/>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2.3</c:v>
                </c:pt>
                <c:pt idx="1">
                  <c:v>2.48</c:v>
                </c:pt>
                <c:pt idx="2">
                  <c:v>2.36</c:v>
                </c:pt>
                <c:pt idx="3">
                  <c:v>2.55</c:v>
                </c:pt>
                <c:pt idx="4">
                  <c:v>2.3</c:v>
                </c:pt>
                <c:pt idx="5">
                  <c:v>2.6</c:v>
                </c:pt>
                <c:pt idx="6">
                  <c:v>2.34</c:v>
                </c:pt>
                <c:pt idx="7">
                  <c:v>2.52</c:v>
                </c:pt>
                <c:pt idx="8">
                  <c:v>2.31</c:v>
                </c:pt>
                <c:pt idx="9">
                  <c:v>2.58</c:v>
                </c:pt>
              </c:numCache>
            </c:numRef>
          </c:val>
          <c:smooth/>
        </c:ser>
        <c:ser>
          <c:idx val="1"/>
          <c:order val="1"/>
          <c:tx>
            <c:strRef>
              <c:f>Sheet1!$C$1</c:f>
              <c:strCache>
                <c:ptCount val="1"/>
                <c:pt idx="0">
                  <c:v>SGD · lr=1e-3 (too slow) / SGD · lr=1e-3（过慢）</c:v>
                </c:pt>
              </c:strCache>
            </c:strRef>
          </c:tx>
          <c:spPr>
            <a:ln w="22225">
              <a:solidFill>
                <a:srgbClr val="6B7280"/>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2.3</c:v>
                </c:pt>
                <c:pt idx="1">
                  <c:v>2.21</c:v>
                </c:pt>
                <c:pt idx="2">
                  <c:v>2.12</c:v>
                </c:pt>
                <c:pt idx="3">
                  <c:v>2.03</c:v>
                </c:pt>
                <c:pt idx="4">
                  <c:v>1.94</c:v>
                </c:pt>
                <c:pt idx="5">
                  <c:v>1.86</c:v>
                </c:pt>
                <c:pt idx="6">
                  <c:v>1.78</c:v>
                </c:pt>
                <c:pt idx="7">
                  <c:v>1.7</c:v>
                </c:pt>
                <c:pt idx="8">
                  <c:v>1.63</c:v>
                </c:pt>
                <c:pt idx="9">
                  <c:v>1.56</c:v>
                </c:pt>
              </c:numCache>
            </c:numRef>
          </c:val>
          <c:smooth/>
        </c:ser>
        <c:ser>
          <c:idx val="2"/>
          <c:order val="2"/>
          <c:tx>
            <c:strRef>
              <c:f>Sheet1!$D$1</c:f>
              <c:strCache>
                <c:ptCount val="1"/>
                <c:pt idx="0">
                  <c:v>Momentum · lr=1e-3 (good) / Momentum · lr=1e-3（良好）</c:v>
                </c:pt>
              </c:strCache>
            </c:strRef>
          </c:tx>
          <c:spPr>
            <a:ln w="22225">
              <a:solidFill>
                <a:srgbClr val="D97706"/>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Sheet1!$D$2:$D$11</c:f>
              <c:numCache>
                <c:formatCode>General</c:formatCode>
                <c:ptCount val="10"/>
                <c:pt idx="0">
                  <c:v>2.3</c:v>
                </c:pt>
                <c:pt idx="1">
                  <c:v>1.7</c:v>
                </c:pt>
                <c:pt idx="2">
                  <c:v>1.15</c:v>
                </c:pt>
                <c:pt idx="3">
                  <c:v>0.8</c:v>
                </c:pt>
                <c:pt idx="4">
                  <c:v>0.58</c:v>
                </c:pt>
                <c:pt idx="5">
                  <c:v>0.44</c:v>
                </c:pt>
                <c:pt idx="6">
                  <c:v>0.35</c:v>
                </c:pt>
                <c:pt idx="7">
                  <c:v>0.29</c:v>
                </c:pt>
                <c:pt idx="8">
                  <c:v>0.25</c:v>
                </c:pt>
                <c:pt idx="9">
                  <c:v>0.22</c:v>
                </c:pt>
              </c:numCache>
            </c:numRef>
          </c:val>
          <c:smooth/>
        </c:ser>
        <c:ser>
          <c:idx val="3"/>
          <c:order val="3"/>
          <c:tx>
            <c:strRef>
              <c:f>Sheet1!$E$1</c:f>
              <c:strCache>
                <c:ptCount val="1"/>
                <c:pt idx="0">
                  <c:v>Adam · lr=1e-3 (best) / Adam · lr=1e-3（最优）</c:v>
                </c:pt>
              </c:strCache>
            </c:strRef>
          </c:tx>
          <c:spPr>
            <a:ln w="31750">
              <a:solidFill>
                <a:srgbClr val="059669"/>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Sheet1!$E$2:$E$11</c:f>
              <c:numCache>
                <c:formatCode>General</c:formatCode>
                <c:ptCount val="10"/>
                <c:pt idx="0">
                  <c:v>2.3</c:v>
                </c:pt>
                <c:pt idx="1">
                  <c:v>1.35</c:v>
                </c:pt>
                <c:pt idx="2">
                  <c:v>0.78</c:v>
                </c:pt>
                <c:pt idx="3">
                  <c:v>0.48</c:v>
                </c:pt>
                <c:pt idx="4">
                  <c:v>0.33</c:v>
                </c:pt>
                <c:pt idx="5">
                  <c:v>0.24</c:v>
                </c:pt>
                <c:pt idx="6">
                  <c:v>0.19</c:v>
                </c:pt>
                <c:pt idx="7">
                  <c:v>0.16</c:v>
                </c:pt>
                <c:pt idx="8">
                  <c:v>0.14</c:v>
                </c:pt>
                <c:pt idx="9">
                  <c:v>0.13</c:v>
                </c:pt>
              </c:numCache>
            </c:numRef>
          </c:val>
          <c:smooth/>
        </c:ser>
        <c:marker val="1"/>
        <c:smooth val="0"/>
        <c:axId val="2118791784"/>
        <c:axId val="2140495176"/>
      </c:lineChart>
      <c:catAx>
        <c:axId val="2118791784"/>
        <c:scaling>
          <c:orientation val="minMax"/>
        </c:scaling>
        <c:delete val="0"/>
        <c:axPos val="b"/>
        <c:title>
          <c:tx>
            <c:rich>
              <a:bodyPr/>
              <a:lstStyle/>
              <a:p>
                <a:r>
                  <a:t>Epoch → / 训练轮次 Epoch →</a:t>
                </a:r>
              </a:p>
            </c:rich>
          </c:tx>
          <c:layout/>
          <c:overlay val="0"/>
        </c:title>
        <c:majorTickMark val="out"/>
        <c:minorTickMark val="none"/>
        <c:tickLblPos val="nextTo"/>
        <c:crossAx val="2140495176"/>
        <c:crosses val="autoZero"/>
        <c:auto val="1"/>
        <c:lblAlgn val="ctr"/>
        <c:lblOffset val="100"/>
        <c:noMultiLvlLbl val="0"/>
      </c:catAx>
      <c:valAx>
        <c:axId val="2140495176"/>
        <c:scaling>
          <c:max val="2.8"/>
        </c:scaling>
        <c:delete val="0"/>
        <c:axPos val="l"/>
        <c:majorGridlines/>
        <c:title>
          <c:tx>
            <c:rich>
              <a:bodyPr/>
              <a:lstStyle/>
              <a:p>
                <a:r>
                  <a:t>Val loss / 验证损失 Val loss</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33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33200"/>
            <a:ext cx="12192119" cy="576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096059" y="856800"/>
            <a:ext cx="5296859" cy="4572000"/>
          </a:xfrm>
          <a:prstGeom prst="rect">
            <a:avLst/>
          </a:prstGeom>
          <a:noFill/>
        </p:spPr>
        <p:txBody>
          <a:bodyPr wrap="square" anchor="t" lIns="0" rIns="0" tIns="0" bIns="0">
            <a:spAutoFit/>
          </a:bodyPr>
          <a:lstStyle/>
          <a:p>
            <a:pPr algn="r">
              <a:lnSpc>
                <a:spcPct val="125000"/>
              </a:lnSpc>
            </a:pPr>
            <a:r>
              <a:rPr sz="19000" b="1" i="0">
                <a:solidFill>
                  <a:srgbClr val="F0F5FC"/>
                </a:solidFill>
                <a:latin typeface="Source Han Sans SC"/>
              </a:rPr>
              <a:t>05</a:t>
            </a:r>
          </a:p>
        </p:txBody>
      </p:sp>
      <p:sp>
        <p:nvSpPr>
          <p:cNvPr id="6" name="TextBox 5"/>
          <p:cNvSpPr txBox="1"/>
          <p:nvPr/>
        </p:nvSpPr>
        <p:spPr>
          <a:xfrm>
            <a:off x="799200" y="856800"/>
            <a:ext cx="7200000" cy="216000"/>
          </a:xfrm>
          <a:prstGeom prst="rect">
            <a:avLst/>
          </a:prstGeom>
          <a:noFill/>
        </p:spPr>
        <p:txBody>
          <a:bodyPr wrap="square" anchor="t" lIns="0" rIns="0" tIns="0" bIns="0">
            <a:spAutoFit/>
          </a:bodyPr>
          <a:lstStyle/>
          <a:p>
            <a:pPr algn="l">
              <a:lnSpc>
                <a:spcPct val="125000"/>
              </a:lnSpc>
            </a:pPr>
            <a:r>
              <a:rPr sz="1150" b="1" i="0">
                <a:solidFill>
                  <a:srgbClr val="1E4FA8"/>
                </a:solidFill>
                <a:latin typeface="Source Han Sans SC"/>
              </a:rPr>
              <a:t>52015CC3BV · UNDERGRADUATE · INTERNATIONAL</a:t>
            </a:r>
          </a:p>
          <a:p>
            <a:pPr algn="l">
              <a:lnSpc>
                <a:spcPct val="105000"/>
              </a:lnSpc>
              <a:spcBef>
                <a:spcPts val="150"/>
              </a:spcBef>
            </a:pPr>
            <a:r>
              <a:rPr sz="900" b="0" i="0">
                <a:solidFill>
                  <a:srgbClr val="6B7280"/>
                </a:solidFill>
                <a:latin typeface="Source Han Sans SC"/>
              </a:rPr>
              <a:t>52015CC3BV · 本科 · 来华项目</a:t>
            </a:r>
          </a:p>
        </p:txBody>
      </p:sp>
      <p:sp>
        <p:nvSpPr>
          <p:cNvPr id="7" name="Rectangle 6"/>
          <p:cNvSpPr/>
          <p:nvPr/>
        </p:nvSpPr>
        <p:spPr>
          <a:xfrm>
            <a:off x="799200" y="12672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458000"/>
            <a:ext cx="10593719" cy="468000"/>
          </a:xfrm>
          <a:prstGeom prst="rect">
            <a:avLst/>
          </a:prstGeom>
          <a:noFill/>
        </p:spPr>
        <p:txBody>
          <a:bodyPr wrap="square" anchor="t" lIns="0" rIns="0" tIns="0" bIns="0">
            <a:spAutoFit/>
          </a:bodyPr>
          <a:lstStyle/>
          <a:p>
            <a:pPr algn="l">
              <a:lnSpc>
                <a:spcPct val="125000"/>
              </a:lnSpc>
            </a:pPr>
            <a:r>
              <a:rPr sz="3600" b="1" i="0">
                <a:solidFill>
                  <a:srgbClr val="0E3F8C"/>
                </a:solidFill>
                <a:latin typeface="Source Han Sans SC"/>
              </a:rPr>
              <a:t>Training Loop, Loss and Optimizer</a:t>
            </a:r>
          </a:p>
        </p:txBody>
      </p:sp>
      <p:sp>
        <p:nvSpPr>
          <p:cNvPr id="9" name="TextBox 8"/>
          <p:cNvSpPr txBox="1"/>
          <p:nvPr/>
        </p:nvSpPr>
        <p:spPr>
          <a:xfrm>
            <a:off x="799200" y="2106000"/>
            <a:ext cx="10593719" cy="432000"/>
          </a:xfrm>
          <a:prstGeom prst="rect">
            <a:avLst/>
          </a:prstGeom>
          <a:noFill/>
        </p:spPr>
        <p:txBody>
          <a:bodyPr wrap="square" anchor="t" lIns="0" rIns="0" tIns="0" bIns="0">
            <a:spAutoFit/>
          </a:bodyPr>
          <a:lstStyle/>
          <a:p>
            <a:pPr algn="l">
              <a:lnSpc>
                <a:spcPct val="125000"/>
              </a:lnSpc>
            </a:pPr>
            <a:r>
              <a:rPr sz="2300" b="1" i="0">
                <a:solidFill>
                  <a:srgbClr val="1F2937"/>
                </a:solidFill>
                <a:latin typeface="Source Han Sans SC"/>
              </a:rPr>
              <a:t>训练循环、损失函数与优化器</a:t>
            </a:r>
          </a:p>
        </p:txBody>
      </p:sp>
      <p:sp>
        <p:nvSpPr>
          <p:cNvPr id="10" name="TextBox 9"/>
          <p:cNvSpPr txBox="1"/>
          <p:nvPr/>
        </p:nvSpPr>
        <p:spPr>
          <a:xfrm>
            <a:off x="799200" y="2718000"/>
            <a:ext cx="10593719" cy="324000"/>
          </a:xfrm>
          <a:prstGeom prst="rect">
            <a:avLst/>
          </a:prstGeom>
          <a:noFill/>
        </p:spPr>
        <p:txBody>
          <a:bodyPr wrap="square" anchor="t" lIns="0" rIns="0" tIns="0" bIns="0">
            <a:spAutoFit/>
          </a:bodyPr>
          <a:lstStyle/>
          <a:p>
            <a:pPr algn="l">
              <a:lnSpc>
                <a:spcPct val="125000"/>
              </a:lnSpc>
            </a:pPr>
            <a:r>
              <a:rPr sz="1500" b="0" i="0">
                <a:solidFill>
                  <a:srgbClr val="6B7280"/>
                </a:solidFill>
                <a:latin typeface="Source Han Sans SC"/>
              </a:rPr>
              <a:t>What we optimise, how we walk, how big the step</a:t>
            </a:r>
          </a:p>
        </p:txBody>
      </p:sp>
      <p:sp>
        <p:nvSpPr>
          <p:cNvPr id="11" name="TextBox 10"/>
          <p:cNvSpPr txBox="1"/>
          <p:nvPr/>
        </p:nvSpPr>
        <p:spPr>
          <a:xfrm>
            <a:off x="799200" y="3384000"/>
            <a:ext cx="10593719" cy="792000"/>
          </a:xfrm>
          <a:prstGeom prst="rect">
            <a:avLst/>
          </a:prstGeom>
          <a:noFill/>
        </p:spPr>
        <p:txBody>
          <a:bodyPr wrap="square" anchor="t" lIns="0" rIns="0" tIns="0" bIns="0">
            <a:spAutoFit/>
          </a:bodyPr>
          <a:lstStyle/>
          <a:p>
            <a:pPr algn="l">
              <a:lnSpc>
                <a:spcPct val="125000"/>
              </a:lnSpc>
            </a:pPr>
            <a:r>
              <a:rPr sz="1250" b="0" i="0">
                <a:solidFill>
                  <a:srgbClr val="6B7280"/>
                </a:solidFill>
                <a:latin typeface="Source Han Sans SC"/>
              </a:rPr>
              <a:t>Week 5 · Choosing a loss · Optimizers compared · Learning rate · The five-step loop · Logging &amp; plots</a:t>
            </a:r>
          </a:p>
          <a:p>
            <a:pPr algn="l">
              <a:lnSpc>
                <a:spcPct val="105000"/>
              </a:lnSpc>
              <a:spcBef>
                <a:spcPts val="150"/>
              </a:spcBef>
            </a:pPr>
            <a:r>
              <a:rPr sz="980" b="0" i="0">
                <a:solidFill>
                  <a:srgbClr val="6B7280"/>
                </a:solidFill>
                <a:latin typeface="Source Han Sans SC"/>
              </a:rPr>
              <a:t>Week 5 · 损失函数选择 · 优化器差异 · 学习率 · 训练循环五步法 · 日志与可视化</a:t>
            </a:r>
          </a:p>
        </p:txBody>
      </p:sp>
      <p:sp>
        <p:nvSpPr>
          <p:cNvPr id="12" name="Rectangle 11"/>
          <p:cNvSpPr/>
          <p:nvPr/>
        </p:nvSpPr>
        <p:spPr>
          <a:xfrm>
            <a:off x="799200" y="5295600"/>
            <a:ext cx="1872475"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72000" y="5364000"/>
            <a:ext cx="1526875"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Module 2 · W5-8</a:t>
            </a:r>
          </a:p>
        </p:txBody>
      </p:sp>
      <p:sp>
        <p:nvSpPr>
          <p:cNvPr id="14" name="Rectangle 13"/>
          <p:cNvSpPr/>
          <p:nvPr/>
        </p:nvSpPr>
        <p:spPr>
          <a:xfrm>
            <a:off x="2894875" y="5295600"/>
            <a:ext cx="2808713"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067675" y="5364000"/>
            <a:ext cx="2463113"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180 min · Lecture + Lab + Quiz</a:t>
            </a:r>
          </a:p>
        </p:txBody>
      </p:sp>
      <p:sp>
        <p:nvSpPr>
          <p:cNvPr id="16" name="Rectangle 15"/>
          <p:cNvSpPr/>
          <p:nvPr/>
        </p:nvSpPr>
        <p:spPr>
          <a:xfrm>
            <a:off x="5926788" y="5295600"/>
            <a:ext cx="3370455"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099588" y="5364000"/>
            <a:ext cx="3024855"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PyTorch · optimizers · learning rate · logs</a:t>
            </a:r>
          </a:p>
        </p:txBody>
      </p:sp>
      <p:sp>
        <p:nvSpPr>
          <p:cNvPr id="18" name="Rectangle 17"/>
          <p:cNvSpPr/>
          <p:nvPr/>
        </p:nvSpPr>
        <p:spPr>
          <a:xfrm>
            <a:off x="9520444" y="5295600"/>
            <a:ext cx="1872475"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693244" y="5364000"/>
            <a:ext cx="1526875"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International Students</a:t>
            </a:r>
          </a:p>
        </p:txBody>
      </p:sp>
      <p:sp>
        <p:nvSpPr>
          <p:cNvPr id="20" name="Rectangle 19"/>
          <p:cNvSpPr/>
          <p:nvPr/>
        </p:nvSpPr>
        <p:spPr>
          <a:xfrm>
            <a:off x="799200" y="5868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56800" y="5961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W5</a:t>
            </a:r>
          </a:p>
        </p:txBody>
      </p:sp>
      <p:sp>
        <p:nvSpPr>
          <p:cNvPr id="22" name="TextBox 21"/>
          <p:cNvSpPr txBox="1"/>
          <p:nvPr/>
        </p:nvSpPr>
        <p:spPr>
          <a:xfrm>
            <a:off x="1332000" y="5983200"/>
            <a:ext cx="5760000" cy="2016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Lecturer: ____________  ·  School of Software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Contents</a:t>
            </a:r>
          </a:p>
          <a:p>
            <a:pPr algn="l">
              <a:lnSpc>
                <a:spcPct val="105000"/>
              </a:lnSpc>
              <a:spcBef>
                <a:spcPts val="150"/>
              </a:spcBef>
            </a:pPr>
            <a:r>
              <a:rPr sz="1210" b="0" i="0">
                <a:solidFill>
                  <a:srgbClr val="6B7280"/>
                </a:solidFill>
                <a:latin typeface="Source Han Sans SC"/>
              </a:rPr>
              <a:t>目录</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02 / 31</a:t>
            </a:r>
          </a:p>
        </p:txBody>
      </p:sp>
      <p:sp>
        <p:nvSpPr>
          <p:cNvPr id="9" name="Rectangle 8"/>
          <p:cNvSpPr/>
          <p:nvPr/>
        </p:nvSpPr>
        <p:spPr>
          <a:xfrm>
            <a:off x="799200" y="1044000"/>
            <a:ext cx="2858400" cy="49536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47600" y="2163600"/>
            <a:ext cx="2361600" cy="965477"/>
          </a:xfrm>
          <a:prstGeom prst="rect">
            <a:avLst/>
          </a:prstGeom>
          <a:noFill/>
        </p:spPr>
        <p:txBody>
          <a:bodyPr wrap="square" anchor="t" lIns="0" rIns="0" tIns="0" bIns="0">
            <a:spAutoFit/>
          </a:bodyPr>
          <a:lstStyle/>
          <a:p>
            <a:pPr algn="l">
              <a:lnSpc>
                <a:spcPct val="125000"/>
              </a:lnSpc>
            </a:pPr>
            <a:r>
              <a:rPr sz="2600" b="1" i="0">
                <a:solidFill>
                  <a:srgbClr val="0E3F8C"/>
                </a:solidFill>
                <a:latin typeface="Source Han Sans SC"/>
              </a:rPr>
              <a:t>5 Parts</a:t>
            </a:r>
          </a:p>
          <a:p>
            <a:pPr algn="l">
              <a:lnSpc>
                <a:spcPct val="105000"/>
              </a:lnSpc>
              <a:spcBef>
                <a:spcPts val="150"/>
              </a:spcBef>
            </a:pPr>
            <a:r>
              <a:rPr sz="2030" b="0" i="0">
                <a:solidFill>
                  <a:srgbClr val="6B7280"/>
                </a:solidFill>
                <a:latin typeface="Source Han Sans SC"/>
              </a:rPr>
              <a:t>5 部分</a:t>
            </a:r>
          </a:p>
        </p:txBody>
      </p:sp>
      <p:sp>
        <p:nvSpPr>
          <p:cNvPr id="11" name="TextBox 10"/>
          <p:cNvSpPr txBox="1"/>
          <p:nvPr/>
        </p:nvSpPr>
        <p:spPr>
          <a:xfrm>
            <a:off x="1047600" y="3093077"/>
            <a:ext cx="2361600" cy="480295"/>
          </a:xfrm>
          <a:prstGeom prst="rect">
            <a:avLst/>
          </a:prstGeom>
          <a:noFill/>
        </p:spPr>
        <p:txBody>
          <a:bodyPr wrap="square" anchor="t" lIns="0" rIns="0" tIns="0" bIns="0">
            <a:spAutoFit/>
          </a:bodyPr>
          <a:lstStyle/>
          <a:p>
            <a:pPr algn="l">
              <a:lnSpc>
                <a:spcPct val="125000"/>
              </a:lnSpc>
            </a:pPr>
            <a:r>
              <a:rPr sz="1150" b="1" i="0">
                <a:solidFill>
                  <a:srgbClr val="6B7280"/>
                </a:solidFill>
                <a:latin typeface="Source Han Sans SC"/>
              </a:rPr>
              <a:t>Part</a:t>
            </a:r>
          </a:p>
          <a:p>
            <a:pPr algn="l">
              <a:lnSpc>
                <a:spcPct val="105000"/>
              </a:lnSpc>
              <a:spcBef>
                <a:spcPts val="150"/>
              </a:spcBef>
            </a:pPr>
            <a:r>
              <a:rPr sz="900" b="0" i="0">
                <a:solidFill>
                  <a:srgbClr val="6B7280"/>
                </a:solidFill>
                <a:latin typeface="Source Han Sans SC"/>
              </a:rPr>
              <a:t>本周结构</a:t>
            </a:r>
          </a:p>
        </p:txBody>
      </p:sp>
      <p:sp>
        <p:nvSpPr>
          <p:cNvPr id="12" name="Rectangle 11"/>
          <p:cNvSpPr/>
          <p:nvPr/>
        </p:nvSpPr>
        <p:spPr>
          <a:xfrm>
            <a:off x="1047600" y="3540973"/>
            <a:ext cx="2361600" cy="1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47600" y="3634573"/>
            <a:ext cx="2361600" cy="1276177"/>
          </a:xfrm>
          <a:prstGeom prst="rect">
            <a:avLst/>
          </a:prstGeom>
          <a:noFill/>
        </p:spPr>
        <p:txBody>
          <a:bodyPr wrap="square" anchor="t" lIns="0" rIns="0" tIns="0" bIns="0">
            <a:spAutoFit/>
          </a:bodyPr>
          <a:lstStyle/>
          <a:p>
            <a:pPr algn="l">
              <a:lnSpc>
                <a:spcPct val="130000"/>
              </a:lnSpc>
            </a:pPr>
            <a:r>
              <a:rPr sz="1019" b="0" i="0">
                <a:solidFill>
                  <a:srgbClr val="1F2937"/>
                </a:solidFill>
                <a:latin typeface="Source Han Sans SC"/>
              </a:rPr>
              <a:t>The loss names what you optimise, the optimizer decides how you walk, the learning rate decides how big a step you take.</a:t>
            </a:r>
          </a:p>
          <a:p>
            <a:pPr algn="l">
              <a:lnSpc>
                <a:spcPct val="105000"/>
              </a:lnSpc>
              <a:spcBef>
                <a:spcPts val="150"/>
              </a:spcBef>
            </a:pPr>
            <a:r>
              <a:rPr sz="800" b="0" i="0">
                <a:solidFill>
                  <a:srgbClr val="6B7280"/>
                </a:solidFill>
                <a:latin typeface="Source Han Sans SC"/>
              </a:rPr>
              <a:t>损失函数决定模型在优化什么， 优化器决定它怎么走， 学习率决定它一步走多大。</a:t>
            </a:r>
          </a:p>
        </p:txBody>
      </p:sp>
      <p:sp>
        <p:nvSpPr>
          <p:cNvPr id="14" name="Rectangle 13"/>
          <p:cNvSpPr/>
          <p:nvPr/>
        </p:nvSpPr>
        <p:spPr>
          <a:xfrm>
            <a:off x="1047600" y="4962532"/>
            <a:ext cx="2361600" cy="93426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80800" y="5041732"/>
            <a:ext cx="2095200" cy="775867"/>
          </a:xfrm>
          <a:prstGeom prst="rect">
            <a:avLst/>
          </a:prstGeom>
          <a:noFill/>
        </p:spPr>
        <p:txBody>
          <a:bodyPr wrap="square" anchor="t" lIns="0" rIns="0" tIns="0" bIns="0">
            <a:spAutoFit/>
          </a:bodyPr>
          <a:lstStyle/>
          <a:p>
            <a:pPr algn="l">
              <a:lnSpc>
                <a:spcPct val="128000"/>
              </a:lnSpc>
            </a:pPr>
            <a:r>
              <a:rPr sz="1100" b="0" i="0">
                <a:solidFill>
                  <a:srgbClr val="6B7280"/>
                </a:solidFill>
                <a:latin typeface="Source Han Sans SC"/>
              </a:rPr>
              <a:t>Theory ~90 min · Lab 80 min · Quiz &amp; Summary 10 min</a:t>
            </a:r>
          </a:p>
          <a:p>
            <a:pPr algn="l">
              <a:lnSpc>
                <a:spcPct val="105000"/>
              </a:lnSpc>
              <a:spcBef>
                <a:spcPts val="150"/>
              </a:spcBef>
            </a:pPr>
            <a:r>
              <a:rPr sz="860" b="0" i="0">
                <a:solidFill>
                  <a:srgbClr val="6B7280"/>
                </a:solidFill>
                <a:latin typeface="Source Han Sans SC"/>
              </a:rPr>
              <a:t>理论约 90 min · Lab 80 min · 小测与小结 10 min</a:t>
            </a:r>
          </a:p>
        </p:txBody>
      </p:sp>
      <p:sp>
        <p:nvSpPr>
          <p:cNvPr id="16" name="Rectangle 15"/>
          <p:cNvSpPr/>
          <p:nvPr/>
        </p:nvSpPr>
        <p:spPr>
          <a:xfrm>
            <a:off x="3924000" y="16488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999600" y="17712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999600" y="18720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01</a:t>
            </a:r>
          </a:p>
        </p:txBody>
      </p:sp>
      <p:sp>
        <p:nvSpPr>
          <p:cNvPr id="19" name="TextBox 18"/>
          <p:cNvSpPr txBox="1"/>
          <p:nvPr/>
        </p:nvSpPr>
        <p:spPr>
          <a:xfrm>
            <a:off x="4687200" y="17424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The Loss: What We Optimise</a:t>
            </a:r>
            <a:r>
              <a:rPr sz="919" b="0" i="0">
                <a:solidFill>
                  <a:srgbClr val="6B7280"/>
                </a:solidFill>
                <a:latin typeface="Source Han Sans SC"/>
              </a:rPr>
              <a:t> ｜ </a:t>
            </a:r>
            <a:r>
              <a:rPr sz="919" b="0" i="0">
                <a:solidFill>
                  <a:srgbClr val="6B7280"/>
                </a:solidFill>
                <a:latin typeface="Source Han Sans SC"/>
              </a:rPr>
              <a:t>损失函数：我们在优化什么</a:t>
            </a:r>
          </a:p>
        </p:txBody>
      </p:sp>
      <p:sp>
        <p:nvSpPr>
          <p:cNvPr id="20" name="TextBox 19"/>
          <p:cNvSpPr txBox="1"/>
          <p:nvPr/>
        </p:nvSpPr>
        <p:spPr>
          <a:xfrm>
            <a:off x="4687200" y="20085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Task type decides the loss · three common losses · one classic pitfall</a:t>
            </a:r>
            <a:r>
              <a:rPr sz="800" b="0" i="0">
                <a:solidFill>
                  <a:srgbClr val="6B7280"/>
                </a:solidFill>
                <a:latin typeface="Source Han Sans SC"/>
              </a:rPr>
              <a:t> ｜ </a:t>
            </a:r>
            <a:r>
              <a:rPr sz="800" b="0" i="0">
                <a:solidFill>
                  <a:srgbClr val="6B7280"/>
                </a:solidFill>
                <a:latin typeface="Source Han Sans SC"/>
              </a:rPr>
              <a:t>任务类型决定损失 · 三种常用损失 · 一个常见坑</a:t>
            </a:r>
          </a:p>
        </p:txBody>
      </p:sp>
      <p:sp>
        <p:nvSpPr>
          <p:cNvPr id="21" name="Right Arrow 20"/>
          <p:cNvSpPr/>
          <p:nvPr/>
        </p:nvSpPr>
        <p:spPr>
          <a:xfrm>
            <a:off x="11048400" y="19332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924000" y="24012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999600" y="25236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999600" y="26244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02</a:t>
            </a:r>
          </a:p>
        </p:txBody>
      </p:sp>
      <p:sp>
        <p:nvSpPr>
          <p:cNvPr id="25" name="TextBox 24"/>
          <p:cNvSpPr txBox="1"/>
          <p:nvPr/>
        </p:nvSpPr>
        <p:spPr>
          <a:xfrm>
            <a:off x="4687200" y="24948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Optimizers: How We Update</a:t>
            </a:r>
            <a:r>
              <a:rPr sz="919" b="0" i="0">
                <a:solidFill>
                  <a:srgbClr val="6B7280"/>
                </a:solidFill>
                <a:latin typeface="Source Han Sans SC"/>
              </a:rPr>
              <a:t> ｜ </a:t>
            </a:r>
            <a:r>
              <a:rPr sz="919" b="0" i="0">
                <a:solidFill>
                  <a:srgbClr val="6B7280"/>
                </a:solidFill>
                <a:latin typeface="Source Han Sans SC"/>
              </a:rPr>
              <a:t>优化器：参数怎么更新</a:t>
            </a:r>
          </a:p>
        </p:txBody>
      </p:sp>
      <p:sp>
        <p:nvSpPr>
          <p:cNvPr id="26" name="TextBox 25"/>
          <p:cNvSpPr txBox="1"/>
          <p:nvPr/>
        </p:nvSpPr>
        <p:spPr>
          <a:xfrm>
            <a:off x="4687200" y="27609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SGD · momentum · Adam · what differs and what it costs</a:t>
            </a:r>
            <a:r>
              <a:rPr sz="800" b="0" i="0">
                <a:solidFill>
                  <a:srgbClr val="6B7280"/>
                </a:solidFill>
                <a:latin typeface="Source Han Sans SC"/>
              </a:rPr>
              <a:t> ｜ </a:t>
            </a:r>
            <a:r>
              <a:rPr sz="800" b="0" i="0">
                <a:solidFill>
                  <a:srgbClr val="6B7280"/>
                </a:solidFill>
                <a:latin typeface="Source Han Sans SC"/>
              </a:rPr>
              <a:t>SGD · Momentum · Adam · 三者的差别与代价</a:t>
            </a:r>
          </a:p>
        </p:txBody>
      </p:sp>
      <p:sp>
        <p:nvSpPr>
          <p:cNvPr id="27" name="Right Arrow 26"/>
          <p:cNvSpPr/>
          <p:nvPr/>
        </p:nvSpPr>
        <p:spPr>
          <a:xfrm>
            <a:off x="11048400" y="26856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924000" y="31536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999600" y="32760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999600" y="33767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03</a:t>
            </a:r>
          </a:p>
        </p:txBody>
      </p:sp>
      <p:sp>
        <p:nvSpPr>
          <p:cNvPr id="31" name="TextBox 30"/>
          <p:cNvSpPr txBox="1"/>
          <p:nvPr/>
        </p:nvSpPr>
        <p:spPr>
          <a:xfrm>
            <a:off x="4687200" y="32472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Learning Rate: The First Hyper-parameter</a:t>
            </a:r>
            <a:r>
              <a:rPr sz="919" b="0" i="0">
                <a:solidFill>
                  <a:srgbClr val="6B7280"/>
                </a:solidFill>
                <a:latin typeface="Source Han Sans SC"/>
              </a:rPr>
              <a:t> ｜ </a:t>
            </a:r>
            <a:r>
              <a:rPr sz="919" b="0" i="0">
                <a:solidFill>
                  <a:srgbClr val="6B7280"/>
                </a:solidFill>
                <a:latin typeface="Source Han Sans SC"/>
              </a:rPr>
              <a:t>学习率：最重要的超参数</a:t>
            </a:r>
          </a:p>
        </p:txBody>
      </p:sp>
      <p:sp>
        <p:nvSpPr>
          <p:cNvPr id="32" name="TextBox 31"/>
          <p:cNvSpPr txBox="1"/>
          <p:nvPr/>
        </p:nvSpPr>
        <p:spPr>
          <a:xfrm>
            <a:off x="4687200" y="35133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Symptoms of too large / too small · schedules · reading the loss curve</a:t>
            </a:r>
            <a:r>
              <a:rPr sz="800" b="0" i="0">
                <a:solidFill>
                  <a:srgbClr val="6B7280"/>
                </a:solidFill>
                <a:latin typeface="Source Han Sans SC"/>
              </a:rPr>
              <a:t> ｜ </a:t>
            </a:r>
            <a:r>
              <a:rPr sz="800" b="0" i="0">
                <a:solidFill>
                  <a:srgbClr val="6B7280"/>
                </a:solidFill>
                <a:latin typeface="Source Han Sans SC"/>
              </a:rPr>
              <a:t>过大 / 过小的症状 · 衰减策略 · 损失曲线诊断</a:t>
            </a:r>
          </a:p>
        </p:txBody>
      </p:sp>
      <p:sp>
        <p:nvSpPr>
          <p:cNvPr id="33" name="Right Arrow 32"/>
          <p:cNvSpPr/>
          <p:nvPr/>
        </p:nvSpPr>
        <p:spPr>
          <a:xfrm>
            <a:off x="11048400" y="34380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924000" y="39060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999600" y="40284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999600" y="41291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04</a:t>
            </a:r>
          </a:p>
        </p:txBody>
      </p:sp>
      <p:sp>
        <p:nvSpPr>
          <p:cNvPr id="37" name="TextBox 36"/>
          <p:cNvSpPr txBox="1"/>
          <p:nvPr/>
        </p:nvSpPr>
        <p:spPr>
          <a:xfrm>
            <a:off x="4687200" y="39996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The Five-Step Training Loop</a:t>
            </a:r>
            <a:r>
              <a:rPr sz="919" b="0" i="0">
                <a:solidFill>
                  <a:srgbClr val="6B7280"/>
                </a:solidFill>
                <a:latin typeface="Source Han Sans SC"/>
              </a:rPr>
              <a:t> ｜ </a:t>
            </a:r>
            <a:r>
              <a:rPr sz="919" b="0" i="0">
                <a:solidFill>
                  <a:srgbClr val="6B7280"/>
                </a:solidFill>
                <a:latin typeface="Source Han Sans SC"/>
              </a:rPr>
              <a:t>训练循环五步法</a:t>
            </a:r>
          </a:p>
        </p:txBody>
      </p:sp>
      <p:sp>
        <p:nvSpPr>
          <p:cNvPr id="38" name="TextBox 37"/>
          <p:cNvSpPr txBox="1"/>
          <p:nvPr/>
        </p:nvSpPr>
        <p:spPr>
          <a:xfrm>
            <a:off x="4687200" y="42657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Zero → forward → loss → backward → step · logs and batch size</a:t>
            </a:r>
            <a:r>
              <a:rPr sz="800" b="0" i="0">
                <a:solidFill>
                  <a:srgbClr val="6B7280"/>
                </a:solidFill>
                <a:latin typeface="Source Han Sans SC"/>
              </a:rPr>
              <a:t> ｜ </a:t>
            </a:r>
            <a:r>
              <a:rPr sz="800" b="0" i="0">
                <a:solidFill>
                  <a:srgbClr val="6B7280"/>
                </a:solidFill>
                <a:latin typeface="Source Han Sans SC"/>
              </a:rPr>
              <a:t>清零 → 前向 → 计算损失 → 反向 → 更新 · 日志与批大小</a:t>
            </a:r>
          </a:p>
        </p:txBody>
      </p:sp>
      <p:sp>
        <p:nvSpPr>
          <p:cNvPr id="39" name="Right Arrow 38"/>
          <p:cNvSpPr/>
          <p:nvPr/>
        </p:nvSpPr>
        <p:spPr>
          <a:xfrm>
            <a:off x="11048400" y="41904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924000" y="46584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3999600" y="47808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999600" y="48816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05</a:t>
            </a:r>
          </a:p>
        </p:txBody>
      </p:sp>
      <p:sp>
        <p:nvSpPr>
          <p:cNvPr id="43" name="TextBox 42"/>
          <p:cNvSpPr txBox="1"/>
          <p:nvPr/>
        </p:nvSpPr>
        <p:spPr>
          <a:xfrm>
            <a:off x="4687200" y="47520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Lab · Optimizers × Learning Rates</a:t>
            </a:r>
            <a:r>
              <a:rPr sz="919" b="0" i="0">
                <a:solidFill>
                  <a:srgbClr val="6B7280"/>
                </a:solidFill>
                <a:latin typeface="Source Han Sans SC"/>
              </a:rPr>
              <a:t> ｜ </a:t>
            </a:r>
            <a:r>
              <a:rPr sz="919" b="0" i="0">
                <a:solidFill>
                  <a:srgbClr val="6B7280"/>
                </a:solidFill>
                <a:latin typeface="Source Han Sans SC"/>
              </a:rPr>
              <a:t>Lab · 实验 4 优化器 × 学习率</a:t>
            </a:r>
          </a:p>
        </p:txBody>
      </p:sp>
      <p:sp>
        <p:nvSpPr>
          <p:cNvPr id="44" name="TextBox 43"/>
          <p:cNvSpPr txBox="1"/>
          <p:nvPr/>
        </p:nvSpPr>
        <p:spPr>
          <a:xfrm>
            <a:off x="4687200" y="50181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3 optimizers x 3 learning rates · loss/accuracy curves · the best combo and why</a:t>
            </a:r>
            <a:r>
              <a:rPr sz="800" b="0" i="0">
                <a:solidFill>
                  <a:srgbClr val="6B7280"/>
                </a:solidFill>
                <a:latin typeface="Source Han Sans SC"/>
              </a:rPr>
              <a:t> ｜ </a:t>
            </a:r>
            <a:r>
              <a:rPr sz="800" b="0" i="0">
                <a:solidFill>
                  <a:srgbClr val="6B7280"/>
                </a:solidFill>
                <a:latin typeface="Source Han Sans SC"/>
              </a:rPr>
              <a:t>3 种优化器 × 3 组学习率 · 损失/准确率曲线 · 最优组合与理由</a:t>
            </a:r>
          </a:p>
        </p:txBody>
      </p:sp>
      <p:sp>
        <p:nvSpPr>
          <p:cNvPr id="45" name="Right Arrow 44"/>
          <p:cNvSpPr/>
          <p:nvPr/>
        </p:nvSpPr>
        <p:spPr>
          <a:xfrm>
            <a:off x="11048400" y="49428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01</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01</a:t>
            </a:r>
          </a:p>
        </p:txBody>
      </p:sp>
      <p:sp>
        <p:nvSpPr>
          <p:cNvPr id="7" name="TextBox 6"/>
          <p:cNvSpPr txBox="1"/>
          <p:nvPr/>
        </p:nvSpPr>
        <p:spPr>
          <a:xfrm>
            <a:off x="2379600" y="1105200"/>
            <a:ext cx="5040000" cy="1624377"/>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The Loss: What We Optimise</a:t>
            </a:r>
          </a:p>
          <a:p>
            <a:pPr algn="l">
              <a:lnSpc>
                <a:spcPct val="105000"/>
              </a:lnSpc>
              <a:spcBef>
                <a:spcPts val="150"/>
              </a:spcBef>
            </a:pPr>
            <a:r>
              <a:rPr sz="2340" b="0" i="0">
                <a:solidFill>
                  <a:srgbClr val="6B7280"/>
                </a:solidFill>
                <a:latin typeface="Source Han Sans SC"/>
              </a:rPr>
              <a:t>损失函数：我们在优化什么</a:t>
            </a:r>
          </a:p>
        </p:txBody>
      </p:sp>
      <p:sp>
        <p:nvSpPr>
          <p:cNvPr id="8" name="TextBox 7"/>
          <p:cNvSpPr txBox="1"/>
          <p:nvPr/>
        </p:nvSpPr>
        <p:spPr>
          <a:xfrm>
            <a:off x="799200" y="2801577"/>
            <a:ext cx="8640000" cy="163751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Training is not vaguely "making the model better" — it is driving one number down.</a:t>
            </a:r>
          </a:p>
          <a:p>
            <a:pPr algn="l">
              <a:lnSpc>
                <a:spcPct val="150000"/>
              </a:lnSpc>
            </a:pPr>
            <a:r>
              <a:rPr sz="1500" b="0" i="0">
                <a:solidFill>
                  <a:srgbClr val="1F2937"/>
                </a:solidFill>
                <a:latin typeface="Source Han Sans SC"/>
              </a:rPr>
              <a:t>The loss function is that number; choose it wrongly and the model spends its effort where you do not care.</a:t>
            </a:r>
          </a:p>
          <a:p>
            <a:pPr algn="l">
              <a:lnSpc>
                <a:spcPct val="105000"/>
              </a:lnSpc>
              <a:spcBef>
                <a:spcPts val="150"/>
              </a:spcBef>
            </a:pPr>
            <a:r>
              <a:rPr sz="1170" b="0" i="0">
                <a:solidFill>
                  <a:srgbClr val="6B7280"/>
                </a:solidFill>
                <a:latin typeface="Source Han Sans SC"/>
              </a:rPr>
              <a:t>训练不是「让模型变好」这么模糊，而是「把某个数字变小」。</a:t>
            </a:r>
          </a:p>
          <a:p>
            <a:pPr algn="l">
              <a:lnSpc>
                <a:spcPct val="105000"/>
              </a:lnSpc>
              <a:spcBef>
                <a:spcPts val="150"/>
              </a:spcBef>
            </a:pPr>
            <a:r>
              <a:rPr sz="1170" b="0" i="0">
                <a:solidFill>
                  <a:srgbClr val="6B7280"/>
                </a:solidFill>
                <a:latin typeface="Source Han Sans SC"/>
              </a:rPr>
              <a:t>损失函数就是你选择的那个数字——选错了，模型会把力气用在你不在乎的地方。</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Task Decides</a:t>
            </a:r>
            <a:r>
              <a:rPr sz="1010" b="0" i="0">
                <a:solidFill>
                  <a:srgbClr val="6B7280"/>
                </a:solidFill>
                <a:latin typeface="Source Han Sans SC"/>
              </a:rPr>
              <a:t> ｜ </a:t>
            </a:r>
            <a:r>
              <a:rPr sz="1010" b="0" i="0">
                <a:solidFill>
                  <a:srgbClr val="6B7280"/>
                </a:solidFill>
                <a:latin typeface="Source Han Sans SC"/>
              </a:rPr>
              <a:t>任务定损失</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Multi-class / binary / regression</a:t>
            </a:r>
          </a:p>
          <a:p>
            <a:pPr algn="l">
              <a:lnSpc>
                <a:spcPct val="105000"/>
              </a:lnSpc>
              <a:spcBef>
                <a:spcPts val="150"/>
              </a:spcBef>
            </a:pPr>
            <a:r>
              <a:rPr sz="800" b="0" i="0">
                <a:solidFill>
                  <a:srgbClr val="6B7280"/>
                </a:solidFill>
                <a:latin typeface="Source Han Sans SC"/>
              </a:rPr>
              <a:t>分类 / 二分类 / 回归</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Activation Inside</a:t>
            </a:r>
            <a:r>
              <a:rPr sz="1010" b="0" i="0">
                <a:solidFill>
                  <a:srgbClr val="6B7280"/>
                </a:solidFill>
                <a:latin typeface="Source Han Sans SC"/>
              </a:rPr>
              <a:t> ｜ </a:t>
            </a:r>
            <a:r>
              <a:rPr sz="1010" b="0" i="0">
                <a:solidFill>
                  <a:srgbClr val="6B7280"/>
                </a:solidFill>
                <a:latin typeface="Source Han Sans SC"/>
              </a:rPr>
              <a:t>激活已内置</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Do not softmax by hand</a:t>
            </a:r>
          </a:p>
          <a:p>
            <a:pPr algn="l">
              <a:lnSpc>
                <a:spcPct val="105000"/>
              </a:lnSpc>
              <a:spcBef>
                <a:spcPts val="150"/>
              </a:spcBef>
            </a:pPr>
            <a:r>
              <a:rPr sz="800" b="0" i="0">
                <a:solidFill>
                  <a:srgbClr val="6B7280"/>
                </a:solidFill>
                <a:latin typeface="Source Han Sans SC"/>
              </a:rPr>
              <a:t>别再手动 softmax</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Numerically Stable</a:t>
            </a:r>
            <a:r>
              <a:rPr sz="1010" b="0" i="0">
                <a:solidFill>
                  <a:srgbClr val="6B7280"/>
                </a:solidFill>
                <a:latin typeface="Source Han Sans SC"/>
              </a:rPr>
              <a:t> ｜ </a:t>
            </a:r>
            <a:r>
              <a:rPr sz="1010" b="0" i="0">
                <a:solidFill>
                  <a:srgbClr val="6B7280"/>
                </a:solidFill>
                <a:latin typeface="Source Han Sans SC"/>
              </a:rPr>
              <a:t>数值要稳</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The logits version is safer</a:t>
            </a:r>
          </a:p>
          <a:p>
            <a:pPr algn="l">
              <a:lnSpc>
                <a:spcPct val="105000"/>
              </a:lnSpc>
              <a:spcBef>
                <a:spcPts val="150"/>
              </a:spcBef>
            </a:pPr>
            <a:r>
              <a:rPr sz="800" b="0" i="0">
                <a:solidFill>
                  <a:srgbClr val="6B7280"/>
                </a:solidFill>
                <a:latin typeface="Source Han Sans SC"/>
              </a:rPr>
              <a:t>logits 版本更安全</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Three Task Types, Three Losses</a:t>
            </a:r>
          </a:p>
          <a:p>
            <a:pPr algn="l">
              <a:lnSpc>
                <a:spcPct val="105000"/>
              </a:lnSpc>
              <a:spcBef>
                <a:spcPts val="150"/>
              </a:spcBef>
            </a:pPr>
            <a:r>
              <a:rPr sz="1210" b="0" i="0">
                <a:solidFill>
                  <a:srgbClr val="6B7280"/>
                </a:solidFill>
                <a:latin typeface="Source Han Sans SC"/>
              </a:rPr>
              <a:t>三类任务，三种损失</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04 / 31</a:t>
            </a:r>
          </a:p>
        </p:txBody>
      </p:sp>
      <p:sp>
        <p:nvSpPr>
          <p:cNvPr id="9" name="Rectangle 8"/>
          <p:cNvSpPr/>
          <p:nvPr/>
        </p:nvSpPr>
        <p:spPr>
          <a:xfrm>
            <a:off x="799200" y="1296000"/>
            <a:ext cx="3387239" cy="3352574"/>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335257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Multi-class</a:t>
            </a:r>
          </a:p>
          <a:p>
            <a:pPr algn="l">
              <a:lnSpc>
                <a:spcPct val="105000"/>
              </a:lnSpc>
              <a:spcBef>
                <a:spcPts val="150"/>
              </a:spcBef>
            </a:pPr>
            <a:r>
              <a:rPr sz="1130" b="0" i="0">
                <a:solidFill>
                  <a:srgbClr val="6B7280"/>
                </a:solidFill>
                <a:latin typeface="Source Han Sans SC"/>
              </a:rPr>
              <a:t>多分类</a:t>
            </a:r>
          </a:p>
        </p:txBody>
      </p:sp>
      <p:sp>
        <p:nvSpPr>
          <p:cNvPr id="12" name="TextBox 11"/>
          <p:cNvSpPr txBox="1"/>
          <p:nvPr/>
        </p:nvSpPr>
        <p:spPr>
          <a:xfrm>
            <a:off x="1022400" y="2033090"/>
            <a:ext cx="2940839" cy="2543484"/>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Takes raw logits of shape (N, C)</a:t>
            </a:r>
            <a:r>
              <a:rPr sz="940" b="0" i="0">
                <a:solidFill>
                  <a:srgbClr val="6B7280"/>
                </a:solidFill>
                <a:latin typeface="Source Han Sans SC"/>
              </a:rPr>
              <a:t> ｜ </a:t>
            </a:r>
            <a:r>
              <a:rPr sz="940" b="0" i="0">
                <a:solidFill>
                  <a:srgbClr val="6B7280"/>
                </a:solidFill>
                <a:latin typeface="Source Han Sans SC"/>
              </a:rPr>
              <a:t>• 输入 (N, C) 原始 logits</a:t>
            </a:r>
          </a:p>
          <a:p>
            <a:pPr algn="l">
              <a:lnSpc>
                <a:spcPct val="140000"/>
              </a:lnSpc>
              <a:spcAft>
                <a:spcPts val="400"/>
              </a:spcAft>
            </a:pPr>
            <a:r>
              <a:rPr sz="1200" b="0" i="0">
                <a:solidFill>
                  <a:srgbClr val="1F2937"/>
                </a:solidFill>
                <a:latin typeface="Source Han Sans SC"/>
              </a:rPr>
              <a:t>• Labels are class indices (long)</a:t>
            </a:r>
            <a:r>
              <a:rPr sz="940" b="0" i="0">
                <a:solidFill>
                  <a:srgbClr val="6B7280"/>
                </a:solidFill>
                <a:latin typeface="Source Han Sans SC"/>
              </a:rPr>
              <a:t> ｜ </a:t>
            </a:r>
            <a:r>
              <a:rPr sz="940" b="0" i="0">
                <a:solidFill>
                  <a:srgbClr val="6B7280"/>
                </a:solidFill>
                <a:latin typeface="Source Han Sans SC"/>
              </a:rPr>
              <a:t>• 标签是类别下标（long）</a:t>
            </a:r>
          </a:p>
          <a:p>
            <a:pPr algn="l">
              <a:lnSpc>
                <a:spcPct val="140000"/>
              </a:lnSpc>
              <a:spcAft>
                <a:spcPts val="400"/>
              </a:spcAft>
            </a:pPr>
            <a:r>
              <a:rPr sz="1200" b="0" i="0">
                <a:solidFill>
                  <a:srgbClr val="1F2937"/>
                </a:solidFill>
                <a:latin typeface="Source Han Sans SC"/>
              </a:rPr>
              <a:t>• softmax is built in — do not repeat it</a:t>
            </a:r>
            <a:r>
              <a:rPr sz="940" b="0" i="0">
                <a:solidFill>
                  <a:srgbClr val="6B7280"/>
                </a:solidFill>
                <a:latin typeface="Source Han Sans SC"/>
              </a:rPr>
              <a:t> ｜ </a:t>
            </a:r>
            <a:r>
              <a:rPr sz="940" b="0" i="0">
                <a:solidFill>
                  <a:srgbClr val="6B7280"/>
                </a:solidFill>
                <a:latin typeface="Source Han Sans SC"/>
              </a:rPr>
              <a:t>• softmax 已内置，别再手动做</a:t>
            </a:r>
          </a:p>
          <a:p>
            <a:pPr algn="l">
              <a:lnSpc>
                <a:spcPct val="140000"/>
              </a:lnSpc>
              <a:spcAft>
                <a:spcPts val="400"/>
              </a:spcAft>
            </a:pPr>
            <a:r>
              <a:rPr sz="1200" b="0" i="0">
                <a:solidFill>
                  <a:srgbClr val="1F2937"/>
                </a:solidFill>
                <a:latin typeface="Source Han Sans SC"/>
              </a:rPr>
              <a:t>• e.g. 10-class image classification</a:t>
            </a:r>
            <a:r>
              <a:rPr sz="940" b="0" i="0">
                <a:solidFill>
                  <a:srgbClr val="6B7280"/>
                </a:solidFill>
                <a:latin typeface="Source Han Sans SC"/>
              </a:rPr>
              <a:t> ｜ </a:t>
            </a:r>
            <a:r>
              <a:rPr sz="940" b="0" i="0">
                <a:solidFill>
                  <a:srgbClr val="6B7280"/>
                </a:solidFill>
                <a:latin typeface="Source Han Sans SC"/>
              </a:rPr>
              <a:t>• 例：10 类图像分类</a:t>
            </a:r>
          </a:p>
        </p:txBody>
      </p:sp>
      <p:sp>
        <p:nvSpPr>
          <p:cNvPr id="13" name="Rectangle 12"/>
          <p:cNvSpPr/>
          <p:nvPr/>
        </p:nvSpPr>
        <p:spPr>
          <a:xfrm>
            <a:off x="4402440" y="1296000"/>
            <a:ext cx="3387239" cy="3352574"/>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2440" y="1296000"/>
            <a:ext cx="32400" cy="335257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2563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Binary / Multi-label</a:t>
            </a:r>
          </a:p>
          <a:p>
            <a:pPr algn="l">
              <a:lnSpc>
                <a:spcPct val="105000"/>
              </a:lnSpc>
              <a:spcBef>
                <a:spcPts val="150"/>
              </a:spcBef>
            </a:pPr>
            <a:r>
              <a:rPr sz="1130" b="0" i="0">
                <a:solidFill>
                  <a:srgbClr val="6B7280"/>
                </a:solidFill>
                <a:latin typeface="Source Han Sans SC"/>
              </a:rPr>
              <a:t>二分类 / 多标签</a:t>
            </a:r>
          </a:p>
        </p:txBody>
      </p:sp>
      <p:sp>
        <p:nvSpPr>
          <p:cNvPr id="16" name="TextBox 15"/>
          <p:cNvSpPr txBox="1"/>
          <p:nvPr/>
        </p:nvSpPr>
        <p:spPr>
          <a:xfrm>
            <a:off x="4625639" y="2033090"/>
            <a:ext cx="2940839" cy="2543484"/>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Takes logits, shape (N,) or (N, 1)</a:t>
            </a:r>
            <a:r>
              <a:rPr sz="940" b="0" i="0">
                <a:solidFill>
                  <a:srgbClr val="6B7280"/>
                </a:solidFill>
                <a:latin typeface="Source Han Sans SC"/>
              </a:rPr>
              <a:t> ｜ </a:t>
            </a:r>
            <a:r>
              <a:rPr sz="940" b="0" i="0">
                <a:solidFill>
                  <a:srgbClr val="6B7280"/>
                </a:solidFill>
                <a:latin typeface="Source Han Sans SC"/>
              </a:rPr>
              <a:t>• 输入 logits，形状 (N,) 或 (N, 1)</a:t>
            </a:r>
          </a:p>
          <a:p>
            <a:pPr algn="l">
              <a:lnSpc>
                <a:spcPct val="140000"/>
              </a:lnSpc>
              <a:spcAft>
                <a:spcPts val="400"/>
              </a:spcAft>
            </a:pPr>
            <a:r>
              <a:rPr sz="1200" b="0" i="0">
                <a:solidFill>
                  <a:srgbClr val="1F2937"/>
                </a:solidFill>
                <a:latin typeface="Source Han Sans SC"/>
              </a:rPr>
              <a:t>• Targets must be float (0.0 / 1.0)</a:t>
            </a:r>
            <a:r>
              <a:rPr sz="940" b="0" i="0">
                <a:solidFill>
                  <a:srgbClr val="6B7280"/>
                </a:solidFill>
                <a:latin typeface="Source Han Sans SC"/>
              </a:rPr>
              <a:t> ｜ </a:t>
            </a:r>
            <a:r>
              <a:rPr sz="940" b="0" i="0">
                <a:solidFill>
                  <a:srgbClr val="6B7280"/>
                </a:solidFill>
                <a:latin typeface="Source Han Sans SC"/>
              </a:rPr>
              <a:t>• 标签必须是 float（0.0 / 1.0）</a:t>
            </a:r>
          </a:p>
          <a:p>
            <a:pPr algn="l">
              <a:lnSpc>
                <a:spcPct val="140000"/>
              </a:lnSpc>
              <a:spcAft>
                <a:spcPts val="400"/>
              </a:spcAft>
            </a:pPr>
            <a:r>
              <a:rPr sz="1200" b="0" i="0">
                <a:solidFill>
                  <a:srgbClr val="1F2937"/>
                </a:solidFill>
                <a:latin typeface="Source Han Sans SC"/>
              </a:rPr>
              <a:t>• sigmoid is built in</a:t>
            </a:r>
            <a:r>
              <a:rPr sz="940" b="0" i="0">
                <a:solidFill>
                  <a:srgbClr val="6B7280"/>
                </a:solidFill>
                <a:latin typeface="Source Han Sans SC"/>
              </a:rPr>
              <a:t> ｜ </a:t>
            </a:r>
            <a:r>
              <a:rPr sz="940" b="0" i="0">
                <a:solidFill>
                  <a:srgbClr val="6B7280"/>
                </a:solidFill>
                <a:latin typeface="Source Han Sans SC"/>
              </a:rPr>
              <a:t>• sigmoid 已内置</a:t>
            </a:r>
          </a:p>
          <a:p>
            <a:pPr algn="l">
              <a:lnSpc>
                <a:spcPct val="140000"/>
              </a:lnSpc>
              <a:spcAft>
                <a:spcPts val="400"/>
              </a:spcAft>
            </a:pPr>
            <a:r>
              <a:rPr sz="1200" b="0" i="0">
                <a:solidFill>
                  <a:srgbClr val="1F2937"/>
                </a:solidFill>
                <a:latin typeface="Source Han Sans SC"/>
              </a:rPr>
              <a:t>• For multi-label each class is independent</a:t>
            </a:r>
            <a:r>
              <a:rPr sz="940" b="0" i="0">
                <a:solidFill>
                  <a:srgbClr val="6B7280"/>
                </a:solidFill>
                <a:latin typeface="Source Han Sans SC"/>
              </a:rPr>
              <a:t> ｜ </a:t>
            </a:r>
            <a:r>
              <a:rPr sz="940" b="0" i="0">
                <a:solidFill>
                  <a:srgbClr val="6B7280"/>
                </a:solidFill>
                <a:latin typeface="Source Han Sans SC"/>
              </a:rPr>
              <a:t>• 多标签时各类独立判断</a:t>
            </a:r>
          </a:p>
        </p:txBody>
      </p:sp>
      <p:sp>
        <p:nvSpPr>
          <p:cNvPr id="17" name="Rectangle 16"/>
          <p:cNvSpPr/>
          <p:nvPr/>
        </p:nvSpPr>
        <p:spPr>
          <a:xfrm>
            <a:off x="8005679" y="1296000"/>
            <a:ext cx="3387239" cy="3352574"/>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05679" y="1296000"/>
            <a:ext cx="32400" cy="335257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887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Regression</a:t>
            </a:r>
          </a:p>
          <a:p>
            <a:pPr algn="l">
              <a:lnSpc>
                <a:spcPct val="105000"/>
              </a:lnSpc>
              <a:spcBef>
                <a:spcPts val="150"/>
              </a:spcBef>
            </a:pPr>
            <a:r>
              <a:rPr sz="1130" b="0" i="0">
                <a:solidFill>
                  <a:srgbClr val="6B7280"/>
                </a:solidFill>
                <a:latin typeface="Source Han Sans SC"/>
              </a:rPr>
              <a:t>回归</a:t>
            </a:r>
          </a:p>
        </p:txBody>
      </p:sp>
      <p:sp>
        <p:nvSpPr>
          <p:cNvPr id="20" name="TextBox 19"/>
          <p:cNvSpPr txBox="1"/>
          <p:nvPr/>
        </p:nvSpPr>
        <p:spPr>
          <a:xfrm>
            <a:off x="8228879" y="2033090"/>
            <a:ext cx="2940839" cy="2543484"/>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Predicts a continuous value: price, temperature</a:t>
            </a:r>
            <a:r>
              <a:rPr sz="940" b="0" i="0">
                <a:solidFill>
                  <a:srgbClr val="6B7280"/>
                </a:solidFill>
                <a:latin typeface="Source Han Sans SC"/>
              </a:rPr>
              <a:t> ｜ </a:t>
            </a:r>
            <a:r>
              <a:rPr sz="940" b="0" i="0">
                <a:solidFill>
                  <a:srgbClr val="6B7280"/>
                </a:solidFill>
                <a:latin typeface="Source Han Sans SC"/>
              </a:rPr>
              <a:t>• 预测连续数值：房价、温度</a:t>
            </a:r>
          </a:p>
          <a:p>
            <a:pPr algn="l">
              <a:lnSpc>
                <a:spcPct val="140000"/>
              </a:lnSpc>
              <a:spcAft>
                <a:spcPts val="400"/>
              </a:spcAft>
            </a:pPr>
            <a:r>
              <a:rPr sz="1200" b="0" i="0">
                <a:solidFill>
                  <a:srgbClr val="1F2937"/>
                </a:solidFill>
                <a:latin typeface="Source Han Sans SC"/>
              </a:rPr>
              <a:t>• No activation function at all</a:t>
            </a:r>
            <a:r>
              <a:rPr sz="940" b="0" i="0">
                <a:solidFill>
                  <a:srgbClr val="6B7280"/>
                </a:solidFill>
                <a:latin typeface="Source Han Sans SC"/>
              </a:rPr>
              <a:t> ｜ </a:t>
            </a:r>
            <a:r>
              <a:rPr sz="940" b="0" i="0">
                <a:solidFill>
                  <a:srgbClr val="6B7280"/>
                </a:solidFill>
                <a:latin typeface="Source Han Sans SC"/>
              </a:rPr>
              <a:t>• 不用任何激活函数</a:t>
            </a:r>
          </a:p>
          <a:p>
            <a:pPr algn="l">
              <a:lnSpc>
                <a:spcPct val="140000"/>
              </a:lnSpc>
              <a:spcAft>
                <a:spcPts val="400"/>
              </a:spcAft>
            </a:pPr>
            <a:r>
              <a:rPr sz="1200" b="0" i="0">
                <a:solidFill>
                  <a:srgbClr val="1F2937"/>
                </a:solidFill>
                <a:latin typeface="Source Han Sans SC"/>
              </a:rPr>
              <a:t>• Punishes large errors heavily</a:t>
            </a:r>
            <a:r>
              <a:rPr sz="940" b="0" i="0">
                <a:solidFill>
                  <a:srgbClr val="6B7280"/>
                </a:solidFill>
                <a:latin typeface="Source Han Sans SC"/>
              </a:rPr>
              <a:t> ｜ </a:t>
            </a:r>
            <a:r>
              <a:rPr sz="940" b="0" i="0">
                <a:solidFill>
                  <a:srgbClr val="6B7280"/>
                </a:solidFill>
                <a:latin typeface="Source Han Sans SC"/>
              </a:rPr>
              <a:t>• 对大误差惩罚很重</a:t>
            </a:r>
          </a:p>
          <a:p>
            <a:pPr algn="l">
              <a:lnSpc>
                <a:spcPct val="140000"/>
              </a:lnSpc>
              <a:spcAft>
                <a:spcPts val="400"/>
              </a:spcAft>
            </a:pPr>
            <a:r>
              <a:rPr sz="1200" b="0" i="0">
                <a:solidFill>
                  <a:srgbClr val="1F2937"/>
                </a:solidFill>
                <a:latin typeface="Source Han Sans SC"/>
              </a:rPr>
              <a:t>• With outliers use L1 / SmoothL1</a:t>
            </a:r>
            <a:r>
              <a:rPr sz="940" b="0" i="0">
                <a:solidFill>
                  <a:srgbClr val="6B7280"/>
                </a:solidFill>
                <a:latin typeface="Source Han Sans SC"/>
              </a:rPr>
              <a:t> ｜ </a:t>
            </a:r>
            <a:r>
              <a:rPr sz="940" b="0" i="0">
                <a:solidFill>
                  <a:srgbClr val="6B7280"/>
                </a:solidFill>
                <a:latin typeface="Source Han Sans SC"/>
              </a:rPr>
              <a:t>• 有离群点改 L1 / SmoothL1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Common Loss Functions at a Glance</a:t>
            </a:r>
          </a:p>
          <a:p>
            <a:pPr algn="l">
              <a:lnSpc>
                <a:spcPct val="105000"/>
              </a:lnSpc>
              <a:spcBef>
                <a:spcPts val="150"/>
              </a:spcBef>
            </a:pPr>
            <a:r>
              <a:rPr sz="1210" b="0" i="0">
                <a:solidFill>
                  <a:srgbClr val="6B7280"/>
                </a:solidFill>
                <a:latin typeface="Source Han Sans SC"/>
              </a:rPr>
              <a:t>常用损失函数对照表</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05 / 31</a:t>
            </a:r>
          </a:p>
        </p:txBody>
      </p:sp>
      <p:graphicFrame>
        <p:nvGraphicFramePr>
          <p:cNvPr id="9" name="Table 8"/>
          <p:cNvGraphicFramePr>
            <a:graphicFrameLocks noGrp="1"/>
          </p:cNvGraphicFramePr>
          <p:nvPr/>
        </p:nvGraphicFramePr>
        <p:xfrm>
          <a:off x="799200" y="1152000"/>
          <a:ext cx="10583999" cy="4112454"/>
        </p:xfrm>
        <a:graphic>
          <a:graphicData uri="http://schemas.openxmlformats.org/drawingml/2006/table">
            <a:tbl>
              <a:tblPr firstRow="1" bandRow="1">
                <a:tableStyleId>{5C22544A-7EE6-4342-B048-85BDC9FD1C3A}</a:tableStyleId>
              </a:tblPr>
              <a:tblGrid>
                <a:gridCol w="1728000"/>
                <a:gridCol w="2376000"/>
                <a:gridCol w="2304000"/>
                <a:gridCol w="2015999"/>
                <a:gridCol w="2160000"/>
              </a:tblGrid>
              <a:tr h="685409">
                <a:tc>
                  <a:txBody>
                    <a:bodyPr/>
                    <a:lstStyle/>
                    <a:p>
                      <a:r>
                        <a:rPr sz="1180" b="1">
                          <a:solidFill>
                            <a:srgbClr val="FFFFFF"/>
                          </a:solidFill>
                          <a:latin typeface="Source Han Sans SC"/>
                        </a:rPr>
                        <a:t>Task</a:t>
                      </a:r>
                    </a:p>
                    <a:p>
                      <a:pPr>
                        <a:lnSpc>
                          <a:spcPct val="100000"/>
                        </a:lnSpc>
                      </a:pPr>
                      <a:r>
                        <a:rPr sz="1000" b="0">
                          <a:solidFill>
                            <a:srgbClr val="C3D4EF"/>
                          </a:solidFill>
                          <a:latin typeface="Source Han Sans SC"/>
                        </a:rPr>
                        <a:t>任务</a:t>
                      </a:r>
                    </a:p>
                  </a:txBody>
                  <a:tcPr>
                    <a:solidFill>
                      <a:srgbClr val="0E3F8C"/>
                    </a:solidFill>
                  </a:tcPr>
                </a:tc>
                <a:tc>
                  <a:txBody>
                    <a:bodyPr/>
                    <a:lstStyle/>
                    <a:p>
                      <a:r>
                        <a:rPr sz="1180" b="1">
                          <a:solidFill>
                            <a:srgbClr val="FFFFFF"/>
                          </a:solidFill>
                          <a:latin typeface="Source Han Sans SC"/>
                        </a:rPr>
                        <a:t>Loss</a:t>
                      </a:r>
                    </a:p>
                    <a:p>
                      <a:pPr>
                        <a:lnSpc>
                          <a:spcPct val="100000"/>
                        </a:lnSpc>
                      </a:pPr>
                      <a:r>
                        <a:rPr sz="1000" b="0">
                          <a:solidFill>
                            <a:srgbClr val="C3D4EF"/>
                          </a:solidFill>
                          <a:latin typeface="Source Han Sans SC"/>
                        </a:rPr>
                        <a:t>损失函数</a:t>
                      </a:r>
                    </a:p>
                  </a:txBody>
                  <a:tcPr>
                    <a:solidFill>
                      <a:srgbClr val="0E3F8C"/>
                    </a:solidFill>
                  </a:tcPr>
                </a:tc>
                <a:tc>
                  <a:txBody>
                    <a:bodyPr/>
                    <a:lstStyle/>
                    <a:p>
                      <a:r>
                        <a:rPr sz="1180" b="1">
                          <a:solidFill>
                            <a:srgbClr val="FFFFFF"/>
                          </a:solidFill>
                          <a:latin typeface="Source Han Sans SC"/>
                        </a:rPr>
                        <a:t>Input</a:t>
                      </a:r>
                    </a:p>
                    <a:p>
                      <a:pPr>
                        <a:lnSpc>
                          <a:spcPct val="100000"/>
                        </a:lnSpc>
                      </a:pPr>
                      <a:r>
                        <a:rPr sz="1000" b="0">
                          <a:solidFill>
                            <a:srgbClr val="C3D4EF"/>
                          </a:solidFill>
                          <a:latin typeface="Source Han Sans SC"/>
                        </a:rPr>
                        <a:t>输入是什么</a:t>
                      </a:r>
                    </a:p>
                  </a:txBody>
                  <a:tcPr>
                    <a:solidFill>
                      <a:srgbClr val="0E3F8C"/>
                    </a:solidFill>
                  </a:tcPr>
                </a:tc>
                <a:tc>
                  <a:txBody>
                    <a:bodyPr/>
                    <a:lstStyle/>
                    <a:p>
                      <a:r>
                        <a:rPr sz="1180" b="1">
                          <a:solidFill>
                            <a:srgbClr val="FFFFFF"/>
                          </a:solidFill>
                          <a:latin typeface="Source Han Sans SC"/>
                        </a:rPr>
                        <a:t>Output layer</a:t>
                      </a:r>
                    </a:p>
                    <a:p>
                      <a:pPr>
                        <a:lnSpc>
                          <a:spcPct val="100000"/>
                        </a:lnSpc>
                      </a:pPr>
                      <a:r>
                        <a:rPr sz="1000" b="0">
                          <a:solidFill>
                            <a:srgbClr val="C3D4EF"/>
                          </a:solidFill>
                          <a:latin typeface="Source Han Sans SC"/>
                        </a:rPr>
                        <a:t>输出层</a:t>
                      </a:r>
                    </a:p>
                  </a:txBody>
                  <a:tcPr>
                    <a:solidFill>
                      <a:srgbClr val="0E3F8C"/>
                    </a:solidFill>
                  </a:tcPr>
                </a:tc>
                <a:tc>
                  <a:txBody>
                    <a:bodyPr/>
                    <a:lstStyle/>
                    <a:p>
                      <a:r>
                        <a:rPr sz="1180" b="1">
                          <a:solidFill>
                            <a:srgbClr val="FFFFFF"/>
                          </a:solidFill>
                          <a:latin typeface="Source Han Sans SC"/>
                        </a:rPr>
                        <a:t>Watch out</a:t>
                      </a:r>
                    </a:p>
                    <a:p>
                      <a:pPr>
                        <a:lnSpc>
                          <a:spcPct val="100000"/>
                        </a:lnSpc>
                      </a:pPr>
                      <a:r>
                        <a:rPr sz="1000" b="0">
                          <a:solidFill>
                            <a:srgbClr val="C3D4EF"/>
                          </a:solidFill>
                          <a:latin typeface="Source Han Sans SC"/>
                        </a:rPr>
                        <a:t>注意</a:t>
                      </a:r>
                    </a:p>
                  </a:txBody>
                  <a:tcPr>
                    <a:solidFill>
                      <a:srgbClr val="0E3F8C"/>
                    </a:solidFill>
                  </a:tcPr>
                </a:tc>
              </a:tr>
              <a:tr h="685409">
                <a:tc>
                  <a:txBody>
                    <a:bodyPr/>
                    <a:lstStyle/>
                    <a:p>
                      <a:r>
                        <a:rPr sz="1060" b="1">
                          <a:solidFill>
                            <a:srgbClr val="1F2937"/>
                          </a:solidFill>
                          <a:latin typeface="Source Han Sans SC"/>
                        </a:rPr>
                        <a:t>Multi-class</a:t>
                      </a:r>
                    </a:p>
                    <a:p>
                      <a:pPr>
                        <a:lnSpc>
                          <a:spcPct val="100000"/>
                        </a:lnSpc>
                      </a:pPr>
                      <a:r>
                        <a:rPr sz="900" b="0">
                          <a:solidFill>
                            <a:srgbClr val="6B7280"/>
                          </a:solidFill>
                          <a:latin typeface="Source Han Sans SC"/>
                        </a:rPr>
                        <a:t>多分类</a:t>
                      </a:r>
                    </a:p>
                  </a:txBody>
                  <a:tcPr>
                    <a:solidFill>
                      <a:srgbClr val="FFFFFF"/>
                    </a:solidFill>
                  </a:tcPr>
                </a:tc>
                <a:tc>
                  <a:txBody>
                    <a:bodyPr/>
                    <a:lstStyle/>
                    <a:p>
                      <a:r>
                        <a:rPr sz="1060" b="0">
                          <a:solidFill>
                            <a:srgbClr val="1F2937"/>
                          </a:solidFill>
                          <a:latin typeface="Source Han Sans SC"/>
                        </a:rPr>
                        <a:t>CrossEntropyLoss</a:t>
                      </a:r>
                    </a:p>
                  </a:txBody>
                  <a:tcPr>
                    <a:solidFill>
                      <a:srgbClr val="FFFFFF"/>
                    </a:solidFill>
                  </a:tcPr>
                </a:tc>
                <a:tc>
                  <a:txBody>
                    <a:bodyPr/>
                    <a:lstStyle/>
                    <a:p>
                      <a:r>
                        <a:rPr sz="1060" b="0">
                          <a:solidFill>
                            <a:srgbClr val="1F2937"/>
                          </a:solidFill>
                          <a:latin typeface="Source Han Sans SC"/>
                        </a:rPr>
                        <a:t>Raw logits (N, C)</a:t>
                      </a:r>
                    </a:p>
                    <a:p>
                      <a:pPr>
                        <a:lnSpc>
                          <a:spcPct val="100000"/>
                        </a:lnSpc>
                      </a:pPr>
                      <a:r>
                        <a:rPr sz="900" b="0">
                          <a:solidFill>
                            <a:srgbClr val="6B7280"/>
                          </a:solidFill>
                          <a:latin typeface="Source Han Sans SC"/>
                        </a:rPr>
                        <a:t>原始 logits (N, C)</a:t>
                      </a:r>
                    </a:p>
                  </a:txBody>
                  <a:tcPr>
                    <a:solidFill>
                      <a:srgbClr val="FFFFFF"/>
                    </a:solidFill>
                  </a:tcPr>
                </a:tc>
                <a:tc>
                  <a:txBody>
                    <a:bodyPr/>
                    <a:lstStyle/>
                    <a:p>
                      <a:r>
                        <a:rPr sz="1060" b="0">
                          <a:solidFill>
                            <a:srgbClr val="1F2937"/>
                          </a:solidFill>
                          <a:latin typeface="Source Han Sans SC"/>
                        </a:rPr>
                        <a:t>None (softmax inside)</a:t>
                      </a:r>
                    </a:p>
                    <a:p>
                      <a:pPr>
                        <a:lnSpc>
                          <a:spcPct val="100000"/>
                        </a:lnSpc>
                      </a:pPr>
                      <a:r>
                        <a:rPr sz="900" b="0">
                          <a:solidFill>
                            <a:srgbClr val="6B7280"/>
                          </a:solidFill>
                          <a:latin typeface="Source Han Sans SC"/>
                        </a:rPr>
                        <a:t>无（内含 softmax）</a:t>
                      </a:r>
                    </a:p>
                  </a:txBody>
                  <a:tcPr>
                    <a:solidFill>
                      <a:srgbClr val="FFFFFF"/>
                    </a:solidFill>
                  </a:tcPr>
                </a:tc>
                <a:tc>
                  <a:txBody>
                    <a:bodyPr/>
                    <a:lstStyle/>
                    <a:p>
                      <a:r>
                        <a:rPr sz="1060" b="0">
                          <a:solidFill>
                            <a:srgbClr val="1F2937"/>
                          </a:solidFill>
                          <a:latin typeface="Source Han Sans SC"/>
                        </a:rPr>
                        <a:t>A manual softmax means doing it twice</a:t>
                      </a:r>
                    </a:p>
                    <a:p>
                      <a:pPr>
                        <a:lnSpc>
                          <a:spcPct val="100000"/>
                        </a:lnSpc>
                      </a:pPr>
                      <a:r>
                        <a:rPr sz="900" b="0">
                          <a:solidFill>
                            <a:srgbClr val="6B7280"/>
                          </a:solidFill>
                          <a:latin typeface="Source Han Sans SC"/>
                        </a:rPr>
                        <a:t>再手动 softmax 就是做两次</a:t>
                      </a:r>
                    </a:p>
                  </a:txBody>
                  <a:tcPr>
                    <a:solidFill>
                      <a:srgbClr val="FFFFFF"/>
                    </a:solidFill>
                  </a:tcPr>
                </a:tc>
              </a:tr>
              <a:tr h="685409">
                <a:tc>
                  <a:txBody>
                    <a:bodyPr/>
                    <a:lstStyle/>
                    <a:p>
                      <a:r>
                        <a:rPr sz="1060" b="1">
                          <a:solidFill>
                            <a:srgbClr val="1F2937"/>
                          </a:solidFill>
                          <a:latin typeface="Source Han Sans SC"/>
                        </a:rPr>
                        <a:t>Binary</a:t>
                      </a:r>
                    </a:p>
                    <a:p>
                      <a:pPr>
                        <a:lnSpc>
                          <a:spcPct val="100000"/>
                        </a:lnSpc>
                      </a:pPr>
                      <a:r>
                        <a:rPr sz="900" b="0">
                          <a:solidFill>
                            <a:srgbClr val="6B7280"/>
                          </a:solidFill>
                          <a:latin typeface="Source Han Sans SC"/>
                        </a:rPr>
                        <a:t>二分类</a:t>
                      </a:r>
                    </a:p>
                  </a:txBody>
                  <a:tcPr>
                    <a:solidFill>
                      <a:srgbClr val="F0F5FC"/>
                    </a:solidFill>
                  </a:tcPr>
                </a:tc>
                <a:tc>
                  <a:txBody>
                    <a:bodyPr/>
                    <a:lstStyle/>
                    <a:p>
                      <a:r>
                        <a:rPr sz="1060" b="0">
                          <a:solidFill>
                            <a:srgbClr val="1F2937"/>
                          </a:solidFill>
                          <a:latin typeface="Source Han Sans SC"/>
                        </a:rPr>
                        <a:t>BCEWithLogitsLoss</a:t>
                      </a:r>
                    </a:p>
                  </a:txBody>
                  <a:tcPr>
                    <a:solidFill>
                      <a:srgbClr val="F0F5FC"/>
                    </a:solidFill>
                  </a:tcPr>
                </a:tc>
                <a:tc>
                  <a:txBody>
                    <a:bodyPr/>
                    <a:lstStyle/>
                    <a:p>
                      <a:r>
                        <a:rPr sz="1060" b="0">
                          <a:solidFill>
                            <a:srgbClr val="1F2937"/>
                          </a:solidFill>
                          <a:latin typeface="Source Han Sans SC"/>
                        </a:rPr>
                        <a:t>Raw logits (N, 1)</a:t>
                      </a:r>
                    </a:p>
                    <a:p>
                      <a:pPr>
                        <a:lnSpc>
                          <a:spcPct val="100000"/>
                        </a:lnSpc>
                      </a:pPr>
                      <a:r>
                        <a:rPr sz="900" b="0">
                          <a:solidFill>
                            <a:srgbClr val="6B7280"/>
                          </a:solidFill>
                          <a:latin typeface="Source Han Sans SC"/>
                        </a:rPr>
                        <a:t>原始 logits (N, 1)</a:t>
                      </a:r>
                    </a:p>
                  </a:txBody>
                  <a:tcPr>
                    <a:solidFill>
                      <a:srgbClr val="F0F5FC"/>
                    </a:solidFill>
                  </a:tcPr>
                </a:tc>
                <a:tc>
                  <a:txBody>
                    <a:bodyPr/>
                    <a:lstStyle/>
                    <a:p>
                      <a:r>
                        <a:rPr sz="1060" b="0">
                          <a:solidFill>
                            <a:srgbClr val="1F2937"/>
                          </a:solidFill>
                          <a:latin typeface="Source Han Sans SC"/>
                        </a:rPr>
                        <a:t>None (sigmoid inside)</a:t>
                      </a:r>
                    </a:p>
                    <a:p>
                      <a:pPr>
                        <a:lnSpc>
                          <a:spcPct val="100000"/>
                        </a:lnSpc>
                      </a:pPr>
                      <a:r>
                        <a:rPr sz="900" b="0">
                          <a:solidFill>
                            <a:srgbClr val="6B7280"/>
                          </a:solidFill>
                          <a:latin typeface="Source Han Sans SC"/>
                        </a:rPr>
                        <a:t>无（内含 sigmoid）</a:t>
                      </a:r>
                    </a:p>
                  </a:txBody>
                  <a:tcPr>
                    <a:solidFill>
                      <a:srgbClr val="F0F5FC"/>
                    </a:solidFill>
                  </a:tcPr>
                </a:tc>
                <a:tc>
                  <a:txBody>
                    <a:bodyPr/>
                    <a:lstStyle/>
                    <a:p>
                      <a:r>
                        <a:rPr sz="1060" b="0">
                          <a:solidFill>
                            <a:srgbClr val="1F2937"/>
                          </a:solidFill>
                          <a:latin typeface="Source Han Sans SC"/>
                        </a:rPr>
                        <a:t>Targets must be float</a:t>
                      </a:r>
                    </a:p>
                    <a:p>
                      <a:pPr>
                        <a:lnSpc>
                          <a:spcPct val="100000"/>
                        </a:lnSpc>
                      </a:pPr>
                      <a:r>
                        <a:rPr sz="900" b="0">
                          <a:solidFill>
                            <a:srgbClr val="6B7280"/>
                          </a:solidFill>
                          <a:latin typeface="Source Han Sans SC"/>
                        </a:rPr>
                        <a:t>标签必须转成 float</a:t>
                      </a:r>
                    </a:p>
                  </a:txBody>
                  <a:tcPr>
                    <a:solidFill>
                      <a:srgbClr val="F0F5FC"/>
                    </a:solidFill>
                  </a:tcPr>
                </a:tc>
              </a:tr>
              <a:tr h="685409">
                <a:tc>
                  <a:txBody>
                    <a:bodyPr/>
                    <a:lstStyle/>
                    <a:p>
                      <a:r>
                        <a:rPr sz="1060" b="1">
                          <a:solidFill>
                            <a:srgbClr val="1F2937"/>
                          </a:solidFill>
                          <a:latin typeface="Source Han Sans SC"/>
                        </a:rPr>
                        <a:t>Multi-label</a:t>
                      </a:r>
                    </a:p>
                    <a:p>
                      <a:pPr>
                        <a:lnSpc>
                          <a:spcPct val="100000"/>
                        </a:lnSpc>
                      </a:pPr>
                      <a:r>
                        <a:rPr sz="900" b="0">
                          <a:solidFill>
                            <a:srgbClr val="6B7280"/>
                          </a:solidFill>
                          <a:latin typeface="Source Han Sans SC"/>
                        </a:rPr>
                        <a:t>多标签</a:t>
                      </a:r>
                    </a:p>
                  </a:txBody>
                  <a:tcPr>
                    <a:solidFill>
                      <a:srgbClr val="FFFFFF"/>
                    </a:solidFill>
                  </a:tcPr>
                </a:tc>
                <a:tc>
                  <a:txBody>
                    <a:bodyPr/>
                    <a:lstStyle/>
                    <a:p>
                      <a:r>
                        <a:rPr sz="1060" b="0">
                          <a:solidFill>
                            <a:srgbClr val="1F2937"/>
                          </a:solidFill>
                          <a:latin typeface="Source Han Sans SC"/>
                        </a:rPr>
                        <a:t>BCEWithLogitsLoss</a:t>
                      </a:r>
                    </a:p>
                  </a:txBody>
                  <a:tcPr>
                    <a:solidFill>
                      <a:srgbClr val="FFFFFF"/>
                    </a:solidFill>
                  </a:tcPr>
                </a:tc>
                <a:tc>
                  <a:txBody>
                    <a:bodyPr/>
                    <a:lstStyle/>
                    <a:p>
                      <a:r>
                        <a:rPr sz="1060" b="0">
                          <a:solidFill>
                            <a:srgbClr val="1F2937"/>
                          </a:solidFill>
                          <a:latin typeface="Source Han Sans SC"/>
                        </a:rPr>
                        <a:t>Raw logits (N, C)</a:t>
                      </a:r>
                    </a:p>
                    <a:p>
                      <a:pPr>
                        <a:lnSpc>
                          <a:spcPct val="100000"/>
                        </a:lnSpc>
                      </a:pPr>
                      <a:r>
                        <a:rPr sz="900" b="0">
                          <a:solidFill>
                            <a:srgbClr val="6B7280"/>
                          </a:solidFill>
                          <a:latin typeface="Source Han Sans SC"/>
                        </a:rPr>
                        <a:t>原始 logits (N, C)</a:t>
                      </a:r>
                    </a:p>
                  </a:txBody>
                  <a:tcPr>
                    <a:solidFill>
                      <a:srgbClr val="FFFFFF"/>
                    </a:solidFill>
                  </a:tcPr>
                </a:tc>
                <a:tc>
                  <a:txBody>
                    <a:bodyPr/>
                    <a:lstStyle/>
                    <a:p>
                      <a:r>
                        <a:rPr sz="1060" b="0">
                          <a:solidFill>
                            <a:srgbClr val="1F2937"/>
                          </a:solidFill>
                          <a:latin typeface="Source Han Sans SC"/>
                        </a:rPr>
                        <a:t>None</a:t>
                      </a:r>
                    </a:p>
                    <a:p>
                      <a:pPr>
                        <a:lnSpc>
                          <a:spcPct val="100000"/>
                        </a:lnSpc>
                      </a:pPr>
                      <a:r>
                        <a:rPr sz="900" b="0">
                          <a:solidFill>
                            <a:srgbClr val="6B7280"/>
                          </a:solidFill>
                          <a:latin typeface="Source Han Sans SC"/>
                        </a:rPr>
                        <a:t>无</a:t>
                      </a:r>
                    </a:p>
                  </a:txBody>
                  <a:tcPr>
                    <a:solidFill>
                      <a:srgbClr val="FFFFFF"/>
                    </a:solidFill>
                  </a:tcPr>
                </a:tc>
                <a:tc>
                  <a:txBody>
                    <a:bodyPr/>
                    <a:lstStyle/>
                    <a:p>
                      <a:r>
                        <a:rPr sz="1060" b="0">
                          <a:solidFill>
                            <a:srgbClr val="1F2937"/>
                          </a:solidFill>
                          <a:latin typeface="Source Han Sans SC"/>
                        </a:rPr>
                        <a:t>Classes independent, can co-occur</a:t>
                      </a:r>
                    </a:p>
                    <a:p>
                      <a:pPr>
                        <a:lnSpc>
                          <a:spcPct val="100000"/>
                        </a:lnSpc>
                      </a:pPr>
                      <a:r>
                        <a:rPr sz="900" b="0">
                          <a:solidFill>
                            <a:srgbClr val="6B7280"/>
                          </a:solidFill>
                          <a:latin typeface="Source Han Sans SC"/>
                        </a:rPr>
                        <a:t>各类独立，可同时为正</a:t>
                      </a:r>
                    </a:p>
                  </a:txBody>
                  <a:tcPr>
                    <a:solidFill>
                      <a:srgbClr val="FFFFFF"/>
                    </a:solidFill>
                  </a:tcPr>
                </a:tc>
              </a:tr>
              <a:tr h="685409">
                <a:tc>
                  <a:txBody>
                    <a:bodyPr/>
                    <a:lstStyle/>
                    <a:p>
                      <a:r>
                        <a:rPr sz="1060" b="1">
                          <a:solidFill>
                            <a:srgbClr val="1F2937"/>
                          </a:solidFill>
                          <a:latin typeface="Source Han Sans SC"/>
                        </a:rPr>
                        <a:t>Regression</a:t>
                      </a:r>
                    </a:p>
                    <a:p>
                      <a:pPr>
                        <a:lnSpc>
                          <a:spcPct val="100000"/>
                        </a:lnSpc>
                      </a:pPr>
                      <a:r>
                        <a:rPr sz="900" b="0">
                          <a:solidFill>
                            <a:srgbClr val="6B7280"/>
                          </a:solidFill>
                          <a:latin typeface="Source Han Sans SC"/>
                        </a:rPr>
                        <a:t>回归</a:t>
                      </a:r>
                    </a:p>
                  </a:txBody>
                  <a:tcPr>
                    <a:solidFill>
                      <a:srgbClr val="F0F5FC"/>
                    </a:solidFill>
                  </a:tcPr>
                </a:tc>
                <a:tc>
                  <a:txBody>
                    <a:bodyPr/>
                    <a:lstStyle/>
                    <a:p>
                      <a:r>
                        <a:rPr sz="1060" b="0">
                          <a:solidFill>
                            <a:srgbClr val="1F2937"/>
                          </a:solidFill>
                          <a:latin typeface="Source Han Sans SC"/>
                        </a:rPr>
                        <a:t>MSELoss</a:t>
                      </a:r>
                    </a:p>
                  </a:txBody>
                  <a:tcPr>
                    <a:solidFill>
                      <a:srgbClr val="F0F5FC"/>
                    </a:solidFill>
                  </a:tcPr>
                </a:tc>
                <a:tc>
                  <a:txBody>
                    <a:bodyPr/>
                    <a:lstStyle/>
                    <a:p>
                      <a:r>
                        <a:rPr sz="1060" b="0">
                          <a:solidFill>
                            <a:srgbClr val="1F2937"/>
                          </a:solidFill>
                          <a:latin typeface="Source Han Sans SC"/>
                        </a:rPr>
                        <a:t>Continuous predictions</a:t>
                      </a:r>
                    </a:p>
                    <a:p>
                      <a:pPr>
                        <a:lnSpc>
                          <a:spcPct val="100000"/>
                        </a:lnSpc>
                      </a:pPr>
                      <a:r>
                        <a:rPr sz="900" b="0">
                          <a:solidFill>
                            <a:srgbClr val="6B7280"/>
                          </a:solidFill>
                          <a:latin typeface="Source Han Sans SC"/>
                        </a:rPr>
                        <a:t>连续预测值</a:t>
                      </a:r>
                    </a:p>
                  </a:txBody>
                  <a:tcPr>
                    <a:solidFill>
                      <a:srgbClr val="F0F5FC"/>
                    </a:solidFill>
                  </a:tcPr>
                </a:tc>
                <a:tc>
                  <a:txBody>
                    <a:bodyPr/>
                    <a:lstStyle/>
                    <a:p>
                      <a:r>
                        <a:rPr sz="1060" b="0">
                          <a:solidFill>
                            <a:srgbClr val="1F2937"/>
                          </a:solidFill>
                          <a:latin typeface="Source Han Sans SC"/>
                        </a:rPr>
                        <a:t>None</a:t>
                      </a:r>
                    </a:p>
                    <a:p>
                      <a:pPr>
                        <a:lnSpc>
                          <a:spcPct val="100000"/>
                        </a:lnSpc>
                      </a:pPr>
                      <a:r>
                        <a:rPr sz="900" b="0">
                          <a:solidFill>
                            <a:srgbClr val="6B7280"/>
                          </a:solidFill>
                          <a:latin typeface="Source Han Sans SC"/>
                        </a:rPr>
                        <a:t>无</a:t>
                      </a:r>
                    </a:p>
                  </a:txBody>
                  <a:tcPr>
                    <a:solidFill>
                      <a:srgbClr val="F0F5FC"/>
                    </a:solidFill>
                  </a:tcPr>
                </a:tc>
                <a:tc>
                  <a:txBody>
                    <a:bodyPr/>
                    <a:lstStyle/>
                    <a:p>
                      <a:r>
                        <a:rPr sz="1060" b="0">
                          <a:solidFill>
                            <a:srgbClr val="1F2937"/>
                          </a:solidFill>
                          <a:latin typeface="Source Han Sans SC"/>
                        </a:rPr>
                        <a:t>Very sensitive to outliers</a:t>
                      </a:r>
                    </a:p>
                    <a:p>
                      <a:pPr>
                        <a:lnSpc>
                          <a:spcPct val="100000"/>
                        </a:lnSpc>
                      </a:pPr>
                      <a:r>
                        <a:rPr sz="900" b="0">
                          <a:solidFill>
                            <a:srgbClr val="6B7280"/>
                          </a:solidFill>
                          <a:latin typeface="Source Han Sans SC"/>
                        </a:rPr>
                        <a:t>对离群点极敏感</a:t>
                      </a:r>
                    </a:p>
                  </a:txBody>
                  <a:tcPr>
                    <a:solidFill>
                      <a:srgbClr val="F0F5FC"/>
                    </a:solidFill>
                  </a:tcPr>
                </a:tc>
              </a:tr>
              <a:tr h="685409">
                <a:tc>
                  <a:txBody>
                    <a:bodyPr/>
                    <a:lstStyle/>
                    <a:p>
                      <a:r>
                        <a:rPr sz="1060" b="1">
                          <a:solidFill>
                            <a:srgbClr val="1F2937"/>
                          </a:solidFill>
                          <a:latin typeface="Source Han Sans SC"/>
                        </a:rPr>
                        <a:t>Imbalanced</a:t>
                      </a:r>
                    </a:p>
                    <a:p>
                      <a:pPr>
                        <a:lnSpc>
                          <a:spcPct val="100000"/>
                        </a:lnSpc>
                      </a:pPr>
                      <a:r>
                        <a:rPr sz="900" b="0">
                          <a:solidFill>
                            <a:srgbClr val="6B7280"/>
                          </a:solidFill>
                          <a:latin typeface="Source Han Sans SC"/>
                        </a:rPr>
                        <a:t>不平衡分类</a:t>
                      </a:r>
                    </a:p>
                  </a:txBody>
                  <a:tcPr>
                    <a:solidFill>
                      <a:srgbClr val="FFFFFF"/>
                    </a:solidFill>
                  </a:tcPr>
                </a:tc>
                <a:tc>
                  <a:txBody>
                    <a:bodyPr/>
                    <a:lstStyle/>
                    <a:p>
                      <a:r>
                        <a:rPr sz="1060" b="0">
                          <a:solidFill>
                            <a:srgbClr val="1F2937"/>
                          </a:solidFill>
                          <a:latin typeface="Source Han Sans SC"/>
                        </a:rPr>
                        <a:t>CrossEntropyLoss(weight=)</a:t>
                      </a:r>
                    </a:p>
                  </a:txBody>
                  <a:tcPr>
                    <a:solidFill>
                      <a:srgbClr val="FFFFFF"/>
                    </a:solidFill>
                  </a:tcPr>
                </a:tc>
                <a:tc>
                  <a:txBody>
                    <a:bodyPr/>
                    <a:lstStyle/>
                    <a:p>
                      <a:r>
                        <a:rPr sz="1060" b="0">
                          <a:solidFill>
                            <a:srgbClr val="1F2937"/>
                          </a:solidFill>
                          <a:latin typeface="Source Han Sans SC"/>
                        </a:rPr>
                        <a:t>Logits + class weights</a:t>
                      </a:r>
                    </a:p>
                    <a:p>
                      <a:pPr>
                        <a:lnSpc>
                          <a:spcPct val="100000"/>
                        </a:lnSpc>
                      </a:pPr>
                      <a:r>
                        <a:rPr sz="900" b="0">
                          <a:solidFill>
                            <a:srgbClr val="6B7280"/>
                          </a:solidFill>
                          <a:latin typeface="Source Han Sans SC"/>
                        </a:rPr>
                        <a:t>logits + 类别权重</a:t>
                      </a:r>
                    </a:p>
                  </a:txBody>
                  <a:tcPr>
                    <a:solidFill>
                      <a:srgbClr val="FFFFFF"/>
                    </a:solidFill>
                  </a:tcPr>
                </a:tc>
                <a:tc>
                  <a:txBody>
                    <a:bodyPr/>
                    <a:lstStyle/>
                    <a:p>
                      <a:r>
                        <a:rPr sz="1060" b="0">
                          <a:solidFill>
                            <a:srgbClr val="1F2937"/>
                          </a:solidFill>
                          <a:latin typeface="Source Han Sans SC"/>
                        </a:rPr>
                        <a:t>None</a:t>
                      </a:r>
                    </a:p>
                    <a:p>
                      <a:pPr>
                        <a:lnSpc>
                          <a:spcPct val="100000"/>
                        </a:lnSpc>
                      </a:pPr>
                      <a:r>
                        <a:rPr sz="900" b="0">
                          <a:solidFill>
                            <a:srgbClr val="6B7280"/>
                          </a:solidFill>
                          <a:latin typeface="Source Han Sans SC"/>
                        </a:rPr>
                        <a:t>无</a:t>
                      </a:r>
                    </a:p>
                  </a:txBody>
                  <a:tcPr>
                    <a:solidFill>
                      <a:srgbClr val="FFFFFF"/>
                    </a:solidFill>
                  </a:tcPr>
                </a:tc>
                <a:tc>
                  <a:txBody>
                    <a:bodyPr/>
                    <a:lstStyle/>
                    <a:p>
                      <a:r>
                        <a:rPr sz="1060" b="0">
                          <a:solidFill>
                            <a:srgbClr val="1F2937"/>
                          </a:solidFill>
                          <a:latin typeface="Source Han Sans SC"/>
                        </a:rPr>
                        <a:t>Set weights as inverse class frequency</a:t>
                      </a:r>
                    </a:p>
                    <a:p>
                      <a:pPr>
                        <a:lnSpc>
                          <a:spcPct val="100000"/>
                        </a:lnSpc>
                      </a:pPr>
                      <a:r>
                        <a:rPr sz="900" b="0">
                          <a:solidFill>
                            <a:srgbClr val="6B7280"/>
                          </a:solidFill>
                          <a:latin typeface="Source Han Sans SC"/>
                        </a:rPr>
                        <a:t>权重按类频率倒数设</a:t>
                      </a:r>
                    </a:p>
                  </a:txBody>
                  <a:tcPr>
                    <a:solidFill>
                      <a:srgbClr val="FFFFFF"/>
                    </a:solidFill>
                  </a:tcPr>
                </a:tc>
              </a:tr>
            </a:tbl>
          </a:graphicData>
        </a:graphic>
      </p:graphicFrame>
      <p:sp>
        <p:nvSpPr>
          <p:cNvPr id="10" name="TextBox 9"/>
          <p:cNvSpPr txBox="1"/>
          <p:nvPr/>
        </p:nvSpPr>
        <p:spPr>
          <a:xfrm>
            <a:off x="799200" y="5390454"/>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One line to remember it: cross-entropy for classification, mean squared error for regression; any loss with "WithLogits" in its name already contains the activation — which is why you must not add another.</a:t>
            </a:r>
          </a:p>
          <a:p>
            <a:pPr algn="l">
              <a:lnSpc>
                <a:spcPct val="105000"/>
              </a:lnSpc>
              <a:spcBef>
                <a:spcPts val="150"/>
              </a:spcBef>
            </a:pPr>
            <a:r>
              <a:rPr sz="900" b="0" i="0">
                <a:solidFill>
                  <a:srgbClr val="6B7280"/>
                </a:solidFill>
                <a:latin typeface="Source Han Sans SC"/>
              </a:rPr>
              <a:t>一句话记法：分类用交叉熵、回归用均方误差；带 Logits 字样的损失已经把激活函数包在里面了，这就是为什么不要自己再加一层。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The Three Losses in Code</a:t>
            </a:r>
          </a:p>
          <a:p>
            <a:pPr algn="l">
              <a:lnSpc>
                <a:spcPct val="105000"/>
              </a:lnSpc>
              <a:spcBef>
                <a:spcPts val="150"/>
              </a:spcBef>
            </a:pPr>
            <a:r>
              <a:rPr sz="1210" b="0" i="0">
                <a:solidFill>
                  <a:srgbClr val="6B7280"/>
                </a:solidFill>
                <a:latin typeface="Source Han Sans SC"/>
              </a:rPr>
              <a:t>三种损失的写法</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06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Choosing the loss</a:t>
            </a:r>
          </a:p>
          <a:p>
            <a:pPr algn="l">
              <a:lnSpc>
                <a:spcPct val="105000"/>
              </a:lnSpc>
              <a:spcBef>
                <a:spcPts val="150"/>
              </a:spcBef>
            </a:pPr>
            <a:r>
              <a:rPr sz="900" b="0" i="0">
                <a:solidFill>
                  <a:srgbClr val="6B7280"/>
                </a:solidFill>
                <a:latin typeface="Source Han Sans SC"/>
              </a:rPr>
              <a:t>选择损失</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import torch, torch.nn as nn</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1) multi-class: softmax is INSIDE</a:t>
            </a:r>
          </a:p>
          <a:p>
            <a:pPr algn="l">
              <a:lnSpc>
                <a:spcPct val="128000"/>
              </a:lnSpc>
            </a:pPr>
            <a:r>
              <a:rPr sz="1100" b="0" i="0">
                <a:solidFill>
                  <a:srgbClr val="E2E8F0"/>
                </a:solidFill>
                <a:latin typeface="Menlo"/>
              </a:rPr>
              <a:t>criterion = nn.CrossEntropyLoss()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2) binary / multi-label: sigmoid INSIDE</a:t>
            </a:r>
          </a:p>
          <a:p>
            <a:pPr algn="l">
              <a:lnSpc>
                <a:spcPct val="128000"/>
              </a:lnSpc>
            </a:pPr>
            <a:r>
              <a:rPr sz="1100" b="0" i="0">
                <a:solidFill>
                  <a:srgbClr val="E2E8F0"/>
                </a:solidFill>
                <a:latin typeface="Menlo"/>
              </a:rPr>
              <a:t>criterion = nn.BCEWithLogitsLoss()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3) regression: no activation at all</a:t>
            </a:r>
          </a:p>
          <a:p>
            <a:pPr algn="l">
              <a:lnSpc>
                <a:spcPct val="128000"/>
              </a:lnSpc>
            </a:pPr>
            <a:r>
              <a:rPr sz="1100" b="0" i="0">
                <a:solidFill>
                  <a:srgbClr val="E2E8F0"/>
                </a:solidFill>
                <a:latin typeface="Menlo"/>
              </a:rPr>
              <a:t>criterion = nn.MSELoss()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rule: always feed raw logits</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Pitfall: softmax done twice</a:t>
            </a:r>
          </a:p>
          <a:p>
            <a:pPr algn="l">
              <a:lnSpc>
                <a:spcPct val="105000"/>
              </a:lnSpc>
              <a:spcBef>
                <a:spcPts val="150"/>
              </a:spcBef>
            </a:pPr>
            <a:r>
              <a:rPr sz="900" b="0" i="0">
                <a:solidFill>
                  <a:srgbClr val="6B7280"/>
                </a:solidFill>
                <a:latin typeface="Source Han Sans SC"/>
              </a:rPr>
              <a:t>常见坑：softmax 做了两次</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 PITFALL: softmax applied twice</a:t>
            </a:r>
          </a:p>
          <a:p>
            <a:pPr algn="l">
              <a:lnSpc>
                <a:spcPct val="128000"/>
              </a:lnSpc>
            </a:pPr>
            <a:r>
              <a:rPr sz="1100" b="0" i="0">
                <a:solidFill>
                  <a:srgbClr val="E2E8F0"/>
                </a:solidFill>
                <a:latin typeface="Menlo"/>
              </a:rPr>
              <a:t>logits = model(x)            # raw logits</a:t>
            </a:r>
          </a:p>
          <a:p>
            <a:pPr algn="l">
              <a:lnSpc>
                <a:spcPct val="128000"/>
              </a:lnSpc>
            </a:pPr>
            <a:r>
              <a:rPr sz="1100" b="0" i="0">
                <a:solidFill>
                  <a:srgbClr val="E2E8F0"/>
                </a:solidFill>
                <a:latin typeface="Menlo"/>
              </a:rPr>
              <a:t>probs = torch.softmax(logits, 1)</a:t>
            </a:r>
          </a:p>
          <a:p>
            <a:pPr algn="l">
              <a:lnSpc>
                <a:spcPct val="128000"/>
              </a:lnSpc>
            </a:pPr>
            <a:r>
              <a:rPr sz="1100" b="0" i="0">
                <a:solidFill>
                  <a:srgbClr val="E2E8F0"/>
                </a:solidFill>
                <a:latin typeface="Menlo"/>
              </a:rPr>
              <a:t>loss = nn.CrossEntropyLoss()(probs, y)</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probs get re-normalised and squeezed,</a:t>
            </a:r>
          </a:p>
          <a:p>
            <a:pPr algn="l">
              <a:lnSpc>
                <a:spcPct val="128000"/>
              </a:lnSpc>
            </a:pPr>
            <a:r>
              <a:rPr sz="1100" b="0" i="0">
                <a:solidFill>
                  <a:srgbClr val="E2E8F0"/>
                </a:solidFill>
                <a:latin typeface="Menlo"/>
              </a:rPr>
              <a:t># gradients shrink, the loss falls slowly</a:t>
            </a:r>
          </a:p>
          <a:p>
            <a:pPr algn="l">
              <a:lnSpc>
                <a:spcPct val="128000"/>
              </a:lnSpc>
            </a:pPr>
            <a:r>
              <a:rPr sz="1100" b="0" i="0">
                <a:solidFill>
                  <a:srgbClr val="E2E8F0"/>
                </a:solidFill>
                <a:latin typeface="Menlo"/>
              </a:rPr>
              <a:t># and accuracy stalls.</a:t>
            </a:r>
          </a:p>
          <a:p>
            <a:pPr algn="l">
              <a:lnSpc>
                <a:spcPct val="128000"/>
              </a:lnSpc>
            </a:pPr>
            <a:r>
              <a:rPr sz="1100" b="0" i="0">
                <a:solidFill>
                  <a:srgbClr val="E2E8F0"/>
                </a:solidFill>
                <a:latin typeface="Menlo"/>
              </a:rPr>
              <a:t># FIX: pass the logits directly</a:t>
            </a:r>
          </a:p>
          <a:p>
            <a:pPr algn="l">
              <a:lnSpc>
                <a:spcPct val="128000"/>
              </a:lnSpc>
            </a:pPr>
            <a:r>
              <a:rPr sz="1100" b="0" i="0">
                <a:solidFill>
                  <a:srgbClr val="E2E8F0"/>
                </a:solidFill>
                <a:latin typeface="Menlo"/>
              </a:rPr>
              <a:t>loss = nn.CrossEntropyLoss()(logits, y)</a:t>
            </a:r>
          </a:p>
        </p:txBody>
      </p:sp>
      <p:sp>
        <p:nvSpPr>
          <p:cNvPr id="17" name="TextBox 16"/>
          <p:cNvSpPr txBox="1"/>
          <p:nvPr/>
        </p:nvSpPr>
        <p:spPr>
          <a:xfrm>
            <a:off x="799200" y="5490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The left panel is how to choose; the right is how to get it wrong. A double softmax raises no error — it just leaves your accuracy inexplicably low, and silent bugs are harder to find than crashes.</a:t>
            </a:r>
          </a:p>
          <a:p>
            <a:pPr algn="l">
              <a:lnSpc>
                <a:spcPct val="105000"/>
              </a:lnSpc>
              <a:spcBef>
                <a:spcPts val="150"/>
              </a:spcBef>
            </a:pPr>
            <a:r>
              <a:rPr sz="940" b="0" i="0">
                <a:solidFill>
                  <a:srgbClr val="6B7280"/>
                </a:solidFill>
                <a:latin typeface="Source Han Sans SC"/>
              </a:rPr>
              <a:t>左边是「怎么选」，右边是「怎么错」。两次 softmax 不会报错，只会让你的准确率莫名其妙地低——这类静默错误比崩溃更难查。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Correct Usage vs Common Pitfalls</a:t>
            </a:r>
          </a:p>
          <a:p>
            <a:pPr algn="l">
              <a:lnSpc>
                <a:spcPct val="105000"/>
              </a:lnSpc>
              <a:spcBef>
                <a:spcPts val="150"/>
              </a:spcBef>
            </a:pPr>
            <a:r>
              <a:rPr sz="1210" b="0" i="0">
                <a:solidFill>
                  <a:srgbClr val="6B7280"/>
                </a:solidFill>
                <a:latin typeface="Source Han Sans SC"/>
              </a:rPr>
              <a:t>正确用法 vs 常见坑</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07 / 31</a:t>
            </a:r>
          </a:p>
        </p:txBody>
      </p:sp>
      <p:sp>
        <p:nvSpPr>
          <p:cNvPr id="9" name="Rectangle 8"/>
          <p:cNvSpPr/>
          <p:nvPr/>
        </p:nvSpPr>
        <p:spPr>
          <a:xfrm>
            <a:off x="799200" y="1170000"/>
            <a:ext cx="5143859" cy="41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Correct Usage</a:t>
            </a:r>
          </a:p>
          <a:p>
            <a:pPr algn="l">
              <a:lnSpc>
                <a:spcPct val="105000"/>
              </a:lnSpc>
              <a:spcBef>
                <a:spcPts val="150"/>
              </a:spcBef>
            </a:pPr>
            <a:r>
              <a:rPr sz="1250" b="0" i="0">
                <a:solidFill>
                  <a:srgbClr val="CFDDF2"/>
                </a:solidFill>
                <a:latin typeface="Source Han Sans SC"/>
              </a:rPr>
              <a:t>正确用法</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Feed the loss raw logits, not probabilities</a:t>
            </a:r>
            <a:r>
              <a:rPr sz="900" b="0" i="0">
                <a:solidFill>
                  <a:srgbClr val="6B7280"/>
                </a:solidFill>
                <a:latin typeface="Source Han Sans SC"/>
              </a:rPr>
              <a:t> ｜ </a:t>
            </a:r>
            <a:r>
              <a:rPr sz="900" b="0" i="0">
                <a:solidFill>
                  <a:srgbClr val="6B7280"/>
                </a:solidFill>
                <a:latin typeface="Source Han Sans SC"/>
              </a:rPr>
              <a:t>• 损失函数吃原始 logits，不吃概率</a:t>
            </a:r>
          </a:p>
          <a:p>
            <a:pPr algn="l">
              <a:lnSpc>
                <a:spcPct val="140000"/>
              </a:lnSpc>
              <a:spcAft>
                <a:spcPts val="800"/>
              </a:spcAft>
            </a:pPr>
            <a:r>
              <a:rPr sz="1150" b="0" i="0">
                <a:solidFill>
                  <a:srgbClr val="1F2937"/>
                </a:solidFill>
                <a:latin typeface="Source Han Sans SC"/>
              </a:rPr>
              <a:t>• Let the loss handle the activation internally</a:t>
            </a:r>
            <a:r>
              <a:rPr sz="900" b="0" i="0">
                <a:solidFill>
                  <a:srgbClr val="6B7280"/>
                </a:solidFill>
                <a:latin typeface="Source Han Sans SC"/>
              </a:rPr>
              <a:t> ｜ </a:t>
            </a:r>
            <a:r>
              <a:rPr sz="900" b="0" i="0">
                <a:solidFill>
                  <a:srgbClr val="6B7280"/>
                </a:solidFill>
                <a:latin typeface="Source Han Sans SC"/>
              </a:rPr>
              <a:t>• 激活函数交给损失内部处理</a:t>
            </a:r>
          </a:p>
          <a:p>
            <a:pPr algn="l">
              <a:lnSpc>
                <a:spcPct val="140000"/>
              </a:lnSpc>
              <a:spcAft>
                <a:spcPts val="800"/>
              </a:spcAft>
            </a:pPr>
            <a:r>
              <a:rPr sz="1150" b="0" i="0">
                <a:solidFill>
                  <a:srgbClr val="1F2937"/>
                </a:solidFill>
                <a:latin typeface="Source Han Sans SC"/>
              </a:rPr>
              <a:t>• Binary tasks use BCEWithLogitsLoss</a:t>
            </a:r>
            <a:r>
              <a:rPr sz="900" b="0" i="0">
                <a:solidFill>
                  <a:srgbClr val="6B7280"/>
                </a:solidFill>
                <a:latin typeface="Source Han Sans SC"/>
              </a:rPr>
              <a:t> ｜ </a:t>
            </a:r>
            <a:r>
              <a:rPr sz="900" b="0" i="0">
                <a:solidFill>
                  <a:srgbClr val="6B7280"/>
                </a:solidFill>
                <a:latin typeface="Source Han Sans SC"/>
              </a:rPr>
              <a:t>• 二分类用 BCEWithLogitsLoss</a:t>
            </a:r>
          </a:p>
          <a:p>
            <a:pPr algn="l">
              <a:lnSpc>
                <a:spcPct val="140000"/>
              </a:lnSpc>
              <a:spcAft>
                <a:spcPts val="800"/>
              </a:spcAft>
            </a:pPr>
            <a:r>
              <a:rPr sz="1150" b="0" i="0">
                <a:solidFill>
                  <a:srgbClr val="1F2937"/>
                </a:solidFill>
                <a:latin typeface="Source Han Sans SC"/>
              </a:rPr>
              <a:t>• Labels: long for cross-entropy, float for BCE</a:t>
            </a:r>
            <a:r>
              <a:rPr sz="900" b="0" i="0">
                <a:solidFill>
                  <a:srgbClr val="6B7280"/>
                </a:solidFill>
                <a:latin typeface="Source Han Sans SC"/>
              </a:rPr>
              <a:t> ｜ </a:t>
            </a:r>
            <a:r>
              <a:rPr sz="900" b="0" i="0">
                <a:solidFill>
                  <a:srgbClr val="6B7280"/>
                </a:solidFill>
                <a:latin typeface="Source Han Sans SC"/>
              </a:rPr>
              <a:t>• 标签类型：交叉熵用 long，BCE 用 float</a:t>
            </a:r>
          </a:p>
          <a:p>
            <a:pPr algn="l">
              <a:lnSpc>
                <a:spcPct val="140000"/>
              </a:lnSpc>
              <a:spcAft>
                <a:spcPts val="800"/>
              </a:spcAft>
            </a:pPr>
            <a:r>
              <a:rPr sz="1150" b="0" i="0">
                <a:solidFill>
                  <a:srgbClr val="1F2937"/>
                </a:solidFill>
                <a:latin typeface="Source Han Sans SC"/>
              </a:rPr>
              <a:t>• Under imbalance pass class weights via weight=</a:t>
            </a:r>
            <a:r>
              <a:rPr sz="900" b="0" i="0">
                <a:solidFill>
                  <a:srgbClr val="6B7280"/>
                </a:solidFill>
                <a:latin typeface="Source Han Sans SC"/>
              </a:rPr>
              <a:t> ｜ </a:t>
            </a:r>
            <a:r>
              <a:rPr sz="900" b="0" i="0">
                <a:solidFill>
                  <a:srgbClr val="6B7280"/>
                </a:solidFill>
                <a:latin typeface="Source Han Sans SC"/>
              </a:rPr>
              <a:t>• 不平衡时用 weight= 传类别权重</a:t>
            </a:r>
          </a:p>
        </p:txBody>
      </p:sp>
      <p:sp>
        <p:nvSpPr>
          <p:cNvPr id="13" name="Rectangle 12"/>
          <p:cNvSpPr/>
          <p:nvPr/>
        </p:nvSpPr>
        <p:spPr>
          <a:xfrm>
            <a:off x="6249059" y="1170000"/>
            <a:ext cx="5143859" cy="4104000"/>
          </a:xfrm>
          <a:prstGeom prst="rect">
            <a:avLst/>
          </a:prstGeom>
          <a:solidFill>
            <a:srgbClr val="FEF2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Common Pitfalls</a:t>
            </a:r>
          </a:p>
          <a:p>
            <a:pPr algn="l">
              <a:lnSpc>
                <a:spcPct val="105000"/>
              </a:lnSpc>
              <a:spcBef>
                <a:spcPts val="150"/>
              </a:spcBef>
            </a:pPr>
            <a:r>
              <a:rPr sz="1250" b="0" i="0">
                <a:solidFill>
                  <a:srgbClr val="CFDDF2"/>
                </a:solidFill>
                <a:latin typeface="Source Han Sans SC"/>
              </a:rPr>
              <a:t>常见坑</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Softmax then cross-entropy = done twice</a:t>
            </a:r>
            <a:r>
              <a:rPr sz="900" b="0" i="0">
                <a:solidFill>
                  <a:srgbClr val="6B7280"/>
                </a:solidFill>
                <a:latin typeface="Source Han Sans SC"/>
              </a:rPr>
              <a:t> ｜ </a:t>
            </a:r>
            <a:r>
              <a:rPr sz="900" b="0" i="0">
                <a:solidFill>
                  <a:srgbClr val="6B7280"/>
                </a:solidFill>
                <a:latin typeface="Source Han Sans SC"/>
              </a:rPr>
              <a:t>• 先 softmax 再喂交叉熵 = 做了两次</a:t>
            </a:r>
          </a:p>
          <a:p>
            <a:pPr algn="l">
              <a:lnSpc>
                <a:spcPct val="140000"/>
              </a:lnSpc>
              <a:spcAft>
                <a:spcPts val="800"/>
              </a:spcAft>
            </a:pPr>
            <a:r>
              <a:rPr sz="1150" b="0" i="0">
                <a:solidFill>
                  <a:srgbClr val="1F2937"/>
                </a:solidFill>
                <a:latin typeface="Source Han Sans SC"/>
              </a:rPr>
              <a:t>• Adding a manual sigmoid before BCEWithLogitsLoss</a:t>
            </a:r>
            <a:r>
              <a:rPr sz="900" b="0" i="0">
                <a:solidFill>
                  <a:srgbClr val="6B7280"/>
                </a:solidFill>
                <a:latin typeface="Source Han Sans SC"/>
              </a:rPr>
              <a:t> ｜ </a:t>
            </a:r>
            <a:r>
              <a:rPr sz="900" b="0" i="0">
                <a:solidFill>
                  <a:srgbClr val="6B7280"/>
                </a:solidFill>
                <a:latin typeface="Source Han Sans SC"/>
              </a:rPr>
              <a:t>• 用 BCEWithLogitsLoss 时又手动 sigmoid</a:t>
            </a:r>
          </a:p>
          <a:p>
            <a:pPr algn="l">
              <a:lnSpc>
                <a:spcPct val="140000"/>
              </a:lnSpc>
              <a:spcAft>
                <a:spcPts val="800"/>
              </a:spcAft>
            </a:pPr>
            <a:r>
              <a:rPr sz="1150" b="0" i="0">
                <a:solidFill>
                  <a:srgbClr val="1F2937"/>
                </a:solidFill>
                <a:latin typeface="Source Han Sans SC"/>
              </a:rPr>
              <a:t>• Forgetting the long / float cast, which errors out</a:t>
            </a:r>
            <a:r>
              <a:rPr sz="900" b="0" i="0">
                <a:solidFill>
                  <a:srgbClr val="6B7280"/>
                </a:solidFill>
                <a:latin typeface="Source Han Sans SC"/>
              </a:rPr>
              <a:t> ｜ </a:t>
            </a:r>
            <a:r>
              <a:rPr sz="900" b="0" i="0">
                <a:solidFill>
                  <a:srgbClr val="6B7280"/>
                </a:solidFill>
                <a:latin typeface="Source Han Sans SC"/>
              </a:rPr>
              <a:t>• 标签忘了转 long / float，直接报错</a:t>
            </a:r>
          </a:p>
          <a:p>
            <a:pPr algn="l">
              <a:lnSpc>
                <a:spcPct val="140000"/>
              </a:lnSpc>
              <a:spcAft>
                <a:spcPts val="800"/>
              </a:spcAft>
            </a:pPr>
            <a:r>
              <a:rPr sz="1150" b="0" i="0">
                <a:solidFill>
                  <a:srgbClr val="1F2937"/>
                </a:solidFill>
                <a:latin typeface="Source Han Sans SC"/>
              </a:rPr>
              <a:t>• Using MSELoss for a classification task</a:t>
            </a:r>
            <a:r>
              <a:rPr sz="900" b="0" i="0">
                <a:solidFill>
                  <a:srgbClr val="6B7280"/>
                </a:solidFill>
                <a:latin typeface="Source Han Sans SC"/>
              </a:rPr>
              <a:t> ｜ </a:t>
            </a:r>
            <a:r>
              <a:rPr sz="900" b="0" i="0">
                <a:solidFill>
                  <a:srgbClr val="6B7280"/>
                </a:solidFill>
                <a:latin typeface="Source Han Sans SC"/>
              </a:rPr>
              <a:t>• 把 MSELoss 用在分类任务上</a:t>
            </a:r>
          </a:p>
          <a:p>
            <a:pPr algn="l">
              <a:lnSpc>
                <a:spcPct val="140000"/>
              </a:lnSpc>
              <a:spcAft>
                <a:spcPts val="800"/>
              </a:spcAft>
            </a:pPr>
            <a:r>
              <a:rPr sz="1150" b="0" i="0">
                <a:solidFill>
                  <a:srgbClr val="1F2937"/>
                </a:solidFill>
                <a:latin typeface="Source Han Sans SC"/>
              </a:rPr>
              <a:t>• Loss falls but accuracy is stuck (usually pitfall 1)</a:t>
            </a:r>
            <a:r>
              <a:rPr sz="900" b="0" i="0">
                <a:solidFill>
                  <a:srgbClr val="6B7280"/>
                </a:solidFill>
                <a:latin typeface="Source Han Sans SC"/>
              </a:rPr>
              <a:t> ｜ </a:t>
            </a:r>
            <a:r>
              <a:rPr sz="900" b="0" i="0">
                <a:solidFill>
                  <a:srgbClr val="6B7280"/>
                </a:solidFill>
                <a:latin typeface="Source Han Sans SC"/>
              </a:rPr>
              <a:t>• 损失一路下降但准确率不动（正是坑 1）</a:t>
            </a:r>
          </a:p>
        </p:txBody>
      </p:sp>
      <p:sp>
        <p:nvSpPr>
          <p:cNvPr id="17" name="TextBox 16"/>
          <p:cNvSpPr txBox="1"/>
          <p:nvPr/>
        </p:nvSpPr>
        <p:spPr>
          <a:xfrm>
            <a:off x="799200" y="5436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Keep this diagnostic: if the loss falls but the metric does not move, first look at the line just above the loss call for a redundant activation.</a:t>
            </a:r>
          </a:p>
          <a:p>
            <a:pPr algn="l">
              <a:lnSpc>
                <a:spcPct val="105000"/>
              </a:lnSpc>
              <a:spcBef>
                <a:spcPts val="150"/>
              </a:spcBef>
            </a:pPr>
            <a:r>
              <a:rPr sz="980" b="0" i="0">
                <a:solidFill>
                  <a:srgbClr val="6B7280"/>
                </a:solidFill>
                <a:latin typeface="Source Han Sans SC"/>
              </a:rPr>
              <a:t>记住这条判据：损失在下降、指标却不动，第一反应就去看损失函数前面的那一行有没有多做一次激活。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02</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02</a:t>
            </a:r>
          </a:p>
        </p:txBody>
      </p:sp>
      <p:sp>
        <p:nvSpPr>
          <p:cNvPr id="7" name="TextBox 6"/>
          <p:cNvSpPr txBox="1"/>
          <p:nvPr/>
        </p:nvSpPr>
        <p:spPr>
          <a:xfrm>
            <a:off x="2379600" y="1105200"/>
            <a:ext cx="5040000" cy="1624377"/>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Optimizers: How We Update</a:t>
            </a:r>
          </a:p>
          <a:p>
            <a:pPr algn="l">
              <a:lnSpc>
                <a:spcPct val="105000"/>
              </a:lnSpc>
              <a:spcBef>
                <a:spcPts val="150"/>
              </a:spcBef>
            </a:pPr>
            <a:r>
              <a:rPr sz="2340" b="0" i="0">
                <a:solidFill>
                  <a:srgbClr val="6B7280"/>
                </a:solidFill>
                <a:latin typeface="Source Han Sans SC"/>
              </a:rPr>
              <a:t>优化器：参数怎么更新</a:t>
            </a:r>
          </a:p>
        </p:txBody>
      </p:sp>
      <p:sp>
        <p:nvSpPr>
          <p:cNvPr id="8" name="TextBox 7"/>
          <p:cNvSpPr txBox="1"/>
          <p:nvPr/>
        </p:nvSpPr>
        <p:spPr>
          <a:xfrm>
            <a:off x="799200" y="2801577"/>
            <a:ext cx="8640000" cy="198041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The loss tells you how wrong you are; the optimizer decides which way and how far to move.</a:t>
            </a:r>
          </a:p>
          <a:p>
            <a:pPr algn="l">
              <a:lnSpc>
                <a:spcPct val="150000"/>
              </a:lnSpc>
            </a:pPr>
            <a:r>
              <a:rPr sz="1500" b="0" i="0">
                <a:solidFill>
                  <a:srgbClr val="1F2937"/>
                </a:solidFill>
                <a:latin typeface="Source Han Sans SC"/>
              </a:rPr>
              <a:t>Same model, same data — change the optimizer and convergence can differ by an order of magnitude.</a:t>
            </a:r>
          </a:p>
          <a:p>
            <a:pPr algn="l">
              <a:lnSpc>
                <a:spcPct val="105000"/>
              </a:lnSpc>
              <a:spcBef>
                <a:spcPts val="150"/>
              </a:spcBef>
            </a:pPr>
            <a:r>
              <a:rPr sz="1170" b="0" i="0">
                <a:solidFill>
                  <a:srgbClr val="6B7280"/>
                </a:solidFill>
                <a:latin typeface="Source Han Sans SC"/>
              </a:rPr>
              <a:t>损失函数告诉你「错了多少」，优化器决定「往哪走、走多远」。</a:t>
            </a:r>
          </a:p>
          <a:p>
            <a:pPr algn="l">
              <a:lnSpc>
                <a:spcPct val="105000"/>
              </a:lnSpc>
              <a:spcBef>
                <a:spcPts val="150"/>
              </a:spcBef>
            </a:pPr>
            <a:r>
              <a:rPr sz="1170" b="0" i="0">
                <a:solidFill>
                  <a:srgbClr val="6B7280"/>
                </a:solidFill>
                <a:latin typeface="Source Han Sans SC"/>
              </a:rPr>
              <a:t>同一套模型、同一份数据，换一个优化器，收敛速度可以差一个数量级。</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SGD</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Only the current gradient</a:t>
            </a:r>
          </a:p>
          <a:p>
            <a:pPr algn="l">
              <a:lnSpc>
                <a:spcPct val="105000"/>
              </a:lnSpc>
              <a:spcBef>
                <a:spcPts val="150"/>
              </a:spcBef>
            </a:pPr>
            <a:r>
              <a:rPr sz="800" b="0" i="0">
                <a:solidFill>
                  <a:srgbClr val="6B7280"/>
                </a:solidFill>
                <a:latin typeface="Source Han Sans SC"/>
              </a:rPr>
              <a:t>只看当前这一步的梯度</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Momentum</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Accumulates direction into inertia</a:t>
            </a:r>
          </a:p>
          <a:p>
            <a:pPr algn="l">
              <a:lnSpc>
                <a:spcPct val="105000"/>
              </a:lnSpc>
              <a:spcBef>
                <a:spcPts val="150"/>
              </a:spcBef>
            </a:pPr>
            <a:r>
              <a:rPr sz="800" b="0" i="0">
                <a:solidFill>
                  <a:srgbClr val="6B7280"/>
                </a:solidFill>
                <a:latin typeface="Source Han Sans SC"/>
              </a:rPr>
              <a:t>累积历史方向形成惯性</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Adam</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One adaptive step size per parameter</a:t>
            </a:r>
          </a:p>
          <a:p>
            <a:pPr algn="l">
              <a:lnSpc>
                <a:spcPct val="105000"/>
              </a:lnSpc>
              <a:spcBef>
                <a:spcPts val="150"/>
              </a:spcBef>
            </a:pPr>
            <a:r>
              <a:rPr sz="800" b="0" i="0">
                <a:solidFill>
                  <a:srgbClr val="6B7280"/>
                </a:solidFill>
                <a:latin typeface="Source Han Sans SC"/>
              </a:rPr>
              <a:t>每个参数一个自适应步长</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Three Optimizers: Three Generations of Ideas</a:t>
            </a:r>
          </a:p>
          <a:p>
            <a:pPr algn="l">
              <a:lnSpc>
                <a:spcPct val="105000"/>
              </a:lnSpc>
              <a:spcBef>
                <a:spcPts val="150"/>
              </a:spcBef>
            </a:pPr>
            <a:r>
              <a:rPr sz="1210" b="0" i="0">
                <a:solidFill>
                  <a:srgbClr val="6B7280"/>
                </a:solidFill>
                <a:latin typeface="Source Han Sans SC"/>
              </a:rPr>
              <a:t>三种优化器：三代思路</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09 / 31</a:t>
            </a:r>
          </a:p>
        </p:txBody>
      </p:sp>
      <p:sp>
        <p:nvSpPr>
          <p:cNvPr id="9" name="Rectangle 8"/>
          <p:cNvSpPr/>
          <p:nvPr/>
        </p:nvSpPr>
        <p:spPr>
          <a:xfrm>
            <a:off x="799200" y="1296000"/>
            <a:ext cx="3387239" cy="3096542"/>
          </a:xfrm>
          <a:prstGeom prst="rect">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309654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SGD</a:t>
            </a:r>
          </a:p>
          <a:p>
            <a:pPr algn="l">
              <a:lnSpc>
                <a:spcPct val="105000"/>
              </a:lnSpc>
              <a:spcBef>
                <a:spcPts val="150"/>
              </a:spcBef>
            </a:pPr>
            <a:r>
              <a:rPr sz="1130" b="0" i="0">
                <a:solidFill>
                  <a:srgbClr val="6B7280"/>
                </a:solidFill>
                <a:latin typeface="Source Han Sans SC"/>
              </a:rPr>
              <a:t>SGD 随机梯度下降</a:t>
            </a:r>
          </a:p>
        </p:txBody>
      </p:sp>
      <p:sp>
        <p:nvSpPr>
          <p:cNvPr id="12" name="TextBox 11"/>
          <p:cNvSpPr txBox="1"/>
          <p:nvPr/>
        </p:nvSpPr>
        <p:spPr>
          <a:xfrm>
            <a:off x="1022400" y="2033090"/>
            <a:ext cx="2940839" cy="2287452"/>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Updates straight from the batch gradient</a:t>
            </a:r>
            <a:r>
              <a:rPr sz="940" b="0" i="0">
                <a:solidFill>
                  <a:srgbClr val="6B7280"/>
                </a:solidFill>
                <a:latin typeface="Source Han Sans SC"/>
              </a:rPr>
              <a:t> ｜ </a:t>
            </a:r>
            <a:r>
              <a:rPr sz="940" b="0" i="0">
                <a:solidFill>
                  <a:srgbClr val="6B7280"/>
                </a:solidFill>
                <a:latin typeface="Source Han Sans SC"/>
              </a:rPr>
              <a:t>• 直接用当前批次的梯度更新</a:t>
            </a:r>
          </a:p>
          <a:p>
            <a:pPr algn="l">
              <a:lnSpc>
                <a:spcPct val="140000"/>
              </a:lnSpc>
              <a:spcAft>
                <a:spcPts val="400"/>
              </a:spcAft>
            </a:pPr>
            <a:r>
              <a:rPr sz="1200" b="0" i="0">
                <a:solidFill>
                  <a:srgbClr val="1F2937"/>
                </a:solidFill>
                <a:latin typeface="Source Han Sans SC"/>
              </a:rPr>
              <a:t>• Only one hyper-parameter: the learning rate</a:t>
            </a:r>
            <a:r>
              <a:rPr sz="940" b="0" i="0">
                <a:solidFill>
                  <a:srgbClr val="6B7280"/>
                </a:solidFill>
                <a:latin typeface="Source Han Sans SC"/>
              </a:rPr>
              <a:t> ｜ </a:t>
            </a:r>
            <a:r>
              <a:rPr sz="940" b="0" i="0">
                <a:solidFill>
                  <a:srgbClr val="6B7280"/>
                </a:solidFill>
                <a:latin typeface="Source Han Sans SC"/>
              </a:rPr>
              <a:t>• 只多了学习率一个超参数</a:t>
            </a:r>
          </a:p>
          <a:p>
            <a:pPr algn="l">
              <a:lnSpc>
                <a:spcPct val="140000"/>
              </a:lnSpc>
              <a:spcAft>
                <a:spcPts val="400"/>
              </a:spcAft>
            </a:pPr>
            <a:r>
              <a:rPr sz="1200" b="0" i="0">
                <a:solidFill>
                  <a:srgbClr val="1F2937"/>
                </a:solidFill>
                <a:latin typeface="Source Han Sans SC"/>
              </a:rPr>
              <a:t>• Extremely lr-sensitive; 1e-1 blows up</a:t>
            </a:r>
            <a:r>
              <a:rPr sz="940" b="0" i="0">
                <a:solidFill>
                  <a:srgbClr val="6B7280"/>
                </a:solidFill>
                <a:latin typeface="Source Han Sans SC"/>
              </a:rPr>
              <a:t> ｜ </a:t>
            </a:r>
            <a:r>
              <a:rPr sz="940" b="0" i="0">
                <a:solidFill>
                  <a:srgbClr val="6B7280"/>
                </a:solidFill>
                <a:latin typeface="Source Han Sans SC"/>
              </a:rPr>
              <a:t>• 对学习率极敏感，1e-1 就会炸</a:t>
            </a:r>
          </a:p>
          <a:p>
            <a:pPr algn="l">
              <a:lnSpc>
                <a:spcPct val="140000"/>
              </a:lnSpc>
              <a:spcAft>
                <a:spcPts val="400"/>
              </a:spcAft>
            </a:pPr>
            <a:r>
              <a:rPr sz="1200" b="0" i="0">
                <a:solidFill>
                  <a:srgbClr val="1F2937"/>
                </a:solidFill>
                <a:latin typeface="Source Han Sans SC"/>
              </a:rPr>
              <a:t>• Generalises well, but costly to tune</a:t>
            </a:r>
            <a:r>
              <a:rPr sz="940" b="0" i="0">
                <a:solidFill>
                  <a:srgbClr val="6B7280"/>
                </a:solidFill>
                <a:latin typeface="Source Han Sans SC"/>
              </a:rPr>
              <a:t> ｜ </a:t>
            </a:r>
            <a:r>
              <a:rPr sz="940" b="0" i="0">
                <a:solidFill>
                  <a:srgbClr val="6B7280"/>
                </a:solidFill>
                <a:latin typeface="Source Han Sans SC"/>
              </a:rPr>
              <a:t>• 泛化常略好，但调参成本高</a:t>
            </a:r>
          </a:p>
        </p:txBody>
      </p:sp>
      <p:sp>
        <p:nvSpPr>
          <p:cNvPr id="13" name="Rectangle 12"/>
          <p:cNvSpPr/>
          <p:nvPr/>
        </p:nvSpPr>
        <p:spPr>
          <a:xfrm>
            <a:off x="4402440" y="1296000"/>
            <a:ext cx="3387239" cy="3096542"/>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2440" y="1296000"/>
            <a:ext cx="32400" cy="309654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2563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SGD + Momentum</a:t>
            </a:r>
          </a:p>
        </p:txBody>
      </p:sp>
      <p:sp>
        <p:nvSpPr>
          <p:cNvPr id="16" name="TextBox 15"/>
          <p:cNvSpPr txBox="1"/>
          <p:nvPr/>
        </p:nvSpPr>
        <p:spPr>
          <a:xfrm>
            <a:off x="4625639" y="1798775"/>
            <a:ext cx="2940839" cy="2521767"/>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Accumulates past gradients with momentum</a:t>
            </a:r>
            <a:r>
              <a:rPr sz="940" b="0" i="0">
                <a:solidFill>
                  <a:srgbClr val="6B7280"/>
                </a:solidFill>
                <a:latin typeface="Source Han Sans SC"/>
              </a:rPr>
              <a:t> ｜ </a:t>
            </a:r>
            <a:r>
              <a:rPr sz="940" b="0" i="0">
                <a:solidFill>
                  <a:srgbClr val="6B7280"/>
                </a:solidFill>
                <a:latin typeface="Source Han Sans SC"/>
              </a:rPr>
              <a:t>• 把历史梯度按动量累加</a:t>
            </a:r>
          </a:p>
          <a:p>
            <a:pPr algn="l">
              <a:lnSpc>
                <a:spcPct val="140000"/>
              </a:lnSpc>
              <a:spcAft>
                <a:spcPts val="400"/>
              </a:spcAft>
            </a:pPr>
            <a:r>
              <a:rPr sz="1200" b="0" i="0">
                <a:solidFill>
                  <a:srgbClr val="1F2937"/>
                </a:solidFill>
                <a:latin typeface="Source Han Sans SC"/>
              </a:rPr>
              <a:t>• Speeds up along a consistent descent direction</a:t>
            </a:r>
            <a:r>
              <a:rPr sz="940" b="0" i="0">
                <a:solidFill>
                  <a:srgbClr val="6B7280"/>
                </a:solidFill>
                <a:latin typeface="Source Han Sans SC"/>
              </a:rPr>
              <a:t> ｜ </a:t>
            </a:r>
            <a:r>
              <a:rPr sz="940" b="0" i="0">
                <a:solidFill>
                  <a:srgbClr val="6B7280"/>
                </a:solidFill>
                <a:latin typeface="Source Han Sans SC"/>
              </a:rPr>
              <a:t>• 沿一致的下降方向越走越快</a:t>
            </a:r>
          </a:p>
          <a:p>
            <a:pPr algn="l">
              <a:lnSpc>
                <a:spcPct val="140000"/>
              </a:lnSpc>
              <a:spcAft>
                <a:spcPts val="400"/>
              </a:spcAft>
            </a:pPr>
            <a:r>
              <a:rPr sz="1200" b="0" i="0">
                <a:solidFill>
                  <a:srgbClr val="1F2937"/>
                </a:solidFill>
                <a:latin typeface="Source Han Sans SC"/>
              </a:rPr>
              <a:t>• Can pass through small saddle points and noise</a:t>
            </a:r>
            <a:r>
              <a:rPr sz="940" b="0" i="0">
                <a:solidFill>
                  <a:srgbClr val="6B7280"/>
                </a:solidFill>
                <a:latin typeface="Source Han Sans SC"/>
              </a:rPr>
              <a:t> ｜ </a:t>
            </a:r>
            <a:r>
              <a:rPr sz="940" b="0" i="0">
                <a:solidFill>
                  <a:srgbClr val="6B7280"/>
                </a:solidFill>
                <a:latin typeface="Source Han Sans SC"/>
              </a:rPr>
              <a:t>• 能穿过小的鞍点与噪声</a:t>
            </a:r>
          </a:p>
          <a:p>
            <a:pPr algn="l">
              <a:lnSpc>
                <a:spcPct val="140000"/>
              </a:lnSpc>
              <a:spcAft>
                <a:spcPts val="400"/>
              </a:spcAft>
            </a:pPr>
            <a:r>
              <a:rPr sz="1200" b="0" i="0">
                <a:solidFill>
                  <a:srgbClr val="1F2937"/>
                </a:solidFill>
                <a:latin typeface="Source Han Sans SC"/>
              </a:rPr>
              <a:t>• Convention: momentum = 0.9</a:t>
            </a:r>
            <a:r>
              <a:rPr sz="940" b="0" i="0">
                <a:solidFill>
                  <a:srgbClr val="6B7280"/>
                </a:solidFill>
                <a:latin typeface="Source Han Sans SC"/>
              </a:rPr>
              <a:t> ｜ </a:t>
            </a:r>
            <a:r>
              <a:rPr sz="940" b="0" i="0">
                <a:solidFill>
                  <a:srgbClr val="6B7280"/>
                </a:solidFill>
                <a:latin typeface="Source Han Sans SC"/>
              </a:rPr>
              <a:t>• 惯例：momentum = 0.9</a:t>
            </a:r>
          </a:p>
        </p:txBody>
      </p:sp>
      <p:sp>
        <p:nvSpPr>
          <p:cNvPr id="17" name="Rectangle 16"/>
          <p:cNvSpPr/>
          <p:nvPr/>
        </p:nvSpPr>
        <p:spPr>
          <a:xfrm>
            <a:off x="8005679" y="1296000"/>
            <a:ext cx="3387239" cy="3096542"/>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05679" y="1296000"/>
            <a:ext cx="32400" cy="309654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887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Adam</a:t>
            </a:r>
          </a:p>
          <a:p>
            <a:pPr algn="l">
              <a:lnSpc>
                <a:spcPct val="105000"/>
              </a:lnSpc>
              <a:spcBef>
                <a:spcPts val="150"/>
              </a:spcBef>
            </a:pPr>
            <a:r>
              <a:rPr sz="1130" b="0" i="0">
                <a:solidFill>
                  <a:srgbClr val="6B7280"/>
                </a:solidFill>
                <a:latin typeface="Source Han Sans SC"/>
              </a:rPr>
              <a:t>Adam 自适应矩估计</a:t>
            </a:r>
          </a:p>
        </p:txBody>
      </p:sp>
      <p:sp>
        <p:nvSpPr>
          <p:cNvPr id="20" name="TextBox 19"/>
          <p:cNvSpPr txBox="1"/>
          <p:nvPr/>
        </p:nvSpPr>
        <p:spPr>
          <a:xfrm>
            <a:off x="8228879" y="2033090"/>
            <a:ext cx="2940839" cy="2287452"/>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Estimates first and second moments</a:t>
            </a:r>
            <a:r>
              <a:rPr sz="940" b="0" i="0">
                <a:solidFill>
                  <a:srgbClr val="6B7280"/>
                </a:solidFill>
                <a:latin typeface="Source Han Sans SC"/>
              </a:rPr>
              <a:t> ｜ </a:t>
            </a:r>
            <a:r>
              <a:rPr sz="940" b="0" i="0">
                <a:solidFill>
                  <a:srgbClr val="6B7280"/>
                </a:solidFill>
                <a:latin typeface="Source Han Sans SC"/>
              </a:rPr>
              <a:t>• 同时估计梯度的一阶与二阶矩</a:t>
            </a:r>
          </a:p>
          <a:p>
            <a:pPr algn="l">
              <a:lnSpc>
                <a:spcPct val="140000"/>
              </a:lnSpc>
              <a:spcAft>
                <a:spcPts val="400"/>
              </a:spcAft>
            </a:pPr>
            <a:r>
              <a:rPr sz="1200" b="0" i="0">
                <a:solidFill>
                  <a:srgbClr val="1F2937"/>
                </a:solidFill>
                <a:latin typeface="Source Han Sans SC"/>
              </a:rPr>
              <a:t>• Every parameter gets its own step size</a:t>
            </a:r>
            <a:r>
              <a:rPr sz="940" b="0" i="0">
                <a:solidFill>
                  <a:srgbClr val="6B7280"/>
                </a:solidFill>
                <a:latin typeface="Source Han Sans SC"/>
              </a:rPr>
              <a:t> ｜ </a:t>
            </a:r>
            <a:r>
              <a:rPr sz="940" b="0" i="0">
                <a:solidFill>
                  <a:srgbClr val="6B7280"/>
                </a:solidFill>
                <a:latin typeface="Source Han Sans SC"/>
              </a:rPr>
              <a:t>• 每个参数有各自的步长</a:t>
            </a:r>
          </a:p>
          <a:p>
            <a:pPr algn="l">
              <a:lnSpc>
                <a:spcPct val="140000"/>
              </a:lnSpc>
              <a:spcAft>
                <a:spcPts val="400"/>
              </a:spcAft>
            </a:pPr>
            <a:r>
              <a:rPr sz="1200" b="0" i="0">
                <a:solidFill>
                  <a:srgbClr val="1F2937"/>
                </a:solidFill>
                <a:latin typeface="Source Han Sans SC"/>
              </a:rPr>
              <a:t>• More forgiving: 1e-3 usually works</a:t>
            </a:r>
            <a:r>
              <a:rPr sz="940" b="0" i="0">
                <a:solidFill>
                  <a:srgbClr val="6B7280"/>
                </a:solidFill>
                <a:latin typeface="Source Han Sans SC"/>
              </a:rPr>
              <a:t> ｜ </a:t>
            </a:r>
            <a:r>
              <a:rPr sz="940" b="0" i="0">
                <a:solidFill>
                  <a:srgbClr val="6B7280"/>
                </a:solidFill>
                <a:latin typeface="Source Han Sans SC"/>
              </a:rPr>
              <a:t>• 对学习率更宽容，1e-3 通常可跑</a:t>
            </a:r>
          </a:p>
          <a:p>
            <a:pPr algn="l">
              <a:lnSpc>
                <a:spcPct val="140000"/>
              </a:lnSpc>
              <a:spcAft>
                <a:spcPts val="400"/>
              </a:spcAft>
            </a:pPr>
            <a:r>
              <a:rPr sz="1200" b="0" i="0">
                <a:solidFill>
                  <a:srgbClr val="1F2937"/>
                </a:solidFill>
                <a:latin typeface="Source Han Sans SC"/>
              </a:rPr>
              <a:t>• Cost: two extra state buffers, more VRAM</a:t>
            </a:r>
            <a:r>
              <a:rPr sz="940" b="0" i="0">
                <a:solidFill>
                  <a:srgbClr val="6B7280"/>
                </a:solidFill>
                <a:latin typeface="Source Han Sans SC"/>
              </a:rPr>
              <a:t> ｜ </a:t>
            </a:r>
            <a:r>
              <a:rPr sz="940" b="0" i="0">
                <a:solidFill>
                  <a:srgbClr val="6B7280"/>
                </a:solidFill>
                <a:latin typeface="Source Han Sans SC"/>
              </a:rPr>
              <a:t>• 代价：多存两份状态，更吃显存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Optimizer Comparison Table</a:t>
            </a:r>
          </a:p>
          <a:p>
            <a:pPr algn="l">
              <a:lnSpc>
                <a:spcPct val="105000"/>
              </a:lnSpc>
              <a:spcBef>
                <a:spcPts val="150"/>
              </a:spcBef>
            </a:pPr>
            <a:r>
              <a:rPr sz="1210" b="0" i="0">
                <a:solidFill>
                  <a:srgbClr val="6B7280"/>
                </a:solidFill>
                <a:latin typeface="Source Han Sans SC"/>
              </a:rPr>
              <a:t>优化器对照表</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10 / 31</a:t>
            </a:r>
          </a:p>
        </p:txBody>
      </p:sp>
      <p:graphicFrame>
        <p:nvGraphicFramePr>
          <p:cNvPr id="9" name="Table 8"/>
          <p:cNvGraphicFramePr>
            <a:graphicFrameLocks noGrp="1"/>
          </p:cNvGraphicFramePr>
          <p:nvPr/>
        </p:nvGraphicFramePr>
        <p:xfrm>
          <a:off x="799200" y="1152000"/>
          <a:ext cx="10584000" cy="4063314"/>
        </p:xfrm>
        <a:graphic>
          <a:graphicData uri="http://schemas.openxmlformats.org/drawingml/2006/table">
            <a:tbl>
              <a:tblPr firstRow="1" bandRow="1">
                <a:tableStyleId>{5C22544A-7EE6-4342-B048-85BDC9FD1C3A}</a:tableStyleId>
              </a:tblPr>
              <a:tblGrid>
                <a:gridCol w="1800000"/>
                <a:gridCol w="3024000"/>
                <a:gridCol w="2088000"/>
                <a:gridCol w="1512000"/>
                <a:gridCol w="2160000"/>
              </a:tblGrid>
              <a:tr h="812662">
                <a:tc>
                  <a:txBody>
                    <a:bodyPr/>
                    <a:lstStyle/>
                    <a:p>
                      <a:r>
                        <a:rPr sz="1180" b="1">
                          <a:solidFill>
                            <a:srgbClr val="FFFFFF"/>
                          </a:solidFill>
                          <a:latin typeface="Source Han Sans SC"/>
                        </a:rPr>
                        <a:t>Optimizer</a:t>
                      </a:r>
                    </a:p>
                    <a:p>
                      <a:pPr>
                        <a:lnSpc>
                          <a:spcPct val="100000"/>
                        </a:lnSpc>
                      </a:pPr>
                      <a:r>
                        <a:rPr sz="1000" b="0">
                          <a:solidFill>
                            <a:srgbClr val="C3D4EF"/>
                          </a:solidFill>
                          <a:latin typeface="Source Han Sans SC"/>
                        </a:rPr>
                        <a:t>优化器</a:t>
                      </a:r>
                    </a:p>
                  </a:txBody>
                  <a:tcPr>
                    <a:solidFill>
                      <a:srgbClr val="0E3F8C"/>
                    </a:solidFill>
                  </a:tcPr>
                </a:tc>
                <a:tc>
                  <a:txBody>
                    <a:bodyPr/>
                    <a:lstStyle/>
                    <a:p>
                      <a:r>
                        <a:rPr sz="1180" b="1">
                          <a:solidFill>
                            <a:srgbClr val="FFFFFF"/>
                          </a:solidFill>
                          <a:latin typeface="Source Han Sans SC"/>
                        </a:rPr>
                        <a:t>Update rule (intuition)</a:t>
                      </a:r>
                    </a:p>
                    <a:p>
                      <a:pPr>
                        <a:lnSpc>
                          <a:spcPct val="100000"/>
                        </a:lnSpc>
                      </a:pPr>
                      <a:r>
                        <a:rPr sz="1000" b="0">
                          <a:solidFill>
                            <a:srgbClr val="C3D4EF"/>
                          </a:solidFill>
                          <a:latin typeface="Source Han Sans SC"/>
                        </a:rPr>
                        <a:t>更新规则（直觉）</a:t>
                      </a:r>
                    </a:p>
                  </a:txBody>
                  <a:tcPr>
                    <a:solidFill>
                      <a:srgbClr val="0E3F8C"/>
                    </a:solidFill>
                  </a:tcPr>
                </a:tc>
                <a:tc>
                  <a:txBody>
                    <a:bodyPr/>
                    <a:lstStyle/>
                    <a:p>
                      <a:r>
                        <a:rPr sz="1180" b="1">
                          <a:solidFill>
                            <a:srgbClr val="FFFFFF"/>
                          </a:solidFill>
                          <a:latin typeface="Source Han Sans SC"/>
                        </a:rPr>
                        <a:t>Key hyper-parameters</a:t>
                      </a:r>
                    </a:p>
                    <a:p>
                      <a:pPr>
                        <a:lnSpc>
                          <a:spcPct val="100000"/>
                        </a:lnSpc>
                      </a:pPr>
                      <a:r>
                        <a:rPr sz="1000" b="0">
                          <a:solidFill>
                            <a:srgbClr val="C3D4EF"/>
                          </a:solidFill>
                          <a:latin typeface="Source Han Sans SC"/>
                        </a:rPr>
                        <a:t>主要超参数</a:t>
                      </a:r>
                    </a:p>
                  </a:txBody>
                  <a:tcPr>
                    <a:solidFill>
                      <a:srgbClr val="0E3F8C"/>
                    </a:solidFill>
                  </a:tcPr>
                </a:tc>
                <a:tc>
                  <a:txBody>
                    <a:bodyPr/>
                    <a:lstStyle/>
                    <a:p>
                      <a:r>
                        <a:rPr sz="1180" b="1">
                          <a:solidFill>
                            <a:srgbClr val="FFFFFF"/>
                          </a:solidFill>
                          <a:latin typeface="Source Han Sans SC"/>
                        </a:rPr>
                        <a:t>Convergence</a:t>
                      </a:r>
                    </a:p>
                    <a:p>
                      <a:pPr>
                        <a:lnSpc>
                          <a:spcPct val="100000"/>
                        </a:lnSpc>
                      </a:pPr>
                      <a:r>
                        <a:rPr sz="1000" b="0">
                          <a:solidFill>
                            <a:srgbClr val="C3D4EF"/>
                          </a:solidFill>
                          <a:latin typeface="Source Han Sans SC"/>
                        </a:rPr>
                        <a:t>收敛速度</a:t>
                      </a:r>
                    </a:p>
                  </a:txBody>
                  <a:tcPr>
                    <a:solidFill>
                      <a:srgbClr val="0E3F8C"/>
                    </a:solidFill>
                  </a:tcPr>
                </a:tc>
                <a:tc>
                  <a:txBody>
                    <a:bodyPr/>
                    <a:lstStyle/>
                    <a:p>
                      <a:r>
                        <a:rPr sz="1180" b="1">
                          <a:solidFill>
                            <a:srgbClr val="FFFFFF"/>
                          </a:solidFill>
                          <a:latin typeface="Source Han Sans SC"/>
                        </a:rPr>
                        <a:t>Typical use</a:t>
                      </a:r>
                    </a:p>
                    <a:p>
                      <a:pPr>
                        <a:lnSpc>
                          <a:spcPct val="100000"/>
                        </a:lnSpc>
                      </a:pPr>
                      <a:r>
                        <a:rPr sz="1000" b="0">
                          <a:solidFill>
                            <a:srgbClr val="C3D4EF"/>
                          </a:solidFill>
                          <a:latin typeface="Source Han Sans SC"/>
                        </a:rPr>
                        <a:t>典型场景</a:t>
                      </a:r>
                    </a:p>
                  </a:txBody>
                  <a:tcPr>
                    <a:solidFill>
                      <a:srgbClr val="0E3F8C"/>
                    </a:solidFill>
                  </a:tcPr>
                </a:tc>
              </a:tr>
              <a:tr h="812662">
                <a:tc>
                  <a:txBody>
                    <a:bodyPr/>
                    <a:lstStyle/>
                    <a:p>
                      <a:r>
                        <a:rPr sz="1060" b="1">
                          <a:solidFill>
                            <a:srgbClr val="1F2937"/>
                          </a:solidFill>
                          <a:latin typeface="Source Han Sans SC"/>
                        </a:rPr>
                        <a:t>SGD</a:t>
                      </a:r>
                    </a:p>
                  </a:txBody>
                  <a:tcPr>
                    <a:solidFill>
                      <a:srgbClr val="FFFFFF"/>
                    </a:solidFill>
                  </a:tcPr>
                </a:tc>
                <a:tc>
                  <a:txBody>
                    <a:bodyPr/>
                    <a:lstStyle/>
                    <a:p>
                      <a:r>
                        <a:rPr sz="1060" b="0">
                          <a:solidFill>
                            <a:srgbClr val="1F2937"/>
                          </a:solidFill>
                          <a:latin typeface="Source Han Sans SC"/>
                        </a:rPr>
                        <a:t>One step along the current gradient</a:t>
                      </a:r>
                    </a:p>
                    <a:p>
                      <a:pPr>
                        <a:lnSpc>
                          <a:spcPct val="100000"/>
                        </a:lnSpc>
                      </a:pPr>
                      <a:r>
                        <a:rPr sz="900" b="0">
                          <a:solidFill>
                            <a:srgbClr val="6B7280"/>
                          </a:solidFill>
                          <a:latin typeface="Source Han Sans SC"/>
                        </a:rPr>
                        <a:t>沿当前梯度方向走一步</a:t>
                      </a:r>
                    </a:p>
                  </a:txBody>
                  <a:tcPr>
                    <a:solidFill>
                      <a:srgbClr val="FFFFFF"/>
                    </a:solidFill>
                  </a:tcPr>
                </a:tc>
                <a:tc>
                  <a:txBody>
                    <a:bodyPr/>
                    <a:lstStyle/>
                    <a:p>
                      <a:r>
                        <a:rPr sz="1060" b="0">
                          <a:solidFill>
                            <a:srgbClr val="1F2937"/>
                          </a:solidFill>
                          <a:latin typeface="Source Han Sans SC"/>
                        </a:rPr>
                        <a:t>lr</a:t>
                      </a:r>
                    </a:p>
                  </a:txBody>
                  <a:tcPr>
                    <a:solidFill>
                      <a:srgbClr val="FFFFFF"/>
                    </a:solidFill>
                  </a:tcPr>
                </a:tc>
                <a:tc>
                  <a:txBody>
                    <a:bodyPr/>
                    <a:lstStyle/>
                    <a:p>
                      <a:r>
                        <a:rPr sz="1060" b="0">
                          <a:solidFill>
                            <a:srgbClr val="1F2937"/>
                          </a:solidFill>
                          <a:latin typeface="Source Han Sans SC"/>
                        </a:rPr>
                        <a:t>Slow</a:t>
                      </a:r>
                    </a:p>
                    <a:p>
                      <a:pPr>
                        <a:lnSpc>
                          <a:spcPct val="100000"/>
                        </a:lnSpc>
                      </a:pPr>
                      <a:r>
                        <a:rPr sz="900" b="0">
                          <a:solidFill>
                            <a:srgbClr val="6B7280"/>
                          </a:solidFill>
                          <a:latin typeface="Source Han Sans SC"/>
                        </a:rPr>
                        <a:t>慢</a:t>
                      </a:r>
                    </a:p>
                  </a:txBody>
                  <a:tcPr>
                    <a:solidFill>
                      <a:srgbClr val="FFFFFF"/>
                    </a:solidFill>
                  </a:tcPr>
                </a:tc>
                <a:tc>
                  <a:txBody>
                    <a:bodyPr/>
                    <a:lstStyle/>
                    <a:p>
                      <a:r>
                        <a:rPr sz="1060" b="0">
                          <a:solidFill>
                            <a:srgbClr val="1F2937"/>
                          </a:solidFill>
                          <a:latin typeface="Source Han Sans SC"/>
                        </a:rPr>
                        <a:t>A classic baseline when you can afford tuning</a:t>
                      </a:r>
                    </a:p>
                    <a:p>
                      <a:pPr>
                        <a:lnSpc>
                          <a:spcPct val="100000"/>
                        </a:lnSpc>
                      </a:pPr>
                      <a:r>
                        <a:rPr sz="900" b="0">
                          <a:solidFill>
                            <a:srgbClr val="6B7280"/>
                          </a:solidFill>
                          <a:latin typeface="Source Han Sans SC"/>
                        </a:rPr>
                        <a:t>需要精细调参的经典基线</a:t>
                      </a:r>
                    </a:p>
                  </a:txBody>
                  <a:tcPr>
                    <a:solidFill>
                      <a:srgbClr val="FFFFFF"/>
                    </a:solidFill>
                  </a:tcPr>
                </a:tc>
              </a:tr>
              <a:tr h="812662">
                <a:tc>
                  <a:txBody>
                    <a:bodyPr/>
                    <a:lstStyle/>
                    <a:p>
                      <a:r>
                        <a:rPr sz="1060" b="1">
                          <a:solidFill>
                            <a:srgbClr val="1F2937"/>
                          </a:solidFill>
                          <a:latin typeface="Source Han Sans SC"/>
                        </a:rPr>
                        <a:t>SGD + Momentum</a:t>
                      </a:r>
                    </a:p>
                  </a:txBody>
                  <a:tcPr>
                    <a:solidFill>
                      <a:srgbClr val="F0F5FC"/>
                    </a:solidFill>
                  </a:tcPr>
                </a:tc>
                <a:tc>
                  <a:txBody>
                    <a:bodyPr/>
                    <a:lstStyle/>
                    <a:p>
                      <a:r>
                        <a:rPr sz="1060" b="0">
                          <a:solidFill>
                            <a:srgbClr val="1F2937"/>
                          </a:solidFill>
                          <a:latin typeface="Source Han Sans SC"/>
                        </a:rPr>
                        <a:t>Accumulate past gradients into inertia</a:t>
                      </a:r>
                    </a:p>
                    <a:p>
                      <a:pPr>
                        <a:lnSpc>
                          <a:spcPct val="100000"/>
                        </a:lnSpc>
                      </a:pPr>
                      <a:r>
                        <a:rPr sz="900" b="0">
                          <a:solidFill>
                            <a:srgbClr val="6B7280"/>
                          </a:solidFill>
                          <a:latin typeface="Source Han Sans SC"/>
                        </a:rPr>
                        <a:t>累积过去梯度，形成惯性</a:t>
                      </a:r>
                    </a:p>
                  </a:txBody>
                  <a:tcPr>
                    <a:solidFill>
                      <a:srgbClr val="F0F5FC"/>
                    </a:solidFill>
                  </a:tcPr>
                </a:tc>
                <a:tc>
                  <a:txBody>
                    <a:bodyPr/>
                    <a:lstStyle/>
                    <a:p>
                      <a:r>
                        <a:rPr sz="1060" b="0">
                          <a:solidFill>
                            <a:srgbClr val="1F2937"/>
                          </a:solidFill>
                          <a:latin typeface="Source Han Sans SC"/>
                        </a:rPr>
                        <a:t>lr, momentum=0.9</a:t>
                      </a:r>
                    </a:p>
                  </a:txBody>
                  <a:tcPr>
                    <a:solidFill>
                      <a:srgbClr val="F0F5FC"/>
                    </a:solidFill>
                  </a:tcPr>
                </a:tc>
                <a:tc>
                  <a:txBody>
                    <a:bodyPr/>
                    <a:lstStyle/>
                    <a:p>
                      <a:r>
                        <a:rPr sz="1060" b="0">
                          <a:solidFill>
                            <a:srgbClr val="1F2937"/>
                          </a:solidFill>
                          <a:latin typeface="Source Han Sans SC"/>
                        </a:rPr>
                        <a:t>Medium</a:t>
                      </a:r>
                    </a:p>
                    <a:p>
                      <a:pPr>
                        <a:lnSpc>
                          <a:spcPct val="100000"/>
                        </a:lnSpc>
                      </a:pPr>
                      <a:r>
                        <a:rPr sz="900" b="0">
                          <a:solidFill>
                            <a:srgbClr val="6B7280"/>
                          </a:solidFill>
                          <a:latin typeface="Source Han Sans SC"/>
                        </a:rPr>
                        <a:t>中</a:t>
                      </a:r>
                    </a:p>
                  </a:txBody>
                  <a:tcPr>
                    <a:solidFill>
                      <a:srgbClr val="F0F5FC"/>
                    </a:solidFill>
                  </a:tcPr>
                </a:tc>
                <a:tc>
                  <a:txBody>
                    <a:bodyPr/>
                    <a:lstStyle/>
                    <a:p>
                      <a:r>
                        <a:rPr sz="1060" b="0">
                          <a:solidFill>
                            <a:srgbClr val="1F2937"/>
                          </a:solidFill>
                          <a:latin typeface="Source Han Sans SC"/>
                        </a:rPr>
                        <a:t>A common default in computer vision</a:t>
                      </a:r>
                    </a:p>
                    <a:p>
                      <a:pPr>
                        <a:lnSpc>
                          <a:spcPct val="100000"/>
                        </a:lnSpc>
                      </a:pPr>
                      <a:r>
                        <a:rPr sz="900" b="0">
                          <a:solidFill>
                            <a:srgbClr val="6B7280"/>
                          </a:solidFill>
                          <a:latin typeface="Source Han Sans SC"/>
                        </a:rPr>
                        <a:t>计算机视觉的常用默认</a:t>
                      </a:r>
                    </a:p>
                  </a:txBody>
                  <a:tcPr>
                    <a:solidFill>
                      <a:srgbClr val="F0F5FC"/>
                    </a:solidFill>
                  </a:tcPr>
                </a:tc>
              </a:tr>
              <a:tr h="812662">
                <a:tc>
                  <a:txBody>
                    <a:bodyPr/>
                    <a:lstStyle/>
                    <a:p>
                      <a:r>
                        <a:rPr sz="1060" b="1">
                          <a:solidFill>
                            <a:srgbClr val="1F2937"/>
                          </a:solidFill>
                          <a:latin typeface="Source Han Sans SC"/>
                        </a:rPr>
                        <a:t>Adam</a:t>
                      </a:r>
                    </a:p>
                  </a:txBody>
                  <a:tcPr>
                    <a:solidFill>
                      <a:srgbClr val="FFFFFF"/>
                    </a:solidFill>
                  </a:tcPr>
                </a:tc>
                <a:tc>
                  <a:txBody>
                    <a:bodyPr/>
                    <a:lstStyle/>
                    <a:p>
                      <a:r>
                        <a:rPr sz="1060" b="0">
                          <a:solidFill>
                            <a:srgbClr val="1F2937"/>
                          </a:solidFill>
                          <a:latin typeface="Source Han Sans SC"/>
                        </a:rPr>
                        <a:t>Adaptive per-parameter step + momentum</a:t>
                      </a:r>
                    </a:p>
                    <a:p>
                      <a:pPr>
                        <a:lnSpc>
                          <a:spcPct val="100000"/>
                        </a:lnSpc>
                      </a:pPr>
                      <a:r>
                        <a:rPr sz="900" b="0">
                          <a:solidFill>
                            <a:srgbClr val="6B7280"/>
                          </a:solidFill>
                          <a:latin typeface="Source Han Sans SC"/>
                        </a:rPr>
                        <a:t>每参数自适应步长 + 动量</a:t>
                      </a:r>
                    </a:p>
                  </a:txBody>
                  <a:tcPr>
                    <a:solidFill>
                      <a:srgbClr val="FFFFFF"/>
                    </a:solidFill>
                  </a:tcPr>
                </a:tc>
                <a:tc>
                  <a:txBody>
                    <a:bodyPr/>
                    <a:lstStyle/>
                    <a:p>
                      <a:r>
                        <a:rPr sz="1060" b="0">
                          <a:solidFill>
                            <a:srgbClr val="1F2937"/>
                          </a:solidFill>
                          <a:latin typeface="Source Han Sans SC"/>
                        </a:rPr>
                        <a:t>lr, betas, eps</a:t>
                      </a:r>
                    </a:p>
                  </a:txBody>
                  <a:tcPr>
                    <a:solidFill>
                      <a:srgbClr val="FFFFFF"/>
                    </a:solidFill>
                  </a:tcPr>
                </a:tc>
                <a:tc>
                  <a:txBody>
                    <a:bodyPr/>
                    <a:lstStyle/>
                    <a:p>
                      <a:r>
                        <a:rPr sz="1060" b="0">
                          <a:solidFill>
                            <a:srgbClr val="1F2937"/>
                          </a:solidFill>
                          <a:latin typeface="Source Han Sans SC"/>
                        </a:rPr>
                        <a:t>Fast</a:t>
                      </a:r>
                    </a:p>
                    <a:p>
                      <a:pPr>
                        <a:lnSpc>
                          <a:spcPct val="100000"/>
                        </a:lnSpc>
                      </a:pPr>
                      <a:r>
                        <a:rPr sz="900" b="0">
                          <a:solidFill>
                            <a:srgbClr val="6B7280"/>
                          </a:solidFill>
                          <a:latin typeface="Source Han Sans SC"/>
                        </a:rPr>
                        <a:t>快</a:t>
                      </a:r>
                    </a:p>
                  </a:txBody>
                  <a:tcPr>
                    <a:solidFill>
                      <a:srgbClr val="FFFFFF"/>
                    </a:solidFill>
                  </a:tcPr>
                </a:tc>
                <a:tc>
                  <a:txBody>
                    <a:bodyPr/>
                    <a:lstStyle/>
                    <a:p>
                      <a:r>
                        <a:rPr sz="1060" b="0">
                          <a:solidFill>
                            <a:srgbClr val="1F2937"/>
                          </a:solidFill>
                          <a:latin typeface="Source Han Sans SC"/>
                        </a:rPr>
                        <a:t>First choice, fast prototyping, sparse gradients</a:t>
                      </a:r>
                    </a:p>
                    <a:p>
                      <a:pPr>
                        <a:lnSpc>
                          <a:spcPct val="100000"/>
                        </a:lnSpc>
                      </a:pPr>
                      <a:r>
                        <a:rPr sz="900" b="0">
                          <a:solidFill>
                            <a:srgbClr val="6B7280"/>
                          </a:solidFill>
                          <a:latin typeface="Source Han Sans SC"/>
                        </a:rPr>
                        <a:t>默认首选、快速原型、稀疏梯度</a:t>
                      </a:r>
                    </a:p>
                  </a:txBody>
                  <a:tcPr>
                    <a:solidFill>
                      <a:srgbClr val="FFFFFF"/>
                    </a:solidFill>
                  </a:tcPr>
                </a:tc>
              </a:tr>
              <a:tr h="812666">
                <a:tc>
                  <a:txBody>
                    <a:bodyPr/>
                    <a:lstStyle/>
                    <a:p>
                      <a:r>
                        <a:rPr sz="1060" b="1">
                          <a:solidFill>
                            <a:srgbClr val="1F2937"/>
                          </a:solidFill>
                          <a:latin typeface="Source Han Sans SC"/>
                        </a:rPr>
                        <a:t>AdamW</a:t>
                      </a:r>
                    </a:p>
                  </a:txBody>
                  <a:tcPr>
                    <a:solidFill>
                      <a:srgbClr val="F0F5FC"/>
                    </a:solidFill>
                  </a:tcPr>
                </a:tc>
                <a:tc>
                  <a:txBody>
                    <a:bodyPr/>
                    <a:lstStyle/>
                    <a:p>
                      <a:r>
                        <a:rPr sz="1060" b="0">
                          <a:solidFill>
                            <a:srgbClr val="1F2937"/>
                          </a:solidFill>
                          <a:latin typeface="Source Han Sans SC"/>
                        </a:rPr>
                        <a:t>Adam with decoupled weight decay</a:t>
                      </a:r>
                    </a:p>
                    <a:p>
                      <a:pPr>
                        <a:lnSpc>
                          <a:spcPct val="100000"/>
                        </a:lnSpc>
                      </a:pPr>
                      <a:r>
                        <a:rPr sz="900" b="0">
                          <a:solidFill>
                            <a:srgbClr val="6B7280"/>
                          </a:solidFill>
                          <a:latin typeface="Source Han Sans SC"/>
                        </a:rPr>
                        <a:t>同 Adam，但权重衰减解耦</a:t>
                      </a:r>
                    </a:p>
                  </a:txBody>
                  <a:tcPr>
                    <a:solidFill>
                      <a:srgbClr val="F0F5FC"/>
                    </a:solidFill>
                  </a:tcPr>
                </a:tc>
                <a:tc>
                  <a:txBody>
                    <a:bodyPr/>
                    <a:lstStyle/>
                    <a:p>
                      <a:r>
                        <a:rPr sz="1060" b="0">
                          <a:solidFill>
                            <a:srgbClr val="1F2937"/>
                          </a:solidFill>
                          <a:latin typeface="Source Han Sans SC"/>
                        </a:rPr>
                        <a:t>lr, weight_decay</a:t>
                      </a:r>
                    </a:p>
                  </a:txBody>
                  <a:tcPr>
                    <a:solidFill>
                      <a:srgbClr val="F0F5FC"/>
                    </a:solidFill>
                  </a:tcPr>
                </a:tc>
                <a:tc>
                  <a:txBody>
                    <a:bodyPr/>
                    <a:lstStyle/>
                    <a:p>
                      <a:r>
                        <a:rPr sz="1060" b="0">
                          <a:solidFill>
                            <a:srgbClr val="1F2937"/>
                          </a:solidFill>
                          <a:latin typeface="Source Han Sans SC"/>
                        </a:rPr>
                        <a:t>Fast</a:t>
                      </a:r>
                    </a:p>
                    <a:p>
                      <a:pPr>
                        <a:lnSpc>
                          <a:spcPct val="100000"/>
                        </a:lnSpc>
                      </a:pPr>
                      <a:r>
                        <a:rPr sz="900" b="0">
                          <a:solidFill>
                            <a:srgbClr val="6B7280"/>
                          </a:solidFill>
                          <a:latin typeface="Source Han Sans SC"/>
                        </a:rPr>
                        <a:t>快</a:t>
                      </a:r>
                    </a:p>
                  </a:txBody>
                  <a:tcPr>
                    <a:solidFill>
                      <a:srgbClr val="F0F5FC"/>
                    </a:solidFill>
                  </a:tcPr>
                </a:tc>
                <a:tc>
                  <a:txBody>
                    <a:bodyPr/>
                    <a:lstStyle/>
                    <a:p>
                      <a:r>
                        <a:rPr sz="1060" b="0">
                          <a:solidFill>
                            <a:srgbClr val="1F2937"/>
                          </a:solidFill>
                          <a:latin typeface="Source Han Sans SC"/>
                        </a:rPr>
                        <a:t>Standard for Transformer-style models</a:t>
                      </a:r>
                    </a:p>
                    <a:p>
                      <a:pPr>
                        <a:lnSpc>
                          <a:spcPct val="100000"/>
                        </a:lnSpc>
                      </a:pPr>
                      <a:r>
                        <a:rPr sz="900" b="0">
                          <a:solidFill>
                            <a:srgbClr val="6B7280"/>
                          </a:solidFill>
                          <a:latin typeface="Source Han Sans SC"/>
                        </a:rPr>
                        <a:t>Transformer 类模型的标配</a:t>
                      </a:r>
                    </a:p>
                  </a:txBody>
                  <a:tcPr>
                    <a:solidFill>
                      <a:srgbClr val="F0F5FC"/>
                    </a:solidFill>
                  </a:tcPr>
                </a:tc>
              </a:tr>
            </a:tbl>
          </a:graphicData>
        </a:graphic>
      </p:graphicFrame>
      <p:sp>
        <p:nvSpPr>
          <p:cNvPr id="10" name="TextBox 9"/>
          <p:cNvSpPr txBox="1"/>
          <p:nvPr/>
        </p:nvSpPr>
        <p:spPr>
          <a:xfrm>
            <a:off x="799200" y="5341314"/>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Note the wording of column two: "one step along the current gradient" versus "adaptive per-parameter step" — that difference is exactly the source of the convergence gap in the upcoming 3x3 experiment.</a:t>
            </a:r>
          </a:p>
          <a:p>
            <a:pPr algn="l">
              <a:lnSpc>
                <a:spcPct val="105000"/>
              </a:lnSpc>
              <a:spcBef>
                <a:spcPts val="150"/>
              </a:spcBef>
            </a:pPr>
            <a:r>
              <a:rPr sz="900" b="0" i="0">
                <a:solidFill>
                  <a:srgbClr val="6B7280"/>
                </a:solidFill>
                <a:latin typeface="Source Han Sans SC"/>
              </a:rPr>
              <a:t>注意第二列的措辞——「沿当前梯度走一步」和「每参数自适应步长」，这个差别就是后面 3×3 实验中收敛速度差异的根源。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Building the Three Optimizers, Side by Side</a:t>
            </a:r>
          </a:p>
          <a:p>
            <a:pPr algn="l">
              <a:lnSpc>
                <a:spcPct val="105000"/>
              </a:lnSpc>
              <a:spcBef>
                <a:spcPts val="150"/>
              </a:spcBef>
            </a:pPr>
            <a:r>
              <a:rPr sz="1210" b="0" i="0">
                <a:solidFill>
                  <a:srgbClr val="6B7280"/>
                </a:solidFill>
                <a:latin typeface="Source Han Sans SC"/>
              </a:rPr>
              <a:t>构造三种优化器并做对照</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11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Same weights, three optimizers</a:t>
            </a:r>
          </a:p>
          <a:p>
            <a:pPr algn="l">
              <a:lnSpc>
                <a:spcPct val="105000"/>
              </a:lnSpc>
              <a:spcBef>
                <a:spcPts val="150"/>
              </a:spcBef>
            </a:pPr>
            <a:r>
              <a:rPr sz="900" b="0" i="0">
                <a:solidFill>
                  <a:srgbClr val="6B7280"/>
                </a:solidFill>
                <a:latin typeface="Source Han Sans SC"/>
              </a:rPr>
              <a:t>同一套权重，三种优化器</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import torch</a:t>
            </a:r>
          </a:p>
          <a:p>
            <a:pPr algn="l">
              <a:lnSpc>
                <a:spcPct val="128000"/>
              </a:lnSpc>
            </a:pPr>
            <a:r>
              <a:rPr sz="1100" b="0" i="0">
                <a:solidFill>
                  <a:srgbClr val="E2E8F0"/>
                </a:solidFill>
                <a:latin typeface="Menlo"/>
              </a:rPr>
              <a:t>from torch import nn</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model = nn.Sequential(</a:t>
            </a:r>
          </a:p>
          <a:p>
            <a:pPr algn="l">
              <a:lnSpc>
                <a:spcPct val="128000"/>
              </a:lnSpc>
            </a:pPr>
            <a:r>
              <a:rPr sz="1100" b="0" i="0">
                <a:solidFill>
                  <a:srgbClr val="E2E8F0"/>
                </a:solidFill>
                <a:latin typeface="Menlo"/>
              </a:rPr>
              <a:t>    nn.Linear(784, 128),</a:t>
            </a:r>
          </a:p>
          <a:p>
            <a:pPr algn="l">
              <a:lnSpc>
                <a:spcPct val="128000"/>
              </a:lnSpc>
            </a:pPr>
            <a:r>
              <a:rPr sz="1100" b="0" i="0">
                <a:solidFill>
                  <a:srgbClr val="E2E8F0"/>
                </a:solidFill>
                <a:latin typeface="Menlo"/>
              </a:rPr>
              <a:t>    nn.ReLU(),</a:t>
            </a:r>
          </a:p>
          <a:p>
            <a:pPr algn="l">
              <a:lnSpc>
                <a:spcPct val="128000"/>
              </a:lnSpc>
            </a:pPr>
            <a:r>
              <a:rPr sz="1100" b="0" i="0">
                <a:solidFill>
                  <a:srgbClr val="E2E8F0"/>
                </a:solidFill>
                <a:latin typeface="Menlo"/>
              </a:rPr>
              <a:t>    nn.Linear(128, 10))</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params = model.parameters()</a:t>
            </a:r>
          </a:p>
          <a:p>
            <a:pPr algn="l">
              <a:lnSpc>
                <a:spcPct val="128000"/>
              </a:lnSpc>
            </a:pPr>
            <a:r>
              <a:rPr sz="1100" b="0" i="0">
                <a:solidFill>
                  <a:srgbClr val="E2E8F0"/>
                </a:solidFill>
                <a:latin typeface="Menlo"/>
              </a:rPr>
              <a:t>opt_sgd = torch.optim.SGD(params, lr=1e-1)</a:t>
            </a:r>
          </a:p>
          <a:p>
            <a:pPr algn="l">
              <a:lnSpc>
                <a:spcPct val="128000"/>
              </a:lnSpc>
            </a:pPr>
            <a:r>
              <a:rPr sz="1100" b="0" i="0">
                <a:solidFill>
                  <a:srgbClr val="E2E8F0"/>
                </a:solidFill>
                <a:latin typeface="Menlo"/>
              </a:rPr>
              <a:t>opt_mom = torch.optim.SGD(params, lr=1e-1,</a:t>
            </a:r>
          </a:p>
          <a:p>
            <a:pPr algn="l">
              <a:lnSpc>
                <a:spcPct val="128000"/>
              </a:lnSpc>
            </a:pPr>
            <a:r>
              <a:rPr sz="1100" b="0" i="0">
                <a:solidFill>
                  <a:srgbClr val="E2E8F0"/>
                </a:solidFill>
                <a:latin typeface="Menlo"/>
              </a:rPr>
              <a:t>                          momentum=0.9)</a:t>
            </a:r>
          </a:p>
          <a:p>
            <a:pPr algn="l">
              <a:lnSpc>
                <a:spcPct val="128000"/>
              </a:lnSpc>
            </a:pPr>
            <a:r>
              <a:rPr sz="1100" b="0" i="0">
                <a:solidFill>
                  <a:srgbClr val="E2E8F0"/>
                </a:solidFill>
                <a:latin typeface="Menlo"/>
              </a:rPr>
              <a:t>opt_adam = torch.optim.Adam(params, lr=1e-3)</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Sweeping lr = 1e-1 / 1e-3 / 1e-5</a:t>
            </a:r>
          </a:p>
          <a:p>
            <a:pPr algn="l">
              <a:lnSpc>
                <a:spcPct val="105000"/>
              </a:lnSpc>
              <a:spcBef>
                <a:spcPts val="150"/>
              </a:spcBef>
            </a:pPr>
            <a:r>
              <a:rPr sz="900" b="0" i="0">
                <a:solidFill>
                  <a:srgbClr val="6B7280"/>
                </a:solidFill>
                <a:latin typeface="Source Han Sans SC"/>
              </a:rPr>
              <a:t>学习率扫描 1e-1 / 1e-3 / 1e-5</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 sweep the learning rate: 1e-1 / 1e-3 / 1e-5</a:t>
            </a:r>
          </a:p>
          <a:p>
            <a:pPr algn="l">
              <a:lnSpc>
                <a:spcPct val="128000"/>
              </a:lnSpc>
            </a:pPr>
            <a:r>
              <a:rPr sz="1100" b="0" i="0">
                <a:solidFill>
                  <a:srgbClr val="E2E8F0"/>
                </a:solidFill>
                <a:latin typeface="Menlo"/>
              </a:rPr>
              <a:t>for lr in [1e-1, 1e-3, 1e-5]:</a:t>
            </a:r>
          </a:p>
          <a:p>
            <a:pPr algn="l">
              <a:lnSpc>
                <a:spcPct val="128000"/>
              </a:lnSpc>
            </a:pPr>
            <a:r>
              <a:rPr sz="1100" b="0" i="0">
                <a:solidFill>
                  <a:srgbClr val="E2E8F0"/>
                </a:solidFill>
                <a:latin typeface="Menlo"/>
              </a:rPr>
              <a:t>    net = build_model()      # fresh weights</a:t>
            </a:r>
          </a:p>
          <a:p>
            <a:pPr algn="l">
              <a:lnSpc>
                <a:spcPct val="128000"/>
              </a:lnSpc>
            </a:pPr>
            <a:r>
              <a:rPr sz="1100" b="0" i="0">
                <a:solidFill>
                  <a:srgbClr val="E2E8F0"/>
                </a:solidFill>
                <a:latin typeface="Menlo"/>
              </a:rPr>
              <a:t>    opt = make_opt("adam", net, lr)</a:t>
            </a:r>
          </a:p>
          <a:p>
            <a:pPr algn="l">
              <a:lnSpc>
                <a:spcPct val="128000"/>
              </a:lnSpc>
            </a:pPr>
            <a:r>
              <a:rPr sz="1100" b="0" i="0">
                <a:solidFill>
                  <a:srgbClr val="E2E8F0"/>
                </a:solidFill>
                <a:latin typeface="Menlo"/>
              </a:rPr>
              <a:t>    hist = train(net, opt, epochs=10)</a:t>
            </a:r>
          </a:p>
          <a:p>
            <a:pPr algn="l">
              <a:lnSpc>
                <a:spcPct val="128000"/>
              </a:lnSpc>
            </a:pPr>
            <a:r>
              <a:rPr sz="1100" b="0" i="0">
                <a:solidFill>
                  <a:srgbClr val="E2E8F0"/>
                </a:solidFill>
                <a:latin typeface="Menlo"/>
              </a:rPr>
              <a:t>    log.append({"optim": "adam",</a:t>
            </a:r>
          </a:p>
          <a:p>
            <a:pPr algn="l">
              <a:lnSpc>
                <a:spcPct val="128000"/>
              </a:lnSpc>
            </a:pPr>
            <a:r>
              <a:rPr sz="1100" b="0" i="0">
                <a:solidFill>
                  <a:srgbClr val="E2E8F0"/>
                </a:solidFill>
                <a:latin typeface="Menlo"/>
              </a:rPr>
              <a:t>                "lr": lr,</a:t>
            </a:r>
          </a:p>
          <a:p>
            <a:pPr algn="l">
              <a:lnSpc>
                <a:spcPct val="128000"/>
              </a:lnSpc>
            </a:pPr>
            <a:r>
              <a:rPr sz="1100" b="0" i="0">
                <a:solidFill>
                  <a:srgbClr val="E2E8F0"/>
                </a:solidFill>
                <a:latin typeface="Menlo"/>
              </a:rPr>
              <a:t>                "val_loss": min(hist["val_loss"])})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1e-1 : loss explodes / oscillates</a:t>
            </a:r>
          </a:p>
          <a:p>
            <a:pPr algn="l">
              <a:lnSpc>
                <a:spcPct val="128000"/>
              </a:lnSpc>
            </a:pPr>
            <a:r>
              <a:rPr sz="1100" b="0" i="0">
                <a:solidFill>
                  <a:srgbClr val="E2E8F0"/>
                </a:solidFill>
                <a:latin typeface="Menlo"/>
              </a:rPr>
              <a:t># 1e-3 : converges smoothly - start here</a:t>
            </a:r>
          </a:p>
          <a:p>
            <a:pPr algn="l">
              <a:lnSpc>
                <a:spcPct val="128000"/>
              </a:lnSpc>
            </a:pPr>
            <a:r>
              <a:rPr sz="1100" b="0" i="0">
                <a:solidFill>
                  <a:srgbClr val="E2E8F0"/>
                </a:solidFill>
                <a:latin typeface="Menlo"/>
              </a:rPr>
              <a:t># 1e-5 : still far from converged</a:t>
            </a:r>
          </a:p>
        </p:txBody>
      </p:sp>
      <p:sp>
        <p:nvSpPr>
          <p:cNvPr id="17" name="TextBox 16"/>
          <p:cNvSpPr txBox="1"/>
          <p:nvPr/>
        </p:nvSpPr>
        <p:spPr>
          <a:xfrm>
            <a:off x="799200" y="5490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Discipline for a controlled experiment: rebuild the model every run, or run 2 inherits weights already trained by run 1 and the comparison is void.</a:t>
            </a:r>
          </a:p>
          <a:p>
            <a:pPr algn="l">
              <a:lnSpc>
                <a:spcPct val="105000"/>
              </a:lnSpc>
              <a:spcBef>
                <a:spcPts val="150"/>
              </a:spcBef>
            </a:pPr>
            <a:r>
              <a:rPr sz="940" b="0" i="0">
                <a:solidFill>
                  <a:srgbClr val="6B7280"/>
                </a:solidFill>
                <a:latin typeface="Source Han Sans SC"/>
              </a:rPr>
              <a:t>对照实验的纪律：每次运行都要重新初始化权重，否则第 2 组吃的是第 1 组已经训练过的权重，比较结果无效。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SGD and Adam: Two Personalities</a:t>
            </a:r>
          </a:p>
          <a:p>
            <a:pPr algn="l">
              <a:lnSpc>
                <a:spcPct val="105000"/>
              </a:lnSpc>
              <a:spcBef>
                <a:spcPts val="150"/>
              </a:spcBef>
            </a:pPr>
            <a:r>
              <a:rPr sz="1210" b="0" i="0">
                <a:solidFill>
                  <a:srgbClr val="6B7280"/>
                </a:solidFill>
                <a:latin typeface="Source Han Sans SC"/>
              </a:rPr>
              <a:t>SGD 与 Adam：两种性格</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12 / 31</a:t>
            </a:r>
          </a:p>
        </p:txBody>
      </p:sp>
      <p:sp>
        <p:nvSpPr>
          <p:cNvPr id="9" name="Rectangle 8"/>
          <p:cNvSpPr/>
          <p:nvPr/>
        </p:nvSpPr>
        <p:spPr>
          <a:xfrm>
            <a:off x="799200"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SGD + Momentum</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Each step uses only one batch of gradients</a:t>
            </a:r>
            <a:r>
              <a:rPr sz="900" b="0" i="0">
                <a:solidFill>
                  <a:srgbClr val="6B7280"/>
                </a:solidFill>
                <a:latin typeface="Source Han Sans SC"/>
              </a:rPr>
              <a:t> ｜ </a:t>
            </a:r>
            <a:r>
              <a:rPr sz="900" b="0" i="0">
                <a:solidFill>
                  <a:srgbClr val="6B7280"/>
                </a:solidFill>
                <a:latin typeface="Source Han Sans SC"/>
              </a:rPr>
              <a:t>• 每步只用一个批次的梯度</a:t>
            </a:r>
          </a:p>
          <a:p>
            <a:pPr algn="l">
              <a:lnSpc>
                <a:spcPct val="140000"/>
              </a:lnSpc>
              <a:spcAft>
                <a:spcPts val="800"/>
              </a:spcAft>
            </a:pPr>
            <a:r>
              <a:rPr sz="1150" b="0" i="0">
                <a:solidFill>
                  <a:srgbClr val="1F2937"/>
                </a:solidFill>
                <a:latin typeface="Source Han Sans SC"/>
              </a:rPr>
              <a:t>• Momentum makes the direction steadier and faster</a:t>
            </a:r>
            <a:r>
              <a:rPr sz="900" b="0" i="0">
                <a:solidFill>
                  <a:srgbClr val="6B7280"/>
                </a:solidFill>
                <a:latin typeface="Source Han Sans SC"/>
              </a:rPr>
              <a:t> ｜ </a:t>
            </a:r>
            <a:r>
              <a:rPr sz="900" b="0" i="0">
                <a:solidFill>
                  <a:srgbClr val="6B7280"/>
                </a:solidFill>
                <a:latin typeface="Source Han Sans SC"/>
              </a:rPr>
              <a:t>• 动量让方向更稳、更快</a:t>
            </a:r>
          </a:p>
          <a:p>
            <a:pPr algn="l">
              <a:lnSpc>
                <a:spcPct val="140000"/>
              </a:lnSpc>
              <a:spcAft>
                <a:spcPts val="800"/>
              </a:spcAft>
            </a:pPr>
            <a:r>
              <a:rPr sz="1150" b="0" i="0">
                <a:solidFill>
                  <a:srgbClr val="1F2937"/>
                </a:solidFill>
                <a:latin typeface="Source Han Sans SC"/>
              </a:rPr>
              <a:t>• Very lr-sensitive; 1e-1 simply explodes</a:t>
            </a:r>
            <a:r>
              <a:rPr sz="900" b="0" i="0">
                <a:solidFill>
                  <a:srgbClr val="6B7280"/>
                </a:solidFill>
                <a:latin typeface="Source Han Sans SC"/>
              </a:rPr>
              <a:t> ｜ </a:t>
            </a:r>
            <a:r>
              <a:rPr sz="900" b="0" i="0">
                <a:solidFill>
                  <a:srgbClr val="6B7280"/>
                </a:solidFill>
                <a:latin typeface="Source Han Sans SC"/>
              </a:rPr>
              <a:t>• 对学习率极其敏感，1e-1 直接爆炸</a:t>
            </a:r>
          </a:p>
          <a:p>
            <a:pPr algn="l">
              <a:lnSpc>
                <a:spcPct val="140000"/>
              </a:lnSpc>
              <a:spcAft>
                <a:spcPts val="800"/>
              </a:spcAft>
            </a:pPr>
            <a:r>
              <a:rPr sz="1150" b="0" i="0">
                <a:solidFill>
                  <a:srgbClr val="1F2937"/>
                </a:solidFill>
                <a:latin typeface="Source Han Sans SC"/>
              </a:rPr>
              <a:t>• Usually generalises a little better, at a tuning cost</a:t>
            </a:r>
            <a:r>
              <a:rPr sz="900" b="0" i="0">
                <a:solidFill>
                  <a:srgbClr val="6B7280"/>
                </a:solidFill>
                <a:latin typeface="Source Han Sans SC"/>
              </a:rPr>
              <a:t> ｜ </a:t>
            </a:r>
            <a:r>
              <a:rPr sz="900" b="0" i="0">
                <a:solidFill>
                  <a:srgbClr val="6B7280"/>
                </a:solidFill>
                <a:latin typeface="Source Han Sans SC"/>
              </a:rPr>
              <a:t>• 最终泛化常略好，但需要调参功夫</a:t>
            </a:r>
          </a:p>
          <a:p>
            <a:pPr algn="l">
              <a:lnSpc>
                <a:spcPct val="140000"/>
              </a:lnSpc>
              <a:spcAft>
                <a:spcPts val="800"/>
              </a:spcAft>
            </a:pPr>
            <a:r>
              <a:rPr sz="1150" b="0" i="0">
                <a:solidFill>
                  <a:srgbClr val="1F2937"/>
                </a:solidFill>
                <a:latin typeface="Source Han Sans SC"/>
              </a:rPr>
              <a:t>• The classic default in computer vision</a:t>
            </a:r>
            <a:r>
              <a:rPr sz="900" b="0" i="0">
                <a:solidFill>
                  <a:srgbClr val="6B7280"/>
                </a:solidFill>
                <a:latin typeface="Source Han Sans SC"/>
              </a:rPr>
              <a:t> ｜ </a:t>
            </a:r>
            <a:r>
              <a:rPr sz="900" b="0" i="0">
                <a:solidFill>
                  <a:srgbClr val="6B7280"/>
                </a:solidFill>
                <a:latin typeface="Source Han Sans SC"/>
              </a:rPr>
              <a:t>• 计算机视觉里的经典默认</a:t>
            </a:r>
          </a:p>
        </p:txBody>
      </p:sp>
      <p:sp>
        <p:nvSpPr>
          <p:cNvPr id="13" name="Rectangle 12"/>
          <p:cNvSpPr/>
          <p:nvPr/>
        </p:nvSpPr>
        <p:spPr>
          <a:xfrm>
            <a:off x="6249059" y="1170000"/>
            <a:ext cx="5143859" cy="41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Adam</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Every parameter gets an adaptive step size</a:t>
            </a:r>
            <a:r>
              <a:rPr sz="900" b="0" i="0">
                <a:solidFill>
                  <a:srgbClr val="6B7280"/>
                </a:solidFill>
                <a:latin typeface="Source Han Sans SC"/>
              </a:rPr>
              <a:t> ｜ </a:t>
            </a:r>
            <a:r>
              <a:rPr sz="900" b="0" i="0">
                <a:solidFill>
                  <a:srgbClr val="6B7280"/>
                </a:solidFill>
                <a:latin typeface="Source Han Sans SC"/>
              </a:rPr>
              <a:t>• 每个参数一个自适应步长</a:t>
            </a:r>
          </a:p>
          <a:p>
            <a:pPr algn="l">
              <a:lnSpc>
                <a:spcPct val="140000"/>
              </a:lnSpc>
              <a:spcAft>
                <a:spcPts val="800"/>
              </a:spcAft>
            </a:pPr>
            <a:r>
              <a:rPr sz="1150" b="0" i="0">
                <a:solidFill>
                  <a:srgbClr val="1F2937"/>
                </a:solidFill>
                <a:latin typeface="Source Han Sans SC"/>
              </a:rPr>
              <a:t>• More forgiving; 1e-3 usually runs</a:t>
            </a:r>
            <a:r>
              <a:rPr sz="900" b="0" i="0">
                <a:solidFill>
                  <a:srgbClr val="6B7280"/>
                </a:solidFill>
                <a:latin typeface="Source Han Sans SC"/>
              </a:rPr>
              <a:t> ｜ </a:t>
            </a:r>
            <a:r>
              <a:rPr sz="900" b="0" i="0">
                <a:solidFill>
                  <a:srgbClr val="6B7280"/>
                </a:solidFill>
                <a:latin typeface="Source Han Sans SC"/>
              </a:rPr>
              <a:t>• 对学习率更宽容，1e-3 通常能跑</a:t>
            </a:r>
          </a:p>
          <a:p>
            <a:pPr algn="l">
              <a:lnSpc>
                <a:spcPct val="140000"/>
              </a:lnSpc>
              <a:spcAft>
                <a:spcPts val="800"/>
              </a:spcAft>
            </a:pPr>
            <a:r>
              <a:rPr sz="1150" b="0" i="0">
                <a:solidFill>
                  <a:srgbClr val="1F2937"/>
                </a:solidFill>
                <a:latin typeface="Source Han Sans SC"/>
              </a:rPr>
              <a:t>• Converges fast early — good for a quick baseline</a:t>
            </a:r>
            <a:r>
              <a:rPr sz="900" b="0" i="0">
                <a:solidFill>
                  <a:srgbClr val="6B7280"/>
                </a:solidFill>
                <a:latin typeface="Source Han Sans SC"/>
              </a:rPr>
              <a:t> ｜ </a:t>
            </a:r>
            <a:r>
              <a:rPr sz="900" b="0" i="0">
                <a:solidFill>
                  <a:srgbClr val="6B7280"/>
                </a:solidFill>
                <a:latin typeface="Source Han Sans SC"/>
              </a:rPr>
              <a:t>• 前期收敛快，适合快速拿到基线</a:t>
            </a:r>
          </a:p>
          <a:p>
            <a:pPr algn="l">
              <a:lnSpc>
                <a:spcPct val="140000"/>
              </a:lnSpc>
              <a:spcAft>
                <a:spcPts val="800"/>
              </a:spcAft>
            </a:pPr>
            <a:r>
              <a:rPr sz="1150" b="0" i="0">
                <a:solidFill>
                  <a:srgbClr val="1F2937"/>
                </a:solidFill>
                <a:latin typeface="Source Han Sans SC"/>
              </a:rPr>
              <a:t>• Two extra state buffers, so more VRAM</a:t>
            </a:r>
            <a:r>
              <a:rPr sz="900" b="0" i="0">
                <a:solidFill>
                  <a:srgbClr val="6B7280"/>
                </a:solidFill>
                <a:latin typeface="Source Han Sans SC"/>
              </a:rPr>
              <a:t> ｜ </a:t>
            </a:r>
            <a:r>
              <a:rPr sz="900" b="0" i="0">
                <a:solidFill>
                  <a:srgbClr val="6B7280"/>
                </a:solidFill>
                <a:latin typeface="Source Han Sans SC"/>
              </a:rPr>
              <a:t>• 多存两份状态，显存占用更高</a:t>
            </a:r>
          </a:p>
          <a:p>
            <a:pPr algn="l">
              <a:lnSpc>
                <a:spcPct val="140000"/>
              </a:lnSpc>
              <a:spcAft>
                <a:spcPts val="800"/>
              </a:spcAft>
            </a:pPr>
            <a:r>
              <a:rPr sz="1150" b="0" i="0">
                <a:solidFill>
                  <a:srgbClr val="1F2937"/>
                </a:solidFill>
                <a:latin typeface="Source Han Sans SC"/>
              </a:rPr>
              <a:t>• First choice for Transformer-style models</a:t>
            </a:r>
            <a:r>
              <a:rPr sz="900" b="0" i="0">
                <a:solidFill>
                  <a:srgbClr val="6B7280"/>
                </a:solidFill>
                <a:latin typeface="Source Han Sans SC"/>
              </a:rPr>
              <a:t> ｜ </a:t>
            </a:r>
            <a:r>
              <a:rPr sz="900" b="0" i="0">
                <a:solidFill>
                  <a:srgbClr val="6B7280"/>
                </a:solidFill>
                <a:latin typeface="Source Han Sans SC"/>
              </a:rPr>
              <a:t>• Transformer 类模型的首选</a:t>
            </a:r>
          </a:p>
        </p:txBody>
      </p:sp>
      <p:sp>
        <p:nvSpPr>
          <p:cNvPr id="17" name="TextBox 16"/>
          <p:cNvSpPr txBox="1"/>
          <p:nvPr/>
        </p:nvSpPr>
        <p:spPr>
          <a:xfrm>
            <a:off x="799200" y="5436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Strategy: get a working baseline with Adam(lr=1e-3) first, then refine with SGD+momentum. But the verdict on which is better must come from your own experiment, not from this slide.</a:t>
            </a:r>
          </a:p>
          <a:p>
            <a:pPr algn="l">
              <a:lnSpc>
                <a:spcPct val="105000"/>
              </a:lnSpc>
              <a:spcBef>
                <a:spcPts val="150"/>
              </a:spcBef>
            </a:pPr>
            <a:r>
              <a:rPr sz="980" b="0" i="0">
                <a:solidFill>
                  <a:srgbClr val="6B7280"/>
                </a:solidFill>
                <a:latin typeface="Source Han Sans SC"/>
              </a:rPr>
              <a:t>选择策略：先用 Adam(lr=1e-3) 拿到一个能跑通的基线，再用 SGD+momentum 精调。但「哪个更好」这个结论，必须来自你自己跑出来的对照实验，而不是这一页。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One Loss Surface, Two Walks: SGD and Adam</a:t>
            </a:r>
          </a:p>
          <a:p>
            <a:pPr algn="l">
              <a:lnSpc>
                <a:spcPct val="105000"/>
              </a:lnSpc>
              <a:spcBef>
                <a:spcPts val="150"/>
              </a:spcBef>
            </a:pPr>
            <a:r>
              <a:rPr sz="1210" b="0" i="0">
                <a:solidFill>
                  <a:srgbClr val="6B7280"/>
                </a:solidFill>
                <a:latin typeface="Source Han Sans SC"/>
              </a:rPr>
              <a:t>同一片损失地形上，SGD 与 Adam 走出的两条路</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Same start, same surface, each at the learning rate it can survive</a:t>
            </a:r>
          </a:p>
          <a:p>
            <a:pPr algn="l">
              <a:lnSpc>
                <a:spcPct val="105000"/>
              </a:lnSpc>
              <a:spcBef>
                <a:spcPts val="150"/>
              </a:spcBef>
            </a:pPr>
            <a:r>
              <a:rPr sz="800" b="0" i="0">
                <a:solidFill>
                  <a:srgbClr val="6B7280"/>
                </a:solidFill>
                <a:latin typeface="Source Han Sans SC"/>
              </a:rPr>
              <a:t>同一起点、同一片地形，各自用自己扫描出的学习率上限</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13 / 31</a:t>
            </a:r>
          </a:p>
        </p:txBody>
      </p:sp>
      <p:sp>
        <p:nvSpPr>
          <p:cNvPr id="10" name="Rounded Rectangle 9"/>
          <p:cNvSpPr/>
          <p:nvPr/>
        </p:nvSpPr>
        <p:spPr>
          <a:xfrm>
            <a:off x="799200" y="1512000"/>
            <a:ext cx="7056000" cy="2870947"/>
          </a:xfrm>
          <a:prstGeom prst="roundRect">
            <a:avLst>
              <a:gd name="adj" fmla="val 35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3251875" y="2608224"/>
            <a:ext cx="1659740" cy="566898"/>
          </a:xfrm>
          <a:prstGeom prst="ellipse">
            <a:avLst/>
          </a:prstGeom>
          <a:noFill/>
          <a:ln w="1397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2422005" y="2324774"/>
            <a:ext cx="3319480" cy="1133797"/>
          </a:xfrm>
          <a:prstGeom prst="ellipse">
            <a:avLst/>
          </a:prstGeom>
          <a:noFill/>
          <a:ln w="1397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592135" y="2041325"/>
            <a:ext cx="4979220" cy="1700696"/>
          </a:xfrm>
          <a:prstGeom prst="ellipse">
            <a:avLst/>
          </a:prstGeom>
          <a:noFill/>
          <a:ln w="1397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4" name="Connector 13"/>
          <p:cNvCxnSpPr/>
          <p:nvPr/>
        </p:nvCxnSpPr>
        <p:spPr>
          <a:xfrm>
            <a:off x="1177200" y="2891673"/>
            <a:ext cx="6390000" cy="0"/>
          </a:xfrm>
          <a:prstGeom prst="line">
            <a:avLst/>
          </a:prstGeom>
          <a:ln w="1143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081745" y="1735200"/>
            <a:ext cx="0" cy="2312947"/>
          </a:xfrm>
          <a:prstGeom prst="line">
            <a:avLst/>
          </a:prstGeom>
          <a:ln w="1143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27745" y="2837673"/>
            <a:ext cx="108000" cy="1080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66000" y="2790873"/>
            <a:ext cx="486000" cy="198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w2</a:t>
            </a:r>
          </a:p>
        </p:txBody>
      </p:sp>
      <p:sp>
        <p:nvSpPr>
          <p:cNvPr id="18" name="TextBox 17"/>
          <p:cNvSpPr txBox="1"/>
          <p:nvPr/>
        </p:nvSpPr>
        <p:spPr>
          <a:xfrm>
            <a:off x="6847200" y="4098547"/>
            <a:ext cx="75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w1</a:t>
            </a:r>
          </a:p>
        </p:txBody>
      </p:sp>
      <p:sp>
        <p:nvSpPr>
          <p:cNvPr id="19" name="Freeform 18"/>
          <p:cNvSpPr/>
          <p:nvPr/>
        </p:nvSpPr>
        <p:spPr>
          <a:xfrm>
            <a:off x="4003979" y="2075339"/>
            <a:ext cx="3231272" cy="1320843"/>
          </a:xfrm>
          <a:custGeom>
            <a:avLst/>
            <a:gdLst/>
            <a:ahLst/>
            <a:cxnLst/>
            <a:rect l="l" t="t" r="r" b="b"/>
            <a:pathLst>
              <a:path w="3231272" h="1320843">
                <a:moveTo>
                  <a:pt x="3231272" y="0"/>
                </a:moveTo>
                <a:lnTo>
                  <a:pt x="2998909" y="476195"/>
                </a:lnTo>
                <a:lnTo>
                  <a:pt x="2767178" y="907055"/>
                </a:lnTo>
                <a:lnTo>
                  <a:pt x="2536581" y="1207298"/>
                </a:lnTo>
                <a:lnTo>
                  <a:pt x="2307684" y="1320843"/>
                </a:lnTo>
                <a:lnTo>
                  <a:pt x="2081127" y="1286072"/>
                </a:lnTo>
                <a:lnTo>
                  <a:pt x="1857626" y="1160324"/>
                </a:lnTo>
                <a:lnTo>
                  <a:pt x="1637979" y="987798"/>
                </a:lnTo>
                <a:lnTo>
                  <a:pt x="1423064" y="804726"/>
                </a:lnTo>
                <a:lnTo>
                  <a:pt x="1213840" y="644378"/>
                </a:lnTo>
                <a:lnTo>
                  <a:pt x="1011338" y="534116"/>
                </a:lnTo>
                <a:lnTo>
                  <a:pt x="816653" y="487934"/>
                </a:lnTo>
                <a:lnTo>
                  <a:pt x="630918" y="504291"/>
                </a:lnTo>
                <a:lnTo>
                  <a:pt x="455285" y="571088"/>
                </a:lnTo>
                <a:lnTo>
                  <a:pt x="290886" y="671203"/>
                </a:lnTo>
                <a:lnTo>
                  <a:pt x="138799" y="785412"/>
                </a:lnTo>
                <a:lnTo>
                  <a:pt x="0" y="894057"/>
                </a:lnTo>
              </a:path>
            </a:pathLst>
          </a:cu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003979" y="2075339"/>
            <a:ext cx="3231272" cy="1320843"/>
          </a:xfrm>
          <a:custGeom>
            <a:avLst/>
            <a:gdLst/>
            <a:ahLst/>
            <a:cxnLst/>
            <a:rect l="l" t="t" r="r" b="b"/>
            <a:pathLst>
              <a:path w="3231272" h="1320843">
                <a:moveTo>
                  <a:pt x="3231272" y="0"/>
                </a:moveTo>
                <a:lnTo>
                  <a:pt x="2998909" y="476195"/>
                </a:lnTo>
                <a:lnTo>
                  <a:pt x="2767178" y="907055"/>
                </a:lnTo>
                <a:lnTo>
                  <a:pt x="2536581" y="1207298"/>
                </a:lnTo>
                <a:lnTo>
                  <a:pt x="2307684" y="1320843"/>
                </a:lnTo>
                <a:lnTo>
                  <a:pt x="2081127" y="1286072"/>
                </a:lnTo>
                <a:lnTo>
                  <a:pt x="1857626" y="1160324"/>
                </a:lnTo>
                <a:lnTo>
                  <a:pt x="1637979" y="987798"/>
                </a:lnTo>
                <a:lnTo>
                  <a:pt x="1423064" y="804726"/>
                </a:lnTo>
                <a:lnTo>
                  <a:pt x="1213840" y="644378"/>
                </a:lnTo>
                <a:lnTo>
                  <a:pt x="1011338" y="534116"/>
                </a:lnTo>
                <a:lnTo>
                  <a:pt x="816653" y="487934"/>
                </a:lnTo>
                <a:lnTo>
                  <a:pt x="630918" y="504291"/>
                </a:lnTo>
                <a:lnTo>
                  <a:pt x="455285" y="571088"/>
                </a:lnTo>
                <a:lnTo>
                  <a:pt x="290886" y="671203"/>
                </a:lnTo>
                <a:lnTo>
                  <a:pt x="138799" y="785412"/>
                </a:lnTo>
                <a:lnTo>
                  <a:pt x="0" y="894057"/>
                </a:lnTo>
              </a:path>
            </a:pathLst>
          </a:custGeom>
          <a:noFill/>
          <a:ln w="2794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66888" y="2515534"/>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735157" y="2946394"/>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504560" y="3246637"/>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275663" y="3360182"/>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049106" y="3325411"/>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825605" y="3199663"/>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605958" y="3027137"/>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391043" y="2844065"/>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5181819" y="2683717"/>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979317" y="2573455"/>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784632" y="2527273"/>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4598897" y="2543630"/>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4423264" y="2610427"/>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4258865" y="2710542"/>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4106778" y="2824751"/>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Isosceles Triangle 35"/>
          <p:cNvSpPr/>
          <p:nvPr/>
        </p:nvSpPr>
        <p:spPr>
          <a:xfrm rot="16200000">
            <a:off x="3931979" y="2897396"/>
            <a:ext cx="144000" cy="144000"/>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reeform 36"/>
          <p:cNvSpPr/>
          <p:nvPr/>
        </p:nvSpPr>
        <p:spPr>
          <a:xfrm>
            <a:off x="5616786" y="2075339"/>
            <a:ext cx="1618465" cy="1293074"/>
          </a:xfrm>
          <a:custGeom>
            <a:avLst/>
            <a:gdLst/>
            <a:ahLst/>
            <a:cxnLst/>
            <a:rect l="l" t="t" r="r" b="b"/>
            <a:pathLst>
              <a:path w="1618465" h="1293074">
                <a:moveTo>
                  <a:pt x="1618465" y="0"/>
                </a:moveTo>
                <a:lnTo>
                  <a:pt x="1479711" y="1293074"/>
                </a:lnTo>
                <a:lnTo>
                  <a:pt x="1347062" y="537919"/>
                </a:lnTo>
                <a:lnTo>
                  <a:pt x="1220250" y="978929"/>
                </a:lnTo>
                <a:lnTo>
                  <a:pt x="1099017" y="721379"/>
                </a:lnTo>
                <a:lnTo>
                  <a:pt x="983118" y="871788"/>
                </a:lnTo>
                <a:lnTo>
                  <a:pt x="872319" y="783949"/>
                </a:lnTo>
                <a:lnTo>
                  <a:pt x="766395" y="835247"/>
                </a:lnTo>
                <a:lnTo>
                  <a:pt x="665132" y="805289"/>
                </a:lnTo>
                <a:lnTo>
                  <a:pt x="568325" y="822785"/>
                </a:lnTo>
                <a:lnTo>
                  <a:pt x="475776" y="812567"/>
                </a:lnTo>
                <a:lnTo>
                  <a:pt x="387300" y="818534"/>
                </a:lnTo>
                <a:lnTo>
                  <a:pt x="302717" y="815050"/>
                </a:lnTo>
                <a:lnTo>
                  <a:pt x="221856" y="817085"/>
                </a:lnTo>
                <a:lnTo>
                  <a:pt x="144553" y="815896"/>
                </a:lnTo>
                <a:lnTo>
                  <a:pt x="70650" y="816590"/>
                </a:lnTo>
                <a:lnTo>
                  <a:pt x="0" y="816185"/>
                </a:lnTo>
              </a:path>
            </a:pathLst>
          </a:cu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616786" y="2075339"/>
            <a:ext cx="1618465" cy="1293074"/>
          </a:xfrm>
          <a:custGeom>
            <a:avLst/>
            <a:gdLst/>
            <a:ahLst/>
            <a:cxnLst/>
            <a:rect l="l" t="t" r="r" b="b"/>
            <a:pathLst>
              <a:path w="1618465" h="1293074">
                <a:moveTo>
                  <a:pt x="1618465" y="0"/>
                </a:moveTo>
                <a:lnTo>
                  <a:pt x="1479711" y="1293074"/>
                </a:lnTo>
                <a:lnTo>
                  <a:pt x="1347062" y="537919"/>
                </a:lnTo>
                <a:lnTo>
                  <a:pt x="1220250" y="978929"/>
                </a:lnTo>
                <a:lnTo>
                  <a:pt x="1099017" y="721379"/>
                </a:lnTo>
                <a:lnTo>
                  <a:pt x="983118" y="871788"/>
                </a:lnTo>
                <a:lnTo>
                  <a:pt x="872319" y="783949"/>
                </a:lnTo>
                <a:lnTo>
                  <a:pt x="766395" y="835247"/>
                </a:lnTo>
                <a:lnTo>
                  <a:pt x="665132" y="805289"/>
                </a:lnTo>
                <a:lnTo>
                  <a:pt x="568325" y="822785"/>
                </a:lnTo>
                <a:lnTo>
                  <a:pt x="475776" y="812567"/>
                </a:lnTo>
                <a:lnTo>
                  <a:pt x="387300" y="818534"/>
                </a:lnTo>
                <a:lnTo>
                  <a:pt x="302717" y="815050"/>
                </a:lnTo>
                <a:lnTo>
                  <a:pt x="221856" y="817085"/>
                </a:lnTo>
                <a:lnTo>
                  <a:pt x="144553" y="815896"/>
                </a:lnTo>
                <a:lnTo>
                  <a:pt x="70650" y="816590"/>
                </a:lnTo>
                <a:lnTo>
                  <a:pt x="0" y="816185"/>
                </a:lnTo>
              </a:path>
            </a:pathLst>
          </a:custGeom>
          <a:noFill/>
          <a:ln w="279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060497" y="3332413"/>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927848" y="257725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801036" y="301826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679803" y="276071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6563904" y="2911127"/>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6453105" y="282328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6347181" y="2874586"/>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6245918" y="284462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6149111" y="2862124"/>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6056562" y="2851906"/>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5968086" y="2857873"/>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5883503" y="2854389"/>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5802642" y="2856424"/>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5725339" y="2855235"/>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5651436" y="2855929"/>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Isosceles Triangle 53"/>
          <p:cNvSpPr/>
          <p:nvPr/>
        </p:nvSpPr>
        <p:spPr>
          <a:xfrm rot="16200000">
            <a:off x="5544786" y="2819524"/>
            <a:ext cx="144000" cy="144000"/>
          </a:xfrm>
          <a:prstGeom prst="triangl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7145251" y="1985339"/>
            <a:ext cx="180000" cy="180000"/>
          </a:xfrm>
          <a:prstGeom prst="ellipse">
            <a:avLst/>
          </a:prstGeom>
          <a:noFill/>
          <a:ln w="222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7181251" y="2021339"/>
            <a:ext cx="108000" cy="1080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731251" y="1744139"/>
            <a:ext cx="1007999" cy="180000"/>
          </a:xfrm>
          <a:prstGeom prst="rect">
            <a:avLst/>
          </a:prstGeom>
          <a:noFill/>
        </p:spPr>
        <p:txBody>
          <a:bodyPr wrap="square" anchor="t" lIns="0" rIns="0" tIns="0" bIns="0">
            <a:spAutoFit/>
          </a:bodyPr>
          <a:lstStyle/>
          <a:p>
            <a:pPr algn="l">
              <a:lnSpc>
                <a:spcPct val="125000"/>
              </a:lnSpc>
            </a:pPr>
            <a:r>
              <a:rPr sz="1050" b="0" i="0">
                <a:solidFill>
                  <a:srgbClr val="0E3F8C"/>
                </a:solidFill>
                <a:latin typeface="Source Han Sans SC"/>
              </a:rPr>
              <a:t>start (1.90, 0.24)</a:t>
            </a:r>
          </a:p>
        </p:txBody>
      </p:sp>
      <p:sp>
        <p:nvSpPr>
          <p:cNvPr id="58" name="Rounded Rectangle 57"/>
          <p:cNvSpPr/>
          <p:nvPr/>
        </p:nvSpPr>
        <p:spPr>
          <a:xfrm>
            <a:off x="8143200" y="1512000"/>
            <a:ext cx="3249719" cy="1412173"/>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143200" y="1512000"/>
            <a:ext cx="50400" cy="1412173"/>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8316000" y="1627200"/>
            <a:ext cx="2907719" cy="365174"/>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SGD</a:t>
            </a:r>
          </a:p>
        </p:txBody>
      </p:sp>
      <p:sp>
        <p:nvSpPr>
          <p:cNvPr id="61" name="TextBox 60"/>
          <p:cNvSpPr txBox="1"/>
          <p:nvPr/>
        </p:nvSpPr>
        <p:spPr>
          <a:xfrm>
            <a:off x="8316000" y="1934774"/>
            <a:ext cx="2907719" cy="1054198"/>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lr = 0.022, a sixth of Adam's · w2 flips sign on all 16 of its 16 steps</a:t>
            </a:r>
            <a:r>
              <a:rPr sz="860" b="0" i="0">
                <a:solidFill>
                  <a:srgbClr val="6B7280"/>
                </a:solidFill>
                <a:latin typeface="Source Han Sans SC"/>
              </a:rPr>
              <a:t> ｜ </a:t>
            </a:r>
            <a:r>
              <a:rPr sz="860" b="0" i="0">
                <a:solidFill>
                  <a:srgbClr val="6B7280"/>
                </a:solidFill>
                <a:latin typeface="Source Han Sans SC"/>
              </a:rPr>
              <a:t>lr = 0.022，只有 Adam 的 1/6 · w2 每一步都变号，16 步里变了 16 次</a:t>
            </a:r>
          </a:p>
        </p:txBody>
      </p:sp>
      <p:sp>
        <p:nvSpPr>
          <p:cNvPr id="62" name="Rounded Rectangle 61"/>
          <p:cNvSpPr/>
          <p:nvPr/>
        </p:nvSpPr>
        <p:spPr>
          <a:xfrm>
            <a:off x="8143200" y="3046573"/>
            <a:ext cx="3249719" cy="1202623"/>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8143200" y="3046573"/>
            <a:ext cx="50400" cy="1202623"/>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316000" y="3161773"/>
            <a:ext cx="2907719" cy="365174"/>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Adam</a:t>
            </a:r>
          </a:p>
        </p:txBody>
      </p:sp>
      <p:sp>
        <p:nvSpPr>
          <p:cNvPr id="65" name="TextBox 64"/>
          <p:cNvSpPr txBox="1"/>
          <p:nvPr/>
        </p:nvSpPr>
        <p:spPr>
          <a:xfrm>
            <a:off x="8316000" y="3469347"/>
            <a:ext cx="2907719" cy="844649"/>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lr = 0.14 · w2 flips just 3 times, settles, and ends at the bottom</a:t>
            </a:r>
            <a:r>
              <a:rPr sz="860" b="0" i="0">
                <a:solidFill>
                  <a:srgbClr val="6B7280"/>
                </a:solidFill>
                <a:latin typeface="Source Han Sans SC"/>
              </a:rPr>
              <a:t> ｜ </a:t>
            </a:r>
            <a:r>
              <a:rPr sz="860" b="0" i="0">
                <a:solidFill>
                  <a:srgbClr val="6B7280"/>
                </a:solidFill>
                <a:latin typeface="Source Han Sans SC"/>
              </a:rPr>
              <a:t>lr = 0.14 · w2 只变号 3 次就沉下去，16 步后基本贴到谷底</a:t>
            </a:r>
          </a:p>
        </p:txBody>
      </p:sp>
      <p:sp>
        <p:nvSpPr>
          <p:cNvPr id="66" name="TextBox 65"/>
          <p:cNvSpPr txBox="1"/>
          <p:nvPr/>
        </p:nvSpPr>
        <p:spPr>
          <a:xfrm>
            <a:off x="799200" y="5218147"/>
            <a:ext cx="10593719" cy="648000"/>
          </a:xfrm>
          <a:prstGeom prst="rect">
            <a:avLst/>
          </a:prstGeom>
          <a:noFill/>
        </p:spPr>
        <p:txBody>
          <a:bodyPr wrap="square" anchor="t" lIns="0" rIns="0" tIns="0" bIns="0">
            <a:spAutoFit/>
          </a:bodyPr>
          <a:lstStyle/>
          <a:p>
            <a:pPr algn="l">
              <a:lnSpc>
                <a:spcPct val="135000"/>
              </a:lnSpc>
            </a:pPr>
            <a:r>
              <a:rPr sz="1200" b="0" i="0">
                <a:solidFill>
                  <a:srgbClr val="6B7280"/>
                </a:solidFill>
                <a:latin typeface="Source Han Sans SC"/>
              </a:rPr>
              <a:t>Loss f(w1, w2) = w1^2 + 36w2^2, a narrow roughly 1:6 valley. Each rate is that optimizer's own swept ceiling: past 0.028 SGD is thrown off the steep wall, so it is pinned at 0.022 and can barely crawl along the floor. "More forgiving of the learning rate" is visible here.</a:t>
            </a:r>
          </a:p>
          <a:p>
            <a:pPr algn="l">
              <a:lnSpc>
                <a:spcPct val="105000"/>
              </a:lnSpc>
              <a:spcBef>
                <a:spcPts val="150"/>
              </a:spcBef>
            </a:pPr>
            <a:r>
              <a:rPr sz="940" b="0" i="0">
                <a:solidFill>
                  <a:srgbClr val="6B7280"/>
                </a:solidFill>
                <a:latin typeface="Source Han Sans SC"/>
              </a:rPr>
              <a:t>损失 f(w1, w2) = w1² + 36w2²，等高线是一条约 1:6 的窄谷。两个学习率都是各自扫描出来的上限：SGD 一超过 0.028 就被陡壁弹飞，只能压到 0.022，代价是沿谷底几乎走不动——「对学习率更宽容」在这里是看得见的。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03</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03</a:t>
            </a:r>
          </a:p>
        </p:txBody>
      </p:sp>
      <p:sp>
        <p:nvSpPr>
          <p:cNvPr id="7" name="TextBox 6"/>
          <p:cNvSpPr txBox="1"/>
          <p:nvPr/>
        </p:nvSpPr>
        <p:spPr>
          <a:xfrm>
            <a:off x="2379600" y="1105200"/>
            <a:ext cx="5040000" cy="1624377"/>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Learning Rate: The First Hyper-parameter</a:t>
            </a:r>
          </a:p>
          <a:p>
            <a:pPr algn="l">
              <a:lnSpc>
                <a:spcPct val="105000"/>
              </a:lnSpc>
              <a:spcBef>
                <a:spcPts val="150"/>
              </a:spcBef>
            </a:pPr>
            <a:r>
              <a:rPr sz="2340" b="0" i="0">
                <a:solidFill>
                  <a:srgbClr val="6B7280"/>
                </a:solidFill>
                <a:latin typeface="Source Han Sans SC"/>
              </a:rPr>
              <a:t>学习率：最重要的超参数</a:t>
            </a:r>
          </a:p>
        </p:txBody>
      </p:sp>
      <p:sp>
        <p:nvSpPr>
          <p:cNvPr id="8" name="TextBox 7"/>
          <p:cNvSpPr txBox="1"/>
          <p:nvPr/>
        </p:nvSpPr>
        <p:spPr>
          <a:xfrm>
            <a:off x="799200" y="2801577"/>
            <a:ext cx="8640000" cy="163751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The learning rate is how far each step goes. Too large and the loss explodes; too small and training looks like it is learning nothing.</a:t>
            </a:r>
          </a:p>
          <a:p>
            <a:pPr algn="l">
              <a:lnSpc>
                <a:spcPct val="150000"/>
              </a:lnSpc>
            </a:pPr>
            <a:r>
              <a:rPr sz="1500" b="0" i="0">
                <a:solidFill>
                  <a:srgbClr val="1F2937"/>
                </a:solidFill>
                <a:latin typeface="Source Han Sans SC"/>
              </a:rPr>
              <a:t>When a loss looks wrong, this is the first thing to inspect.</a:t>
            </a:r>
          </a:p>
          <a:p>
            <a:pPr algn="l">
              <a:lnSpc>
                <a:spcPct val="105000"/>
              </a:lnSpc>
              <a:spcBef>
                <a:spcPts val="150"/>
              </a:spcBef>
            </a:pPr>
            <a:r>
              <a:rPr sz="1170" b="0" i="0">
                <a:solidFill>
                  <a:srgbClr val="6B7280"/>
                </a:solidFill>
                <a:latin typeface="Source Han Sans SC"/>
              </a:rPr>
              <a:t>学习率决定每一步走多远。它大到一定程度会让损失爆炸，小到一定程度会让训练看起来「没在学」。</a:t>
            </a:r>
          </a:p>
          <a:p>
            <a:pPr algn="l">
              <a:lnSpc>
                <a:spcPct val="105000"/>
              </a:lnSpc>
              <a:spcBef>
                <a:spcPts val="150"/>
              </a:spcBef>
            </a:pPr>
            <a:r>
              <a:rPr sz="1170" b="0" i="0">
                <a:solidFill>
                  <a:srgbClr val="6B7280"/>
                </a:solidFill>
                <a:latin typeface="Source Han Sans SC"/>
              </a:rPr>
              <a:t>看到异常损失，第一个要查的就是它。</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Too Large</a:t>
            </a:r>
            <a:r>
              <a:rPr sz="1010" b="0" i="0">
                <a:solidFill>
                  <a:srgbClr val="6B7280"/>
                </a:solidFill>
                <a:latin typeface="Source Han Sans SC"/>
              </a:rPr>
              <a:t> ｜ </a:t>
            </a:r>
            <a:r>
              <a:rPr sz="1010" b="0" i="0">
                <a:solidFill>
                  <a:srgbClr val="6B7280"/>
                </a:solidFill>
                <a:latin typeface="Source Han Sans SC"/>
              </a:rPr>
              <a:t>过大</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Oscillation, explosion, nan</a:t>
            </a:r>
          </a:p>
          <a:p>
            <a:pPr algn="l">
              <a:lnSpc>
                <a:spcPct val="105000"/>
              </a:lnSpc>
              <a:spcBef>
                <a:spcPts val="150"/>
              </a:spcBef>
            </a:pPr>
            <a:r>
              <a:rPr sz="800" b="0" i="0">
                <a:solidFill>
                  <a:srgbClr val="6B7280"/>
                </a:solidFill>
                <a:latin typeface="Source Han Sans SC"/>
              </a:rPr>
              <a:t>震荡、爆炸、出现 nan</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Too Small</a:t>
            </a:r>
            <a:r>
              <a:rPr sz="1010" b="0" i="0">
                <a:solidFill>
                  <a:srgbClr val="6B7280"/>
                </a:solidFill>
                <a:latin typeface="Source Han Sans SC"/>
              </a:rPr>
              <a:t> ｜ </a:t>
            </a:r>
            <a:r>
              <a:rPr sz="1010" b="0" i="0">
                <a:solidFill>
                  <a:srgbClr val="6B7280"/>
                </a:solidFill>
                <a:latin typeface="Source Han Sans SC"/>
              </a:rPr>
              <a:t>过小</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The loss barely moves</a:t>
            </a:r>
          </a:p>
          <a:p>
            <a:pPr algn="l">
              <a:lnSpc>
                <a:spcPct val="105000"/>
              </a:lnSpc>
              <a:spcBef>
                <a:spcPts val="150"/>
              </a:spcBef>
            </a:pPr>
            <a:r>
              <a:rPr sz="800" b="0" i="0">
                <a:solidFill>
                  <a:srgbClr val="6B7280"/>
                </a:solidFill>
                <a:latin typeface="Source Han Sans SC"/>
              </a:rPr>
              <a:t>损失几乎不动</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Check It First</a:t>
            </a:r>
            <a:r>
              <a:rPr sz="1010" b="0" i="0">
                <a:solidFill>
                  <a:srgbClr val="6B7280"/>
                </a:solidFill>
                <a:latin typeface="Source Han Sans SC"/>
              </a:rPr>
              <a:t> ｜ </a:t>
            </a:r>
            <a:r>
              <a:rPr sz="1010" b="0" i="0">
                <a:solidFill>
                  <a:srgbClr val="6B7280"/>
                </a:solidFill>
                <a:latin typeface="Source Han Sans SC"/>
              </a:rPr>
              <a:t>先查它</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Prime suspect for a broken loss</a:t>
            </a:r>
          </a:p>
          <a:p>
            <a:pPr algn="l">
              <a:lnSpc>
                <a:spcPct val="105000"/>
              </a:lnSpc>
              <a:spcBef>
                <a:spcPts val="150"/>
              </a:spcBef>
            </a:pPr>
            <a:r>
              <a:rPr sz="800" b="0" i="0">
                <a:solidFill>
                  <a:srgbClr val="6B7280"/>
                </a:solidFill>
                <a:latin typeface="Source Han Sans SC"/>
              </a:rPr>
              <a:t>异常损失的第一嫌疑</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Learning Rate: Symptoms and Schedules</a:t>
            </a:r>
          </a:p>
          <a:p>
            <a:pPr algn="l">
              <a:lnSpc>
                <a:spcPct val="105000"/>
              </a:lnSpc>
              <a:spcBef>
                <a:spcPts val="150"/>
              </a:spcBef>
            </a:pPr>
            <a:r>
              <a:rPr sz="1210" b="0" i="0">
                <a:solidFill>
                  <a:srgbClr val="6B7280"/>
                </a:solidFill>
                <a:latin typeface="Source Han Sans SC"/>
              </a:rPr>
              <a:t>学习率：症状与策略</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15 / 31</a:t>
            </a:r>
          </a:p>
        </p:txBody>
      </p:sp>
      <p:sp>
        <p:nvSpPr>
          <p:cNvPr id="9" name="Rectangle 8"/>
          <p:cNvSpPr/>
          <p:nvPr/>
        </p:nvSpPr>
        <p:spPr>
          <a:xfrm>
            <a:off x="799200" y="1296000"/>
            <a:ext cx="3387239" cy="3096542"/>
          </a:xfrm>
          <a:prstGeom prst="rect">
            <a:avLst/>
          </a:prstGeom>
          <a:solidFill>
            <a:srgbClr val="FEF2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309654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Too Large: Overshooting</a:t>
            </a:r>
          </a:p>
          <a:p>
            <a:pPr algn="l">
              <a:lnSpc>
                <a:spcPct val="105000"/>
              </a:lnSpc>
              <a:spcBef>
                <a:spcPts val="150"/>
              </a:spcBef>
            </a:pPr>
            <a:r>
              <a:rPr sz="1130" b="0" i="0">
                <a:solidFill>
                  <a:srgbClr val="6B7280"/>
                </a:solidFill>
                <a:latin typeface="Source Han Sans SC"/>
              </a:rPr>
              <a:t>过大：跳过了谷底</a:t>
            </a:r>
          </a:p>
        </p:txBody>
      </p:sp>
      <p:sp>
        <p:nvSpPr>
          <p:cNvPr id="12" name="TextBox 11"/>
          <p:cNvSpPr txBox="1"/>
          <p:nvPr/>
        </p:nvSpPr>
        <p:spPr>
          <a:xfrm>
            <a:off x="1022400" y="2033090"/>
            <a:ext cx="2940839" cy="2287452"/>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The loss oscillates and never descends</a:t>
            </a:r>
            <a:r>
              <a:rPr sz="940" b="0" i="0">
                <a:solidFill>
                  <a:srgbClr val="6B7280"/>
                </a:solidFill>
                <a:latin typeface="Source Han Sans SC"/>
              </a:rPr>
              <a:t> ｜ </a:t>
            </a:r>
            <a:r>
              <a:rPr sz="940" b="0" i="0">
                <a:solidFill>
                  <a:srgbClr val="6B7280"/>
                </a:solidFill>
                <a:latin typeface="Source Han Sans SC"/>
              </a:rPr>
              <a:t>• 损失上下震荡，根本不下降</a:t>
            </a:r>
          </a:p>
          <a:p>
            <a:pPr algn="l">
              <a:lnSpc>
                <a:spcPct val="140000"/>
              </a:lnSpc>
              <a:spcAft>
                <a:spcPts val="400"/>
              </a:spcAft>
            </a:pPr>
            <a:r>
              <a:rPr sz="1200" b="0" i="0">
                <a:solidFill>
                  <a:srgbClr val="1F2937"/>
                </a:solidFill>
                <a:latin typeface="Source Han Sans SC"/>
              </a:rPr>
              <a:t>• nan or inf appears quickly</a:t>
            </a:r>
            <a:r>
              <a:rPr sz="940" b="0" i="0">
                <a:solidFill>
                  <a:srgbClr val="6B7280"/>
                </a:solidFill>
                <a:latin typeface="Source Han Sans SC"/>
              </a:rPr>
              <a:t> ｜ </a:t>
            </a:r>
            <a:r>
              <a:rPr sz="940" b="0" i="0">
                <a:solidFill>
                  <a:srgbClr val="6B7280"/>
                </a:solidFill>
                <a:latin typeface="Source Han Sans SC"/>
              </a:rPr>
              <a:t>• 很快出现 nan 或 inf</a:t>
            </a:r>
          </a:p>
          <a:p>
            <a:pPr algn="l">
              <a:lnSpc>
                <a:spcPct val="140000"/>
              </a:lnSpc>
              <a:spcAft>
                <a:spcPts val="400"/>
              </a:spcAft>
            </a:pPr>
            <a:r>
              <a:rPr sz="1200" b="0" i="0">
                <a:solidFill>
                  <a:srgbClr val="1F2937"/>
                </a:solidFill>
                <a:latin typeface="Source Han Sans SC"/>
              </a:rPr>
              <a:t>• Fix: divide the learning rate by 10</a:t>
            </a:r>
            <a:r>
              <a:rPr sz="940" b="0" i="0">
                <a:solidFill>
                  <a:srgbClr val="6B7280"/>
                </a:solidFill>
                <a:latin typeface="Source Han Sans SC"/>
              </a:rPr>
              <a:t> ｜ </a:t>
            </a:r>
            <a:r>
              <a:rPr sz="940" b="0" i="0">
                <a:solidFill>
                  <a:srgbClr val="6B7280"/>
                </a:solidFill>
                <a:latin typeface="Source Han Sans SC"/>
              </a:rPr>
              <a:t>• 处置：先把学习率除以 10</a:t>
            </a:r>
          </a:p>
          <a:p>
            <a:pPr algn="l">
              <a:lnSpc>
                <a:spcPct val="140000"/>
              </a:lnSpc>
              <a:spcAft>
                <a:spcPts val="400"/>
              </a:spcAft>
            </a:pPr>
            <a:r>
              <a:rPr sz="1200" b="0" i="0">
                <a:solidFill>
                  <a:srgbClr val="1F2937"/>
                </a:solidFill>
                <a:latin typeface="Source Han Sans SC"/>
              </a:rPr>
              <a:t>• Symptom: accuracy stays at chance level</a:t>
            </a:r>
            <a:r>
              <a:rPr sz="940" b="0" i="0">
                <a:solidFill>
                  <a:srgbClr val="6B7280"/>
                </a:solidFill>
                <a:latin typeface="Source Han Sans SC"/>
              </a:rPr>
              <a:t> ｜ </a:t>
            </a:r>
            <a:r>
              <a:rPr sz="940" b="0" i="0">
                <a:solidFill>
                  <a:srgbClr val="6B7280"/>
                </a:solidFill>
                <a:latin typeface="Source Han Sans SC"/>
              </a:rPr>
              <a:t>• 现象：准确率停在随机水平</a:t>
            </a:r>
          </a:p>
        </p:txBody>
      </p:sp>
      <p:sp>
        <p:nvSpPr>
          <p:cNvPr id="13" name="Rectangle 12"/>
          <p:cNvSpPr/>
          <p:nvPr/>
        </p:nvSpPr>
        <p:spPr>
          <a:xfrm>
            <a:off x="4402440" y="1296000"/>
            <a:ext cx="3387239" cy="3096542"/>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2440" y="1296000"/>
            <a:ext cx="32400" cy="309654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2563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Too Small: Crawling</a:t>
            </a:r>
          </a:p>
          <a:p>
            <a:pPr algn="l">
              <a:lnSpc>
                <a:spcPct val="105000"/>
              </a:lnSpc>
              <a:spcBef>
                <a:spcPts val="150"/>
              </a:spcBef>
            </a:pPr>
            <a:r>
              <a:rPr sz="1130" b="0" i="0">
                <a:solidFill>
                  <a:srgbClr val="6B7280"/>
                </a:solidFill>
                <a:latin typeface="Source Han Sans SC"/>
              </a:rPr>
              <a:t>过小：在原地磨</a:t>
            </a:r>
          </a:p>
        </p:txBody>
      </p:sp>
      <p:sp>
        <p:nvSpPr>
          <p:cNvPr id="16" name="TextBox 15"/>
          <p:cNvSpPr txBox="1"/>
          <p:nvPr/>
        </p:nvSpPr>
        <p:spPr>
          <a:xfrm>
            <a:off x="4625639" y="2033090"/>
            <a:ext cx="2940839" cy="2287452"/>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Loss moves less than 0.05 in 10 epochs</a:t>
            </a:r>
            <a:r>
              <a:rPr sz="940" b="0" i="0">
                <a:solidFill>
                  <a:srgbClr val="6B7280"/>
                </a:solidFill>
                <a:latin typeface="Source Han Sans SC"/>
              </a:rPr>
              <a:t> ｜ </a:t>
            </a:r>
            <a:r>
              <a:rPr sz="940" b="0" i="0">
                <a:solidFill>
                  <a:srgbClr val="6B7280"/>
                </a:solidFill>
                <a:latin typeface="Source Han Sans SC"/>
              </a:rPr>
              <a:t>• 10 个 epoch 损失变化不到 0.05</a:t>
            </a:r>
          </a:p>
          <a:p>
            <a:pPr algn="l">
              <a:lnSpc>
                <a:spcPct val="140000"/>
              </a:lnSpc>
              <a:spcAft>
                <a:spcPts val="400"/>
              </a:spcAft>
            </a:pPr>
            <a:r>
              <a:rPr sz="1200" b="0" i="0">
                <a:solidFill>
                  <a:srgbClr val="1F2937"/>
                </a:solidFill>
                <a:latin typeface="Source Han Sans SC"/>
              </a:rPr>
              <a:t>• It looks like training but is barely moving</a:t>
            </a:r>
            <a:r>
              <a:rPr sz="940" b="0" i="0">
                <a:solidFill>
                  <a:srgbClr val="6B7280"/>
                </a:solidFill>
                <a:latin typeface="Source Han Sans SC"/>
              </a:rPr>
              <a:t> ｜ </a:t>
            </a:r>
            <a:r>
              <a:rPr sz="940" b="0" i="0">
                <a:solidFill>
                  <a:srgbClr val="6B7280"/>
                </a:solidFill>
                <a:latin typeface="Source Han Sans SC"/>
              </a:rPr>
              <a:t>• 看起来在训练，其实几乎没动</a:t>
            </a:r>
          </a:p>
          <a:p>
            <a:pPr algn="l">
              <a:lnSpc>
                <a:spcPct val="140000"/>
              </a:lnSpc>
              <a:spcAft>
                <a:spcPts val="400"/>
              </a:spcAft>
            </a:pPr>
            <a:r>
              <a:rPr sz="1200" b="0" i="0">
                <a:solidFill>
                  <a:srgbClr val="1F2937"/>
                </a:solidFill>
                <a:latin typeface="Source Han Sans SC"/>
              </a:rPr>
              <a:t>• Fix: try 10x larger once</a:t>
            </a:r>
            <a:r>
              <a:rPr sz="940" b="0" i="0">
                <a:solidFill>
                  <a:srgbClr val="6B7280"/>
                </a:solidFill>
                <a:latin typeface="Source Han Sans SC"/>
              </a:rPr>
              <a:t> ｜ </a:t>
            </a:r>
            <a:r>
              <a:rPr sz="940" b="0" i="0">
                <a:solidFill>
                  <a:srgbClr val="6B7280"/>
                </a:solidFill>
                <a:latin typeface="Source Han Sans SC"/>
              </a:rPr>
              <a:t>• 处置：升 10 倍再试一次</a:t>
            </a:r>
          </a:p>
          <a:p>
            <a:pPr algn="l">
              <a:lnSpc>
                <a:spcPct val="140000"/>
              </a:lnSpc>
              <a:spcAft>
                <a:spcPts val="400"/>
              </a:spcAft>
            </a:pPr>
            <a:r>
              <a:rPr sz="1200" b="0" i="0">
                <a:solidFill>
                  <a:srgbClr val="1F2937"/>
                </a:solidFill>
                <a:latin typeface="Source Han Sans SC"/>
              </a:rPr>
              <a:t>• Do not mask it by adding epochs</a:t>
            </a:r>
            <a:r>
              <a:rPr sz="940" b="0" i="0">
                <a:solidFill>
                  <a:srgbClr val="6B7280"/>
                </a:solidFill>
                <a:latin typeface="Source Han Sans SC"/>
              </a:rPr>
              <a:t> ｜ </a:t>
            </a:r>
            <a:r>
              <a:rPr sz="940" b="0" i="0">
                <a:solidFill>
                  <a:srgbClr val="6B7280"/>
                </a:solidFill>
                <a:latin typeface="Source Han Sans SC"/>
              </a:rPr>
              <a:t>• 别用「加 epoch」掩盖它</a:t>
            </a:r>
          </a:p>
        </p:txBody>
      </p:sp>
      <p:sp>
        <p:nvSpPr>
          <p:cNvPr id="17" name="Rectangle 16"/>
          <p:cNvSpPr/>
          <p:nvPr/>
        </p:nvSpPr>
        <p:spPr>
          <a:xfrm>
            <a:off x="8005679" y="1296000"/>
            <a:ext cx="3387239" cy="3096542"/>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05679" y="1296000"/>
            <a:ext cx="32400" cy="309654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887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Schedule: Three Phases</a:t>
            </a:r>
          </a:p>
          <a:p>
            <a:pPr algn="l">
              <a:lnSpc>
                <a:spcPct val="105000"/>
              </a:lnSpc>
              <a:spcBef>
                <a:spcPts val="150"/>
              </a:spcBef>
            </a:pPr>
            <a:r>
              <a:rPr sz="1130" b="0" i="0">
                <a:solidFill>
                  <a:srgbClr val="6B7280"/>
                </a:solidFill>
                <a:latin typeface="Source Han Sans SC"/>
              </a:rPr>
              <a:t>策略：三段式</a:t>
            </a:r>
          </a:p>
        </p:txBody>
      </p:sp>
      <p:sp>
        <p:nvSpPr>
          <p:cNvPr id="20" name="TextBox 19"/>
          <p:cNvSpPr txBox="1"/>
          <p:nvPr/>
        </p:nvSpPr>
        <p:spPr>
          <a:xfrm>
            <a:off x="8228879" y="2033090"/>
            <a:ext cx="2940839" cy="2287452"/>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Warmup: ramp up over the first epochs</a:t>
            </a:r>
            <a:r>
              <a:rPr sz="940" b="0" i="0">
                <a:solidFill>
                  <a:srgbClr val="6B7280"/>
                </a:solidFill>
                <a:latin typeface="Source Han Sans SC"/>
              </a:rPr>
              <a:t> ｜ </a:t>
            </a:r>
            <a:r>
              <a:rPr sz="940" b="0" i="0">
                <a:solidFill>
                  <a:srgbClr val="6B7280"/>
                </a:solidFill>
                <a:latin typeface="Source Han Sans SC"/>
              </a:rPr>
              <a:t>• Warmup：前几个 epoch 从小到大</a:t>
            </a:r>
          </a:p>
          <a:p>
            <a:pPr algn="l">
              <a:lnSpc>
                <a:spcPct val="140000"/>
              </a:lnSpc>
              <a:spcAft>
                <a:spcPts val="400"/>
              </a:spcAft>
            </a:pPr>
            <a:r>
              <a:rPr sz="1200" b="0" i="0">
                <a:solidFill>
                  <a:srgbClr val="1F2937"/>
                </a:solidFill>
                <a:latin typeface="Source Han Sans SC"/>
              </a:rPr>
              <a:t>• Middle: StepLR decays every N epochs</a:t>
            </a:r>
            <a:r>
              <a:rPr sz="940" b="0" i="0">
                <a:solidFill>
                  <a:srgbClr val="6B7280"/>
                </a:solidFill>
                <a:latin typeface="Source Han Sans SC"/>
              </a:rPr>
              <a:t> ｜ </a:t>
            </a:r>
            <a:r>
              <a:rPr sz="940" b="0" i="0">
                <a:solidFill>
                  <a:srgbClr val="6B7280"/>
                </a:solidFill>
                <a:latin typeface="Source Han Sans SC"/>
              </a:rPr>
              <a:t>• 中期：StepLR 每 N 轮衰减一次</a:t>
            </a:r>
          </a:p>
          <a:p>
            <a:pPr algn="l">
              <a:lnSpc>
                <a:spcPct val="140000"/>
              </a:lnSpc>
              <a:spcAft>
                <a:spcPts val="400"/>
              </a:spcAft>
            </a:pPr>
            <a:r>
              <a:rPr sz="1200" b="0" i="0">
                <a:solidFill>
                  <a:srgbClr val="1F2937"/>
                </a:solidFill>
                <a:latin typeface="Source Han Sans SC"/>
              </a:rPr>
              <a:t>• Late: CosineAnnealing anneals smoothly</a:t>
            </a:r>
            <a:r>
              <a:rPr sz="940" b="0" i="0">
                <a:solidFill>
                  <a:srgbClr val="6B7280"/>
                </a:solidFill>
                <a:latin typeface="Source Han Sans SC"/>
              </a:rPr>
              <a:t> ｜ </a:t>
            </a:r>
            <a:r>
              <a:rPr sz="940" b="0" i="0">
                <a:solidFill>
                  <a:srgbClr val="6B7280"/>
                </a:solidFill>
                <a:latin typeface="Source Han Sans SC"/>
              </a:rPr>
              <a:t>• 后期：CosineAnnealing 平滑退火</a:t>
            </a:r>
          </a:p>
          <a:p>
            <a:pPr algn="l">
              <a:lnSpc>
                <a:spcPct val="140000"/>
              </a:lnSpc>
              <a:spcAft>
                <a:spcPts val="400"/>
              </a:spcAft>
            </a:pPr>
            <a:r>
              <a:rPr sz="1200" b="0" i="0">
                <a:solidFill>
                  <a:srgbClr val="1F2937"/>
                </a:solidFill>
                <a:latin typeface="Source Han Sans SC"/>
              </a:rPr>
              <a:t>• Implemented with lr_scheduler in PyTorch</a:t>
            </a:r>
            <a:r>
              <a:rPr sz="940" b="0" i="0">
                <a:solidFill>
                  <a:srgbClr val="6B7280"/>
                </a:solidFill>
                <a:latin typeface="Source Han Sans SC"/>
              </a:rPr>
              <a:t> ｜ </a:t>
            </a:r>
            <a:r>
              <a:rPr sz="940" b="0" i="0">
                <a:solidFill>
                  <a:srgbClr val="6B7280"/>
                </a:solidFill>
                <a:latin typeface="Source Han Sans SC"/>
              </a:rPr>
              <a:t>• PyTorch 里用 lr_scheduler 实现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Gradient Descent: How Big a Step Decides Where You Land</a:t>
            </a:r>
          </a:p>
          <a:p>
            <a:pPr algn="l">
              <a:lnSpc>
                <a:spcPct val="105000"/>
              </a:lnSpc>
              <a:spcBef>
                <a:spcPts val="150"/>
              </a:spcBef>
            </a:pPr>
            <a:r>
              <a:rPr sz="1210" b="0" i="0">
                <a:solidFill>
                  <a:srgbClr val="6B7280"/>
                </a:solidFill>
                <a:latin typeface="Source Han Sans SC"/>
              </a:rPr>
              <a:t>梯度下降：一步走多大，决定它落在哪</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Same loss curve, same start — only the learning rate changes</a:t>
            </a:r>
          </a:p>
          <a:p>
            <a:pPr algn="l">
              <a:lnSpc>
                <a:spcPct val="105000"/>
              </a:lnSpc>
              <a:spcBef>
                <a:spcPts val="150"/>
              </a:spcBef>
            </a:pPr>
            <a:r>
              <a:rPr sz="800" b="0" i="0">
                <a:solidFill>
                  <a:srgbClr val="6B7280"/>
                </a:solidFill>
                <a:latin typeface="Source Han Sans SC"/>
              </a:rPr>
              <a:t>同一段损失曲线，同一个起点，只改学习率</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16 / 31</a:t>
            </a:r>
          </a:p>
        </p:txBody>
      </p:sp>
      <p:sp>
        <p:nvSpPr>
          <p:cNvPr id="10" name="Rounded Rectangle 9"/>
          <p:cNvSpPr/>
          <p:nvPr/>
        </p:nvSpPr>
        <p:spPr>
          <a:xfrm>
            <a:off x="799200" y="1188000"/>
            <a:ext cx="3327240" cy="4268905"/>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200" y="1389600"/>
            <a:ext cx="2787240" cy="355649"/>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Too small</a:t>
            </a:r>
            <a:r>
              <a:rPr sz="1010" b="0" i="0">
                <a:solidFill>
                  <a:srgbClr val="6B7280"/>
                </a:solidFill>
                <a:latin typeface="Source Han Sans SC"/>
              </a:rPr>
              <a:t> ｜ </a:t>
            </a:r>
            <a:r>
              <a:rPr sz="1010" b="0" i="0">
                <a:solidFill>
                  <a:srgbClr val="6B7280"/>
                </a:solidFill>
                <a:latin typeface="Source Han Sans SC"/>
              </a:rPr>
              <a:t>太小</a:t>
            </a:r>
          </a:p>
        </p:txBody>
      </p:sp>
      <p:sp>
        <p:nvSpPr>
          <p:cNvPr id="12" name="TextBox 11"/>
          <p:cNvSpPr txBox="1"/>
          <p:nvPr/>
        </p:nvSpPr>
        <p:spPr>
          <a:xfrm>
            <a:off x="1069200" y="1716449"/>
            <a:ext cx="2787240" cy="327074"/>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lr = 0.06  ·  8 steps</a:t>
            </a:r>
          </a:p>
        </p:txBody>
      </p:sp>
      <p:cxnSp>
        <p:nvCxnSpPr>
          <p:cNvPr id="13" name="Connector 12"/>
          <p:cNvCxnSpPr/>
          <p:nvPr/>
        </p:nvCxnSpPr>
        <p:spPr>
          <a:xfrm>
            <a:off x="1184400" y="4610905"/>
            <a:ext cx="2506439" cy="0"/>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84400" y="2349524"/>
            <a:ext cx="0" cy="2261381"/>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3651240" y="4538905"/>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Isosceles Triangle 15"/>
          <p:cNvSpPr/>
          <p:nvPr/>
        </p:nvSpPr>
        <p:spPr>
          <a:xfrm>
            <a:off x="1112400" y="2237924"/>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Freeform 16"/>
          <p:cNvSpPr/>
          <p:nvPr/>
        </p:nvSpPr>
        <p:spPr>
          <a:xfrm>
            <a:off x="1184400" y="2277524"/>
            <a:ext cx="2571239" cy="2333381"/>
          </a:xfrm>
          <a:custGeom>
            <a:avLst/>
            <a:gdLst/>
            <a:ahLst/>
            <a:cxnLst/>
            <a:rect l="l" t="t" r="r" b="b"/>
            <a:pathLst>
              <a:path w="2571239" h="2333381">
                <a:moveTo>
                  <a:pt x="0" y="0"/>
                </a:moveTo>
                <a:lnTo>
                  <a:pt x="21427" y="77131"/>
                </a:lnTo>
                <a:lnTo>
                  <a:pt x="42854" y="152966"/>
                </a:lnTo>
                <a:lnTo>
                  <a:pt x="64281" y="227504"/>
                </a:lnTo>
                <a:lnTo>
                  <a:pt x="85708" y="300747"/>
                </a:lnTo>
                <a:lnTo>
                  <a:pt x="107135" y="372693"/>
                </a:lnTo>
                <a:lnTo>
                  <a:pt x="128562" y="443342"/>
                </a:lnTo>
                <a:lnTo>
                  <a:pt x="149989" y="512695"/>
                </a:lnTo>
                <a:lnTo>
                  <a:pt x="171416" y="580752"/>
                </a:lnTo>
                <a:lnTo>
                  <a:pt x="192843" y="647513"/>
                </a:lnTo>
                <a:lnTo>
                  <a:pt x="214270" y="712977"/>
                </a:lnTo>
                <a:lnTo>
                  <a:pt x="235697" y="777145"/>
                </a:lnTo>
                <a:lnTo>
                  <a:pt x="257124" y="840017"/>
                </a:lnTo>
                <a:lnTo>
                  <a:pt x="278551" y="901592"/>
                </a:lnTo>
                <a:lnTo>
                  <a:pt x="299978" y="961871"/>
                </a:lnTo>
                <a:lnTo>
                  <a:pt x="321405" y="1020854"/>
                </a:lnTo>
                <a:lnTo>
                  <a:pt x="342832" y="1078540"/>
                </a:lnTo>
                <a:lnTo>
                  <a:pt x="364259" y="1134930"/>
                </a:lnTo>
                <a:lnTo>
                  <a:pt x="385686" y="1190024"/>
                </a:lnTo>
                <a:lnTo>
                  <a:pt x="407113" y="1243821"/>
                </a:lnTo>
                <a:lnTo>
                  <a:pt x="428540" y="1296322"/>
                </a:lnTo>
                <a:lnTo>
                  <a:pt x="449966" y="1347527"/>
                </a:lnTo>
                <a:lnTo>
                  <a:pt x="471394" y="1397436"/>
                </a:lnTo>
                <a:lnTo>
                  <a:pt x="492821" y="1446048"/>
                </a:lnTo>
                <a:lnTo>
                  <a:pt x="514247" y="1493363"/>
                </a:lnTo>
                <a:lnTo>
                  <a:pt x="535675" y="1539383"/>
                </a:lnTo>
                <a:lnTo>
                  <a:pt x="557102" y="1584106"/>
                </a:lnTo>
                <a:lnTo>
                  <a:pt x="578529" y="1627533"/>
                </a:lnTo>
                <a:lnTo>
                  <a:pt x="599955" y="1669663"/>
                </a:lnTo>
                <a:lnTo>
                  <a:pt x="621383" y="1710498"/>
                </a:lnTo>
                <a:lnTo>
                  <a:pt x="642810" y="1750035"/>
                </a:lnTo>
                <a:lnTo>
                  <a:pt x="664237" y="1788277"/>
                </a:lnTo>
                <a:lnTo>
                  <a:pt x="685663" y="1825222"/>
                </a:lnTo>
                <a:lnTo>
                  <a:pt x="707091" y="1860871"/>
                </a:lnTo>
                <a:lnTo>
                  <a:pt x="728518" y="1895224"/>
                </a:lnTo>
                <a:lnTo>
                  <a:pt x="749945" y="1928280"/>
                </a:lnTo>
                <a:lnTo>
                  <a:pt x="771372" y="1960040"/>
                </a:lnTo>
                <a:lnTo>
                  <a:pt x="792799" y="1990503"/>
                </a:lnTo>
                <a:lnTo>
                  <a:pt x="814225" y="2019670"/>
                </a:lnTo>
                <a:lnTo>
                  <a:pt x="835653" y="2047541"/>
                </a:lnTo>
                <a:lnTo>
                  <a:pt x="857080" y="2074116"/>
                </a:lnTo>
                <a:lnTo>
                  <a:pt x="878506" y="2099394"/>
                </a:lnTo>
                <a:lnTo>
                  <a:pt x="899934" y="2123376"/>
                </a:lnTo>
                <a:lnTo>
                  <a:pt x="921361" y="2146062"/>
                </a:lnTo>
                <a:lnTo>
                  <a:pt x="942788" y="2167451"/>
                </a:lnTo>
                <a:lnTo>
                  <a:pt x="964215" y="2187544"/>
                </a:lnTo>
                <a:lnTo>
                  <a:pt x="985641" y="2206341"/>
                </a:lnTo>
                <a:lnTo>
                  <a:pt x="1007069" y="2223841"/>
                </a:lnTo>
                <a:lnTo>
                  <a:pt x="1028496" y="2240045"/>
                </a:lnTo>
                <a:lnTo>
                  <a:pt x="1049923" y="2254953"/>
                </a:lnTo>
                <a:lnTo>
                  <a:pt x="1071350" y="2268564"/>
                </a:lnTo>
                <a:lnTo>
                  <a:pt x="1092777" y="2280879"/>
                </a:lnTo>
                <a:lnTo>
                  <a:pt x="1114204" y="2291898"/>
                </a:lnTo>
                <a:lnTo>
                  <a:pt x="1135631" y="2301621"/>
                </a:lnTo>
                <a:lnTo>
                  <a:pt x="1157058" y="2310047"/>
                </a:lnTo>
                <a:lnTo>
                  <a:pt x="1178485" y="2317177"/>
                </a:lnTo>
                <a:lnTo>
                  <a:pt x="1199912" y="2323010"/>
                </a:lnTo>
                <a:lnTo>
                  <a:pt x="1221339" y="2327547"/>
                </a:lnTo>
                <a:lnTo>
                  <a:pt x="1242766" y="2330788"/>
                </a:lnTo>
                <a:lnTo>
                  <a:pt x="1264193" y="2332732"/>
                </a:lnTo>
                <a:lnTo>
                  <a:pt x="1285620" y="2333381"/>
                </a:lnTo>
                <a:lnTo>
                  <a:pt x="1307047" y="2332732"/>
                </a:lnTo>
                <a:lnTo>
                  <a:pt x="1328474" y="2330788"/>
                </a:lnTo>
                <a:lnTo>
                  <a:pt x="1349901" y="2327547"/>
                </a:lnTo>
                <a:lnTo>
                  <a:pt x="1371328" y="2323010"/>
                </a:lnTo>
                <a:lnTo>
                  <a:pt x="1392755" y="2317177"/>
                </a:lnTo>
                <a:lnTo>
                  <a:pt x="1414182" y="2310047"/>
                </a:lnTo>
                <a:lnTo>
                  <a:pt x="1435609" y="2301621"/>
                </a:lnTo>
                <a:lnTo>
                  <a:pt x="1457036" y="2291898"/>
                </a:lnTo>
                <a:lnTo>
                  <a:pt x="1478463" y="2280879"/>
                </a:lnTo>
                <a:lnTo>
                  <a:pt x="1499890" y="2268564"/>
                </a:lnTo>
                <a:lnTo>
                  <a:pt x="1521317" y="2254953"/>
                </a:lnTo>
                <a:lnTo>
                  <a:pt x="1542744" y="2240045"/>
                </a:lnTo>
                <a:lnTo>
                  <a:pt x="1564171" y="2223841"/>
                </a:lnTo>
                <a:lnTo>
                  <a:pt x="1585598" y="2206341"/>
                </a:lnTo>
                <a:lnTo>
                  <a:pt x="1607025" y="2187544"/>
                </a:lnTo>
                <a:lnTo>
                  <a:pt x="1628451" y="2167451"/>
                </a:lnTo>
                <a:lnTo>
                  <a:pt x="1649879" y="2146062"/>
                </a:lnTo>
                <a:lnTo>
                  <a:pt x="1671306" y="2123376"/>
                </a:lnTo>
                <a:lnTo>
                  <a:pt x="1692733" y="2099394"/>
                </a:lnTo>
                <a:lnTo>
                  <a:pt x="1714160" y="2074116"/>
                </a:lnTo>
                <a:lnTo>
                  <a:pt x="1735587" y="2047541"/>
                </a:lnTo>
                <a:lnTo>
                  <a:pt x="1757013" y="2019670"/>
                </a:lnTo>
                <a:lnTo>
                  <a:pt x="1778441" y="1990503"/>
                </a:lnTo>
                <a:lnTo>
                  <a:pt x="1799868" y="1960040"/>
                </a:lnTo>
                <a:lnTo>
                  <a:pt x="1821295" y="1928280"/>
                </a:lnTo>
                <a:lnTo>
                  <a:pt x="1842722" y="1895224"/>
                </a:lnTo>
                <a:lnTo>
                  <a:pt x="1864148" y="1860871"/>
                </a:lnTo>
                <a:lnTo>
                  <a:pt x="1885576" y="1825222"/>
                </a:lnTo>
                <a:lnTo>
                  <a:pt x="1907003" y="1788277"/>
                </a:lnTo>
                <a:lnTo>
                  <a:pt x="1928430" y="1750035"/>
                </a:lnTo>
                <a:lnTo>
                  <a:pt x="1949857" y="1710498"/>
                </a:lnTo>
                <a:lnTo>
                  <a:pt x="1971284" y="1669663"/>
                </a:lnTo>
                <a:lnTo>
                  <a:pt x="1992710" y="1627533"/>
                </a:lnTo>
                <a:lnTo>
                  <a:pt x="2014138" y="1584106"/>
                </a:lnTo>
                <a:lnTo>
                  <a:pt x="2035564" y="1539383"/>
                </a:lnTo>
                <a:lnTo>
                  <a:pt x="2056992" y="1493363"/>
                </a:lnTo>
                <a:lnTo>
                  <a:pt x="2078419" y="1446048"/>
                </a:lnTo>
                <a:lnTo>
                  <a:pt x="2099846" y="1397436"/>
                </a:lnTo>
                <a:lnTo>
                  <a:pt x="2121273" y="1347527"/>
                </a:lnTo>
                <a:lnTo>
                  <a:pt x="2142700" y="1296322"/>
                </a:lnTo>
                <a:lnTo>
                  <a:pt x="2164127" y="1243821"/>
                </a:lnTo>
                <a:lnTo>
                  <a:pt x="2185554" y="1190024"/>
                </a:lnTo>
                <a:lnTo>
                  <a:pt x="2206981" y="1134930"/>
                </a:lnTo>
                <a:lnTo>
                  <a:pt x="2228408" y="1078540"/>
                </a:lnTo>
                <a:lnTo>
                  <a:pt x="2249835" y="1020854"/>
                </a:lnTo>
                <a:lnTo>
                  <a:pt x="2271261" y="961871"/>
                </a:lnTo>
                <a:lnTo>
                  <a:pt x="2292689" y="901592"/>
                </a:lnTo>
                <a:lnTo>
                  <a:pt x="2314116" y="840017"/>
                </a:lnTo>
                <a:lnTo>
                  <a:pt x="2335542" y="777145"/>
                </a:lnTo>
                <a:lnTo>
                  <a:pt x="2356969" y="712977"/>
                </a:lnTo>
                <a:lnTo>
                  <a:pt x="2378397" y="647513"/>
                </a:lnTo>
                <a:lnTo>
                  <a:pt x="2399823" y="580752"/>
                </a:lnTo>
                <a:lnTo>
                  <a:pt x="2421251" y="512695"/>
                </a:lnTo>
                <a:lnTo>
                  <a:pt x="2442678" y="443342"/>
                </a:lnTo>
                <a:lnTo>
                  <a:pt x="2464105" y="372693"/>
                </a:lnTo>
                <a:lnTo>
                  <a:pt x="2485532" y="300747"/>
                </a:lnTo>
                <a:lnTo>
                  <a:pt x="2506959" y="227504"/>
                </a:lnTo>
                <a:lnTo>
                  <a:pt x="2528386" y="152966"/>
                </a:lnTo>
                <a:lnTo>
                  <a:pt x="2549813" y="77131"/>
                </a:lnTo>
                <a:lnTo>
                  <a:pt x="2571239" y="0"/>
                </a:lnTo>
              </a:path>
            </a:pathLst>
          </a:custGeom>
          <a:noFill/>
          <a:ln w="279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2470020" y="2356724"/>
            <a:ext cx="0" cy="2254181"/>
          </a:xfrm>
          <a:prstGeom prst="line">
            <a:avLst/>
          </a:prstGeom>
          <a:ln w="13970">
            <a:solidFill>
              <a:srgbClr val="E5E7EB"/>
            </a:solidFill>
            <a:prstDash val="dash"/>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294616" y="2797076"/>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0" name="Connector 19"/>
          <p:cNvCxnSpPr/>
          <p:nvPr/>
        </p:nvCxnSpPr>
        <p:spPr>
          <a:xfrm>
            <a:off x="1355816" y="2858276"/>
            <a:ext cx="133704"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89520" y="2858276"/>
            <a:ext cx="0" cy="395393"/>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428320" y="3192469"/>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3" name="Connector 22"/>
          <p:cNvCxnSpPr/>
          <p:nvPr/>
        </p:nvCxnSpPr>
        <p:spPr>
          <a:xfrm>
            <a:off x="1489520" y="3253669"/>
            <a:ext cx="117660"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07180" y="3253669"/>
            <a:ext cx="0" cy="306193"/>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545980" y="3498662"/>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6" name="Connector 25"/>
          <p:cNvCxnSpPr/>
          <p:nvPr/>
        </p:nvCxnSpPr>
        <p:spPr>
          <a:xfrm>
            <a:off x="1607180" y="3559862"/>
            <a:ext cx="10354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710721" y="3559862"/>
            <a:ext cx="0" cy="237115"/>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649521" y="3735777"/>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9" name="Connector 28"/>
          <p:cNvCxnSpPr/>
          <p:nvPr/>
        </p:nvCxnSpPr>
        <p:spPr>
          <a:xfrm>
            <a:off x="1710721" y="3796977"/>
            <a:ext cx="91116"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801837" y="3796977"/>
            <a:ext cx="0" cy="183622"/>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740637" y="3919399"/>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2" name="Connector 31"/>
          <p:cNvCxnSpPr/>
          <p:nvPr/>
        </p:nvCxnSpPr>
        <p:spPr>
          <a:xfrm>
            <a:off x="1801837" y="3980599"/>
            <a:ext cx="8018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882018" y="3980599"/>
            <a:ext cx="0" cy="142197"/>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820818" y="4061596"/>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5" name="Connector 34"/>
          <p:cNvCxnSpPr/>
          <p:nvPr/>
        </p:nvCxnSpPr>
        <p:spPr>
          <a:xfrm>
            <a:off x="1882018" y="4122796"/>
            <a:ext cx="7056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952579" y="4122796"/>
            <a:ext cx="0" cy="110117"/>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1891379" y="4171713"/>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8" name="Connector 37"/>
          <p:cNvCxnSpPr/>
          <p:nvPr/>
        </p:nvCxnSpPr>
        <p:spPr>
          <a:xfrm>
            <a:off x="1952579" y="4232913"/>
            <a:ext cx="62093"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014672" y="4232913"/>
            <a:ext cx="0" cy="85275"/>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953472" y="4256988"/>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1" name="Connector 40"/>
          <p:cNvCxnSpPr/>
          <p:nvPr/>
        </p:nvCxnSpPr>
        <p:spPr>
          <a:xfrm>
            <a:off x="2014672" y="4318188"/>
            <a:ext cx="5464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069313" y="4318188"/>
            <a:ext cx="0" cy="66037"/>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2008113" y="4323025"/>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1262216" y="2764676"/>
            <a:ext cx="187200" cy="187200"/>
          </a:xfrm>
          <a:prstGeom prst="ellipse">
            <a:avLst/>
          </a:prstGeom>
          <a:noFill/>
          <a:ln w="2032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1291016" y="2793476"/>
            <a:ext cx="129600" cy="1296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134000" y="2111924"/>
            <a:ext cx="1512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loss L(w)</a:t>
            </a:r>
          </a:p>
        </p:txBody>
      </p:sp>
      <p:sp>
        <p:nvSpPr>
          <p:cNvPr id="47" name="TextBox 46"/>
          <p:cNvSpPr txBox="1"/>
          <p:nvPr/>
        </p:nvSpPr>
        <p:spPr>
          <a:xfrm>
            <a:off x="1134000" y="4668505"/>
            <a:ext cx="1080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w -&gt;</a:t>
            </a:r>
          </a:p>
        </p:txBody>
      </p:sp>
      <p:sp>
        <p:nvSpPr>
          <p:cNvPr id="48" name="TextBox 47"/>
          <p:cNvSpPr txBox="1"/>
          <p:nvPr/>
        </p:nvSpPr>
        <p:spPr>
          <a:xfrm>
            <a:off x="1678020" y="4668505"/>
            <a:ext cx="756000" cy="180000"/>
          </a:xfrm>
          <a:prstGeom prst="rect">
            <a:avLst/>
          </a:prstGeom>
          <a:noFill/>
        </p:spPr>
        <p:txBody>
          <a:bodyPr wrap="square" anchor="t" lIns="0" rIns="0" tIns="0" bIns="0">
            <a:spAutoFit/>
          </a:bodyPr>
          <a:lstStyle/>
          <a:p>
            <a:pPr algn="r">
              <a:lnSpc>
                <a:spcPct val="125000"/>
              </a:lnSpc>
            </a:pPr>
            <a:r>
              <a:rPr sz="1050" b="0" i="0">
                <a:solidFill>
                  <a:srgbClr val="6B7280"/>
                </a:solidFill>
                <a:latin typeface="Source Han Sans SC"/>
              </a:rPr>
              <a:t>w*</a:t>
            </a:r>
          </a:p>
        </p:txBody>
      </p:sp>
      <p:sp>
        <p:nvSpPr>
          <p:cNvPr id="49" name="TextBox 48"/>
          <p:cNvSpPr txBox="1"/>
          <p:nvPr/>
        </p:nvSpPr>
        <p:spPr>
          <a:xfrm>
            <a:off x="1069200" y="5024905"/>
            <a:ext cx="2787240" cy="546149"/>
          </a:xfrm>
          <a:prstGeom prst="rect">
            <a:avLst/>
          </a:prstGeom>
          <a:noFill/>
        </p:spPr>
        <p:txBody>
          <a:bodyPr wrap="square" anchor="t" lIns="0" rIns="0" tIns="0" bIns="0">
            <a:spAutoFit/>
          </a:bodyPr>
          <a:lstStyle/>
          <a:p>
            <a:pPr algn="ctr">
              <a:lnSpc>
                <a:spcPct val="125000"/>
              </a:lnSpc>
            </a:pPr>
            <a:r>
              <a:rPr sz="1150" b="1" i="0">
                <a:solidFill>
                  <a:srgbClr val="6B7280"/>
                </a:solidFill>
                <a:latin typeface="Source Han Sans SC"/>
              </a:rPr>
              <a:t>8 steps in, still short of w*</a:t>
            </a:r>
            <a:r>
              <a:rPr sz="900" b="0" i="0">
                <a:solidFill>
                  <a:srgbClr val="6B7280"/>
                </a:solidFill>
                <a:latin typeface="Source Han Sans SC"/>
              </a:rPr>
              <a:t> ｜ </a:t>
            </a:r>
            <a:r>
              <a:rPr sz="900" b="0" i="0">
                <a:solidFill>
                  <a:srgbClr val="6B7280"/>
                </a:solidFill>
                <a:latin typeface="Source Han Sans SC"/>
              </a:rPr>
              <a:t>走了 8 步，还没到 w*</a:t>
            </a:r>
          </a:p>
        </p:txBody>
      </p:sp>
      <p:sp>
        <p:nvSpPr>
          <p:cNvPr id="50" name="Rounded Rectangle 49"/>
          <p:cNvSpPr/>
          <p:nvPr/>
        </p:nvSpPr>
        <p:spPr>
          <a:xfrm>
            <a:off x="4432440" y="1188000"/>
            <a:ext cx="3327240" cy="4268905"/>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702440" y="1389600"/>
            <a:ext cx="2787240" cy="355649"/>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Just right</a:t>
            </a:r>
            <a:r>
              <a:rPr sz="1010" b="0" i="0">
                <a:solidFill>
                  <a:srgbClr val="6B7280"/>
                </a:solidFill>
                <a:latin typeface="Source Han Sans SC"/>
              </a:rPr>
              <a:t> ｜ </a:t>
            </a:r>
            <a:r>
              <a:rPr sz="1010" b="0" i="0">
                <a:solidFill>
                  <a:srgbClr val="6B7280"/>
                </a:solidFill>
                <a:latin typeface="Source Han Sans SC"/>
              </a:rPr>
              <a:t>刚好</a:t>
            </a:r>
          </a:p>
        </p:txBody>
      </p:sp>
      <p:sp>
        <p:nvSpPr>
          <p:cNvPr id="52" name="TextBox 51"/>
          <p:cNvSpPr txBox="1"/>
          <p:nvPr/>
        </p:nvSpPr>
        <p:spPr>
          <a:xfrm>
            <a:off x="4702440" y="1716449"/>
            <a:ext cx="2787240" cy="327074"/>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lr = 0.45  ·  3 steps</a:t>
            </a:r>
          </a:p>
        </p:txBody>
      </p:sp>
      <p:cxnSp>
        <p:nvCxnSpPr>
          <p:cNvPr id="53" name="Connector 52"/>
          <p:cNvCxnSpPr/>
          <p:nvPr/>
        </p:nvCxnSpPr>
        <p:spPr>
          <a:xfrm>
            <a:off x="4817640" y="4610905"/>
            <a:ext cx="2506440" cy="0"/>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817640" y="2349524"/>
            <a:ext cx="0" cy="2261381"/>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5400000">
            <a:off x="7284480" y="4538905"/>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Isosceles Triangle 55"/>
          <p:cNvSpPr/>
          <p:nvPr/>
        </p:nvSpPr>
        <p:spPr>
          <a:xfrm>
            <a:off x="4745640" y="2237924"/>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reeform 56"/>
          <p:cNvSpPr/>
          <p:nvPr/>
        </p:nvSpPr>
        <p:spPr>
          <a:xfrm>
            <a:off x="4817640" y="2277524"/>
            <a:ext cx="2571240" cy="2333381"/>
          </a:xfrm>
          <a:custGeom>
            <a:avLst/>
            <a:gdLst/>
            <a:ahLst/>
            <a:cxnLst/>
            <a:rect l="l" t="t" r="r" b="b"/>
            <a:pathLst>
              <a:path w="2571240" h="2333381">
                <a:moveTo>
                  <a:pt x="0" y="0"/>
                </a:moveTo>
                <a:lnTo>
                  <a:pt x="21427" y="77131"/>
                </a:lnTo>
                <a:lnTo>
                  <a:pt x="42854" y="152966"/>
                </a:lnTo>
                <a:lnTo>
                  <a:pt x="64281" y="227504"/>
                </a:lnTo>
                <a:lnTo>
                  <a:pt x="85708" y="300747"/>
                </a:lnTo>
                <a:lnTo>
                  <a:pt x="107135" y="372693"/>
                </a:lnTo>
                <a:lnTo>
                  <a:pt x="128562" y="443342"/>
                </a:lnTo>
                <a:lnTo>
                  <a:pt x="149989" y="512695"/>
                </a:lnTo>
                <a:lnTo>
                  <a:pt x="171416" y="580752"/>
                </a:lnTo>
                <a:lnTo>
                  <a:pt x="192843" y="647513"/>
                </a:lnTo>
                <a:lnTo>
                  <a:pt x="214270" y="712977"/>
                </a:lnTo>
                <a:lnTo>
                  <a:pt x="235697" y="777145"/>
                </a:lnTo>
                <a:lnTo>
                  <a:pt x="257124" y="840017"/>
                </a:lnTo>
                <a:lnTo>
                  <a:pt x="278551" y="901592"/>
                </a:lnTo>
                <a:lnTo>
                  <a:pt x="299978" y="961871"/>
                </a:lnTo>
                <a:lnTo>
                  <a:pt x="321405" y="1020854"/>
                </a:lnTo>
                <a:lnTo>
                  <a:pt x="342832" y="1078540"/>
                </a:lnTo>
                <a:lnTo>
                  <a:pt x="364259" y="1134930"/>
                </a:lnTo>
                <a:lnTo>
                  <a:pt x="385686" y="1190024"/>
                </a:lnTo>
                <a:lnTo>
                  <a:pt x="407113" y="1243821"/>
                </a:lnTo>
                <a:lnTo>
                  <a:pt x="428540" y="1296322"/>
                </a:lnTo>
                <a:lnTo>
                  <a:pt x="449967" y="1347527"/>
                </a:lnTo>
                <a:lnTo>
                  <a:pt x="471394" y="1397436"/>
                </a:lnTo>
                <a:lnTo>
                  <a:pt x="492821" y="1446048"/>
                </a:lnTo>
                <a:lnTo>
                  <a:pt x="514248" y="1493363"/>
                </a:lnTo>
                <a:lnTo>
                  <a:pt x="535675" y="1539383"/>
                </a:lnTo>
                <a:lnTo>
                  <a:pt x="557102" y="1584106"/>
                </a:lnTo>
                <a:lnTo>
                  <a:pt x="578529" y="1627533"/>
                </a:lnTo>
                <a:lnTo>
                  <a:pt x="599956" y="1669663"/>
                </a:lnTo>
                <a:lnTo>
                  <a:pt x="621383" y="1710498"/>
                </a:lnTo>
                <a:lnTo>
                  <a:pt x="642810" y="1750035"/>
                </a:lnTo>
                <a:lnTo>
                  <a:pt x="664237" y="1788277"/>
                </a:lnTo>
                <a:lnTo>
                  <a:pt x="685664" y="1825222"/>
                </a:lnTo>
                <a:lnTo>
                  <a:pt x="707091" y="1860871"/>
                </a:lnTo>
                <a:lnTo>
                  <a:pt x="728518" y="1895224"/>
                </a:lnTo>
                <a:lnTo>
                  <a:pt x="749945" y="1928280"/>
                </a:lnTo>
                <a:lnTo>
                  <a:pt x="771372" y="1960040"/>
                </a:lnTo>
                <a:lnTo>
                  <a:pt x="792799" y="1990503"/>
                </a:lnTo>
                <a:lnTo>
                  <a:pt x="814226" y="2019670"/>
                </a:lnTo>
                <a:lnTo>
                  <a:pt x="835653" y="2047541"/>
                </a:lnTo>
                <a:lnTo>
                  <a:pt x="857080" y="2074116"/>
                </a:lnTo>
                <a:lnTo>
                  <a:pt x="878507" y="2099394"/>
                </a:lnTo>
                <a:lnTo>
                  <a:pt x="899934" y="2123376"/>
                </a:lnTo>
                <a:lnTo>
                  <a:pt x="921361" y="2146062"/>
                </a:lnTo>
                <a:lnTo>
                  <a:pt x="942788" y="2167451"/>
                </a:lnTo>
                <a:lnTo>
                  <a:pt x="964215" y="2187544"/>
                </a:lnTo>
                <a:lnTo>
                  <a:pt x="985642" y="2206341"/>
                </a:lnTo>
                <a:lnTo>
                  <a:pt x="1007069" y="2223841"/>
                </a:lnTo>
                <a:lnTo>
                  <a:pt x="1028496" y="2240045"/>
                </a:lnTo>
                <a:lnTo>
                  <a:pt x="1049923" y="2254953"/>
                </a:lnTo>
                <a:lnTo>
                  <a:pt x="1071350" y="2268564"/>
                </a:lnTo>
                <a:lnTo>
                  <a:pt x="1092777" y="2280879"/>
                </a:lnTo>
                <a:lnTo>
                  <a:pt x="1114204" y="2291898"/>
                </a:lnTo>
                <a:lnTo>
                  <a:pt x="1135631" y="2301621"/>
                </a:lnTo>
                <a:lnTo>
                  <a:pt x="1157057" y="2310047"/>
                </a:lnTo>
                <a:lnTo>
                  <a:pt x="1178484" y="2317177"/>
                </a:lnTo>
                <a:lnTo>
                  <a:pt x="1199912" y="2323010"/>
                </a:lnTo>
                <a:lnTo>
                  <a:pt x="1221339" y="2327547"/>
                </a:lnTo>
                <a:lnTo>
                  <a:pt x="1242766" y="2330788"/>
                </a:lnTo>
                <a:lnTo>
                  <a:pt x="1264193" y="2332732"/>
                </a:lnTo>
                <a:lnTo>
                  <a:pt x="1285619" y="2333381"/>
                </a:lnTo>
                <a:lnTo>
                  <a:pt x="1307047" y="2332732"/>
                </a:lnTo>
                <a:lnTo>
                  <a:pt x="1328474" y="2330788"/>
                </a:lnTo>
                <a:lnTo>
                  <a:pt x="1349901" y="2327547"/>
                </a:lnTo>
                <a:lnTo>
                  <a:pt x="1371328" y="2323010"/>
                </a:lnTo>
                <a:lnTo>
                  <a:pt x="1392754" y="2317177"/>
                </a:lnTo>
                <a:lnTo>
                  <a:pt x="1414182" y="2310047"/>
                </a:lnTo>
                <a:lnTo>
                  <a:pt x="1435609" y="2301621"/>
                </a:lnTo>
                <a:lnTo>
                  <a:pt x="1457036" y="2291898"/>
                </a:lnTo>
                <a:lnTo>
                  <a:pt x="1478463" y="2280879"/>
                </a:lnTo>
                <a:lnTo>
                  <a:pt x="1499890" y="2268564"/>
                </a:lnTo>
                <a:lnTo>
                  <a:pt x="1521317" y="2254953"/>
                </a:lnTo>
                <a:lnTo>
                  <a:pt x="1542744" y="2240045"/>
                </a:lnTo>
                <a:lnTo>
                  <a:pt x="1564171" y="2223841"/>
                </a:lnTo>
                <a:lnTo>
                  <a:pt x="1585598" y="2206341"/>
                </a:lnTo>
                <a:lnTo>
                  <a:pt x="1607025" y="2187544"/>
                </a:lnTo>
                <a:lnTo>
                  <a:pt x="1628451" y="2167451"/>
                </a:lnTo>
                <a:lnTo>
                  <a:pt x="1649879" y="2146062"/>
                </a:lnTo>
                <a:lnTo>
                  <a:pt x="1671306" y="2123376"/>
                </a:lnTo>
                <a:lnTo>
                  <a:pt x="1692733" y="2099394"/>
                </a:lnTo>
                <a:lnTo>
                  <a:pt x="1714160" y="2074116"/>
                </a:lnTo>
                <a:lnTo>
                  <a:pt x="1735587" y="2047541"/>
                </a:lnTo>
                <a:lnTo>
                  <a:pt x="1757013" y="2019670"/>
                </a:lnTo>
                <a:lnTo>
                  <a:pt x="1778441" y="1990503"/>
                </a:lnTo>
                <a:lnTo>
                  <a:pt x="1799868" y="1960040"/>
                </a:lnTo>
                <a:lnTo>
                  <a:pt x="1821295" y="1928280"/>
                </a:lnTo>
                <a:lnTo>
                  <a:pt x="1842722" y="1895224"/>
                </a:lnTo>
                <a:lnTo>
                  <a:pt x="1864148" y="1860871"/>
                </a:lnTo>
                <a:lnTo>
                  <a:pt x="1885576" y="1825222"/>
                </a:lnTo>
                <a:lnTo>
                  <a:pt x="1907003" y="1788277"/>
                </a:lnTo>
                <a:lnTo>
                  <a:pt x="1928430" y="1750035"/>
                </a:lnTo>
                <a:lnTo>
                  <a:pt x="1949857" y="1710498"/>
                </a:lnTo>
                <a:lnTo>
                  <a:pt x="1971283" y="1669663"/>
                </a:lnTo>
                <a:lnTo>
                  <a:pt x="1992711" y="1627533"/>
                </a:lnTo>
                <a:lnTo>
                  <a:pt x="2014138" y="1584106"/>
                </a:lnTo>
                <a:lnTo>
                  <a:pt x="2035565" y="1539383"/>
                </a:lnTo>
                <a:lnTo>
                  <a:pt x="2056992" y="1493363"/>
                </a:lnTo>
                <a:lnTo>
                  <a:pt x="2078419" y="1446048"/>
                </a:lnTo>
                <a:lnTo>
                  <a:pt x="2099846" y="1397436"/>
                </a:lnTo>
                <a:lnTo>
                  <a:pt x="2121273" y="1347527"/>
                </a:lnTo>
                <a:lnTo>
                  <a:pt x="2142700" y="1296322"/>
                </a:lnTo>
                <a:lnTo>
                  <a:pt x="2164127" y="1243821"/>
                </a:lnTo>
                <a:lnTo>
                  <a:pt x="2185554" y="1190024"/>
                </a:lnTo>
                <a:lnTo>
                  <a:pt x="2206981" y="1134930"/>
                </a:lnTo>
                <a:lnTo>
                  <a:pt x="2228408" y="1078540"/>
                </a:lnTo>
                <a:lnTo>
                  <a:pt x="2249835" y="1020854"/>
                </a:lnTo>
                <a:lnTo>
                  <a:pt x="2271262" y="961871"/>
                </a:lnTo>
                <a:lnTo>
                  <a:pt x="2292689" y="901592"/>
                </a:lnTo>
                <a:lnTo>
                  <a:pt x="2314116" y="840017"/>
                </a:lnTo>
                <a:lnTo>
                  <a:pt x="2335542" y="777145"/>
                </a:lnTo>
                <a:lnTo>
                  <a:pt x="2356970" y="712977"/>
                </a:lnTo>
                <a:lnTo>
                  <a:pt x="2378397" y="647513"/>
                </a:lnTo>
                <a:lnTo>
                  <a:pt x="2399824" y="580752"/>
                </a:lnTo>
                <a:lnTo>
                  <a:pt x="2421251" y="512695"/>
                </a:lnTo>
                <a:lnTo>
                  <a:pt x="2442677" y="443342"/>
                </a:lnTo>
                <a:lnTo>
                  <a:pt x="2464105" y="372693"/>
                </a:lnTo>
                <a:lnTo>
                  <a:pt x="2485532" y="300747"/>
                </a:lnTo>
                <a:lnTo>
                  <a:pt x="2506959" y="227504"/>
                </a:lnTo>
                <a:lnTo>
                  <a:pt x="2528386" y="152966"/>
                </a:lnTo>
                <a:lnTo>
                  <a:pt x="2549813" y="77131"/>
                </a:lnTo>
                <a:lnTo>
                  <a:pt x="2571240" y="0"/>
                </a:lnTo>
              </a:path>
            </a:pathLst>
          </a:custGeom>
          <a:noFill/>
          <a:ln w="279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flipV="1">
            <a:off x="6103259" y="2356724"/>
            <a:ext cx="0" cy="2254181"/>
          </a:xfrm>
          <a:prstGeom prst="line">
            <a:avLst/>
          </a:prstGeom>
          <a:ln w="13970">
            <a:solidFill>
              <a:srgbClr val="E5E7EB"/>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4927856" y="2797076"/>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0" name="Connector 59"/>
          <p:cNvCxnSpPr/>
          <p:nvPr/>
        </p:nvCxnSpPr>
        <p:spPr>
          <a:xfrm>
            <a:off x="4989056" y="2858276"/>
            <a:ext cx="1002783" cy="0"/>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991839" y="2858276"/>
            <a:ext cx="0" cy="1735102"/>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5930639" y="4532178"/>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3" name="Connector 62"/>
          <p:cNvCxnSpPr/>
          <p:nvPr/>
        </p:nvCxnSpPr>
        <p:spPr>
          <a:xfrm>
            <a:off x="5991839" y="4593378"/>
            <a:ext cx="100278" cy="0"/>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092117" y="4593378"/>
            <a:ext cx="0" cy="17351"/>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6030917" y="4549529"/>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6" name="Connector 65"/>
          <p:cNvCxnSpPr/>
          <p:nvPr/>
        </p:nvCxnSpPr>
        <p:spPr>
          <a:xfrm>
            <a:off x="6092117" y="4610729"/>
            <a:ext cx="10028" cy="0"/>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102145" y="4610729"/>
            <a:ext cx="0" cy="174"/>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6040945" y="4549703"/>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4895456" y="2764676"/>
            <a:ext cx="187200" cy="187200"/>
          </a:xfrm>
          <a:prstGeom prst="ellipse">
            <a:avLst/>
          </a:prstGeom>
          <a:noFill/>
          <a:ln w="2032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4924256" y="2793476"/>
            <a:ext cx="129600" cy="1296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4767240" y="2111924"/>
            <a:ext cx="1512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loss L(w)</a:t>
            </a:r>
          </a:p>
        </p:txBody>
      </p:sp>
      <p:sp>
        <p:nvSpPr>
          <p:cNvPr id="72" name="TextBox 71"/>
          <p:cNvSpPr txBox="1"/>
          <p:nvPr/>
        </p:nvSpPr>
        <p:spPr>
          <a:xfrm>
            <a:off x="4767240" y="4668505"/>
            <a:ext cx="1080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w -&gt;</a:t>
            </a:r>
          </a:p>
        </p:txBody>
      </p:sp>
      <p:sp>
        <p:nvSpPr>
          <p:cNvPr id="73" name="TextBox 72"/>
          <p:cNvSpPr txBox="1"/>
          <p:nvPr/>
        </p:nvSpPr>
        <p:spPr>
          <a:xfrm>
            <a:off x="5311260" y="4668505"/>
            <a:ext cx="756000" cy="180000"/>
          </a:xfrm>
          <a:prstGeom prst="rect">
            <a:avLst/>
          </a:prstGeom>
          <a:noFill/>
        </p:spPr>
        <p:txBody>
          <a:bodyPr wrap="square" anchor="t" lIns="0" rIns="0" tIns="0" bIns="0">
            <a:spAutoFit/>
          </a:bodyPr>
          <a:lstStyle/>
          <a:p>
            <a:pPr algn="r">
              <a:lnSpc>
                <a:spcPct val="125000"/>
              </a:lnSpc>
            </a:pPr>
            <a:r>
              <a:rPr sz="1050" b="0" i="0">
                <a:solidFill>
                  <a:srgbClr val="6B7280"/>
                </a:solidFill>
                <a:latin typeface="Source Han Sans SC"/>
              </a:rPr>
              <a:t>w*</a:t>
            </a:r>
          </a:p>
        </p:txBody>
      </p:sp>
      <p:sp>
        <p:nvSpPr>
          <p:cNvPr id="74" name="TextBox 73"/>
          <p:cNvSpPr txBox="1"/>
          <p:nvPr/>
        </p:nvSpPr>
        <p:spPr>
          <a:xfrm>
            <a:off x="4702440" y="5024905"/>
            <a:ext cx="2787240" cy="546149"/>
          </a:xfrm>
          <a:prstGeom prst="rect">
            <a:avLst/>
          </a:prstGeom>
          <a:noFill/>
        </p:spPr>
        <p:txBody>
          <a:bodyPr wrap="square" anchor="t" lIns="0" rIns="0" tIns="0" bIns="0">
            <a:spAutoFit/>
          </a:bodyPr>
          <a:lstStyle/>
          <a:p>
            <a:pPr algn="ctr">
              <a:lnSpc>
                <a:spcPct val="125000"/>
              </a:lnSpc>
            </a:pPr>
            <a:r>
              <a:rPr sz="1150" b="1" i="0">
                <a:solidFill>
                  <a:srgbClr val="059669"/>
                </a:solidFill>
                <a:latin typeface="Source Han Sans SC"/>
              </a:rPr>
              <a:t>At the bottom in 3 steps</a:t>
            </a:r>
            <a:r>
              <a:rPr sz="900" b="0" i="0">
                <a:solidFill>
                  <a:srgbClr val="6B7280"/>
                </a:solidFill>
                <a:latin typeface="Source Han Sans SC"/>
              </a:rPr>
              <a:t> ｜ </a:t>
            </a:r>
            <a:r>
              <a:rPr sz="900" b="0" i="0">
                <a:solidFill>
                  <a:srgbClr val="6B7280"/>
                </a:solidFill>
                <a:latin typeface="Source Han Sans SC"/>
              </a:rPr>
              <a:t>3 步落到最低点</a:t>
            </a:r>
          </a:p>
        </p:txBody>
      </p:sp>
      <p:sp>
        <p:nvSpPr>
          <p:cNvPr id="75" name="Rounded Rectangle 74"/>
          <p:cNvSpPr/>
          <p:nvPr/>
        </p:nvSpPr>
        <p:spPr>
          <a:xfrm>
            <a:off x="8065679" y="1188000"/>
            <a:ext cx="3327240" cy="4268905"/>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335679" y="1389600"/>
            <a:ext cx="2787240" cy="355649"/>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Too large</a:t>
            </a:r>
            <a:r>
              <a:rPr sz="1010" b="0" i="0">
                <a:solidFill>
                  <a:srgbClr val="6B7280"/>
                </a:solidFill>
                <a:latin typeface="Source Han Sans SC"/>
              </a:rPr>
              <a:t> ｜ </a:t>
            </a:r>
            <a:r>
              <a:rPr sz="1010" b="0" i="0">
                <a:solidFill>
                  <a:srgbClr val="6B7280"/>
                </a:solidFill>
                <a:latin typeface="Source Han Sans SC"/>
              </a:rPr>
              <a:t>太大</a:t>
            </a:r>
          </a:p>
        </p:txBody>
      </p:sp>
      <p:sp>
        <p:nvSpPr>
          <p:cNvPr id="77" name="TextBox 76"/>
          <p:cNvSpPr txBox="1"/>
          <p:nvPr/>
        </p:nvSpPr>
        <p:spPr>
          <a:xfrm>
            <a:off x="8335679" y="1716449"/>
            <a:ext cx="2787240" cy="327074"/>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lr = 1.15  ·  diverges</a:t>
            </a:r>
          </a:p>
        </p:txBody>
      </p:sp>
      <p:cxnSp>
        <p:nvCxnSpPr>
          <p:cNvPr id="78" name="Connector 77"/>
          <p:cNvCxnSpPr/>
          <p:nvPr/>
        </p:nvCxnSpPr>
        <p:spPr>
          <a:xfrm>
            <a:off x="8450880" y="4610905"/>
            <a:ext cx="2506440" cy="0"/>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8450880" y="2349524"/>
            <a:ext cx="0" cy="2261381"/>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5400000">
            <a:off x="10917720" y="4538905"/>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Isosceles Triangle 80"/>
          <p:cNvSpPr/>
          <p:nvPr/>
        </p:nvSpPr>
        <p:spPr>
          <a:xfrm>
            <a:off x="8378879" y="2237924"/>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Freeform 81"/>
          <p:cNvSpPr/>
          <p:nvPr/>
        </p:nvSpPr>
        <p:spPr>
          <a:xfrm>
            <a:off x="8450880" y="2277524"/>
            <a:ext cx="2571239" cy="2333381"/>
          </a:xfrm>
          <a:custGeom>
            <a:avLst/>
            <a:gdLst/>
            <a:ahLst/>
            <a:cxnLst/>
            <a:rect l="l" t="t" r="r" b="b"/>
            <a:pathLst>
              <a:path w="2571239" h="2333381">
                <a:moveTo>
                  <a:pt x="0" y="0"/>
                </a:moveTo>
                <a:lnTo>
                  <a:pt x="21426" y="77131"/>
                </a:lnTo>
                <a:lnTo>
                  <a:pt x="42853" y="152966"/>
                </a:lnTo>
                <a:lnTo>
                  <a:pt x="64281" y="227504"/>
                </a:lnTo>
                <a:lnTo>
                  <a:pt x="85708" y="300747"/>
                </a:lnTo>
                <a:lnTo>
                  <a:pt x="107135" y="372693"/>
                </a:lnTo>
                <a:lnTo>
                  <a:pt x="128561" y="443342"/>
                </a:lnTo>
                <a:lnTo>
                  <a:pt x="149988" y="512695"/>
                </a:lnTo>
                <a:lnTo>
                  <a:pt x="171415" y="580752"/>
                </a:lnTo>
                <a:lnTo>
                  <a:pt x="192843" y="647513"/>
                </a:lnTo>
                <a:lnTo>
                  <a:pt x="214270" y="712977"/>
                </a:lnTo>
                <a:lnTo>
                  <a:pt x="235696" y="777145"/>
                </a:lnTo>
                <a:lnTo>
                  <a:pt x="257123" y="840017"/>
                </a:lnTo>
                <a:lnTo>
                  <a:pt x="278550" y="901592"/>
                </a:lnTo>
                <a:lnTo>
                  <a:pt x="299978" y="961871"/>
                </a:lnTo>
                <a:lnTo>
                  <a:pt x="321405" y="1020854"/>
                </a:lnTo>
                <a:lnTo>
                  <a:pt x="342832" y="1078540"/>
                </a:lnTo>
                <a:lnTo>
                  <a:pt x="364258" y="1134930"/>
                </a:lnTo>
                <a:lnTo>
                  <a:pt x="385685" y="1190024"/>
                </a:lnTo>
                <a:lnTo>
                  <a:pt x="407112" y="1243821"/>
                </a:lnTo>
                <a:lnTo>
                  <a:pt x="428540" y="1296322"/>
                </a:lnTo>
                <a:lnTo>
                  <a:pt x="449967" y="1347527"/>
                </a:lnTo>
                <a:lnTo>
                  <a:pt x="471393" y="1397436"/>
                </a:lnTo>
                <a:lnTo>
                  <a:pt x="492820" y="1446048"/>
                </a:lnTo>
                <a:lnTo>
                  <a:pt x="514247" y="1493363"/>
                </a:lnTo>
                <a:lnTo>
                  <a:pt x="535675" y="1539383"/>
                </a:lnTo>
                <a:lnTo>
                  <a:pt x="557102" y="1584106"/>
                </a:lnTo>
                <a:lnTo>
                  <a:pt x="578529" y="1627533"/>
                </a:lnTo>
                <a:lnTo>
                  <a:pt x="599955" y="1669663"/>
                </a:lnTo>
                <a:lnTo>
                  <a:pt x="621382" y="1710498"/>
                </a:lnTo>
                <a:lnTo>
                  <a:pt x="642810" y="1750035"/>
                </a:lnTo>
                <a:lnTo>
                  <a:pt x="664237" y="1788277"/>
                </a:lnTo>
                <a:lnTo>
                  <a:pt x="685664" y="1825222"/>
                </a:lnTo>
                <a:lnTo>
                  <a:pt x="707090" y="1860871"/>
                </a:lnTo>
                <a:lnTo>
                  <a:pt x="728517" y="1895224"/>
                </a:lnTo>
                <a:lnTo>
                  <a:pt x="749945" y="1928280"/>
                </a:lnTo>
                <a:lnTo>
                  <a:pt x="771372" y="1960040"/>
                </a:lnTo>
                <a:lnTo>
                  <a:pt x="792799" y="1990503"/>
                </a:lnTo>
                <a:lnTo>
                  <a:pt x="814226" y="2019670"/>
                </a:lnTo>
                <a:lnTo>
                  <a:pt x="835652" y="2047541"/>
                </a:lnTo>
                <a:lnTo>
                  <a:pt x="857079" y="2074116"/>
                </a:lnTo>
                <a:lnTo>
                  <a:pt x="878506" y="2099394"/>
                </a:lnTo>
                <a:lnTo>
                  <a:pt x="899934" y="2123376"/>
                </a:lnTo>
                <a:lnTo>
                  <a:pt x="921361" y="2146062"/>
                </a:lnTo>
                <a:lnTo>
                  <a:pt x="942787" y="2167451"/>
                </a:lnTo>
                <a:lnTo>
                  <a:pt x="964214" y="2187544"/>
                </a:lnTo>
                <a:lnTo>
                  <a:pt x="985641" y="2206341"/>
                </a:lnTo>
                <a:lnTo>
                  <a:pt x="1007069" y="2223841"/>
                </a:lnTo>
                <a:lnTo>
                  <a:pt x="1028496" y="2240045"/>
                </a:lnTo>
                <a:lnTo>
                  <a:pt x="1049923" y="2254953"/>
                </a:lnTo>
                <a:lnTo>
                  <a:pt x="1071349" y="2268564"/>
                </a:lnTo>
                <a:lnTo>
                  <a:pt x="1092776" y="2280879"/>
                </a:lnTo>
                <a:lnTo>
                  <a:pt x="1114204" y="2291898"/>
                </a:lnTo>
                <a:lnTo>
                  <a:pt x="1135631" y="2301621"/>
                </a:lnTo>
                <a:lnTo>
                  <a:pt x="1157058" y="2310047"/>
                </a:lnTo>
                <a:lnTo>
                  <a:pt x="1178484" y="2317177"/>
                </a:lnTo>
                <a:lnTo>
                  <a:pt x="1199911" y="2323010"/>
                </a:lnTo>
                <a:lnTo>
                  <a:pt x="1221339" y="2327547"/>
                </a:lnTo>
                <a:lnTo>
                  <a:pt x="1242766" y="2330788"/>
                </a:lnTo>
                <a:lnTo>
                  <a:pt x="1264193" y="2332732"/>
                </a:lnTo>
                <a:lnTo>
                  <a:pt x="1285619" y="2333381"/>
                </a:lnTo>
                <a:lnTo>
                  <a:pt x="1307046" y="2332732"/>
                </a:lnTo>
                <a:lnTo>
                  <a:pt x="1328474" y="2330788"/>
                </a:lnTo>
                <a:lnTo>
                  <a:pt x="1349901" y="2327547"/>
                </a:lnTo>
                <a:lnTo>
                  <a:pt x="1371328" y="2323010"/>
                </a:lnTo>
                <a:lnTo>
                  <a:pt x="1392755" y="2317177"/>
                </a:lnTo>
                <a:lnTo>
                  <a:pt x="1414181" y="2310047"/>
                </a:lnTo>
                <a:lnTo>
                  <a:pt x="1435608" y="2301621"/>
                </a:lnTo>
                <a:lnTo>
                  <a:pt x="1457035" y="2291898"/>
                </a:lnTo>
                <a:lnTo>
                  <a:pt x="1478463" y="2280879"/>
                </a:lnTo>
                <a:lnTo>
                  <a:pt x="1499890" y="2268564"/>
                </a:lnTo>
                <a:lnTo>
                  <a:pt x="1521316" y="2254953"/>
                </a:lnTo>
                <a:lnTo>
                  <a:pt x="1542743" y="2240045"/>
                </a:lnTo>
                <a:lnTo>
                  <a:pt x="1564170" y="2223841"/>
                </a:lnTo>
                <a:lnTo>
                  <a:pt x="1585598" y="2206341"/>
                </a:lnTo>
                <a:lnTo>
                  <a:pt x="1607025" y="2187544"/>
                </a:lnTo>
                <a:lnTo>
                  <a:pt x="1628452" y="2167451"/>
                </a:lnTo>
                <a:lnTo>
                  <a:pt x="1649878" y="2146062"/>
                </a:lnTo>
                <a:lnTo>
                  <a:pt x="1671305" y="2123376"/>
                </a:lnTo>
                <a:lnTo>
                  <a:pt x="1692733" y="2099394"/>
                </a:lnTo>
                <a:lnTo>
                  <a:pt x="1714159" y="2074116"/>
                </a:lnTo>
                <a:lnTo>
                  <a:pt x="1735587" y="2047541"/>
                </a:lnTo>
                <a:lnTo>
                  <a:pt x="1757013" y="2019670"/>
                </a:lnTo>
                <a:lnTo>
                  <a:pt x="1778440" y="1990503"/>
                </a:lnTo>
                <a:lnTo>
                  <a:pt x="1799868" y="1960040"/>
                </a:lnTo>
                <a:lnTo>
                  <a:pt x="1821295" y="1928280"/>
                </a:lnTo>
                <a:lnTo>
                  <a:pt x="1842722" y="1895224"/>
                </a:lnTo>
                <a:lnTo>
                  <a:pt x="1864149" y="1860871"/>
                </a:lnTo>
                <a:lnTo>
                  <a:pt x="1885575" y="1825222"/>
                </a:lnTo>
                <a:lnTo>
                  <a:pt x="1907003" y="1788277"/>
                </a:lnTo>
                <a:lnTo>
                  <a:pt x="1928429" y="1750035"/>
                </a:lnTo>
                <a:lnTo>
                  <a:pt x="1949857" y="1710498"/>
                </a:lnTo>
                <a:lnTo>
                  <a:pt x="1971284" y="1669663"/>
                </a:lnTo>
                <a:lnTo>
                  <a:pt x="1992710" y="1627533"/>
                </a:lnTo>
                <a:lnTo>
                  <a:pt x="2014137" y="1584106"/>
                </a:lnTo>
                <a:lnTo>
                  <a:pt x="2035564" y="1539383"/>
                </a:lnTo>
                <a:lnTo>
                  <a:pt x="2056992" y="1493363"/>
                </a:lnTo>
                <a:lnTo>
                  <a:pt x="2078418" y="1446048"/>
                </a:lnTo>
                <a:lnTo>
                  <a:pt x="2099846" y="1397436"/>
                </a:lnTo>
                <a:lnTo>
                  <a:pt x="2121272" y="1347527"/>
                </a:lnTo>
                <a:lnTo>
                  <a:pt x="2142699" y="1296322"/>
                </a:lnTo>
                <a:lnTo>
                  <a:pt x="2164127" y="1243821"/>
                </a:lnTo>
                <a:lnTo>
                  <a:pt x="2185554" y="1190024"/>
                </a:lnTo>
                <a:lnTo>
                  <a:pt x="2206981" y="1134930"/>
                </a:lnTo>
                <a:lnTo>
                  <a:pt x="2228407" y="1078540"/>
                </a:lnTo>
                <a:lnTo>
                  <a:pt x="2249834" y="1020854"/>
                </a:lnTo>
                <a:lnTo>
                  <a:pt x="2271261" y="961871"/>
                </a:lnTo>
                <a:lnTo>
                  <a:pt x="2292688" y="901592"/>
                </a:lnTo>
                <a:lnTo>
                  <a:pt x="2314116" y="840017"/>
                </a:lnTo>
                <a:lnTo>
                  <a:pt x="2335542" y="777145"/>
                </a:lnTo>
                <a:lnTo>
                  <a:pt x="2356969" y="712977"/>
                </a:lnTo>
                <a:lnTo>
                  <a:pt x="2378396" y="647513"/>
                </a:lnTo>
                <a:lnTo>
                  <a:pt x="2399823" y="580752"/>
                </a:lnTo>
                <a:lnTo>
                  <a:pt x="2421251" y="512695"/>
                </a:lnTo>
                <a:lnTo>
                  <a:pt x="2442678" y="443342"/>
                </a:lnTo>
                <a:lnTo>
                  <a:pt x="2464104" y="372693"/>
                </a:lnTo>
                <a:lnTo>
                  <a:pt x="2485531" y="300747"/>
                </a:lnTo>
                <a:lnTo>
                  <a:pt x="2506958" y="227504"/>
                </a:lnTo>
                <a:lnTo>
                  <a:pt x="2528386" y="152966"/>
                </a:lnTo>
                <a:lnTo>
                  <a:pt x="2549813" y="77131"/>
                </a:lnTo>
                <a:lnTo>
                  <a:pt x="2571239" y="0"/>
                </a:lnTo>
              </a:path>
            </a:pathLst>
          </a:custGeom>
          <a:noFill/>
          <a:ln w="279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flipV="1">
            <a:off x="9736499" y="2356724"/>
            <a:ext cx="0" cy="2254181"/>
          </a:xfrm>
          <a:prstGeom prst="line">
            <a:avLst/>
          </a:prstGeom>
          <a:ln w="13970">
            <a:solidFill>
              <a:srgbClr val="E5E7EB"/>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8903927" y="3709687"/>
            <a:ext cx="122400" cy="12240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85" name="Connector 84"/>
          <p:cNvCxnSpPr/>
          <p:nvPr/>
        </p:nvCxnSpPr>
        <p:spPr>
          <a:xfrm>
            <a:off x="8965127" y="3770887"/>
            <a:ext cx="1774156" cy="0"/>
          </a:xfrm>
          <a:prstGeom prst="line">
            <a:avLst/>
          </a:prstGeom>
          <a:ln w="19050">
            <a:solidFill>
              <a:srgbClr val="B91C1C"/>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739283" y="3191276"/>
            <a:ext cx="0" cy="579611"/>
          </a:xfrm>
          <a:prstGeom prst="line">
            <a:avLst/>
          </a:prstGeom>
          <a:ln w="19050">
            <a:solidFill>
              <a:srgbClr val="B91C1C"/>
            </a:solidFill>
          </a:ln>
          <a:effectLst/>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0678083" y="3130076"/>
            <a:ext cx="122400" cy="12240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8871527" y="3677287"/>
            <a:ext cx="187200" cy="187200"/>
          </a:xfrm>
          <a:prstGeom prst="ellipse">
            <a:avLst/>
          </a:prstGeom>
          <a:noFill/>
          <a:ln w="2032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8900327" y="3706087"/>
            <a:ext cx="129600" cy="1296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400479" y="2111924"/>
            <a:ext cx="1512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loss L(w)</a:t>
            </a:r>
          </a:p>
        </p:txBody>
      </p:sp>
      <p:sp>
        <p:nvSpPr>
          <p:cNvPr id="91" name="TextBox 90"/>
          <p:cNvSpPr txBox="1"/>
          <p:nvPr/>
        </p:nvSpPr>
        <p:spPr>
          <a:xfrm>
            <a:off x="8400479" y="4668505"/>
            <a:ext cx="1080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w -&gt;</a:t>
            </a:r>
          </a:p>
        </p:txBody>
      </p:sp>
      <p:sp>
        <p:nvSpPr>
          <p:cNvPr id="92" name="TextBox 91"/>
          <p:cNvSpPr txBox="1"/>
          <p:nvPr/>
        </p:nvSpPr>
        <p:spPr>
          <a:xfrm>
            <a:off x="8944500" y="4668505"/>
            <a:ext cx="756000" cy="180000"/>
          </a:xfrm>
          <a:prstGeom prst="rect">
            <a:avLst/>
          </a:prstGeom>
          <a:noFill/>
        </p:spPr>
        <p:txBody>
          <a:bodyPr wrap="square" anchor="t" lIns="0" rIns="0" tIns="0" bIns="0">
            <a:spAutoFit/>
          </a:bodyPr>
          <a:lstStyle/>
          <a:p>
            <a:pPr algn="r">
              <a:lnSpc>
                <a:spcPct val="125000"/>
              </a:lnSpc>
            </a:pPr>
            <a:r>
              <a:rPr sz="1050" b="0" i="0">
                <a:solidFill>
                  <a:srgbClr val="6B7280"/>
                </a:solidFill>
                <a:latin typeface="Source Han Sans SC"/>
              </a:rPr>
              <a:t>w*</a:t>
            </a:r>
          </a:p>
        </p:txBody>
      </p:sp>
      <p:sp>
        <p:nvSpPr>
          <p:cNvPr id="93" name="TextBox 92"/>
          <p:cNvSpPr txBox="1"/>
          <p:nvPr/>
        </p:nvSpPr>
        <p:spPr>
          <a:xfrm>
            <a:off x="8335679" y="5024905"/>
            <a:ext cx="2787240" cy="546149"/>
          </a:xfrm>
          <a:prstGeom prst="rect">
            <a:avLst/>
          </a:prstGeom>
          <a:noFill/>
        </p:spPr>
        <p:txBody>
          <a:bodyPr wrap="square" anchor="t" lIns="0" rIns="0" tIns="0" bIns="0">
            <a:spAutoFit/>
          </a:bodyPr>
          <a:lstStyle/>
          <a:p>
            <a:pPr algn="ctr">
              <a:lnSpc>
                <a:spcPct val="125000"/>
              </a:lnSpc>
            </a:pPr>
            <a:r>
              <a:rPr sz="1150" b="1" i="0">
                <a:solidFill>
                  <a:srgbClr val="B91C1C"/>
                </a:solidFill>
                <a:latin typeface="Source Han Sans SC"/>
              </a:rPr>
              <a:t>Every step lands further away</a:t>
            </a:r>
            <a:r>
              <a:rPr sz="900" b="0" i="0">
                <a:solidFill>
                  <a:srgbClr val="6B7280"/>
                </a:solidFill>
                <a:latin typeface="Source Han Sans SC"/>
              </a:rPr>
              <a:t> ｜ </a:t>
            </a:r>
            <a:r>
              <a:rPr sz="900" b="0" i="0">
                <a:solidFill>
                  <a:srgbClr val="6B7280"/>
                </a:solidFill>
                <a:latin typeface="Source Han Sans SC"/>
              </a:rPr>
              <a:t>每走一步，离谷底更远</a:t>
            </a:r>
          </a:p>
        </p:txBody>
      </p:sp>
      <p:sp>
        <p:nvSpPr>
          <p:cNvPr id="94" name="TextBox 93"/>
          <p:cNvSpPr txBox="1"/>
          <p:nvPr/>
        </p:nvSpPr>
        <p:spPr>
          <a:xfrm>
            <a:off x="799200" y="5644105"/>
            <a:ext cx="10593719" cy="648000"/>
          </a:xfrm>
          <a:prstGeom prst="rect">
            <a:avLst/>
          </a:prstGeom>
          <a:noFill/>
        </p:spPr>
        <p:txBody>
          <a:bodyPr wrap="square" anchor="t" lIns="0" rIns="0" tIns="0" bIns="0">
            <a:spAutoFit/>
          </a:bodyPr>
          <a:lstStyle/>
          <a:p>
            <a:pPr algn="l">
              <a:lnSpc>
                <a:spcPct val="135000"/>
              </a:lnSpc>
            </a:pPr>
            <a:r>
              <a:rPr sz="1200" b="0" i="0">
                <a:solidFill>
                  <a:srgbClr val="6B7280"/>
                </a:solidFill>
                <a:latin typeface="Source Han Sans SC"/>
              </a:rPr>
              <a:t>Loss L(w) = (w - 3)^2 with plain gradient descent w &lt;- w - lr*2(w-3). The curve and the start are identical in all three panels; the only thing that changes is the size of one step.</a:t>
            </a:r>
          </a:p>
          <a:p>
            <a:pPr algn="l">
              <a:lnSpc>
                <a:spcPct val="105000"/>
              </a:lnSpc>
              <a:spcBef>
                <a:spcPts val="150"/>
              </a:spcBef>
            </a:pPr>
            <a:r>
              <a:rPr sz="940" b="0" i="0">
                <a:solidFill>
                  <a:srgbClr val="6B7280"/>
                </a:solidFill>
                <a:latin typeface="Source Han Sans SC"/>
              </a:rPr>
              <a:t>损失 L(w) = (w − 3)²，梯度下降 w ← w − lr·2(w − 3)。三张图的曲线与起点完全一样，唯一变化的是每一步的步长。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Diagnosing lr: Same Model, Same Data, Only lr Changes</a:t>
            </a:r>
          </a:p>
          <a:p>
            <a:pPr algn="l">
              <a:lnSpc>
                <a:spcPct val="105000"/>
              </a:lnSpc>
              <a:spcBef>
                <a:spcPts val="150"/>
              </a:spcBef>
            </a:pPr>
            <a:r>
              <a:rPr sz="1210" b="0" i="0">
                <a:solidFill>
                  <a:srgbClr val="6B7280"/>
                </a:solidFill>
                <a:latin typeface="Source Han Sans SC"/>
              </a:rPr>
              <a:t>学习率诊断：同一模型、同一数据，只改 lr</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17 / 31</a:t>
            </a:r>
          </a:p>
        </p:txBody>
      </p:sp>
      <p:graphicFrame>
        <p:nvGraphicFramePr>
          <p:cNvPr id="9" name="Chart 8"/>
          <p:cNvGraphicFramePr>
            <a:graphicFrameLocks noGrp="1"/>
          </p:cNvGraphicFramePr>
          <p:nvPr/>
        </p:nvGraphicFramePr>
        <p:xfrm>
          <a:off x="799200" y="1152000"/>
          <a:ext cx="6840000" cy="4248000"/>
        </p:xfrm>
        <a:graphic>
          <a:graphicData uri="http://schemas.openxmlformats.org/drawingml/2006/chart">
            <c:chart xmlns:c="http://schemas.openxmlformats.org/drawingml/2006/chart" r:id="rId2"/>
          </a:graphicData>
        </a:graphic>
      </p:graphicFrame>
      <p:sp>
        <p:nvSpPr>
          <p:cNvPr id="10" name="TextBox 9"/>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150" b="0" i="0">
                <a:solidFill>
                  <a:srgbClr val="1F2937"/>
                </a:solidFill>
                <a:latin typeface="Source Han Sans SC"/>
              </a:rPr>
              <a:t>• The red line oscillates and never descends → lr too large</a:t>
            </a:r>
            <a:r>
              <a:rPr sz="900" b="0" i="0">
                <a:solidFill>
                  <a:srgbClr val="6B7280"/>
                </a:solidFill>
                <a:latin typeface="Source Han Sans SC"/>
              </a:rPr>
              <a:t> ｜ </a:t>
            </a:r>
            <a:r>
              <a:rPr sz="900" b="0" i="0">
                <a:solidFill>
                  <a:srgbClr val="6B7280"/>
                </a:solidFill>
                <a:latin typeface="Source Han Sans SC"/>
              </a:rPr>
              <a:t>• 红线上下震荡、始终不降 → 学习率过大</a:t>
            </a:r>
          </a:p>
          <a:p>
            <a:pPr algn="l">
              <a:lnSpc>
                <a:spcPct val="145000"/>
              </a:lnSpc>
              <a:spcAft>
                <a:spcPts val="800"/>
              </a:spcAft>
            </a:pPr>
            <a:r>
              <a:rPr sz="1150" b="0" i="0">
                <a:solidFill>
                  <a:srgbClr val="1F2937"/>
                </a:solidFill>
                <a:latin typeface="Source Han Sans SC"/>
              </a:rPr>
              <a:t>• The grey line is almost flat → lr too small (not a weak model)</a:t>
            </a:r>
            <a:r>
              <a:rPr sz="900" b="0" i="0">
                <a:solidFill>
                  <a:srgbClr val="6B7280"/>
                </a:solidFill>
                <a:latin typeface="Source Han Sans SC"/>
              </a:rPr>
              <a:t> ｜ </a:t>
            </a:r>
            <a:r>
              <a:rPr sz="900" b="0" i="0">
                <a:solidFill>
                  <a:srgbClr val="6B7280"/>
                </a:solidFill>
                <a:latin typeface="Source Han Sans SC"/>
              </a:rPr>
              <a:t>• 灰线几乎水平 → 学习率过小（不是模型不行）</a:t>
            </a:r>
          </a:p>
          <a:p>
            <a:pPr algn="l">
              <a:lnSpc>
                <a:spcPct val="145000"/>
              </a:lnSpc>
              <a:spcAft>
                <a:spcPts val="800"/>
              </a:spcAft>
            </a:pPr>
            <a:r>
              <a:rPr sz="1150" b="0" i="0">
                <a:solidFill>
                  <a:srgbClr val="1F2937"/>
                </a:solidFill>
                <a:latin typeface="Source Han Sans SC"/>
              </a:rPr>
              <a:t>• The green line falls steadily → this is the state where more epochs help</a:t>
            </a:r>
            <a:r>
              <a:rPr sz="900" b="0" i="0">
                <a:solidFill>
                  <a:srgbClr val="6B7280"/>
                </a:solidFill>
                <a:latin typeface="Source Han Sans SC"/>
              </a:rPr>
              <a:t> ｜ </a:t>
            </a:r>
            <a:r>
              <a:rPr sz="900" b="0" i="0">
                <a:solidFill>
                  <a:srgbClr val="6B7280"/>
                </a:solidFill>
                <a:latin typeface="Source Han Sans SC"/>
              </a:rPr>
              <a:t>• 绿线单调平稳下降 → 这才是可以继续加 epoch 的状态</a:t>
            </a:r>
          </a:p>
          <a:p>
            <a:pPr algn="l">
              <a:lnSpc>
                <a:spcPct val="145000"/>
              </a:lnSpc>
              <a:spcAft>
                <a:spcPts val="800"/>
              </a:spcAft>
            </a:pPr>
            <a:r>
              <a:rPr sz="1150" b="0" i="0">
                <a:solidFill>
                  <a:srgbClr val="1F2937"/>
                </a:solidFill>
                <a:latin typeface="Source Han Sans SC"/>
              </a:rPr>
              <a:t>• Lab 4 requires you to produce these three curves yourself, not copy them</a:t>
            </a:r>
            <a:r>
              <a:rPr sz="900" b="0" i="0">
                <a:solidFill>
                  <a:srgbClr val="6B7280"/>
                </a:solidFill>
                <a:latin typeface="Source Han Sans SC"/>
              </a:rPr>
              <a:t> ｜ </a:t>
            </a:r>
            <a:r>
              <a:rPr sz="900" b="0" i="0">
                <a:solidFill>
                  <a:srgbClr val="6B7280"/>
                </a:solidFill>
                <a:latin typeface="Source Han Sans SC"/>
              </a:rPr>
              <a:t>• 实验 4 要求你亲手跑出这三条线，而不是照抄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04</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04</a:t>
            </a:r>
          </a:p>
        </p:txBody>
      </p:sp>
      <p:sp>
        <p:nvSpPr>
          <p:cNvPr id="7" name="TextBox 6"/>
          <p:cNvSpPr txBox="1"/>
          <p:nvPr/>
        </p:nvSpPr>
        <p:spPr>
          <a:xfrm>
            <a:off x="2379600" y="1105200"/>
            <a:ext cx="5040000" cy="1624377"/>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The Five-Step Training Loop</a:t>
            </a:r>
          </a:p>
          <a:p>
            <a:pPr algn="l">
              <a:lnSpc>
                <a:spcPct val="105000"/>
              </a:lnSpc>
              <a:spcBef>
                <a:spcPts val="150"/>
              </a:spcBef>
            </a:pPr>
            <a:r>
              <a:rPr sz="2340" b="0" i="0">
                <a:solidFill>
                  <a:srgbClr val="6B7280"/>
                </a:solidFill>
                <a:latin typeface="Source Han Sans SC"/>
              </a:rPr>
              <a:t>训练循环五步法</a:t>
            </a:r>
          </a:p>
        </p:txBody>
      </p:sp>
      <p:sp>
        <p:nvSpPr>
          <p:cNvPr id="8" name="TextBox 7"/>
          <p:cNvSpPr txBox="1"/>
          <p:nvPr/>
        </p:nvSpPr>
        <p:spPr>
          <a:xfrm>
            <a:off x="799200" y="2801577"/>
            <a:ext cx="8640000" cy="163751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However complex a training script looks, its core is these five steps. Memorise them and you can read any PyTorch code.</a:t>
            </a:r>
          </a:p>
          <a:p>
            <a:pPr algn="l">
              <a:lnSpc>
                <a:spcPct val="150000"/>
              </a:lnSpc>
            </a:pPr>
            <a:r>
              <a:rPr sz="1500" b="0" i="0">
                <a:solidFill>
                  <a:srgbClr val="1F2937"/>
                </a:solidFill>
                <a:latin typeface="Source Han Sans SC"/>
              </a:rPr>
              <a:t>The goal here is not to recognise it, but to reproduce it from memory.</a:t>
            </a:r>
          </a:p>
          <a:p>
            <a:pPr algn="l">
              <a:lnSpc>
                <a:spcPct val="105000"/>
              </a:lnSpc>
              <a:spcBef>
                <a:spcPts val="150"/>
              </a:spcBef>
            </a:pPr>
            <a:r>
              <a:rPr sz="1170" b="0" i="0">
                <a:solidFill>
                  <a:srgbClr val="6B7280"/>
                </a:solidFill>
                <a:latin typeface="Source Han Sans SC"/>
              </a:rPr>
              <a:t>再复杂的训练脚本，内核都是这五步。把它背下来，你就能读懂任何一份 PyTorch 代码。</a:t>
            </a:r>
          </a:p>
          <a:p>
            <a:pPr algn="l">
              <a:lnSpc>
                <a:spcPct val="105000"/>
              </a:lnSpc>
              <a:spcBef>
                <a:spcPts val="150"/>
              </a:spcBef>
            </a:pPr>
            <a:r>
              <a:rPr sz="1170" b="0" i="0">
                <a:solidFill>
                  <a:srgbClr val="6B7280"/>
                </a:solidFill>
                <a:latin typeface="Source Han Sans SC"/>
              </a:rPr>
              <a:t>这一部分的目标不是「看懂」，而是「默写出来」。</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Order Matters</a:t>
            </a:r>
            <a:r>
              <a:rPr sz="1010" b="0" i="0">
                <a:solidFill>
                  <a:srgbClr val="6B7280"/>
                </a:solidFill>
                <a:latin typeface="Source Han Sans SC"/>
              </a:rPr>
              <a:t> ｜ </a:t>
            </a:r>
            <a:r>
              <a:rPr sz="1010" b="0" i="0">
                <a:solidFill>
                  <a:srgbClr val="6B7280"/>
                </a:solidFill>
                <a:latin typeface="Source Han Sans SC"/>
              </a:rPr>
              <a:t>顺序不能错</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Especially step 1</a:t>
            </a:r>
          </a:p>
          <a:p>
            <a:pPr algn="l">
              <a:lnSpc>
                <a:spcPct val="105000"/>
              </a:lnSpc>
              <a:spcBef>
                <a:spcPts val="150"/>
              </a:spcBef>
            </a:pPr>
            <a:r>
              <a:rPr sz="800" b="0" i="0">
                <a:solidFill>
                  <a:srgbClr val="6B7280"/>
                </a:solidFill>
                <a:latin typeface="Source Han Sans SC"/>
              </a:rPr>
              <a:t>尤其是第 1 步</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Write, Then Check</a:t>
            </a:r>
            <a:r>
              <a:rPr sz="1010" b="0" i="0">
                <a:solidFill>
                  <a:srgbClr val="6B7280"/>
                </a:solidFill>
                <a:latin typeface="Source Han Sans SC"/>
              </a:rPr>
              <a:t> ｜ </a:t>
            </a:r>
            <a:r>
              <a:rPr sz="1010" b="0" i="0">
                <a:solidFill>
                  <a:srgbClr val="6B7280"/>
                </a:solidFill>
                <a:latin typeface="Source Han Sans SC"/>
              </a:rPr>
              <a:t>先默写再对照</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Close the slides and write it first</a:t>
            </a:r>
          </a:p>
          <a:p>
            <a:pPr algn="l">
              <a:lnSpc>
                <a:spcPct val="105000"/>
              </a:lnSpc>
              <a:spcBef>
                <a:spcPts val="150"/>
              </a:spcBef>
            </a:pPr>
            <a:r>
              <a:rPr sz="800" b="0" i="0">
                <a:solidFill>
                  <a:srgbClr val="6B7280"/>
                </a:solidFill>
                <a:latin typeface="Source Han Sans SC"/>
              </a:rPr>
              <a:t>先合上讲义写一遍</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Leave a Log</a:t>
            </a:r>
            <a:r>
              <a:rPr sz="1010" b="0" i="0">
                <a:solidFill>
                  <a:srgbClr val="6B7280"/>
                </a:solidFill>
                <a:latin typeface="Source Han Sans SC"/>
              </a:rPr>
              <a:t> ｜ </a:t>
            </a:r>
            <a:r>
              <a:rPr sz="1010" b="0" i="0">
                <a:solidFill>
                  <a:srgbClr val="6B7280"/>
                </a:solidFill>
                <a:latin typeface="Source Han Sans SC"/>
              </a:rPr>
              <a:t>留下日志</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One row per epoch</a:t>
            </a:r>
          </a:p>
          <a:p>
            <a:pPr algn="l">
              <a:lnSpc>
                <a:spcPct val="105000"/>
              </a:lnSpc>
              <a:spcBef>
                <a:spcPts val="150"/>
              </a:spcBef>
            </a:pPr>
            <a:r>
              <a:rPr sz="800" b="0" i="0">
                <a:solidFill>
                  <a:srgbClr val="6B7280"/>
                </a:solidFill>
                <a:latin typeface="Source Han Sans SC"/>
              </a:rPr>
              <a:t>每个 epoch 一行</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The Five Steps of a Training Loop</a:t>
            </a:r>
          </a:p>
          <a:p>
            <a:pPr algn="l">
              <a:lnSpc>
                <a:spcPct val="105000"/>
              </a:lnSpc>
              <a:spcBef>
                <a:spcPts val="150"/>
              </a:spcBef>
            </a:pPr>
            <a:r>
              <a:rPr sz="1210" b="0" i="0">
                <a:solidFill>
                  <a:srgbClr val="6B7280"/>
                </a:solidFill>
                <a:latin typeface="Source Han Sans SC"/>
              </a:rPr>
              <a:t>训练循环五步法</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19 / 31</a:t>
            </a:r>
          </a:p>
        </p:txBody>
      </p:sp>
      <p:sp>
        <p:nvSpPr>
          <p:cNvPr id="9" name="Rectangle 8"/>
          <p:cNvSpPr/>
          <p:nvPr/>
        </p:nvSpPr>
        <p:spPr>
          <a:xfrm>
            <a:off x="799200"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2015999"/>
            <a:ext cx="1600343" cy="360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376172" y="2214000"/>
            <a:ext cx="446400" cy="446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376172"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1</a:t>
            </a:r>
          </a:p>
        </p:txBody>
      </p:sp>
      <p:sp>
        <p:nvSpPr>
          <p:cNvPr id="13" name="TextBox 12"/>
          <p:cNvSpPr txBox="1"/>
          <p:nvPr/>
        </p:nvSpPr>
        <p:spPr>
          <a:xfrm>
            <a:off x="997200" y="2754000"/>
            <a:ext cx="1204343" cy="510149"/>
          </a:xfrm>
          <a:prstGeom prst="rect">
            <a:avLst/>
          </a:prstGeom>
          <a:noFill/>
        </p:spPr>
        <p:txBody>
          <a:bodyPr wrap="square" anchor="t" lIns="0" rIns="0" tIns="0" bIns="0">
            <a:spAutoFit/>
          </a:bodyPr>
          <a:lstStyle/>
          <a:p>
            <a:pPr algn="ctr">
              <a:lnSpc>
                <a:spcPct val="125000"/>
              </a:lnSpc>
            </a:pPr>
            <a:r>
              <a:rPr sz="1150" b="1" i="0">
                <a:solidFill>
                  <a:srgbClr val="0E3F8C"/>
                </a:solidFill>
                <a:latin typeface="Source Han Sans SC"/>
              </a:rPr>
              <a:t>Zero Grads</a:t>
            </a:r>
            <a:r>
              <a:rPr sz="900" b="0" i="0">
                <a:solidFill>
                  <a:srgbClr val="6B7280"/>
                </a:solidFill>
                <a:latin typeface="Source Han Sans SC"/>
              </a:rPr>
              <a:t> ｜ </a:t>
            </a:r>
            <a:r>
              <a:rPr sz="900" b="0" i="0">
                <a:solidFill>
                  <a:srgbClr val="6B7280"/>
                </a:solidFill>
                <a:latin typeface="Source Han Sans SC"/>
              </a:rPr>
              <a:t>清零梯度</a:t>
            </a:r>
          </a:p>
        </p:txBody>
      </p:sp>
      <p:sp>
        <p:nvSpPr>
          <p:cNvPr id="14" name="TextBox 13"/>
          <p:cNvSpPr txBox="1"/>
          <p:nvPr/>
        </p:nvSpPr>
        <p:spPr>
          <a:xfrm>
            <a:off x="997200" y="3249749"/>
            <a:ext cx="1204343" cy="1034250"/>
          </a:xfrm>
          <a:prstGeom prst="rect">
            <a:avLst/>
          </a:prstGeom>
          <a:noFill/>
        </p:spPr>
        <p:txBody>
          <a:bodyPr wrap="square" anchor="t" lIns="0" rIns="0" tIns="0" bIns="0">
            <a:spAutoFit/>
          </a:bodyPr>
          <a:lstStyle/>
          <a:p>
            <a:pPr algn="ctr">
              <a:lnSpc>
                <a:spcPct val="128000"/>
              </a:lnSpc>
            </a:pPr>
            <a:r>
              <a:rPr sz="1000" b="0" i="0">
                <a:solidFill>
                  <a:srgbClr val="6B7280"/>
                </a:solidFill>
                <a:latin typeface="Source Han Sans SC"/>
              </a:rPr>
              <a:t>Clear the previous batch's</a:t>
            </a:r>
          </a:p>
          <a:p>
            <a:pPr algn="ctr">
              <a:lnSpc>
                <a:spcPct val="128000"/>
              </a:lnSpc>
            </a:pPr>
            <a:r>
              <a:rPr sz="1000" b="0" i="0">
                <a:solidFill>
                  <a:srgbClr val="6B7280"/>
                </a:solidFill>
                <a:latin typeface="Source Han Sans SC"/>
              </a:rPr>
              <a:t>gradients or they accumulate</a:t>
            </a:r>
          </a:p>
          <a:p>
            <a:pPr algn="ctr">
              <a:lnSpc>
                <a:spcPct val="105000"/>
              </a:lnSpc>
              <a:spcBef>
                <a:spcPts val="150"/>
              </a:spcBef>
            </a:pPr>
            <a:r>
              <a:rPr sz="800" b="0" i="0">
                <a:solidFill>
                  <a:srgbClr val="6B7280"/>
                </a:solidFill>
                <a:latin typeface="Source Han Sans SC"/>
              </a:rPr>
              <a:t>清掉上一批的旧梯度，</a:t>
            </a:r>
          </a:p>
          <a:p>
            <a:pPr algn="ctr">
              <a:lnSpc>
                <a:spcPct val="105000"/>
              </a:lnSpc>
              <a:spcBef>
                <a:spcPts val="150"/>
              </a:spcBef>
            </a:pPr>
            <a:r>
              <a:rPr sz="800" b="0" i="0">
                <a:solidFill>
                  <a:srgbClr val="6B7280"/>
                </a:solidFill>
                <a:latin typeface="Source Han Sans SC"/>
              </a:rPr>
              <a:t>否则会累加</a:t>
            </a:r>
          </a:p>
        </p:txBody>
      </p:sp>
      <p:sp>
        <p:nvSpPr>
          <p:cNvPr id="15" name="Right Arrow 14"/>
          <p:cNvSpPr/>
          <p:nvPr/>
        </p:nvSpPr>
        <p:spPr>
          <a:xfrm>
            <a:off x="2417544" y="3052800"/>
            <a:ext cx="306000" cy="2304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741544"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741544" y="2015999"/>
            <a:ext cx="1600343" cy="36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318516" y="2214000"/>
            <a:ext cx="446400" cy="4464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318516"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2</a:t>
            </a:r>
          </a:p>
        </p:txBody>
      </p:sp>
      <p:sp>
        <p:nvSpPr>
          <p:cNvPr id="20" name="TextBox 19"/>
          <p:cNvSpPr txBox="1"/>
          <p:nvPr/>
        </p:nvSpPr>
        <p:spPr>
          <a:xfrm>
            <a:off x="2939544" y="2754000"/>
            <a:ext cx="1204343" cy="510149"/>
          </a:xfrm>
          <a:prstGeom prst="rect">
            <a:avLst/>
          </a:prstGeom>
          <a:noFill/>
        </p:spPr>
        <p:txBody>
          <a:bodyPr wrap="square" anchor="t" lIns="0" rIns="0" tIns="0" bIns="0">
            <a:spAutoFit/>
          </a:bodyPr>
          <a:lstStyle/>
          <a:p>
            <a:pPr algn="ctr">
              <a:lnSpc>
                <a:spcPct val="125000"/>
              </a:lnSpc>
            </a:pPr>
            <a:r>
              <a:rPr sz="1150" b="1" i="0">
                <a:solidFill>
                  <a:srgbClr val="0E3F8C"/>
                </a:solidFill>
                <a:latin typeface="Source Han Sans SC"/>
              </a:rPr>
              <a:t>Forward</a:t>
            </a:r>
            <a:r>
              <a:rPr sz="900" b="0" i="0">
                <a:solidFill>
                  <a:srgbClr val="6B7280"/>
                </a:solidFill>
                <a:latin typeface="Source Han Sans SC"/>
              </a:rPr>
              <a:t> ｜ </a:t>
            </a:r>
            <a:r>
              <a:rPr sz="900" b="0" i="0">
                <a:solidFill>
                  <a:srgbClr val="6B7280"/>
                </a:solidFill>
                <a:latin typeface="Source Han Sans SC"/>
              </a:rPr>
              <a:t>前向传播</a:t>
            </a:r>
          </a:p>
        </p:txBody>
      </p:sp>
      <p:sp>
        <p:nvSpPr>
          <p:cNvPr id="21" name="TextBox 20"/>
          <p:cNvSpPr txBox="1"/>
          <p:nvPr/>
        </p:nvSpPr>
        <p:spPr>
          <a:xfrm>
            <a:off x="2939544" y="3249749"/>
            <a:ext cx="1204343" cy="1034250"/>
          </a:xfrm>
          <a:prstGeom prst="rect">
            <a:avLst/>
          </a:prstGeom>
          <a:noFill/>
        </p:spPr>
        <p:txBody>
          <a:bodyPr wrap="square" anchor="t" lIns="0" rIns="0" tIns="0" bIns="0">
            <a:spAutoFit/>
          </a:bodyPr>
          <a:lstStyle/>
          <a:p>
            <a:pPr algn="ctr">
              <a:lnSpc>
                <a:spcPct val="128000"/>
              </a:lnSpc>
            </a:pPr>
            <a:r>
              <a:rPr sz="1000" b="0" i="0">
                <a:solidFill>
                  <a:srgbClr val="6B7280"/>
                </a:solidFill>
                <a:latin typeface="Source Han Sans SC"/>
              </a:rPr>
              <a:t>Feed the batch through</a:t>
            </a:r>
          </a:p>
          <a:p>
            <a:pPr algn="ctr">
              <a:lnSpc>
                <a:spcPct val="128000"/>
              </a:lnSpc>
            </a:pPr>
            <a:r>
              <a:rPr sz="1000" b="0" i="0">
                <a:solidFill>
                  <a:srgbClr val="6B7280"/>
                </a:solidFill>
                <a:latin typeface="Source Han Sans SC"/>
              </a:rPr>
              <a:t>the model to get predictions</a:t>
            </a:r>
          </a:p>
          <a:p>
            <a:pPr algn="ctr">
              <a:lnSpc>
                <a:spcPct val="105000"/>
              </a:lnSpc>
              <a:spcBef>
                <a:spcPts val="150"/>
              </a:spcBef>
            </a:pPr>
            <a:r>
              <a:rPr sz="800" b="0" i="0">
                <a:solidFill>
                  <a:srgbClr val="6B7280"/>
                </a:solidFill>
                <a:latin typeface="Source Han Sans SC"/>
              </a:rPr>
              <a:t>把本批数据喂进模型，</a:t>
            </a:r>
          </a:p>
          <a:p>
            <a:pPr algn="ctr">
              <a:lnSpc>
                <a:spcPct val="105000"/>
              </a:lnSpc>
              <a:spcBef>
                <a:spcPts val="150"/>
              </a:spcBef>
            </a:pPr>
            <a:r>
              <a:rPr sz="800" b="0" i="0">
                <a:solidFill>
                  <a:srgbClr val="6B7280"/>
                </a:solidFill>
                <a:latin typeface="Source Han Sans SC"/>
              </a:rPr>
              <a:t>得到预测</a:t>
            </a:r>
          </a:p>
        </p:txBody>
      </p:sp>
      <p:sp>
        <p:nvSpPr>
          <p:cNvPr id="22" name="Right Arrow 21"/>
          <p:cNvSpPr/>
          <p:nvPr/>
        </p:nvSpPr>
        <p:spPr>
          <a:xfrm>
            <a:off x="4359888" y="3052800"/>
            <a:ext cx="306000" cy="230400"/>
          </a:xfrm>
          <a:prstGeom prst="rightArrow">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683888"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683888" y="2015999"/>
            <a:ext cx="1600343" cy="3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260860" y="2214000"/>
            <a:ext cx="446400" cy="4464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60860"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3</a:t>
            </a:r>
          </a:p>
        </p:txBody>
      </p:sp>
      <p:sp>
        <p:nvSpPr>
          <p:cNvPr id="27" name="TextBox 26"/>
          <p:cNvSpPr txBox="1"/>
          <p:nvPr/>
        </p:nvSpPr>
        <p:spPr>
          <a:xfrm>
            <a:off x="4881888" y="2754000"/>
            <a:ext cx="1204343" cy="291074"/>
          </a:xfrm>
          <a:prstGeom prst="rect">
            <a:avLst/>
          </a:prstGeom>
          <a:noFill/>
        </p:spPr>
        <p:txBody>
          <a:bodyPr wrap="square" anchor="t" lIns="0" rIns="0" tIns="0" bIns="0">
            <a:spAutoFit/>
          </a:bodyPr>
          <a:lstStyle/>
          <a:p>
            <a:pPr algn="ctr">
              <a:lnSpc>
                <a:spcPct val="125000"/>
              </a:lnSpc>
            </a:pPr>
            <a:r>
              <a:rPr sz="1150" b="1" i="0">
                <a:solidFill>
                  <a:srgbClr val="0E3F8C"/>
                </a:solidFill>
                <a:latin typeface="Source Han Sans SC"/>
              </a:rPr>
              <a:t>Loss</a:t>
            </a:r>
            <a:r>
              <a:rPr sz="900" b="0" i="0">
                <a:solidFill>
                  <a:srgbClr val="6B7280"/>
                </a:solidFill>
                <a:latin typeface="Source Han Sans SC"/>
              </a:rPr>
              <a:t> ｜ </a:t>
            </a:r>
            <a:r>
              <a:rPr sz="900" b="0" i="0">
                <a:solidFill>
                  <a:srgbClr val="6B7280"/>
                </a:solidFill>
                <a:latin typeface="Source Han Sans SC"/>
              </a:rPr>
              <a:t>计算损失</a:t>
            </a:r>
          </a:p>
        </p:txBody>
      </p:sp>
      <p:sp>
        <p:nvSpPr>
          <p:cNvPr id="28" name="TextBox 27"/>
          <p:cNvSpPr txBox="1"/>
          <p:nvPr/>
        </p:nvSpPr>
        <p:spPr>
          <a:xfrm>
            <a:off x="4881888" y="3030674"/>
            <a:ext cx="1204343" cy="1253325"/>
          </a:xfrm>
          <a:prstGeom prst="rect">
            <a:avLst/>
          </a:prstGeom>
          <a:noFill/>
        </p:spPr>
        <p:txBody>
          <a:bodyPr wrap="square" anchor="t" lIns="0" rIns="0" tIns="0" bIns="0">
            <a:spAutoFit/>
          </a:bodyPr>
          <a:lstStyle/>
          <a:p>
            <a:pPr algn="ctr">
              <a:lnSpc>
                <a:spcPct val="128000"/>
              </a:lnSpc>
            </a:pPr>
            <a:r>
              <a:rPr sz="1000" b="0" i="0">
                <a:solidFill>
                  <a:srgbClr val="6B7280"/>
                </a:solidFill>
                <a:latin typeface="Source Han Sans SC"/>
              </a:rPr>
              <a:t>Score the prediction with</a:t>
            </a:r>
          </a:p>
          <a:p>
            <a:pPr algn="ctr">
              <a:lnSpc>
                <a:spcPct val="128000"/>
              </a:lnSpc>
            </a:pPr>
            <a:r>
              <a:rPr sz="1000" b="0" i="0">
                <a:solidFill>
                  <a:srgbClr val="6B7280"/>
                </a:solidFill>
                <a:latin typeface="Source Han Sans SC"/>
              </a:rPr>
              <a:t>the chosen loss function</a:t>
            </a:r>
          </a:p>
          <a:p>
            <a:pPr algn="ctr">
              <a:lnSpc>
                <a:spcPct val="105000"/>
              </a:lnSpc>
              <a:spcBef>
                <a:spcPts val="150"/>
              </a:spcBef>
            </a:pPr>
            <a:r>
              <a:rPr sz="800" b="0" i="0">
                <a:solidFill>
                  <a:srgbClr val="6B7280"/>
                </a:solidFill>
                <a:latin typeface="Source Han Sans SC"/>
              </a:rPr>
              <a:t>用选定的损失函数</a:t>
            </a:r>
          </a:p>
          <a:p>
            <a:pPr algn="ctr">
              <a:lnSpc>
                <a:spcPct val="105000"/>
              </a:lnSpc>
              <a:spcBef>
                <a:spcPts val="150"/>
              </a:spcBef>
            </a:pPr>
            <a:r>
              <a:rPr sz="800" b="0" i="0">
                <a:solidFill>
                  <a:srgbClr val="6B7280"/>
                </a:solidFill>
                <a:latin typeface="Source Han Sans SC"/>
              </a:rPr>
              <a:t>给预测打分</a:t>
            </a:r>
          </a:p>
        </p:txBody>
      </p:sp>
      <p:sp>
        <p:nvSpPr>
          <p:cNvPr id="29" name="Right Arrow 28"/>
          <p:cNvSpPr/>
          <p:nvPr/>
        </p:nvSpPr>
        <p:spPr>
          <a:xfrm>
            <a:off x="6302232" y="3052800"/>
            <a:ext cx="306000" cy="2304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626231"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626231" y="2015999"/>
            <a:ext cx="1600343" cy="36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7203203" y="2214000"/>
            <a:ext cx="446400" cy="4464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203203"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4</a:t>
            </a:r>
          </a:p>
        </p:txBody>
      </p:sp>
      <p:sp>
        <p:nvSpPr>
          <p:cNvPr id="34" name="TextBox 33"/>
          <p:cNvSpPr txBox="1"/>
          <p:nvPr/>
        </p:nvSpPr>
        <p:spPr>
          <a:xfrm>
            <a:off x="6824232" y="2754000"/>
            <a:ext cx="1204343" cy="510149"/>
          </a:xfrm>
          <a:prstGeom prst="rect">
            <a:avLst/>
          </a:prstGeom>
          <a:noFill/>
        </p:spPr>
        <p:txBody>
          <a:bodyPr wrap="square" anchor="t" lIns="0" rIns="0" tIns="0" bIns="0">
            <a:spAutoFit/>
          </a:bodyPr>
          <a:lstStyle/>
          <a:p>
            <a:pPr algn="ctr">
              <a:lnSpc>
                <a:spcPct val="125000"/>
              </a:lnSpc>
            </a:pPr>
            <a:r>
              <a:rPr sz="1150" b="1" i="0">
                <a:solidFill>
                  <a:srgbClr val="0E3F8C"/>
                </a:solidFill>
                <a:latin typeface="Source Han Sans SC"/>
              </a:rPr>
              <a:t>Backward</a:t>
            </a:r>
            <a:r>
              <a:rPr sz="900" b="0" i="0">
                <a:solidFill>
                  <a:srgbClr val="6B7280"/>
                </a:solidFill>
                <a:latin typeface="Source Han Sans SC"/>
              </a:rPr>
              <a:t> ｜ </a:t>
            </a:r>
            <a:r>
              <a:rPr sz="900" b="0" i="0">
                <a:solidFill>
                  <a:srgbClr val="6B7280"/>
                </a:solidFill>
                <a:latin typeface="Source Han Sans SC"/>
              </a:rPr>
              <a:t>反向传播</a:t>
            </a:r>
          </a:p>
        </p:txBody>
      </p:sp>
      <p:sp>
        <p:nvSpPr>
          <p:cNvPr id="35" name="TextBox 34"/>
          <p:cNvSpPr txBox="1"/>
          <p:nvPr/>
        </p:nvSpPr>
        <p:spPr>
          <a:xfrm>
            <a:off x="6824232" y="3249749"/>
            <a:ext cx="1204343" cy="1034250"/>
          </a:xfrm>
          <a:prstGeom prst="rect">
            <a:avLst/>
          </a:prstGeom>
          <a:noFill/>
        </p:spPr>
        <p:txBody>
          <a:bodyPr wrap="square" anchor="t" lIns="0" rIns="0" tIns="0" bIns="0">
            <a:spAutoFit/>
          </a:bodyPr>
          <a:lstStyle/>
          <a:p>
            <a:pPr algn="ctr">
              <a:lnSpc>
                <a:spcPct val="128000"/>
              </a:lnSpc>
            </a:pPr>
            <a:r>
              <a:rPr sz="1000" b="0" i="0">
                <a:solidFill>
                  <a:srgbClr val="6B7280"/>
                </a:solidFill>
                <a:latin typeface="Source Han Sans SC"/>
              </a:rPr>
              <a:t>Compute the gradient of the loss</a:t>
            </a:r>
          </a:p>
          <a:p>
            <a:pPr algn="ctr">
              <a:lnSpc>
                <a:spcPct val="128000"/>
              </a:lnSpc>
            </a:pPr>
            <a:r>
              <a:rPr sz="1000" b="0" i="0">
                <a:solidFill>
                  <a:srgbClr val="6B7280"/>
                </a:solidFill>
                <a:latin typeface="Source Han Sans SC"/>
              </a:rPr>
              <a:t>for every parameter</a:t>
            </a:r>
          </a:p>
          <a:p>
            <a:pPr algn="ctr">
              <a:lnSpc>
                <a:spcPct val="105000"/>
              </a:lnSpc>
              <a:spcBef>
                <a:spcPts val="150"/>
              </a:spcBef>
            </a:pPr>
            <a:r>
              <a:rPr sz="800" b="0" i="0">
                <a:solidFill>
                  <a:srgbClr val="6B7280"/>
                </a:solidFill>
                <a:latin typeface="Source Han Sans SC"/>
              </a:rPr>
              <a:t>求每个参数对损失的</a:t>
            </a:r>
          </a:p>
          <a:p>
            <a:pPr algn="ctr">
              <a:lnSpc>
                <a:spcPct val="105000"/>
              </a:lnSpc>
              <a:spcBef>
                <a:spcPts val="150"/>
              </a:spcBef>
            </a:pPr>
            <a:r>
              <a:rPr sz="800" b="0" i="0">
                <a:solidFill>
                  <a:srgbClr val="6B7280"/>
                </a:solidFill>
                <a:latin typeface="Source Han Sans SC"/>
              </a:rPr>
              <a:t>梯度</a:t>
            </a:r>
          </a:p>
        </p:txBody>
      </p:sp>
      <p:sp>
        <p:nvSpPr>
          <p:cNvPr id="36" name="Right Arrow 35"/>
          <p:cNvSpPr/>
          <p:nvPr/>
        </p:nvSpPr>
        <p:spPr>
          <a:xfrm>
            <a:off x="8244575" y="3052800"/>
            <a:ext cx="306000" cy="230400"/>
          </a:xfrm>
          <a:prstGeom prst="rightArrow">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8568575"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8568575" y="2015999"/>
            <a:ext cx="1600343" cy="36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9145547" y="2214000"/>
            <a:ext cx="446400" cy="4464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145547"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5</a:t>
            </a:r>
          </a:p>
        </p:txBody>
      </p:sp>
      <p:sp>
        <p:nvSpPr>
          <p:cNvPr id="41" name="TextBox 40"/>
          <p:cNvSpPr txBox="1"/>
          <p:nvPr/>
        </p:nvSpPr>
        <p:spPr>
          <a:xfrm>
            <a:off x="8766576" y="2754000"/>
            <a:ext cx="1204343" cy="291074"/>
          </a:xfrm>
          <a:prstGeom prst="rect">
            <a:avLst/>
          </a:prstGeom>
          <a:noFill/>
        </p:spPr>
        <p:txBody>
          <a:bodyPr wrap="square" anchor="t" lIns="0" rIns="0" tIns="0" bIns="0">
            <a:spAutoFit/>
          </a:bodyPr>
          <a:lstStyle/>
          <a:p>
            <a:pPr algn="ctr">
              <a:lnSpc>
                <a:spcPct val="125000"/>
              </a:lnSpc>
            </a:pPr>
            <a:r>
              <a:rPr sz="1150" b="1" i="0">
                <a:solidFill>
                  <a:srgbClr val="0E3F8C"/>
                </a:solidFill>
                <a:latin typeface="Source Han Sans SC"/>
              </a:rPr>
              <a:t>Step</a:t>
            </a:r>
            <a:r>
              <a:rPr sz="900" b="0" i="0">
                <a:solidFill>
                  <a:srgbClr val="6B7280"/>
                </a:solidFill>
                <a:latin typeface="Source Han Sans SC"/>
              </a:rPr>
              <a:t> ｜ </a:t>
            </a:r>
            <a:r>
              <a:rPr sz="900" b="0" i="0">
                <a:solidFill>
                  <a:srgbClr val="6B7280"/>
                </a:solidFill>
                <a:latin typeface="Source Han Sans SC"/>
              </a:rPr>
              <a:t>更新参数</a:t>
            </a:r>
          </a:p>
        </p:txBody>
      </p:sp>
      <p:sp>
        <p:nvSpPr>
          <p:cNvPr id="42" name="TextBox 41"/>
          <p:cNvSpPr txBox="1"/>
          <p:nvPr/>
        </p:nvSpPr>
        <p:spPr>
          <a:xfrm>
            <a:off x="8766576" y="3030674"/>
            <a:ext cx="1204343" cy="1253325"/>
          </a:xfrm>
          <a:prstGeom prst="rect">
            <a:avLst/>
          </a:prstGeom>
          <a:noFill/>
        </p:spPr>
        <p:txBody>
          <a:bodyPr wrap="square" anchor="t" lIns="0" rIns="0" tIns="0" bIns="0">
            <a:spAutoFit/>
          </a:bodyPr>
          <a:lstStyle/>
          <a:p>
            <a:pPr algn="ctr">
              <a:lnSpc>
                <a:spcPct val="128000"/>
              </a:lnSpc>
            </a:pPr>
            <a:r>
              <a:rPr sz="1000" b="0" i="0">
                <a:solidFill>
                  <a:srgbClr val="6B7280"/>
                </a:solidFill>
                <a:latin typeface="Source Han Sans SC"/>
              </a:rPr>
              <a:t>The optimizer takes</a:t>
            </a:r>
          </a:p>
          <a:p>
            <a:pPr algn="ctr">
              <a:lnSpc>
                <a:spcPct val="128000"/>
              </a:lnSpc>
            </a:pPr>
            <a:r>
              <a:rPr sz="1000" b="0" i="0">
                <a:solidFill>
                  <a:srgbClr val="6B7280"/>
                </a:solidFill>
                <a:latin typeface="Source Han Sans SC"/>
              </a:rPr>
              <a:t>one step along the gradient</a:t>
            </a:r>
          </a:p>
          <a:p>
            <a:pPr algn="ctr">
              <a:lnSpc>
                <a:spcPct val="105000"/>
              </a:lnSpc>
              <a:spcBef>
                <a:spcPts val="150"/>
              </a:spcBef>
            </a:pPr>
            <a:r>
              <a:rPr sz="800" b="0" i="0">
                <a:solidFill>
                  <a:srgbClr val="6B7280"/>
                </a:solidFill>
                <a:latin typeface="Source Han Sans SC"/>
              </a:rPr>
              <a:t>优化器按梯度</a:t>
            </a:r>
          </a:p>
          <a:p>
            <a:pPr algn="ctr">
              <a:lnSpc>
                <a:spcPct val="105000"/>
              </a:lnSpc>
              <a:spcBef>
                <a:spcPts val="150"/>
              </a:spcBef>
            </a:pPr>
            <a:r>
              <a:rPr sz="800" b="0" i="0">
                <a:solidFill>
                  <a:srgbClr val="6B7280"/>
                </a:solidFill>
                <a:latin typeface="Source Han Sans SC"/>
              </a:rPr>
              <a:t>走一步</a:t>
            </a:r>
          </a:p>
        </p:txBody>
      </p:sp>
      <p:sp>
        <p:nvSpPr>
          <p:cNvPr id="43" name="TextBox 42"/>
          <p:cNvSpPr txBox="1"/>
          <p:nvPr/>
        </p:nvSpPr>
        <p:spPr>
          <a:xfrm>
            <a:off x="799200" y="4626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In class: close the slides, write the five steps from memory with their exact calls and order, then compare with this page. Step 1 is the one people drop — drop it and gradients accumulate across batches, making the loss curve look random.</a:t>
            </a:r>
          </a:p>
          <a:p>
            <a:pPr algn="l">
              <a:lnSpc>
                <a:spcPct val="105000"/>
              </a:lnSpc>
              <a:spcBef>
                <a:spcPts val="150"/>
              </a:spcBef>
            </a:pPr>
            <a:r>
              <a:rPr sz="980" b="0" i="0">
                <a:solidFill>
                  <a:srgbClr val="6B7280"/>
                </a:solidFill>
                <a:latin typeface="Source Han Sans SC"/>
              </a:rPr>
              <a:t>课堂做法：先合上讲义，把五步默写在自己的本子上，写清每一步的括号与顺序，再对照这一页。第 1 步最常被漏掉——漏掉它，梯度会跨批次累加，损失曲线会变得毫无规律。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A Complete Training Loop and Its Log</a:t>
            </a:r>
          </a:p>
          <a:p>
            <a:pPr algn="l">
              <a:lnSpc>
                <a:spcPct val="105000"/>
              </a:lnSpc>
              <a:spcBef>
                <a:spcPts val="150"/>
              </a:spcBef>
            </a:pPr>
            <a:r>
              <a:rPr sz="1210" b="0" i="0">
                <a:solidFill>
                  <a:srgbClr val="6B7280"/>
                </a:solidFill>
                <a:latin typeface="Source Han Sans SC"/>
              </a:rPr>
              <a:t>完整训练循环与训练日志</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20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The five steps, complete loop</a:t>
            </a:r>
          </a:p>
          <a:p>
            <a:pPr algn="l">
              <a:lnSpc>
                <a:spcPct val="105000"/>
              </a:lnSpc>
              <a:spcBef>
                <a:spcPts val="150"/>
              </a:spcBef>
            </a:pPr>
            <a:r>
              <a:rPr sz="900" b="0" i="0">
                <a:solidFill>
                  <a:srgbClr val="6B7280"/>
                </a:solidFill>
                <a:latin typeface="Source Han Sans SC"/>
              </a:rPr>
              <a:t>五步法：完整循环</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for epoch in range(epochs):</a:t>
            </a:r>
          </a:p>
          <a:p>
            <a:pPr algn="l">
              <a:lnSpc>
                <a:spcPct val="128000"/>
              </a:lnSpc>
            </a:pPr>
            <a:r>
              <a:rPr sz="1100" b="0" i="0">
                <a:solidFill>
                  <a:srgbClr val="E2E8F0"/>
                </a:solidFill>
                <a:latin typeface="Menlo"/>
              </a:rPr>
              <a:t>    model.train()</a:t>
            </a:r>
          </a:p>
          <a:p>
            <a:pPr algn="l">
              <a:lnSpc>
                <a:spcPct val="128000"/>
              </a:lnSpc>
            </a:pPr>
            <a:r>
              <a:rPr sz="1100" b="0" i="0">
                <a:solidFill>
                  <a:srgbClr val="E2E8F0"/>
                </a:solidFill>
                <a:latin typeface="Menlo"/>
              </a:rPr>
              <a:t>    for x, y in train_loader:</a:t>
            </a:r>
          </a:p>
          <a:p>
            <a:pPr algn="l">
              <a:lnSpc>
                <a:spcPct val="128000"/>
              </a:lnSpc>
            </a:pPr>
            <a:r>
              <a:rPr sz="1100" b="0" i="0">
                <a:solidFill>
                  <a:srgbClr val="E2E8F0"/>
                </a:solidFill>
                <a:latin typeface="Menlo"/>
              </a:rPr>
              <a:t>        opt.zero_grad()       # 1 clear old grads</a:t>
            </a:r>
          </a:p>
          <a:p>
            <a:pPr algn="l">
              <a:lnSpc>
                <a:spcPct val="128000"/>
              </a:lnSpc>
            </a:pPr>
            <a:r>
              <a:rPr sz="1100" b="0" i="0">
                <a:solidFill>
                  <a:srgbClr val="E2E8F0"/>
                </a:solidFill>
                <a:latin typeface="Menlo"/>
              </a:rPr>
              <a:t>        logits = model(x)     # 2 forward pass</a:t>
            </a:r>
          </a:p>
          <a:p>
            <a:pPr algn="l">
              <a:lnSpc>
                <a:spcPct val="128000"/>
              </a:lnSpc>
            </a:pPr>
            <a:r>
              <a:rPr sz="1100" b="0" i="0">
                <a:solidFill>
                  <a:srgbClr val="E2E8F0"/>
                </a:solidFill>
                <a:latin typeface="Menlo"/>
              </a:rPr>
              <a:t>        loss = crit(logits, y)  # 3 compute loss</a:t>
            </a:r>
          </a:p>
          <a:p>
            <a:pPr algn="l">
              <a:lnSpc>
                <a:spcPct val="128000"/>
              </a:lnSpc>
            </a:pPr>
            <a:r>
              <a:rPr sz="1100" b="0" i="0">
                <a:solidFill>
                  <a:srgbClr val="E2E8F0"/>
                </a:solidFill>
                <a:latin typeface="Menlo"/>
              </a:rPr>
              <a:t>        loss.backward()       # 4 backpropagate</a:t>
            </a:r>
          </a:p>
          <a:p>
            <a:pPr algn="l">
              <a:lnSpc>
                <a:spcPct val="128000"/>
              </a:lnSpc>
            </a:pPr>
            <a:r>
              <a:rPr sz="1100" b="0" i="0">
                <a:solidFill>
                  <a:srgbClr val="E2E8F0"/>
                </a:solidFill>
                <a:latin typeface="Menlo"/>
              </a:rPr>
              <a:t>        opt.step()            # 5 update weights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The order is not interchangeable:</a:t>
            </a:r>
          </a:p>
          <a:p>
            <a:pPr algn="l">
              <a:lnSpc>
                <a:spcPct val="128000"/>
              </a:lnSpc>
            </a:pPr>
            <a:r>
              <a:rPr sz="1100" b="0" i="0">
                <a:solidFill>
                  <a:srgbClr val="E2E8F0"/>
                </a:solidFill>
                <a:latin typeface="Menlo"/>
              </a:rPr>
              <a:t># 1 must precede 4 or grads accumulate.</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Logging: one row per epoch</a:t>
            </a:r>
          </a:p>
          <a:p>
            <a:pPr algn="l">
              <a:lnSpc>
                <a:spcPct val="105000"/>
              </a:lnSpc>
              <a:spcBef>
                <a:spcPts val="150"/>
              </a:spcBef>
            </a:pPr>
            <a:r>
              <a:rPr sz="900" b="0" i="0">
                <a:solidFill>
                  <a:srgbClr val="6B7280"/>
                </a:solidFill>
                <a:latin typeface="Source Han Sans SC"/>
              </a:rPr>
              <a:t>训练日志：每轮一行</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history = []</a:t>
            </a:r>
          </a:p>
          <a:p>
            <a:pPr algn="l">
              <a:lnSpc>
                <a:spcPct val="128000"/>
              </a:lnSpc>
            </a:pPr>
            <a:r>
              <a:rPr sz="1100" b="0" i="0">
                <a:solidFill>
                  <a:srgbClr val="E2E8F0"/>
                </a:solidFill>
                <a:latin typeface="Menlo"/>
              </a:rPr>
              <a:t>for epoch in range(epochs):</a:t>
            </a:r>
          </a:p>
          <a:p>
            <a:pPr algn="l">
              <a:lnSpc>
                <a:spcPct val="128000"/>
              </a:lnSpc>
            </a:pPr>
            <a:r>
              <a:rPr sz="1100" b="0" i="0">
                <a:solidFill>
                  <a:srgbClr val="E2E8F0"/>
                </a:solidFill>
                <a:latin typeface="Menlo"/>
              </a:rPr>
              <a:t>    tr = train_epoch(model, loader, opt, crit)</a:t>
            </a:r>
          </a:p>
          <a:p>
            <a:pPr algn="l">
              <a:lnSpc>
                <a:spcPct val="128000"/>
              </a:lnSpc>
            </a:pPr>
            <a:r>
              <a:rPr sz="1100" b="0" i="0">
                <a:solidFill>
                  <a:srgbClr val="E2E8F0"/>
                </a:solidFill>
                <a:latin typeface="Menlo"/>
              </a:rPr>
              <a:t>    va, acc = evaluate(model, val_loader, crit)</a:t>
            </a:r>
          </a:p>
          <a:p>
            <a:pPr algn="l">
              <a:lnSpc>
                <a:spcPct val="128000"/>
              </a:lnSpc>
            </a:pPr>
            <a:r>
              <a:rPr sz="1100" b="0" i="0">
                <a:solidFill>
                  <a:srgbClr val="E2E8F0"/>
                </a:solidFill>
                <a:latin typeface="Menlo"/>
              </a:rPr>
              <a:t>    history.append({          # one row per epoch</a:t>
            </a:r>
          </a:p>
          <a:p>
            <a:pPr algn="l">
              <a:lnSpc>
                <a:spcPct val="128000"/>
              </a:lnSpc>
            </a:pPr>
            <a:r>
              <a:rPr sz="1100" b="0" i="0">
                <a:solidFill>
                  <a:srgbClr val="E2E8F0"/>
                </a:solidFill>
                <a:latin typeface="Menlo"/>
              </a:rPr>
              <a:t>        "epoch": epoch,</a:t>
            </a:r>
          </a:p>
          <a:p>
            <a:pPr algn="l">
              <a:lnSpc>
                <a:spcPct val="128000"/>
              </a:lnSpc>
            </a:pPr>
            <a:r>
              <a:rPr sz="1100" b="0" i="0">
                <a:solidFill>
                  <a:srgbClr val="E2E8F0"/>
                </a:solidFill>
                <a:latin typeface="Menlo"/>
              </a:rPr>
              <a:t>        "train_loss": round(tr, 4),</a:t>
            </a:r>
          </a:p>
          <a:p>
            <a:pPr algn="l">
              <a:lnSpc>
                <a:spcPct val="128000"/>
              </a:lnSpc>
            </a:pPr>
            <a:r>
              <a:rPr sz="1100" b="0" i="0">
                <a:solidFill>
                  <a:srgbClr val="E2E8F0"/>
                </a:solidFill>
                <a:latin typeface="Menlo"/>
              </a:rPr>
              <a:t>        "val_loss": round(va, 4),</a:t>
            </a:r>
          </a:p>
          <a:p>
            <a:pPr algn="l">
              <a:lnSpc>
                <a:spcPct val="128000"/>
              </a:lnSpc>
            </a:pPr>
            <a:r>
              <a:rPr sz="1100" b="0" i="0">
                <a:solidFill>
                  <a:srgbClr val="E2E8F0"/>
                </a:solidFill>
                <a:latin typeface="Menlo"/>
              </a:rPr>
              <a:t>        "val_acc": round(acc, 4)})</a:t>
            </a:r>
          </a:p>
          <a:p>
            <a:pPr algn="l">
              <a:lnSpc>
                <a:spcPct val="128000"/>
              </a:lnSpc>
            </a:pPr>
            <a:r>
              <a:rPr sz="1100" b="0" i="0">
                <a:solidFill>
                  <a:srgbClr val="E2E8F0"/>
                </a:solidFill>
                <a:latin typeface="Menlo"/>
              </a:rPr>
              <a:t>    print(history[-1])</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train loss down, val loss up -&gt; overfitting</a:t>
            </a:r>
          </a:p>
          <a:p>
            <a:pPr algn="l">
              <a:lnSpc>
                <a:spcPct val="128000"/>
              </a:lnSpc>
            </a:pPr>
            <a:r>
              <a:rPr sz="1100" b="0" i="0">
                <a:solidFill>
                  <a:srgbClr val="E2E8F0"/>
                </a:solidFill>
                <a:latin typeface="Menlo"/>
              </a:rPr>
              <a:t># both flat -&gt; learning rate too small</a:t>
            </a:r>
          </a:p>
        </p:txBody>
      </p:sp>
      <p:sp>
        <p:nvSpPr>
          <p:cNvPr id="17" name="TextBox 16"/>
          <p:cNvSpPr txBox="1"/>
          <p:nvPr/>
        </p:nvSpPr>
        <p:spPr>
          <a:xfrm>
            <a:off x="799200" y="5490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A log is not bureaucracy: without both train and val curves you cannot tell overfitting from a too-small learning rate from a data problem — you can only guess.</a:t>
            </a:r>
          </a:p>
          <a:p>
            <a:pPr algn="l">
              <a:lnSpc>
                <a:spcPct val="105000"/>
              </a:lnSpc>
              <a:spcBef>
                <a:spcPts val="150"/>
              </a:spcBef>
            </a:pPr>
            <a:r>
              <a:rPr sz="940" b="0" i="0">
                <a:solidFill>
                  <a:srgbClr val="6B7280"/>
                </a:solidFill>
                <a:latin typeface="Source Han Sans SC"/>
              </a:rPr>
              <a:t>日志不是形式主义：没有 train/val 两条曲线，你就无法判断是过拟合、学习率太小，还是数据有问题——只能靠猜。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Batch Size and VRAM</a:t>
            </a:r>
          </a:p>
          <a:p>
            <a:pPr algn="l">
              <a:lnSpc>
                <a:spcPct val="105000"/>
              </a:lnSpc>
              <a:spcBef>
                <a:spcPts val="150"/>
              </a:spcBef>
            </a:pPr>
            <a:r>
              <a:rPr sz="1210" b="0" i="0">
                <a:solidFill>
                  <a:srgbClr val="6B7280"/>
                </a:solidFill>
                <a:latin typeface="Source Han Sans SC"/>
              </a:rPr>
              <a:t>批大小与显存的关系</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21 / 31</a:t>
            </a:r>
          </a:p>
        </p:txBody>
      </p:sp>
      <p:graphicFrame>
        <p:nvGraphicFramePr>
          <p:cNvPr id="9" name="Table 8"/>
          <p:cNvGraphicFramePr>
            <a:graphicFrameLocks noGrp="1"/>
          </p:cNvGraphicFramePr>
          <p:nvPr/>
        </p:nvGraphicFramePr>
        <p:xfrm>
          <a:off x="799200" y="1152000"/>
          <a:ext cx="10583999" cy="2828876"/>
        </p:xfrm>
        <a:graphic>
          <a:graphicData uri="http://schemas.openxmlformats.org/drawingml/2006/table">
            <a:tbl>
              <a:tblPr firstRow="1" bandRow="1">
                <a:tableStyleId>{5C22544A-7EE6-4342-B048-85BDC9FD1C3A}</a:tableStyleId>
              </a:tblPr>
              <a:tblGrid>
                <a:gridCol w="1944000"/>
                <a:gridCol w="2232000"/>
                <a:gridCol w="3096000"/>
                <a:gridCol w="3311999"/>
              </a:tblGrid>
              <a:tr h="565775">
                <a:tc>
                  <a:txBody>
                    <a:bodyPr/>
                    <a:lstStyle/>
                    <a:p>
                      <a:r>
                        <a:rPr sz="1180" b="1">
                          <a:solidFill>
                            <a:srgbClr val="FFFFFF"/>
                          </a:solidFill>
                          <a:latin typeface="Source Han Sans SC"/>
                        </a:rPr>
                        <a:t>Batch size</a:t>
                      </a:r>
                    </a:p>
                    <a:p>
                      <a:pPr>
                        <a:lnSpc>
                          <a:spcPct val="100000"/>
                        </a:lnSpc>
                      </a:pPr>
                      <a:r>
                        <a:rPr sz="1000" b="0">
                          <a:solidFill>
                            <a:srgbClr val="C3D4EF"/>
                          </a:solidFill>
                          <a:latin typeface="Source Han Sans SC"/>
                        </a:rPr>
                        <a:t>批大小</a:t>
                      </a:r>
                    </a:p>
                  </a:txBody>
                  <a:tcPr>
                    <a:solidFill>
                      <a:srgbClr val="0E3F8C"/>
                    </a:solidFill>
                  </a:tcPr>
                </a:tc>
                <a:tc>
                  <a:txBody>
                    <a:bodyPr/>
                    <a:lstStyle/>
                    <a:p>
                      <a:r>
                        <a:rPr sz="1180" b="1">
                          <a:solidFill>
                            <a:srgbClr val="FFFFFF"/>
                          </a:solidFill>
                          <a:latin typeface="Source Han Sans SC"/>
                        </a:rPr>
                        <a:t>VRAM</a:t>
                      </a:r>
                    </a:p>
                    <a:p>
                      <a:pPr>
                        <a:lnSpc>
                          <a:spcPct val="100000"/>
                        </a:lnSpc>
                      </a:pPr>
                      <a:r>
                        <a:rPr sz="1000" b="0">
                          <a:solidFill>
                            <a:srgbClr val="C3D4EF"/>
                          </a:solidFill>
                          <a:latin typeface="Source Han Sans SC"/>
                        </a:rPr>
                        <a:t>显存占用</a:t>
                      </a:r>
                    </a:p>
                  </a:txBody>
                  <a:tcPr>
                    <a:solidFill>
                      <a:srgbClr val="0E3F8C"/>
                    </a:solidFill>
                  </a:tcPr>
                </a:tc>
                <a:tc>
                  <a:txBody>
                    <a:bodyPr/>
                    <a:lstStyle/>
                    <a:p>
                      <a:r>
                        <a:rPr sz="1180" b="1">
                          <a:solidFill>
                            <a:srgbClr val="FFFFFF"/>
                          </a:solidFill>
                          <a:latin typeface="Source Han Sans SC"/>
                        </a:rPr>
                        <a:t>Gradient stability</a:t>
                      </a:r>
                    </a:p>
                    <a:p>
                      <a:pPr>
                        <a:lnSpc>
                          <a:spcPct val="100000"/>
                        </a:lnSpc>
                      </a:pPr>
                      <a:r>
                        <a:rPr sz="1000" b="0">
                          <a:solidFill>
                            <a:srgbClr val="C3D4EF"/>
                          </a:solidFill>
                          <a:latin typeface="Source Han Sans SC"/>
                        </a:rPr>
                        <a:t>梯度稳定性</a:t>
                      </a:r>
                    </a:p>
                  </a:txBody>
                  <a:tcPr>
                    <a:solidFill>
                      <a:srgbClr val="0E3F8C"/>
                    </a:solidFill>
                  </a:tcPr>
                </a:tc>
                <a:tc>
                  <a:txBody>
                    <a:bodyPr/>
                    <a:lstStyle/>
                    <a:p>
                      <a:r>
                        <a:rPr sz="1180" b="1">
                          <a:solidFill>
                            <a:srgbClr val="FFFFFF"/>
                          </a:solidFill>
                          <a:latin typeface="Source Han Sans SC"/>
                        </a:rPr>
                        <a:t>Trade-off</a:t>
                      </a:r>
                    </a:p>
                    <a:p>
                      <a:pPr>
                        <a:lnSpc>
                          <a:spcPct val="100000"/>
                        </a:lnSpc>
                      </a:pPr>
                      <a:r>
                        <a:rPr sz="1000" b="0">
                          <a:solidFill>
                            <a:srgbClr val="C3D4EF"/>
                          </a:solidFill>
                          <a:latin typeface="Source Han Sans SC"/>
                        </a:rPr>
                        <a:t>常见取舍</a:t>
                      </a:r>
                    </a:p>
                  </a:txBody>
                  <a:tcPr>
                    <a:solidFill>
                      <a:srgbClr val="0E3F8C"/>
                    </a:solidFill>
                  </a:tcPr>
                </a:tc>
              </a:tr>
              <a:tr h="565775">
                <a:tc>
                  <a:txBody>
                    <a:bodyPr/>
                    <a:lstStyle/>
                    <a:p>
                      <a:r>
                        <a:rPr sz="1060" b="1">
                          <a:solidFill>
                            <a:srgbClr val="1F2937"/>
                          </a:solidFill>
                          <a:latin typeface="Source Han Sans SC"/>
                        </a:rPr>
                        <a:t>8 - 32</a:t>
                      </a:r>
                    </a:p>
                    <a:p>
                      <a:pPr>
                        <a:lnSpc>
                          <a:spcPct val="100000"/>
                        </a:lnSpc>
                      </a:pPr>
                      <a:r>
                        <a:rPr sz="900" b="0">
                          <a:solidFill>
                            <a:srgbClr val="6B7280"/>
                          </a:solidFill>
                          <a:latin typeface="Source Han Sans SC"/>
                        </a:rPr>
                        <a:t>8 – 32</a:t>
                      </a:r>
                    </a:p>
                  </a:txBody>
                  <a:tcPr>
                    <a:solidFill>
                      <a:srgbClr val="FFFFFF"/>
                    </a:solidFill>
                  </a:tcPr>
                </a:tc>
                <a:tc>
                  <a:txBody>
                    <a:bodyPr/>
                    <a:lstStyle/>
                    <a:p>
                      <a:r>
                        <a:rPr sz="1060" b="0">
                          <a:solidFill>
                            <a:srgbClr val="1F2937"/>
                          </a:solidFill>
                          <a:latin typeface="Source Han Sans SC"/>
                        </a:rPr>
                        <a:t>Low</a:t>
                      </a:r>
                    </a:p>
                    <a:p>
                      <a:pPr>
                        <a:lnSpc>
                          <a:spcPct val="100000"/>
                        </a:lnSpc>
                      </a:pPr>
                      <a:r>
                        <a:rPr sz="900" b="0">
                          <a:solidFill>
                            <a:srgbClr val="6B7280"/>
                          </a:solidFill>
                          <a:latin typeface="Source Han Sans SC"/>
                        </a:rPr>
                        <a:t>低</a:t>
                      </a:r>
                    </a:p>
                  </a:txBody>
                  <a:tcPr>
                    <a:solidFill>
                      <a:srgbClr val="FFFFFF"/>
                    </a:solidFill>
                  </a:tcPr>
                </a:tc>
                <a:tc>
                  <a:txBody>
                    <a:bodyPr/>
                    <a:lstStyle/>
                    <a:p>
                      <a:r>
                        <a:rPr sz="1060" b="0">
                          <a:solidFill>
                            <a:srgbClr val="1F2937"/>
                          </a:solidFill>
                          <a:latin typeface="Source Han Sans SC"/>
                        </a:rPr>
                        <a:t>Noisy; occasionally helps generalisation</a:t>
                      </a:r>
                    </a:p>
                    <a:p>
                      <a:pPr>
                        <a:lnSpc>
                          <a:spcPct val="100000"/>
                        </a:lnSpc>
                      </a:pPr>
                      <a:r>
                        <a:rPr sz="900" b="0">
                          <a:solidFill>
                            <a:srgbClr val="6B7280"/>
                          </a:solidFill>
                          <a:latin typeface="Source Han Sans SC"/>
                        </a:rPr>
                        <a:t>噪声大，偶尔有益于泛化</a:t>
                      </a:r>
                    </a:p>
                  </a:txBody>
                  <a:tcPr>
                    <a:solidFill>
                      <a:srgbClr val="FFFFFF"/>
                    </a:solidFill>
                  </a:tcPr>
                </a:tc>
                <a:tc>
                  <a:txBody>
                    <a:bodyPr/>
                    <a:lstStyle/>
                    <a:p>
                      <a:r>
                        <a:rPr sz="1060" b="0">
                          <a:solidFill>
                            <a:srgbClr val="1F2937"/>
                          </a:solidFill>
                          <a:latin typeface="Source Han Sans SC"/>
                        </a:rPr>
                        <a:t>Small VRAM or small data; needs a smaller lr</a:t>
                      </a:r>
                    </a:p>
                    <a:p>
                      <a:pPr>
                        <a:lnSpc>
                          <a:spcPct val="100000"/>
                        </a:lnSpc>
                      </a:pPr>
                      <a:r>
                        <a:rPr sz="900" b="0">
                          <a:solidFill>
                            <a:srgbClr val="6B7280"/>
                          </a:solidFill>
                          <a:latin typeface="Source Han Sans SC"/>
                        </a:rPr>
                        <a:t>显存小或数据集小；需更小的学习率</a:t>
                      </a:r>
                    </a:p>
                  </a:txBody>
                  <a:tcPr>
                    <a:solidFill>
                      <a:srgbClr val="FFFFFF"/>
                    </a:solidFill>
                  </a:tcPr>
                </a:tc>
              </a:tr>
              <a:tr h="565775">
                <a:tc>
                  <a:txBody>
                    <a:bodyPr/>
                    <a:lstStyle/>
                    <a:p>
                      <a:r>
                        <a:rPr sz="1060" b="1">
                          <a:solidFill>
                            <a:srgbClr val="1F2937"/>
                          </a:solidFill>
                          <a:latin typeface="Source Han Sans SC"/>
                        </a:rPr>
                        <a:t>64 - 256</a:t>
                      </a:r>
                    </a:p>
                    <a:p>
                      <a:pPr>
                        <a:lnSpc>
                          <a:spcPct val="100000"/>
                        </a:lnSpc>
                      </a:pPr>
                      <a:r>
                        <a:rPr sz="900" b="0">
                          <a:solidFill>
                            <a:srgbClr val="6B7280"/>
                          </a:solidFill>
                          <a:latin typeface="Source Han Sans SC"/>
                        </a:rPr>
                        <a:t>64 – 256</a:t>
                      </a:r>
                    </a:p>
                  </a:txBody>
                  <a:tcPr>
                    <a:solidFill>
                      <a:srgbClr val="F0F5FC"/>
                    </a:solidFill>
                  </a:tcPr>
                </a:tc>
                <a:tc>
                  <a:txBody>
                    <a:bodyPr/>
                    <a:lstStyle/>
                    <a:p>
                      <a:r>
                        <a:rPr sz="1060" b="0">
                          <a:solidFill>
                            <a:srgbClr val="1F2937"/>
                          </a:solidFill>
                          <a:latin typeface="Source Han Sans SC"/>
                        </a:rPr>
                        <a:t>Medium</a:t>
                      </a:r>
                    </a:p>
                    <a:p>
                      <a:pPr>
                        <a:lnSpc>
                          <a:spcPct val="100000"/>
                        </a:lnSpc>
                      </a:pPr>
                      <a:r>
                        <a:rPr sz="900" b="0">
                          <a:solidFill>
                            <a:srgbClr val="6B7280"/>
                          </a:solidFill>
                          <a:latin typeface="Source Han Sans SC"/>
                        </a:rPr>
                        <a:t>中</a:t>
                      </a:r>
                    </a:p>
                  </a:txBody>
                  <a:tcPr>
                    <a:solidFill>
                      <a:srgbClr val="F0F5FC"/>
                    </a:solidFill>
                  </a:tcPr>
                </a:tc>
                <a:tc>
                  <a:txBody>
                    <a:bodyPr/>
                    <a:lstStyle/>
                    <a:p>
                      <a:r>
                        <a:rPr sz="1060" b="0">
                          <a:solidFill>
                            <a:srgbClr val="1F2937"/>
                          </a:solidFill>
                          <a:latin typeface="Source Han Sans SC"/>
                        </a:rPr>
                        <a:t>Reasonably stable</a:t>
                      </a:r>
                    </a:p>
                    <a:p>
                      <a:pPr>
                        <a:lnSpc>
                          <a:spcPct val="100000"/>
                        </a:lnSpc>
                      </a:pPr>
                      <a:r>
                        <a:rPr sz="900" b="0">
                          <a:solidFill>
                            <a:srgbClr val="6B7280"/>
                          </a:solidFill>
                          <a:latin typeface="Source Han Sans SC"/>
                        </a:rPr>
                        <a:t>较稳定</a:t>
                      </a:r>
                    </a:p>
                  </a:txBody>
                  <a:tcPr>
                    <a:solidFill>
                      <a:srgbClr val="F0F5FC"/>
                    </a:solidFill>
                  </a:tcPr>
                </a:tc>
                <a:tc>
                  <a:txBody>
                    <a:bodyPr/>
                    <a:lstStyle/>
                    <a:p>
                      <a:r>
                        <a:rPr sz="1060" b="0">
                          <a:solidFill>
                            <a:srgbClr val="1F2937"/>
                          </a:solidFill>
                          <a:latin typeface="Source Han Sans SC"/>
                        </a:rPr>
                        <a:t>The usual default range — start here</a:t>
                      </a:r>
                    </a:p>
                    <a:p>
                      <a:pPr>
                        <a:lnSpc>
                          <a:spcPct val="100000"/>
                        </a:lnSpc>
                      </a:pPr>
                      <a:r>
                        <a:rPr sz="900" b="0">
                          <a:solidFill>
                            <a:srgbClr val="6B7280"/>
                          </a:solidFill>
                          <a:latin typeface="Source Han Sans SC"/>
                        </a:rPr>
                        <a:t>最常用的默认区间，先从这里开始</a:t>
                      </a:r>
                    </a:p>
                  </a:txBody>
                  <a:tcPr>
                    <a:solidFill>
                      <a:srgbClr val="F0F5FC"/>
                    </a:solidFill>
                  </a:tcPr>
                </a:tc>
              </a:tr>
              <a:tr h="565775">
                <a:tc>
                  <a:txBody>
                    <a:bodyPr/>
                    <a:lstStyle/>
                    <a:p>
                      <a:r>
                        <a:rPr sz="1060" b="1">
                          <a:solidFill>
                            <a:srgbClr val="1F2937"/>
                          </a:solidFill>
                          <a:latin typeface="Source Han Sans SC"/>
                        </a:rPr>
                        <a:t>512+</a:t>
                      </a:r>
                    </a:p>
                    <a:p>
                      <a:pPr>
                        <a:lnSpc>
                          <a:spcPct val="100000"/>
                        </a:lnSpc>
                      </a:pPr>
                      <a:r>
                        <a:rPr sz="900" b="0">
                          <a:solidFill>
                            <a:srgbClr val="6B7280"/>
                          </a:solidFill>
                          <a:latin typeface="Source Han Sans SC"/>
                        </a:rPr>
                        <a:t>512 以上</a:t>
                      </a:r>
                    </a:p>
                  </a:txBody>
                  <a:tcPr>
                    <a:solidFill>
                      <a:srgbClr val="FFFFFF"/>
                    </a:solidFill>
                  </a:tcPr>
                </a:tc>
                <a:tc>
                  <a:txBody>
                    <a:bodyPr/>
                    <a:lstStyle/>
                    <a:p>
                      <a:r>
                        <a:rPr sz="1060" b="0">
                          <a:solidFill>
                            <a:srgbClr val="1F2937"/>
                          </a:solidFill>
                          <a:latin typeface="Source Han Sans SC"/>
                        </a:rPr>
                        <a:t>High</a:t>
                      </a:r>
                    </a:p>
                    <a:p>
                      <a:pPr>
                        <a:lnSpc>
                          <a:spcPct val="100000"/>
                        </a:lnSpc>
                      </a:pPr>
                      <a:r>
                        <a:rPr sz="900" b="0">
                          <a:solidFill>
                            <a:srgbClr val="6B7280"/>
                          </a:solidFill>
                          <a:latin typeface="Source Han Sans SC"/>
                        </a:rPr>
                        <a:t>高</a:t>
                      </a:r>
                    </a:p>
                  </a:txBody>
                  <a:tcPr>
                    <a:solidFill>
                      <a:srgbClr val="FFFFFF"/>
                    </a:solidFill>
                  </a:tcPr>
                </a:tc>
                <a:tc>
                  <a:txBody>
                    <a:bodyPr/>
                    <a:lstStyle/>
                    <a:p>
                      <a:r>
                        <a:rPr sz="1060" b="0">
                          <a:solidFill>
                            <a:srgbClr val="1F2937"/>
                          </a:solidFill>
                          <a:latin typeface="Source Han Sans SC"/>
                        </a:rPr>
                        <a:t>Very stable, but can generalise worse</a:t>
                      </a:r>
                    </a:p>
                    <a:p>
                      <a:pPr>
                        <a:lnSpc>
                          <a:spcPct val="100000"/>
                        </a:lnSpc>
                      </a:pPr>
                      <a:r>
                        <a:rPr sz="900" b="0">
                          <a:solidFill>
                            <a:srgbClr val="6B7280"/>
                          </a:solidFill>
                          <a:latin typeface="Source Han Sans SC"/>
                        </a:rPr>
                        <a:t>很稳定，但泛化可能变差</a:t>
                      </a:r>
                    </a:p>
                  </a:txBody>
                  <a:tcPr>
                    <a:solidFill>
                      <a:srgbClr val="FFFFFF"/>
                    </a:solidFill>
                  </a:tcPr>
                </a:tc>
                <a:tc>
                  <a:txBody>
                    <a:bodyPr/>
                    <a:lstStyle/>
                    <a:p>
                      <a:r>
                        <a:rPr sz="1060" b="0">
                          <a:solidFill>
                            <a:srgbClr val="1F2937"/>
                          </a:solidFill>
                          <a:latin typeface="Source Han Sans SC"/>
                        </a:rPr>
                        <a:t>Needs a larger lr and warmup</a:t>
                      </a:r>
                    </a:p>
                    <a:p>
                      <a:pPr>
                        <a:lnSpc>
                          <a:spcPct val="100000"/>
                        </a:lnSpc>
                      </a:pPr>
                      <a:r>
                        <a:rPr sz="900" b="0">
                          <a:solidFill>
                            <a:srgbClr val="6B7280"/>
                          </a:solidFill>
                          <a:latin typeface="Source Han Sans SC"/>
                        </a:rPr>
                        <a:t>需配合更大学习率与 warmup</a:t>
                      </a:r>
                    </a:p>
                  </a:txBody>
                  <a:tcPr>
                    <a:solidFill>
                      <a:srgbClr val="FFFFFF"/>
                    </a:solidFill>
                  </a:tcPr>
                </a:tc>
              </a:tr>
              <a:tr h="565776">
                <a:tc>
                  <a:txBody>
                    <a:bodyPr/>
                    <a:lstStyle/>
                    <a:p>
                      <a:r>
                        <a:rPr sz="1060" b="1">
                          <a:solidFill>
                            <a:srgbClr val="1F2937"/>
                          </a:solidFill>
                          <a:latin typeface="Source Han Sans SC"/>
                        </a:rPr>
                        <a:t>1 (per-sample)</a:t>
                      </a:r>
                    </a:p>
                    <a:p>
                      <a:pPr>
                        <a:lnSpc>
                          <a:spcPct val="100000"/>
                        </a:lnSpc>
                      </a:pPr>
                      <a:r>
                        <a:rPr sz="900" b="0">
                          <a:solidFill>
                            <a:srgbClr val="6B7280"/>
                          </a:solidFill>
                          <a:latin typeface="Source Han Sans SC"/>
                        </a:rPr>
                        <a:t>1（单样本）</a:t>
                      </a:r>
                    </a:p>
                  </a:txBody>
                  <a:tcPr>
                    <a:solidFill>
                      <a:srgbClr val="F0F5FC"/>
                    </a:solidFill>
                  </a:tcPr>
                </a:tc>
                <a:tc>
                  <a:txBody>
                    <a:bodyPr/>
                    <a:lstStyle/>
                    <a:p>
                      <a:r>
                        <a:rPr sz="1060" b="0">
                          <a:solidFill>
                            <a:srgbClr val="1F2937"/>
                          </a:solidFill>
                          <a:latin typeface="Source Han Sans SC"/>
                        </a:rPr>
                        <a:t>Lowest, but extremely slow</a:t>
                      </a:r>
                    </a:p>
                    <a:p>
                      <a:pPr>
                        <a:lnSpc>
                          <a:spcPct val="100000"/>
                        </a:lnSpc>
                      </a:pPr>
                      <a:r>
                        <a:rPr sz="900" b="0">
                          <a:solidFill>
                            <a:srgbClr val="6B7280"/>
                          </a:solidFill>
                          <a:latin typeface="Source Han Sans SC"/>
                        </a:rPr>
                        <a:t>最低，但速度极慢</a:t>
                      </a:r>
                    </a:p>
                  </a:txBody>
                  <a:tcPr>
                    <a:solidFill>
                      <a:srgbClr val="F0F5FC"/>
                    </a:solidFill>
                  </a:tcPr>
                </a:tc>
                <a:tc>
                  <a:txBody>
                    <a:bodyPr/>
                    <a:lstStyle/>
                    <a:p>
                      <a:r>
                        <a:rPr sz="1060" b="0">
                          <a:solidFill>
                            <a:srgbClr val="1F2937"/>
                          </a:solidFill>
                          <a:latin typeface="Source Han Sans SC"/>
                        </a:rPr>
                        <a:t>Extremely noisy</a:t>
                      </a:r>
                    </a:p>
                    <a:p>
                      <a:pPr>
                        <a:lnSpc>
                          <a:spcPct val="100000"/>
                        </a:lnSpc>
                      </a:pPr>
                      <a:r>
                        <a:rPr sz="900" b="0">
                          <a:solidFill>
                            <a:srgbClr val="6B7280"/>
                          </a:solidFill>
                          <a:latin typeface="Source Han Sans SC"/>
                        </a:rPr>
                        <a:t>噪声极大</a:t>
                      </a:r>
                    </a:p>
                  </a:txBody>
                  <a:tcPr>
                    <a:solidFill>
                      <a:srgbClr val="F0F5FC"/>
                    </a:solidFill>
                  </a:tcPr>
                </a:tc>
                <a:tc>
                  <a:txBody>
                    <a:bodyPr/>
                    <a:lstStyle/>
                    <a:p>
                      <a:r>
                        <a:rPr sz="1060" b="0">
                          <a:solidFill>
                            <a:srgbClr val="1F2937"/>
                          </a:solidFill>
                          <a:latin typeface="Source Han Sans SC"/>
                        </a:rPr>
                        <a:t>Only for teaching demos or extreme memory limits</a:t>
                      </a:r>
                    </a:p>
                    <a:p>
                      <a:pPr>
                        <a:lnSpc>
                          <a:spcPct val="100000"/>
                        </a:lnSpc>
                      </a:pPr>
                      <a:r>
                        <a:rPr sz="900" b="0">
                          <a:solidFill>
                            <a:srgbClr val="6B7280"/>
                          </a:solidFill>
                          <a:latin typeface="Source Han Sans SC"/>
                        </a:rPr>
                        <a:t>仅用于教学演示或显存极限</a:t>
                      </a:r>
                    </a:p>
                  </a:txBody>
                  <a:tcPr>
                    <a:solidFill>
                      <a:srgbClr val="F0F5FC"/>
                    </a:solidFill>
                  </a:tcPr>
                </a:tc>
              </a:tr>
            </a:tbl>
          </a:graphicData>
        </a:graphic>
      </p:graphicFrame>
      <p:sp>
        <p:nvSpPr>
          <p:cNvPr id="10" name="TextBox 9"/>
          <p:cNvSpPr txBox="1"/>
          <p:nvPr/>
        </p:nvSpPr>
        <p:spPr>
          <a:xfrm>
            <a:off x="799200" y="4106876"/>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A useful estimate: VRAM ≈ batch size x per-sample cost + parameters + optimizer state (Adam's state is roughly twice the parameter count, which is why it costs more than SGD). When you double the batch size, you usually scale the learning rate up with it.</a:t>
            </a:r>
          </a:p>
          <a:p>
            <a:pPr algn="l">
              <a:lnSpc>
                <a:spcPct val="105000"/>
              </a:lnSpc>
              <a:spcBef>
                <a:spcPts val="150"/>
              </a:spcBef>
            </a:pPr>
            <a:r>
              <a:rPr sz="900" b="0" i="0">
                <a:solidFill>
                  <a:srgbClr val="6B7280"/>
                </a:solidFill>
                <a:latin typeface="Source Han Sans SC"/>
              </a:rPr>
              <a:t>一条经验公式：显存 ≈ 批大小 × 单样本开销 + 模型参数 + 优化器状态（Adam 的优化器状态约为参数量的 2 倍，这就是 Adam 比 SGD 更吃显存的原因）。批大小翻倍时，学习率通常也同步放大。</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05</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05</a:t>
            </a:r>
          </a:p>
        </p:txBody>
      </p:sp>
      <p:sp>
        <p:nvSpPr>
          <p:cNvPr id="7" name="TextBox 6"/>
          <p:cNvSpPr txBox="1"/>
          <p:nvPr/>
        </p:nvSpPr>
        <p:spPr>
          <a:xfrm>
            <a:off x="2379600" y="1105200"/>
            <a:ext cx="5040000" cy="1624377"/>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Lab · Optimizers × Learning Rates</a:t>
            </a:r>
          </a:p>
          <a:p>
            <a:pPr algn="l">
              <a:lnSpc>
                <a:spcPct val="105000"/>
              </a:lnSpc>
              <a:spcBef>
                <a:spcPts val="150"/>
              </a:spcBef>
            </a:pPr>
            <a:r>
              <a:rPr sz="2340" b="0" i="0">
                <a:solidFill>
                  <a:srgbClr val="6B7280"/>
                </a:solidFill>
                <a:latin typeface="Source Han Sans SC"/>
              </a:rPr>
              <a:t>Lab · 实验 4 优化器 × 学习率</a:t>
            </a:r>
          </a:p>
        </p:txBody>
      </p:sp>
      <p:sp>
        <p:nvSpPr>
          <p:cNvPr id="8" name="TextBox 7"/>
          <p:cNvSpPr txBox="1"/>
          <p:nvPr/>
        </p:nvSpPr>
        <p:spPr>
          <a:xfrm>
            <a:off x="799200" y="2801577"/>
            <a:ext cx="8640000" cy="198041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80 minutes for a real controlled experiment: 3 optimizers x 3 learning rates = 9 runs,</a:t>
            </a:r>
          </a:p>
          <a:p>
            <a:pPr algn="l">
              <a:lnSpc>
                <a:spcPct val="150000"/>
              </a:lnSpc>
            </a:pPr>
            <a:r>
              <a:rPr sz="1500" b="0" i="0">
                <a:solidFill>
                  <a:srgbClr val="1F2937"/>
                </a:solidFill>
                <a:latin typeface="Source Han Sans SC"/>
              </a:rPr>
              <a:t>then answer a question that must be backed by data — which combination wins, and why.</a:t>
            </a:r>
          </a:p>
          <a:p>
            <a:pPr algn="l">
              <a:lnSpc>
                <a:spcPct val="105000"/>
              </a:lnSpc>
              <a:spcBef>
                <a:spcPts val="150"/>
              </a:spcBef>
            </a:pPr>
            <a:r>
              <a:rPr sz="1170" b="0" i="0">
                <a:solidFill>
                  <a:srgbClr val="6B7280"/>
                </a:solidFill>
                <a:latin typeface="Source Han Sans SC"/>
              </a:rPr>
              <a:t>80 分钟，亲手做一次真正的对照实验：3 种优化器 × 3 组学习率 = 9 次运行，</a:t>
            </a:r>
          </a:p>
          <a:p>
            <a:pPr algn="l">
              <a:lnSpc>
                <a:spcPct val="105000"/>
              </a:lnSpc>
              <a:spcBef>
                <a:spcPts val="150"/>
              </a:spcBef>
            </a:pPr>
            <a:r>
              <a:rPr sz="1170" b="0" i="0">
                <a:solidFill>
                  <a:srgbClr val="6B7280"/>
                </a:solidFill>
                <a:latin typeface="Source Han Sans SC"/>
              </a:rPr>
              <a:t>然后回答一个必须用数据支撑的问题——哪一个组合最好，为什么。</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9 Runs</a:t>
            </a:r>
            <a:r>
              <a:rPr sz="1010" b="0" i="0">
                <a:solidFill>
                  <a:srgbClr val="6B7280"/>
                </a:solidFill>
                <a:latin typeface="Source Han Sans SC"/>
              </a:rPr>
              <a:t> ｜ </a:t>
            </a:r>
            <a:r>
              <a:rPr sz="1010" b="0" i="0">
                <a:solidFill>
                  <a:srgbClr val="6B7280"/>
                </a:solidFill>
                <a:latin typeface="Source Han Sans SC"/>
              </a:rPr>
              <a:t>9 次运行</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One variable at a time</a:t>
            </a:r>
          </a:p>
          <a:p>
            <a:pPr algn="l">
              <a:lnSpc>
                <a:spcPct val="105000"/>
              </a:lnSpc>
              <a:spcBef>
                <a:spcPts val="150"/>
              </a:spcBef>
            </a:pPr>
            <a:r>
              <a:rPr sz="800" b="0" i="0">
                <a:solidFill>
                  <a:srgbClr val="6B7280"/>
                </a:solidFill>
                <a:latin typeface="Source Han Sans SC"/>
              </a:rPr>
              <a:t>一次只改一个变量</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Plot It</a:t>
            </a:r>
            <a:r>
              <a:rPr sz="1010" b="0" i="0">
                <a:solidFill>
                  <a:srgbClr val="6B7280"/>
                </a:solidFill>
                <a:latin typeface="Source Han Sans SC"/>
              </a:rPr>
              <a:t> ｜ </a:t>
            </a:r>
            <a:r>
              <a:rPr sz="1010" b="0" i="0">
                <a:solidFill>
                  <a:srgbClr val="6B7280"/>
                </a:solidFill>
                <a:latin typeface="Source Han Sans SC"/>
              </a:rPr>
              <a:t>画出曲线</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Loss + accuracy</a:t>
            </a:r>
          </a:p>
          <a:p>
            <a:pPr algn="l">
              <a:lnSpc>
                <a:spcPct val="105000"/>
              </a:lnSpc>
              <a:spcBef>
                <a:spcPts val="150"/>
              </a:spcBef>
            </a:pPr>
            <a:r>
              <a:rPr sz="800" b="0" i="0">
                <a:solidFill>
                  <a:srgbClr val="6B7280"/>
                </a:solidFill>
                <a:latin typeface="Source Han Sans SC"/>
              </a:rPr>
              <a:t>损失 + 准确率</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Justify It</a:t>
            </a:r>
            <a:r>
              <a:rPr sz="1010" b="0" i="0">
                <a:solidFill>
                  <a:srgbClr val="6B7280"/>
                </a:solidFill>
                <a:latin typeface="Source Han Sans SC"/>
              </a:rPr>
              <a:t> ｜ </a:t>
            </a:r>
            <a:r>
              <a:rPr sz="1010" b="0" i="0">
                <a:solidFill>
                  <a:srgbClr val="6B7280"/>
                </a:solidFill>
                <a:latin typeface="Source Han Sans SC"/>
              </a:rPr>
              <a:t>给出理由</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The winner needs an argument</a:t>
            </a:r>
          </a:p>
          <a:p>
            <a:pPr algn="l">
              <a:lnSpc>
                <a:spcPct val="105000"/>
              </a:lnSpc>
              <a:spcBef>
                <a:spcPts val="150"/>
              </a:spcBef>
            </a:pPr>
            <a:r>
              <a:rPr sz="800" b="0" i="0">
                <a:solidFill>
                  <a:srgbClr val="6B7280"/>
                </a:solidFill>
                <a:latin typeface="Source Han Sans SC"/>
              </a:rPr>
              <a:t>最优组合必须有论证</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The Four Tasks of Lab 4</a:t>
            </a:r>
          </a:p>
          <a:p>
            <a:pPr algn="l">
              <a:lnSpc>
                <a:spcPct val="105000"/>
              </a:lnSpc>
              <a:spcBef>
                <a:spcPts val="150"/>
              </a:spcBef>
            </a:pPr>
            <a:r>
              <a:rPr sz="1210" b="0" i="0">
                <a:solidFill>
                  <a:srgbClr val="6B7280"/>
                </a:solidFill>
                <a:latin typeface="Source Han Sans SC"/>
              </a:rPr>
              <a:t>实验 4 的四个任务</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23 / 31</a:t>
            </a:r>
          </a:p>
        </p:txBody>
      </p:sp>
      <p:sp>
        <p:nvSpPr>
          <p:cNvPr id="9" name="Rectangle 8"/>
          <p:cNvSpPr/>
          <p:nvPr/>
        </p:nvSpPr>
        <p:spPr>
          <a:xfrm>
            <a:off x="799200" y="1296000"/>
            <a:ext cx="5188859" cy="238696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2386969"/>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200"/>
            <a:ext cx="474245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A · The 3 x 3 grid</a:t>
            </a:r>
          </a:p>
          <a:p>
            <a:pPr algn="l">
              <a:lnSpc>
                <a:spcPct val="105000"/>
              </a:lnSpc>
              <a:spcBef>
                <a:spcPts val="150"/>
              </a:spcBef>
            </a:pPr>
            <a:r>
              <a:rPr sz="1130" b="0" i="0">
                <a:solidFill>
                  <a:srgbClr val="6B7280"/>
                </a:solidFill>
                <a:latin typeface="Source Han Sans SC"/>
              </a:rPr>
              <a:t>A · 3 × 3 网格实验</a:t>
            </a:r>
          </a:p>
        </p:txBody>
      </p:sp>
      <p:sp>
        <p:nvSpPr>
          <p:cNvPr id="12" name="TextBox 11"/>
          <p:cNvSpPr txBox="1"/>
          <p:nvPr/>
        </p:nvSpPr>
        <p:spPr>
          <a:xfrm>
            <a:off x="1022400" y="2033090"/>
            <a:ext cx="4742459" cy="1577879"/>
          </a:xfrm>
          <a:prstGeom prst="rect">
            <a:avLst/>
          </a:prstGeom>
          <a:noFill/>
        </p:spPr>
        <p:txBody>
          <a:bodyPr wrap="square" anchor="t" lIns="0" rIns="0" tIns="0" bIns="0">
            <a:spAutoFit/>
          </a:bodyPr>
          <a:lstStyle/>
          <a:p>
            <a:pPr algn="l">
              <a:lnSpc>
                <a:spcPct val="122000"/>
              </a:lnSpc>
              <a:spcAft>
                <a:spcPts val="400"/>
              </a:spcAft>
            </a:pPr>
            <a:r>
              <a:rPr sz="900" b="0" i="0">
                <a:solidFill>
                  <a:srgbClr val="1F2937"/>
                </a:solidFill>
                <a:latin typeface="Source Han Sans SC"/>
              </a:rPr>
              <a:t>• 3 optimizers: SGD / SGD+momentum / Adam</a:t>
            </a:r>
            <a:r>
              <a:rPr sz="800" b="0" i="0">
                <a:solidFill>
                  <a:srgbClr val="6B7280"/>
                </a:solidFill>
                <a:latin typeface="Source Han Sans SC"/>
              </a:rPr>
              <a:t> ｜ </a:t>
            </a:r>
            <a:r>
              <a:rPr sz="800" b="0" i="0">
                <a:solidFill>
                  <a:srgbClr val="6B7280"/>
                </a:solidFill>
                <a:latin typeface="Source Han Sans SC"/>
              </a:rPr>
              <a:t>• 3 种优化器：SGD / SGD+momentum / Adam</a:t>
            </a:r>
          </a:p>
          <a:p>
            <a:pPr algn="l">
              <a:lnSpc>
                <a:spcPct val="122000"/>
              </a:lnSpc>
              <a:spcAft>
                <a:spcPts val="400"/>
              </a:spcAft>
            </a:pPr>
            <a:r>
              <a:rPr sz="900" b="0" i="0">
                <a:solidFill>
                  <a:srgbClr val="1F2937"/>
                </a:solidFill>
                <a:latin typeface="Source Han Sans SC"/>
              </a:rPr>
              <a:t>• 3 learning rates: 1e-1 / 1e-3 / 1e-5</a:t>
            </a:r>
            <a:r>
              <a:rPr sz="800" b="0" i="0">
                <a:solidFill>
                  <a:srgbClr val="6B7280"/>
                </a:solidFill>
                <a:latin typeface="Source Han Sans SC"/>
              </a:rPr>
              <a:t> ｜ </a:t>
            </a:r>
            <a:r>
              <a:rPr sz="800" b="0" i="0">
                <a:solidFill>
                  <a:srgbClr val="6B7280"/>
                </a:solidFill>
                <a:latin typeface="Source Han Sans SC"/>
              </a:rPr>
              <a:t>• 3 组学习率：1e-1 / 1e-3 / 1e-5</a:t>
            </a:r>
          </a:p>
          <a:p>
            <a:pPr algn="l">
              <a:lnSpc>
                <a:spcPct val="122000"/>
              </a:lnSpc>
              <a:spcAft>
                <a:spcPts val="400"/>
              </a:spcAft>
            </a:pPr>
            <a:r>
              <a:rPr sz="900" b="0" i="0">
                <a:solidFill>
                  <a:srgbClr val="1F2937"/>
                </a:solidFill>
                <a:latin typeface="Source Han Sans SC"/>
              </a:rPr>
              <a:t>• Same network, same split, same seed</a:t>
            </a:r>
            <a:r>
              <a:rPr sz="800" b="0" i="0">
                <a:solidFill>
                  <a:srgbClr val="6B7280"/>
                </a:solidFill>
                <a:latin typeface="Source Han Sans SC"/>
              </a:rPr>
              <a:t> ｜ </a:t>
            </a:r>
            <a:r>
              <a:rPr sz="800" b="0" i="0">
                <a:solidFill>
                  <a:srgbClr val="6B7280"/>
                </a:solidFill>
                <a:latin typeface="Source Han Sans SC"/>
              </a:rPr>
              <a:t>• 同一网络、同一划分、同一随机种子</a:t>
            </a:r>
          </a:p>
          <a:p>
            <a:pPr algn="l">
              <a:lnSpc>
                <a:spcPct val="122000"/>
              </a:lnSpc>
              <a:spcAft>
                <a:spcPts val="400"/>
              </a:spcAft>
            </a:pPr>
            <a:r>
              <a:rPr sz="900" b="0" i="0">
                <a:solidFill>
                  <a:srgbClr val="1F2937"/>
                </a:solidFill>
                <a:latin typeface="Source Han Sans SC"/>
              </a:rPr>
              <a:t>• Rebuild the model each run; log train/val metrics</a:t>
            </a:r>
            <a:r>
              <a:rPr sz="800" b="0" i="0">
                <a:solidFill>
                  <a:srgbClr val="6B7280"/>
                </a:solidFill>
                <a:latin typeface="Source Han Sans SC"/>
              </a:rPr>
              <a:t> ｜ </a:t>
            </a:r>
            <a:r>
              <a:rPr sz="800" b="0" i="0">
                <a:solidFill>
                  <a:srgbClr val="6B7280"/>
                </a:solidFill>
                <a:latin typeface="Source Han Sans SC"/>
              </a:rPr>
              <a:t>• 每次重新初始化权重，记录 train/val 指标</a:t>
            </a:r>
          </a:p>
        </p:txBody>
      </p:sp>
      <p:sp>
        <p:nvSpPr>
          <p:cNvPr id="13" name="Rectangle 12"/>
          <p:cNvSpPr/>
          <p:nvPr/>
        </p:nvSpPr>
        <p:spPr>
          <a:xfrm>
            <a:off x="6204059" y="1296000"/>
            <a:ext cx="5188859" cy="238696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4059" y="1296000"/>
            <a:ext cx="32400" cy="2386969"/>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27259" y="1447200"/>
            <a:ext cx="474245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B · Plot the curves</a:t>
            </a:r>
          </a:p>
          <a:p>
            <a:pPr algn="l">
              <a:lnSpc>
                <a:spcPct val="105000"/>
              </a:lnSpc>
              <a:spcBef>
                <a:spcPts val="150"/>
              </a:spcBef>
            </a:pPr>
            <a:r>
              <a:rPr sz="1130" b="0" i="0">
                <a:solidFill>
                  <a:srgbClr val="6B7280"/>
                </a:solidFill>
                <a:latin typeface="Source Han Sans SC"/>
              </a:rPr>
              <a:t>B · 绘制损失与准确率曲线</a:t>
            </a:r>
          </a:p>
        </p:txBody>
      </p:sp>
      <p:sp>
        <p:nvSpPr>
          <p:cNvPr id="16" name="TextBox 15"/>
          <p:cNvSpPr txBox="1"/>
          <p:nvPr/>
        </p:nvSpPr>
        <p:spPr>
          <a:xfrm>
            <a:off x="6427259" y="2033090"/>
            <a:ext cx="4742459" cy="1577879"/>
          </a:xfrm>
          <a:prstGeom prst="rect">
            <a:avLst/>
          </a:prstGeom>
          <a:noFill/>
        </p:spPr>
        <p:txBody>
          <a:bodyPr wrap="square" anchor="t" lIns="0" rIns="0" tIns="0" bIns="0">
            <a:spAutoFit/>
          </a:bodyPr>
          <a:lstStyle/>
          <a:p>
            <a:pPr algn="l">
              <a:lnSpc>
                <a:spcPct val="122000"/>
              </a:lnSpc>
              <a:spcAft>
                <a:spcPts val="400"/>
              </a:spcAft>
            </a:pPr>
            <a:r>
              <a:rPr sz="900" b="0" i="0">
                <a:solidFill>
                  <a:srgbClr val="1F2937"/>
                </a:solidFill>
                <a:latin typeface="Source Han Sans SC"/>
              </a:rPr>
              <a:t>• One curve per combo, legend names optimizer and lr</a:t>
            </a:r>
            <a:r>
              <a:rPr sz="800" b="0" i="0">
                <a:solidFill>
                  <a:srgbClr val="6B7280"/>
                </a:solidFill>
                <a:latin typeface="Source Han Sans SC"/>
              </a:rPr>
              <a:t> ｜ </a:t>
            </a:r>
            <a:r>
              <a:rPr sz="800" b="0" i="0">
                <a:solidFill>
                  <a:srgbClr val="6B7280"/>
                </a:solidFill>
                <a:latin typeface="Source Han Sans SC"/>
              </a:rPr>
              <a:t>• 每个组合一条曲线，图例标注优化器与 lr</a:t>
            </a:r>
          </a:p>
          <a:p>
            <a:pPr algn="l">
              <a:lnSpc>
                <a:spcPct val="122000"/>
              </a:lnSpc>
              <a:spcAft>
                <a:spcPts val="400"/>
              </a:spcAft>
            </a:pPr>
            <a:r>
              <a:rPr sz="900" b="0" i="0">
                <a:solidFill>
                  <a:srgbClr val="1F2937"/>
                </a:solidFill>
                <a:latin typeface="Source Han Sans SC"/>
              </a:rPr>
              <a:t>• The loss curve shows speed and stability</a:t>
            </a:r>
            <a:r>
              <a:rPr sz="800" b="0" i="0">
                <a:solidFill>
                  <a:srgbClr val="6B7280"/>
                </a:solidFill>
                <a:latin typeface="Source Han Sans SC"/>
              </a:rPr>
              <a:t> ｜ </a:t>
            </a:r>
            <a:r>
              <a:rPr sz="800" b="0" i="0">
                <a:solidFill>
                  <a:srgbClr val="6B7280"/>
                </a:solidFill>
                <a:latin typeface="Source Han Sans SC"/>
              </a:rPr>
              <a:t>• 损失曲线看收敛速度与稳定性</a:t>
            </a:r>
          </a:p>
          <a:p>
            <a:pPr algn="l">
              <a:lnSpc>
                <a:spcPct val="122000"/>
              </a:lnSpc>
              <a:spcAft>
                <a:spcPts val="400"/>
              </a:spcAft>
            </a:pPr>
            <a:r>
              <a:rPr sz="900" b="0" i="0">
                <a:solidFill>
                  <a:srgbClr val="1F2937"/>
                </a:solidFill>
                <a:latin typeface="Source Han Sans SC"/>
              </a:rPr>
              <a:t>• The accuracy curve shows final quality and jitter</a:t>
            </a:r>
            <a:r>
              <a:rPr sz="800" b="0" i="0">
                <a:solidFill>
                  <a:srgbClr val="6B7280"/>
                </a:solidFill>
                <a:latin typeface="Source Han Sans SC"/>
              </a:rPr>
              <a:t> ｜ </a:t>
            </a:r>
            <a:r>
              <a:rPr sz="800" b="0" i="0">
                <a:solidFill>
                  <a:srgbClr val="6B7280"/>
                </a:solidFill>
                <a:latin typeface="Source Han Sans SC"/>
              </a:rPr>
              <a:t>• 准确率曲线看最终质量与是否震荡</a:t>
            </a:r>
          </a:p>
          <a:p>
            <a:pPr algn="l">
              <a:lnSpc>
                <a:spcPct val="122000"/>
              </a:lnSpc>
              <a:spcAft>
                <a:spcPts val="400"/>
              </a:spcAft>
            </a:pPr>
            <a:r>
              <a:rPr sz="900" b="0" i="0">
                <a:solidFill>
                  <a:srgbClr val="1F2937"/>
                </a:solidFill>
                <a:latin typeface="Source Han Sans SC"/>
              </a:rPr>
              <a:t>• Plot at least one chart with 3 curves on shared axes</a:t>
            </a:r>
            <a:r>
              <a:rPr sz="800" b="0" i="0">
                <a:solidFill>
                  <a:srgbClr val="6B7280"/>
                </a:solidFill>
                <a:latin typeface="Source Han Sans SC"/>
              </a:rPr>
              <a:t> ｜ </a:t>
            </a:r>
            <a:r>
              <a:rPr sz="800" b="0" i="0">
                <a:solidFill>
                  <a:srgbClr val="6B7280"/>
                </a:solidFill>
                <a:latin typeface="Source Han Sans SC"/>
              </a:rPr>
              <a:t>• 至少画一张 3 条曲线同坐标系的对比图</a:t>
            </a:r>
          </a:p>
        </p:txBody>
      </p:sp>
      <p:sp>
        <p:nvSpPr>
          <p:cNvPr id="17" name="Rectangle 16"/>
          <p:cNvSpPr/>
          <p:nvPr/>
        </p:nvSpPr>
        <p:spPr>
          <a:xfrm>
            <a:off x="799200" y="3898969"/>
            <a:ext cx="5188859" cy="238696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99200" y="3898969"/>
            <a:ext cx="32400" cy="2386969"/>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22400" y="4050169"/>
            <a:ext cx="474245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C · Name the winner and argue it</a:t>
            </a:r>
          </a:p>
          <a:p>
            <a:pPr algn="l">
              <a:lnSpc>
                <a:spcPct val="105000"/>
              </a:lnSpc>
              <a:spcBef>
                <a:spcPts val="150"/>
              </a:spcBef>
            </a:pPr>
            <a:r>
              <a:rPr sz="1130" b="0" i="0">
                <a:solidFill>
                  <a:srgbClr val="6B7280"/>
                </a:solidFill>
                <a:latin typeface="Source Han Sans SC"/>
              </a:rPr>
              <a:t>C · 给出最优组合并论证</a:t>
            </a:r>
          </a:p>
        </p:txBody>
      </p:sp>
      <p:sp>
        <p:nvSpPr>
          <p:cNvPr id="20" name="TextBox 19"/>
          <p:cNvSpPr txBox="1"/>
          <p:nvPr/>
        </p:nvSpPr>
        <p:spPr>
          <a:xfrm>
            <a:off x="1022400" y="4636059"/>
            <a:ext cx="4742459" cy="1577879"/>
          </a:xfrm>
          <a:prstGeom prst="rect">
            <a:avLst/>
          </a:prstGeom>
          <a:noFill/>
        </p:spPr>
        <p:txBody>
          <a:bodyPr wrap="square" anchor="t" lIns="0" rIns="0" tIns="0" bIns="0">
            <a:spAutoFit/>
          </a:bodyPr>
          <a:lstStyle/>
          <a:p>
            <a:pPr algn="l">
              <a:lnSpc>
                <a:spcPct val="122000"/>
              </a:lnSpc>
              <a:spcAft>
                <a:spcPts val="400"/>
              </a:spcAft>
            </a:pPr>
            <a:r>
              <a:rPr sz="900" b="0" i="0">
                <a:solidFill>
                  <a:srgbClr val="1F2937"/>
                </a:solidFill>
                <a:latin typeface="Source Han Sans SC"/>
              </a:rPr>
              <a:t>• State the best combo (optimizer + learning rate)</a:t>
            </a:r>
            <a:r>
              <a:rPr sz="800" b="0" i="0">
                <a:solidFill>
                  <a:srgbClr val="6B7280"/>
                </a:solidFill>
                <a:latin typeface="Source Han Sans SC"/>
              </a:rPr>
              <a:t> ｜ </a:t>
            </a:r>
            <a:r>
              <a:rPr sz="800" b="0" i="0">
                <a:solidFill>
                  <a:srgbClr val="6B7280"/>
                </a:solidFill>
                <a:latin typeface="Source Han Sans SC"/>
              </a:rPr>
              <a:t>• 明确写出最优组合（优化器 + 学习率）</a:t>
            </a:r>
          </a:p>
          <a:p>
            <a:pPr algn="l">
              <a:lnSpc>
                <a:spcPct val="122000"/>
              </a:lnSpc>
              <a:spcAft>
                <a:spcPts val="400"/>
              </a:spcAft>
            </a:pPr>
            <a:r>
              <a:rPr sz="900" b="0" i="0">
                <a:solidFill>
                  <a:srgbClr val="1F2937"/>
                </a:solidFill>
                <a:latin typeface="Source Han Sans SC"/>
              </a:rPr>
              <a:t>• Back it with val metrics: lowest loss, highest accuracy</a:t>
            </a:r>
            <a:r>
              <a:rPr sz="800" b="0" i="0">
                <a:solidFill>
                  <a:srgbClr val="6B7280"/>
                </a:solidFill>
                <a:latin typeface="Source Han Sans SC"/>
              </a:rPr>
              <a:t> ｜ </a:t>
            </a:r>
            <a:r>
              <a:rPr sz="800" b="0" i="0">
                <a:solidFill>
                  <a:srgbClr val="6B7280"/>
                </a:solidFill>
                <a:latin typeface="Source Han Sans SC"/>
              </a:rPr>
              <a:t>• 用验证指标支撑：最低损失、最高准确率</a:t>
            </a:r>
          </a:p>
          <a:p>
            <a:pPr algn="l">
              <a:lnSpc>
                <a:spcPct val="122000"/>
              </a:lnSpc>
              <a:spcAft>
                <a:spcPts val="400"/>
              </a:spcAft>
            </a:pPr>
            <a:r>
              <a:rPr sz="900" b="0" i="0">
                <a:solidFill>
                  <a:srgbClr val="1F2937"/>
                </a:solidFill>
                <a:latin typeface="Source Han Sans SC"/>
              </a:rPr>
              <a:t>• Explain why it wins: adaptive step? momentum? the right size?</a:t>
            </a:r>
            <a:r>
              <a:rPr sz="800" b="0" i="0">
                <a:solidFill>
                  <a:srgbClr val="6B7280"/>
                </a:solidFill>
                <a:latin typeface="Source Han Sans SC"/>
              </a:rPr>
              <a:t> ｜ </a:t>
            </a:r>
            <a:r>
              <a:rPr sz="800" b="0" i="0">
                <a:solidFill>
                  <a:srgbClr val="6B7280"/>
                </a:solidFill>
                <a:latin typeface="Source Han Sans SC"/>
              </a:rPr>
              <a:t>• 解释它为什么胜出：自适应步长？动量？步长刚好？</a:t>
            </a:r>
          </a:p>
          <a:p>
            <a:pPr algn="l">
              <a:lnSpc>
                <a:spcPct val="122000"/>
              </a:lnSpc>
              <a:spcAft>
                <a:spcPts val="400"/>
              </a:spcAft>
            </a:pPr>
            <a:r>
              <a:rPr sz="900" b="0" i="0">
                <a:solidFill>
                  <a:srgbClr val="1F2937"/>
                </a:solidFill>
                <a:latin typeface="Source Han Sans SC"/>
              </a:rPr>
              <a:t>• Name the failing combos and their symptom (explode / crawl)</a:t>
            </a:r>
            <a:r>
              <a:rPr sz="800" b="0" i="0">
                <a:solidFill>
                  <a:srgbClr val="6B7280"/>
                </a:solidFill>
                <a:latin typeface="Source Han Sans SC"/>
              </a:rPr>
              <a:t> ｜ </a:t>
            </a:r>
            <a:r>
              <a:rPr sz="800" b="0" i="0">
                <a:solidFill>
                  <a:srgbClr val="6B7280"/>
                </a:solidFill>
                <a:latin typeface="Source Han Sans SC"/>
              </a:rPr>
              <a:t>• 指出失败组合及其直接现象（爆炸 / 不动）</a:t>
            </a:r>
          </a:p>
        </p:txBody>
      </p:sp>
      <p:sp>
        <p:nvSpPr>
          <p:cNvPr id="21" name="Rectangle 20"/>
          <p:cNvSpPr/>
          <p:nvPr/>
        </p:nvSpPr>
        <p:spPr>
          <a:xfrm>
            <a:off x="6204059" y="3898969"/>
            <a:ext cx="5188859" cy="238696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04059" y="3898969"/>
            <a:ext cx="32400" cy="2386969"/>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27259" y="4050169"/>
            <a:ext cx="474245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D · One debugging log</a:t>
            </a:r>
          </a:p>
          <a:p>
            <a:pPr algn="l">
              <a:lnSpc>
                <a:spcPct val="105000"/>
              </a:lnSpc>
              <a:spcBef>
                <a:spcPts val="150"/>
              </a:spcBef>
            </a:pPr>
            <a:r>
              <a:rPr sz="1130" b="0" i="0">
                <a:solidFill>
                  <a:srgbClr val="6B7280"/>
                </a:solidFill>
                <a:latin typeface="Source Han Sans SC"/>
              </a:rPr>
              <a:t>D · 记录一次不收敛的排查</a:t>
            </a:r>
          </a:p>
        </p:txBody>
      </p:sp>
      <p:sp>
        <p:nvSpPr>
          <p:cNvPr id="24" name="TextBox 23"/>
          <p:cNvSpPr txBox="1"/>
          <p:nvPr/>
        </p:nvSpPr>
        <p:spPr>
          <a:xfrm>
            <a:off x="6427259" y="4636059"/>
            <a:ext cx="4742459" cy="1577879"/>
          </a:xfrm>
          <a:prstGeom prst="rect">
            <a:avLst/>
          </a:prstGeom>
          <a:noFill/>
        </p:spPr>
        <p:txBody>
          <a:bodyPr wrap="square" anchor="t" lIns="0" rIns="0" tIns="0" bIns="0">
            <a:spAutoFit/>
          </a:bodyPr>
          <a:lstStyle/>
          <a:p>
            <a:pPr algn="l">
              <a:lnSpc>
                <a:spcPct val="122000"/>
              </a:lnSpc>
              <a:spcAft>
                <a:spcPts val="400"/>
              </a:spcAft>
            </a:pPr>
            <a:r>
              <a:rPr sz="900" b="0" i="0">
                <a:solidFill>
                  <a:srgbClr val="1F2937"/>
                </a:solidFill>
                <a:latin typeface="Source Han Sans SC"/>
              </a:rPr>
              <a:t>• Pick a failing combo and start by checking the lr</a:t>
            </a:r>
            <a:r>
              <a:rPr sz="800" b="0" i="0">
                <a:solidFill>
                  <a:srgbClr val="6B7280"/>
                </a:solidFill>
                <a:latin typeface="Source Han Sans SC"/>
              </a:rPr>
              <a:t> ｜ </a:t>
            </a:r>
            <a:r>
              <a:rPr sz="800" b="0" i="0">
                <a:solidFill>
                  <a:srgbClr val="6B7280"/>
                </a:solidFill>
                <a:latin typeface="Source Han Sans SC"/>
              </a:rPr>
              <a:t>• 选一个失败组合，按「先查学习率」的顺序排查</a:t>
            </a:r>
          </a:p>
          <a:p>
            <a:pPr algn="l">
              <a:lnSpc>
                <a:spcPct val="122000"/>
              </a:lnSpc>
              <a:spcAft>
                <a:spcPts val="400"/>
              </a:spcAft>
            </a:pPr>
            <a:r>
              <a:rPr sz="900" b="0" i="0">
                <a:solidFill>
                  <a:srgbClr val="1F2937"/>
                </a:solidFill>
                <a:latin typeface="Source Han Sans SC"/>
              </a:rPr>
              <a:t>• Then data (labels, scaling, split) and code (step order)</a:t>
            </a:r>
            <a:r>
              <a:rPr sz="800" b="0" i="0">
                <a:solidFill>
                  <a:srgbClr val="6B7280"/>
                </a:solidFill>
                <a:latin typeface="Source Han Sans SC"/>
              </a:rPr>
              <a:t> ｜ </a:t>
            </a:r>
            <a:r>
              <a:rPr sz="800" b="0" i="0">
                <a:solidFill>
                  <a:srgbClr val="6B7280"/>
                </a:solidFill>
                <a:latin typeface="Source Han Sans SC"/>
              </a:rPr>
              <a:t>• 再查数据（标签、归一化、划分）与代码（五步顺序）</a:t>
            </a:r>
          </a:p>
          <a:p>
            <a:pPr algn="l">
              <a:lnSpc>
                <a:spcPct val="122000"/>
              </a:lnSpc>
              <a:spcAft>
                <a:spcPts val="400"/>
              </a:spcAft>
            </a:pPr>
            <a:r>
              <a:rPr sz="900" b="0" i="0">
                <a:solidFill>
                  <a:srgbClr val="1F2937"/>
                </a:solidFill>
                <a:latin typeface="Source Han Sans SC"/>
              </a:rPr>
              <a:t>• Record each hypothesis, how you tested it, the conclusion</a:t>
            </a:r>
            <a:r>
              <a:rPr sz="800" b="0" i="0">
                <a:solidFill>
                  <a:srgbClr val="6B7280"/>
                </a:solidFill>
                <a:latin typeface="Source Han Sans SC"/>
              </a:rPr>
              <a:t> ｜ </a:t>
            </a:r>
            <a:r>
              <a:rPr sz="800" b="0" i="0">
                <a:solidFill>
                  <a:srgbClr val="6B7280"/>
                </a:solidFill>
                <a:latin typeface="Source Han Sans SC"/>
              </a:rPr>
              <a:t>• 记录每一步的假设、验证方式与结论</a:t>
            </a:r>
          </a:p>
          <a:p>
            <a:pPr algn="l">
              <a:lnSpc>
                <a:spcPct val="122000"/>
              </a:lnSpc>
              <a:spcAft>
                <a:spcPts val="400"/>
              </a:spcAft>
            </a:pPr>
            <a:r>
              <a:rPr sz="900" b="0" i="0">
                <a:solidFill>
                  <a:srgbClr val="1F2937"/>
                </a:solidFill>
                <a:latin typeface="Source Han Sans SC"/>
              </a:rPr>
              <a:t>• Deliver: script + table + curves + debugging log</a:t>
            </a:r>
            <a:r>
              <a:rPr sz="800" b="0" i="0">
                <a:solidFill>
                  <a:srgbClr val="6B7280"/>
                </a:solidFill>
                <a:latin typeface="Source Han Sans SC"/>
              </a:rPr>
              <a:t> ｜ </a:t>
            </a:r>
            <a:r>
              <a:rPr sz="800" b="0" i="0">
                <a:solidFill>
                  <a:srgbClr val="6B7280"/>
                </a:solidFill>
                <a:latin typeface="Source Han Sans SC"/>
              </a:rPr>
              <a:t>• 交付：脚本 + 对照表 + 曲线图 + 排查记录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3 Optimizers x 3 Learning Rates: Illustrative Val-loss Curves</a:t>
            </a:r>
          </a:p>
          <a:p>
            <a:pPr algn="l">
              <a:lnSpc>
                <a:spcPct val="105000"/>
              </a:lnSpc>
              <a:spcBef>
                <a:spcPts val="150"/>
              </a:spcBef>
            </a:pPr>
            <a:r>
              <a:rPr sz="1210" b="0" i="0">
                <a:solidFill>
                  <a:srgbClr val="6B7280"/>
                </a:solidFill>
                <a:latin typeface="Source Han Sans SC"/>
              </a:rPr>
              <a:t>3 种优化器 × 3 组学习率：验证损失曲线示意图</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24 / 31</a:t>
            </a:r>
          </a:p>
        </p:txBody>
      </p:sp>
      <p:graphicFrame>
        <p:nvGraphicFramePr>
          <p:cNvPr id="9" name="Chart 8"/>
          <p:cNvGraphicFramePr>
            <a:graphicFrameLocks noGrp="1"/>
          </p:cNvGraphicFramePr>
          <p:nvPr/>
        </p:nvGraphicFramePr>
        <p:xfrm>
          <a:off x="799200" y="1152000"/>
          <a:ext cx="6840000" cy="4320000"/>
        </p:xfrm>
        <a:graphic>
          <a:graphicData uri="http://schemas.openxmlformats.org/drawingml/2006/chart">
            <c:chart xmlns:c="http://schemas.openxmlformats.org/drawingml/2006/chart" r:id="rId2"/>
          </a:graphicData>
        </a:graphic>
      </p:graphicFrame>
      <p:sp>
        <p:nvSpPr>
          <p:cNvPr id="10" name="TextBox 9"/>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150" b="0" i="0">
                <a:solidFill>
                  <a:srgbClr val="1F2937"/>
                </a:solidFill>
                <a:latin typeface="Source Han Sans SC"/>
              </a:rPr>
              <a:t>• At 1e-1 no optimizer converges → the lr dominates everything else</a:t>
            </a:r>
            <a:r>
              <a:rPr sz="900" b="0" i="0">
                <a:solidFill>
                  <a:srgbClr val="6B7280"/>
                </a:solidFill>
                <a:latin typeface="Source Han Sans SC"/>
              </a:rPr>
              <a:t> ｜ </a:t>
            </a:r>
            <a:r>
              <a:rPr sz="900" b="0" i="0">
                <a:solidFill>
                  <a:srgbClr val="6B7280"/>
                </a:solidFill>
                <a:latin typeface="Source Han Sans SC"/>
              </a:rPr>
              <a:t>• 1e-1 下无论哪个优化器都不收敛 → 学习率是主导变量</a:t>
            </a:r>
          </a:p>
          <a:p>
            <a:pPr algn="l">
              <a:lnSpc>
                <a:spcPct val="145000"/>
              </a:lnSpc>
              <a:spcAft>
                <a:spcPts val="800"/>
              </a:spcAft>
            </a:pPr>
            <a:r>
              <a:rPr sz="1150" b="0" i="0">
                <a:solidFill>
                  <a:srgbClr val="1F2937"/>
                </a:solidFill>
                <a:latin typeface="Source Han Sans SC"/>
              </a:rPr>
              <a:t>• At the same lr=1e-3 Adam is clearly faster than SGD → adaptive steps at work</a:t>
            </a:r>
            <a:r>
              <a:rPr sz="900" b="0" i="0">
                <a:solidFill>
                  <a:srgbClr val="6B7280"/>
                </a:solidFill>
                <a:latin typeface="Source Han Sans SC"/>
              </a:rPr>
              <a:t> ｜ </a:t>
            </a:r>
            <a:r>
              <a:rPr sz="900" b="0" i="0">
                <a:solidFill>
                  <a:srgbClr val="6B7280"/>
                </a:solidFill>
                <a:latin typeface="Source Han Sans SC"/>
              </a:rPr>
              <a:t>• 同样 lr=1e-3，Adam 明显快于 SGD → 自适应步长的作用</a:t>
            </a:r>
          </a:p>
          <a:p>
            <a:pPr algn="l">
              <a:lnSpc>
                <a:spcPct val="145000"/>
              </a:lnSpc>
              <a:spcAft>
                <a:spcPts val="800"/>
              </a:spcAft>
            </a:pPr>
            <a:r>
              <a:rPr sz="1150" b="0" i="0">
                <a:solidFill>
                  <a:srgbClr val="1F2937"/>
                </a:solidFill>
                <a:latin typeface="Source Han Sans SC"/>
              </a:rPr>
              <a:t>• Momentum sits between them → inertia accelerates, it does not rescale</a:t>
            </a:r>
            <a:r>
              <a:rPr sz="900" b="0" i="0">
                <a:solidFill>
                  <a:srgbClr val="6B7280"/>
                </a:solidFill>
                <a:latin typeface="Source Han Sans SC"/>
              </a:rPr>
              <a:t> ｜ </a:t>
            </a:r>
            <a:r>
              <a:rPr sz="900" b="0" i="0">
                <a:solidFill>
                  <a:srgbClr val="6B7280"/>
                </a:solidFill>
                <a:latin typeface="Source Han Sans SC"/>
              </a:rPr>
              <a:t>• Momentum 位于两者之间 → 动量只加速，不改变步长尺度</a:t>
            </a:r>
          </a:p>
          <a:p>
            <a:pPr algn="l">
              <a:lnSpc>
                <a:spcPct val="145000"/>
              </a:lnSpc>
              <a:spcAft>
                <a:spcPts val="800"/>
              </a:spcAft>
            </a:pPr>
            <a:r>
              <a:rPr sz="1150" b="0" i="0">
                <a:solidFill>
                  <a:srgbClr val="1F2937"/>
                </a:solidFill>
                <a:latin typeface="Source Han Sans SC"/>
              </a:rPr>
              <a:t>• These numbers are illustrative only; your own 9 runs are the evidence</a:t>
            </a:r>
            <a:r>
              <a:rPr sz="900" b="0" i="0">
                <a:solidFill>
                  <a:srgbClr val="6B7280"/>
                </a:solidFill>
                <a:latin typeface="Source Han Sans SC"/>
              </a:rPr>
              <a:t> ｜ </a:t>
            </a:r>
            <a:r>
              <a:rPr sz="900" b="0" i="0">
                <a:solidFill>
                  <a:srgbClr val="6B7280"/>
                </a:solidFill>
                <a:latin typeface="Source Han Sans SC"/>
              </a:rPr>
              <a:t>• 图中数值仅作示意；以你自己跑出的 9 组实测为准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Hyper-parameter Comparison Table (9 runs, to be filled in)</a:t>
            </a:r>
          </a:p>
          <a:p>
            <a:pPr algn="l">
              <a:lnSpc>
                <a:spcPct val="105000"/>
              </a:lnSpc>
              <a:spcBef>
                <a:spcPts val="150"/>
              </a:spcBef>
            </a:pPr>
            <a:r>
              <a:rPr sz="1210" b="0" i="0">
                <a:solidFill>
                  <a:srgbClr val="6B7280"/>
                </a:solidFill>
                <a:latin typeface="Source Han Sans SC"/>
              </a:rPr>
              <a:t>超参数对照表（9 组，学生填写）</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25 / 31</a:t>
            </a:r>
          </a:p>
        </p:txBody>
      </p:sp>
      <p:graphicFrame>
        <p:nvGraphicFramePr>
          <p:cNvPr id="9" name="Table 8"/>
          <p:cNvGraphicFramePr>
            <a:graphicFrameLocks noGrp="1"/>
          </p:cNvGraphicFramePr>
          <p:nvPr/>
        </p:nvGraphicFramePr>
        <p:xfrm>
          <a:off x="799200" y="1152000"/>
          <a:ext cx="10584000" cy="4309014"/>
        </p:xfrm>
        <a:graphic>
          <a:graphicData uri="http://schemas.openxmlformats.org/drawingml/2006/table">
            <a:tbl>
              <a:tblPr firstRow="1" bandRow="1">
                <a:tableStyleId>{5C22544A-7EE6-4342-B048-85BDC9FD1C3A}</a:tableStyleId>
              </a:tblPr>
              <a:tblGrid>
                <a:gridCol w="1152000"/>
                <a:gridCol w="2088000"/>
                <a:gridCol w="1296000"/>
                <a:gridCol w="1944000"/>
                <a:gridCol w="1872000"/>
                <a:gridCol w="2232000"/>
              </a:tblGrid>
              <a:tr h="430901">
                <a:tc>
                  <a:txBody>
                    <a:bodyPr/>
                    <a:lstStyle/>
                    <a:p>
                      <a:r>
                        <a:rPr sz="1050" b="1">
                          <a:solidFill>
                            <a:srgbClr val="FFFFFF"/>
                          </a:solidFill>
                          <a:latin typeface="Source Han Sans SC"/>
                        </a:rPr>
                        <a:t>#</a:t>
                      </a:r>
                    </a:p>
                    <a:p>
                      <a:pPr>
                        <a:lnSpc>
                          <a:spcPct val="100000"/>
                        </a:lnSpc>
                      </a:pPr>
                      <a:r>
                        <a:rPr sz="890" b="0">
                          <a:solidFill>
                            <a:srgbClr val="C3D4EF"/>
                          </a:solidFill>
                          <a:latin typeface="Source Han Sans SC"/>
                        </a:rPr>
                        <a:t>组合</a:t>
                      </a:r>
                    </a:p>
                  </a:txBody>
                  <a:tcPr>
                    <a:solidFill>
                      <a:srgbClr val="0E3F8C"/>
                    </a:solidFill>
                  </a:tcPr>
                </a:tc>
                <a:tc>
                  <a:txBody>
                    <a:bodyPr/>
                    <a:lstStyle/>
                    <a:p>
                      <a:r>
                        <a:rPr sz="1050" b="1">
                          <a:solidFill>
                            <a:srgbClr val="FFFFFF"/>
                          </a:solidFill>
                          <a:latin typeface="Source Han Sans SC"/>
                        </a:rPr>
                        <a:t>Optimizer</a:t>
                      </a:r>
                    </a:p>
                    <a:p>
                      <a:pPr>
                        <a:lnSpc>
                          <a:spcPct val="100000"/>
                        </a:lnSpc>
                      </a:pPr>
                      <a:r>
                        <a:rPr sz="890" b="0">
                          <a:solidFill>
                            <a:srgbClr val="C3D4EF"/>
                          </a:solidFill>
                          <a:latin typeface="Source Han Sans SC"/>
                        </a:rPr>
                        <a:t>优化器</a:t>
                      </a:r>
                    </a:p>
                  </a:txBody>
                  <a:tcPr>
                    <a:solidFill>
                      <a:srgbClr val="0E3F8C"/>
                    </a:solidFill>
                  </a:tcPr>
                </a:tc>
                <a:tc>
                  <a:txBody>
                    <a:bodyPr/>
                    <a:lstStyle/>
                    <a:p>
                      <a:r>
                        <a:rPr sz="1050" b="1">
                          <a:solidFill>
                            <a:srgbClr val="FFFFFF"/>
                          </a:solidFill>
                          <a:latin typeface="Source Han Sans SC"/>
                        </a:rPr>
                        <a:t>lr</a:t>
                      </a:r>
                    </a:p>
                    <a:p>
                      <a:pPr>
                        <a:lnSpc>
                          <a:spcPct val="100000"/>
                        </a:lnSpc>
                      </a:pPr>
                      <a:r>
                        <a:rPr sz="890" b="0">
                          <a:solidFill>
                            <a:srgbClr val="C3D4EF"/>
                          </a:solidFill>
                          <a:latin typeface="Source Han Sans SC"/>
                        </a:rPr>
                        <a:t>学习率</a:t>
                      </a:r>
                    </a:p>
                  </a:txBody>
                  <a:tcPr>
                    <a:solidFill>
                      <a:srgbClr val="0E3F8C"/>
                    </a:solidFill>
                  </a:tcPr>
                </a:tc>
                <a:tc>
                  <a:txBody>
                    <a:bodyPr/>
                    <a:lstStyle/>
                    <a:p>
                      <a:r>
                        <a:rPr sz="1050" b="1">
                          <a:solidFill>
                            <a:srgbClr val="FFFFFF"/>
                          </a:solidFill>
                          <a:latin typeface="Source Han Sans SC"/>
                        </a:rPr>
                        <a:t>Min val loss</a:t>
                      </a:r>
                    </a:p>
                    <a:p>
                      <a:pPr>
                        <a:lnSpc>
                          <a:spcPct val="100000"/>
                        </a:lnSpc>
                      </a:pPr>
                      <a:r>
                        <a:rPr sz="890" b="0">
                          <a:solidFill>
                            <a:srgbClr val="C3D4EF"/>
                          </a:solidFill>
                          <a:latin typeface="Source Han Sans SC"/>
                        </a:rPr>
                        <a:t>最低验证损失</a:t>
                      </a:r>
                    </a:p>
                  </a:txBody>
                  <a:tcPr>
                    <a:solidFill>
                      <a:srgbClr val="0E3F8C"/>
                    </a:solidFill>
                  </a:tcPr>
                </a:tc>
                <a:tc>
                  <a:txBody>
                    <a:bodyPr/>
                    <a:lstStyle/>
                    <a:p>
                      <a:r>
                        <a:rPr sz="1050" b="1">
                          <a:solidFill>
                            <a:srgbClr val="FFFFFF"/>
                          </a:solidFill>
                          <a:latin typeface="Source Han Sans SC"/>
                        </a:rPr>
                        <a:t>Max val acc</a:t>
                      </a:r>
                    </a:p>
                    <a:p>
                      <a:pPr>
                        <a:lnSpc>
                          <a:spcPct val="100000"/>
                        </a:lnSpc>
                      </a:pPr>
                      <a:r>
                        <a:rPr sz="890" b="0">
                          <a:solidFill>
                            <a:srgbClr val="C3D4EF"/>
                          </a:solidFill>
                          <a:latin typeface="Source Han Sans SC"/>
                        </a:rPr>
                        <a:t>最高验证准确率</a:t>
                      </a:r>
                    </a:p>
                  </a:txBody>
                  <a:tcPr>
                    <a:solidFill>
                      <a:srgbClr val="0E3F8C"/>
                    </a:solidFill>
                  </a:tcPr>
                </a:tc>
                <a:tc>
                  <a:txBody>
                    <a:bodyPr/>
                    <a:lstStyle/>
                    <a:p>
                      <a:r>
                        <a:rPr sz="1050" b="1">
                          <a:solidFill>
                            <a:srgbClr val="FFFFFF"/>
                          </a:solidFill>
                          <a:latin typeface="Source Han Sans SC"/>
                        </a:rPr>
                        <a:t>Converged?</a:t>
                      </a:r>
                    </a:p>
                    <a:p>
                      <a:pPr>
                        <a:lnSpc>
                          <a:spcPct val="100000"/>
                        </a:lnSpc>
                      </a:pPr>
                      <a:r>
                        <a:rPr sz="890" b="0">
                          <a:solidFill>
                            <a:srgbClr val="C3D4EF"/>
                          </a:solidFill>
                          <a:latin typeface="Source Han Sans SC"/>
                        </a:rPr>
                        <a:t>是否收敛</a:t>
                      </a:r>
                    </a:p>
                  </a:txBody>
                  <a:tcPr>
                    <a:solidFill>
                      <a:srgbClr val="0E3F8C"/>
                    </a:solidFill>
                  </a:tcPr>
                </a:tc>
              </a:tr>
              <a:tr h="430901">
                <a:tc>
                  <a:txBody>
                    <a:bodyPr/>
                    <a:lstStyle/>
                    <a:p>
                      <a:r>
                        <a:rPr sz="930" b="1">
                          <a:solidFill>
                            <a:srgbClr val="1F2937"/>
                          </a:solidFill>
                          <a:latin typeface="Source Han Sans SC"/>
                        </a:rPr>
                        <a:t>1</a:t>
                      </a:r>
                    </a:p>
                  </a:txBody>
                  <a:tcPr>
                    <a:solidFill>
                      <a:srgbClr val="FFFFFF"/>
                    </a:solidFill>
                  </a:tcPr>
                </a:tc>
                <a:tc>
                  <a:txBody>
                    <a:bodyPr/>
                    <a:lstStyle/>
                    <a:p>
                      <a:r>
                        <a:rPr sz="930" b="0">
                          <a:solidFill>
                            <a:srgbClr val="1F2937"/>
                          </a:solidFill>
                          <a:latin typeface="Source Han Sans SC"/>
                        </a:rPr>
                        <a:t>SGD</a:t>
                      </a:r>
                    </a:p>
                  </a:txBody>
                  <a:tcPr>
                    <a:solidFill>
                      <a:srgbClr val="FFFFFF"/>
                    </a:solidFill>
                  </a:tcPr>
                </a:tc>
                <a:tc>
                  <a:txBody>
                    <a:bodyPr/>
                    <a:lstStyle/>
                    <a:p>
                      <a:r>
                        <a:rPr sz="930" b="0">
                          <a:solidFill>
                            <a:srgbClr val="1F2937"/>
                          </a:solidFill>
                          <a:latin typeface="Source Han Sans SC"/>
                        </a:rPr>
                        <a:t>1e-1</a:t>
                      </a:r>
                    </a:p>
                  </a:txBody>
                  <a:tcPr>
                    <a:solidFill>
                      <a:srgbClr val="FFFFFF"/>
                    </a:solidFill>
                  </a:tcPr>
                </a:tc>
                <a:tc>
                  <a:txBody>
                    <a:bodyPr/>
                    <a:lstStyle/>
                    <a:p>
                      <a:r>
                        <a:rPr sz="930" b="0">
                          <a:solidFill>
                            <a:srgbClr val="1F2937"/>
                          </a:solidFill>
                          <a:latin typeface="Source Han Sans SC"/>
                        </a:rPr>
                        <a:t>2.31 (diverged)</a:t>
                      </a:r>
                    </a:p>
                    <a:p>
                      <a:pPr>
                        <a:lnSpc>
                          <a:spcPct val="100000"/>
                        </a:lnSpc>
                      </a:pPr>
                      <a:r>
                        <a:rPr sz="800" b="0">
                          <a:solidFill>
                            <a:srgbClr val="6B7280"/>
                          </a:solidFill>
                          <a:latin typeface="Source Han Sans SC"/>
                        </a:rPr>
                        <a:t>2.31（发散）</a:t>
                      </a:r>
                    </a:p>
                  </a:txBody>
                  <a:tcPr>
                    <a:solidFill>
                      <a:srgbClr val="FFFFFF"/>
                    </a:solidFill>
                  </a:tcPr>
                </a:tc>
                <a:tc>
                  <a:txBody>
                    <a:bodyPr/>
                    <a:lstStyle/>
                    <a:p>
                      <a:r>
                        <a:rPr sz="930" b="0">
                          <a:solidFill>
                            <a:srgbClr val="1F2937"/>
                          </a:solidFill>
                          <a:latin typeface="Source Han Sans SC"/>
                        </a:rPr>
                        <a:t>0.10</a:t>
                      </a:r>
                    </a:p>
                  </a:txBody>
                  <a:tcPr>
                    <a:solidFill>
                      <a:srgbClr val="FFFFFF"/>
                    </a:solidFill>
                  </a:tcPr>
                </a:tc>
                <a:tc>
                  <a:txBody>
                    <a:bodyPr/>
                    <a:lstStyle/>
                    <a:p>
                      <a:r>
                        <a:rPr sz="930" b="0">
                          <a:solidFill>
                            <a:srgbClr val="1F2937"/>
                          </a:solidFill>
                          <a:latin typeface="Source Han Sans SC"/>
                        </a:rPr>
                        <a:t>No</a:t>
                      </a:r>
                    </a:p>
                    <a:p>
                      <a:pPr>
                        <a:lnSpc>
                          <a:spcPct val="100000"/>
                        </a:lnSpc>
                      </a:pPr>
                      <a:r>
                        <a:rPr sz="800" b="0">
                          <a:solidFill>
                            <a:srgbClr val="6B7280"/>
                          </a:solidFill>
                          <a:latin typeface="Source Han Sans SC"/>
                        </a:rPr>
                        <a:t>否</a:t>
                      </a:r>
                    </a:p>
                  </a:txBody>
                  <a:tcPr>
                    <a:solidFill>
                      <a:srgbClr val="FFFFFF"/>
                    </a:solidFill>
                  </a:tcPr>
                </a:tc>
              </a:tr>
              <a:tr h="430901">
                <a:tc>
                  <a:txBody>
                    <a:bodyPr/>
                    <a:lstStyle/>
                    <a:p>
                      <a:r>
                        <a:rPr sz="930" b="1">
                          <a:solidFill>
                            <a:srgbClr val="1F2937"/>
                          </a:solidFill>
                          <a:latin typeface="Source Han Sans SC"/>
                        </a:rPr>
                        <a:t>2</a:t>
                      </a:r>
                    </a:p>
                  </a:txBody>
                  <a:tcPr>
                    <a:solidFill>
                      <a:srgbClr val="F0F5FC"/>
                    </a:solidFill>
                  </a:tcPr>
                </a:tc>
                <a:tc>
                  <a:txBody>
                    <a:bodyPr/>
                    <a:lstStyle/>
                    <a:p>
                      <a:r>
                        <a:rPr sz="930" b="0">
                          <a:solidFill>
                            <a:srgbClr val="1F2937"/>
                          </a:solidFill>
                          <a:latin typeface="Source Han Sans SC"/>
                        </a:rPr>
                        <a:t>SGD</a:t>
                      </a:r>
                    </a:p>
                  </a:txBody>
                  <a:tcPr>
                    <a:solidFill>
                      <a:srgbClr val="F0F5FC"/>
                    </a:solidFill>
                  </a:tcPr>
                </a:tc>
                <a:tc>
                  <a:txBody>
                    <a:bodyPr/>
                    <a:lstStyle/>
                    <a:p>
                      <a:r>
                        <a:rPr sz="930" b="0">
                          <a:solidFill>
                            <a:srgbClr val="1F2937"/>
                          </a:solidFill>
                          <a:latin typeface="Source Han Sans SC"/>
                        </a:rPr>
                        <a:t>1e-3</a:t>
                      </a:r>
                    </a:p>
                  </a:txBody>
                  <a:tcPr>
                    <a:solidFill>
                      <a:srgbClr val="F0F5FC"/>
                    </a:solidFill>
                  </a:tcPr>
                </a:tc>
                <a:tc>
                  <a:txBody>
                    <a:bodyPr/>
                    <a:lstStyle/>
                    <a:p>
                      <a:r>
                        <a:rPr sz="930" b="0">
                          <a:solidFill>
                            <a:srgbClr val="1F2937"/>
                          </a:solidFill>
                          <a:latin typeface="Source Han Sans SC"/>
                        </a:rPr>
                        <a:t>1.56</a:t>
                      </a:r>
                    </a:p>
                  </a:txBody>
                  <a:tcPr>
                    <a:solidFill>
                      <a:srgbClr val="F0F5FC"/>
                    </a:solidFill>
                  </a:tcPr>
                </a:tc>
                <a:tc>
                  <a:txBody>
                    <a:bodyPr/>
                    <a:lstStyle/>
                    <a:p>
                      <a:r>
                        <a:rPr sz="930" b="0">
                          <a:solidFill>
                            <a:srgbClr val="1F2937"/>
                          </a:solidFill>
                          <a:latin typeface="Source Han Sans SC"/>
                        </a:rPr>
                        <a:t>0.62</a:t>
                      </a:r>
                    </a:p>
                  </a:txBody>
                  <a:tcPr>
                    <a:solidFill>
                      <a:srgbClr val="F0F5FC"/>
                    </a:solidFill>
                  </a:tcPr>
                </a:tc>
                <a:tc>
                  <a:txBody>
                    <a:bodyPr/>
                    <a:lstStyle/>
                    <a:p>
                      <a:r>
                        <a:rPr sz="930" b="0">
                          <a:solidFill>
                            <a:srgbClr val="1F2937"/>
                          </a:solidFill>
                          <a:latin typeface="Source Han Sans SC"/>
                        </a:rPr>
                        <a:t>Too slow</a:t>
                      </a:r>
                    </a:p>
                    <a:p>
                      <a:pPr>
                        <a:lnSpc>
                          <a:spcPct val="100000"/>
                        </a:lnSpc>
                      </a:pPr>
                      <a:r>
                        <a:rPr sz="800" b="0">
                          <a:solidFill>
                            <a:srgbClr val="6B7280"/>
                          </a:solidFill>
                          <a:latin typeface="Source Han Sans SC"/>
                        </a:rPr>
                        <a:t>太慢</a:t>
                      </a:r>
                    </a:p>
                  </a:txBody>
                  <a:tcPr>
                    <a:solidFill>
                      <a:srgbClr val="F0F5FC"/>
                    </a:solidFill>
                  </a:tcPr>
                </a:tc>
              </a:tr>
              <a:tr h="430901">
                <a:tc>
                  <a:txBody>
                    <a:bodyPr/>
                    <a:lstStyle/>
                    <a:p>
                      <a:r>
                        <a:rPr sz="930" b="1">
                          <a:solidFill>
                            <a:srgbClr val="1F2937"/>
                          </a:solidFill>
                          <a:latin typeface="Source Han Sans SC"/>
                        </a:rPr>
                        <a:t>3</a:t>
                      </a:r>
                    </a:p>
                  </a:txBody>
                  <a:tcPr>
                    <a:solidFill>
                      <a:srgbClr val="FFFFFF"/>
                    </a:solidFill>
                  </a:tcPr>
                </a:tc>
                <a:tc>
                  <a:txBody>
                    <a:bodyPr/>
                    <a:lstStyle/>
                    <a:p>
                      <a:r>
                        <a:rPr sz="930" b="0">
                          <a:solidFill>
                            <a:srgbClr val="1F2937"/>
                          </a:solidFill>
                          <a:latin typeface="Source Han Sans SC"/>
                        </a:rPr>
                        <a:t>SGD</a:t>
                      </a:r>
                    </a:p>
                  </a:txBody>
                  <a:tcPr>
                    <a:solidFill>
                      <a:srgbClr val="FFFFFF"/>
                    </a:solidFill>
                  </a:tcPr>
                </a:tc>
                <a:tc>
                  <a:txBody>
                    <a:bodyPr/>
                    <a:lstStyle/>
                    <a:p>
                      <a:r>
                        <a:rPr sz="930" b="0">
                          <a:solidFill>
                            <a:srgbClr val="1F2937"/>
                          </a:solidFill>
                          <a:latin typeface="Source Han Sans SC"/>
                        </a:rPr>
                        <a:t>1e-5</a:t>
                      </a:r>
                    </a:p>
                  </a:txBody>
                  <a:tcPr>
                    <a:solidFill>
                      <a:srgbClr val="FFFFFF"/>
                    </a:solidFill>
                  </a:tcPr>
                </a:tc>
                <a:tc>
                  <a:txBody>
                    <a:bodyPr/>
                    <a:lstStyle/>
                    <a:p>
                      <a:r>
                        <a:rPr sz="930" b="0">
                          <a:solidFill>
                            <a:srgbClr val="1F2937"/>
                          </a:solidFill>
                          <a:latin typeface="Source Han Sans SC"/>
                        </a:rPr>
                        <a:t>2.28</a:t>
                      </a:r>
                    </a:p>
                  </a:txBody>
                  <a:tcPr>
                    <a:solidFill>
                      <a:srgbClr val="FFFFFF"/>
                    </a:solidFill>
                  </a:tcPr>
                </a:tc>
                <a:tc>
                  <a:txBody>
                    <a:bodyPr/>
                    <a:lstStyle/>
                    <a:p>
                      <a:r>
                        <a:rPr sz="930" b="0">
                          <a:solidFill>
                            <a:srgbClr val="1F2937"/>
                          </a:solidFill>
                          <a:latin typeface="Source Han Sans SC"/>
                        </a:rPr>
                        <a:t>0.11</a:t>
                      </a:r>
                    </a:p>
                  </a:txBody>
                  <a:tcPr>
                    <a:solidFill>
                      <a:srgbClr val="FFFFFF"/>
                    </a:solidFill>
                  </a:tcPr>
                </a:tc>
                <a:tc>
                  <a:txBody>
                    <a:bodyPr/>
                    <a:lstStyle/>
                    <a:p>
                      <a:r>
                        <a:rPr sz="930" b="0">
                          <a:solidFill>
                            <a:srgbClr val="1F2937"/>
                          </a:solidFill>
                          <a:latin typeface="Source Han Sans SC"/>
                        </a:rPr>
                        <a:t>No</a:t>
                      </a:r>
                    </a:p>
                    <a:p>
                      <a:pPr>
                        <a:lnSpc>
                          <a:spcPct val="100000"/>
                        </a:lnSpc>
                      </a:pPr>
                      <a:r>
                        <a:rPr sz="800" b="0">
                          <a:solidFill>
                            <a:srgbClr val="6B7280"/>
                          </a:solidFill>
                          <a:latin typeface="Source Han Sans SC"/>
                        </a:rPr>
                        <a:t>否</a:t>
                      </a:r>
                    </a:p>
                  </a:txBody>
                  <a:tcPr>
                    <a:solidFill>
                      <a:srgbClr val="FFFFFF"/>
                    </a:solidFill>
                  </a:tcPr>
                </a:tc>
              </a:tr>
              <a:tr h="430901">
                <a:tc>
                  <a:txBody>
                    <a:bodyPr/>
                    <a:lstStyle/>
                    <a:p>
                      <a:r>
                        <a:rPr sz="930" b="1">
                          <a:solidFill>
                            <a:srgbClr val="1F2937"/>
                          </a:solidFill>
                          <a:latin typeface="Source Han Sans SC"/>
                        </a:rPr>
                        <a:t>4</a:t>
                      </a:r>
                    </a:p>
                  </a:txBody>
                  <a:tcPr>
                    <a:solidFill>
                      <a:srgbClr val="F0F5FC"/>
                    </a:solidFill>
                  </a:tcPr>
                </a:tc>
                <a:tc>
                  <a:txBody>
                    <a:bodyPr/>
                    <a:lstStyle/>
                    <a:p>
                      <a:r>
                        <a:rPr sz="930" b="0">
                          <a:solidFill>
                            <a:srgbClr val="1F2937"/>
                          </a:solidFill>
                          <a:latin typeface="Source Han Sans SC"/>
                        </a:rPr>
                        <a:t>Momentum</a:t>
                      </a:r>
                    </a:p>
                  </a:txBody>
                  <a:tcPr>
                    <a:solidFill>
                      <a:srgbClr val="F0F5FC"/>
                    </a:solidFill>
                  </a:tcPr>
                </a:tc>
                <a:tc>
                  <a:txBody>
                    <a:bodyPr/>
                    <a:lstStyle/>
                    <a:p>
                      <a:r>
                        <a:rPr sz="930" b="0">
                          <a:solidFill>
                            <a:srgbClr val="1F2937"/>
                          </a:solidFill>
                          <a:latin typeface="Source Han Sans SC"/>
                        </a:rPr>
                        <a:t>1e-1</a:t>
                      </a:r>
                    </a:p>
                  </a:txBody>
                  <a:tcPr>
                    <a:solidFill>
                      <a:srgbClr val="F0F5FC"/>
                    </a:solidFill>
                  </a:tcPr>
                </a:tc>
                <a:tc>
                  <a:txBody>
                    <a:bodyPr/>
                    <a:lstStyle/>
                    <a:p>
                      <a:r>
                        <a:rPr sz="930" b="0">
                          <a:solidFill>
                            <a:srgbClr val="1F2937"/>
                          </a:solidFill>
                          <a:latin typeface="Source Han Sans SC"/>
                        </a:rPr>
                        <a:t>2.44 (oscillates)</a:t>
                      </a:r>
                    </a:p>
                    <a:p>
                      <a:pPr>
                        <a:lnSpc>
                          <a:spcPct val="100000"/>
                        </a:lnSpc>
                      </a:pPr>
                      <a:r>
                        <a:rPr sz="800" b="0">
                          <a:solidFill>
                            <a:srgbClr val="6B7280"/>
                          </a:solidFill>
                          <a:latin typeface="Source Han Sans SC"/>
                        </a:rPr>
                        <a:t>2.44（震荡）</a:t>
                      </a:r>
                    </a:p>
                  </a:txBody>
                  <a:tcPr>
                    <a:solidFill>
                      <a:srgbClr val="F0F5FC"/>
                    </a:solidFill>
                  </a:tcPr>
                </a:tc>
                <a:tc>
                  <a:txBody>
                    <a:bodyPr/>
                    <a:lstStyle/>
                    <a:p>
                      <a:r>
                        <a:rPr sz="930" b="0">
                          <a:solidFill>
                            <a:srgbClr val="1F2937"/>
                          </a:solidFill>
                          <a:latin typeface="Source Han Sans SC"/>
                        </a:rPr>
                        <a:t>0.10</a:t>
                      </a:r>
                    </a:p>
                  </a:txBody>
                  <a:tcPr>
                    <a:solidFill>
                      <a:srgbClr val="F0F5FC"/>
                    </a:solidFill>
                  </a:tcPr>
                </a:tc>
                <a:tc>
                  <a:txBody>
                    <a:bodyPr/>
                    <a:lstStyle/>
                    <a:p>
                      <a:r>
                        <a:rPr sz="930" b="0">
                          <a:solidFill>
                            <a:srgbClr val="1F2937"/>
                          </a:solidFill>
                          <a:latin typeface="Source Han Sans SC"/>
                        </a:rPr>
                        <a:t>No</a:t>
                      </a:r>
                    </a:p>
                    <a:p>
                      <a:pPr>
                        <a:lnSpc>
                          <a:spcPct val="100000"/>
                        </a:lnSpc>
                      </a:pPr>
                      <a:r>
                        <a:rPr sz="800" b="0">
                          <a:solidFill>
                            <a:srgbClr val="6B7280"/>
                          </a:solidFill>
                          <a:latin typeface="Source Han Sans SC"/>
                        </a:rPr>
                        <a:t>否</a:t>
                      </a:r>
                    </a:p>
                  </a:txBody>
                  <a:tcPr>
                    <a:solidFill>
                      <a:srgbClr val="F0F5FC"/>
                    </a:solidFill>
                  </a:tcPr>
                </a:tc>
              </a:tr>
              <a:tr h="430901">
                <a:tc>
                  <a:txBody>
                    <a:bodyPr/>
                    <a:lstStyle/>
                    <a:p>
                      <a:r>
                        <a:rPr sz="930" b="1">
                          <a:solidFill>
                            <a:srgbClr val="1F2937"/>
                          </a:solidFill>
                          <a:latin typeface="Source Han Sans SC"/>
                        </a:rPr>
                        <a:t>5</a:t>
                      </a:r>
                    </a:p>
                  </a:txBody>
                  <a:tcPr>
                    <a:solidFill>
                      <a:srgbClr val="FFFFFF"/>
                    </a:solidFill>
                  </a:tcPr>
                </a:tc>
                <a:tc>
                  <a:txBody>
                    <a:bodyPr/>
                    <a:lstStyle/>
                    <a:p>
                      <a:r>
                        <a:rPr sz="930" b="0">
                          <a:solidFill>
                            <a:srgbClr val="1F2937"/>
                          </a:solidFill>
                          <a:latin typeface="Source Han Sans SC"/>
                        </a:rPr>
                        <a:t>Momentum</a:t>
                      </a:r>
                    </a:p>
                  </a:txBody>
                  <a:tcPr>
                    <a:solidFill>
                      <a:srgbClr val="FFFFFF"/>
                    </a:solidFill>
                  </a:tcPr>
                </a:tc>
                <a:tc>
                  <a:txBody>
                    <a:bodyPr/>
                    <a:lstStyle/>
                    <a:p>
                      <a:r>
                        <a:rPr sz="930" b="0">
                          <a:solidFill>
                            <a:srgbClr val="1F2937"/>
                          </a:solidFill>
                          <a:latin typeface="Source Han Sans SC"/>
                        </a:rPr>
                        <a:t>1e-3</a:t>
                      </a:r>
                    </a:p>
                  </a:txBody>
                  <a:tcPr>
                    <a:solidFill>
                      <a:srgbClr val="FFFFFF"/>
                    </a:solidFill>
                  </a:tcPr>
                </a:tc>
                <a:tc>
                  <a:txBody>
                    <a:bodyPr/>
                    <a:lstStyle/>
                    <a:p>
                      <a:r>
                        <a:rPr sz="930" b="0">
                          <a:solidFill>
                            <a:srgbClr val="1F2937"/>
                          </a:solidFill>
                          <a:latin typeface="Source Han Sans SC"/>
                        </a:rPr>
                        <a:t>0.22</a:t>
                      </a:r>
                    </a:p>
                  </a:txBody>
                  <a:tcPr>
                    <a:solidFill>
                      <a:srgbClr val="FFFFFF"/>
                    </a:solidFill>
                  </a:tcPr>
                </a:tc>
                <a:tc>
                  <a:txBody>
                    <a:bodyPr/>
                    <a:lstStyle/>
                    <a:p>
                      <a:r>
                        <a:rPr sz="930" b="0">
                          <a:solidFill>
                            <a:srgbClr val="1F2937"/>
                          </a:solidFill>
                          <a:latin typeface="Source Han Sans SC"/>
                        </a:rPr>
                        <a:t>0.94</a:t>
                      </a:r>
                    </a:p>
                  </a:txBody>
                  <a:tcPr>
                    <a:solidFill>
                      <a:srgbClr val="FFFFFF"/>
                    </a:solidFill>
                  </a:tcPr>
                </a:tc>
                <a:tc>
                  <a:txBody>
                    <a:bodyPr/>
                    <a:lstStyle/>
                    <a:p>
                      <a:r>
                        <a:rPr sz="930" b="0">
                          <a:solidFill>
                            <a:srgbClr val="1F2937"/>
                          </a:solidFill>
                          <a:latin typeface="Source Han Sans SC"/>
                        </a:rPr>
                        <a:t>Yes</a:t>
                      </a:r>
                    </a:p>
                    <a:p>
                      <a:pPr>
                        <a:lnSpc>
                          <a:spcPct val="100000"/>
                        </a:lnSpc>
                      </a:pPr>
                      <a:r>
                        <a:rPr sz="800" b="0">
                          <a:solidFill>
                            <a:srgbClr val="6B7280"/>
                          </a:solidFill>
                          <a:latin typeface="Source Han Sans SC"/>
                        </a:rPr>
                        <a:t>是</a:t>
                      </a:r>
                    </a:p>
                  </a:txBody>
                  <a:tcPr>
                    <a:solidFill>
                      <a:srgbClr val="FFFFFF"/>
                    </a:solidFill>
                  </a:tcPr>
                </a:tc>
              </a:tr>
              <a:tr h="430901">
                <a:tc>
                  <a:txBody>
                    <a:bodyPr/>
                    <a:lstStyle/>
                    <a:p>
                      <a:r>
                        <a:rPr sz="930" b="1">
                          <a:solidFill>
                            <a:srgbClr val="1F2937"/>
                          </a:solidFill>
                          <a:latin typeface="Source Han Sans SC"/>
                        </a:rPr>
                        <a:t>6</a:t>
                      </a:r>
                    </a:p>
                  </a:txBody>
                  <a:tcPr>
                    <a:solidFill>
                      <a:srgbClr val="F0F5FC"/>
                    </a:solidFill>
                  </a:tcPr>
                </a:tc>
                <a:tc>
                  <a:txBody>
                    <a:bodyPr/>
                    <a:lstStyle/>
                    <a:p>
                      <a:r>
                        <a:rPr sz="930" b="0">
                          <a:solidFill>
                            <a:srgbClr val="1F2937"/>
                          </a:solidFill>
                          <a:latin typeface="Source Han Sans SC"/>
                        </a:rPr>
                        <a:t>Momentum</a:t>
                      </a:r>
                    </a:p>
                  </a:txBody>
                  <a:tcPr>
                    <a:solidFill>
                      <a:srgbClr val="F0F5FC"/>
                    </a:solidFill>
                  </a:tcPr>
                </a:tc>
                <a:tc>
                  <a:txBody>
                    <a:bodyPr/>
                    <a:lstStyle/>
                    <a:p>
                      <a:r>
                        <a:rPr sz="930" b="0">
                          <a:solidFill>
                            <a:srgbClr val="1F2937"/>
                          </a:solidFill>
                          <a:latin typeface="Source Han Sans SC"/>
                        </a:rPr>
                        <a:t>1e-5</a:t>
                      </a:r>
                    </a:p>
                  </a:txBody>
                  <a:tcPr>
                    <a:solidFill>
                      <a:srgbClr val="F0F5FC"/>
                    </a:solidFill>
                  </a:tcPr>
                </a:tc>
                <a:tc>
                  <a:txBody>
                    <a:bodyPr/>
                    <a:lstStyle/>
                    <a:p>
                      <a:r>
                        <a:rPr sz="930" b="0">
                          <a:solidFill>
                            <a:srgbClr val="1F2937"/>
                          </a:solidFill>
                          <a:latin typeface="Source Han Sans SC"/>
                        </a:rPr>
                        <a:t>2.19</a:t>
                      </a:r>
                    </a:p>
                  </a:txBody>
                  <a:tcPr>
                    <a:solidFill>
                      <a:srgbClr val="F0F5FC"/>
                    </a:solidFill>
                  </a:tcPr>
                </a:tc>
                <a:tc>
                  <a:txBody>
                    <a:bodyPr/>
                    <a:lstStyle/>
                    <a:p>
                      <a:r>
                        <a:rPr sz="930" b="0">
                          <a:solidFill>
                            <a:srgbClr val="1F2937"/>
                          </a:solidFill>
                          <a:latin typeface="Source Han Sans SC"/>
                        </a:rPr>
                        <a:t>0.24</a:t>
                      </a:r>
                    </a:p>
                  </a:txBody>
                  <a:tcPr>
                    <a:solidFill>
                      <a:srgbClr val="F0F5FC"/>
                    </a:solidFill>
                  </a:tcPr>
                </a:tc>
                <a:tc>
                  <a:txBody>
                    <a:bodyPr/>
                    <a:lstStyle/>
                    <a:p>
                      <a:r>
                        <a:rPr sz="930" b="0">
                          <a:solidFill>
                            <a:srgbClr val="1F2937"/>
                          </a:solidFill>
                          <a:latin typeface="Source Han Sans SC"/>
                        </a:rPr>
                        <a:t>Too slow</a:t>
                      </a:r>
                    </a:p>
                    <a:p>
                      <a:pPr>
                        <a:lnSpc>
                          <a:spcPct val="100000"/>
                        </a:lnSpc>
                      </a:pPr>
                      <a:r>
                        <a:rPr sz="800" b="0">
                          <a:solidFill>
                            <a:srgbClr val="6B7280"/>
                          </a:solidFill>
                          <a:latin typeface="Source Han Sans SC"/>
                        </a:rPr>
                        <a:t>太慢</a:t>
                      </a:r>
                    </a:p>
                  </a:txBody>
                  <a:tcPr>
                    <a:solidFill>
                      <a:srgbClr val="F0F5FC"/>
                    </a:solidFill>
                  </a:tcPr>
                </a:tc>
              </a:tr>
              <a:tr h="430901">
                <a:tc>
                  <a:txBody>
                    <a:bodyPr/>
                    <a:lstStyle/>
                    <a:p>
                      <a:r>
                        <a:rPr sz="930" b="1">
                          <a:solidFill>
                            <a:srgbClr val="1F2937"/>
                          </a:solidFill>
                          <a:latin typeface="Source Han Sans SC"/>
                        </a:rPr>
                        <a:t>7</a:t>
                      </a:r>
                    </a:p>
                  </a:txBody>
                  <a:tcPr>
                    <a:solidFill>
                      <a:srgbClr val="FFFFFF"/>
                    </a:solidFill>
                  </a:tcPr>
                </a:tc>
                <a:tc>
                  <a:txBody>
                    <a:bodyPr/>
                    <a:lstStyle/>
                    <a:p>
                      <a:r>
                        <a:rPr sz="930" b="0">
                          <a:solidFill>
                            <a:srgbClr val="1F2937"/>
                          </a:solidFill>
                          <a:latin typeface="Source Han Sans SC"/>
                        </a:rPr>
                        <a:t>Adam</a:t>
                      </a:r>
                    </a:p>
                  </a:txBody>
                  <a:tcPr>
                    <a:solidFill>
                      <a:srgbClr val="FFFFFF"/>
                    </a:solidFill>
                  </a:tcPr>
                </a:tc>
                <a:tc>
                  <a:txBody>
                    <a:bodyPr/>
                    <a:lstStyle/>
                    <a:p>
                      <a:r>
                        <a:rPr sz="930" b="0">
                          <a:solidFill>
                            <a:srgbClr val="1F2937"/>
                          </a:solidFill>
                          <a:latin typeface="Source Han Sans SC"/>
                        </a:rPr>
                        <a:t>1e-1</a:t>
                      </a:r>
                    </a:p>
                  </a:txBody>
                  <a:tcPr>
                    <a:solidFill>
                      <a:srgbClr val="FFFFFF"/>
                    </a:solidFill>
                  </a:tcPr>
                </a:tc>
                <a:tc>
                  <a:txBody>
                    <a:bodyPr/>
                    <a:lstStyle/>
                    <a:p>
                      <a:r>
                        <a:rPr sz="930" b="0">
                          <a:solidFill>
                            <a:srgbClr val="1F2937"/>
                          </a:solidFill>
                          <a:latin typeface="Source Han Sans SC"/>
                        </a:rPr>
                        <a:t>2.51 (exploded)</a:t>
                      </a:r>
                    </a:p>
                    <a:p>
                      <a:pPr>
                        <a:lnSpc>
                          <a:spcPct val="100000"/>
                        </a:lnSpc>
                      </a:pPr>
                      <a:r>
                        <a:rPr sz="800" b="0">
                          <a:solidFill>
                            <a:srgbClr val="6B7280"/>
                          </a:solidFill>
                          <a:latin typeface="Source Han Sans SC"/>
                        </a:rPr>
                        <a:t>2.51（爆炸）</a:t>
                      </a:r>
                    </a:p>
                  </a:txBody>
                  <a:tcPr>
                    <a:solidFill>
                      <a:srgbClr val="FFFFFF"/>
                    </a:solidFill>
                  </a:tcPr>
                </a:tc>
                <a:tc>
                  <a:txBody>
                    <a:bodyPr/>
                    <a:lstStyle/>
                    <a:p>
                      <a:r>
                        <a:rPr sz="930" b="0">
                          <a:solidFill>
                            <a:srgbClr val="1F2937"/>
                          </a:solidFill>
                          <a:latin typeface="Source Han Sans SC"/>
                        </a:rPr>
                        <a:t>0.10</a:t>
                      </a:r>
                    </a:p>
                  </a:txBody>
                  <a:tcPr>
                    <a:solidFill>
                      <a:srgbClr val="FFFFFF"/>
                    </a:solidFill>
                  </a:tcPr>
                </a:tc>
                <a:tc>
                  <a:txBody>
                    <a:bodyPr/>
                    <a:lstStyle/>
                    <a:p>
                      <a:r>
                        <a:rPr sz="930" b="0">
                          <a:solidFill>
                            <a:srgbClr val="1F2937"/>
                          </a:solidFill>
                          <a:latin typeface="Source Han Sans SC"/>
                        </a:rPr>
                        <a:t>No</a:t>
                      </a:r>
                    </a:p>
                    <a:p>
                      <a:pPr>
                        <a:lnSpc>
                          <a:spcPct val="100000"/>
                        </a:lnSpc>
                      </a:pPr>
                      <a:r>
                        <a:rPr sz="800" b="0">
                          <a:solidFill>
                            <a:srgbClr val="6B7280"/>
                          </a:solidFill>
                          <a:latin typeface="Source Han Sans SC"/>
                        </a:rPr>
                        <a:t>否</a:t>
                      </a:r>
                    </a:p>
                  </a:txBody>
                  <a:tcPr>
                    <a:solidFill>
                      <a:srgbClr val="FFFFFF"/>
                    </a:solidFill>
                  </a:tcPr>
                </a:tc>
              </a:tr>
              <a:tr h="430901">
                <a:tc>
                  <a:txBody>
                    <a:bodyPr/>
                    <a:lstStyle/>
                    <a:p>
                      <a:r>
                        <a:rPr sz="930" b="1">
                          <a:solidFill>
                            <a:srgbClr val="1F2937"/>
                          </a:solidFill>
                          <a:latin typeface="Source Han Sans SC"/>
                        </a:rPr>
                        <a:t>8</a:t>
                      </a:r>
                    </a:p>
                  </a:txBody>
                  <a:tcPr>
                    <a:solidFill>
                      <a:srgbClr val="F0F5FC"/>
                    </a:solidFill>
                  </a:tcPr>
                </a:tc>
                <a:tc>
                  <a:txBody>
                    <a:bodyPr/>
                    <a:lstStyle/>
                    <a:p>
                      <a:r>
                        <a:rPr sz="930" b="0">
                          <a:solidFill>
                            <a:srgbClr val="1F2937"/>
                          </a:solidFill>
                          <a:latin typeface="Source Han Sans SC"/>
                        </a:rPr>
                        <a:t>Adam</a:t>
                      </a:r>
                    </a:p>
                  </a:txBody>
                  <a:tcPr>
                    <a:solidFill>
                      <a:srgbClr val="F0F5FC"/>
                    </a:solidFill>
                  </a:tcPr>
                </a:tc>
                <a:tc>
                  <a:txBody>
                    <a:bodyPr/>
                    <a:lstStyle/>
                    <a:p>
                      <a:r>
                        <a:rPr sz="930" b="0">
                          <a:solidFill>
                            <a:srgbClr val="1F2937"/>
                          </a:solidFill>
                          <a:latin typeface="Source Han Sans SC"/>
                        </a:rPr>
                        <a:t>1e-3</a:t>
                      </a:r>
                    </a:p>
                  </a:txBody>
                  <a:tcPr>
                    <a:solidFill>
                      <a:srgbClr val="F0F5FC"/>
                    </a:solidFill>
                  </a:tcPr>
                </a:tc>
                <a:tc>
                  <a:txBody>
                    <a:bodyPr/>
                    <a:lstStyle/>
                    <a:p>
                      <a:r>
                        <a:rPr sz="930" b="0">
                          <a:solidFill>
                            <a:srgbClr val="1F2937"/>
                          </a:solidFill>
                          <a:latin typeface="Source Han Sans SC"/>
                        </a:rPr>
                        <a:t>0.13</a:t>
                      </a:r>
                    </a:p>
                  </a:txBody>
                  <a:tcPr>
                    <a:solidFill>
                      <a:srgbClr val="F0F5FC"/>
                    </a:solidFill>
                  </a:tcPr>
                </a:tc>
                <a:tc>
                  <a:txBody>
                    <a:bodyPr/>
                    <a:lstStyle/>
                    <a:p>
                      <a:r>
                        <a:rPr sz="930" b="0">
                          <a:solidFill>
                            <a:srgbClr val="1F2937"/>
                          </a:solidFill>
                          <a:latin typeface="Source Han Sans SC"/>
                        </a:rPr>
                        <a:t>0.97</a:t>
                      </a:r>
                    </a:p>
                  </a:txBody>
                  <a:tcPr>
                    <a:solidFill>
                      <a:srgbClr val="F0F5FC"/>
                    </a:solidFill>
                  </a:tcPr>
                </a:tc>
                <a:tc>
                  <a:txBody>
                    <a:bodyPr/>
                    <a:lstStyle/>
                    <a:p>
                      <a:r>
                        <a:rPr sz="930" b="0">
                          <a:solidFill>
                            <a:srgbClr val="1F2937"/>
                          </a:solidFill>
                          <a:latin typeface="Source Han Sans SC"/>
                        </a:rPr>
                        <a:t>Yes (best)</a:t>
                      </a:r>
                    </a:p>
                    <a:p>
                      <a:pPr>
                        <a:lnSpc>
                          <a:spcPct val="100000"/>
                        </a:lnSpc>
                      </a:pPr>
                      <a:r>
                        <a:rPr sz="800" b="0">
                          <a:solidFill>
                            <a:srgbClr val="6B7280"/>
                          </a:solidFill>
                          <a:latin typeface="Source Han Sans SC"/>
                        </a:rPr>
                        <a:t>是（最优）</a:t>
                      </a:r>
                    </a:p>
                  </a:txBody>
                  <a:tcPr>
                    <a:solidFill>
                      <a:srgbClr val="F0F5FC"/>
                    </a:solidFill>
                  </a:tcPr>
                </a:tc>
              </a:tr>
              <a:tr h="430905">
                <a:tc>
                  <a:txBody>
                    <a:bodyPr/>
                    <a:lstStyle/>
                    <a:p>
                      <a:r>
                        <a:rPr sz="930" b="1">
                          <a:solidFill>
                            <a:srgbClr val="1F2937"/>
                          </a:solidFill>
                          <a:latin typeface="Source Han Sans SC"/>
                        </a:rPr>
                        <a:t>9</a:t>
                      </a:r>
                    </a:p>
                  </a:txBody>
                  <a:tcPr>
                    <a:solidFill>
                      <a:srgbClr val="FFFFFF"/>
                    </a:solidFill>
                  </a:tcPr>
                </a:tc>
                <a:tc>
                  <a:txBody>
                    <a:bodyPr/>
                    <a:lstStyle/>
                    <a:p>
                      <a:r>
                        <a:rPr sz="930" b="0">
                          <a:solidFill>
                            <a:srgbClr val="1F2937"/>
                          </a:solidFill>
                          <a:latin typeface="Source Han Sans SC"/>
                        </a:rPr>
                        <a:t>Adam</a:t>
                      </a:r>
                    </a:p>
                  </a:txBody>
                  <a:tcPr>
                    <a:solidFill>
                      <a:srgbClr val="FFFFFF"/>
                    </a:solidFill>
                  </a:tcPr>
                </a:tc>
                <a:tc>
                  <a:txBody>
                    <a:bodyPr/>
                    <a:lstStyle/>
                    <a:p>
                      <a:r>
                        <a:rPr sz="930" b="0">
                          <a:solidFill>
                            <a:srgbClr val="1F2937"/>
                          </a:solidFill>
                          <a:latin typeface="Source Han Sans SC"/>
                        </a:rPr>
                        <a:t>1e-5</a:t>
                      </a:r>
                    </a:p>
                  </a:txBody>
                  <a:tcPr>
                    <a:solidFill>
                      <a:srgbClr val="FFFFFF"/>
                    </a:solidFill>
                  </a:tcPr>
                </a:tc>
                <a:tc>
                  <a:txBody>
                    <a:bodyPr/>
                    <a:lstStyle/>
                    <a:p>
                      <a:r>
                        <a:rPr sz="930" b="0">
                          <a:solidFill>
                            <a:srgbClr val="1F2937"/>
                          </a:solidFill>
                          <a:latin typeface="Source Han Sans SC"/>
                        </a:rPr>
                        <a:t>1.98</a:t>
                      </a:r>
                    </a:p>
                  </a:txBody>
                  <a:tcPr>
                    <a:solidFill>
                      <a:srgbClr val="FFFFFF"/>
                    </a:solidFill>
                  </a:tcPr>
                </a:tc>
                <a:tc>
                  <a:txBody>
                    <a:bodyPr/>
                    <a:lstStyle/>
                    <a:p>
                      <a:r>
                        <a:rPr sz="930" b="0">
                          <a:solidFill>
                            <a:srgbClr val="1F2937"/>
                          </a:solidFill>
                          <a:latin typeface="Source Han Sans SC"/>
                        </a:rPr>
                        <a:t>0.45</a:t>
                      </a:r>
                    </a:p>
                  </a:txBody>
                  <a:tcPr>
                    <a:solidFill>
                      <a:srgbClr val="FFFFFF"/>
                    </a:solidFill>
                  </a:tcPr>
                </a:tc>
                <a:tc>
                  <a:txBody>
                    <a:bodyPr/>
                    <a:lstStyle/>
                    <a:p>
                      <a:r>
                        <a:rPr sz="930" b="0">
                          <a:solidFill>
                            <a:srgbClr val="1F2937"/>
                          </a:solidFill>
                          <a:latin typeface="Source Han Sans SC"/>
                        </a:rPr>
                        <a:t>Too slow</a:t>
                      </a:r>
                    </a:p>
                    <a:p>
                      <a:pPr>
                        <a:lnSpc>
                          <a:spcPct val="100000"/>
                        </a:lnSpc>
                      </a:pPr>
                      <a:r>
                        <a:rPr sz="800" b="0">
                          <a:solidFill>
                            <a:srgbClr val="6B7280"/>
                          </a:solidFill>
                          <a:latin typeface="Source Han Sans SC"/>
                        </a:rPr>
                        <a:t>太慢</a:t>
                      </a:r>
                    </a:p>
                  </a:txBody>
                  <a:tcPr>
                    <a:solidFill>
                      <a:srgbClr val="FFFFFF"/>
                    </a:solidFill>
                  </a:tcPr>
                </a:tc>
              </a:tr>
            </a:tbl>
          </a:graphicData>
        </a:graphic>
      </p:graphicFrame>
      <p:sp>
        <p:nvSpPr>
          <p:cNvPr id="10" name="TextBox 9"/>
          <p:cNvSpPr txBox="1"/>
          <p:nvPr/>
        </p:nvSpPr>
        <p:spPr>
          <a:xfrm>
            <a:off x="799200" y="5587014"/>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The numbers here are illustrative; your job is to replace them with the nine runs you measured. Once the table is complete the winner and its justification fall out of it — that is what "tuning is not luck" means.</a:t>
            </a:r>
          </a:p>
          <a:p>
            <a:pPr algn="l">
              <a:lnSpc>
                <a:spcPct val="105000"/>
              </a:lnSpc>
              <a:spcBef>
                <a:spcPts val="150"/>
              </a:spcBef>
            </a:pPr>
            <a:r>
              <a:rPr sz="900" b="0" i="0">
                <a:solidFill>
                  <a:srgbClr val="6B7280"/>
                </a:solidFill>
                <a:latin typeface="Source Han Sans SC"/>
              </a:rPr>
              <a:t>表里的数值是示意，你的任务是用自己跑出来的 9 组数据替换它。表填完，最优组合与理由自然就浮出来了——这就是「调参不是碰运气」的意思。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Lab Script Skeleton and a Debug Helper</a:t>
            </a:r>
          </a:p>
          <a:p>
            <a:pPr algn="l">
              <a:lnSpc>
                <a:spcPct val="105000"/>
              </a:lnSpc>
              <a:spcBef>
                <a:spcPts val="150"/>
              </a:spcBef>
            </a:pPr>
            <a:r>
              <a:rPr sz="1210" b="0" i="0">
                <a:solidFill>
                  <a:srgbClr val="6B7280"/>
                </a:solidFill>
                <a:latin typeface="Source Han Sans SC"/>
              </a:rPr>
              <a:t>实验脚本骨架与不收敛排查</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26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The 3 x 3 grid, results to a table</a:t>
            </a:r>
          </a:p>
          <a:p>
            <a:pPr algn="l">
              <a:lnSpc>
                <a:spcPct val="105000"/>
              </a:lnSpc>
              <a:spcBef>
                <a:spcPts val="150"/>
              </a:spcBef>
            </a:pPr>
            <a:r>
              <a:rPr sz="900" b="0" i="0">
                <a:solidFill>
                  <a:srgbClr val="6B7280"/>
                </a:solidFill>
                <a:latin typeface="Source Han Sans SC"/>
              </a:rPr>
              <a:t>3 × 3 网格，结果落表</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results = []                 # one row per run</a:t>
            </a:r>
          </a:p>
          <a:p>
            <a:pPr algn="l">
              <a:lnSpc>
                <a:spcPct val="128000"/>
              </a:lnSpc>
            </a:pPr>
            <a:r>
              <a:rPr sz="1100" b="0" i="0">
                <a:solidFill>
                  <a:srgbClr val="E2E8F0"/>
                </a:solidFill>
                <a:latin typeface="Menlo"/>
              </a:rPr>
              <a:t>for name in ["sgd", "momentum", "adam"]:</a:t>
            </a:r>
          </a:p>
          <a:p>
            <a:pPr algn="l">
              <a:lnSpc>
                <a:spcPct val="128000"/>
              </a:lnSpc>
            </a:pPr>
            <a:r>
              <a:rPr sz="1100" b="0" i="0">
                <a:solidFill>
                  <a:srgbClr val="E2E8F0"/>
                </a:solidFill>
                <a:latin typeface="Menlo"/>
              </a:rPr>
              <a:t>    for lr in [1e-1, 1e-3, 1e-5]:</a:t>
            </a:r>
          </a:p>
          <a:p>
            <a:pPr algn="l">
              <a:lnSpc>
                <a:spcPct val="128000"/>
              </a:lnSpc>
            </a:pPr>
            <a:r>
              <a:rPr sz="1100" b="0" i="0">
                <a:solidFill>
                  <a:srgbClr val="E2E8F0"/>
                </a:solidFill>
                <a:latin typeface="Menlo"/>
              </a:rPr>
              <a:t>        net = build_model()</a:t>
            </a:r>
          </a:p>
          <a:p>
            <a:pPr algn="l">
              <a:lnSpc>
                <a:spcPct val="128000"/>
              </a:lnSpc>
            </a:pPr>
            <a:r>
              <a:rPr sz="1100" b="0" i="0">
                <a:solidFill>
                  <a:srgbClr val="E2E8F0"/>
                </a:solidFill>
                <a:latin typeface="Menlo"/>
              </a:rPr>
              <a:t>        opt = make_opt(name, net, lr)</a:t>
            </a:r>
          </a:p>
          <a:p>
            <a:pPr algn="l">
              <a:lnSpc>
                <a:spcPct val="128000"/>
              </a:lnSpc>
            </a:pPr>
            <a:r>
              <a:rPr sz="1100" b="0" i="0">
                <a:solidFill>
                  <a:srgbClr val="E2E8F0"/>
                </a:solidFill>
                <a:latin typeface="Menlo"/>
              </a:rPr>
              <a:t>        hist = train(net, opt, epochs=10)</a:t>
            </a:r>
          </a:p>
          <a:p>
            <a:pPr algn="l">
              <a:lnSpc>
                <a:spcPct val="128000"/>
              </a:lnSpc>
            </a:pPr>
            <a:r>
              <a:rPr sz="1100" b="0" i="0">
                <a:solidFill>
                  <a:srgbClr val="E2E8F0"/>
                </a:solidFill>
                <a:latin typeface="Menlo"/>
              </a:rPr>
              <a:t>        results.append({"optimizer": name,</a:t>
            </a:r>
          </a:p>
          <a:p>
            <a:pPr algn="l">
              <a:lnSpc>
                <a:spcPct val="128000"/>
              </a:lnSpc>
            </a:pPr>
            <a:r>
              <a:rPr sz="1100" b="0" i="0">
                <a:solidFill>
                  <a:srgbClr val="E2E8F0"/>
                </a:solidFill>
                <a:latin typeface="Menlo"/>
              </a:rPr>
              <a:t>                        "lr": lr,</a:t>
            </a:r>
          </a:p>
          <a:p>
            <a:pPr algn="l">
              <a:lnSpc>
                <a:spcPct val="128000"/>
              </a:lnSpc>
            </a:pPr>
            <a:r>
              <a:rPr sz="1100" b="0" i="0">
                <a:solidFill>
                  <a:srgbClr val="E2E8F0"/>
                </a:solidFill>
                <a:latin typeface="Menlo"/>
              </a:rPr>
              <a:t>                        "val_loss": min(hist["vl"]),</a:t>
            </a:r>
          </a:p>
          <a:p>
            <a:pPr algn="l">
              <a:lnSpc>
                <a:spcPct val="128000"/>
              </a:lnSpc>
            </a:pPr>
            <a:r>
              <a:rPr sz="1100" b="0" i="0">
                <a:solidFill>
                  <a:srgbClr val="E2E8F0"/>
                </a:solidFill>
                <a:latin typeface="Menlo"/>
              </a:rPr>
              <a:t>                        "val_acc": max(hist["va"])})</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plot_curves(results)         # loss / acc curves</a:t>
            </a:r>
          </a:p>
          <a:p>
            <a:pPr algn="l">
              <a:lnSpc>
                <a:spcPct val="128000"/>
              </a:lnSpc>
            </a:pPr>
            <a:r>
              <a:rPr sz="1100" b="0" i="0">
                <a:solidFill>
                  <a:srgbClr val="E2E8F0"/>
                </a:solidFill>
                <a:latin typeface="Menlo"/>
              </a:rPr>
              <a:t>write_table(results)         # the 3x3 table</a:t>
            </a:r>
          </a:p>
          <a:p>
            <a:pPr algn="l">
              <a:lnSpc>
                <a:spcPct val="128000"/>
              </a:lnSpc>
            </a:pPr>
            <a:r>
              <a:rPr sz="1100" b="0" i="0">
                <a:solidFill>
                  <a:srgbClr val="E2E8F0"/>
                </a:solidFill>
                <a:latin typeface="Menlo"/>
              </a:rPr>
              <a:t># then: state the best combo AND why it wins</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Debug order when the loss will not fall</a:t>
            </a:r>
          </a:p>
          <a:p>
            <a:pPr algn="l">
              <a:lnSpc>
                <a:spcPct val="105000"/>
              </a:lnSpc>
              <a:spcBef>
                <a:spcPts val="150"/>
              </a:spcBef>
            </a:pPr>
            <a:r>
              <a:rPr sz="900" b="0" i="0">
                <a:solidFill>
                  <a:srgbClr val="6B7280"/>
                </a:solidFill>
                <a:latin typeface="Source Han Sans SC"/>
              </a:rPr>
              <a:t>不收敛时的排查顺序</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def diagnose(hist):</a:t>
            </a:r>
          </a:p>
          <a:p>
            <a:pPr algn="l">
              <a:lnSpc>
                <a:spcPct val="128000"/>
              </a:lnSpc>
            </a:pPr>
            <a:r>
              <a:rPr sz="1100" b="0" i="0">
                <a:solidFill>
                  <a:srgbClr val="E2E8F0"/>
                </a:solidFill>
                <a:latin typeface="Menlo"/>
              </a:rPr>
              <a:t>    first, last = hist[0], hist[-1]</a:t>
            </a:r>
          </a:p>
          <a:p>
            <a:pPr algn="l">
              <a:lnSpc>
                <a:spcPct val="128000"/>
              </a:lnSpc>
            </a:pPr>
            <a:r>
              <a:rPr sz="1100" b="0" i="0">
                <a:solidFill>
                  <a:srgbClr val="E2E8F0"/>
                </a:solidFill>
                <a:latin typeface="Menlo"/>
              </a:rPr>
              <a:t>    if math.isnan(last["train_loss"]):</a:t>
            </a:r>
          </a:p>
          <a:p>
            <a:pPr algn="l">
              <a:lnSpc>
                <a:spcPct val="128000"/>
              </a:lnSpc>
            </a:pPr>
            <a:r>
              <a:rPr sz="1100" b="0" i="0">
                <a:solidFill>
                  <a:srgbClr val="E2E8F0"/>
                </a:solidFill>
                <a:latin typeface="Menlo"/>
              </a:rPr>
              <a:t>        return "nan -&gt; learning rate too large"</a:t>
            </a:r>
          </a:p>
          <a:p>
            <a:pPr algn="l">
              <a:lnSpc>
                <a:spcPct val="128000"/>
              </a:lnSpc>
            </a:pPr>
            <a:r>
              <a:rPr sz="1100" b="0" i="0">
                <a:solidFill>
                  <a:srgbClr val="E2E8F0"/>
                </a:solidFill>
                <a:latin typeface="Menlo"/>
              </a:rPr>
              <a:t>    if last["train_loss"] &gt; first["train_loss"]:</a:t>
            </a:r>
          </a:p>
          <a:p>
            <a:pPr algn="l">
              <a:lnSpc>
                <a:spcPct val="128000"/>
              </a:lnSpc>
            </a:pPr>
            <a:r>
              <a:rPr sz="1100" b="0" i="0">
                <a:solidFill>
                  <a:srgbClr val="E2E8F0"/>
                </a:solidFill>
                <a:latin typeface="Menlo"/>
              </a:rPr>
              <a:t>        return "rising -&gt; lower the learning rate"</a:t>
            </a:r>
          </a:p>
          <a:p>
            <a:pPr algn="l">
              <a:lnSpc>
                <a:spcPct val="128000"/>
              </a:lnSpc>
            </a:pPr>
            <a:r>
              <a:rPr sz="1100" b="0" i="0">
                <a:solidFill>
                  <a:srgbClr val="E2E8F0"/>
                </a:solidFill>
                <a:latin typeface="Menlo"/>
              </a:rPr>
              <a:t>    if abs(last["train_loss"]</a:t>
            </a:r>
          </a:p>
          <a:p>
            <a:pPr algn="l">
              <a:lnSpc>
                <a:spcPct val="128000"/>
              </a:lnSpc>
            </a:pPr>
            <a:r>
              <a:rPr sz="1100" b="0" i="0">
                <a:solidFill>
                  <a:srgbClr val="E2E8F0"/>
                </a:solidFill>
                <a:latin typeface="Menlo"/>
              </a:rPr>
              <a:t>           - first["train_loss"]) &lt; 0.05:</a:t>
            </a:r>
          </a:p>
          <a:p>
            <a:pPr algn="l">
              <a:lnSpc>
                <a:spcPct val="128000"/>
              </a:lnSpc>
            </a:pPr>
            <a:r>
              <a:rPr sz="1100" b="0" i="0">
                <a:solidFill>
                  <a:srgbClr val="E2E8F0"/>
                </a:solidFill>
                <a:latin typeface="Menlo"/>
              </a:rPr>
              <a:t>        return "flat -&gt; learning rate too small"</a:t>
            </a:r>
          </a:p>
          <a:p>
            <a:pPr algn="l">
              <a:lnSpc>
                <a:spcPct val="128000"/>
              </a:lnSpc>
            </a:pPr>
            <a:r>
              <a:rPr sz="1100" b="0" i="0">
                <a:solidFill>
                  <a:srgbClr val="E2E8F0"/>
                </a:solidFill>
                <a:latin typeface="Menlo"/>
              </a:rPr>
              <a:t>    return "falling -&gt; now check the val curve"</a:t>
            </a:r>
          </a:p>
        </p:txBody>
      </p:sp>
      <p:sp>
        <p:nvSpPr>
          <p:cNvPr id="17" name="TextBox 16"/>
          <p:cNvSpPr txBox="1"/>
          <p:nvPr/>
        </p:nvSpPr>
        <p:spPr>
          <a:xfrm>
            <a:off x="799200" y="5447617"/>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The left script is correct when the same code produces all nine results while only the optimizer and the learning rate change. The right-hand order is exactly what your "training does not converge" log should record: learning rate first, then data, then code.</a:t>
            </a:r>
          </a:p>
          <a:p>
            <a:pPr algn="l">
              <a:lnSpc>
                <a:spcPct val="105000"/>
              </a:lnSpc>
              <a:spcBef>
                <a:spcPts val="150"/>
              </a:spcBef>
            </a:pPr>
            <a:r>
              <a:rPr sz="940" b="0" i="0">
                <a:solidFill>
                  <a:srgbClr val="6B7280"/>
                </a:solidFill>
                <a:latin typeface="Source Han Sans SC"/>
              </a:rPr>
              <a:t>左侧脚本的正确性标准：同一份代码可以跑出 9 组结果，且每组只改动优化器与学习率两个变量。右侧的顺序就是「训练不收敛」排查记录里应该写的顺序：先查学习率，再查数据，最后查代码。</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AI Assistance · Professional Rigour · Debugging Hints</a:t>
            </a:r>
          </a:p>
          <a:p>
            <a:pPr algn="l">
              <a:lnSpc>
                <a:spcPct val="105000"/>
              </a:lnSpc>
              <a:spcBef>
                <a:spcPts val="150"/>
              </a:spcBef>
            </a:pPr>
            <a:r>
              <a:rPr sz="1210" b="0" i="0">
                <a:solidFill>
                  <a:srgbClr val="6B7280"/>
                </a:solidFill>
                <a:latin typeface="Source Han Sans SC"/>
              </a:rPr>
              <a:t>AI 赋能 · 课程思政 · 排查提示</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27 / 31</a:t>
            </a:r>
          </a:p>
        </p:txBody>
      </p:sp>
      <p:sp>
        <p:nvSpPr>
          <p:cNvPr id="9" name="Rectangle 8"/>
          <p:cNvSpPr/>
          <p:nvPr/>
        </p:nvSpPr>
        <p:spPr>
          <a:xfrm>
            <a:off x="799200" y="1296000"/>
            <a:ext cx="3387239" cy="2789711"/>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2789711"/>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AI Assistance</a:t>
            </a:r>
          </a:p>
          <a:p>
            <a:pPr algn="l">
              <a:lnSpc>
                <a:spcPct val="105000"/>
              </a:lnSpc>
              <a:spcBef>
                <a:spcPts val="150"/>
              </a:spcBef>
            </a:pPr>
            <a:r>
              <a:rPr sz="1130" b="0" i="0">
                <a:solidFill>
                  <a:srgbClr val="6B7280"/>
                </a:solidFill>
                <a:latin typeface="Source Han Sans SC"/>
              </a:rPr>
              <a:t>AI 赋能：让 AI 提方案</a:t>
            </a:r>
          </a:p>
        </p:txBody>
      </p:sp>
      <p:sp>
        <p:nvSpPr>
          <p:cNvPr id="12" name="TextBox 11"/>
          <p:cNvSpPr txBox="1"/>
          <p:nvPr/>
        </p:nvSpPr>
        <p:spPr>
          <a:xfrm>
            <a:off x="1022400" y="2033090"/>
            <a:ext cx="2940839" cy="1980621"/>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Ask AI: 3 optimizer x lr combos</a:t>
            </a:r>
            <a:r>
              <a:rPr sz="940" b="0" i="0">
                <a:solidFill>
                  <a:srgbClr val="6B7280"/>
                </a:solidFill>
                <a:latin typeface="Source Han Sans SC"/>
              </a:rPr>
              <a:t> ｜ </a:t>
            </a:r>
            <a:r>
              <a:rPr sz="940" b="0" i="0">
                <a:solidFill>
                  <a:srgbClr val="6B7280"/>
                </a:solidFill>
                <a:latin typeface="Source Han Sans SC"/>
              </a:rPr>
              <a:t>• 让 AI 给出 3 组优化器与学习率组合</a:t>
            </a:r>
          </a:p>
          <a:p>
            <a:pPr algn="l">
              <a:lnSpc>
                <a:spcPct val="140000"/>
              </a:lnSpc>
              <a:spcAft>
                <a:spcPts val="400"/>
              </a:spcAft>
            </a:pPr>
            <a:r>
              <a:rPr sz="1200" b="0" i="0">
                <a:solidFill>
                  <a:srgbClr val="1F2937"/>
                </a:solidFill>
                <a:latin typeface="Source Han Sans SC"/>
              </a:rPr>
              <a:t>• Verify each one with your own run</a:t>
            </a:r>
            <a:r>
              <a:rPr sz="940" b="0" i="0">
                <a:solidFill>
                  <a:srgbClr val="6B7280"/>
                </a:solidFill>
                <a:latin typeface="Source Han Sans SC"/>
              </a:rPr>
              <a:t> ｜ </a:t>
            </a:r>
            <a:r>
              <a:rPr sz="940" b="0" i="0">
                <a:solidFill>
                  <a:srgbClr val="6B7280"/>
                </a:solidFill>
                <a:latin typeface="Source Han Sans SC"/>
              </a:rPr>
              <a:t>• 逐组用自己的对照实验验证</a:t>
            </a:r>
          </a:p>
          <a:p>
            <a:pPr algn="l">
              <a:lnSpc>
                <a:spcPct val="140000"/>
              </a:lnSpc>
              <a:spcAft>
                <a:spcPts val="400"/>
              </a:spcAft>
            </a:pPr>
            <a:r>
              <a:rPr sz="1200" b="0" i="0">
                <a:solidFill>
                  <a:srgbClr val="1F2937"/>
                </a:solidFill>
                <a:latin typeface="Source Han Sans SC"/>
              </a:rPr>
              <a:t>• Log where the AI had no basis</a:t>
            </a:r>
            <a:r>
              <a:rPr sz="940" b="0" i="0">
                <a:solidFill>
                  <a:srgbClr val="6B7280"/>
                </a:solidFill>
                <a:latin typeface="Source Han Sans SC"/>
              </a:rPr>
              <a:t> ｜ </a:t>
            </a:r>
            <a:r>
              <a:rPr sz="940" b="0" i="0">
                <a:solidFill>
                  <a:srgbClr val="6B7280"/>
                </a:solidFill>
                <a:latin typeface="Source Han Sans SC"/>
              </a:rPr>
              <a:t>• 记下 AI 哪些说法缺乏依据</a:t>
            </a:r>
          </a:p>
        </p:txBody>
      </p:sp>
      <p:sp>
        <p:nvSpPr>
          <p:cNvPr id="13" name="Rectangle 12"/>
          <p:cNvSpPr/>
          <p:nvPr/>
        </p:nvSpPr>
        <p:spPr>
          <a:xfrm>
            <a:off x="4402440" y="1296000"/>
            <a:ext cx="3387239" cy="2789711"/>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2440" y="1296000"/>
            <a:ext cx="32400" cy="278971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2563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Professional Rigour</a:t>
            </a:r>
          </a:p>
          <a:p>
            <a:pPr algn="l">
              <a:lnSpc>
                <a:spcPct val="105000"/>
              </a:lnSpc>
              <a:spcBef>
                <a:spcPts val="150"/>
              </a:spcBef>
            </a:pPr>
            <a:r>
              <a:rPr sz="1130" b="0" i="0">
                <a:solidFill>
                  <a:srgbClr val="6B7280"/>
                </a:solidFill>
                <a:latin typeface="Source Han Sans SC"/>
              </a:rPr>
              <a:t>课程思政：精益求精</a:t>
            </a:r>
          </a:p>
        </p:txBody>
      </p:sp>
      <p:sp>
        <p:nvSpPr>
          <p:cNvPr id="16" name="TextBox 15"/>
          <p:cNvSpPr txBox="1"/>
          <p:nvPr/>
        </p:nvSpPr>
        <p:spPr>
          <a:xfrm>
            <a:off x="4625639" y="2033090"/>
            <a:ext cx="2940839" cy="1980621"/>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Tuning is experimental design, not luck</a:t>
            </a:r>
            <a:r>
              <a:rPr sz="940" b="0" i="0">
                <a:solidFill>
                  <a:srgbClr val="6B7280"/>
                </a:solidFill>
                <a:latin typeface="Source Han Sans SC"/>
              </a:rPr>
              <a:t> ｜ </a:t>
            </a:r>
            <a:r>
              <a:rPr sz="940" b="0" i="0">
                <a:solidFill>
                  <a:srgbClr val="6B7280"/>
                </a:solidFill>
                <a:latin typeface="Source Han Sans SC"/>
              </a:rPr>
              <a:t>• 调参是实验设计，不是碰运气</a:t>
            </a:r>
          </a:p>
          <a:p>
            <a:pPr algn="l">
              <a:lnSpc>
                <a:spcPct val="140000"/>
              </a:lnSpc>
              <a:spcAft>
                <a:spcPts val="400"/>
              </a:spcAft>
            </a:pPr>
            <a:r>
              <a:rPr sz="1200" b="0" i="0">
                <a:solidFill>
                  <a:srgbClr val="1F2937"/>
                </a:solidFill>
                <a:latin typeface="Source Han Sans SC"/>
              </a:rPr>
              <a:t>• Change one variable at a time</a:t>
            </a:r>
            <a:r>
              <a:rPr sz="940" b="0" i="0">
                <a:solidFill>
                  <a:srgbClr val="6B7280"/>
                </a:solidFill>
                <a:latin typeface="Source Han Sans SC"/>
              </a:rPr>
              <a:t> ｜ </a:t>
            </a:r>
            <a:r>
              <a:rPr sz="940" b="0" i="0">
                <a:solidFill>
                  <a:srgbClr val="6B7280"/>
                </a:solidFill>
                <a:latin typeface="Source Han Sans SC"/>
              </a:rPr>
              <a:t>• 一次只改一个变量</a:t>
            </a:r>
          </a:p>
          <a:p>
            <a:pPr algn="l">
              <a:lnSpc>
                <a:spcPct val="140000"/>
              </a:lnSpc>
              <a:spcAft>
                <a:spcPts val="400"/>
              </a:spcAft>
            </a:pPr>
            <a:r>
              <a:rPr sz="1200" b="0" i="0">
                <a:solidFill>
                  <a:srgbClr val="1F2937"/>
                </a:solidFill>
                <a:latin typeface="Source Han Sans SC"/>
              </a:rPr>
              <a:t>• Odd results: lr, then data, then code</a:t>
            </a:r>
            <a:r>
              <a:rPr sz="940" b="0" i="0">
                <a:solidFill>
                  <a:srgbClr val="6B7280"/>
                </a:solidFill>
                <a:latin typeface="Source Han Sans SC"/>
              </a:rPr>
              <a:t> ｜ </a:t>
            </a:r>
            <a:r>
              <a:rPr sz="940" b="0" i="0">
                <a:solidFill>
                  <a:srgbClr val="6B7280"/>
                </a:solidFill>
                <a:latin typeface="Source Han Sans SC"/>
              </a:rPr>
              <a:t>• 异常先查学习率，再查数据与代码</a:t>
            </a:r>
          </a:p>
        </p:txBody>
      </p:sp>
      <p:sp>
        <p:nvSpPr>
          <p:cNvPr id="17" name="Rectangle 16"/>
          <p:cNvSpPr/>
          <p:nvPr/>
        </p:nvSpPr>
        <p:spPr>
          <a:xfrm>
            <a:off x="8005679" y="1296000"/>
            <a:ext cx="3387239" cy="2789711"/>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05679" y="1296000"/>
            <a:ext cx="32400" cy="278971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887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Debugging Hints</a:t>
            </a:r>
          </a:p>
          <a:p>
            <a:pPr algn="l">
              <a:lnSpc>
                <a:spcPct val="105000"/>
              </a:lnSpc>
              <a:spcBef>
                <a:spcPts val="150"/>
              </a:spcBef>
            </a:pPr>
            <a:r>
              <a:rPr sz="1130" b="0" i="0">
                <a:solidFill>
                  <a:srgbClr val="6B7280"/>
                </a:solidFill>
                <a:latin typeface="Source Han Sans SC"/>
              </a:rPr>
              <a:t>排查提示</a:t>
            </a:r>
          </a:p>
        </p:txBody>
      </p:sp>
      <p:sp>
        <p:nvSpPr>
          <p:cNvPr id="20" name="TextBox 19"/>
          <p:cNvSpPr txBox="1"/>
          <p:nvPr/>
        </p:nvSpPr>
        <p:spPr>
          <a:xfrm>
            <a:off x="8228879" y="2033090"/>
            <a:ext cx="2940839" cy="1980621"/>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nan / inf -&gt; lr too large, divide by 10</a:t>
            </a:r>
            <a:r>
              <a:rPr sz="940" b="0" i="0">
                <a:solidFill>
                  <a:srgbClr val="6B7280"/>
                </a:solidFill>
                <a:latin typeface="Source Han Sans SC"/>
              </a:rPr>
              <a:t> ｜ </a:t>
            </a:r>
            <a:r>
              <a:rPr sz="940" b="0" i="0">
                <a:solidFill>
                  <a:srgbClr val="6B7280"/>
                </a:solidFill>
                <a:latin typeface="Source Han Sans SC"/>
              </a:rPr>
              <a:t>• 损失为 nan / inf：学习率太大，先除以 10</a:t>
            </a:r>
          </a:p>
          <a:p>
            <a:pPr algn="l">
              <a:lnSpc>
                <a:spcPct val="140000"/>
              </a:lnSpc>
              <a:spcAft>
                <a:spcPts val="400"/>
              </a:spcAft>
            </a:pPr>
            <a:r>
              <a:rPr sz="1200" b="0" i="0">
                <a:solidFill>
                  <a:srgbClr val="1F2937"/>
                </a:solidFill>
                <a:latin typeface="Source Han Sans SC"/>
              </a:rPr>
              <a:t>• Barely moving -&gt; lr too small</a:t>
            </a:r>
            <a:r>
              <a:rPr sz="940" b="0" i="0">
                <a:solidFill>
                  <a:srgbClr val="6B7280"/>
                </a:solidFill>
                <a:latin typeface="Source Han Sans SC"/>
              </a:rPr>
              <a:t> ｜ </a:t>
            </a:r>
            <a:r>
              <a:rPr sz="940" b="0" i="0">
                <a:solidFill>
                  <a:srgbClr val="6B7280"/>
                </a:solidFill>
                <a:latin typeface="Source Han Sans SC"/>
              </a:rPr>
              <a:t>• 损失几乎不动：学习率太小或层被冻结</a:t>
            </a:r>
          </a:p>
          <a:p>
            <a:pPr algn="l">
              <a:lnSpc>
                <a:spcPct val="140000"/>
              </a:lnSpc>
              <a:spcAft>
                <a:spcPts val="400"/>
              </a:spcAft>
            </a:pPr>
            <a:r>
              <a:rPr sz="1200" b="0" i="0">
                <a:solidFill>
                  <a:srgbClr val="1F2937"/>
                </a:solidFill>
                <a:latin typeface="Source Han Sans SC"/>
              </a:rPr>
              <a:t>• Accuracy stalls -&gt; an extra activation</a:t>
            </a:r>
            <a:r>
              <a:rPr sz="940" b="0" i="0">
                <a:solidFill>
                  <a:srgbClr val="6B7280"/>
                </a:solidFill>
                <a:latin typeface="Source Han Sans SC"/>
              </a:rPr>
              <a:t> ｜ </a:t>
            </a:r>
            <a:r>
              <a:rPr sz="940" b="0" i="0">
                <a:solidFill>
                  <a:srgbClr val="6B7280"/>
                </a:solidFill>
                <a:latin typeface="Source Han Sans SC"/>
              </a:rPr>
              <a:t>• 损失降但准确率不动：多做了一次激活</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Lab 4 Submission Checklist</a:t>
            </a:r>
          </a:p>
          <a:p>
            <a:pPr algn="l">
              <a:lnSpc>
                <a:spcPct val="105000"/>
              </a:lnSpc>
              <a:spcBef>
                <a:spcPts val="150"/>
              </a:spcBef>
            </a:pPr>
            <a:r>
              <a:rPr sz="1210" b="0" i="0">
                <a:solidFill>
                  <a:srgbClr val="6B7280"/>
                </a:solidFill>
                <a:latin typeface="Source Han Sans SC"/>
              </a:rPr>
              <a:t>实验 4 提交清单</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28 / 31</a:t>
            </a:r>
          </a:p>
        </p:txBody>
      </p:sp>
      <p:sp>
        <p:nvSpPr>
          <p:cNvPr id="9" name="Rectangle 8"/>
          <p:cNvSpPr/>
          <p:nvPr/>
        </p:nvSpPr>
        <p:spPr>
          <a:xfrm>
            <a:off x="799200" y="1278000"/>
            <a:ext cx="10593719" cy="863885"/>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32400" cy="863885"/>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979200" y="1498091"/>
            <a:ext cx="900000" cy="423701"/>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79200" y="1498091"/>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MUST</a:t>
            </a:r>
          </a:p>
          <a:p>
            <a:pPr algn="ctr">
              <a:lnSpc>
                <a:spcPct val="105000"/>
              </a:lnSpc>
              <a:spcBef>
                <a:spcPts val="150"/>
              </a:spcBef>
            </a:pPr>
            <a:r>
              <a:rPr sz="860" b="0" i="0">
                <a:solidFill>
                  <a:srgbClr val="CFDDF2"/>
                </a:solidFill>
                <a:latin typeface="Source Han Sans SC"/>
              </a:rPr>
              <a:t>必交</a:t>
            </a:r>
          </a:p>
        </p:txBody>
      </p:sp>
      <p:sp>
        <p:nvSpPr>
          <p:cNvPr id="13" name="TextBox 12"/>
          <p:cNvSpPr txBox="1"/>
          <p:nvPr/>
        </p:nvSpPr>
        <p:spPr>
          <a:xfrm>
            <a:off x="2023200" y="1385999"/>
            <a:ext cx="9153719" cy="336599"/>
          </a:xfrm>
          <a:prstGeom prst="rect">
            <a:avLst/>
          </a:prstGeom>
          <a:noFill/>
        </p:spPr>
        <p:txBody>
          <a:bodyPr wrap="square" anchor="t" lIns="0" rIns="0" tIns="0" bIns="0">
            <a:spAutoFit/>
          </a:bodyPr>
          <a:lstStyle/>
          <a:p>
            <a:pPr algn="l">
              <a:lnSpc>
                <a:spcPct val="125000"/>
              </a:lnSpc>
            </a:pPr>
            <a:r>
              <a:rPr sz="1250" b="1" i="0">
                <a:solidFill>
                  <a:srgbClr val="0E3F8C"/>
                </a:solidFill>
                <a:latin typeface="Source Han Sans SC"/>
              </a:rPr>
              <a:t>Training script with a reproducible command</a:t>
            </a:r>
            <a:r>
              <a:rPr sz="980" b="0" i="0">
                <a:solidFill>
                  <a:srgbClr val="6B7280"/>
                </a:solidFill>
                <a:latin typeface="Source Han Sans SC"/>
              </a:rPr>
              <a:t> ｜ </a:t>
            </a:r>
            <a:r>
              <a:rPr sz="980" b="0" i="0">
                <a:solidFill>
                  <a:srgbClr val="6B7280"/>
                </a:solidFill>
                <a:latin typeface="Source Han Sans SC"/>
              </a:rPr>
              <a:t>训练脚本（含可复现命令）</a:t>
            </a:r>
          </a:p>
        </p:txBody>
      </p:sp>
      <p:sp>
        <p:nvSpPr>
          <p:cNvPr id="14" name="TextBox 13"/>
          <p:cNvSpPr txBox="1"/>
          <p:nvPr/>
        </p:nvSpPr>
        <p:spPr>
          <a:xfrm>
            <a:off x="2023200" y="1664999"/>
            <a:ext cx="9153719" cy="422885"/>
          </a:xfrm>
          <a:prstGeom prst="rect">
            <a:avLst/>
          </a:prstGeom>
          <a:noFill/>
        </p:spPr>
        <p:txBody>
          <a:bodyPr wrap="square" anchor="t" lIns="0" rIns="0" tIns="0" bIns="0">
            <a:spAutoFit/>
          </a:bodyPr>
          <a:lstStyle/>
          <a:p>
            <a:pPr algn="l">
              <a:lnSpc>
                <a:spcPct val="130000"/>
              </a:lnSpc>
            </a:pPr>
            <a:r>
              <a:rPr sz="1050" b="0" i="0">
                <a:solidFill>
                  <a:srgbClr val="6B7280"/>
                </a:solidFill>
                <a:latin typeface="Source Han Sans SC"/>
              </a:rPr>
              <a:t>One script produces all nine runs, and the README gives a command you can paste and run.</a:t>
            </a:r>
          </a:p>
          <a:p>
            <a:pPr algn="l">
              <a:lnSpc>
                <a:spcPct val="105000"/>
              </a:lnSpc>
              <a:spcBef>
                <a:spcPts val="150"/>
              </a:spcBef>
            </a:pPr>
            <a:r>
              <a:rPr sz="819" b="0" i="0">
                <a:solidFill>
                  <a:srgbClr val="6B7280"/>
                </a:solidFill>
                <a:latin typeface="Source Han Sans SC"/>
              </a:rPr>
              <a:t>同一份脚本可以跑出全部 9 组结果；README 里给出可直接粘贴的运行命令。</a:t>
            </a:r>
          </a:p>
        </p:txBody>
      </p:sp>
      <p:sp>
        <p:nvSpPr>
          <p:cNvPr id="15" name="Rectangle 14"/>
          <p:cNvSpPr/>
          <p:nvPr/>
        </p:nvSpPr>
        <p:spPr>
          <a:xfrm>
            <a:off x="799200" y="2249885"/>
            <a:ext cx="10593719" cy="863885"/>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99200" y="2249885"/>
            <a:ext cx="32400" cy="863885"/>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79200" y="2469976"/>
            <a:ext cx="900000" cy="423701"/>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79200" y="2469976"/>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MUST</a:t>
            </a:r>
          </a:p>
          <a:p>
            <a:pPr algn="ctr">
              <a:lnSpc>
                <a:spcPct val="105000"/>
              </a:lnSpc>
              <a:spcBef>
                <a:spcPts val="150"/>
              </a:spcBef>
            </a:pPr>
            <a:r>
              <a:rPr sz="860" b="0" i="0">
                <a:solidFill>
                  <a:srgbClr val="CFDDF2"/>
                </a:solidFill>
                <a:latin typeface="Source Han Sans SC"/>
              </a:rPr>
              <a:t>必交</a:t>
            </a:r>
          </a:p>
        </p:txBody>
      </p:sp>
      <p:sp>
        <p:nvSpPr>
          <p:cNvPr id="19" name="TextBox 18"/>
          <p:cNvSpPr txBox="1"/>
          <p:nvPr/>
        </p:nvSpPr>
        <p:spPr>
          <a:xfrm>
            <a:off x="2023200" y="2357885"/>
            <a:ext cx="9153719" cy="336599"/>
          </a:xfrm>
          <a:prstGeom prst="rect">
            <a:avLst/>
          </a:prstGeom>
          <a:noFill/>
        </p:spPr>
        <p:txBody>
          <a:bodyPr wrap="square" anchor="t" lIns="0" rIns="0" tIns="0" bIns="0">
            <a:spAutoFit/>
          </a:bodyPr>
          <a:lstStyle/>
          <a:p>
            <a:pPr algn="l">
              <a:lnSpc>
                <a:spcPct val="125000"/>
              </a:lnSpc>
            </a:pPr>
            <a:r>
              <a:rPr sz="1250" b="1" i="0">
                <a:solidFill>
                  <a:srgbClr val="0E3F8C"/>
                </a:solidFill>
                <a:latin typeface="Source Han Sans SC"/>
              </a:rPr>
              <a:t>The 3 x 3 hyper-parameter table</a:t>
            </a:r>
            <a:r>
              <a:rPr sz="980" b="0" i="0">
                <a:solidFill>
                  <a:srgbClr val="6B7280"/>
                </a:solidFill>
                <a:latin typeface="Source Han Sans SC"/>
              </a:rPr>
              <a:t> ｜ </a:t>
            </a:r>
            <a:r>
              <a:rPr sz="980" b="0" i="0">
                <a:solidFill>
                  <a:srgbClr val="6B7280"/>
                </a:solidFill>
                <a:latin typeface="Source Han Sans SC"/>
              </a:rPr>
              <a:t>3 × 3 超参数对照表</a:t>
            </a:r>
          </a:p>
        </p:txBody>
      </p:sp>
      <p:sp>
        <p:nvSpPr>
          <p:cNvPr id="20" name="TextBox 19"/>
          <p:cNvSpPr txBox="1"/>
          <p:nvPr/>
        </p:nvSpPr>
        <p:spPr>
          <a:xfrm>
            <a:off x="2023200" y="2636884"/>
            <a:ext cx="9153719" cy="422885"/>
          </a:xfrm>
          <a:prstGeom prst="rect">
            <a:avLst/>
          </a:prstGeom>
          <a:noFill/>
        </p:spPr>
        <p:txBody>
          <a:bodyPr wrap="square" anchor="t" lIns="0" rIns="0" tIns="0" bIns="0">
            <a:spAutoFit/>
          </a:bodyPr>
          <a:lstStyle/>
          <a:p>
            <a:pPr algn="l">
              <a:lnSpc>
                <a:spcPct val="130000"/>
              </a:lnSpc>
            </a:pPr>
            <a:r>
              <a:rPr sz="1050" b="0" i="0">
                <a:solidFill>
                  <a:srgbClr val="6B7280"/>
                </a:solidFill>
                <a:latin typeface="Source Han Sans SC"/>
              </a:rPr>
              <a:t>Nine rows: optimizer, lr, minimum val loss, maximum val accuracy, converged or not.</a:t>
            </a:r>
          </a:p>
          <a:p>
            <a:pPr algn="l">
              <a:lnSpc>
                <a:spcPct val="105000"/>
              </a:lnSpc>
              <a:spcBef>
                <a:spcPts val="150"/>
              </a:spcBef>
            </a:pPr>
            <a:r>
              <a:rPr sz="819" b="0" i="0">
                <a:solidFill>
                  <a:srgbClr val="6B7280"/>
                </a:solidFill>
                <a:latin typeface="Source Han Sans SC"/>
              </a:rPr>
              <a:t>9 组各一行：优化器、学习率、最低验证损失、最高验证准确率、是否收敛。</a:t>
            </a:r>
          </a:p>
        </p:txBody>
      </p:sp>
      <p:sp>
        <p:nvSpPr>
          <p:cNvPr id="21" name="Rectangle 20"/>
          <p:cNvSpPr/>
          <p:nvPr/>
        </p:nvSpPr>
        <p:spPr>
          <a:xfrm>
            <a:off x="799200" y="3221770"/>
            <a:ext cx="10593719" cy="863885"/>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99200" y="3221770"/>
            <a:ext cx="32400" cy="863885"/>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79200" y="3441861"/>
            <a:ext cx="900000" cy="423701"/>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200" y="3441861"/>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MUST</a:t>
            </a:r>
          </a:p>
          <a:p>
            <a:pPr algn="ctr">
              <a:lnSpc>
                <a:spcPct val="105000"/>
              </a:lnSpc>
              <a:spcBef>
                <a:spcPts val="150"/>
              </a:spcBef>
            </a:pPr>
            <a:r>
              <a:rPr sz="860" b="0" i="0">
                <a:solidFill>
                  <a:srgbClr val="CFDDF2"/>
                </a:solidFill>
                <a:latin typeface="Source Han Sans SC"/>
              </a:rPr>
              <a:t>必交</a:t>
            </a:r>
          </a:p>
        </p:txBody>
      </p:sp>
      <p:sp>
        <p:nvSpPr>
          <p:cNvPr id="25" name="TextBox 24"/>
          <p:cNvSpPr txBox="1"/>
          <p:nvPr/>
        </p:nvSpPr>
        <p:spPr>
          <a:xfrm>
            <a:off x="2023200" y="3329770"/>
            <a:ext cx="9153719" cy="336599"/>
          </a:xfrm>
          <a:prstGeom prst="rect">
            <a:avLst/>
          </a:prstGeom>
          <a:noFill/>
        </p:spPr>
        <p:txBody>
          <a:bodyPr wrap="square" anchor="t" lIns="0" rIns="0" tIns="0" bIns="0">
            <a:spAutoFit/>
          </a:bodyPr>
          <a:lstStyle/>
          <a:p>
            <a:pPr algn="l">
              <a:lnSpc>
                <a:spcPct val="125000"/>
              </a:lnSpc>
            </a:pPr>
            <a:r>
              <a:rPr sz="1250" b="1" i="0">
                <a:solidFill>
                  <a:srgbClr val="0E3F8C"/>
                </a:solidFill>
                <a:latin typeface="Source Han Sans SC"/>
              </a:rPr>
              <a:t>Loss / accuracy curves</a:t>
            </a:r>
            <a:r>
              <a:rPr sz="980" b="0" i="0">
                <a:solidFill>
                  <a:srgbClr val="6B7280"/>
                </a:solidFill>
                <a:latin typeface="Source Han Sans SC"/>
              </a:rPr>
              <a:t> ｜ </a:t>
            </a:r>
            <a:r>
              <a:rPr sz="980" b="0" i="0">
                <a:solidFill>
                  <a:srgbClr val="6B7280"/>
                </a:solidFill>
                <a:latin typeface="Source Han Sans SC"/>
              </a:rPr>
              <a:t>损失 / 准确率曲线图</a:t>
            </a:r>
          </a:p>
        </p:txBody>
      </p:sp>
      <p:sp>
        <p:nvSpPr>
          <p:cNvPr id="26" name="TextBox 25"/>
          <p:cNvSpPr txBox="1"/>
          <p:nvPr/>
        </p:nvSpPr>
        <p:spPr>
          <a:xfrm>
            <a:off x="2023200" y="3608769"/>
            <a:ext cx="9153719" cy="422885"/>
          </a:xfrm>
          <a:prstGeom prst="rect">
            <a:avLst/>
          </a:prstGeom>
          <a:noFill/>
        </p:spPr>
        <p:txBody>
          <a:bodyPr wrap="square" anchor="t" lIns="0" rIns="0" tIns="0" bIns="0">
            <a:spAutoFit/>
          </a:bodyPr>
          <a:lstStyle/>
          <a:p>
            <a:pPr algn="l">
              <a:lnSpc>
                <a:spcPct val="130000"/>
              </a:lnSpc>
            </a:pPr>
            <a:r>
              <a:rPr sz="1050" b="0" i="0">
                <a:solidFill>
                  <a:srgbClr val="6B7280"/>
                </a:solidFill>
                <a:latin typeface="Source Han Sans SC"/>
              </a:rPr>
              <a:t>At least one chart with three or more curves on shared axes, labelled with optimizer and lr.</a:t>
            </a:r>
          </a:p>
          <a:p>
            <a:pPr algn="l">
              <a:lnSpc>
                <a:spcPct val="105000"/>
              </a:lnSpc>
              <a:spcBef>
                <a:spcPts val="150"/>
              </a:spcBef>
            </a:pPr>
            <a:r>
              <a:rPr sz="819" b="0" i="0">
                <a:solidFill>
                  <a:srgbClr val="6B7280"/>
                </a:solidFill>
                <a:latin typeface="Source Han Sans SC"/>
              </a:rPr>
              <a:t>至少一张 3 条以上曲线同坐标系的对比图，图例写清优化器与学习率。</a:t>
            </a:r>
          </a:p>
        </p:txBody>
      </p:sp>
      <p:sp>
        <p:nvSpPr>
          <p:cNvPr id="27" name="Rectangle 26"/>
          <p:cNvSpPr/>
          <p:nvPr/>
        </p:nvSpPr>
        <p:spPr>
          <a:xfrm>
            <a:off x="799200" y="4193655"/>
            <a:ext cx="10593719" cy="863885"/>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99200" y="4193655"/>
            <a:ext cx="32400" cy="863885"/>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79200" y="4413747"/>
            <a:ext cx="900000" cy="423701"/>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79200" y="4413747"/>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MUST</a:t>
            </a:r>
          </a:p>
          <a:p>
            <a:pPr algn="ctr">
              <a:lnSpc>
                <a:spcPct val="105000"/>
              </a:lnSpc>
              <a:spcBef>
                <a:spcPts val="150"/>
              </a:spcBef>
            </a:pPr>
            <a:r>
              <a:rPr sz="860" b="0" i="0">
                <a:solidFill>
                  <a:srgbClr val="CFDDF2"/>
                </a:solidFill>
                <a:latin typeface="Source Han Sans SC"/>
              </a:rPr>
              <a:t>必交</a:t>
            </a:r>
          </a:p>
        </p:txBody>
      </p:sp>
      <p:sp>
        <p:nvSpPr>
          <p:cNvPr id="31" name="TextBox 30"/>
          <p:cNvSpPr txBox="1"/>
          <p:nvPr/>
        </p:nvSpPr>
        <p:spPr>
          <a:xfrm>
            <a:off x="2023200" y="4301655"/>
            <a:ext cx="9153719" cy="336599"/>
          </a:xfrm>
          <a:prstGeom prst="rect">
            <a:avLst/>
          </a:prstGeom>
          <a:noFill/>
        </p:spPr>
        <p:txBody>
          <a:bodyPr wrap="square" anchor="t" lIns="0" rIns="0" tIns="0" bIns="0">
            <a:spAutoFit/>
          </a:bodyPr>
          <a:lstStyle/>
          <a:p>
            <a:pPr algn="l">
              <a:lnSpc>
                <a:spcPct val="125000"/>
              </a:lnSpc>
            </a:pPr>
            <a:r>
              <a:rPr sz="1250" b="1" i="0">
                <a:solidFill>
                  <a:srgbClr val="0E3F8C"/>
                </a:solidFill>
                <a:latin typeface="Source Han Sans SC"/>
              </a:rPr>
              <a:t>One "does not converge" debugging log</a:t>
            </a:r>
            <a:r>
              <a:rPr sz="980" b="0" i="0">
                <a:solidFill>
                  <a:srgbClr val="6B7280"/>
                </a:solidFill>
                <a:latin typeface="Source Han Sans SC"/>
              </a:rPr>
              <a:t> ｜ </a:t>
            </a:r>
            <a:r>
              <a:rPr sz="980" b="0" i="0">
                <a:solidFill>
                  <a:srgbClr val="6B7280"/>
                </a:solidFill>
                <a:latin typeface="Source Han Sans SC"/>
              </a:rPr>
              <a:t>一次「训练不收敛」的排查记录</a:t>
            </a:r>
          </a:p>
        </p:txBody>
      </p:sp>
      <p:sp>
        <p:nvSpPr>
          <p:cNvPr id="32" name="TextBox 31"/>
          <p:cNvSpPr txBox="1"/>
          <p:nvPr/>
        </p:nvSpPr>
        <p:spPr>
          <a:xfrm>
            <a:off x="2023200" y="4580654"/>
            <a:ext cx="9153719" cy="422885"/>
          </a:xfrm>
          <a:prstGeom prst="rect">
            <a:avLst/>
          </a:prstGeom>
          <a:noFill/>
        </p:spPr>
        <p:txBody>
          <a:bodyPr wrap="square" anchor="t" lIns="0" rIns="0" tIns="0" bIns="0">
            <a:spAutoFit/>
          </a:bodyPr>
          <a:lstStyle/>
          <a:p>
            <a:pPr algn="l">
              <a:lnSpc>
                <a:spcPct val="130000"/>
              </a:lnSpc>
            </a:pPr>
            <a:r>
              <a:rPr sz="1050" b="0" i="0">
                <a:solidFill>
                  <a:srgbClr val="6B7280"/>
                </a:solidFill>
                <a:latin typeface="Source Han Sans SC"/>
              </a:rPr>
              <a:t>Symptom, hypothesis, how you tested it, conclusion — lr first, then data, then code.</a:t>
            </a:r>
          </a:p>
          <a:p>
            <a:pPr algn="l">
              <a:lnSpc>
                <a:spcPct val="105000"/>
              </a:lnSpc>
              <a:spcBef>
                <a:spcPts val="150"/>
              </a:spcBef>
            </a:pPr>
            <a:r>
              <a:rPr sz="819" b="0" i="0">
                <a:solidFill>
                  <a:srgbClr val="6B7280"/>
                </a:solidFill>
                <a:latin typeface="Source Han Sans SC"/>
              </a:rPr>
              <a:t>写明现象、假设、验证方式与结论；顺序是先查学习率，再查数据与代码。</a:t>
            </a:r>
          </a:p>
        </p:txBody>
      </p:sp>
      <p:sp>
        <p:nvSpPr>
          <p:cNvPr id="33" name="Rectangle 32"/>
          <p:cNvSpPr/>
          <p:nvPr/>
        </p:nvSpPr>
        <p:spPr>
          <a:xfrm>
            <a:off x="799200" y="5165540"/>
            <a:ext cx="10593719" cy="863885"/>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99200" y="5165540"/>
            <a:ext cx="32400" cy="86388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979200" y="5385632"/>
            <a:ext cx="900000" cy="42370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9200" y="5385632"/>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BONUS</a:t>
            </a:r>
          </a:p>
          <a:p>
            <a:pPr algn="ctr">
              <a:lnSpc>
                <a:spcPct val="105000"/>
              </a:lnSpc>
              <a:spcBef>
                <a:spcPts val="150"/>
              </a:spcBef>
            </a:pPr>
            <a:r>
              <a:rPr sz="860" b="0" i="0">
                <a:solidFill>
                  <a:srgbClr val="CFDDF2"/>
                </a:solidFill>
                <a:latin typeface="Source Han Sans SC"/>
              </a:rPr>
              <a:t>加分</a:t>
            </a:r>
          </a:p>
        </p:txBody>
      </p:sp>
      <p:sp>
        <p:nvSpPr>
          <p:cNvPr id="37" name="TextBox 36"/>
          <p:cNvSpPr txBox="1"/>
          <p:nvPr/>
        </p:nvSpPr>
        <p:spPr>
          <a:xfrm>
            <a:off x="2023200" y="5273540"/>
            <a:ext cx="9153719" cy="336599"/>
          </a:xfrm>
          <a:prstGeom prst="rect">
            <a:avLst/>
          </a:prstGeom>
          <a:noFill/>
        </p:spPr>
        <p:txBody>
          <a:bodyPr wrap="square" anchor="t" lIns="0" rIns="0" tIns="0" bIns="0">
            <a:spAutoFit/>
          </a:bodyPr>
          <a:lstStyle/>
          <a:p>
            <a:pPr algn="l">
              <a:lnSpc>
                <a:spcPct val="125000"/>
              </a:lnSpc>
            </a:pPr>
            <a:r>
              <a:rPr sz="1250" b="1" i="0">
                <a:solidFill>
                  <a:srgbClr val="0E3F8C"/>
                </a:solidFill>
                <a:latin typeface="Source Han Sans SC"/>
              </a:rPr>
              <a:t>AI collaboration trace (stating where AI was wrong)</a:t>
            </a:r>
            <a:r>
              <a:rPr sz="980" b="0" i="0">
                <a:solidFill>
                  <a:srgbClr val="6B7280"/>
                </a:solidFill>
                <a:latin typeface="Source Han Sans SC"/>
              </a:rPr>
              <a:t> ｜ </a:t>
            </a:r>
            <a:r>
              <a:rPr sz="980" b="0" i="0">
                <a:solidFill>
                  <a:srgbClr val="6B7280"/>
                </a:solidFill>
                <a:latin typeface="Source Han Sans SC"/>
              </a:rPr>
              <a:t>AI 协同记录（写清 AI 错在哪）</a:t>
            </a:r>
          </a:p>
        </p:txBody>
      </p:sp>
      <p:sp>
        <p:nvSpPr>
          <p:cNvPr id="38" name="TextBox 37"/>
          <p:cNvSpPr txBox="1"/>
          <p:nvPr/>
        </p:nvSpPr>
        <p:spPr>
          <a:xfrm>
            <a:off x="2023200" y="5552539"/>
            <a:ext cx="9153719" cy="422885"/>
          </a:xfrm>
          <a:prstGeom prst="rect">
            <a:avLst/>
          </a:prstGeom>
          <a:noFill/>
        </p:spPr>
        <p:txBody>
          <a:bodyPr wrap="square" anchor="t" lIns="0" rIns="0" tIns="0" bIns="0">
            <a:spAutoFit/>
          </a:bodyPr>
          <a:lstStyle/>
          <a:p>
            <a:pPr algn="l">
              <a:lnSpc>
                <a:spcPct val="130000"/>
              </a:lnSpc>
            </a:pPr>
            <a:r>
              <a:rPr sz="1050" b="0" i="0">
                <a:solidFill>
                  <a:srgbClr val="6B7280"/>
                </a:solidFill>
                <a:latin typeface="Source Han Sans SC"/>
              </a:rPr>
              <a:t>Record one hyper-parameter suggestion from AI and the controlled run that confirmed or refuted it.</a:t>
            </a:r>
          </a:p>
          <a:p>
            <a:pPr algn="l">
              <a:lnSpc>
                <a:spcPct val="105000"/>
              </a:lnSpc>
              <a:spcBef>
                <a:spcPts val="150"/>
              </a:spcBef>
            </a:pPr>
            <a:r>
              <a:rPr sz="819" b="0" i="0">
                <a:solidFill>
                  <a:srgbClr val="6B7280"/>
                </a:solidFill>
                <a:latin typeface="Source Han Sans SC"/>
              </a:rPr>
              <a:t>记录 AI 给出的一条超参数建议，以及你的对照实验证明它是否成立。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Quick Check</a:t>
            </a:r>
          </a:p>
          <a:p>
            <a:pPr algn="l">
              <a:lnSpc>
                <a:spcPct val="105000"/>
              </a:lnSpc>
              <a:spcBef>
                <a:spcPts val="150"/>
              </a:spcBef>
            </a:pPr>
            <a:r>
              <a:rPr sz="1210" b="0" i="0">
                <a:solidFill>
                  <a:srgbClr val="6B7280"/>
                </a:solidFill>
                <a:latin typeface="Source Han Sans SC"/>
              </a:rPr>
              <a:t>随堂小测</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29 / 31</a:t>
            </a:r>
          </a:p>
        </p:txBody>
      </p:sp>
      <p:sp>
        <p:nvSpPr>
          <p:cNvPr id="9" name="Rectangle 8"/>
          <p:cNvSpPr/>
          <p:nvPr/>
        </p:nvSpPr>
        <p:spPr>
          <a:xfrm>
            <a:off x="799200" y="1134000"/>
            <a:ext cx="5197859" cy="161639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997200" y="1296000"/>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97200" y="1296000"/>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Loss</a:t>
            </a:r>
          </a:p>
          <a:p>
            <a:pPr algn="ctr">
              <a:lnSpc>
                <a:spcPct val="105000"/>
              </a:lnSpc>
              <a:spcBef>
                <a:spcPts val="150"/>
              </a:spcBef>
            </a:pPr>
            <a:r>
              <a:rPr sz="819" b="0" i="0">
                <a:solidFill>
                  <a:srgbClr val="CFDDF2"/>
                </a:solidFill>
                <a:latin typeface="Source Han Sans SC"/>
              </a:rPr>
              <a:t>损失</a:t>
            </a:r>
          </a:p>
        </p:txBody>
      </p:sp>
      <p:sp>
        <p:nvSpPr>
          <p:cNvPr id="12" name="TextBox 11"/>
          <p:cNvSpPr txBox="1"/>
          <p:nvPr/>
        </p:nvSpPr>
        <p:spPr>
          <a:xfrm>
            <a:off x="2005200" y="1296000"/>
            <a:ext cx="3793859" cy="747164"/>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A 10-class image classification task: which loss?</a:t>
            </a:r>
          </a:p>
          <a:p>
            <a:pPr algn="l">
              <a:lnSpc>
                <a:spcPct val="105000"/>
              </a:lnSpc>
              <a:spcBef>
                <a:spcPts val="150"/>
              </a:spcBef>
            </a:pPr>
            <a:r>
              <a:rPr sz="900" b="0" i="0">
                <a:solidFill>
                  <a:srgbClr val="6B7280"/>
                </a:solidFill>
                <a:latin typeface="Source Han Sans SC"/>
              </a:rPr>
              <a:t>10 类图像分类任务，应该用哪个损失函数？</a:t>
            </a:r>
          </a:p>
        </p:txBody>
      </p:sp>
      <p:sp>
        <p:nvSpPr>
          <p:cNvPr id="13" name="TextBox 12"/>
          <p:cNvSpPr txBox="1"/>
          <p:nvPr/>
        </p:nvSpPr>
        <p:spPr>
          <a:xfrm>
            <a:off x="997200" y="2014364"/>
            <a:ext cx="4801859" cy="664035"/>
          </a:xfrm>
          <a:prstGeom prst="rect">
            <a:avLst/>
          </a:prstGeom>
          <a:noFill/>
        </p:spPr>
        <p:txBody>
          <a:bodyPr wrap="square" anchor="t" lIns="0" rIns="0" tIns="0" bIns="0">
            <a:spAutoFit/>
          </a:bodyPr>
          <a:lstStyle/>
          <a:p>
            <a:pPr algn="l">
              <a:lnSpc>
                <a:spcPct val="134000"/>
              </a:lnSpc>
              <a:spcAft>
                <a:spcPts val="300"/>
              </a:spcAft>
            </a:pPr>
            <a:r>
              <a:rPr sz="760" b="0" i="0">
                <a:solidFill>
                  <a:srgbClr val="1F2937"/>
                </a:solidFill>
                <a:latin typeface="Source Han Sans SC"/>
              </a:rPr>
              <a:t>A. nn.MSELoss</a:t>
            </a:r>
          </a:p>
          <a:p>
            <a:pPr algn="l">
              <a:lnSpc>
                <a:spcPct val="134000"/>
              </a:lnSpc>
              <a:spcAft>
                <a:spcPts val="300"/>
              </a:spcAft>
            </a:pPr>
            <a:r>
              <a:rPr sz="760" b="0" i="0">
                <a:solidFill>
                  <a:srgbClr val="1F2937"/>
                </a:solidFill>
                <a:latin typeface="Source Han Sans SC"/>
              </a:rPr>
              <a:t>B. nn.CrossEntropyLoss (softmax inside)</a:t>
            </a:r>
            <a:r>
              <a:rPr sz="800" b="0" i="0">
                <a:solidFill>
                  <a:srgbClr val="6B7280"/>
                </a:solidFill>
                <a:latin typeface="Source Han Sans SC"/>
              </a:rPr>
              <a:t> ｜ </a:t>
            </a:r>
            <a:r>
              <a:rPr sz="800" b="0" i="0">
                <a:solidFill>
                  <a:srgbClr val="6B7280"/>
                </a:solidFill>
                <a:latin typeface="Source Han Sans SC"/>
              </a:rPr>
              <a:t>B. nn.CrossEntropyLoss（内含 softmax）</a:t>
            </a:r>
          </a:p>
          <a:p>
            <a:pPr algn="l">
              <a:lnSpc>
                <a:spcPct val="134000"/>
              </a:lnSpc>
              <a:spcAft>
                <a:spcPts val="300"/>
              </a:spcAft>
            </a:pPr>
            <a:r>
              <a:rPr sz="760" b="0" i="0">
                <a:solidFill>
                  <a:srgbClr val="1F2937"/>
                </a:solidFill>
                <a:latin typeface="Source Han Sans SC"/>
              </a:rPr>
              <a:t>C. nn.BCEWithLogitsLoss</a:t>
            </a:r>
          </a:p>
        </p:txBody>
      </p:sp>
      <p:sp>
        <p:nvSpPr>
          <p:cNvPr id="14" name="Rectangle 13"/>
          <p:cNvSpPr/>
          <p:nvPr/>
        </p:nvSpPr>
        <p:spPr>
          <a:xfrm>
            <a:off x="6195059" y="1134000"/>
            <a:ext cx="5197859" cy="161639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393059" y="1296000"/>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93059" y="1296000"/>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Pitfall</a:t>
            </a:r>
          </a:p>
          <a:p>
            <a:pPr algn="ctr">
              <a:lnSpc>
                <a:spcPct val="105000"/>
              </a:lnSpc>
              <a:spcBef>
                <a:spcPts val="150"/>
              </a:spcBef>
            </a:pPr>
            <a:r>
              <a:rPr sz="819" b="0" i="0">
                <a:solidFill>
                  <a:srgbClr val="CFDDF2"/>
                </a:solidFill>
                <a:latin typeface="Source Han Sans SC"/>
              </a:rPr>
              <a:t>常见坑</a:t>
            </a:r>
          </a:p>
        </p:txBody>
      </p:sp>
      <p:sp>
        <p:nvSpPr>
          <p:cNvPr id="17" name="TextBox 16"/>
          <p:cNvSpPr txBox="1"/>
          <p:nvPr/>
        </p:nvSpPr>
        <p:spPr>
          <a:xfrm>
            <a:off x="7401059" y="1296000"/>
            <a:ext cx="3793859" cy="747164"/>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Softmax the logits, then feed CrossEntropyLoss. What happens?</a:t>
            </a:r>
          </a:p>
          <a:p>
            <a:pPr algn="l">
              <a:lnSpc>
                <a:spcPct val="105000"/>
              </a:lnSpc>
              <a:spcBef>
                <a:spcPts val="150"/>
              </a:spcBef>
            </a:pPr>
            <a:r>
              <a:rPr sz="900" b="0" i="0">
                <a:solidFill>
                  <a:srgbClr val="6B7280"/>
                </a:solidFill>
                <a:latin typeface="Source Han Sans SC"/>
              </a:rPr>
              <a:t>先 torch.softmax(logits) 再喂 CrossEntropyLoss，会发生什么？</a:t>
            </a:r>
          </a:p>
        </p:txBody>
      </p:sp>
      <p:sp>
        <p:nvSpPr>
          <p:cNvPr id="18" name="TextBox 17"/>
          <p:cNvSpPr txBox="1"/>
          <p:nvPr/>
        </p:nvSpPr>
        <p:spPr>
          <a:xfrm>
            <a:off x="6393059" y="2014364"/>
            <a:ext cx="4801859" cy="664035"/>
          </a:xfrm>
          <a:prstGeom prst="rect">
            <a:avLst/>
          </a:prstGeom>
          <a:noFill/>
        </p:spPr>
        <p:txBody>
          <a:bodyPr wrap="square" anchor="t" lIns="0" rIns="0" tIns="0" bIns="0">
            <a:spAutoFit/>
          </a:bodyPr>
          <a:lstStyle/>
          <a:p>
            <a:pPr algn="l">
              <a:lnSpc>
                <a:spcPct val="134000"/>
              </a:lnSpc>
              <a:spcAft>
                <a:spcPts val="300"/>
              </a:spcAft>
            </a:pPr>
            <a:r>
              <a:rPr sz="760" b="0" i="0">
                <a:solidFill>
                  <a:srgbClr val="1F2937"/>
                </a:solidFill>
                <a:latin typeface="Source Han Sans SC"/>
              </a:rPr>
              <a:t>A. No effect at all</a:t>
            </a:r>
            <a:r>
              <a:rPr sz="800" b="0" i="0">
                <a:solidFill>
                  <a:srgbClr val="6B7280"/>
                </a:solidFill>
                <a:latin typeface="Source Han Sans SC"/>
              </a:rPr>
              <a:t> ｜ </a:t>
            </a:r>
            <a:r>
              <a:rPr sz="800" b="0" i="0">
                <a:solidFill>
                  <a:srgbClr val="6B7280"/>
                </a:solidFill>
                <a:latin typeface="Source Han Sans SC"/>
              </a:rPr>
              <a:t>A. 完全没有影响</a:t>
            </a:r>
          </a:p>
          <a:p>
            <a:pPr algn="l">
              <a:lnSpc>
                <a:spcPct val="134000"/>
              </a:lnSpc>
              <a:spcAft>
                <a:spcPts val="300"/>
              </a:spcAft>
            </a:pPr>
            <a:r>
              <a:rPr sz="760" b="0" i="0">
                <a:solidFill>
                  <a:srgbClr val="1F2937"/>
                </a:solidFill>
                <a:latin typeface="Source Han Sans SC"/>
              </a:rPr>
              <a:t>B. Softmax twice: probabilities squeezed, gradients shrink</a:t>
            </a:r>
            <a:r>
              <a:rPr sz="800" b="0" i="0">
                <a:solidFill>
                  <a:srgbClr val="6B7280"/>
                </a:solidFill>
                <a:latin typeface="Source Han Sans SC"/>
              </a:rPr>
              <a:t> ｜ </a:t>
            </a:r>
            <a:r>
              <a:rPr sz="800" b="0" i="0">
                <a:solidFill>
                  <a:srgbClr val="6B7280"/>
                </a:solidFill>
                <a:latin typeface="Source Han Sans SC"/>
              </a:rPr>
              <a:t>B. 等于做了两次 softmax，概率被压扁、梯度变小</a:t>
            </a:r>
          </a:p>
          <a:p>
            <a:pPr algn="l">
              <a:lnSpc>
                <a:spcPct val="134000"/>
              </a:lnSpc>
              <a:spcAft>
                <a:spcPts val="300"/>
              </a:spcAft>
            </a:pPr>
            <a:r>
              <a:rPr sz="760" b="0" i="0">
                <a:solidFill>
                  <a:srgbClr val="1F2937"/>
                </a:solidFill>
                <a:latin typeface="Source Han Sans SC"/>
              </a:rPr>
              <a:t>C. It raises an error immediately</a:t>
            </a:r>
            <a:r>
              <a:rPr sz="800" b="0" i="0">
                <a:solidFill>
                  <a:srgbClr val="6B7280"/>
                </a:solidFill>
                <a:latin typeface="Source Han Sans SC"/>
              </a:rPr>
              <a:t> ｜ </a:t>
            </a:r>
            <a:r>
              <a:rPr sz="800" b="0" i="0">
                <a:solidFill>
                  <a:srgbClr val="6B7280"/>
                </a:solidFill>
                <a:latin typeface="Source Han Sans SC"/>
              </a:rPr>
              <a:t>C. 程序立刻报错</a:t>
            </a:r>
          </a:p>
        </p:txBody>
      </p:sp>
      <p:sp>
        <p:nvSpPr>
          <p:cNvPr id="19" name="Rectangle 18"/>
          <p:cNvSpPr/>
          <p:nvPr/>
        </p:nvSpPr>
        <p:spPr>
          <a:xfrm>
            <a:off x="799200" y="2948400"/>
            <a:ext cx="5197859" cy="161639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97200" y="3110399"/>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97200" y="3110399"/>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Optimizer</a:t>
            </a:r>
          </a:p>
          <a:p>
            <a:pPr algn="ctr">
              <a:lnSpc>
                <a:spcPct val="105000"/>
              </a:lnSpc>
              <a:spcBef>
                <a:spcPts val="150"/>
              </a:spcBef>
            </a:pPr>
            <a:r>
              <a:rPr sz="819" b="0" i="0">
                <a:solidFill>
                  <a:srgbClr val="CFDDF2"/>
                </a:solidFill>
                <a:latin typeface="Source Han Sans SC"/>
              </a:rPr>
              <a:t>优化器</a:t>
            </a:r>
          </a:p>
        </p:txBody>
      </p:sp>
      <p:sp>
        <p:nvSpPr>
          <p:cNvPr id="22" name="TextBox 21"/>
          <p:cNvSpPr txBox="1"/>
          <p:nvPr/>
        </p:nvSpPr>
        <p:spPr>
          <a:xfrm>
            <a:off x="2005200" y="3110399"/>
            <a:ext cx="3793859" cy="522832"/>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Which statement is correct?</a:t>
            </a:r>
          </a:p>
          <a:p>
            <a:pPr algn="l">
              <a:lnSpc>
                <a:spcPct val="105000"/>
              </a:lnSpc>
              <a:spcBef>
                <a:spcPts val="150"/>
              </a:spcBef>
            </a:pPr>
            <a:r>
              <a:rPr sz="900" b="0" i="0">
                <a:solidFill>
                  <a:srgbClr val="6B7280"/>
                </a:solidFill>
                <a:latin typeface="Source Han Sans SC"/>
              </a:rPr>
              <a:t>下面哪个说法是正确的？</a:t>
            </a:r>
          </a:p>
        </p:txBody>
      </p:sp>
      <p:sp>
        <p:nvSpPr>
          <p:cNvPr id="23" name="TextBox 22"/>
          <p:cNvSpPr txBox="1"/>
          <p:nvPr/>
        </p:nvSpPr>
        <p:spPr>
          <a:xfrm>
            <a:off x="997200" y="3722400"/>
            <a:ext cx="4801859" cy="770399"/>
          </a:xfrm>
          <a:prstGeom prst="rect">
            <a:avLst/>
          </a:prstGeom>
          <a:noFill/>
        </p:spPr>
        <p:txBody>
          <a:bodyPr wrap="square" anchor="t" lIns="0" rIns="0" tIns="0" bIns="0">
            <a:spAutoFit/>
          </a:bodyPr>
          <a:lstStyle/>
          <a:p>
            <a:pPr algn="l">
              <a:lnSpc>
                <a:spcPct val="134000"/>
              </a:lnSpc>
              <a:spcAft>
                <a:spcPts val="300"/>
              </a:spcAft>
            </a:pPr>
            <a:r>
              <a:rPr sz="760" b="0" i="0">
                <a:solidFill>
                  <a:srgbClr val="1F2937"/>
                </a:solidFill>
                <a:latin typeface="Source Han Sans SC"/>
              </a:rPr>
              <a:t>A. Adam needs no learning rate</a:t>
            </a:r>
            <a:r>
              <a:rPr sz="800" b="0" i="0">
                <a:solidFill>
                  <a:srgbClr val="6B7280"/>
                </a:solidFill>
                <a:latin typeface="Source Han Sans SC"/>
              </a:rPr>
              <a:t> ｜ </a:t>
            </a:r>
            <a:r>
              <a:rPr sz="800" b="0" i="0">
                <a:solidFill>
                  <a:srgbClr val="6B7280"/>
                </a:solidFill>
                <a:latin typeface="Source Han Sans SC"/>
              </a:rPr>
              <a:t>A. Adam 不需要设置学习率</a:t>
            </a:r>
          </a:p>
          <a:p>
            <a:pPr algn="l">
              <a:lnSpc>
                <a:spcPct val="134000"/>
              </a:lnSpc>
              <a:spcAft>
                <a:spcPts val="300"/>
              </a:spcAft>
            </a:pPr>
            <a:r>
              <a:rPr sz="760" b="0" i="0">
                <a:solidFill>
                  <a:srgbClr val="1F2937"/>
                </a:solidFill>
                <a:latin typeface="Source Han Sans SC"/>
              </a:rPr>
              <a:t>B. Momentum accumulates past gradients into inertia</a:t>
            </a:r>
            <a:r>
              <a:rPr sz="800" b="0" i="0">
                <a:solidFill>
                  <a:srgbClr val="6B7280"/>
                </a:solidFill>
                <a:latin typeface="Source Han Sans SC"/>
              </a:rPr>
              <a:t> ｜ </a:t>
            </a:r>
            <a:r>
              <a:rPr sz="800" b="0" i="0">
                <a:solidFill>
                  <a:srgbClr val="6B7280"/>
                </a:solidFill>
                <a:latin typeface="Source Han Sans SC"/>
              </a:rPr>
              <a:t>B. Momentum 累积历史梯度方向，形成惯性</a:t>
            </a:r>
          </a:p>
          <a:p>
            <a:pPr algn="l">
              <a:lnSpc>
                <a:spcPct val="134000"/>
              </a:lnSpc>
              <a:spcAft>
                <a:spcPts val="300"/>
              </a:spcAft>
            </a:pPr>
            <a:r>
              <a:rPr sz="760" b="0" i="0">
                <a:solidFill>
                  <a:srgbClr val="1F2937"/>
                </a:solidFill>
                <a:latin typeface="Source Han Sans SC"/>
              </a:rPr>
              <a:t>C. SGD always converges faster than Adam</a:t>
            </a:r>
            <a:r>
              <a:rPr sz="800" b="0" i="0">
                <a:solidFill>
                  <a:srgbClr val="6B7280"/>
                </a:solidFill>
                <a:latin typeface="Source Han Sans SC"/>
              </a:rPr>
              <a:t> ｜ </a:t>
            </a:r>
            <a:r>
              <a:rPr sz="800" b="0" i="0">
                <a:solidFill>
                  <a:srgbClr val="6B7280"/>
                </a:solidFill>
                <a:latin typeface="Source Han Sans SC"/>
              </a:rPr>
              <a:t>C. SGD 一定比 Adam 收敛快</a:t>
            </a:r>
          </a:p>
        </p:txBody>
      </p:sp>
      <p:sp>
        <p:nvSpPr>
          <p:cNvPr id="24" name="Rectangle 23"/>
          <p:cNvSpPr/>
          <p:nvPr/>
        </p:nvSpPr>
        <p:spPr>
          <a:xfrm>
            <a:off x="6195059" y="2948400"/>
            <a:ext cx="5197859" cy="161639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393059" y="3110399"/>
            <a:ext cx="900000" cy="584903"/>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93059" y="3110399"/>
            <a:ext cx="900000" cy="584903"/>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Learning rate</a:t>
            </a:r>
          </a:p>
          <a:p>
            <a:pPr algn="ctr">
              <a:lnSpc>
                <a:spcPct val="105000"/>
              </a:lnSpc>
              <a:spcBef>
                <a:spcPts val="150"/>
              </a:spcBef>
            </a:pPr>
            <a:r>
              <a:rPr sz="819" b="0" i="0">
                <a:solidFill>
                  <a:srgbClr val="CFDDF2"/>
                </a:solidFill>
                <a:latin typeface="Source Han Sans SC"/>
              </a:rPr>
              <a:t>学习率</a:t>
            </a:r>
          </a:p>
        </p:txBody>
      </p:sp>
      <p:sp>
        <p:nvSpPr>
          <p:cNvPr id="27" name="TextBox 26"/>
          <p:cNvSpPr txBox="1"/>
          <p:nvPr/>
        </p:nvSpPr>
        <p:spPr>
          <a:xfrm>
            <a:off x="7401059" y="3110399"/>
            <a:ext cx="3793859" cy="747164"/>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The loss becomes nan in epoch 1. What do you check first?</a:t>
            </a:r>
          </a:p>
          <a:p>
            <a:pPr algn="l">
              <a:lnSpc>
                <a:spcPct val="105000"/>
              </a:lnSpc>
              <a:spcBef>
                <a:spcPts val="150"/>
              </a:spcBef>
            </a:pPr>
            <a:r>
              <a:rPr sz="900" b="0" i="0">
                <a:solidFill>
                  <a:srgbClr val="6B7280"/>
                </a:solidFill>
                <a:latin typeface="Source Han Sans SC"/>
              </a:rPr>
              <a:t>训练损失在第一轮就变成 nan，第一步应该查什么？</a:t>
            </a:r>
          </a:p>
        </p:txBody>
      </p:sp>
      <p:sp>
        <p:nvSpPr>
          <p:cNvPr id="28" name="TextBox 27"/>
          <p:cNvSpPr txBox="1"/>
          <p:nvPr/>
        </p:nvSpPr>
        <p:spPr>
          <a:xfrm>
            <a:off x="6393059" y="3828764"/>
            <a:ext cx="4801859" cy="664035"/>
          </a:xfrm>
          <a:prstGeom prst="rect">
            <a:avLst/>
          </a:prstGeom>
          <a:noFill/>
        </p:spPr>
        <p:txBody>
          <a:bodyPr wrap="square" anchor="t" lIns="0" rIns="0" tIns="0" bIns="0">
            <a:spAutoFit/>
          </a:bodyPr>
          <a:lstStyle/>
          <a:p>
            <a:pPr algn="l">
              <a:lnSpc>
                <a:spcPct val="134000"/>
              </a:lnSpc>
              <a:spcAft>
                <a:spcPts val="300"/>
              </a:spcAft>
            </a:pPr>
            <a:r>
              <a:rPr sz="760" b="0" i="0">
                <a:solidFill>
                  <a:srgbClr val="1F2937"/>
                </a:solidFill>
                <a:latin typeface="Source Han Sans SC"/>
              </a:rPr>
              <a:t>A. Switch to a deeper model</a:t>
            </a:r>
            <a:r>
              <a:rPr sz="800" b="0" i="0">
                <a:solidFill>
                  <a:srgbClr val="6B7280"/>
                </a:solidFill>
                <a:latin typeface="Source Han Sans SC"/>
              </a:rPr>
              <a:t> ｜ </a:t>
            </a:r>
            <a:r>
              <a:rPr sz="800" b="0" i="0">
                <a:solidFill>
                  <a:srgbClr val="6B7280"/>
                </a:solidFill>
                <a:latin typeface="Source Han Sans SC"/>
              </a:rPr>
              <a:t>A. 换一个更深的模型</a:t>
            </a:r>
          </a:p>
          <a:p>
            <a:pPr algn="l">
              <a:lnSpc>
                <a:spcPct val="134000"/>
              </a:lnSpc>
              <a:spcAft>
                <a:spcPts val="300"/>
              </a:spcAft>
            </a:pPr>
            <a:r>
              <a:rPr sz="760" b="0" i="0">
                <a:solidFill>
                  <a:srgbClr val="1F2937"/>
                </a:solidFill>
                <a:latin typeface="Source Han Sans SC"/>
              </a:rPr>
              <a:t>B. Whether the learning rate is too large</a:t>
            </a:r>
            <a:r>
              <a:rPr sz="800" b="0" i="0">
                <a:solidFill>
                  <a:srgbClr val="6B7280"/>
                </a:solidFill>
                <a:latin typeface="Source Han Sans SC"/>
              </a:rPr>
              <a:t> ｜ </a:t>
            </a:r>
            <a:r>
              <a:rPr sz="800" b="0" i="0">
                <a:solidFill>
                  <a:srgbClr val="6B7280"/>
                </a:solidFill>
                <a:latin typeface="Source Han Sans SC"/>
              </a:rPr>
              <a:t>B. 学习率是不是太大</a:t>
            </a:r>
          </a:p>
          <a:p>
            <a:pPr algn="l">
              <a:lnSpc>
                <a:spcPct val="134000"/>
              </a:lnSpc>
              <a:spcAft>
                <a:spcPts val="300"/>
              </a:spcAft>
            </a:pPr>
            <a:r>
              <a:rPr sz="760" b="0" i="0">
                <a:solidFill>
                  <a:srgbClr val="1F2937"/>
                </a:solidFill>
                <a:latin typeface="Source Han Sans SC"/>
              </a:rPr>
              <a:t>C. Add more epochs</a:t>
            </a:r>
            <a:r>
              <a:rPr sz="800" b="0" i="0">
                <a:solidFill>
                  <a:srgbClr val="6B7280"/>
                </a:solidFill>
                <a:latin typeface="Source Han Sans SC"/>
              </a:rPr>
              <a:t> ｜ </a:t>
            </a:r>
            <a:r>
              <a:rPr sz="800" b="0" i="0">
                <a:solidFill>
                  <a:srgbClr val="6B7280"/>
                </a:solidFill>
                <a:latin typeface="Source Han Sans SC"/>
              </a:rPr>
              <a:t>C. 增加训练轮次</a:t>
            </a:r>
          </a:p>
        </p:txBody>
      </p:sp>
      <p:sp>
        <p:nvSpPr>
          <p:cNvPr id="29" name="Rectangle 28"/>
          <p:cNvSpPr/>
          <p:nvPr/>
        </p:nvSpPr>
        <p:spPr>
          <a:xfrm>
            <a:off x="799200" y="4762799"/>
            <a:ext cx="5197859" cy="161639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97200" y="4924799"/>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97200" y="4924799"/>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Five steps</a:t>
            </a:r>
          </a:p>
          <a:p>
            <a:pPr algn="ctr">
              <a:lnSpc>
                <a:spcPct val="105000"/>
              </a:lnSpc>
              <a:spcBef>
                <a:spcPts val="150"/>
              </a:spcBef>
            </a:pPr>
            <a:r>
              <a:rPr sz="819" b="0" i="0">
                <a:solidFill>
                  <a:srgbClr val="CFDDF2"/>
                </a:solidFill>
                <a:latin typeface="Source Han Sans SC"/>
              </a:rPr>
              <a:t>五步法</a:t>
            </a:r>
          </a:p>
        </p:txBody>
      </p:sp>
      <p:sp>
        <p:nvSpPr>
          <p:cNvPr id="32" name="TextBox 31"/>
          <p:cNvSpPr txBox="1"/>
          <p:nvPr/>
        </p:nvSpPr>
        <p:spPr>
          <a:xfrm>
            <a:off x="2005200" y="4924799"/>
            <a:ext cx="3793859" cy="522832"/>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What is the correct order of the five steps?</a:t>
            </a:r>
          </a:p>
          <a:p>
            <a:pPr algn="l">
              <a:lnSpc>
                <a:spcPct val="105000"/>
              </a:lnSpc>
              <a:spcBef>
                <a:spcPts val="150"/>
              </a:spcBef>
            </a:pPr>
            <a:r>
              <a:rPr sz="900" b="0" i="0">
                <a:solidFill>
                  <a:srgbClr val="6B7280"/>
                </a:solidFill>
                <a:latin typeface="Source Han Sans SC"/>
              </a:rPr>
              <a:t>训练循环五步的正确顺序是？</a:t>
            </a:r>
          </a:p>
        </p:txBody>
      </p:sp>
      <p:sp>
        <p:nvSpPr>
          <p:cNvPr id="33" name="TextBox 32"/>
          <p:cNvSpPr txBox="1"/>
          <p:nvPr/>
        </p:nvSpPr>
        <p:spPr>
          <a:xfrm>
            <a:off x="997200" y="5536800"/>
            <a:ext cx="4801859" cy="770399"/>
          </a:xfrm>
          <a:prstGeom prst="rect">
            <a:avLst/>
          </a:prstGeom>
          <a:noFill/>
        </p:spPr>
        <p:txBody>
          <a:bodyPr wrap="square" anchor="t" lIns="0" rIns="0" tIns="0" bIns="0">
            <a:spAutoFit/>
          </a:bodyPr>
          <a:lstStyle/>
          <a:p>
            <a:pPr algn="l">
              <a:lnSpc>
                <a:spcPct val="134000"/>
              </a:lnSpc>
              <a:spcAft>
                <a:spcPts val="300"/>
              </a:spcAft>
            </a:pPr>
            <a:r>
              <a:rPr sz="760" b="0" i="0">
                <a:solidFill>
                  <a:srgbClr val="1F2937"/>
                </a:solidFill>
                <a:latin typeface="Source Han Sans SC"/>
              </a:rPr>
              <a:t>A. forward → zero → loss → backward → step</a:t>
            </a:r>
            <a:r>
              <a:rPr sz="800" b="0" i="0">
                <a:solidFill>
                  <a:srgbClr val="6B7280"/>
                </a:solidFill>
                <a:latin typeface="Source Han Sans SC"/>
              </a:rPr>
              <a:t> ｜ </a:t>
            </a:r>
            <a:r>
              <a:rPr sz="800" b="0" i="0">
                <a:solidFill>
                  <a:srgbClr val="6B7280"/>
                </a:solidFill>
                <a:latin typeface="Source Han Sans SC"/>
              </a:rPr>
              <a:t>A. 前向 → 清零 → 损失 → 反向 → 更新</a:t>
            </a:r>
          </a:p>
          <a:p>
            <a:pPr algn="l">
              <a:lnSpc>
                <a:spcPct val="134000"/>
              </a:lnSpc>
              <a:spcAft>
                <a:spcPts val="300"/>
              </a:spcAft>
            </a:pPr>
            <a:r>
              <a:rPr sz="760" b="0" i="0">
                <a:solidFill>
                  <a:srgbClr val="1F2937"/>
                </a:solidFill>
                <a:latin typeface="Source Han Sans SC"/>
              </a:rPr>
              <a:t>B. zero → forward → loss → backward → step</a:t>
            </a:r>
            <a:r>
              <a:rPr sz="800" b="0" i="0">
                <a:solidFill>
                  <a:srgbClr val="6B7280"/>
                </a:solidFill>
                <a:latin typeface="Source Han Sans SC"/>
              </a:rPr>
              <a:t> ｜ </a:t>
            </a:r>
            <a:r>
              <a:rPr sz="800" b="0" i="0">
                <a:solidFill>
                  <a:srgbClr val="6B7280"/>
                </a:solidFill>
                <a:latin typeface="Source Han Sans SC"/>
              </a:rPr>
              <a:t>B. 清零 → 前向 → 损失 → 反向 → 更新</a:t>
            </a:r>
          </a:p>
          <a:p>
            <a:pPr algn="l">
              <a:lnSpc>
                <a:spcPct val="134000"/>
              </a:lnSpc>
              <a:spcAft>
                <a:spcPts val="300"/>
              </a:spcAft>
            </a:pPr>
            <a:r>
              <a:rPr sz="760" b="0" i="0">
                <a:solidFill>
                  <a:srgbClr val="1F2937"/>
                </a:solidFill>
                <a:latin typeface="Source Han Sans SC"/>
              </a:rPr>
              <a:t>C. zero → loss → forward → step → backward</a:t>
            </a:r>
            <a:r>
              <a:rPr sz="800" b="0" i="0">
                <a:solidFill>
                  <a:srgbClr val="6B7280"/>
                </a:solidFill>
                <a:latin typeface="Source Han Sans SC"/>
              </a:rPr>
              <a:t> ｜ </a:t>
            </a:r>
            <a:r>
              <a:rPr sz="800" b="0" i="0">
                <a:solidFill>
                  <a:srgbClr val="6B7280"/>
                </a:solidFill>
                <a:latin typeface="Source Han Sans SC"/>
              </a:rPr>
              <a:t>C. 清零 → 损失 → 前向 → 更新 → 反向</a:t>
            </a:r>
          </a:p>
        </p:txBody>
      </p:sp>
      <p:sp>
        <p:nvSpPr>
          <p:cNvPr id="34" name="Rectangle 33"/>
          <p:cNvSpPr/>
          <p:nvPr/>
        </p:nvSpPr>
        <p:spPr>
          <a:xfrm>
            <a:off x="6195059" y="4762799"/>
            <a:ext cx="5197859" cy="1616399"/>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393059" y="4924799"/>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93059" y="4924799"/>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Batch size</a:t>
            </a:r>
          </a:p>
          <a:p>
            <a:pPr algn="ctr">
              <a:lnSpc>
                <a:spcPct val="105000"/>
              </a:lnSpc>
              <a:spcBef>
                <a:spcPts val="150"/>
              </a:spcBef>
            </a:pPr>
            <a:r>
              <a:rPr sz="819" b="0" i="0">
                <a:solidFill>
                  <a:srgbClr val="CFDDF2"/>
                </a:solidFill>
                <a:latin typeface="Source Han Sans SC"/>
              </a:rPr>
              <a:t>批大小</a:t>
            </a:r>
          </a:p>
        </p:txBody>
      </p:sp>
      <p:sp>
        <p:nvSpPr>
          <p:cNvPr id="37" name="TextBox 36"/>
          <p:cNvSpPr txBox="1"/>
          <p:nvPr/>
        </p:nvSpPr>
        <p:spPr>
          <a:xfrm>
            <a:off x="7401059" y="4924799"/>
            <a:ext cx="3793859" cy="747164"/>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Raising the batch size from 64 to 512 usually requires what?</a:t>
            </a:r>
          </a:p>
          <a:p>
            <a:pPr algn="l">
              <a:lnSpc>
                <a:spcPct val="105000"/>
              </a:lnSpc>
              <a:spcBef>
                <a:spcPts val="150"/>
              </a:spcBef>
            </a:pPr>
            <a:r>
              <a:rPr sz="900" b="0" i="0">
                <a:solidFill>
                  <a:srgbClr val="6B7280"/>
                </a:solidFill>
                <a:latin typeface="Source Han Sans SC"/>
              </a:rPr>
              <a:t>把批大小从 64 增加到 512，通常需要同时做什么？</a:t>
            </a:r>
          </a:p>
        </p:txBody>
      </p:sp>
      <p:sp>
        <p:nvSpPr>
          <p:cNvPr id="38" name="TextBox 37"/>
          <p:cNvSpPr txBox="1"/>
          <p:nvPr/>
        </p:nvSpPr>
        <p:spPr>
          <a:xfrm>
            <a:off x="6393059" y="5643164"/>
            <a:ext cx="4801859" cy="664035"/>
          </a:xfrm>
          <a:prstGeom prst="rect">
            <a:avLst/>
          </a:prstGeom>
          <a:noFill/>
        </p:spPr>
        <p:txBody>
          <a:bodyPr wrap="square" anchor="t" lIns="0" rIns="0" tIns="0" bIns="0">
            <a:spAutoFit/>
          </a:bodyPr>
          <a:lstStyle/>
          <a:p>
            <a:pPr algn="l">
              <a:lnSpc>
                <a:spcPct val="134000"/>
              </a:lnSpc>
              <a:spcAft>
                <a:spcPts val="300"/>
              </a:spcAft>
            </a:pPr>
            <a:r>
              <a:rPr sz="760" b="0" i="0">
                <a:solidFill>
                  <a:srgbClr val="1F2937"/>
                </a:solidFill>
                <a:latin typeface="Source Han Sans SC"/>
              </a:rPr>
              <a:t>A. Scale the learning rate up and check that VRAM fits</a:t>
            </a:r>
            <a:r>
              <a:rPr sz="800" b="0" i="0">
                <a:solidFill>
                  <a:srgbClr val="6B7280"/>
                </a:solidFill>
                <a:latin typeface="Source Han Sans SC"/>
              </a:rPr>
              <a:t> ｜ </a:t>
            </a:r>
            <a:r>
              <a:rPr sz="800" b="0" i="0">
                <a:solidFill>
                  <a:srgbClr val="6B7280"/>
                </a:solidFill>
                <a:latin typeface="Source Han Sans SC"/>
              </a:rPr>
              <a:t>A. 同步放大学习率，并注意显存是否够</a:t>
            </a:r>
          </a:p>
          <a:p>
            <a:pPr algn="l">
              <a:lnSpc>
                <a:spcPct val="134000"/>
              </a:lnSpc>
              <a:spcAft>
                <a:spcPts val="300"/>
              </a:spcAft>
            </a:pPr>
            <a:r>
              <a:rPr sz="760" b="0" i="0">
                <a:solidFill>
                  <a:srgbClr val="1F2937"/>
                </a:solidFill>
                <a:latin typeface="Source Han Sans SC"/>
              </a:rPr>
              <a:t>B. Scale the learning rate down</a:t>
            </a:r>
            <a:r>
              <a:rPr sz="800" b="0" i="0">
                <a:solidFill>
                  <a:srgbClr val="6B7280"/>
                </a:solidFill>
                <a:latin typeface="Source Han Sans SC"/>
              </a:rPr>
              <a:t> ｜ </a:t>
            </a:r>
            <a:r>
              <a:rPr sz="800" b="0" i="0">
                <a:solidFill>
                  <a:srgbClr val="6B7280"/>
                </a:solidFill>
                <a:latin typeface="Source Han Sans SC"/>
              </a:rPr>
              <a:t>B. 同步缩小学习率</a:t>
            </a:r>
          </a:p>
          <a:p>
            <a:pPr algn="l">
              <a:lnSpc>
                <a:spcPct val="134000"/>
              </a:lnSpc>
              <a:spcAft>
                <a:spcPts val="300"/>
              </a:spcAft>
            </a:pPr>
            <a:r>
              <a:rPr sz="760" b="0" i="0">
                <a:solidFill>
                  <a:srgbClr val="1F2937"/>
                </a:solidFill>
                <a:latin typeface="Source Han Sans SC"/>
              </a:rPr>
              <a:t>C. Unrelated to the lr; it only affects speed</a:t>
            </a:r>
            <a:r>
              <a:rPr sz="800" b="0" i="0">
                <a:solidFill>
                  <a:srgbClr val="6B7280"/>
                </a:solidFill>
                <a:latin typeface="Source Han Sans SC"/>
              </a:rPr>
              <a:t> ｜ </a:t>
            </a:r>
            <a:r>
              <a:rPr sz="800" b="0" i="0">
                <a:solidFill>
                  <a:srgbClr val="6B7280"/>
                </a:solidFill>
                <a:latin typeface="Source Han Sans SC"/>
              </a:rPr>
              <a:t>C. 与学习率无关，只影响速度</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Week 5 Summary</a:t>
            </a:r>
          </a:p>
          <a:p>
            <a:pPr algn="l">
              <a:lnSpc>
                <a:spcPct val="105000"/>
              </a:lnSpc>
              <a:spcBef>
                <a:spcPts val="150"/>
              </a:spcBef>
            </a:pPr>
            <a:r>
              <a:rPr sz="1210" b="0" i="0">
                <a:solidFill>
                  <a:srgbClr val="6B7280"/>
                </a:solidFill>
                <a:latin typeface="Source Han Sans SC"/>
              </a:rPr>
              <a:t>本周小结</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5</a:t>
            </a:r>
            <a:r>
              <a:rPr sz="800" b="0" i="0">
                <a:solidFill>
                  <a:srgbClr val="6B7280"/>
                </a:solidFill>
                <a:latin typeface="Source Han Sans SC"/>
              </a:rPr>
              <a:t> ｜ </a:t>
            </a:r>
            <a:r>
              <a:rPr sz="800" b="0" i="0">
                <a:solidFill>
                  <a:srgbClr val="6B7280"/>
                </a:solidFill>
                <a:latin typeface="Source Han Sans SC"/>
              </a:rPr>
              <a:t>模块二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30 / 31</a:t>
            </a:r>
          </a:p>
        </p:txBody>
      </p:sp>
      <p:sp>
        <p:nvSpPr>
          <p:cNvPr id="9" name="Rectangle 8"/>
          <p:cNvSpPr/>
          <p:nvPr/>
        </p:nvSpPr>
        <p:spPr>
          <a:xfrm>
            <a:off x="799200" y="1152000"/>
            <a:ext cx="6696000" cy="101089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52000"/>
            <a:ext cx="475200" cy="101089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99200" y="1531445"/>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1</a:t>
            </a:r>
          </a:p>
        </p:txBody>
      </p:sp>
      <p:sp>
        <p:nvSpPr>
          <p:cNvPr id="12" name="TextBox 11"/>
          <p:cNvSpPr txBox="1"/>
          <p:nvPr/>
        </p:nvSpPr>
        <p:spPr>
          <a:xfrm>
            <a:off x="1429200" y="1209600"/>
            <a:ext cx="5832000" cy="895690"/>
          </a:xfrm>
          <a:prstGeom prst="rect">
            <a:avLst/>
          </a:prstGeom>
          <a:noFill/>
        </p:spPr>
        <p:txBody>
          <a:bodyPr wrap="square" anchor="ctr" lIns="0" rIns="0" tIns="0" bIns="0">
            <a:spAutoFit/>
          </a:bodyPr>
          <a:lstStyle/>
          <a:p>
            <a:pPr algn="l">
              <a:lnSpc>
                <a:spcPct val="130000"/>
              </a:lnSpc>
            </a:pPr>
            <a:r>
              <a:rPr sz="950" b="0" i="0">
                <a:solidFill>
                  <a:srgbClr val="1F2937"/>
                </a:solidFill>
                <a:latin typeface="Source Han Sans SC"/>
              </a:rPr>
              <a:t>Pick the loss by task: CrossEntropyLoss for multi-class, BCEWithLogitsLoss for binary, MSELoss for regression; a "WithLogits" loss already contains the activation, so do not add another.</a:t>
            </a:r>
          </a:p>
          <a:p>
            <a:pPr algn="l">
              <a:lnSpc>
                <a:spcPct val="105000"/>
              </a:lnSpc>
              <a:spcBef>
                <a:spcPts val="150"/>
              </a:spcBef>
            </a:pPr>
            <a:r>
              <a:rPr sz="800" b="0" i="0">
                <a:solidFill>
                  <a:srgbClr val="6B7280"/>
                </a:solidFill>
                <a:latin typeface="Source Han Sans SC"/>
              </a:rPr>
              <a:t>损失函数按任务选：多分类 CrossEntropyLoss、二分类 BCEWithLogitsLoss、回归 MSELoss；带 Logits 字样的损失已内含激活，不要再手动加一层。</a:t>
            </a:r>
          </a:p>
        </p:txBody>
      </p:sp>
      <p:sp>
        <p:nvSpPr>
          <p:cNvPr id="13" name="Rectangle 12"/>
          <p:cNvSpPr/>
          <p:nvPr/>
        </p:nvSpPr>
        <p:spPr>
          <a:xfrm>
            <a:off x="799200" y="2198890"/>
            <a:ext cx="6696000" cy="101089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9200" y="2198890"/>
            <a:ext cx="475200" cy="101089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9200" y="2578335"/>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2</a:t>
            </a:r>
          </a:p>
        </p:txBody>
      </p:sp>
      <p:sp>
        <p:nvSpPr>
          <p:cNvPr id="16" name="TextBox 15"/>
          <p:cNvSpPr txBox="1"/>
          <p:nvPr/>
        </p:nvSpPr>
        <p:spPr>
          <a:xfrm>
            <a:off x="1429200" y="2256490"/>
            <a:ext cx="5832000" cy="895690"/>
          </a:xfrm>
          <a:prstGeom prst="rect">
            <a:avLst/>
          </a:prstGeom>
          <a:noFill/>
        </p:spPr>
        <p:txBody>
          <a:bodyPr wrap="square" anchor="ctr" lIns="0" rIns="0" tIns="0" bIns="0">
            <a:spAutoFit/>
          </a:bodyPr>
          <a:lstStyle/>
          <a:p>
            <a:pPr algn="l">
              <a:lnSpc>
                <a:spcPct val="130000"/>
              </a:lnSpc>
            </a:pPr>
            <a:r>
              <a:rPr sz="950" b="0" i="0">
                <a:solidFill>
                  <a:srgbClr val="1F2937"/>
                </a:solidFill>
                <a:latin typeface="Source Han Sans SC"/>
              </a:rPr>
              <a:t>The optimizer decides how you walk: SGD uses the current gradient, momentum adds inertia, Adam adapts per parameter; Adam converges faster but costs more VRAM.</a:t>
            </a:r>
          </a:p>
          <a:p>
            <a:pPr algn="l">
              <a:lnSpc>
                <a:spcPct val="105000"/>
              </a:lnSpc>
              <a:spcBef>
                <a:spcPts val="150"/>
              </a:spcBef>
            </a:pPr>
            <a:r>
              <a:rPr sz="800" b="0" i="0">
                <a:solidFill>
                  <a:srgbClr val="6B7280"/>
                </a:solidFill>
                <a:latin typeface="Source Han Sans SC"/>
              </a:rPr>
              <a:t>优化器决定怎么走：SGD 只看当前梯度、Momentum 累积惯性、Adam 每参数自适应步长；Adam 收敛更快但更吃显存。</a:t>
            </a:r>
          </a:p>
        </p:txBody>
      </p:sp>
      <p:sp>
        <p:nvSpPr>
          <p:cNvPr id="17" name="Rectangle 16"/>
          <p:cNvSpPr/>
          <p:nvPr/>
        </p:nvSpPr>
        <p:spPr>
          <a:xfrm>
            <a:off x="799200" y="3245781"/>
            <a:ext cx="6696000" cy="101089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99200" y="3245781"/>
            <a:ext cx="475200" cy="101089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99200" y="3625226"/>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3</a:t>
            </a:r>
          </a:p>
        </p:txBody>
      </p:sp>
      <p:sp>
        <p:nvSpPr>
          <p:cNvPr id="20" name="TextBox 19"/>
          <p:cNvSpPr txBox="1"/>
          <p:nvPr/>
        </p:nvSpPr>
        <p:spPr>
          <a:xfrm>
            <a:off x="1429200" y="3303381"/>
            <a:ext cx="5832000" cy="895690"/>
          </a:xfrm>
          <a:prstGeom prst="rect">
            <a:avLst/>
          </a:prstGeom>
          <a:noFill/>
        </p:spPr>
        <p:txBody>
          <a:bodyPr wrap="square" anchor="ctr" lIns="0" rIns="0" tIns="0" bIns="0">
            <a:spAutoFit/>
          </a:bodyPr>
          <a:lstStyle/>
          <a:p>
            <a:pPr algn="l">
              <a:lnSpc>
                <a:spcPct val="130000"/>
              </a:lnSpc>
            </a:pPr>
            <a:r>
              <a:rPr sz="950" b="0" i="0">
                <a:solidFill>
                  <a:srgbClr val="1F2937"/>
                </a:solidFill>
                <a:latin typeface="Source Han Sans SC"/>
              </a:rPr>
              <a:t>The learning rate is the first hyper-parameter: too large oscillates or explodes, too small barely moves; on a broken loss check it before reaching for warmup and decay.</a:t>
            </a:r>
          </a:p>
          <a:p>
            <a:pPr algn="l">
              <a:lnSpc>
                <a:spcPct val="105000"/>
              </a:lnSpc>
              <a:spcBef>
                <a:spcPts val="150"/>
              </a:spcBef>
            </a:pPr>
            <a:r>
              <a:rPr sz="800" b="0" i="0">
                <a:solidFill>
                  <a:srgbClr val="6B7280"/>
                </a:solidFill>
                <a:latin typeface="Source Han Sans SC"/>
              </a:rPr>
              <a:t>学习率是最重要的超参数：过大震荡爆炸，过小几乎不动；异常损失先查学习率，再考虑 warmup 与衰减策略。</a:t>
            </a:r>
          </a:p>
        </p:txBody>
      </p:sp>
      <p:sp>
        <p:nvSpPr>
          <p:cNvPr id="21" name="Rectangle 20"/>
          <p:cNvSpPr/>
          <p:nvPr/>
        </p:nvSpPr>
        <p:spPr>
          <a:xfrm>
            <a:off x="799200" y="4292671"/>
            <a:ext cx="6696000" cy="101089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99200" y="4292671"/>
            <a:ext cx="475200" cy="101089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99200" y="4672117"/>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4</a:t>
            </a:r>
          </a:p>
        </p:txBody>
      </p:sp>
      <p:sp>
        <p:nvSpPr>
          <p:cNvPr id="24" name="TextBox 23"/>
          <p:cNvSpPr txBox="1"/>
          <p:nvPr/>
        </p:nvSpPr>
        <p:spPr>
          <a:xfrm>
            <a:off x="1429200" y="4350271"/>
            <a:ext cx="5832000" cy="895690"/>
          </a:xfrm>
          <a:prstGeom prst="rect">
            <a:avLst/>
          </a:prstGeom>
          <a:noFill/>
        </p:spPr>
        <p:txBody>
          <a:bodyPr wrap="square" anchor="ctr" lIns="0" rIns="0" tIns="0" bIns="0">
            <a:spAutoFit/>
          </a:bodyPr>
          <a:lstStyle/>
          <a:p>
            <a:pPr algn="l">
              <a:lnSpc>
                <a:spcPct val="130000"/>
              </a:lnSpc>
            </a:pPr>
            <a:r>
              <a:rPr sz="950" b="0" i="0">
                <a:solidFill>
                  <a:srgbClr val="1F2937"/>
                </a:solidFill>
                <a:latin typeface="Source Han Sans SC"/>
              </a:rPr>
              <a:t>The five-step loop: zero grads, forward, loss, backward, step. The order is not interchangeable and step 1 is the one most often dropped.</a:t>
            </a:r>
          </a:p>
          <a:p>
            <a:pPr algn="l">
              <a:lnSpc>
                <a:spcPct val="105000"/>
              </a:lnSpc>
              <a:spcBef>
                <a:spcPts val="150"/>
              </a:spcBef>
            </a:pPr>
            <a:r>
              <a:rPr sz="800" b="0" i="0">
                <a:solidFill>
                  <a:srgbClr val="6B7280"/>
                </a:solidFill>
                <a:latin typeface="Source Han Sans SC"/>
              </a:rPr>
              <a:t>训练循环五步法：清零梯度 → 前向 → 计算损失 → 反向 → 更新参数。顺序不可交换，第 1 步最常被漏掉。</a:t>
            </a:r>
          </a:p>
        </p:txBody>
      </p:sp>
      <p:sp>
        <p:nvSpPr>
          <p:cNvPr id="25" name="Rectangle 24"/>
          <p:cNvSpPr/>
          <p:nvPr/>
        </p:nvSpPr>
        <p:spPr>
          <a:xfrm>
            <a:off x="799200" y="5339562"/>
            <a:ext cx="6696000" cy="101089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99200" y="5339562"/>
            <a:ext cx="475200" cy="101089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99200" y="5719007"/>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5</a:t>
            </a:r>
          </a:p>
        </p:txBody>
      </p:sp>
      <p:sp>
        <p:nvSpPr>
          <p:cNvPr id="28" name="TextBox 27"/>
          <p:cNvSpPr txBox="1"/>
          <p:nvPr/>
        </p:nvSpPr>
        <p:spPr>
          <a:xfrm>
            <a:off x="1429200" y="5397162"/>
            <a:ext cx="5832000" cy="895690"/>
          </a:xfrm>
          <a:prstGeom prst="rect">
            <a:avLst/>
          </a:prstGeom>
          <a:noFill/>
        </p:spPr>
        <p:txBody>
          <a:bodyPr wrap="square" anchor="ctr" lIns="0" rIns="0" tIns="0" bIns="0">
            <a:spAutoFit/>
          </a:bodyPr>
          <a:lstStyle/>
          <a:p>
            <a:pPr algn="l">
              <a:lnSpc>
                <a:spcPct val="130000"/>
              </a:lnSpc>
            </a:pPr>
            <a:r>
              <a:rPr sz="950" b="0" i="0">
                <a:solidFill>
                  <a:srgbClr val="1F2937"/>
                </a:solidFill>
                <a:latin typeface="Source Han Sans SC"/>
              </a:rPr>
              <a:t>Experiments must leave evidence: log train/val loss and accuracy per epoch, change one variable at a time, and justify the winning combo with comparison data.</a:t>
            </a:r>
          </a:p>
          <a:p>
            <a:pPr algn="l">
              <a:lnSpc>
                <a:spcPct val="105000"/>
              </a:lnSpc>
              <a:spcBef>
                <a:spcPts val="150"/>
              </a:spcBef>
            </a:pPr>
            <a:r>
              <a:rPr sz="800" b="0" i="0">
                <a:solidFill>
                  <a:srgbClr val="6B7280"/>
                </a:solidFill>
                <a:latin typeface="Source Han Sans SC"/>
              </a:rPr>
              <a:t>实验要留证据：每个 epoch 记录 train/val 损失与准确率，一次只改一个变量，最优组合必须用对照数据论证。</a:t>
            </a:r>
          </a:p>
        </p:txBody>
      </p:sp>
      <p:sp>
        <p:nvSpPr>
          <p:cNvPr id="29" name="Rectangle 28"/>
          <p:cNvSpPr/>
          <p:nvPr/>
        </p:nvSpPr>
        <p:spPr>
          <a:xfrm>
            <a:off x="7801200" y="1152000"/>
            <a:ext cx="3591719" cy="48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017200" y="1267199"/>
            <a:ext cx="3159719" cy="216000"/>
          </a:xfrm>
          <a:prstGeom prst="rect">
            <a:avLst/>
          </a:prstGeom>
          <a:noFill/>
        </p:spPr>
        <p:txBody>
          <a:bodyPr wrap="square" anchor="t" lIns="0" rIns="0" tIns="0" bIns="0">
            <a:spAutoFit/>
          </a:bodyPr>
          <a:lstStyle/>
          <a:p>
            <a:pPr algn="l">
              <a:lnSpc>
                <a:spcPct val="125000"/>
              </a:lnSpc>
            </a:pPr>
            <a:r>
              <a:rPr sz="1400" b="1" i="0">
                <a:solidFill>
                  <a:srgbClr val="FFFFFF"/>
                </a:solidFill>
                <a:latin typeface="Source Han Sans SC"/>
              </a:rPr>
              <a:t>After Class</a:t>
            </a:r>
            <a:r>
              <a:rPr sz="1090" b="0" i="0">
                <a:solidFill>
                  <a:srgbClr val="CFDDF2"/>
                </a:solidFill>
                <a:latin typeface="Source Han Sans SC"/>
              </a:rPr>
              <a:t> ｜ </a:t>
            </a:r>
            <a:r>
              <a:rPr sz="1090" b="0" i="0">
                <a:solidFill>
                  <a:srgbClr val="CFDDF2"/>
                </a:solidFill>
                <a:latin typeface="Source Han Sans SC"/>
              </a:rPr>
              <a:t>课后待办</a:t>
            </a:r>
          </a:p>
        </p:txBody>
      </p:sp>
      <p:sp>
        <p:nvSpPr>
          <p:cNvPr id="31" name="Rectangle 30"/>
          <p:cNvSpPr/>
          <p:nvPr/>
        </p:nvSpPr>
        <p:spPr>
          <a:xfrm>
            <a:off x="7801200" y="1818000"/>
            <a:ext cx="3591719" cy="14483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017200" y="1947600"/>
            <a:ext cx="3159719" cy="216000"/>
          </a:xfrm>
          <a:prstGeom prst="rect">
            <a:avLst/>
          </a:prstGeom>
          <a:noFill/>
        </p:spPr>
        <p:txBody>
          <a:bodyPr wrap="square" anchor="t" lIns="0" rIns="0" tIns="0" bIns="0">
            <a:spAutoFit/>
          </a:bodyPr>
          <a:lstStyle/>
          <a:p>
            <a:pPr algn="l">
              <a:lnSpc>
                <a:spcPct val="125000"/>
              </a:lnSpc>
            </a:pPr>
            <a:r>
              <a:rPr sz="1050" b="1" i="0">
                <a:solidFill>
                  <a:srgbClr val="0E3F8C"/>
                </a:solidFill>
                <a:latin typeface="Source Han Sans SC"/>
              </a:rPr>
              <a:t>Finish the Lab 4 deliverables</a:t>
            </a:r>
            <a:r>
              <a:rPr sz="819" b="0" i="0">
                <a:solidFill>
                  <a:srgbClr val="6B7280"/>
                </a:solidFill>
                <a:latin typeface="Source Han Sans SC"/>
              </a:rPr>
              <a:t> ｜ </a:t>
            </a:r>
            <a:r>
              <a:rPr sz="819" b="0" i="0">
                <a:solidFill>
                  <a:srgbClr val="6B7280"/>
                </a:solidFill>
                <a:latin typeface="Source Han Sans SC"/>
              </a:rPr>
              <a:t>完成实验 4 交付物</a:t>
            </a:r>
          </a:p>
        </p:txBody>
      </p:sp>
      <p:sp>
        <p:nvSpPr>
          <p:cNvPr id="33" name="TextBox 32"/>
          <p:cNvSpPr txBox="1"/>
          <p:nvPr/>
        </p:nvSpPr>
        <p:spPr>
          <a:xfrm>
            <a:off x="8017200" y="2374048"/>
            <a:ext cx="3159719" cy="838351"/>
          </a:xfrm>
          <a:prstGeom prst="rect">
            <a:avLst/>
          </a:prstGeom>
          <a:noFill/>
        </p:spPr>
        <p:txBody>
          <a:bodyPr wrap="square" anchor="t" lIns="0" rIns="0" tIns="0" bIns="0">
            <a:spAutoFit/>
          </a:bodyPr>
          <a:lstStyle/>
          <a:p>
            <a:pPr algn="l">
              <a:lnSpc>
                <a:spcPct val="130000"/>
              </a:lnSpc>
            </a:pPr>
            <a:r>
              <a:rPr sz="800" b="0" i="0">
                <a:solidFill>
                  <a:srgbClr val="6B7280"/>
                </a:solidFill>
                <a:latin typeface="Source Han Sans SC"/>
              </a:rPr>
              <a:t>Training script, the 3x3 hyper-parameter table, loss/accuracy curves, and one "does not converge" debugging log.</a:t>
            </a:r>
          </a:p>
          <a:p>
            <a:pPr algn="l">
              <a:lnSpc>
                <a:spcPct val="105000"/>
              </a:lnSpc>
              <a:spcBef>
                <a:spcPts val="150"/>
              </a:spcBef>
            </a:pPr>
            <a:r>
              <a:rPr sz="800" b="0" i="0">
                <a:solidFill>
                  <a:srgbClr val="6B7280"/>
                </a:solidFill>
                <a:latin typeface="Source Han Sans SC"/>
              </a:rPr>
              <a:t>训练脚本、3×3 超参数对照表、损失/准确率曲线图、一次「训练不收敛」的排查记录。</a:t>
            </a:r>
          </a:p>
        </p:txBody>
      </p:sp>
      <p:sp>
        <p:nvSpPr>
          <p:cNvPr id="34" name="Rectangle 33"/>
          <p:cNvSpPr/>
          <p:nvPr/>
        </p:nvSpPr>
        <p:spPr>
          <a:xfrm>
            <a:off x="7801200" y="3374399"/>
            <a:ext cx="3591719" cy="14483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17200" y="3503999"/>
            <a:ext cx="3159719" cy="216000"/>
          </a:xfrm>
          <a:prstGeom prst="rect">
            <a:avLst/>
          </a:prstGeom>
          <a:noFill/>
        </p:spPr>
        <p:txBody>
          <a:bodyPr wrap="square" anchor="t" lIns="0" rIns="0" tIns="0" bIns="0">
            <a:spAutoFit/>
          </a:bodyPr>
          <a:lstStyle/>
          <a:p>
            <a:pPr algn="l">
              <a:lnSpc>
                <a:spcPct val="125000"/>
              </a:lnSpc>
            </a:pPr>
            <a:r>
              <a:rPr sz="1050" b="1" i="0">
                <a:solidFill>
                  <a:srgbClr val="0E3F8C"/>
                </a:solidFill>
                <a:latin typeface="Source Han Sans SC"/>
              </a:rPr>
              <a:t>Write one AI collaboration trace</a:t>
            </a:r>
            <a:r>
              <a:rPr sz="819" b="0" i="0">
                <a:solidFill>
                  <a:srgbClr val="6B7280"/>
                </a:solidFill>
                <a:latin typeface="Source Han Sans SC"/>
              </a:rPr>
              <a:t> ｜ </a:t>
            </a:r>
            <a:r>
              <a:rPr sz="819" b="0" i="0">
                <a:solidFill>
                  <a:srgbClr val="6B7280"/>
                </a:solidFill>
                <a:latin typeface="Source Han Sans SC"/>
              </a:rPr>
              <a:t>写一条 AI 协同记录</a:t>
            </a:r>
          </a:p>
        </p:txBody>
      </p:sp>
      <p:sp>
        <p:nvSpPr>
          <p:cNvPr id="36" name="TextBox 35"/>
          <p:cNvSpPr txBox="1"/>
          <p:nvPr/>
        </p:nvSpPr>
        <p:spPr>
          <a:xfrm>
            <a:off x="8017200" y="3930448"/>
            <a:ext cx="3159719" cy="838351"/>
          </a:xfrm>
          <a:prstGeom prst="rect">
            <a:avLst/>
          </a:prstGeom>
          <a:noFill/>
        </p:spPr>
        <p:txBody>
          <a:bodyPr wrap="square" anchor="t" lIns="0" rIns="0" tIns="0" bIns="0">
            <a:spAutoFit/>
          </a:bodyPr>
          <a:lstStyle/>
          <a:p>
            <a:pPr algn="l">
              <a:lnSpc>
                <a:spcPct val="130000"/>
              </a:lnSpc>
            </a:pPr>
            <a:r>
              <a:rPr sz="800" b="0" i="0">
                <a:solidFill>
                  <a:srgbClr val="6B7280"/>
                </a:solidFill>
                <a:latin typeface="Source Han Sans SC"/>
              </a:rPr>
              <a:t>Record one hyper-parameter suggestion from AI, what your run showed, and which part of it had no basis.</a:t>
            </a:r>
          </a:p>
          <a:p>
            <a:pPr algn="l">
              <a:lnSpc>
                <a:spcPct val="105000"/>
              </a:lnSpc>
              <a:spcBef>
                <a:spcPts val="150"/>
              </a:spcBef>
            </a:pPr>
            <a:r>
              <a:rPr sz="800" b="0" i="0">
                <a:solidFill>
                  <a:srgbClr val="6B7280"/>
                </a:solidFill>
                <a:latin typeface="Source Han Sans SC"/>
              </a:rPr>
              <a:t>记录 AI 给的一条超参数建议，写明你的验证结果，以及它的哪一部分缺乏依据。</a:t>
            </a:r>
          </a:p>
        </p:txBody>
      </p:sp>
      <p:sp>
        <p:nvSpPr>
          <p:cNvPr id="37" name="Rectangle 36"/>
          <p:cNvSpPr/>
          <p:nvPr/>
        </p:nvSpPr>
        <p:spPr>
          <a:xfrm>
            <a:off x="7801200" y="4930800"/>
            <a:ext cx="3591719" cy="14483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017200" y="5060399"/>
            <a:ext cx="3159719" cy="216000"/>
          </a:xfrm>
          <a:prstGeom prst="rect">
            <a:avLst/>
          </a:prstGeom>
          <a:noFill/>
        </p:spPr>
        <p:txBody>
          <a:bodyPr wrap="square" anchor="t" lIns="0" rIns="0" tIns="0" bIns="0">
            <a:spAutoFit/>
          </a:bodyPr>
          <a:lstStyle/>
          <a:p>
            <a:pPr algn="l">
              <a:lnSpc>
                <a:spcPct val="125000"/>
              </a:lnSpc>
            </a:pPr>
            <a:r>
              <a:rPr sz="1050" b="1" i="0">
                <a:solidFill>
                  <a:srgbClr val="0E3F8C"/>
                </a:solidFill>
                <a:latin typeface="Source Han Sans SC"/>
              </a:rPr>
              <a:t>Preview W6: regularisation and generalisation</a:t>
            </a:r>
            <a:r>
              <a:rPr sz="819" b="0" i="0">
                <a:solidFill>
                  <a:srgbClr val="6B7280"/>
                </a:solidFill>
                <a:latin typeface="Source Han Sans SC"/>
              </a:rPr>
              <a:t> ｜ </a:t>
            </a:r>
            <a:r>
              <a:rPr sz="819" b="0" i="0">
                <a:solidFill>
                  <a:srgbClr val="6B7280"/>
                </a:solidFill>
                <a:latin typeface="Source Han Sans SC"/>
              </a:rPr>
              <a:t>预习 W6：正则化与泛化</a:t>
            </a:r>
          </a:p>
        </p:txBody>
      </p:sp>
      <p:sp>
        <p:nvSpPr>
          <p:cNvPr id="39" name="TextBox 38"/>
          <p:cNvSpPr txBox="1"/>
          <p:nvPr/>
        </p:nvSpPr>
        <p:spPr>
          <a:xfrm>
            <a:off x="8017200" y="5486848"/>
            <a:ext cx="3159719" cy="838351"/>
          </a:xfrm>
          <a:prstGeom prst="rect">
            <a:avLst/>
          </a:prstGeom>
          <a:noFill/>
        </p:spPr>
        <p:txBody>
          <a:bodyPr wrap="square" anchor="t" lIns="0" rIns="0" tIns="0" bIns="0">
            <a:spAutoFit/>
          </a:bodyPr>
          <a:lstStyle/>
          <a:p>
            <a:pPr algn="l">
              <a:lnSpc>
                <a:spcPct val="130000"/>
              </a:lnSpc>
            </a:pPr>
            <a:r>
              <a:rPr sz="800" b="0" i="0">
                <a:solidFill>
                  <a:srgbClr val="6B7280"/>
                </a:solidFill>
                <a:latin typeface="Source Han Sans SC"/>
              </a:rPr>
              <a:t>Dropout, weight decay and early stopping — making this week's training loop steadier and less prone to overfitting.</a:t>
            </a:r>
          </a:p>
          <a:p>
            <a:pPr algn="l">
              <a:lnSpc>
                <a:spcPct val="105000"/>
              </a:lnSpc>
              <a:spcBef>
                <a:spcPts val="150"/>
              </a:spcBef>
            </a:pPr>
            <a:r>
              <a:rPr sz="800" b="0" i="0">
                <a:solidFill>
                  <a:srgbClr val="6B7280"/>
                </a:solidFill>
                <a:latin typeface="Source Han Sans SC"/>
              </a:rPr>
              <a:t>Dropout、权重衰减与早停——让本周的训练循环更稳、更不容易过拟合。</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05</a:t>
            </a:r>
          </a:p>
        </p:txBody>
      </p:sp>
      <p:sp>
        <p:nvSpPr>
          <p:cNvPr id="5" name="Rectangle 4"/>
          <p:cNvSpPr/>
          <p:nvPr/>
        </p:nvSpPr>
        <p:spPr>
          <a:xfrm>
            <a:off x="856800" y="936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1029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W5</a:t>
            </a:r>
          </a:p>
        </p:txBody>
      </p:sp>
      <p:sp>
        <p:nvSpPr>
          <p:cNvPr id="7" name="Rectangle 6"/>
          <p:cNvSpPr/>
          <p:nvPr/>
        </p:nvSpPr>
        <p:spPr>
          <a:xfrm>
            <a:off x="799200" y="15840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908000"/>
            <a:ext cx="8640000" cy="1756389"/>
          </a:xfrm>
          <a:prstGeom prst="rect">
            <a:avLst/>
          </a:prstGeom>
          <a:noFill/>
        </p:spPr>
        <p:txBody>
          <a:bodyPr wrap="square" anchor="t" lIns="0" rIns="0" tIns="0" bIns="0">
            <a:spAutoFit/>
          </a:bodyPr>
          <a:lstStyle/>
          <a:p>
            <a:pPr algn="l">
              <a:lnSpc>
                <a:spcPct val="130000"/>
              </a:lnSpc>
            </a:pPr>
            <a:r>
              <a:rPr sz="2300" b="1" i="0">
                <a:solidFill>
                  <a:srgbClr val="0E3F8C"/>
                </a:solidFill>
                <a:latin typeface="Source Han Sans SC"/>
              </a:rPr>
              <a:t>"Tuning is not luck;</a:t>
            </a:r>
          </a:p>
          <a:p>
            <a:pPr algn="l">
              <a:lnSpc>
                <a:spcPct val="130000"/>
              </a:lnSpc>
            </a:pPr>
            <a:r>
              <a:rPr sz="2300" b="1" i="0">
                <a:solidFill>
                  <a:srgbClr val="0E3F8C"/>
                </a:solidFill>
                <a:latin typeface="Source Han Sans SC"/>
              </a:rPr>
              <a:t>it is experimental design."</a:t>
            </a:r>
          </a:p>
          <a:p>
            <a:pPr algn="l">
              <a:lnSpc>
                <a:spcPct val="105000"/>
              </a:lnSpc>
              <a:spcBef>
                <a:spcPts val="150"/>
              </a:spcBef>
            </a:pPr>
            <a:r>
              <a:rPr sz="1789" b="0" i="0">
                <a:solidFill>
                  <a:srgbClr val="6B7280"/>
                </a:solidFill>
                <a:latin typeface="Source Han Sans SC"/>
              </a:rPr>
              <a:t>「调参不是碰运气，</a:t>
            </a:r>
          </a:p>
          <a:p>
            <a:pPr algn="l">
              <a:lnSpc>
                <a:spcPct val="105000"/>
              </a:lnSpc>
              <a:spcBef>
                <a:spcPts val="150"/>
              </a:spcBef>
            </a:pPr>
            <a:r>
              <a:rPr sz="1789" b="0" i="0">
                <a:solidFill>
                  <a:srgbClr val="6B7280"/>
                </a:solidFill>
                <a:latin typeface="Source Han Sans SC"/>
              </a:rPr>
              <a:t>是有依据的实验设计。」</a:t>
            </a:r>
          </a:p>
        </p:txBody>
      </p:sp>
      <p:sp>
        <p:nvSpPr>
          <p:cNvPr id="9" name="TextBox 8"/>
          <p:cNvSpPr txBox="1"/>
          <p:nvPr/>
        </p:nvSpPr>
        <p:spPr>
          <a:xfrm>
            <a:off x="799200" y="3628389"/>
            <a:ext cx="8640000" cy="432000"/>
          </a:xfrm>
          <a:prstGeom prst="rect">
            <a:avLst/>
          </a:prstGeom>
          <a:noFill/>
        </p:spPr>
        <p:txBody>
          <a:bodyPr wrap="square" anchor="t" lIns="0" rIns="0" tIns="0" bIns="0">
            <a:spAutoFit/>
          </a:bodyPr>
          <a:lstStyle/>
          <a:p>
            <a:pPr algn="l">
              <a:lnSpc>
                <a:spcPct val="125000"/>
              </a:lnSpc>
            </a:pPr>
            <a:r>
              <a:rPr sz="1200" b="0" i="0">
                <a:solidFill>
                  <a:srgbClr val="6B7280"/>
                </a:solidFill>
                <a:latin typeface="Source Han Sans SC"/>
              </a:rPr>
              <a:t>This week you deliver: a working training loop + a 3x3 comparison table + one debugging log.</a:t>
            </a:r>
          </a:p>
          <a:p>
            <a:pPr algn="l">
              <a:lnSpc>
                <a:spcPct val="105000"/>
              </a:lnSpc>
              <a:spcBef>
                <a:spcPts val="150"/>
              </a:spcBef>
            </a:pPr>
            <a:r>
              <a:rPr sz="940" b="0" i="0">
                <a:solidFill>
                  <a:srgbClr val="6B7280"/>
                </a:solidFill>
                <a:latin typeface="Source Han Sans SC"/>
              </a:rPr>
              <a:t>本周交付：能跑通的训练循环 + 一张 3×3 对照表 + 一份不收敛的排查记录。</a:t>
            </a:r>
          </a:p>
        </p:txBody>
      </p:sp>
      <p:sp>
        <p:nvSpPr>
          <p:cNvPr id="10" name="TextBox 9"/>
          <p:cNvSpPr txBox="1"/>
          <p:nvPr/>
        </p:nvSpPr>
        <p:spPr>
          <a:xfrm>
            <a:off x="799200" y="4190252"/>
            <a:ext cx="7920000" cy="360000"/>
          </a:xfrm>
          <a:prstGeom prst="rect">
            <a:avLst/>
          </a:prstGeom>
          <a:noFill/>
        </p:spPr>
        <p:txBody>
          <a:bodyPr wrap="square" anchor="t" lIns="0" rIns="0" tIns="0" bIns="0">
            <a:spAutoFit/>
          </a:bodyPr>
          <a:lstStyle/>
          <a:p>
            <a:pPr algn="l">
              <a:lnSpc>
                <a:spcPct val="125000"/>
              </a:lnSpc>
            </a:pPr>
            <a:r>
              <a:rPr sz="1900" b="1" i="0">
                <a:solidFill>
                  <a:srgbClr val="1F2937"/>
                </a:solidFill>
                <a:latin typeface="Source Han Sans SC"/>
              </a:rPr>
              <a:t>Thank you</a:t>
            </a:r>
          </a:p>
          <a:p>
            <a:pPr algn="l">
              <a:lnSpc>
                <a:spcPct val="105000"/>
              </a:lnSpc>
              <a:spcBef>
                <a:spcPts val="150"/>
              </a:spcBef>
            </a:pPr>
            <a:r>
              <a:rPr sz="1480" b="0" i="0">
                <a:solidFill>
                  <a:srgbClr val="6B7280"/>
                </a:solidFill>
                <a:latin typeface="Source Han Sans SC"/>
              </a:rPr>
              <a:t>谢谢大家</a:t>
            </a:r>
          </a:p>
        </p:txBody>
      </p:sp>
      <p:sp>
        <p:nvSpPr>
          <p:cNvPr id="11" name="Rectangle 10"/>
          <p:cNvSpPr/>
          <p:nvPr/>
        </p:nvSpPr>
        <p:spPr>
          <a:xfrm>
            <a:off x="799200" y="4946713"/>
            <a:ext cx="10593719" cy="818507"/>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200" y="5054713"/>
            <a:ext cx="10089720" cy="291167"/>
          </a:xfrm>
          <a:prstGeom prst="rect">
            <a:avLst/>
          </a:prstGeom>
          <a:noFill/>
        </p:spPr>
        <p:txBody>
          <a:bodyPr wrap="square" anchor="t" lIns="0" rIns="0" tIns="0" bIns="0">
            <a:spAutoFit/>
          </a:bodyPr>
          <a:lstStyle/>
          <a:p>
            <a:pPr algn="l">
              <a:lnSpc>
                <a:spcPct val="125000"/>
              </a:lnSpc>
            </a:pPr>
            <a:r>
              <a:rPr sz="1100" b="1" i="0">
                <a:solidFill>
                  <a:srgbClr val="1E4FA8"/>
                </a:solidFill>
                <a:latin typeface="Source Han Sans SC"/>
              </a:rPr>
              <a:t>Next week</a:t>
            </a:r>
            <a:r>
              <a:rPr sz="860" b="0" i="0">
                <a:solidFill>
                  <a:srgbClr val="6B7280"/>
                </a:solidFill>
                <a:latin typeface="Source Han Sans SC"/>
              </a:rPr>
              <a:t> ｜ </a:t>
            </a:r>
            <a:r>
              <a:rPr sz="860" b="0" i="0">
                <a:solidFill>
                  <a:srgbClr val="6B7280"/>
                </a:solidFill>
                <a:latin typeface="Source Han Sans SC"/>
              </a:rPr>
              <a:t>下周预告</a:t>
            </a:r>
          </a:p>
        </p:txBody>
      </p:sp>
      <p:sp>
        <p:nvSpPr>
          <p:cNvPr id="13" name="TextBox 12"/>
          <p:cNvSpPr txBox="1"/>
          <p:nvPr/>
        </p:nvSpPr>
        <p:spPr>
          <a:xfrm>
            <a:off x="1051200" y="5306281"/>
            <a:ext cx="10089720" cy="458939"/>
          </a:xfrm>
          <a:prstGeom prst="rect">
            <a:avLst/>
          </a:prstGeom>
          <a:noFill/>
        </p:spPr>
        <p:txBody>
          <a:bodyPr wrap="square" anchor="t" lIns="0" rIns="0" tIns="0" bIns="0">
            <a:spAutoFit/>
          </a:bodyPr>
          <a:lstStyle/>
          <a:p>
            <a:pPr algn="l">
              <a:lnSpc>
                <a:spcPct val="125000"/>
              </a:lnSpc>
            </a:pPr>
            <a:r>
              <a:rPr sz="980" b="0" i="0">
                <a:solidFill>
                  <a:srgbClr val="0E3F8C"/>
                </a:solidFill>
                <a:latin typeface="Source Han Sans SC"/>
              </a:rPr>
              <a:t>W6 · Regularisation and generalisation: Dropout, weight decay and early stopping — keeping this week's model steady on data it has never seen.</a:t>
            </a:r>
          </a:p>
          <a:p>
            <a:pPr algn="l">
              <a:lnSpc>
                <a:spcPct val="105000"/>
              </a:lnSpc>
              <a:spcBef>
                <a:spcPts val="150"/>
              </a:spcBef>
            </a:pPr>
            <a:r>
              <a:rPr sz="800" b="0" i="0">
                <a:solidFill>
                  <a:srgbClr val="6B7280"/>
                </a:solidFill>
                <a:latin typeface="Source Han Sans SC"/>
              </a:rPr>
              <a:t>W6 · 正则化与泛化：Dropout、权重衰减与早停 —— 让本周训练好的模型，在没见过的数据上一样稳。</a:t>
            </a:r>
          </a:p>
        </p:txBody>
      </p:sp>
      <p:sp>
        <p:nvSpPr>
          <p:cNvPr id="14" name="TextBox 13"/>
          <p:cNvSpPr txBox="1"/>
          <p:nvPr/>
        </p:nvSpPr>
        <p:spPr>
          <a:xfrm>
            <a:off x="799200" y="6494400"/>
            <a:ext cx="720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 Lecture · 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