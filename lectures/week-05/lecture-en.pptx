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x="1219211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lr = 1e-1 (too large)</c:v>
                </c:pt>
              </c:strCache>
            </c:strRef>
          </c:tx>
          <c:spPr>
            <a:ln w="31750">
              <a:solidFill>
                <a:srgbClr val="B91C1C"/>
              </a:solidFill>
            </a:ln>
          </c:spPr>
          <c:cat>
            <c:strRef>
              <c:f>Sheet1!$A$2:$A$11</c:f>
              <c:strCache>
                <c:ptCount val="10"/>
                <c:pt idx="0">
                  <c:v>1</c:v>
                </c:pt>
                <c:pt idx="1">
                  <c:v>2</c:v>
                </c:pt>
                <c:pt idx="2">
                  <c:v>3</c:v>
                </c:pt>
                <c:pt idx="3">
                  <c:v>4</c:v>
                </c:pt>
                <c:pt idx="4">
                  <c:v>5</c:v>
                </c:pt>
                <c:pt idx="5">
                  <c:v>6</c:v>
                </c:pt>
                <c:pt idx="6">
                  <c:v>7</c:v>
                </c:pt>
                <c:pt idx="7">
                  <c:v>8</c:v>
                </c:pt>
                <c:pt idx="8">
                  <c:v>9</c:v>
                </c:pt>
                <c:pt idx="9">
                  <c:v>10</c:v>
                </c:pt>
              </c:strCache>
            </c:strRef>
          </c:cat>
          <c:val>
            <c:numRef>
              <c:f>Sheet1!$B$2:$B$11</c:f>
              <c:numCache>
                <c:formatCode>General</c:formatCode>
                <c:ptCount val="10"/>
                <c:pt idx="0">
                  <c:v>2.3</c:v>
                </c:pt>
                <c:pt idx="1">
                  <c:v>2.58</c:v>
                </c:pt>
                <c:pt idx="2">
                  <c:v>2.09</c:v>
                </c:pt>
                <c:pt idx="3">
                  <c:v>2.64</c:v>
                </c:pt>
                <c:pt idx="4">
                  <c:v>2.04</c:v>
                </c:pt>
                <c:pt idx="5">
                  <c:v>2.71</c:v>
                </c:pt>
                <c:pt idx="6">
                  <c:v>2.16</c:v>
                </c:pt>
                <c:pt idx="7">
                  <c:v>2.56</c:v>
                </c:pt>
                <c:pt idx="8">
                  <c:v>2.22</c:v>
                </c:pt>
                <c:pt idx="9">
                  <c:v>2.67</c:v>
                </c:pt>
              </c:numCache>
            </c:numRef>
          </c:val>
          <c:smooth/>
        </c:ser>
        <c:ser>
          <c:idx val="1"/>
          <c:order val="1"/>
          <c:tx>
            <c:strRef>
              <c:f>Sheet1!$C$1</c:f>
              <c:strCache>
                <c:ptCount val="1"/>
                <c:pt idx="0">
                  <c:v>lr = 1e-3 (about right)</c:v>
                </c:pt>
              </c:strCache>
            </c:strRef>
          </c:tx>
          <c:spPr>
            <a:ln w="22225">
              <a:solidFill>
                <a:srgbClr val="059669"/>
              </a:solidFill>
            </a:ln>
          </c:spPr>
          <c:cat>
            <c:strRef>
              <c:f>Sheet1!$A$2:$A$11</c:f>
              <c:strCache>
                <c:ptCount val="10"/>
                <c:pt idx="0">
                  <c:v>1</c:v>
                </c:pt>
                <c:pt idx="1">
                  <c:v>2</c:v>
                </c:pt>
                <c:pt idx="2">
                  <c:v>3</c:v>
                </c:pt>
                <c:pt idx="3">
                  <c:v>4</c:v>
                </c:pt>
                <c:pt idx="4">
                  <c:v>5</c:v>
                </c:pt>
                <c:pt idx="5">
                  <c:v>6</c:v>
                </c:pt>
                <c:pt idx="6">
                  <c:v>7</c:v>
                </c:pt>
                <c:pt idx="7">
                  <c:v>8</c:v>
                </c:pt>
                <c:pt idx="8">
                  <c:v>9</c:v>
                </c:pt>
                <c:pt idx="9">
                  <c:v>10</c:v>
                </c:pt>
              </c:strCache>
            </c:strRef>
          </c:cat>
          <c:val>
            <c:numRef>
              <c:f>Sheet1!$C$2:$C$11</c:f>
              <c:numCache>
                <c:formatCode>General</c:formatCode>
                <c:ptCount val="10"/>
                <c:pt idx="0">
                  <c:v>2.3</c:v>
                </c:pt>
                <c:pt idx="1">
                  <c:v>1.62</c:v>
                </c:pt>
                <c:pt idx="2">
                  <c:v>1.05</c:v>
                </c:pt>
                <c:pt idx="3">
                  <c:v>0.72</c:v>
                </c:pt>
                <c:pt idx="4">
                  <c:v>0.51</c:v>
                </c:pt>
                <c:pt idx="5">
                  <c:v>0.38</c:v>
                </c:pt>
                <c:pt idx="6">
                  <c:v>0.3</c:v>
                </c:pt>
                <c:pt idx="7">
                  <c:v>0.25</c:v>
                </c:pt>
                <c:pt idx="8">
                  <c:v>0.22</c:v>
                </c:pt>
                <c:pt idx="9">
                  <c:v>0.2</c:v>
                </c:pt>
              </c:numCache>
            </c:numRef>
          </c:val>
          <c:smooth/>
        </c:ser>
        <c:ser>
          <c:idx val="2"/>
          <c:order val="2"/>
          <c:tx>
            <c:strRef>
              <c:f>Sheet1!$D$1</c:f>
              <c:strCache>
                <c:ptCount val="1"/>
                <c:pt idx="0">
                  <c:v>lr = 1e-5 (too small)</c:v>
                </c:pt>
              </c:strCache>
            </c:strRef>
          </c:tx>
          <c:spPr>
            <a:ln w="22225">
              <a:solidFill>
                <a:srgbClr val="6B7280"/>
              </a:solidFill>
            </a:ln>
          </c:spPr>
          <c:cat>
            <c:strRef>
              <c:f>Sheet1!$A$2:$A$11</c:f>
              <c:strCache>
                <c:ptCount val="10"/>
                <c:pt idx="0">
                  <c:v>1</c:v>
                </c:pt>
                <c:pt idx="1">
                  <c:v>2</c:v>
                </c:pt>
                <c:pt idx="2">
                  <c:v>3</c:v>
                </c:pt>
                <c:pt idx="3">
                  <c:v>4</c:v>
                </c:pt>
                <c:pt idx="4">
                  <c:v>5</c:v>
                </c:pt>
                <c:pt idx="5">
                  <c:v>6</c:v>
                </c:pt>
                <c:pt idx="6">
                  <c:v>7</c:v>
                </c:pt>
                <c:pt idx="7">
                  <c:v>8</c:v>
                </c:pt>
                <c:pt idx="8">
                  <c:v>9</c:v>
                </c:pt>
                <c:pt idx="9">
                  <c:v>10</c:v>
                </c:pt>
              </c:strCache>
            </c:strRef>
          </c:cat>
          <c:val>
            <c:numRef>
              <c:f>Sheet1!$D$2:$D$11</c:f>
              <c:numCache>
                <c:formatCode>General</c:formatCode>
                <c:ptCount val="10"/>
                <c:pt idx="0">
                  <c:v>2.3</c:v>
                </c:pt>
                <c:pt idx="1">
                  <c:v>2.28</c:v>
                </c:pt>
                <c:pt idx="2">
                  <c:v>2.26</c:v>
                </c:pt>
                <c:pt idx="3">
                  <c:v>2.24</c:v>
                </c:pt>
                <c:pt idx="4">
                  <c:v>2.22</c:v>
                </c:pt>
                <c:pt idx="5">
                  <c:v>2.2</c:v>
                </c:pt>
                <c:pt idx="6">
                  <c:v>2.18</c:v>
                </c:pt>
                <c:pt idx="7">
                  <c:v>2.16</c:v>
                </c:pt>
                <c:pt idx="8">
                  <c:v>2.14</c:v>
                </c:pt>
                <c:pt idx="9">
                  <c:v>2.12</c:v>
                </c:pt>
              </c:numCache>
            </c:numRef>
          </c:val>
          <c:smooth/>
        </c:ser>
        <c:marker val="1"/>
        <c:smooth val="0"/>
        <c:axId val="2118791784"/>
        <c:axId val="2140495176"/>
      </c:lineChart>
      <c:catAx>
        <c:axId val="2118791784"/>
        <c:scaling>
          <c:orientation val="minMax"/>
        </c:scaling>
        <c:delete val="0"/>
        <c:axPos val="b"/>
        <c:title>
          <c:tx>
            <c:rich>
              <a:bodyPr/>
              <a:lstStyle/>
              <a:p>
                <a:r>
                  <a:t>Epoch →</a:t>
                </a:r>
              </a:p>
            </c:rich>
          </c:tx>
          <c:layout/>
          <c:overlay val="0"/>
        </c:title>
        <c:majorTickMark val="out"/>
        <c:minorTickMark val="none"/>
        <c:tickLblPos val="nextTo"/>
        <c:crossAx val="2140495176"/>
        <c:crosses val="autoZero"/>
        <c:auto val="1"/>
        <c:lblAlgn val="ctr"/>
        <c:lblOffset val="100"/>
        <c:noMultiLvlLbl val="0"/>
      </c:catAx>
      <c:valAx>
        <c:axId val="2140495176"/>
        <c:scaling>
          <c:max val="2.8"/>
        </c:scaling>
        <c:delete val="0"/>
        <c:axPos val="l"/>
        <c:majorGridlines/>
        <c:title>
          <c:tx>
            <c:rich>
              <a:bodyPr/>
              <a:lstStyle/>
              <a:p>
                <a:r>
                  <a:t>Train loss</a:t>
                </a:r>
              </a:p>
            </c:rich>
          </c:tx>
          <c:layout/>
          <c:overlay val="0"/>
        </c:title>
        <c:majorTickMark val="out"/>
        <c:minorTickMark val="none"/>
        <c:tickLblPos val="nextTo"/>
        <c:crossAx val="2118791784"/>
        <c:crosses val="autoZero"/>
      </c:valAx>
    </c:plotArea>
    <c:legend>
      <c:legendPos val="b"/>
      <c:layout/>
      <c:overlay val="0"/>
    </c:legend>
    <c:plotVisOnly val="1"/>
    <c:dispBlanksAs val="gap"/>
    <c:showDLblsOverMax val="0"/>
  </c:chart>
  <c:txPr>
    <a:bodyPr/>
    <a:lstStyle/>
    <a:p>
      <a:pPr>
        <a:defRPr sz="1100">
          <a:latin typeface="Source Han Sans SC"/>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SGD · lr=1e-1 (diverges)</c:v>
                </c:pt>
              </c:strCache>
            </c:strRef>
          </c:tx>
          <c:spPr>
            <a:ln w="22225">
              <a:solidFill>
                <a:srgbClr val="B91C1C"/>
              </a:solidFill>
            </a:ln>
          </c:spPr>
          <c:cat>
            <c:strRef>
              <c:f>Sheet1!$A$2:$A$11</c:f>
              <c:strCache>
                <c:ptCount val="10"/>
                <c:pt idx="0">
                  <c:v>1</c:v>
                </c:pt>
                <c:pt idx="1">
                  <c:v>2</c:v>
                </c:pt>
                <c:pt idx="2">
                  <c:v>3</c:v>
                </c:pt>
                <c:pt idx="3">
                  <c:v>4</c:v>
                </c:pt>
                <c:pt idx="4">
                  <c:v>5</c:v>
                </c:pt>
                <c:pt idx="5">
                  <c:v>6</c:v>
                </c:pt>
                <c:pt idx="6">
                  <c:v>7</c:v>
                </c:pt>
                <c:pt idx="7">
                  <c:v>8</c:v>
                </c:pt>
                <c:pt idx="8">
                  <c:v>9</c:v>
                </c:pt>
                <c:pt idx="9">
                  <c:v>10</c:v>
                </c:pt>
              </c:strCache>
            </c:strRef>
          </c:cat>
          <c:val>
            <c:numRef>
              <c:f>Sheet1!$B$2:$B$11</c:f>
              <c:numCache>
                <c:formatCode>General</c:formatCode>
                <c:ptCount val="10"/>
                <c:pt idx="0">
                  <c:v>2.3</c:v>
                </c:pt>
                <c:pt idx="1">
                  <c:v>2.48</c:v>
                </c:pt>
                <c:pt idx="2">
                  <c:v>2.36</c:v>
                </c:pt>
                <c:pt idx="3">
                  <c:v>2.55</c:v>
                </c:pt>
                <c:pt idx="4">
                  <c:v>2.3</c:v>
                </c:pt>
                <c:pt idx="5">
                  <c:v>2.6</c:v>
                </c:pt>
                <c:pt idx="6">
                  <c:v>2.34</c:v>
                </c:pt>
                <c:pt idx="7">
                  <c:v>2.52</c:v>
                </c:pt>
                <c:pt idx="8">
                  <c:v>2.31</c:v>
                </c:pt>
                <c:pt idx="9">
                  <c:v>2.58</c:v>
                </c:pt>
              </c:numCache>
            </c:numRef>
          </c:val>
          <c:smooth/>
        </c:ser>
        <c:ser>
          <c:idx val="1"/>
          <c:order val="1"/>
          <c:tx>
            <c:strRef>
              <c:f>Sheet1!$C$1</c:f>
              <c:strCache>
                <c:ptCount val="1"/>
                <c:pt idx="0">
                  <c:v>SGD · lr=1e-3 (too slow)</c:v>
                </c:pt>
              </c:strCache>
            </c:strRef>
          </c:tx>
          <c:spPr>
            <a:ln w="22225">
              <a:solidFill>
                <a:srgbClr val="6B7280"/>
              </a:solidFill>
            </a:ln>
          </c:spPr>
          <c:cat>
            <c:strRef>
              <c:f>Sheet1!$A$2:$A$11</c:f>
              <c:strCache>
                <c:ptCount val="10"/>
                <c:pt idx="0">
                  <c:v>1</c:v>
                </c:pt>
                <c:pt idx="1">
                  <c:v>2</c:v>
                </c:pt>
                <c:pt idx="2">
                  <c:v>3</c:v>
                </c:pt>
                <c:pt idx="3">
                  <c:v>4</c:v>
                </c:pt>
                <c:pt idx="4">
                  <c:v>5</c:v>
                </c:pt>
                <c:pt idx="5">
                  <c:v>6</c:v>
                </c:pt>
                <c:pt idx="6">
                  <c:v>7</c:v>
                </c:pt>
                <c:pt idx="7">
                  <c:v>8</c:v>
                </c:pt>
                <c:pt idx="8">
                  <c:v>9</c:v>
                </c:pt>
                <c:pt idx="9">
                  <c:v>10</c:v>
                </c:pt>
              </c:strCache>
            </c:strRef>
          </c:cat>
          <c:val>
            <c:numRef>
              <c:f>Sheet1!$C$2:$C$11</c:f>
              <c:numCache>
                <c:formatCode>General</c:formatCode>
                <c:ptCount val="10"/>
                <c:pt idx="0">
                  <c:v>2.3</c:v>
                </c:pt>
                <c:pt idx="1">
                  <c:v>2.21</c:v>
                </c:pt>
                <c:pt idx="2">
                  <c:v>2.12</c:v>
                </c:pt>
                <c:pt idx="3">
                  <c:v>2.03</c:v>
                </c:pt>
                <c:pt idx="4">
                  <c:v>1.94</c:v>
                </c:pt>
                <c:pt idx="5">
                  <c:v>1.86</c:v>
                </c:pt>
                <c:pt idx="6">
                  <c:v>1.78</c:v>
                </c:pt>
                <c:pt idx="7">
                  <c:v>1.7</c:v>
                </c:pt>
                <c:pt idx="8">
                  <c:v>1.63</c:v>
                </c:pt>
                <c:pt idx="9">
                  <c:v>1.56</c:v>
                </c:pt>
              </c:numCache>
            </c:numRef>
          </c:val>
          <c:smooth/>
        </c:ser>
        <c:ser>
          <c:idx val="2"/>
          <c:order val="2"/>
          <c:tx>
            <c:strRef>
              <c:f>Sheet1!$D$1</c:f>
              <c:strCache>
                <c:ptCount val="1"/>
                <c:pt idx="0">
                  <c:v>Momentum · lr=1e-3 (good)</c:v>
                </c:pt>
              </c:strCache>
            </c:strRef>
          </c:tx>
          <c:spPr>
            <a:ln w="22225">
              <a:solidFill>
                <a:srgbClr val="D97706"/>
              </a:solidFill>
            </a:ln>
          </c:spPr>
          <c:cat>
            <c:strRef>
              <c:f>Sheet1!$A$2:$A$11</c:f>
              <c:strCache>
                <c:ptCount val="10"/>
                <c:pt idx="0">
                  <c:v>1</c:v>
                </c:pt>
                <c:pt idx="1">
                  <c:v>2</c:v>
                </c:pt>
                <c:pt idx="2">
                  <c:v>3</c:v>
                </c:pt>
                <c:pt idx="3">
                  <c:v>4</c:v>
                </c:pt>
                <c:pt idx="4">
                  <c:v>5</c:v>
                </c:pt>
                <c:pt idx="5">
                  <c:v>6</c:v>
                </c:pt>
                <c:pt idx="6">
                  <c:v>7</c:v>
                </c:pt>
                <c:pt idx="7">
                  <c:v>8</c:v>
                </c:pt>
                <c:pt idx="8">
                  <c:v>9</c:v>
                </c:pt>
                <c:pt idx="9">
                  <c:v>10</c:v>
                </c:pt>
              </c:strCache>
            </c:strRef>
          </c:cat>
          <c:val>
            <c:numRef>
              <c:f>Sheet1!$D$2:$D$11</c:f>
              <c:numCache>
                <c:formatCode>General</c:formatCode>
                <c:ptCount val="10"/>
                <c:pt idx="0">
                  <c:v>2.3</c:v>
                </c:pt>
                <c:pt idx="1">
                  <c:v>1.7</c:v>
                </c:pt>
                <c:pt idx="2">
                  <c:v>1.15</c:v>
                </c:pt>
                <c:pt idx="3">
                  <c:v>0.8</c:v>
                </c:pt>
                <c:pt idx="4">
                  <c:v>0.58</c:v>
                </c:pt>
                <c:pt idx="5">
                  <c:v>0.44</c:v>
                </c:pt>
                <c:pt idx="6">
                  <c:v>0.35</c:v>
                </c:pt>
                <c:pt idx="7">
                  <c:v>0.29</c:v>
                </c:pt>
                <c:pt idx="8">
                  <c:v>0.25</c:v>
                </c:pt>
                <c:pt idx="9">
                  <c:v>0.22</c:v>
                </c:pt>
              </c:numCache>
            </c:numRef>
          </c:val>
          <c:smooth/>
        </c:ser>
        <c:ser>
          <c:idx val="3"/>
          <c:order val="3"/>
          <c:tx>
            <c:strRef>
              <c:f>Sheet1!$E$1</c:f>
              <c:strCache>
                <c:ptCount val="1"/>
                <c:pt idx="0">
                  <c:v>Adam · lr=1e-3 (best)</c:v>
                </c:pt>
              </c:strCache>
            </c:strRef>
          </c:tx>
          <c:spPr>
            <a:ln w="31750">
              <a:solidFill>
                <a:srgbClr val="059669"/>
              </a:solidFill>
            </a:ln>
          </c:spPr>
          <c:cat>
            <c:strRef>
              <c:f>Sheet1!$A$2:$A$11</c:f>
              <c:strCache>
                <c:ptCount val="10"/>
                <c:pt idx="0">
                  <c:v>1</c:v>
                </c:pt>
                <c:pt idx="1">
                  <c:v>2</c:v>
                </c:pt>
                <c:pt idx="2">
                  <c:v>3</c:v>
                </c:pt>
                <c:pt idx="3">
                  <c:v>4</c:v>
                </c:pt>
                <c:pt idx="4">
                  <c:v>5</c:v>
                </c:pt>
                <c:pt idx="5">
                  <c:v>6</c:v>
                </c:pt>
                <c:pt idx="6">
                  <c:v>7</c:v>
                </c:pt>
                <c:pt idx="7">
                  <c:v>8</c:v>
                </c:pt>
                <c:pt idx="8">
                  <c:v>9</c:v>
                </c:pt>
                <c:pt idx="9">
                  <c:v>10</c:v>
                </c:pt>
              </c:strCache>
            </c:strRef>
          </c:cat>
          <c:val>
            <c:numRef>
              <c:f>Sheet1!$E$2:$E$11</c:f>
              <c:numCache>
                <c:formatCode>General</c:formatCode>
                <c:ptCount val="10"/>
                <c:pt idx="0">
                  <c:v>2.3</c:v>
                </c:pt>
                <c:pt idx="1">
                  <c:v>1.35</c:v>
                </c:pt>
                <c:pt idx="2">
                  <c:v>0.78</c:v>
                </c:pt>
                <c:pt idx="3">
                  <c:v>0.48</c:v>
                </c:pt>
                <c:pt idx="4">
                  <c:v>0.33</c:v>
                </c:pt>
                <c:pt idx="5">
                  <c:v>0.24</c:v>
                </c:pt>
                <c:pt idx="6">
                  <c:v>0.19</c:v>
                </c:pt>
                <c:pt idx="7">
                  <c:v>0.16</c:v>
                </c:pt>
                <c:pt idx="8">
                  <c:v>0.14</c:v>
                </c:pt>
                <c:pt idx="9">
                  <c:v>0.13</c:v>
                </c:pt>
              </c:numCache>
            </c:numRef>
          </c:val>
          <c:smooth/>
        </c:ser>
        <c:marker val="1"/>
        <c:smooth val="0"/>
        <c:axId val="2118791784"/>
        <c:axId val="2140495176"/>
      </c:lineChart>
      <c:catAx>
        <c:axId val="2118791784"/>
        <c:scaling>
          <c:orientation val="minMax"/>
        </c:scaling>
        <c:delete val="0"/>
        <c:axPos val="b"/>
        <c:title>
          <c:tx>
            <c:rich>
              <a:bodyPr/>
              <a:lstStyle/>
              <a:p>
                <a:r>
                  <a:t>Epoch →</a:t>
                </a:r>
              </a:p>
            </c:rich>
          </c:tx>
          <c:layout/>
          <c:overlay val="0"/>
        </c:title>
        <c:majorTickMark val="out"/>
        <c:minorTickMark val="none"/>
        <c:tickLblPos val="nextTo"/>
        <c:crossAx val="2140495176"/>
        <c:crosses val="autoZero"/>
        <c:auto val="1"/>
        <c:lblAlgn val="ctr"/>
        <c:lblOffset val="100"/>
        <c:noMultiLvlLbl val="0"/>
      </c:catAx>
      <c:valAx>
        <c:axId val="2140495176"/>
        <c:scaling>
          <c:max val="2.8"/>
        </c:scaling>
        <c:delete val="0"/>
        <c:axPos val="l"/>
        <c:majorGridlines/>
        <c:title>
          <c:tx>
            <c:rich>
              <a:bodyPr/>
              <a:lstStyle/>
              <a:p>
                <a:r>
                  <a:t>Val loss</a:t>
                </a:r>
              </a:p>
            </c:rich>
          </c:tx>
          <c:layout/>
          <c:overlay val="0"/>
        </c:title>
        <c:majorTickMark val="out"/>
        <c:minorTickMark val="none"/>
        <c:tickLblPos val="nextTo"/>
        <c:crossAx val="2118791784"/>
        <c:crosses val="autoZero"/>
      </c:valAx>
    </c:plotArea>
    <c:legend>
      <c:legendPos val="b"/>
      <c:layout/>
      <c:overlay val="0"/>
    </c:legend>
    <c:plotVisOnly val="1"/>
    <c:dispBlanksAs val="gap"/>
    <c:showDLblsOverMax val="0"/>
  </c:chart>
  <c:txPr>
    <a:bodyPr/>
    <a:lstStyle/>
    <a:p>
      <a:pPr>
        <a:defRPr sz="1100">
          <a:latin typeface="Source Han Sans SC"/>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1332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33200"/>
            <a:ext cx="12192119" cy="576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096059" y="856800"/>
            <a:ext cx="5296859" cy="4572000"/>
          </a:xfrm>
          <a:prstGeom prst="rect">
            <a:avLst/>
          </a:prstGeom>
          <a:noFill/>
        </p:spPr>
        <p:txBody>
          <a:bodyPr wrap="square" anchor="t" lIns="0" rIns="0" tIns="0" bIns="0">
            <a:spAutoFit/>
          </a:bodyPr>
          <a:lstStyle/>
          <a:p>
            <a:pPr algn="r">
              <a:lnSpc>
                <a:spcPct val="125000"/>
              </a:lnSpc>
            </a:pPr>
            <a:r>
              <a:rPr sz="19000" b="1" i="0">
                <a:solidFill>
                  <a:srgbClr val="F0F5FC"/>
                </a:solidFill>
                <a:latin typeface="Source Han Sans SC"/>
              </a:rPr>
              <a:t>05</a:t>
            </a:r>
          </a:p>
        </p:txBody>
      </p:sp>
      <p:sp>
        <p:nvSpPr>
          <p:cNvPr id="6" name="TextBox 5"/>
          <p:cNvSpPr txBox="1"/>
          <p:nvPr/>
        </p:nvSpPr>
        <p:spPr>
          <a:xfrm>
            <a:off x="799200" y="856800"/>
            <a:ext cx="7200000" cy="216000"/>
          </a:xfrm>
          <a:prstGeom prst="rect">
            <a:avLst/>
          </a:prstGeom>
          <a:noFill/>
        </p:spPr>
        <p:txBody>
          <a:bodyPr wrap="square" anchor="t" lIns="0" rIns="0" tIns="0" bIns="0">
            <a:spAutoFit/>
          </a:bodyPr>
          <a:lstStyle/>
          <a:p>
            <a:pPr algn="l">
              <a:lnSpc>
                <a:spcPct val="125000"/>
              </a:lnSpc>
            </a:pPr>
            <a:r>
              <a:rPr sz="1150" b="1" i="0">
                <a:solidFill>
                  <a:srgbClr val="1E4FA8"/>
                </a:solidFill>
                <a:latin typeface="Source Han Sans SC"/>
              </a:rPr>
              <a:t>52015CC3BV · UNDERGRADUATE · INTERNATIONAL</a:t>
            </a:r>
          </a:p>
        </p:txBody>
      </p:sp>
      <p:sp>
        <p:nvSpPr>
          <p:cNvPr id="7" name="Rectangle 6"/>
          <p:cNvSpPr/>
          <p:nvPr/>
        </p:nvSpPr>
        <p:spPr>
          <a:xfrm>
            <a:off x="799200" y="1267200"/>
            <a:ext cx="608400" cy="396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99200" y="1609200"/>
            <a:ext cx="10593719" cy="540000"/>
          </a:xfrm>
          <a:prstGeom prst="rect">
            <a:avLst/>
          </a:prstGeom>
          <a:noFill/>
        </p:spPr>
        <p:txBody>
          <a:bodyPr wrap="square" anchor="t" lIns="0" rIns="0" tIns="0" bIns="0">
            <a:spAutoFit/>
          </a:bodyPr>
          <a:lstStyle/>
          <a:p>
            <a:pPr algn="l">
              <a:lnSpc>
                <a:spcPct val="125000"/>
              </a:lnSpc>
            </a:pPr>
            <a:r>
              <a:rPr sz="4000" b="1" i="0">
                <a:solidFill>
                  <a:srgbClr val="0E3F8C"/>
                </a:solidFill>
                <a:latin typeface="Source Han Sans SC"/>
              </a:rPr>
              <a:t>Training Loop, Loss and Optimizer</a:t>
            </a:r>
          </a:p>
        </p:txBody>
      </p:sp>
      <p:sp>
        <p:nvSpPr>
          <p:cNvPr id="9" name="TextBox 8"/>
          <p:cNvSpPr txBox="1"/>
          <p:nvPr/>
        </p:nvSpPr>
        <p:spPr>
          <a:xfrm>
            <a:off x="799200" y="2232000"/>
            <a:ext cx="10593719" cy="972000"/>
          </a:xfrm>
          <a:prstGeom prst="rect">
            <a:avLst/>
          </a:prstGeom>
          <a:noFill/>
        </p:spPr>
        <p:txBody>
          <a:bodyPr wrap="square" anchor="t" lIns="0" rIns="0" tIns="0" bIns="0">
            <a:spAutoFit/>
          </a:bodyPr>
          <a:lstStyle/>
          <a:p>
            <a:pPr algn="l">
              <a:lnSpc>
                <a:spcPct val="125000"/>
              </a:lnSpc>
            </a:pPr>
            <a:r>
              <a:rPr sz="2500" b="0" i="0">
                <a:solidFill>
                  <a:srgbClr val="1F2937"/>
                </a:solidFill>
                <a:latin typeface="Source Han Sans SC"/>
              </a:rPr>
              <a:t>What we optimise, how we walk, how big the step</a:t>
            </a:r>
          </a:p>
        </p:txBody>
      </p:sp>
      <p:sp>
        <p:nvSpPr>
          <p:cNvPr id="10" name="TextBox 9"/>
          <p:cNvSpPr txBox="1"/>
          <p:nvPr/>
        </p:nvSpPr>
        <p:spPr>
          <a:xfrm>
            <a:off x="799200" y="3344399"/>
            <a:ext cx="10593719" cy="288000"/>
          </a:xfrm>
          <a:prstGeom prst="rect">
            <a:avLst/>
          </a:prstGeom>
          <a:noFill/>
        </p:spPr>
        <p:txBody>
          <a:bodyPr wrap="square" anchor="t" lIns="0" rIns="0" tIns="0" bIns="0">
            <a:spAutoFit/>
          </a:bodyPr>
          <a:lstStyle/>
          <a:p>
            <a:pPr algn="l">
              <a:lnSpc>
                <a:spcPct val="125000"/>
              </a:lnSpc>
            </a:pPr>
            <a:r>
              <a:rPr sz="1400" b="0" i="0">
                <a:solidFill>
                  <a:srgbClr val="6B7280"/>
                </a:solidFill>
                <a:latin typeface="Source Han Sans SC"/>
              </a:rPr>
              <a:t>Week 5 · Choosing a loss · Optimizers compared · Learning rate · The five-step loop · Logging &amp; plots</a:t>
            </a:r>
          </a:p>
        </p:txBody>
      </p:sp>
      <p:sp>
        <p:nvSpPr>
          <p:cNvPr id="11" name="Rectangle 10"/>
          <p:cNvSpPr/>
          <p:nvPr/>
        </p:nvSpPr>
        <p:spPr>
          <a:xfrm>
            <a:off x="799200" y="5295600"/>
            <a:ext cx="1872475" cy="324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72000" y="5364000"/>
            <a:ext cx="1526875" cy="190800"/>
          </a:xfrm>
          <a:prstGeom prst="rect">
            <a:avLst/>
          </a:prstGeom>
          <a:noFill/>
        </p:spPr>
        <p:txBody>
          <a:bodyPr wrap="square" anchor="t" lIns="0" rIns="0" tIns="0" bIns="0">
            <a:spAutoFit/>
          </a:bodyPr>
          <a:lstStyle/>
          <a:p>
            <a:pPr algn="l">
              <a:lnSpc>
                <a:spcPct val="125000"/>
              </a:lnSpc>
            </a:pPr>
            <a:r>
              <a:rPr sz="1150" b="1" i="0">
                <a:solidFill>
                  <a:srgbClr val="0E3F8C"/>
                </a:solidFill>
                <a:latin typeface="Source Han Sans SC"/>
              </a:rPr>
              <a:t>Module 2 · W5-8</a:t>
            </a:r>
          </a:p>
        </p:txBody>
      </p:sp>
      <p:sp>
        <p:nvSpPr>
          <p:cNvPr id="13" name="Rectangle 12"/>
          <p:cNvSpPr/>
          <p:nvPr/>
        </p:nvSpPr>
        <p:spPr>
          <a:xfrm>
            <a:off x="2894875" y="5295600"/>
            <a:ext cx="2808713" cy="324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3067675" y="5364000"/>
            <a:ext cx="2463113" cy="190800"/>
          </a:xfrm>
          <a:prstGeom prst="rect">
            <a:avLst/>
          </a:prstGeom>
          <a:noFill/>
        </p:spPr>
        <p:txBody>
          <a:bodyPr wrap="square" anchor="t" lIns="0" rIns="0" tIns="0" bIns="0">
            <a:spAutoFit/>
          </a:bodyPr>
          <a:lstStyle/>
          <a:p>
            <a:pPr algn="l">
              <a:lnSpc>
                <a:spcPct val="125000"/>
              </a:lnSpc>
            </a:pPr>
            <a:r>
              <a:rPr sz="1150" b="1" i="0">
                <a:solidFill>
                  <a:srgbClr val="0E3F8C"/>
                </a:solidFill>
                <a:latin typeface="Source Han Sans SC"/>
              </a:rPr>
              <a:t>180 min · Lecture + Lab + Quiz</a:t>
            </a:r>
          </a:p>
        </p:txBody>
      </p:sp>
      <p:sp>
        <p:nvSpPr>
          <p:cNvPr id="15" name="Rectangle 14"/>
          <p:cNvSpPr/>
          <p:nvPr/>
        </p:nvSpPr>
        <p:spPr>
          <a:xfrm>
            <a:off x="5926788" y="5295600"/>
            <a:ext cx="3370455" cy="324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099588" y="5364000"/>
            <a:ext cx="3024855" cy="190800"/>
          </a:xfrm>
          <a:prstGeom prst="rect">
            <a:avLst/>
          </a:prstGeom>
          <a:noFill/>
        </p:spPr>
        <p:txBody>
          <a:bodyPr wrap="square" anchor="t" lIns="0" rIns="0" tIns="0" bIns="0">
            <a:spAutoFit/>
          </a:bodyPr>
          <a:lstStyle/>
          <a:p>
            <a:pPr algn="l">
              <a:lnSpc>
                <a:spcPct val="125000"/>
              </a:lnSpc>
            </a:pPr>
            <a:r>
              <a:rPr sz="1150" b="1" i="0">
                <a:solidFill>
                  <a:srgbClr val="0E3F8C"/>
                </a:solidFill>
                <a:latin typeface="Source Han Sans SC"/>
              </a:rPr>
              <a:t>PyTorch · optimizers · learning rate · logs</a:t>
            </a:r>
          </a:p>
        </p:txBody>
      </p:sp>
      <p:sp>
        <p:nvSpPr>
          <p:cNvPr id="17" name="Rectangle 16"/>
          <p:cNvSpPr/>
          <p:nvPr/>
        </p:nvSpPr>
        <p:spPr>
          <a:xfrm>
            <a:off x="9520444" y="5295600"/>
            <a:ext cx="1872475" cy="324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93244" y="5364000"/>
            <a:ext cx="1526875" cy="190800"/>
          </a:xfrm>
          <a:prstGeom prst="rect">
            <a:avLst/>
          </a:prstGeom>
          <a:noFill/>
        </p:spPr>
        <p:txBody>
          <a:bodyPr wrap="square" anchor="t" lIns="0" rIns="0" tIns="0" bIns="0">
            <a:spAutoFit/>
          </a:bodyPr>
          <a:lstStyle/>
          <a:p>
            <a:pPr algn="l">
              <a:lnSpc>
                <a:spcPct val="125000"/>
              </a:lnSpc>
            </a:pPr>
            <a:r>
              <a:rPr sz="1150" b="1" i="0">
                <a:solidFill>
                  <a:srgbClr val="0E3F8C"/>
                </a:solidFill>
                <a:latin typeface="Source Han Sans SC"/>
              </a:rPr>
              <a:t>International Students</a:t>
            </a:r>
          </a:p>
        </p:txBody>
      </p:sp>
      <p:sp>
        <p:nvSpPr>
          <p:cNvPr id="19" name="Rectangle 18"/>
          <p:cNvSpPr/>
          <p:nvPr/>
        </p:nvSpPr>
        <p:spPr>
          <a:xfrm>
            <a:off x="799200" y="5868000"/>
            <a:ext cx="417600" cy="4176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56800" y="5961600"/>
            <a:ext cx="306000" cy="230400"/>
          </a:xfrm>
          <a:prstGeom prst="rect">
            <a:avLst/>
          </a:prstGeom>
          <a:noFill/>
        </p:spPr>
        <p:txBody>
          <a:bodyPr wrap="square" anchor="t" lIns="0" rIns="0" tIns="0" bIns="0">
            <a:spAutoFit/>
          </a:bodyPr>
          <a:lstStyle/>
          <a:p>
            <a:pPr algn="l">
              <a:lnSpc>
                <a:spcPct val="125000"/>
              </a:lnSpc>
            </a:pPr>
            <a:r>
              <a:rPr sz="1100" b="1" i="0">
                <a:solidFill>
                  <a:srgbClr val="FFFFFF"/>
                </a:solidFill>
                <a:latin typeface="Source Han Sans SC"/>
              </a:rPr>
              <a:t>W5</a:t>
            </a:r>
          </a:p>
        </p:txBody>
      </p:sp>
      <p:sp>
        <p:nvSpPr>
          <p:cNvPr id="21" name="TextBox 20"/>
          <p:cNvSpPr txBox="1"/>
          <p:nvPr/>
        </p:nvSpPr>
        <p:spPr>
          <a:xfrm>
            <a:off x="1332000" y="5983200"/>
            <a:ext cx="5760000" cy="201600"/>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Lecturer: ____________  ·  School of Software Engineering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556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Contents</a:t>
            </a:r>
          </a:p>
        </p:txBody>
      </p:sp>
      <p:sp>
        <p:nvSpPr>
          <p:cNvPr id="6" name="TextBox 5"/>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Module 2 · Week 5</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5</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02 / 29</a:t>
            </a:r>
          </a:p>
        </p:txBody>
      </p:sp>
      <p:sp>
        <p:nvSpPr>
          <p:cNvPr id="9" name="Rectangle 8"/>
          <p:cNvSpPr/>
          <p:nvPr/>
        </p:nvSpPr>
        <p:spPr>
          <a:xfrm>
            <a:off x="799200" y="1044000"/>
            <a:ext cx="2858400" cy="49536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1047600" y="2163600"/>
            <a:ext cx="2361600" cy="388800"/>
          </a:xfrm>
          <a:prstGeom prst="rect">
            <a:avLst/>
          </a:prstGeom>
          <a:noFill/>
        </p:spPr>
        <p:txBody>
          <a:bodyPr wrap="square" anchor="t" lIns="0" rIns="0" tIns="0" bIns="0">
            <a:spAutoFit/>
          </a:bodyPr>
          <a:lstStyle/>
          <a:p>
            <a:pPr algn="l">
              <a:lnSpc>
                <a:spcPct val="125000"/>
              </a:lnSpc>
            </a:pPr>
            <a:r>
              <a:rPr sz="2600" b="1" i="0">
                <a:solidFill>
                  <a:srgbClr val="0E3F8C"/>
                </a:solidFill>
                <a:latin typeface="Source Han Sans SC"/>
              </a:rPr>
              <a:t>5 Parts</a:t>
            </a:r>
          </a:p>
        </p:txBody>
      </p:sp>
      <p:sp>
        <p:nvSpPr>
          <p:cNvPr id="11" name="TextBox 10"/>
          <p:cNvSpPr txBox="1"/>
          <p:nvPr/>
        </p:nvSpPr>
        <p:spPr>
          <a:xfrm>
            <a:off x="1047600" y="2628000"/>
            <a:ext cx="2361600" cy="190800"/>
          </a:xfrm>
          <a:prstGeom prst="rect">
            <a:avLst/>
          </a:prstGeom>
          <a:noFill/>
        </p:spPr>
        <p:txBody>
          <a:bodyPr wrap="square" anchor="t" lIns="0" rIns="0" tIns="0" bIns="0">
            <a:spAutoFit/>
          </a:bodyPr>
          <a:lstStyle/>
          <a:p>
            <a:pPr algn="l">
              <a:lnSpc>
                <a:spcPct val="125000"/>
              </a:lnSpc>
            </a:pPr>
            <a:r>
              <a:rPr sz="1150" b="1" i="0">
                <a:solidFill>
                  <a:srgbClr val="6B7280"/>
                </a:solidFill>
                <a:latin typeface="Source Han Sans SC"/>
              </a:rPr>
              <a:t>Part</a:t>
            </a:r>
          </a:p>
        </p:txBody>
      </p:sp>
      <p:sp>
        <p:nvSpPr>
          <p:cNvPr id="12" name="Rectangle 11"/>
          <p:cNvSpPr/>
          <p:nvPr/>
        </p:nvSpPr>
        <p:spPr>
          <a:xfrm>
            <a:off x="1047600" y="2991600"/>
            <a:ext cx="2361600" cy="180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47600" y="3160800"/>
            <a:ext cx="2361600" cy="896400"/>
          </a:xfrm>
          <a:prstGeom prst="rect">
            <a:avLst/>
          </a:prstGeom>
          <a:noFill/>
        </p:spPr>
        <p:txBody>
          <a:bodyPr wrap="square" anchor="t" lIns="0" rIns="0" tIns="0" bIns="0">
            <a:spAutoFit/>
          </a:bodyPr>
          <a:lstStyle/>
          <a:p>
            <a:pPr algn="l">
              <a:lnSpc>
                <a:spcPct val="140000"/>
              </a:lnSpc>
            </a:pPr>
            <a:r>
              <a:rPr sz="1250" b="0" i="0">
                <a:solidFill>
                  <a:srgbClr val="1F2937"/>
                </a:solidFill>
                <a:latin typeface="Source Han Sans SC"/>
              </a:rPr>
              <a:t>The loss names what you optimise, the optimizer decides how you walk, the learning rate decides how big a step you take.</a:t>
            </a:r>
          </a:p>
        </p:txBody>
      </p:sp>
      <p:sp>
        <p:nvSpPr>
          <p:cNvPr id="14" name="Rectangle 13"/>
          <p:cNvSpPr/>
          <p:nvPr/>
        </p:nvSpPr>
        <p:spPr>
          <a:xfrm>
            <a:off x="1047600" y="4208400"/>
            <a:ext cx="2361600" cy="6876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180800" y="4305600"/>
            <a:ext cx="2095200" cy="496799"/>
          </a:xfrm>
          <a:prstGeom prst="rect">
            <a:avLst/>
          </a:prstGeom>
          <a:noFill/>
        </p:spPr>
        <p:txBody>
          <a:bodyPr wrap="square" anchor="t" lIns="0" rIns="0" tIns="0" bIns="0">
            <a:spAutoFit/>
          </a:bodyPr>
          <a:lstStyle/>
          <a:p>
            <a:pPr algn="l">
              <a:lnSpc>
                <a:spcPct val="135000"/>
              </a:lnSpc>
            </a:pPr>
            <a:r>
              <a:rPr sz="1150" b="0" i="0">
                <a:solidFill>
                  <a:srgbClr val="6B7280"/>
                </a:solidFill>
                <a:latin typeface="Source Han Sans SC"/>
              </a:rPr>
              <a:t>Theory ~90 min · Lab ~75 min · Quiz &amp; Summary 15 min</a:t>
            </a:r>
          </a:p>
        </p:txBody>
      </p:sp>
      <p:sp>
        <p:nvSpPr>
          <p:cNvPr id="16" name="Rectangle 15"/>
          <p:cNvSpPr/>
          <p:nvPr/>
        </p:nvSpPr>
        <p:spPr>
          <a:xfrm>
            <a:off x="3924000" y="1648800"/>
            <a:ext cx="7466399" cy="7632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3999600" y="1771200"/>
            <a:ext cx="496799" cy="496799"/>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999600" y="1872000"/>
            <a:ext cx="496799" cy="230400"/>
          </a:xfrm>
          <a:prstGeom prst="rect">
            <a:avLst/>
          </a:prstGeom>
          <a:noFill/>
        </p:spPr>
        <p:txBody>
          <a:bodyPr wrap="square" anchor="t" lIns="0" rIns="0" tIns="0" bIns="0">
            <a:spAutoFit/>
          </a:bodyPr>
          <a:lstStyle/>
          <a:p>
            <a:pPr algn="ctr">
              <a:lnSpc>
                <a:spcPct val="125000"/>
              </a:lnSpc>
            </a:pPr>
            <a:r>
              <a:rPr sz="1700" b="1" i="0">
                <a:solidFill>
                  <a:srgbClr val="1E4FA8"/>
                </a:solidFill>
                <a:latin typeface="Source Han Sans SC"/>
              </a:rPr>
              <a:t>01</a:t>
            </a:r>
          </a:p>
        </p:txBody>
      </p:sp>
      <p:sp>
        <p:nvSpPr>
          <p:cNvPr id="19" name="TextBox 18"/>
          <p:cNvSpPr txBox="1"/>
          <p:nvPr/>
        </p:nvSpPr>
        <p:spPr>
          <a:xfrm>
            <a:off x="4687200" y="1789200"/>
            <a:ext cx="4320000" cy="277200"/>
          </a:xfrm>
          <a:prstGeom prst="rect">
            <a:avLst/>
          </a:prstGeom>
          <a:noFill/>
        </p:spPr>
        <p:txBody>
          <a:bodyPr wrap="square" anchor="t" lIns="0" rIns="0" tIns="0" bIns="0">
            <a:spAutoFit/>
          </a:bodyPr>
          <a:lstStyle/>
          <a:p>
            <a:pPr algn="l">
              <a:lnSpc>
                <a:spcPct val="125000"/>
              </a:lnSpc>
            </a:pPr>
            <a:r>
              <a:rPr sz="1600" b="1" i="0">
                <a:solidFill>
                  <a:srgbClr val="0E3F8C"/>
                </a:solidFill>
                <a:latin typeface="Source Han Sans SC"/>
              </a:rPr>
              <a:t>The Loss: What We Optimise</a:t>
            </a:r>
          </a:p>
        </p:txBody>
      </p:sp>
      <p:sp>
        <p:nvSpPr>
          <p:cNvPr id="20" name="TextBox 19"/>
          <p:cNvSpPr txBox="1"/>
          <p:nvPr/>
        </p:nvSpPr>
        <p:spPr>
          <a:xfrm>
            <a:off x="4687200" y="2077199"/>
            <a:ext cx="4320000" cy="162000"/>
          </a:xfrm>
          <a:prstGeom prst="rect">
            <a:avLst/>
          </a:prstGeom>
          <a:noFill/>
        </p:spPr>
        <p:txBody>
          <a:bodyPr wrap="square" anchor="t" lIns="0" rIns="0" tIns="0" bIns="0">
            <a:spAutoFit/>
          </a:bodyPr>
          <a:lstStyle/>
          <a:p>
            <a:pPr algn="l">
              <a:lnSpc>
                <a:spcPct val="125000"/>
              </a:lnSpc>
            </a:pPr>
            <a:r>
              <a:rPr sz="1150" b="1" i="0">
                <a:solidFill>
                  <a:srgbClr val="3D7BD9"/>
                </a:solidFill>
                <a:latin typeface="Source Han Sans SC"/>
              </a:rPr>
              <a:t>Loss</a:t>
            </a:r>
          </a:p>
        </p:txBody>
      </p:sp>
      <p:sp>
        <p:nvSpPr>
          <p:cNvPr id="21" name="TextBox 20"/>
          <p:cNvSpPr txBox="1"/>
          <p:nvPr/>
        </p:nvSpPr>
        <p:spPr>
          <a:xfrm>
            <a:off x="4687200" y="2268000"/>
            <a:ext cx="6249600" cy="162000"/>
          </a:xfrm>
          <a:prstGeom prst="rect">
            <a:avLst/>
          </a:prstGeom>
          <a:noFill/>
        </p:spPr>
        <p:txBody>
          <a:bodyPr wrap="square" anchor="t" lIns="0" rIns="0" tIns="0" bIns="0">
            <a:spAutoFit/>
          </a:bodyPr>
          <a:lstStyle/>
          <a:p>
            <a:pPr algn="l">
              <a:lnSpc>
                <a:spcPct val="125000"/>
              </a:lnSpc>
            </a:pPr>
            <a:r>
              <a:rPr sz="1150" b="0" i="0">
                <a:solidFill>
                  <a:srgbClr val="6B7280"/>
                </a:solidFill>
                <a:latin typeface="Source Han Sans SC"/>
              </a:rPr>
              <a:t>Task type decides the loss · three common losses · one classic pitfall</a:t>
            </a:r>
          </a:p>
        </p:txBody>
      </p:sp>
      <p:sp>
        <p:nvSpPr>
          <p:cNvPr id="22" name="Right Arrow 21"/>
          <p:cNvSpPr/>
          <p:nvPr/>
        </p:nvSpPr>
        <p:spPr>
          <a:xfrm>
            <a:off x="11048400" y="1933200"/>
            <a:ext cx="180000" cy="190800"/>
          </a:xfrm>
          <a:prstGeom prst="rightArrow">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3924000" y="2401200"/>
            <a:ext cx="7466399" cy="7632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3999600" y="2523600"/>
            <a:ext cx="496799" cy="496799"/>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999600" y="2624400"/>
            <a:ext cx="496799" cy="230400"/>
          </a:xfrm>
          <a:prstGeom prst="rect">
            <a:avLst/>
          </a:prstGeom>
          <a:noFill/>
        </p:spPr>
        <p:txBody>
          <a:bodyPr wrap="square" anchor="t" lIns="0" rIns="0" tIns="0" bIns="0">
            <a:spAutoFit/>
          </a:bodyPr>
          <a:lstStyle/>
          <a:p>
            <a:pPr algn="ctr">
              <a:lnSpc>
                <a:spcPct val="125000"/>
              </a:lnSpc>
            </a:pPr>
            <a:r>
              <a:rPr sz="1700" b="1" i="0">
                <a:solidFill>
                  <a:srgbClr val="1E4FA8"/>
                </a:solidFill>
                <a:latin typeface="Source Han Sans SC"/>
              </a:rPr>
              <a:t>02</a:t>
            </a:r>
          </a:p>
        </p:txBody>
      </p:sp>
      <p:sp>
        <p:nvSpPr>
          <p:cNvPr id="26" name="TextBox 25"/>
          <p:cNvSpPr txBox="1"/>
          <p:nvPr/>
        </p:nvSpPr>
        <p:spPr>
          <a:xfrm>
            <a:off x="4687200" y="2541600"/>
            <a:ext cx="4320000" cy="277200"/>
          </a:xfrm>
          <a:prstGeom prst="rect">
            <a:avLst/>
          </a:prstGeom>
          <a:noFill/>
        </p:spPr>
        <p:txBody>
          <a:bodyPr wrap="square" anchor="t" lIns="0" rIns="0" tIns="0" bIns="0">
            <a:spAutoFit/>
          </a:bodyPr>
          <a:lstStyle/>
          <a:p>
            <a:pPr algn="l">
              <a:lnSpc>
                <a:spcPct val="125000"/>
              </a:lnSpc>
            </a:pPr>
            <a:r>
              <a:rPr sz="1600" b="1" i="0">
                <a:solidFill>
                  <a:srgbClr val="0E3F8C"/>
                </a:solidFill>
                <a:latin typeface="Source Han Sans SC"/>
              </a:rPr>
              <a:t>Optimizers: How We Update</a:t>
            </a:r>
          </a:p>
        </p:txBody>
      </p:sp>
      <p:sp>
        <p:nvSpPr>
          <p:cNvPr id="27" name="TextBox 26"/>
          <p:cNvSpPr txBox="1"/>
          <p:nvPr/>
        </p:nvSpPr>
        <p:spPr>
          <a:xfrm>
            <a:off x="4687200" y="2829600"/>
            <a:ext cx="4320000" cy="162000"/>
          </a:xfrm>
          <a:prstGeom prst="rect">
            <a:avLst/>
          </a:prstGeom>
          <a:noFill/>
        </p:spPr>
        <p:txBody>
          <a:bodyPr wrap="square" anchor="t" lIns="0" rIns="0" tIns="0" bIns="0">
            <a:spAutoFit/>
          </a:bodyPr>
          <a:lstStyle/>
          <a:p>
            <a:pPr algn="l">
              <a:lnSpc>
                <a:spcPct val="125000"/>
              </a:lnSpc>
            </a:pPr>
            <a:r>
              <a:rPr sz="1150" b="1" i="0">
                <a:solidFill>
                  <a:srgbClr val="3D7BD9"/>
                </a:solidFill>
                <a:latin typeface="Source Han Sans SC"/>
              </a:rPr>
              <a:t>Optimizer</a:t>
            </a:r>
          </a:p>
        </p:txBody>
      </p:sp>
      <p:sp>
        <p:nvSpPr>
          <p:cNvPr id="28" name="TextBox 27"/>
          <p:cNvSpPr txBox="1"/>
          <p:nvPr/>
        </p:nvSpPr>
        <p:spPr>
          <a:xfrm>
            <a:off x="4687200" y="3020400"/>
            <a:ext cx="6249600" cy="162000"/>
          </a:xfrm>
          <a:prstGeom prst="rect">
            <a:avLst/>
          </a:prstGeom>
          <a:noFill/>
        </p:spPr>
        <p:txBody>
          <a:bodyPr wrap="square" anchor="t" lIns="0" rIns="0" tIns="0" bIns="0">
            <a:spAutoFit/>
          </a:bodyPr>
          <a:lstStyle/>
          <a:p>
            <a:pPr algn="l">
              <a:lnSpc>
                <a:spcPct val="125000"/>
              </a:lnSpc>
            </a:pPr>
            <a:r>
              <a:rPr sz="1150" b="0" i="0">
                <a:solidFill>
                  <a:srgbClr val="6B7280"/>
                </a:solidFill>
                <a:latin typeface="Source Han Sans SC"/>
              </a:rPr>
              <a:t>SGD · momentum · Adam · what differs and what it costs</a:t>
            </a:r>
          </a:p>
        </p:txBody>
      </p:sp>
      <p:sp>
        <p:nvSpPr>
          <p:cNvPr id="29" name="Right Arrow 28"/>
          <p:cNvSpPr/>
          <p:nvPr/>
        </p:nvSpPr>
        <p:spPr>
          <a:xfrm>
            <a:off x="11048400" y="2685600"/>
            <a:ext cx="180000" cy="190800"/>
          </a:xfrm>
          <a:prstGeom prst="rightArrow">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3924000" y="3153600"/>
            <a:ext cx="7466399" cy="7632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ectangle 30"/>
          <p:cNvSpPr/>
          <p:nvPr/>
        </p:nvSpPr>
        <p:spPr>
          <a:xfrm>
            <a:off x="3999600" y="3276000"/>
            <a:ext cx="496799" cy="496799"/>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999600" y="3376799"/>
            <a:ext cx="496799" cy="230400"/>
          </a:xfrm>
          <a:prstGeom prst="rect">
            <a:avLst/>
          </a:prstGeom>
          <a:noFill/>
        </p:spPr>
        <p:txBody>
          <a:bodyPr wrap="square" anchor="t" lIns="0" rIns="0" tIns="0" bIns="0">
            <a:spAutoFit/>
          </a:bodyPr>
          <a:lstStyle/>
          <a:p>
            <a:pPr algn="ctr">
              <a:lnSpc>
                <a:spcPct val="125000"/>
              </a:lnSpc>
            </a:pPr>
            <a:r>
              <a:rPr sz="1700" b="1" i="0">
                <a:solidFill>
                  <a:srgbClr val="1E4FA8"/>
                </a:solidFill>
                <a:latin typeface="Source Han Sans SC"/>
              </a:rPr>
              <a:t>03</a:t>
            </a:r>
          </a:p>
        </p:txBody>
      </p:sp>
      <p:sp>
        <p:nvSpPr>
          <p:cNvPr id="33" name="TextBox 32"/>
          <p:cNvSpPr txBox="1"/>
          <p:nvPr/>
        </p:nvSpPr>
        <p:spPr>
          <a:xfrm>
            <a:off x="4687200" y="3294000"/>
            <a:ext cx="4320000" cy="277200"/>
          </a:xfrm>
          <a:prstGeom prst="rect">
            <a:avLst/>
          </a:prstGeom>
          <a:noFill/>
        </p:spPr>
        <p:txBody>
          <a:bodyPr wrap="square" anchor="t" lIns="0" rIns="0" tIns="0" bIns="0">
            <a:spAutoFit/>
          </a:bodyPr>
          <a:lstStyle/>
          <a:p>
            <a:pPr algn="l">
              <a:lnSpc>
                <a:spcPct val="125000"/>
              </a:lnSpc>
            </a:pPr>
            <a:r>
              <a:rPr sz="1600" b="1" i="0">
                <a:solidFill>
                  <a:srgbClr val="0E3F8C"/>
                </a:solidFill>
                <a:latin typeface="Source Han Sans SC"/>
              </a:rPr>
              <a:t>Learning Rate: The First Hyper-parameter</a:t>
            </a:r>
          </a:p>
        </p:txBody>
      </p:sp>
      <p:sp>
        <p:nvSpPr>
          <p:cNvPr id="34" name="TextBox 33"/>
          <p:cNvSpPr txBox="1"/>
          <p:nvPr/>
        </p:nvSpPr>
        <p:spPr>
          <a:xfrm>
            <a:off x="4687200" y="3581999"/>
            <a:ext cx="4320000" cy="162000"/>
          </a:xfrm>
          <a:prstGeom prst="rect">
            <a:avLst/>
          </a:prstGeom>
          <a:noFill/>
        </p:spPr>
        <p:txBody>
          <a:bodyPr wrap="square" anchor="t" lIns="0" rIns="0" tIns="0" bIns="0">
            <a:spAutoFit/>
          </a:bodyPr>
          <a:lstStyle/>
          <a:p>
            <a:pPr algn="l">
              <a:lnSpc>
                <a:spcPct val="125000"/>
              </a:lnSpc>
            </a:pPr>
            <a:r>
              <a:rPr sz="1150" b="1" i="0">
                <a:solidFill>
                  <a:srgbClr val="3D7BD9"/>
                </a:solidFill>
                <a:latin typeface="Source Han Sans SC"/>
              </a:rPr>
              <a:t>Learning rate</a:t>
            </a:r>
          </a:p>
        </p:txBody>
      </p:sp>
      <p:sp>
        <p:nvSpPr>
          <p:cNvPr id="35" name="TextBox 34"/>
          <p:cNvSpPr txBox="1"/>
          <p:nvPr/>
        </p:nvSpPr>
        <p:spPr>
          <a:xfrm>
            <a:off x="4687200" y="3772800"/>
            <a:ext cx="6249600" cy="162000"/>
          </a:xfrm>
          <a:prstGeom prst="rect">
            <a:avLst/>
          </a:prstGeom>
          <a:noFill/>
        </p:spPr>
        <p:txBody>
          <a:bodyPr wrap="square" anchor="t" lIns="0" rIns="0" tIns="0" bIns="0">
            <a:spAutoFit/>
          </a:bodyPr>
          <a:lstStyle/>
          <a:p>
            <a:pPr algn="l">
              <a:lnSpc>
                <a:spcPct val="125000"/>
              </a:lnSpc>
            </a:pPr>
            <a:r>
              <a:rPr sz="1150" b="0" i="0">
                <a:solidFill>
                  <a:srgbClr val="6B7280"/>
                </a:solidFill>
                <a:latin typeface="Source Han Sans SC"/>
              </a:rPr>
              <a:t>Symptoms of too large / too small · schedules · reading the loss curve</a:t>
            </a:r>
          </a:p>
        </p:txBody>
      </p:sp>
      <p:sp>
        <p:nvSpPr>
          <p:cNvPr id="36" name="Right Arrow 35"/>
          <p:cNvSpPr/>
          <p:nvPr/>
        </p:nvSpPr>
        <p:spPr>
          <a:xfrm>
            <a:off x="11048400" y="3438000"/>
            <a:ext cx="180000" cy="190800"/>
          </a:xfrm>
          <a:prstGeom prst="rightArrow">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ectangle 36"/>
          <p:cNvSpPr/>
          <p:nvPr/>
        </p:nvSpPr>
        <p:spPr>
          <a:xfrm>
            <a:off x="3924000" y="3906000"/>
            <a:ext cx="7466399" cy="7632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Rectangle 37"/>
          <p:cNvSpPr/>
          <p:nvPr/>
        </p:nvSpPr>
        <p:spPr>
          <a:xfrm>
            <a:off x="3999600" y="4028400"/>
            <a:ext cx="496799" cy="496799"/>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999600" y="4129199"/>
            <a:ext cx="496799" cy="230400"/>
          </a:xfrm>
          <a:prstGeom prst="rect">
            <a:avLst/>
          </a:prstGeom>
          <a:noFill/>
        </p:spPr>
        <p:txBody>
          <a:bodyPr wrap="square" anchor="t" lIns="0" rIns="0" tIns="0" bIns="0">
            <a:spAutoFit/>
          </a:bodyPr>
          <a:lstStyle/>
          <a:p>
            <a:pPr algn="ctr">
              <a:lnSpc>
                <a:spcPct val="125000"/>
              </a:lnSpc>
            </a:pPr>
            <a:r>
              <a:rPr sz="1700" b="1" i="0">
                <a:solidFill>
                  <a:srgbClr val="1E4FA8"/>
                </a:solidFill>
                <a:latin typeface="Source Han Sans SC"/>
              </a:rPr>
              <a:t>04</a:t>
            </a:r>
          </a:p>
        </p:txBody>
      </p:sp>
      <p:sp>
        <p:nvSpPr>
          <p:cNvPr id="40" name="TextBox 39"/>
          <p:cNvSpPr txBox="1"/>
          <p:nvPr/>
        </p:nvSpPr>
        <p:spPr>
          <a:xfrm>
            <a:off x="4687200" y="4046400"/>
            <a:ext cx="4320000" cy="277200"/>
          </a:xfrm>
          <a:prstGeom prst="rect">
            <a:avLst/>
          </a:prstGeom>
          <a:noFill/>
        </p:spPr>
        <p:txBody>
          <a:bodyPr wrap="square" anchor="t" lIns="0" rIns="0" tIns="0" bIns="0">
            <a:spAutoFit/>
          </a:bodyPr>
          <a:lstStyle/>
          <a:p>
            <a:pPr algn="l">
              <a:lnSpc>
                <a:spcPct val="125000"/>
              </a:lnSpc>
            </a:pPr>
            <a:r>
              <a:rPr sz="1600" b="1" i="0">
                <a:solidFill>
                  <a:srgbClr val="0E3F8C"/>
                </a:solidFill>
                <a:latin typeface="Source Han Sans SC"/>
              </a:rPr>
              <a:t>The Five-Step Training Loop</a:t>
            </a:r>
          </a:p>
        </p:txBody>
      </p:sp>
      <p:sp>
        <p:nvSpPr>
          <p:cNvPr id="41" name="TextBox 40"/>
          <p:cNvSpPr txBox="1"/>
          <p:nvPr/>
        </p:nvSpPr>
        <p:spPr>
          <a:xfrm>
            <a:off x="4687200" y="4334400"/>
            <a:ext cx="4320000" cy="162000"/>
          </a:xfrm>
          <a:prstGeom prst="rect">
            <a:avLst/>
          </a:prstGeom>
          <a:noFill/>
        </p:spPr>
        <p:txBody>
          <a:bodyPr wrap="square" anchor="t" lIns="0" rIns="0" tIns="0" bIns="0">
            <a:spAutoFit/>
          </a:bodyPr>
          <a:lstStyle/>
          <a:p>
            <a:pPr algn="l">
              <a:lnSpc>
                <a:spcPct val="125000"/>
              </a:lnSpc>
            </a:pPr>
            <a:r>
              <a:rPr sz="1150" b="1" i="0">
                <a:solidFill>
                  <a:srgbClr val="3D7BD9"/>
                </a:solidFill>
                <a:latin typeface="Source Han Sans SC"/>
              </a:rPr>
              <a:t>Training loop</a:t>
            </a:r>
          </a:p>
        </p:txBody>
      </p:sp>
      <p:sp>
        <p:nvSpPr>
          <p:cNvPr id="42" name="TextBox 41"/>
          <p:cNvSpPr txBox="1"/>
          <p:nvPr/>
        </p:nvSpPr>
        <p:spPr>
          <a:xfrm>
            <a:off x="4687200" y="4525200"/>
            <a:ext cx="6249600" cy="162000"/>
          </a:xfrm>
          <a:prstGeom prst="rect">
            <a:avLst/>
          </a:prstGeom>
          <a:noFill/>
        </p:spPr>
        <p:txBody>
          <a:bodyPr wrap="square" anchor="t" lIns="0" rIns="0" tIns="0" bIns="0">
            <a:spAutoFit/>
          </a:bodyPr>
          <a:lstStyle/>
          <a:p>
            <a:pPr algn="l">
              <a:lnSpc>
                <a:spcPct val="125000"/>
              </a:lnSpc>
            </a:pPr>
            <a:r>
              <a:rPr sz="1150" b="0" i="0">
                <a:solidFill>
                  <a:srgbClr val="6B7280"/>
                </a:solidFill>
                <a:latin typeface="Source Han Sans SC"/>
              </a:rPr>
              <a:t>Zero → forward → loss → backward → step · logs and batch size</a:t>
            </a:r>
          </a:p>
        </p:txBody>
      </p:sp>
      <p:sp>
        <p:nvSpPr>
          <p:cNvPr id="43" name="Right Arrow 42"/>
          <p:cNvSpPr/>
          <p:nvPr/>
        </p:nvSpPr>
        <p:spPr>
          <a:xfrm>
            <a:off x="11048400" y="4190400"/>
            <a:ext cx="180000" cy="190800"/>
          </a:xfrm>
          <a:prstGeom prst="rightArrow">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Rectangle 43"/>
          <p:cNvSpPr/>
          <p:nvPr/>
        </p:nvSpPr>
        <p:spPr>
          <a:xfrm>
            <a:off x="3924000" y="4658400"/>
            <a:ext cx="7466399" cy="7632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ectangle 44"/>
          <p:cNvSpPr/>
          <p:nvPr/>
        </p:nvSpPr>
        <p:spPr>
          <a:xfrm>
            <a:off x="3999600" y="4780800"/>
            <a:ext cx="496799" cy="496799"/>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3999600" y="4881600"/>
            <a:ext cx="496799" cy="230400"/>
          </a:xfrm>
          <a:prstGeom prst="rect">
            <a:avLst/>
          </a:prstGeom>
          <a:noFill/>
        </p:spPr>
        <p:txBody>
          <a:bodyPr wrap="square" anchor="t" lIns="0" rIns="0" tIns="0" bIns="0">
            <a:spAutoFit/>
          </a:bodyPr>
          <a:lstStyle/>
          <a:p>
            <a:pPr algn="ctr">
              <a:lnSpc>
                <a:spcPct val="125000"/>
              </a:lnSpc>
            </a:pPr>
            <a:r>
              <a:rPr sz="1700" b="1" i="0">
                <a:solidFill>
                  <a:srgbClr val="1E4FA8"/>
                </a:solidFill>
                <a:latin typeface="Source Han Sans SC"/>
              </a:rPr>
              <a:t>05</a:t>
            </a:r>
          </a:p>
        </p:txBody>
      </p:sp>
      <p:sp>
        <p:nvSpPr>
          <p:cNvPr id="47" name="TextBox 46"/>
          <p:cNvSpPr txBox="1"/>
          <p:nvPr/>
        </p:nvSpPr>
        <p:spPr>
          <a:xfrm>
            <a:off x="4687200" y="4798800"/>
            <a:ext cx="4320000" cy="277200"/>
          </a:xfrm>
          <a:prstGeom prst="rect">
            <a:avLst/>
          </a:prstGeom>
          <a:noFill/>
        </p:spPr>
        <p:txBody>
          <a:bodyPr wrap="square" anchor="t" lIns="0" rIns="0" tIns="0" bIns="0">
            <a:spAutoFit/>
          </a:bodyPr>
          <a:lstStyle/>
          <a:p>
            <a:pPr algn="l">
              <a:lnSpc>
                <a:spcPct val="125000"/>
              </a:lnSpc>
            </a:pPr>
            <a:r>
              <a:rPr sz="1600" b="1" i="0">
                <a:solidFill>
                  <a:srgbClr val="0E3F8C"/>
                </a:solidFill>
                <a:latin typeface="Source Han Sans SC"/>
              </a:rPr>
              <a:t>Lab · Optimizers × Learning Rates</a:t>
            </a:r>
          </a:p>
        </p:txBody>
      </p:sp>
      <p:sp>
        <p:nvSpPr>
          <p:cNvPr id="48" name="TextBox 47"/>
          <p:cNvSpPr txBox="1"/>
          <p:nvPr/>
        </p:nvSpPr>
        <p:spPr>
          <a:xfrm>
            <a:off x="4687200" y="5086800"/>
            <a:ext cx="4320000" cy="162000"/>
          </a:xfrm>
          <a:prstGeom prst="rect">
            <a:avLst/>
          </a:prstGeom>
          <a:noFill/>
        </p:spPr>
        <p:txBody>
          <a:bodyPr wrap="square" anchor="t" lIns="0" rIns="0" tIns="0" bIns="0">
            <a:spAutoFit/>
          </a:bodyPr>
          <a:lstStyle/>
          <a:p>
            <a:pPr algn="l">
              <a:lnSpc>
                <a:spcPct val="125000"/>
              </a:lnSpc>
            </a:pPr>
            <a:r>
              <a:rPr sz="1150" b="1" i="0">
                <a:solidFill>
                  <a:srgbClr val="3D7BD9"/>
                </a:solidFill>
                <a:latin typeface="Source Han Sans SC"/>
              </a:rPr>
              <a:t>Hands-On Lab</a:t>
            </a:r>
          </a:p>
        </p:txBody>
      </p:sp>
      <p:sp>
        <p:nvSpPr>
          <p:cNvPr id="49" name="TextBox 48"/>
          <p:cNvSpPr txBox="1"/>
          <p:nvPr/>
        </p:nvSpPr>
        <p:spPr>
          <a:xfrm>
            <a:off x="4687200" y="5277600"/>
            <a:ext cx="6249600" cy="162000"/>
          </a:xfrm>
          <a:prstGeom prst="rect">
            <a:avLst/>
          </a:prstGeom>
          <a:noFill/>
        </p:spPr>
        <p:txBody>
          <a:bodyPr wrap="square" anchor="t" lIns="0" rIns="0" tIns="0" bIns="0">
            <a:spAutoFit/>
          </a:bodyPr>
          <a:lstStyle/>
          <a:p>
            <a:pPr algn="l">
              <a:lnSpc>
                <a:spcPct val="125000"/>
              </a:lnSpc>
            </a:pPr>
            <a:r>
              <a:rPr sz="1150" b="0" i="0">
                <a:solidFill>
                  <a:srgbClr val="6B7280"/>
                </a:solidFill>
                <a:latin typeface="Source Han Sans SC"/>
              </a:rPr>
              <a:t>3 optimizers x 3 learning rates · loss/accuracy curves · the best combo and why</a:t>
            </a:r>
          </a:p>
        </p:txBody>
      </p:sp>
      <p:sp>
        <p:nvSpPr>
          <p:cNvPr id="50" name="Right Arrow 49"/>
          <p:cNvSpPr/>
          <p:nvPr/>
        </p:nvSpPr>
        <p:spPr>
          <a:xfrm>
            <a:off x="11048400" y="4942800"/>
            <a:ext cx="180000" cy="190800"/>
          </a:xfrm>
          <a:prstGeom prst="rightArrow">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936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4732919" y="381600"/>
            <a:ext cx="6667200" cy="5648400"/>
          </a:xfrm>
          <a:prstGeom prst="rect">
            <a:avLst/>
          </a:prstGeom>
          <a:noFill/>
        </p:spPr>
        <p:txBody>
          <a:bodyPr wrap="square" anchor="t" lIns="0" rIns="0" tIns="0" bIns="0">
            <a:spAutoFit/>
          </a:bodyPr>
          <a:lstStyle/>
          <a:p>
            <a:pPr algn="r">
              <a:lnSpc>
                <a:spcPct val="125000"/>
              </a:lnSpc>
            </a:pPr>
            <a:r>
              <a:rPr sz="17000" b="1" i="0">
                <a:solidFill>
                  <a:srgbClr val="F0F5FC"/>
                </a:solidFill>
                <a:latin typeface="Source Han Sans SC"/>
              </a:rPr>
              <a:t>01</a:t>
            </a:r>
          </a:p>
        </p:txBody>
      </p:sp>
      <p:sp>
        <p:nvSpPr>
          <p:cNvPr id="5" name="Rectangle 4"/>
          <p:cNvSpPr/>
          <p:nvPr/>
        </p:nvSpPr>
        <p:spPr>
          <a:xfrm>
            <a:off x="856800" y="1047600"/>
            <a:ext cx="1238400" cy="12384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1180800" y="1314000"/>
            <a:ext cx="601200" cy="712800"/>
          </a:xfrm>
          <a:prstGeom prst="rect">
            <a:avLst/>
          </a:prstGeom>
          <a:noFill/>
        </p:spPr>
        <p:txBody>
          <a:bodyPr wrap="square" anchor="t" lIns="0" rIns="0" tIns="0" bIns="0">
            <a:spAutoFit/>
          </a:bodyPr>
          <a:lstStyle/>
          <a:p>
            <a:pPr algn="ctr">
              <a:lnSpc>
                <a:spcPct val="125000"/>
              </a:lnSpc>
            </a:pPr>
            <a:r>
              <a:rPr sz="3200" b="1" i="0">
                <a:solidFill>
                  <a:srgbClr val="FFFFFF"/>
                </a:solidFill>
                <a:latin typeface="Source Han Sans SC"/>
              </a:rPr>
              <a:t>01</a:t>
            </a:r>
          </a:p>
        </p:txBody>
      </p:sp>
      <p:sp>
        <p:nvSpPr>
          <p:cNvPr id="7" name="TextBox 6"/>
          <p:cNvSpPr txBox="1"/>
          <p:nvPr/>
        </p:nvSpPr>
        <p:spPr>
          <a:xfrm>
            <a:off x="2379600" y="1105200"/>
            <a:ext cx="5040000" cy="503999"/>
          </a:xfrm>
          <a:prstGeom prst="rect">
            <a:avLst/>
          </a:prstGeom>
          <a:noFill/>
        </p:spPr>
        <p:txBody>
          <a:bodyPr wrap="square" anchor="t" lIns="0" rIns="0" tIns="0" bIns="0">
            <a:spAutoFit/>
          </a:bodyPr>
          <a:lstStyle/>
          <a:p>
            <a:pPr algn="l">
              <a:lnSpc>
                <a:spcPct val="125000"/>
              </a:lnSpc>
            </a:pPr>
            <a:r>
              <a:rPr sz="3000" b="1" i="0">
                <a:solidFill>
                  <a:srgbClr val="0E3F8C"/>
                </a:solidFill>
                <a:latin typeface="Source Han Sans SC"/>
              </a:rPr>
              <a:t>The Loss: What We Optimise</a:t>
            </a:r>
          </a:p>
        </p:txBody>
      </p:sp>
      <p:sp>
        <p:nvSpPr>
          <p:cNvPr id="8" name="TextBox 7"/>
          <p:cNvSpPr txBox="1"/>
          <p:nvPr/>
        </p:nvSpPr>
        <p:spPr>
          <a:xfrm>
            <a:off x="2379600" y="1666800"/>
            <a:ext cx="5040000" cy="306000"/>
          </a:xfrm>
          <a:prstGeom prst="rect">
            <a:avLst/>
          </a:prstGeom>
          <a:noFill/>
        </p:spPr>
        <p:txBody>
          <a:bodyPr wrap="square" anchor="t" lIns="0" rIns="0" tIns="0" bIns="0">
            <a:spAutoFit/>
          </a:bodyPr>
          <a:lstStyle/>
          <a:p>
            <a:pPr algn="l">
              <a:lnSpc>
                <a:spcPct val="125000"/>
              </a:lnSpc>
            </a:pPr>
            <a:r>
              <a:rPr sz="1500" b="0" i="0">
                <a:solidFill>
                  <a:srgbClr val="3D7BD9"/>
                </a:solidFill>
                <a:latin typeface="Source Han Sans SC"/>
              </a:rPr>
              <a:t>Loss</a:t>
            </a:r>
          </a:p>
        </p:txBody>
      </p:sp>
      <p:sp>
        <p:nvSpPr>
          <p:cNvPr id="9" name="TextBox 8"/>
          <p:cNvSpPr txBox="1"/>
          <p:nvPr/>
        </p:nvSpPr>
        <p:spPr>
          <a:xfrm>
            <a:off x="799200" y="2736000"/>
            <a:ext cx="8640000" cy="1620000"/>
          </a:xfrm>
          <a:prstGeom prst="rect">
            <a:avLst/>
          </a:prstGeom>
          <a:noFill/>
        </p:spPr>
        <p:txBody>
          <a:bodyPr wrap="square" anchor="t" lIns="0" rIns="0" tIns="0" bIns="0">
            <a:spAutoFit/>
          </a:bodyPr>
          <a:lstStyle/>
          <a:p>
            <a:pPr algn="l">
              <a:lnSpc>
                <a:spcPct val="150000"/>
              </a:lnSpc>
            </a:pPr>
            <a:r>
              <a:rPr sz="1500" b="0" i="0">
                <a:solidFill>
                  <a:srgbClr val="1F2937"/>
                </a:solidFill>
                <a:latin typeface="Source Han Sans SC"/>
              </a:rPr>
              <a:t>Training is not vaguely "making the model better" — it is driving one number down.
The loss function is that number; choose it wrongly and the model spends its effort where you do not care.</a:t>
            </a:r>
          </a:p>
        </p:txBody>
      </p:sp>
      <p:sp>
        <p:nvSpPr>
          <p:cNvPr id="10" name="Rectangle 9"/>
          <p:cNvSpPr/>
          <p:nvPr/>
        </p:nvSpPr>
        <p:spPr>
          <a:xfrm>
            <a:off x="799200" y="5000400"/>
            <a:ext cx="3380039" cy="810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799200"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8000" y="5173200"/>
            <a:ext cx="2962439" cy="255600"/>
          </a:xfrm>
          <a:prstGeom prst="rect">
            <a:avLst/>
          </a:prstGeom>
          <a:noFill/>
        </p:spPr>
        <p:txBody>
          <a:bodyPr wrap="square" anchor="t" lIns="0" rIns="0" tIns="0" bIns="0">
            <a:spAutoFit/>
          </a:bodyPr>
          <a:lstStyle/>
          <a:p>
            <a:pPr algn="l">
              <a:lnSpc>
                <a:spcPct val="125000"/>
              </a:lnSpc>
            </a:pPr>
            <a:r>
              <a:rPr sz="1500" b="1" i="0">
                <a:solidFill>
                  <a:srgbClr val="0E3F8C"/>
                </a:solidFill>
                <a:latin typeface="Source Han Sans SC"/>
              </a:rPr>
              <a:t>Task Decides</a:t>
            </a:r>
          </a:p>
        </p:txBody>
      </p:sp>
      <p:sp>
        <p:nvSpPr>
          <p:cNvPr id="13" name="TextBox 12"/>
          <p:cNvSpPr txBox="1"/>
          <p:nvPr/>
        </p:nvSpPr>
        <p:spPr>
          <a:xfrm>
            <a:off x="1008000" y="5468400"/>
            <a:ext cx="2962439" cy="172800"/>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Multi-class / binary / regression</a:t>
            </a:r>
          </a:p>
        </p:txBody>
      </p:sp>
      <p:sp>
        <p:nvSpPr>
          <p:cNvPr id="14" name="Rectangle 13"/>
          <p:cNvSpPr/>
          <p:nvPr/>
        </p:nvSpPr>
        <p:spPr>
          <a:xfrm>
            <a:off x="4406040" y="5000400"/>
            <a:ext cx="3380039" cy="810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406040"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614840" y="5173200"/>
            <a:ext cx="2962439" cy="255600"/>
          </a:xfrm>
          <a:prstGeom prst="rect">
            <a:avLst/>
          </a:prstGeom>
          <a:noFill/>
        </p:spPr>
        <p:txBody>
          <a:bodyPr wrap="square" anchor="t" lIns="0" rIns="0" tIns="0" bIns="0">
            <a:spAutoFit/>
          </a:bodyPr>
          <a:lstStyle/>
          <a:p>
            <a:pPr algn="l">
              <a:lnSpc>
                <a:spcPct val="125000"/>
              </a:lnSpc>
            </a:pPr>
            <a:r>
              <a:rPr sz="1500" b="1" i="0">
                <a:solidFill>
                  <a:srgbClr val="0E3F8C"/>
                </a:solidFill>
                <a:latin typeface="Source Han Sans SC"/>
              </a:rPr>
              <a:t>Activation Inside</a:t>
            </a:r>
          </a:p>
        </p:txBody>
      </p:sp>
      <p:sp>
        <p:nvSpPr>
          <p:cNvPr id="17" name="TextBox 16"/>
          <p:cNvSpPr txBox="1"/>
          <p:nvPr/>
        </p:nvSpPr>
        <p:spPr>
          <a:xfrm>
            <a:off x="4614840" y="5468400"/>
            <a:ext cx="2962439" cy="172800"/>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Do not softmax by hand</a:t>
            </a:r>
          </a:p>
        </p:txBody>
      </p:sp>
      <p:sp>
        <p:nvSpPr>
          <p:cNvPr id="18" name="Rectangle 17"/>
          <p:cNvSpPr/>
          <p:nvPr/>
        </p:nvSpPr>
        <p:spPr>
          <a:xfrm>
            <a:off x="8012879" y="5000400"/>
            <a:ext cx="3380039" cy="810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8012879"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221679" y="5173200"/>
            <a:ext cx="2962439" cy="255600"/>
          </a:xfrm>
          <a:prstGeom prst="rect">
            <a:avLst/>
          </a:prstGeom>
          <a:noFill/>
        </p:spPr>
        <p:txBody>
          <a:bodyPr wrap="square" anchor="t" lIns="0" rIns="0" tIns="0" bIns="0">
            <a:spAutoFit/>
          </a:bodyPr>
          <a:lstStyle/>
          <a:p>
            <a:pPr algn="l">
              <a:lnSpc>
                <a:spcPct val="125000"/>
              </a:lnSpc>
            </a:pPr>
            <a:r>
              <a:rPr sz="1500" b="1" i="0">
                <a:solidFill>
                  <a:srgbClr val="0E3F8C"/>
                </a:solidFill>
                <a:latin typeface="Source Han Sans SC"/>
              </a:rPr>
              <a:t>Numerically Stable</a:t>
            </a:r>
          </a:p>
        </p:txBody>
      </p:sp>
      <p:sp>
        <p:nvSpPr>
          <p:cNvPr id="21" name="TextBox 20"/>
          <p:cNvSpPr txBox="1"/>
          <p:nvPr/>
        </p:nvSpPr>
        <p:spPr>
          <a:xfrm>
            <a:off x="8221679" y="5468400"/>
            <a:ext cx="2962439" cy="172800"/>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The logits version is safer</a:t>
            </a:r>
          </a:p>
        </p:txBody>
      </p:sp>
      <p:sp>
        <p:nvSpPr>
          <p:cNvPr id="22" name="TextBox 21"/>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5</a:t>
            </a:r>
          </a:p>
        </p:txBody>
      </p:sp>
      <p:sp>
        <p:nvSpPr>
          <p:cNvPr id="23" name="TextBox 22"/>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03 / 29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556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Three Task Types, Three Losses</a:t>
            </a:r>
          </a:p>
        </p:txBody>
      </p:sp>
      <p:sp>
        <p:nvSpPr>
          <p:cNvPr id="6" name="TextBox 5"/>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Module 2 · Week 5</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5</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04 / 29</a:t>
            </a:r>
          </a:p>
        </p:txBody>
      </p:sp>
      <p:sp>
        <p:nvSpPr>
          <p:cNvPr id="9" name="Rectangle 8"/>
          <p:cNvSpPr/>
          <p:nvPr/>
        </p:nvSpPr>
        <p:spPr>
          <a:xfrm>
            <a:off x="799200" y="1296000"/>
            <a:ext cx="3387239" cy="2304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99200" y="1296000"/>
            <a:ext cx="32400" cy="23040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22400" y="1483200"/>
            <a:ext cx="2940839" cy="223200"/>
          </a:xfrm>
          <a:prstGeom prst="rect">
            <a:avLst/>
          </a:prstGeom>
          <a:noFill/>
        </p:spPr>
        <p:txBody>
          <a:bodyPr wrap="square" anchor="t" lIns="0" rIns="0" tIns="0" bIns="0">
            <a:spAutoFit/>
          </a:bodyPr>
          <a:lstStyle/>
          <a:p>
            <a:pPr algn="l">
              <a:lnSpc>
                <a:spcPct val="125000"/>
              </a:lnSpc>
            </a:pPr>
            <a:r>
              <a:rPr sz="1550" b="1" i="0">
                <a:solidFill>
                  <a:srgbClr val="0E3F8C"/>
                </a:solidFill>
                <a:latin typeface="Source Han Sans SC"/>
              </a:rPr>
              <a:t>Multi-class</a:t>
            </a:r>
          </a:p>
        </p:txBody>
      </p:sp>
      <p:sp>
        <p:nvSpPr>
          <p:cNvPr id="12" name="TextBox 11"/>
          <p:cNvSpPr txBox="1"/>
          <p:nvPr/>
        </p:nvSpPr>
        <p:spPr>
          <a:xfrm>
            <a:off x="1022400" y="1713600"/>
            <a:ext cx="2940839" cy="151200"/>
          </a:xfrm>
          <a:prstGeom prst="rect">
            <a:avLst/>
          </a:prstGeom>
          <a:noFill/>
        </p:spPr>
        <p:txBody>
          <a:bodyPr wrap="square" anchor="t" lIns="0" rIns="0" tIns="0" bIns="0">
            <a:spAutoFit/>
          </a:bodyPr>
          <a:lstStyle/>
          <a:p>
            <a:pPr algn="l">
              <a:lnSpc>
                <a:spcPct val="125000"/>
              </a:lnSpc>
            </a:pPr>
            <a:r>
              <a:rPr sz="1100" b="1" i="0">
                <a:solidFill>
                  <a:srgbClr val="3D7BD9"/>
                </a:solidFill>
                <a:latin typeface="Source Han Sans SC"/>
              </a:rPr>
              <a:t>nn.CrossEntropyLoss</a:t>
            </a:r>
          </a:p>
        </p:txBody>
      </p:sp>
      <p:sp>
        <p:nvSpPr>
          <p:cNvPr id="13" name="TextBox 12"/>
          <p:cNvSpPr txBox="1"/>
          <p:nvPr/>
        </p:nvSpPr>
        <p:spPr>
          <a:xfrm>
            <a:off x="1022400" y="1915200"/>
            <a:ext cx="2940839" cy="1540799"/>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Takes raw logits of shape (N, C)</a:t>
            </a:r>
          </a:p>
          <a:p>
            <a:pPr algn="l">
              <a:lnSpc>
                <a:spcPct val="140000"/>
              </a:lnSpc>
              <a:spcAft>
                <a:spcPts val="400"/>
              </a:spcAft>
            </a:pPr>
            <a:r>
              <a:rPr sz="1200" b="0" i="0">
                <a:solidFill>
                  <a:srgbClr val="1F2937"/>
                </a:solidFill>
                <a:latin typeface="Source Han Sans SC"/>
              </a:rPr>
              <a:t>• Labels are class indices (long)</a:t>
            </a:r>
          </a:p>
          <a:p>
            <a:pPr algn="l">
              <a:lnSpc>
                <a:spcPct val="140000"/>
              </a:lnSpc>
              <a:spcAft>
                <a:spcPts val="400"/>
              </a:spcAft>
            </a:pPr>
            <a:r>
              <a:rPr sz="1200" b="0" i="0">
                <a:solidFill>
                  <a:srgbClr val="1F2937"/>
                </a:solidFill>
                <a:latin typeface="Source Han Sans SC"/>
              </a:rPr>
              <a:t>• softmax is built in — do not repeat it</a:t>
            </a:r>
          </a:p>
          <a:p>
            <a:pPr algn="l">
              <a:lnSpc>
                <a:spcPct val="140000"/>
              </a:lnSpc>
              <a:spcAft>
                <a:spcPts val="400"/>
              </a:spcAft>
            </a:pPr>
            <a:r>
              <a:rPr sz="1200" b="0" i="0">
                <a:solidFill>
                  <a:srgbClr val="1F2937"/>
                </a:solidFill>
                <a:latin typeface="Source Han Sans SC"/>
              </a:rPr>
              <a:t>• e.g. 10-class image classification</a:t>
            </a:r>
          </a:p>
        </p:txBody>
      </p:sp>
      <p:sp>
        <p:nvSpPr>
          <p:cNvPr id="14" name="Rectangle 13"/>
          <p:cNvSpPr/>
          <p:nvPr/>
        </p:nvSpPr>
        <p:spPr>
          <a:xfrm>
            <a:off x="4402440" y="1296000"/>
            <a:ext cx="3387239" cy="2304000"/>
          </a:xfrm>
          <a:prstGeom prst="rect">
            <a:avLst/>
          </a:prstGeom>
          <a:solidFill>
            <a:srgbClr val="FFFBEB"/>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402440" y="1296000"/>
            <a:ext cx="32400" cy="23040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625639" y="1483200"/>
            <a:ext cx="2940839" cy="223200"/>
          </a:xfrm>
          <a:prstGeom prst="rect">
            <a:avLst/>
          </a:prstGeom>
          <a:noFill/>
        </p:spPr>
        <p:txBody>
          <a:bodyPr wrap="square" anchor="t" lIns="0" rIns="0" tIns="0" bIns="0">
            <a:spAutoFit/>
          </a:bodyPr>
          <a:lstStyle/>
          <a:p>
            <a:pPr algn="l">
              <a:lnSpc>
                <a:spcPct val="125000"/>
              </a:lnSpc>
            </a:pPr>
            <a:r>
              <a:rPr sz="1550" b="1" i="0">
                <a:solidFill>
                  <a:srgbClr val="0E3F8C"/>
                </a:solidFill>
                <a:latin typeface="Source Han Sans SC"/>
              </a:rPr>
              <a:t>Binary / Multi-label</a:t>
            </a:r>
          </a:p>
        </p:txBody>
      </p:sp>
      <p:sp>
        <p:nvSpPr>
          <p:cNvPr id="17" name="TextBox 16"/>
          <p:cNvSpPr txBox="1"/>
          <p:nvPr/>
        </p:nvSpPr>
        <p:spPr>
          <a:xfrm>
            <a:off x="4625639" y="1713600"/>
            <a:ext cx="2940839" cy="151200"/>
          </a:xfrm>
          <a:prstGeom prst="rect">
            <a:avLst/>
          </a:prstGeom>
          <a:noFill/>
        </p:spPr>
        <p:txBody>
          <a:bodyPr wrap="square" anchor="t" lIns="0" rIns="0" tIns="0" bIns="0">
            <a:spAutoFit/>
          </a:bodyPr>
          <a:lstStyle/>
          <a:p>
            <a:pPr algn="l">
              <a:lnSpc>
                <a:spcPct val="125000"/>
              </a:lnSpc>
            </a:pPr>
            <a:r>
              <a:rPr sz="1100" b="1" i="0">
                <a:solidFill>
                  <a:srgbClr val="3D7BD9"/>
                </a:solidFill>
                <a:latin typeface="Source Han Sans SC"/>
              </a:rPr>
              <a:t>nn.BCEWithLogitsLoss</a:t>
            </a:r>
          </a:p>
        </p:txBody>
      </p:sp>
      <p:sp>
        <p:nvSpPr>
          <p:cNvPr id="18" name="TextBox 17"/>
          <p:cNvSpPr txBox="1"/>
          <p:nvPr/>
        </p:nvSpPr>
        <p:spPr>
          <a:xfrm>
            <a:off x="4625639" y="1915200"/>
            <a:ext cx="2940839" cy="1540799"/>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Takes logits, shape (N,) or (N, 1)</a:t>
            </a:r>
          </a:p>
          <a:p>
            <a:pPr algn="l">
              <a:lnSpc>
                <a:spcPct val="140000"/>
              </a:lnSpc>
              <a:spcAft>
                <a:spcPts val="400"/>
              </a:spcAft>
            </a:pPr>
            <a:r>
              <a:rPr sz="1200" b="0" i="0">
                <a:solidFill>
                  <a:srgbClr val="1F2937"/>
                </a:solidFill>
                <a:latin typeface="Source Han Sans SC"/>
              </a:rPr>
              <a:t>• Targets must be float (0.0 / 1.0)</a:t>
            </a:r>
          </a:p>
          <a:p>
            <a:pPr algn="l">
              <a:lnSpc>
                <a:spcPct val="140000"/>
              </a:lnSpc>
              <a:spcAft>
                <a:spcPts val="400"/>
              </a:spcAft>
            </a:pPr>
            <a:r>
              <a:rPr sz="1200" b="0" i="0">
                <a:solidFill>
                  <a:srgbClr val="1F2937"/>
                </a:solidFill>
                <a:latin typeface="Source Han Sans SC"/>
              </a:rPr>
              <a:t>• sigmoid is built in</a:t>
            </a:r>
          </a:p>
          <a:p>
            <a:pPr algn="l">
              <a:lnSpc>
                <a:spcPct val="140000"/>
              </a:lnSpc>
              <a:spcAft>
                <a:spcPts val="400"/>
              </a:spcAft>
            </a:pPr>
            <a:r>
              <a:rPr sz="1200" b="0" i="0">
                <a:solidFill>
                  <a:srgbClr val="1F2937"/>
                </a:solidFill>
                <a:latin typeface="Source Han Sans SC"/>
              </a:rPr>
              <a:t>• For multi-label each class is independent</a:t>
            </a:r>
          </a:p>
        </p:txBody>
      </p:sp>
      <p:sp>
        <p:nvSpPr>
          <p:cNvPr id="19" name="Rectangle 18"/>
          <p:cNvSpPr/>
          <p:nvPr/>
        </p:nvSpPr>
        <p:spPr>
          <a:xfrm>
            <a:off x="8005679" y="1296000"/>
            <a:ext cx="3387239" cy="2304000"/>
          </a:xfrm>
          <a:prstGeom prst="rect">
            <a:avLst/>
          </a:prstGeom>
          <a:solidFill>
            <a:srgbClr val="ECFDF5"/>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8005679" y="1296000"/>
            <a:ext cx="32400" cy="23040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228879" y="1483200"/>
            <a:ext cx="2940839" cy="223200"/>
          </a:xfrm>
          <a:prstGeom prst="rect">
            <a:avLst/>
          </a:prstGeom>
          <a:noFill/>
        </p:spPr>
        <p:txBody>
          <a:bodyPr wrap="square" anchor="t" lIns="0" rIns="0" tIns="0" bIns="0">
            <a:spAutoFit/>
          </a:bodyPr>
          <a:lstStyle/>
          <a:p>
            <a:pPr algn="l">
              <a:lnSpc>
                <a:spcPct val="125000"/>
              </a:lnSpc>
            </a:pPr>
            <a:r>
              <a:rPr sz="1550" b="1" i="0">
                <a:solidFill>
                  <a:srgbClr val="0E3F8C"/>
                </a:solidFill>
                <a:latin typeface="Source Han Sans SC"/>
              </a:rPr>
              <a:t>Regression</a:t>
            </a:r>
          </a:p>
        </p:txBody>
      </p:sp>
      <p:sp>
        <p:nvSpPr>
          <p:cNvPr id="22" name="TextBox 21"/>
          <p:cNvSpPr txBox="1"/>
          <p:nvPr/>
        </p:nvSpPr>
        <p:spPr>
          <a:xfrm>
            <a:off x="8228879" y="1713600"/>
            <a:ext cx="2940839" cy="151200"/>
          </a:xfrm>
          <a:prstGeom prst="rect">
            <a:avLst/>
          </a:prstGeom>
          <a:noFill/>
        </p:spPr>
        <p:txBody>
          <a:bodyPr wrap="square" anchor="t" lIns="0" rIns="0" tIns="0" bIns="0">
            <a:spAutoFit/>
          </a:bodyPr>
          <a:lstStyle/>
          <a:p>
            <a:pPr algn="l">
              <a:lnSpc>
                <a:spcPct val="125000"/>
              </a:lnSpc>
            </a:pPr>
            <a:r>
              <a:rPr sz="1100" b="1" i="0">
                <a:solidFill>
                  <a:srgbClr val="3D7BD9"/>
                </a:solidFill>
                <a:latin typeface="Source Han Sans SC"/>
              </a:rPr>
              <a:t>nn.MSELoss</a:t>
            </a:r>
          </a:p>
        </p:txBody>
      </p:sp>
      <p:sp>
        <p:nvSpPr>
          <p:cNvPr id="23" name="TextBox 22"/>
          <p:cNvSpPr txBox="1"/>
          <p:nvPr/>
        </p:nvSpPr>
        <p:spPr>
          <a:xfrm>
            <a:off x="8228879" y="1915200"/>
            <a:ext cx="2940839" cy="1540799"/>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Predicts a continuous value: price, temperature</a:t>
            </a:r>
          </a:p>
          <a:p>
            <a:pPr algn="l">
              <a:lnSpc>
                <a:spcPct val="140000"/>
              </a:lnSpc>
              <a:spcAft>
                <a:spcPts val="400"/>
              </a:spcAft>
            </a:pPr>
            <a:r>
              <a:rPr sz="1200" b="0" i="0">
                <a:solidFill>
                  <a:srgbClr val="1F2937"/>
                </a:solidFill>
                <a:latin typeface="Source Han Sans SC"/>
              </a:rPr>
              <a:t>• No activation function at all</a:t>
            </a:r>
          </a:p>
          <a:p>
            <a:pPr algn="l">
              <a:lnSpc>
                <a:spcPct val="140000"/>
              </a:lnSpc>
              <a:spcAft>
                <a:spcPts val="400"/>
              </a:spcAft>
            </a:pPr>
            <a:r>
              <a:rPr sz="1200" b="0" i="0">
                <a:solidFill>
                  <a:srgbClr val="1F2937"/>
                </a:solidFill>
                <a:latin typeface="Source Han Sans SC"/>
              </a:rPr>
              <a:t>• Punishes large errors heavily</a:t>
            </a:r>
          </a:p>
          <a:p>
            <a:pPr algn="l">
              <a:lnSpc>
                <a:spcPct val="140000"/>
              </a:lnSpc>
              <a:spcAft>
                <a:spcPts val="400"/>
              </a:spcAft>
            </a:pPr>
            <a:r>
              <a:rPr sz="1200" b="0" i="0">
                <a:solidFill>
                  <a:srgbClr val="1F2937"/>
                </a:solidFill>
                <a:latin typeface="Source Han Sans SC"/>
              </a:rPr>
              <a:t>• With outliers use L1 / SmoothL1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556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Common Loss Functions at a Glance</a:t>
            </a:r>
          </a:p>
        </p:txBody>
      </p:sp>
      <p:sp>
        <p:nvSpPr>
          <p:cNvPr id="6" name="TextBox 5"/>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Module 2 · Week 5</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5</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05 / 29</a:t>
            </a:r>
          </a:p>
        </p:txBody>
      </p:sp>
      <p:graphicFrame>
        <p:nvGraphicFramePr>
          <p:cNvPr id="9" name="Table 8"/>
          <p:cNvGraphicFramePr>
            <a:graphicFrameLocks noGrp="1"/>
          </p:cNvGraphicFramePr>
          <p:nvPr/>
        </p:nvGraphicFramePr>
        <p:xfrm>
          <a:off x="799200" y="1152000"/>
          <a:ext cx="10583999" cy="3456000"/>
        </p:xfrm>
        <a:graphic>
          <a:graphicData uri="http://schemas.openxmlformats.org/drawingml/2006/table">
            <a:tbl>
              <a:tblPr firstRow="1" bandRow="1">
                <a:tableStyleId>{5C22544A-7EE6-4342-B048-85BDC9FD1C3A}</a:tableStyleId>
              </a:tblPr>
              <a:tblGrid>
                <a:gridCol w="1728000"/>
                <a:gridCol w="2376000"/>
                <a:gridCol w="2304000"/>
                <a:gridCol w="2015999"/>
                <a:gridCol w="2160000"/>
              </a:tblGrid>
              <a:tr h="576000">
                <a:tc>
                  <a:txBody>
                    <a:bodyPr/>
                    <a:lstStyle/>
                    <a:p>
                      <a:r>
                        <a:rPr sz="1250" b="1">
                          <a:solidFill>
                            <a:srgbClr val="FFFFFF"/>
                          </a:solidFill>
                          <a:latin typeface="Source Han Sans SC"/>
                        </a:rPr>
                        <a:t>Task</a:t>
                      </a:r>
                    </a:p>
                  </a:txBody>
                  <a:tcPr>
                    <a:solidFill>
                      <a:srgbClr val="0E3F8C"/>
                    </a:solidFill>
                  </a:tcPr>
                </a:tc>
                <a:tc>
                  <a:txBody>
                    <a:bodyPr/>
                    <a:lstStyle/>
                    <a:p>
                      <a:r>
                        <a:rPr sz="1250" b="1">
                          <a:solidFill>
                            <a:srgbClr val="FFFFFF"/>
                          </a:solidFill>
                          <a:latin typeface="Source Han Sans SC"/>
                        </a:rPr>
                        <a:t>Loss</a:t>
                      </a:r>
                    </a:p>
                  </a:txBody>
                  <a:tcPr>
                    <a:solidFill>
                      <a:srgbClr val="0E3F8C"/>
                    </a:solidFill>
                  </a:tcPr>
                </a:tc>
                <a:tc>
                  <a:txBody>
                    <a:bodyPr/>
                    <a:lstStyle/>
                    <a:p>
                      <a:r>
                        <a:rPr sz="1250" b="1">
                          <a:solidFill>
                            <a:srgbClr val="FFFFFF"/>
                          </a:solidFill>
                          <a:latin typeface="Source Han Sans SC"/>
                        </a:rPr>
                        <a:t>Input</a:t>
                      </a:r>
                    </a:p>
                  </a:txBody>
                  <a:tcPr>
                    <a:solidFill>
                      <a:srgbClr val="0E3F8C"/>
                    </a:solidFill>
                  </a:tcPr>
                </a:tc>
                <a:tc>
                  <a:txBody>
                    <a:bodyPr/>
                    <a:lstStyle/>
                    <a:p>
                      <a:r>
                        <a:rPr sz="1250" b="1">
                          <a:solidFill>
                            <a:srgbClr val="FFFFFF"/>
                          </a:solidFill>
                          <a:latin typeface="Source Han Sans SC"/>
                        </a:rPr>
                        <a:t>Output layer</a:t>
                      </a:r>
                    </a:p>
                  </a:txBody>
                  <a:tcPr>
                    <a:solidFill>
                      <a:srgbClr val="0E3F8C"/>
                    </a:solidFill>
                  </a:tcPr>
                </a:tc>
                <a:tc>
                  <a:txBody>
                    <a:bodyPr/>
                    <a:lstStyle/>
                    <a:p>
                      <a:r>
                        <a:rPr sz="1250" b="1">
                          <a:solidFill>
                            <a:srgbClr val="FFFFFF"/>
                          </a:solidFill>
                          <a:latin typeface="Source Han Sans SC"/>
                        </a:rPr>
                        <a:t>Watch out</a:t>
                      </a:r>
                    </a:p>
                  </a:txBody>
                  <a:tcPr>
                    <a:solidFill>
                      <a:srgbClr val="0E3F8C"/>
                    </a:solidFill>
                  </a:tcPr>
                </a:tc>
              </a:tr>
              <a:tr h="576000">
                <a:tc>
                  <a:txBody>
                    <a:bodyPr/>
                    <a:lstStyle/>
                    <a:p>
                      <a:r>
                        <a:rPr sz="1150" b="1">
                          <a:solidFill>
                            <a:srgbClr val="1F2937"/>
                          </a:solidFill>
                          <a:latin typeface="Source Han Sans SC"/>
                        </a:rPr>
                        <a:t>Multi-class</a:t>
                      </a:r>
                    </a:p>
                  </a:txBody>
                  <a:tcPr>
                    <a:solidFill>
                      <a:srgbClr val="FFFFFF"/>
                    </a:solidFill>
                  </a:tcPr>
                </a:tc>
                <a:tc>
                  <a:txBody>
                    <a:bodyPr/>
                    <a:lstStyle/>
                    <a:p>
                      <a:r>
                        <a:rPr sz="1150">
                          <a:solidFill>
                            <a:srgbClr val="1F2937"/>
                          </a:solidFill>
                          <a:latin typeface="Source Han Sans SC"/>
                        </a:rPr>
                        <a:t>CrossEntropyLoss</a:t>
                      </a:r>
                    </a:p>
                  </a:txBody>
                  <a:tcPr>
                    <a:solidFill>
                      <a:srgbClr val="FFFFFF"/>
                    </a:solidFill>
                  </a:tcPr>
                </a:tc>
                <a:tc>
                  <a:txBody>
                    <a:bodyPr/>
                    <a:lstStyle/>
                    <a:p>
                      <a:r>
                        <a:rPr sz="1150">
                          <a:solidFill>
                            <a:srgbClr val="1F2937"/>
                          </a:solidFill>
                          <a:latin typeface="Source Han Sans SC"/>
                        </a:rPr>
                        <a:t>Raw logits (N, C)</a:t>
                      </a:r>
                    </a:p>
                  </a:txBody>
                  <a:tcPr>
                    <a:solidFill>
                      <a:srgbClr val="FFFFFF"/>
                    </a:solidFill>
                  </a:tcPr>
                </a:tc>
                <a:tc>
                  <a:txBody>
                    <a:bodyPr/>
                    <a:lstStyle/>
                    <a:p>
                      <a:r>
                        <a:rPr sz="1150">
                          <a:solidFill>
                            <a:srgbClr val="1F2937"/>
                          </a:solidFill>
                          <a:latin typeface="Source Han Sans SC"/>
                        </a:rPr>
                        <a:t>None (softmax inside)</a:t>
                      </a:r>
                    </a:p>
                  </a:txBody>
                  <a:tcPr>
                    <a:solidFill>
                      <a:srgbClr val="FFFFFF"/>
                    </a:solidFill>
                  </a:tcPr>
                </a:tc>
                <a:tc>
                  <a:txBody>
                    <a:bodyPr/>
                    <a:lstStyle/>
                    <a:p>
                      <a:r>
                        <a:rPr sz="1150">
                          <a:solidFill>
                            <a:srgbClr val="1F2937"/>
                          </a:solidFill>
                          <a:latin typeface="Source Han Sans SC"/>
                        </a:rPr>
                        <a:t>A manual softmax means doing it twice</a:t>
                      </a:r>
                    </a:p>
                  </a:txBody>
                  <a:tcPr>
                    <a:solidFill>
                      <a:srgbClr val="FFFFFF"/>
                    </a:solidFill>
                  </a:tcPr>
                </a:tc>
              </a:tr>
              <a:tr h="576000">
                <a:tc>
                  <a:txBody>
                    <a:bodyPr/>
                    <a:lstStyle/>
                    <a:p>
                      <a:r>
                        <a:rPr sz="1150" b="1">
                          <a:solidFill>
                            <a:srgbClr val="1F2937"/>
                          </a:solidFill>
                          <a:latin typeface="Source Han Sans SC"/>
                        </a:rPr>
                        <a:t>Binary</a:t>
                      </a:r>
                    </a:p>
                  </a:txBody>
                  <a:tcPr>
                    <a:solidFill>
                      <a:srgbClr val="F0F5FC"/>
                    </a:solidFill>
                  </a:tcPr>
                </a:tc>
                <a:tc>
                  <a:txBody>
                    <a:bodyPr/>
                    <a:lstStyle/>
                    <a:p>
                      <a:r>
                        <a:rPr sz="1150">
                          <a:solidFill>
                            <a:srgbClr val="1F2937"/>
                          </a:solidFill>
                          <a:latin typeface="Source Han Sans SC"/>
                        </a:rPr>
                        <a:t>BCEWithLogitsLoss</a:t>
                      </a:r>
                    </a:p>
                  </a:txBody>
                  <a:tcPr>
                    <a:solidFill>
                      <a:srgbClr val="F0F5FC"/>
                    </a:solidFill>
                  </a:tcPr>
                </a:tc>
                <a:tc>
                  <a:txBody>
                    <a:bodyPr/>
                    <a:lstStyle/>
                    <a:p>
                      <a:r>
                        <a:rPr sz="1150">
                          <a:solidFill>
                            <a:srgbClr val="1F2937"/>
                          </a:solidFill>
                          <a:latin typeface="Source Han Sans SC"/>
                        </a:rPr>
                        <a:t>Raw logits (N, 1)</a:t>
                      </a:r>
                    </a:p>
                  </a:txBody>
                  <a:tcPr>
                    <a:solidFill>
                      <a:srgbClr val="F0F5FC"/>
                    </a:solidFill>
                  </a:tcPr>
                </a:tc>
                <a:tc>
                  <a:txBody>
                    <a:bodyPr/>
                    <a:lstStyle/>
                    <a:p>
                      <a:r>
                        <a:rPr sz="1150">
                          <a:solidFill>
                            <a:srgbClr val="1F2937"/>
                          </a:solidFill>
                          <a:latin typeface="Source Han Sans SC"/>
                        </a:rPr>
                        <a:t>None (sigmoid inside)</a:t>
                      </a:r>
                    </a:p>
                  </a:txBody>
                  <a:tcPr>
                    <a:solidFill>
                      <a:srgbClr val="F0F5FC"/>
                    </a:solidFill>
                  </a:tcPr>
                </a:tc>
                <a:tc>
                  <a:txBody>
                    <a:bodyPr/>
                    <a:lstStyle/>
                    <a:p>
                      <a:r>
                        <a:rPr sz="1150">
                          <a:solidFill>
                            <a:srgbClr val="1F2937"/>
                          </a:solidFill>
                          <a:latin typeface="Source Han Sans SC"/>
                        </a:rPr>
                        <a:t>Targets must be float</a:t>
                      </a:r>
                    </a:p>
                  </a:txBody>
                  <a:tcPr>
                    <a:solidFill>
                      <a:srgbClr val="F0F5FC"/>
                    </a:solidFill>
                  </a:tcPr>
                </a:tc>
              </a:tr>
              <a:tr h="576000">
                <a:tc>
                  <a:txBody>
                    <a:bodyPr/>
                    <a:lstStyle/>
                    <a:p>
                      <a:r>
                        <a:rPr sz="1150" b="1">
                          <a:solidFill>
                            <a:srgbClr val="1F2937"/>
                          </a:solidFill>
                          <a:latin typeface="Source Han Sans SC"/>
                        </a:rPr>
                        <a:t>Multi-label</a:t>
                      </a:r>
                    </a:p>
                  </a:txBody>
                  <a:tcPr>
                    <a:solidFill>
                      <a:srgbClr val="FFFFFF"/>
                    </a:solidFill>
                  </a:tcPr>
                </a:tc>
                <a:tc>
                  <a:txBody>
                    <a:bodyPr/>
                    <a:lstStyle/>
                    <a:p>
                      <a:r>
                        <a:rPr sz="1150">
                          <a:solidFill>
                            <a:srgbClr val="1F2937"/>
                          </a:solidFill>
                          <a:latin typeface="Source Han Sans SC"/>
                        </a:rPr>
                        <a:t>BCEWithLogitsLoss</a:t>
                      </a:r>
                    </a:p>
                  </a:txBody>
                  <a:tcPr>
                    <a:solidFill>
                      <a:srgbClr val="FFFFFF"/>
                    </a:solidFill>
                  </a:tcPr>
                </a:tc>
                <a:tc>
                  <a:txBody>
                    <a:bodyPr/>
                    <a:lstStyle/>
                    <a:p>
                      <a:r>
                        <a:rPr sz="1150">
                          <a:solidFill>
                            <a:srgbClr val="1F2937"/>
                          </a:solidFill>
                          <a:latin typeface="Source Han Sans SC"/>
                        </a:rPr>
                        <a:t>Raw logits (N, C)</a:t>
                      </a:r>
                    </a:p>
                  </a:txBody>
                  <a:tcPr>
                    <a:solidFill>
                      <a:srgbClr val="FFFFFF"/>
                    </a:solidFill>
                  </a:tcPr>
                </a:tc>
                <a:tc>
                  <a:txBody>
                    <a:bodyPr/>
                    <a:lstStyle/>
                    <a:p>
                      <a:r>
                        <a:rPr sz="1150">
                          <a:solidFill>
                            <a:srgbClr val="1F2937"/>
                          </a:solidFill>
                          <a:latin typeface="Source Han Sans SC"/>
                        </a:rPr>
                        <a:t>None</a:t>
                      </a:r>
                    </a:p>
                  </a:txBody>
                  <a:tcPr>
                    <a:solidFill>
                      <a:srgbClr val="FFFFFF"/>
                    </a:solidFill>
                  </a:tcPr>
                </a:tc>
                <a:tc>
                  <a:txBody>
                    <a:bodyPr/>
                    <a:lstStyle/>
                    <a:p>
                      <a:r>
                        <a:rPr sz="1150">
                          <a:solidFill>
                            <a:srgbClr val="1F2937"/>
                          </a:solidFill>
                          <a:latin typeface="Source Han Sans SC"/>
                        </a:rPr>
                        <a:t>Classes independent, can co-occur</a:t>
                      </a:r>
                    </a:p>
                  </a:txBody>
                  <a:tcPr>
                    <a:solidFill>
                      <a:srgbClr val="FFFFFF"/>
                    </a:solidFill>
                  </a:tcPr>
                </a:tc>
              </a:tr>
              <a:tr h="576000">
                <a:tc>
                  <a:txBody>
                    <a:bodyPr/>
                    <a:lstStyle/>
                    <a:p>
                      <a:r>
                        <a:rPr sz="1150" b="1">
                          <a:solidFill>
                            <a:srgbClr val="1F2937"/>
                          </a:solidFill>
                          <a:latin typeface="Source Han Sans SC"/>
                        </a:rPr>
                        <a:t>Regression</a:t>
                      </a:r>
                    </a:p>
                  </a:txBody>
                  <a:tcPr>
                    <a:solidFill>
                      <a:srgbClr val="F0F5FC"/>
                    </a:solidFill>
                  </a:tcPr>
                </a:tc>
                <a:tc>
                  <a:txBody>
                    <a:bodyPr/>
                    <a:lstStyle/>
                    <a:p>
                      <a:r>
                        <a:rPr sz="1150">
                          <a:solidFill>
                            <a:srgbClr val="1F2937"/>
                          </a:solidFill>
                          <a:latin typeface="Source Han Sans SC"/>
                        </a:rPr>
                        <a:t>MSELoss</a:t>
                      </a:r>
                    </a:p>
                  </a:txBody>
                  <a:tcPr>
                    <a:solidFill>
                      <a:srgbClr val="F0F5FC"/>
                    </a:solidFill>
                  </a:tcPr>
                </a:tc>
                <a:tc>
                  <a:txBody>
                    <a:bodyPr/>
                    <a:lstStyle/>
                    <a:p>
                      <a:r>
                        <a:rPr sz="1150">
                          <a:solidFill>
                            <a:srgbClr val="1F2937"/>
                          </a:solidFill>
                          <a:latin typeface="Source Han Sans SC"/>
                        </a:rPr>
                        <a:t>Continuous predictions</a:t>
                      </a:r>
                    </a:p>
                  </a:txBody>
                  <a:tcPr>
                    <a:solidFill>
                      <a:srgbClr val="F0F5FC"/>
                    </a:solidFill>
                  </a:tcPr>
                </a:tc>
                <a:tc>
                  <a:txBody>
                    <a:bodyPr/>
                    <a:lstStyle/>
                    <a:p>
                      <a:r>
                        <a:rPr sz="1150">
                          <a:solidFill>
                            <a:srgbClr val="1F2937"/>
                          </a:solidFill>
                          <a:latin typeface="Source Han Sans SC"/>
                        </a:rPr>
                        <a:t>None</a:t>
                      </a:r>
                    </a:p>
                  </a:txBody>
                  <a:tcPr>
                    <a:solidFill>
                      <a:srgbClr val="F0F5FC"/>
                    </a:solidFill>
                  </a:tcPr>
                </a:tc>
                <a:tc>
                  <a:txBody>
                    <a:bodyPr/>
                    <a:lstStyle/>
                    <a:p>
                      <a:r>
                        <a:rPr sz="1150">
                          <a:solidFill>
                            <a:srgbClr val="1F2937"/>
                          </a:solidFill>
                          <a:latin typeface="Source Han Sans SC"/>
                        </a:rPr>
                        <a:t>Very sensitive to outliers</a:t>
                      </a:r>
                    </a:p>
                  </a:txBody>
                  <a:tcPr>
                    <a:solidFill>
                      <a:srgbClr val="F0F5FC"/>
                    </a:solidFill>
                  </a:tcPr>
                </a:tc>
              </a:tr>
              <a:tr h="576000">
                <a:tc>
                  <a:txBody>
                    <a:bodyPr/>
                    <a:lstStyle/>
                    <a:p>
                      <a:r>
                        <a:rPr sz="1150" b="1">
                          <a:solidFill>
                            <a:srgbClr val="1F2937"/>
                          </a:solidFill>
                          <a:latin typeface="Source Han Sans SC"/>
                        </a:rPr>
                        <a:t>Imbalanced</a:t>
                      </a:r>
                    </a:p>
                  </a:txBody>
                  <a:tcPr>
                    <a:solidFill>
                      <a:srgbClr val="FFFFFF"/>
                    </a:solidFill>
                  </a:tcPr>
                </a:tc>
                <a:tc>
                  <a:txBody>
                    <a:bodyPr/>
                    <a:lstStyle/>
                    <a:p>
                      <a:r>
                        <a:rPr sz="1150">
                          <a:solidFill>
                            <a:srgbClr val="1F2937"/>
                          </a:solidFill>
                          <a:latin typeface="Source Han Sans SC"/>
                        </a:rPr>
                        <a:t>CrossEntropyLoss(weight=)</a:t>
                      </a:r>
                    </a:p>
                  </a:txBody>
                  <a:tcPr>
                    <a:solidFill>
                      <a:srgbClr val="FFFFFF"/>
                    </a:solidFill>
                  </a:tcPr>
                </a:tc>
                <a:tc>
                  <a:txBody>
                    <a:bodyPr/>
                    <a:lstStyle/>
                    <a:p>
                      <a:r>
                        <a:rPr sz="1150">
                          <a:solidFill>
                            <a:srgbClr val="1F2937"/>
                          </a:solidFill>
                          <a:latin typeface="Source Han Sans SC"/>
                        </a:rPr>
                        <a:t>Logits + class weights</a:t>
                      </a:r>
                    </a:p>
                  </a:txBody>
                  <a:tcPr>
                    <a:solidFill>
                      <a:srgbClr val="FFFFFF"/>
                    </a:solidFill>
                  </a:tcPr>
                </a:tc>
                <a:tc>
                  <a:txBody>
                    <a:bodyPr/>
                    <a:lstStyle/>
                    <a:p>
                      <a:r>
                        <a:rPr sz="1150">
                          <a:solidFill>
                            <a:srgbClr val="1F2937"/>
                          </a:solidFill>
                          <a:latin typeface="Source Han Sans SC"/>
                        </a:rPr>
                        <a:t>None</a:t>
                      </a:r>
                    </a:p>
                  </a:txBody>
                  <a:tcPr>
                    <a:solidFill>
                      <a:srgbClr val="FFFFFF"/>
                    </a:solidFill>
                  </a:tcPr>
                </a:tc>
                <a:tc>
                  <a:txBody>
                    <a:bodyPr/>
                    <a:lstStyle/>
                    <a:p>
                      <a:r>
                        <a:rPr sz="1150">
                          <a:solidFill>
                            <a:srgbClr val="1F2937"/>
                          </a:solidFill>
                          <a:latin typeface="Source Han Sans SC"/>
                        </a:rPr>
                        <a:t>Set weights as inverse class frequency</a:t>
                      </a:r>
                    </a:p>
                  </a:txBody>
                  <a:tcPr>
                    <a:solidFill>
                      <a:srgbClr val="FFFFFF"/>
                    </a:solidFill>
                  </a:tcPr>
                </a:tc>
              </a:tr>
            </a:tbl>
          </a:graphicData>
        </a:graphic>
      </p:graphicFrame>
      <p:sp>
        <p:nvSpPr>
          <p:cNvPr id="10" name="TextBox 9"/>
          <p:cNvSpPr txBox="1"/>
          <p:nvPr/>
        </p:nvSpPr>
        <p:spPr>
          <a:xfrm>
            <a:off x="799200" y="4752000"/>
            <a:ext cx="10593719" cy="432000"/>
          </a:xfrm>
          <a:prstGeom prst="rect">
            <a:avLst/>
          </a:prstGeom>
          <a:noFill/>
        </p:spPr>
        <p:txBody>
          <a:bodyPr wrap="square" anchor="t" lIns="0" rIns="0" tIns="0" bIns="0">
            <a:spAutoFit/>
          </a:bodyPr>
          <a:lstStyle/>
          <a:p>
            <a:pPr algn="l">
              <a:lnSpc>
                <a:spcPct val="135000"/>
              </a:lnSpc>
            </a:pPr>
            <a:r>
              <a:rPr sz="1150" b="0" i="0">
                <a:solidFill>
                  <a:srgbClr val="6B7280"/>
                </a:solidFill>
                <a:latin typeface="Source Han Sans SC"/>
              </a:rPr>
              <a:t>One line to remember it: cross-entropy for classification, mean squared error for regression; any loss with "WithLogits" in its name already contains the activation — which is why you must not add another.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556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The Three Losses in Code</a:t>
            </a:r>
          </a:p>
        </p:txBody>
      </p:sp>
      <p:sp>
        <p:nvSpPr>
          <p:cNvPr id="6" name="TextBox 5"/>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Module 2 · Week 5</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5</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06 / 29</a:t>
            </a:r>
          </a:p>
        </p:txBody>
      </p:sp>
      <p:sp>
        <p:nvSpPr>
          <p:cNvPr id="9" name="Rectangle 8"/>
          <p:cNvSpPr/>
          <p:nvPr/>
        </p:nvSpPr>
        <p:spPr>
          <a:xfrm>
            <a:off x="799200" y="1278000"/>
            <a:ext cx="5185259" cy="4031999"/>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99200" y="1278000"/>
            <a:ext cx="5185259" cy="306000"/>
          </a:xfrm>
          <a:prstGeom prst="rect">
            <a:avLst/>
          </a:prstGeom>
          <a:solidFill>
            <a:srgbClr val="1B26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1200" y="1364400"/>
            <a:ext cx="4105259" cy="162000"/>
          </a:xfrm>
          <a:prstGeom prst="rect">
            <a:avLst/>
          </a:prstGeom>
          <a:noFill/>
        </p:spPr>
        <p:txBody>
          <a:bodyPr wrap="square" anchor="t" lIns="0" rIns="0" tIns="0" bIns="0">
            <a:spAutoFit/>
          </a:bodyPr>
          <a:lstStyle/>
          <a:p>
            <a:pPr algn="l">
              <a:lnSpc>
                <a:spcPct val="125000"/>
              </a:lnSpc>
            </a:pPr>
            <a:r>
              <a:rPr sz="1150" b="1" i="0">
                <a:solidFill>
                  <a:srgbClr val="93C5FD"/>
                </a:solidFill>
                <a:latin typeface="Source Han Sans SC"/>
              </a:rPr>
              <a:t>Choosing the loss</a:t>
            </a:r>
          </a:p>
        </p:txBody>
      </p:sp>
      <p:sp>
        <p:nvSpPr>
          <p:cNvPr id="12" name="TextBox 11"/>
          <p:cNvSpPr txBox="1"/>
          <p:nvPr/>
        </p:nvSpPr>
        <p:spPr>
          <a:xfrm>
            <a:off x="997200" y="1691999"/>
            <a:ext cx="4789259" cy="3491999"/>
          </a:xfrm>
          <a:prstGeom prst="rect">
            <a:avLst/>
          </a:prstGeom>
          <a:noFill/>
        </p:spPr>
        <p:txBody>
          <a:bodyPr wrap="square" anchor="t" lIns="0" rIns="0" tIns="0" bIns="0">
            <a:spAutoFit/>
          </a:bodyPr>
          <a:lstStyle/>
          <a:p>
            <a:pPr algn="l">
              <a:lnSpc>
                <a:spcPct val="128000"/>
              </a:lnSpc>
            </a:pPr>
            <a:r>
              <a:rPr sz="1100" b="0" i="0">
                <a:solidFill>
                  <a:srgbClr val="E2E8F0"/>
                </a:solidFill>
                <a:latin typeface="Menlo"/>
              </a:rPr>
              <a:t>import torch, torch.nn as nn</a:t>
            </a:r>
          </a:p>
          <a:p>
            <a:pPr algn="l">
              <a:lnSpc>
                <a:spcPct val="128000"/>
              </a:lnSpc>
            </a:pPr>
            <a:r>
              <a:rPr sz="1100" b="0" i="0">
                <a:solidFill>
                  <a:srgbClr val="E2E8F0"/>
                </a:solidFill>
                <a:latin typeface="Menlo"/>
              </a:rPr>
              <a:t/>
            </a:r>
          </a:p>
          <a:p>
            <a:pPr algn="l">
              <a:lnSpc>
                <a:spcPct val="128000"/>
              </a:lnSpc>
            </a:pPr>
            <a:r>
              <a:rPr sz="1100" b="0" i="0">
                <a:solidFill>
                  <a:srgbClr val="E2E8F0"/>
                </a:solidFill>
                <a:latin typeface="Menlo"/>
              </a:rPr>
              <a:t># 1) multi-class: softmax is INSIDE</a:t>
            </a:r>
          </a:p>
          <a:p>
            <a:pPr algn="l">
              <a:lnSpc>
                <a:spcPct val="128000"/>
              </a:lnSpc>
            </a:pPr>
            <a:r>
              <a:rPr sz="1100" b="0" i="0">
                <a:solidFill>
                  <a:srgbClr val="E2E8F0"/>
                </a:solidFill>
                <a:latin typeface="Menlo"/>
              </a:rPr>
              <a:t>criterion = nn.CrossEntropyLoss()</a:t>
            </a:r>
          </a:p>
          <a:p>
            <a:pPr algn="l">
              <a:lnSpc>
                <a:spcPct val="128000"/>
              </a:lnSpc>
            </a:pPr>
            <a:r>
              <a:rPr sz="1100" b="0" i="0">
                <a:solidFill>
                  <a:srgbClr val="E2E8F0"/>
                </a:solidFill>
                <a:latin typeface="Menlo"/>
              </a:rPr>
              <a:t/>
            </a:r>
          </a:p>
          <a:p>
            <a:pPr algn="l">
              <a:lnSpc>
                <a:spcPct val="128000"/>
              </a:lnSpc>
            </a:pPr>
            <a:r>
              <a:rPr sz="1100" b="0" i="0">
                <a:solidFill>
                  <a:srgbClr val="E2E8F0"/>
                </a:solidFill>
                <a:latin typeface="Menlo"/>
              </a:rPr>
              <a:t># 2) binary / multi-label: sigmoid INSIDE</a:t>
            </a:r>
          </a:p>
          <a:p>
            <a:pPr algn="l">
              <a:lnSpc>
                <a:spcPct val="128000"/>
              </a:lnSpc>
            </a:pPr>
            <a:r>
              <a:rPr sz="1100" b="0" i="0">
                <a:solidFill>
                  <a:srgbClr val="E2E8F0"/>
                </a:solidFill>
                <a:latin typeface="Menlo"/>
              </a:rPr>
              <a:t>criterion = nn.BCEWithLogitsLoss()</a:t>
            </a:r>
          </a:p>
          <a:p>
            <a:pPr algn="l">
              <a:lnSpc>
                <a:spcPct val="128000"/>
              </a:lnSpc>
            </a:pPr>
            <a:r>
              <a:rPr sz="1100" b="0" i="0">
                <a:solidFill>
                  <a:srgbClr val="E2E8F0"/>
                </a:solidFill>
                <a:latin typeface="Menlo"/>
              </a:rPr>
              <a:t/>
            </a:r>
          </a:p>
          <a:p>
            <a:pPr algn="l">
              <a:lnSpc>
                <a:spcPct val="128000"/>
              </a:lnSpc>
            </a:pPr>
            <a:r>
              <a:rPr sz="1100" b="0" i="0">
                <a:solidFill>
                  <a:srgbClr val="E2E8F0"/>
                </a:solidFill>
                <a:latin typeface="Menlo"/>
              </a:rPr>
              <a:t># 3) regression: no activation at all</a:t>
            </a:r>
          </a:p>
          <a:p>
            <a:pPr algn="l">
              <a:lnSpc>
                <a:spcPct val="128000"/>
              </a:lnSpc>
            </a:pPr>
            <a:r>
              <a:rPr sz="1100" b="0" i="0">
                <a:solidFill>
                  <a:srgbClr val="E2E8F0"/>
                </a:solidFill>
                <a:latin typeface="Menlo"/>
              </a:rPr>
              <a:t>criterion = nn.MSELoss()</a:t>
            </a:r>
          </a:p>
          <a:p>
            <a:pPr algn="l">
              <a:lnSpc>
                <a:spcPct val="128000"/>
              </a:lnSpc>
            </a:pPr>
            <a:r>
              <a:rPr sz="1100" b="0" i="0">
                <a:solidFill>
                  <a:srgbClr val="E2E8F0"/>
                </a:solidFill>
                <a:latin typeface="Menlo"/>
              </a:rPr>
              <a:t/>
            </a:r>
          </a:p>
          <a:p>
            <a:pPr algn="l">
              <a:lnSpc>
                <a:spcPct val="128000"/>
              </a:lnSpc>
            </a:pPr>
            <a:r>
              <a:rPr sz="1100" b="0" i="0">
                <a:solidFill>
                  <a:srgbClr val="E2E8F0"/>
                </a:solidFill>
                <a:latin typeface="Menlo"/>
              </a:rPr>
              <a:t># rule: always feed raw logits</a:t>
            </a:r>
          </a:p>
        </p:txBody>
      </p:sp>
      <p:sp>
        <p:nvSpPr>
          <p:cNvPr id="13" name="Rectangle 12"/>
          <p:cNvSpPr/>
          <p:nvPr/>
        </p:nvSpPr>
        <p:spPr>
          <a:xfrm>
            <a:off x="6207659" y="1278000"/>
            <a:ext cx="5185259" cy="4031999"/>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07659" y="1278000"/>
            <a:ext cx="5185259" cy="306000"/>
          </a:xfrm>
          <a:prstGeom prst="rect">
            <a:avLst/>
          </a:prstGeom>
          <a:solidFill>
            <a:srgbClr val="1B26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369659" y="1364400"/>
            <a:ext cx="4105259" cy="162000"/>
          </a:xfrm>
          <a:prstGeom prst="rect">
            <a:avLst/>
          </a:prstGeom>
          <a:noFill/>
        </p:spPr>
        <p:txBody>
          <a:bodyPr wrap="square" anchor="t" lIns="0" rIns="0" tIns="0" bIns="0">
            <a:spAutoFit/>
          </a:bodyPr>
          <a:lstStyle/>
          <a:p>
            <a:pPr algn="l">
              <a:lnSpc>
                <a:spcPct val="125000"/>
              </a:lnSpc>
            </a:pPr>
            <a:r>
              <a:rPr sz="1150" b="1" i="0">
                <a:solidFill>
                  <a:srgbClr val="93C5FD"/>
                </a:solidFill>
                <a:latin typeface="Source Han Sans SC"/>
              </a:rPr>
              <a:t>Pitfall: softmax done twice</a:t>
            </a:r>
          </a:p>
        </p:txBody>
      </p:sp>
      <p:sp>
        <p:nvSpPr>
          <p:cNvPr id="16" name="TextBox 15"/>
          <p:cNvSpPr txBox="1"/>
          <p:nvPr/>
        </p:nvSpPr>
        <p:spPr>
          <a:xfrm>
            <a:off x="6405659" y="1691999"/>
            <a:ext cx="4789259" cy="3491999"/>
          </a:xfrm>
          <a:prstGeom prst="rect">
            <a:avLst/>
          </a:prstGeom>
          <a:noFill/>
        </p:spPr>
        <p:txBody>
          <a:bodyPr wrap="square" anchor="t" lIns="0" rIns="0" tIns="0" bIns="0">
            <a:spAutoFit/>
          </a:bodyPr>
          <a:lstStyle/>
          <a:p>
            <a:pPr algn="l">
              <a:lnSpc>
                <a:spcPct val="128000"/>
              </a:lnSpc>
            </a:pPr>
            <a:r>
              <a:rPr sz="1100" b="0" i="0">
                <a:solidFill>
                  <a:srgbClr val="E2E8F0"/>
                </a:solidFill>
                <a:latin typeface="Menlo"/>
              </a:rPr>
              <a:t># PITFALL: softmax applied twice</a:t>
            </a:r>
          </a:p>
          <a:p>
            <a:pPr algn="l">
              <a:lnSpc>
                <a:spcPct val="128000"/>
              </a:lnSpc>
            </a:pPr>
            <a:r>
              <a:rPr sz="1100" b="0" i="0">
                <a:solidFill>
                  <a:srgbClr val="E2E8F0"/>
                </a:solidFill>
                <a:latin typeface="Menlo"/>
              </a:rPr>
              <a:t>logits = model(x)            # raw logits</a:t>
            </a:r>
          </a:p>
          <a:p>
            <a:pPr algn="l">
              <a:lnSpc>
                <a:spcPct val="128000"/>
              </a:lnSpc>
            </a:pPr>
            <a:r>
              <a:rPr sz="1100" b="0" i="0">
                <a:solidFill>
                  <a:srgbClr val="E2E8F0"/>
                </a:solidFill>
                <a:latin typeface="Menlo"/>
              </a:rPr>
              <a:t>probs = torch.softmax(logits, 1)</a:t>
            </a:r>
          </a:p>
          <a:p>
            <a:pPr algn="l">
              <a:lnSpc>
                <a:spcPct val="128000"/>
              </a:lnSpc>
            </a:pPr>
            <a:r>
              <a:rPr sz="1100" b="0" i="0">
                <a:solidFill>
                  <a:srgbClr val="E2E8F0"/>
                </a:solidFill>
                <a:latin typeface="Menlo"/>
              </a:rPr>
              <a:t>loss = nn.CrossEntropyLoss()(probs, y)</a:t>
            </a:r>
          </a:p>
          <a:p>
            <a:pPr algn="l">
              <a:lnSpc>
                <a:spcPct val="128000"/>
              </a:lnSpc>
            </a:pPr>
            <a:r>
              <a:rPr sz="1100" b="0" i="0">
                <a:solidFill>
                  <a:srgbClr val="E2E8F0"/>
                </a:solidFill>
                <a:latin typeface="Menlo"/>
              </a:rPr>
              <a:t/>
            </a:r>
          </a:p>
          <a:p>
            <a:pPr algn="l">
              <a:lnSpc>
                <a:spcPct val="128000"/>
              </a:lnSpc>
            </a:pPr>
            <a:r>
              <a:rPr sz="1100" b="0" i="0">
                <a:solidFill>
                  <a:srgbClr val="E2E8F0"/>
                </a:solidFill>
                <a:latin typeface="Menlo"/>
              </a:rPr>
              <a:t># probs get re-normalised and squeezed,</a:t>
            </a:r>
          </a:p>
          <a:p>
            <a:pPr algn="l">
              <a:lnSpc>
                <a:spcPct val="128000"/>
              </a:lnSpc>
            </a:pPr>
            <a:r>
              <a:rPr sz="1100" b="0" i="0">
                <a:solidFill>
                  <a:srgbClr val="E2E8F0"/>
                </a:solidFill>
                <a:latin typeface="Menlo"/>
              </a:rPr>
              <a:t># gradients shrink, the loss falls slowly</a:t>
            </a:r>
          </a:p>
          <a:p>
            <a:pPr algn="l">
              <a:lnSpc>
                <a:spcPct val="128000"/>
              </a:lnSpc>
            </a:pPr>
            <a:r>
              <a:rPr sz="1100" b="0" i="0">
                <a:solidFill>
                  <a:srgbClr val="E2E8F0"/>
                </a:solidFill>
                <a:latin typeface="Menlo"/>
              </a:rPr>
              <a:t># and accuracy stalls.</a:t>
            </a:r>
          </a:p>
          <a:p>
            <a:pPr algn="l">
              <a:lnSpc>
                <a:spcPct val="128000"/>
              </a:lnSpc>
            </a:pPr>
            <a:r>
              <a:rPr sz="1100" b="0" i="0">
                <a:solidFill>
                  <a:srgbClr val="E2E8F0"/>
                </a:solidFill>
                <a:latin typeface="Menlo"/>
              </a:rPr>
              <a:t># FIX: pass the logits directly</a:t>
            </a:r>
          </a:p>
          <a:p>
            <a:pPr algn="l">
              <a:lnSpc>
                <a:spcPct val="128000"/>
              </a:lnSpc>
            </a:pPr>
            <a:r>
              <a:rPr sz="1100" b="0" i="0">
                <a:solidFill>
                  <a:srgbClr val="E2E8F0"/>
                </a:solidFill>
                <a:latin typeface="Menlo"/>
              </a:rPr>
              <a:t>loss = nn.CrossEntropyLoss()(logits, y)</a:t>
            </a:r>
          </a:p>
        </p:txBody>
      </p:sp>
      <p:sp>
        <p:nvSpPr>
          <p:cNvPr id="17" name="TextBox 16"/>
          <p:cNvSpPr txBox="1"/>
          <p:nvPr/>
        </p:nvSpPr>
        <p:spPr>
          <a:xfrm>
            <a:off x="799200" y="5490000"/>
            <a:ext cx="10593719" cy="612000"/>
          </a:xfrm>
          <a:prstGeom prst="rect">
            <a:avLst/>
          </a:prstGeom>
          <a:noFill/>
        </p:spPr>
        <p:txBody>
          <a:bodyPr wrap="square" anchor="t" lIns="0" rIns="0" tIns="0" bIns="0">
            <a:spAutoFit/>
          </a:bodyPr>
          <a:lstStyle/>
          <a:p>
            <a:pPr algn="l">
              <a:lnSpc>
                <a:spcPct val="135000"/>
              </a:lnSpc>
            </a:pPr>
            <a:r>
              <a:rPr sz="1200" b="0" i="0">
                <a:solidFill>
                  <a:srgbClr val="1F2937"/>
                </a:solidFill>
                <a:latin typeface="Source Han Sans SC"/>
              </a:rPr>
              <a:t>The left panel is how to choose; the right is how to get it wrong. A double softmax raises no error — it just leaves your accuracy inexplicably low, and silent bugs are harder to find than crashes.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556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Correct Usage vs Common Pitfalls</a:t>
            </a:r>
          </a:p>
        </p:txBody>
      </p:sp>
      <p:sp>
        <p:nvSpPr>
          <p:cNvPr id="6" name="TextBox 5"/>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Module 2 · Week 5</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5</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07 / 29</a:t>
            </a:r>
          </a:p>
        </p:txBody>
      </p:sp>
      <p:sp>
        <p:nvSpPr>
          <p:cNvPr id="9" name="Rectangle 8"/>
          <p:cNvSpPr/>
          <p:nvPr/>
        </p:nvSpPr>
        <p:spPr>
          <a:xfrm>
            <a:off x="799200" y="1170000"/>
            <a:ext cx="5143859" cy="4104000"/>
          </a:xfrm>
          <a:prstGeom prst="rect">
            <a:avLst/>
          </a:prstGeom>
          <a:solidFill>
            <a:srgbClr val="ECFDF5"/>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99200" y="1170000"/>
            <a:ext cx="5143859" cy="5400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15200" y="1321200"/>
            <a:ext cx="4711859" cy="251999"/>
          </a:xfrm>
          <a:prstGeom prst="rect">
            <a:avLst/>
          </a:prstGeom>
          <a:noFill/>
        </p:spPr>
        <p:txBody>
          <a:bodyPr wrap="square" anchor="t" lIns="0" rIns="0" tIns="0" bIns="0">
            <a:spAutoFit/>
          </a:bodyPr>
          <a:lstStyle/>
          <a:p>
            <a:pPr algn="l">
              <a:lnSpc>
                <a:spcPct val="125000"/>
              </a:lnSpc>
            </a:pPr>
            <a:r>
              <a:rPr sz="1600" b="1" i="0">
                <a:solidFill>
                  <a:srgbClr val="FFFFFF"/>
                </a:solidFill>
                <a:latin typeface="Source Han Sans SC"/>
              </a:rPr>
              <a:t>Correct Usage</a:t>
            </a:r>
          </a:p>
        </p:txBody>
      </p:sp>
      <p:sp>
        <p:nvSpPr>
          <p:cNvPr id="12" name="TextBox 11"/>
          <p:cNvSpPr txBox="1"/>
          <p:nvPr/>
        </p:nvSpPr>
        <p:spPr>
          <a:xfrm>
            <a:off x="1015200" y="1890000"/>
            <a:ext cx="4711859" cy="3240000"/>
          </a:xfrm>
          <a:prstGeom prst="rect">
            <a:avLst/>
          </a:prstGeom>
          <a:noFill/>
        </p:spPr>
        <p:txBody>
          <a:bodyPr wrap="square" anchor="t" lIns="0" rIns="0" tIns="0" bIns="0">
            <a:spAutoFit/>
          </a:bodyPr>
          <a:lstStyle/>
          <a:p>
            <a:pPr algn="l">
              <a:lnSpc>
                <a:spcPct val="150000"/>
              </a:lnSpc>
              <a:spcAft>
                <a:spcPts val="800"/>
              </a:spcAft>
            </a:pPr>
            <a:r>
              <a:rPr sz="1250" b="0" i="0">
                <a:solidFill>
                  <a:srgbClr val="1F2937"/>
                </a:solidFill>
                <a:latin typeface="Source Han Sans SC"/>
              </a:rPr>
              <a:t>• Feed the loss raw logits, not probabilities</a:t>
            </a:r>
          </a:p>
          <a:p>
            <a:pPr algn="l">
              <a:lnSpc>
                <a:spcPct val="150000"/>
              </a:lnSpc>
              <a:spcAft>
                <a:spcPts val="800"/>
              </a:spcAft>
            </a:pPr>
            <a:r>
              <a:rPr sz="1250" b="0" i="0">
                <a:solidFill>
                  <a:srgbClr val="1F2937"/>
                </a:solidFill>
                <a:latin typeface="Source Han Sans SC"/>
              </a:rPr>
              <a:t>• Let the loss handle the activation internally</a:t>
            </a:r>
          </a:p>
          <a:p>
            <a:pPr algn="l">
              <a:lnSpc>
                <a:spcPct val="150000"/>
              </a:lnSpc>
              <a:spcAft>
                <a:spcPts val="800"/>
              </a:spcAft>
            </a:pPr>
            <a:r>
              <a:rPr sz="1250" b="0" i="0">
                <a:solidFill>
                  <a:srgbClr val="1F2937"/>
                </a:solidFill>
                <a:latin typeface="Source Han Sans SC"/>
              </a:rPr>
              <a:t>• Binary tasks use BCEWithLogitsLoss</a:t>
            </a:r>
          </a:p>
          <a:p>
            <a:pPr algn="l">
              <a:lnSpc>
                <a:spcPct val="150000"/>
              </a:lnSpc>
              <a:spcAft>
                <a:spcPts val="800"/>
              </a:spcAft>
            </a:pPr>
            <a:r>
              <a:rPr sz="1250" b="0" i="0">
                <a:solidFill>
                  <a:srgbClr val="1F2937"/>
                </a:solidFill>
                <a:latin typeface="Source Han Sans SC"/>
              </a:rPr>
              <a:t>• Labels: long for cross-entropy, float for BCE</a:t>
            </a:r>
          </a:p>
          <a:p>
            <a:pPr algn="l">
              <a:lnSpc>
                <a:spcPct val="150000"/>
              </a:lnSpc>
              <a:spcAft>
                <a:spcPts val="800"/>
              </a:spcAft>
            </a:pPr>
            <a:r>
              <a:rPr sz="1250" b="0" i="0">
                <a:solidFill>
                  <a:srgbClr val="1F2937"/>
                </a:solidFill>
                <a:latin typeface="Source Han Sans SC"/>
              </a:rPr>
              <a:t>• Under imbalance pass class weights via weight=</a:t>
            </a:r>
          </a:p>
        </p:txBody>
      </p:sp>
      <p:sp>
        <p:nvSpPr>
          <p:cNvPr id="13" name="Rectangle 12"/>
          <p:cNvSpPr/>
          <p:nvPr/>
        </p:nvSpPr>
        <p:spPr>
          <a:xfrm>
            <a:off x="6249059" y="1170000"/>
            <a:ext cx="5143859" cy="4104000"/>
          </a:xfrm>
          <a:prstGeom prst="rect">
            <a:avLst/>
          </a:prstGeom>
          <a:solidFill>
            <a:srgbClr val="FEF2F2"/>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49059" y="1170000"/>
            <a:ext cx="5143859" cy="54000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65059" y="1321200"/>
            <a:ext cx="4711859" cy="251999"/>
          </a:xfrm>
          <a:prstGeom prst="rect">
            <a:avLst/>
          </a:prstGeom>
          <a:noFill/>
        </p:spPr>
        <p:txBody>
          <a:bodyPr wrap="square" anchor="t" lIns="0" rIns="0" tIns="0" bIns="0">
            <a:spAutoFit/>
          </a:bodyPr>
          <a:lstStyle/>
          <a:p>
            <a:pPr algn="l">
              <a:lnSpc>
                <a:spcPct val="125000"/>
              </a:lnSpc>
            </a:pPr>
            <a:r>
              <a:rPr sz="1600" b="1" i="0">
                <a:solidFill>
                  <a:srgbClr val="FFFFFF"/>
                </a:solidFill>
                <a:latin typeface="Source Han Sans SC"/>
              </a:rPr>
              <a:t>Common Pitfalls</a:t>
            </a:r>
          </a:p>
        </p:txBody>
      </p:sp>
      <p:sp>
        <p:nvSpPr>
          <p:cNvPr id="16" name="TextBox 15"/>
          <p:cNvSpPr txBox="1"/>
          <p:nvPr/>
        </p:nvSpPr>
        <p:spPr>
          <a:xfrm>
            <a:off x="6465059" y="1890000"/>
            <a:ext cx="4711859" cy="3240000"/>
          </a:xfrm>
          <a:prstGeom prst="rect">
            <a:avLst/>
          </a:prstGeom>
          <a:noFill/>
        </p:spPr>
        <p:txBody>
          <a:bodyPr wrap="square" anchor="t" lIns="0" rIns="0" tIns="0" bIns="0">
            <a:spAutoFit/>
          </a:bodyPr>
          <a:lstStyle/>
          <a:p>
            <a:pPr algn="l">
              <a:lnSpc>
                <a:spcPct val="150000"/>
              </a:lnSpc>
              <a:spcAft>
                <a:spcPts val="800"/>
              </a:spcAft>
            </a:pPr>
            <a:r>
              <a:rPr sz="1250" b="0" i="0">
                <a:solidFill>
                  <a:srgbClr val="1F2937"/>
                </a:solidFill>
                <a:latin typeface="Source Han Sans SC"/>
              </a:rPr>
              <a:t>• Softmax then cross-entropy = done twice</a:t>
            </a:r>
          </a:p>
          <a:p>
            <a:pPr algn="l">
              <a:lnSpc>
                <a:spcPct val="150000"/>
              </a:lnSpc>
              <a:spcAft>
                <a:spcPts val="800"/>
              </a:spcAft>
            </a:pPr>
            <a:r>
              <a:rPr sz="1250" b="0" i="0">
                <a:solidFill>
                  <a:srgbClr val="1F2937"/>
                </a:solidFill>
                <a:latin typeface="Source Han Sans SC"/>
              </a:rPr>
              <a:t>• Adding a manual sigmoid before BCEWithLogitsLoss</a:t>
            </a:r>
          </a:p>
          <a:p>
            <a:pPr algn="l">
              <a:lnSpc>
                <a:spcPct val="150000"/>
              </a:lnSpc>
              <a:spcAft>
                <a:spcPts val="800"/>
              </a:spcAft>
            </a:pPr>
            <a:r>
              <a:rPr sz="1250" b="0" i="0">
                <a:solidFill>
                  <a:srgbClr val="1F2937"/>
                </a:solidFill>
                <a:latin typeface="Source Han Sans SC"/>
              </a:rPr>
              <a:t>• Forgetting the long / float cast, which errors out</a:t>
            </a:r>
          </a:p>
          <a:p>
            <a:pPr algn="l">
              <a:lnSpc>
                <a:spcPct val="150000"/>
              </a:lnSpc>
              <a:spcAft>
                <a:spcPts val="800"/>
              </a:spcAft>
            </a:pPr>
            <a:r>
              <a:rPr sz="1250" b="0" i="0">
                <a:solidFill>
                  <a:srgbClr val="1F2937"/>
                </a:solidFill>
                <a:latin typeface="Source Han Sans SC"/>
              </a:rPr>
              <a:t>• Using MSELoss for a classification task</a:t>
            </a:r>
          </a:p>
          <a:p>
            <a:pPr algn="l">
              <a:lnSpc>
                <a:spcPct val="150000"/>
              </a:lnSpc>
              <a:spcAft>
                <a:spcPts val="800"/>
              </a:spcAft>
            </a:pPr>
            <a:r>
              <a:rPr sz="1250" b="0" i="0">
                <a:solidFill>
                  <a:srgbClr val="1F2937"/>
                </a:solidFill>
                <a:latin typeface="Source Han Sans SC"/>
              </a:rPr>
              <a:t>• Loss falls but accuracy is stuck (usually pitfall 1)</a:t>
            </a:r>
          </a:p>
        </p:txBody>
      </p:sp>
      <p:sp>
        <p:nvSpPr>
          <p:cNvPr id="17" name="TextBox 16"/>
          <p:cNvSpPr txBox="1"/>
          <p:nvPr/>
        </p:nvSpPr>
        <p:spPr>
          <a:xfrm>
            <a:off x="799200" y="5454000"/>
            <a:ext cx="10593719" cy="576000"/>
          </a:xfrm>
          <a:prstGeom prst="rect">
            <a:avLst/>
          </a:prstGeom>
          <a:noFill/>
        </p:spPr>
        <p:txBody>
          <a:bodyPr wrap="square" anchor="t" lIns="0" rIns="0" tIns="0" bIns="0">
            <a:spAutoFit/>
          </a:bodyPr>
          <a:lstStyle/>
          <a:p>
            <a:pPr algn="l">
              <a:lnSpc>
                <a:spcPct val="140000"/>
              </a:lnSpc>
            </a:pPr>
            <a:r>
              <a:rPr sz="1250" b="0" i="0">
                <a:solidFill>
                  <a:srgbClr val="1F2937"/>
                </a:solidFill>
                <a:latin typeface="Source Han Sans SC"/>
              </a:rPr>
              <a:t>Keep this diagnostic: if the loss falls but the metric does not move, first look at the line just above the loss call for a redundant activation.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936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4732919" y="381600"/>
            <a:ext cx="6667200" cy="5648400"/>
          </a:xfrm>
          <a:prstGeom prst="rect">
            <a:avLst/>
          </a:prstGeom>
          <a:noFill/>
        </p:spPr>
        <p:txBody>
          <a:bodyPr wrap="square" anchor="t" lIns="0" rIns="0" tIns="0" bIns="0">
            <a:spAutoFit/>
          </a:bodyPr>
          <a:lstStyle/>
          <a:p>
            <a:pPr algn="r">
              <a:lnSpc>
                <a:spcPct val="125000"/>
              </a:lnSpc>
            </a:pPr>
            <a:r>
              <a:rPr sz="17000" b="1" i="0">
                <a:solidFill>
                  <a:srgbClr val="F0F5FC"/>
                </a:solidFill>
                <a:latin typeface="Source Han Sans SC"/>
              </a:rPr>
              <a:t>02</a:t>
            </a:r>
          </a:p>
        </p:txBody>
      </p:sp>
      <p:sp>
        <p:nvSpPr>
          <p:cNvPr id="5" name="Rectangle 4"/>
          <p:cNvSpPr/>
          <p:nvPr/>
        </p:nvSpPr>
        <p:spPr>
          <a:xfrm>
            <a:off x="856800" y="1047600"/>
            <a:ext cx="1238400" cy="12384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1180800" y="1314000"/>
            <a:ext cx="601200" cy="712800"/>
          </a:xfrm>
          <a:prstGeom prst="rect">
            <a:avLst/>
          </a:prstGeom>
          <a:noFill/>
        </p:spPr>
        <p:txBody>
          <a:bodyPr wrap="square" anchor="t" lIns="0" rIns="0" tIns="0" bIns="0">
            <a:spAutoFit/>
          </a:bodyPr>
          <a:lstStyle/>
          <a:p>
            <a:pPr algn="ctr">
              <a:lnSpc>
                <a:spcPct val="125000"/>
              </a:lnSpc>
            </a:pPr>
            <a:r>
              <a:rPr sz="3200" b="1" i="0">
                <a:solidFill>
                  <a:srgbClr val="FFFFFF"/>
                </a:solidFill>
                <a:latin typeface="Source Han Sans SC"/>
              </a:rPr>
              <a:t>02</a:t>
            </a:r>
          </a:p>
        </p:txBody>
      </p:sp>
      <p:sp>
        <p:nvSpPr>
          <p:cNvPr id="7" name="TextBox 6"/>
          <p:cNvSpPr txBox="1"/>
          <p:nvPr/>
        </p:nvSpPr>
        <p:spPr>
          <a:xfrm>
            <a:off x="2379600" y="1105200"/>
            <a:ext cx="5040000" cy="503999"/>
          </a:xfrm>
          <a:prstGeom prst="rect">
            <a:avLst/>
          </a:prstGeom>
          <a:noFill/>
        </p:spPr>
        <p:txBody>
          <a:bodyPr wrap="square" anchor="t" lIns="0" rIns="0" tIns="0" bIns="0">
            <a:spAutoFit/>
          </a:bodyPr>
          <a:lstStyle/>
          <a:p>
            <a:pPr algn="l">
              <a:lnSpc>
                <a:spcPct val="125000"/>
              </a:lnSpc>
            </a:pPr>
            <a:r>
              <a:rPr sz="3000" b="1" i="0">
                <a:solidFill>
                  <a:srgbClr val="0E3F8C"/>
                </a:solidFill>
                <a:latin typeface="Source Han Sans SC"/>
              </a:rPr>
              <a:t>Optimizers: How We Update</a:t>
            </a:r>
          </a:p>
        </p:txBody>
      </p:sp>
      <p:sp>
        <p:nvSpPr>
          <p:cNvPr id="8" name="TextBox 7"/>
          <p:cNvSpPr txBox="1"/>
          <p:nvPr/>
        </p:nvSpPr>
        <p:spPr>
          <a:xfrm>
            <a:off x="2379600" y="1666800"/>
            <a:ext cx="5040000" cy="306000"/>
          </a:xfrm>
          <a:prstGeom prst="rect">
            <a:avLst/>
          </a:prstGeom>
          <a:noFill/>
        </p:spPr>
        <p:txBody>
          <a:bodyPr wrap="square" anchor="t" lIns="0" rIns="0" tIns="0" bIns="0">
            <a:spAutoFit/>
          </a:bodyPr>
          <a:lstStyle/>
          <a:p>
            <a:pPr algn="l">
              <a:lnSpc>
                <a:spcPct val="125000"/>
              </a:lnSpc>
            </a:pPr>
            <a:r>
              <a:rPr sz="1500" b="0" i="0">
                <a:solidFill>
                  <a:srgbClr val="3D7BD9"/>
                </a:solidFill>
                <a:latin typeface="Source Han Sans SC"/>
              </a:rPr>
              <a:t>Optimizer</a:t>
            </a:r>
          </a:p>
        </p:txBody>
      </p:sp>
      <p:sp>
        <p:nvSpPr>
          <p:cNvPr id="9" name="TextBox 8"/>
          <p:cNvSpPr txBox="1"/>
          <p:nvPr/>
        </p:nvSpPr>
        <p:spPr>
          <a:xfrm>
            <a:off x="799200" y="2736000"/>
            <a:ext cx="8640000" cy="1620000"/>
          </a:xfrm>
          <a:prstGeom prst="rect">
            <a:avLst/>
          </a:prstGeom>
          <a:noFill/>
        </p:spPr>
        <p:txBody>
          <a:bodyPr wrap="square" anchor="t" lIns="0" rIns="0" tIns="0" bIns="0">
            <a:spAutoFit/>
          </a:bodyPr>
          <a:lstStyle/>
          <a:p>
            <a:pPr algn="l">
              <a:lnSpc>
                <a:spcPct val="150000"/>
              </a:lnSpc>
            </a:pPr>
            <a:r>
              <a:rPr sz="1500" b="0" i="0">
                <a:solidFill>
                  <a:srgbClr val="1F2937"/>
                </a:solidFill>
                <a:latin typeface="Source Han Sans SC"/>
              </a:rPr>
              <a:t>The loss tells you how wrong you are; the optimizer decides which way and how far to move.
Same model, same data — change the optimizer and convergence can differ by an order of magnitude.</a:t>
            </a:r>
          </a:p>
        </p:txBody>
      </p:sp>
      <p:sp>
        <p:nvSpPr>
          <p:cNvPr id="10" name="Rectangle 9"/>
          <p:cNvSpPr/>
          <p:nvPr/>
        </p:nvSpPr>
        <p:spPr>
          <a:xfrm>
            <a:off x="799200" y="5000400"/>
            <a:ext cx="3380039" cy="810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799200"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8000" y="5173200"/>
            <a:ext cx="2962439" cy="255600"/>
          </a:xfrm>
          <a:prstGeom prst="rect">
            <a:avLst/>
          </a:prstGeom>
          <a:noFill/>
        </p:spPr>
        <p:txBody>
          <a:bodyPr wrap="square" anchor="t" lIns="0" rIns="0" tIns="0" bIns="0">
            <a:spAutoFit/>
          </a:bodyPr>
          <a:lstStyle/>
          <a:p>
            <a:pPr algn="l">
              <a:lnSpc>
                <a:spcPct val="125000"/>
              </a:lnSpc>
            </a:pPr>
            <a:r>
              <a:rPr sz="1500" b="1" i="0">
                <a:solidFill>
                  <a:srgbClr val="0E3F8C"/>
                </a:solidFill>
                <a:latin typeface="Source Han Sans SC"/>
              </a:rPr>
              <a:t>SGD</a:t>
            </a:r>
          </a:p>
        </p:txBody>
      </p:sp>
      <p:sp>
        <p:nvSpPr>
          <p:cNvPr id="13" name="TextBox 12"/>
          <p:cNvSpPr txBox="1"/>
          <p:nvPr/>
        </p:nvSpPr>
        <p:spPr>
          <a:xfrm>
            <a:off x="1008000" y="5468400"/>
            <a:ext cx="2962439" cy="172800"/>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Only the current gradient</a:t>
            </a:r>
          </a:p>
        </p:txBody>
      </p:sp>
      <p:sp>
        <p:nvSpPr>
          <p:cNvPr id="14" name="Rectangle 13"/>
          <p:cNvSpPr/>
          <p:nvPr/>
        </p:nvSpPr>
        <p:spPr>
          <a:xfrm>
            <a:off x="4406040" y="5000400"/>
            <a:ext cx="3380039" cy="810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406040"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614840" y="5173200"/>
            <a:ext cx="2962439" cy="255600"/>
          </a:xfrm>
          <a:prstGeom prst="rect">
            <a:avLst/>
          </a:prstGeom>
          <a:noFill/>
        </p:spPr>
        <p:txBody>
          <a:bodyPr wrap="square" anchor="t" lIns="0" rIns="0" tIns="0" bIns="0">
            <a:spAutoFit/>
          </a:bodyPr>
          <a:lstStyle/>
          <a:p>
            <a:pPr algn="l">
              <a:lnSpc>
                <a:spcPct val="125000"/>
              </a:lnSpc>
            </a:pPr>
            <a:r>
              <a:rPr sz="1500" b="1" i="0">
                <a:solidFill>
                  <a:srgbClr val="0E3F8C"/>
                </a:solidFill>
                <a:latin typeface="Source Han Sans SC"/>
              </a:rPr>
              <a:t>Momentum</a:t>
            </a:r>
          </a:p>
        </p:txBody>
      </p:sp>
      <p:sp>
        <p:nvSpPr>
          <p:cNvPr id="17" name="TextBox 16"/>
          <p:cNvSpPr txBox="1"/>
          <p:nvPr/>
        </p:nvSpPr>
        <p:spPr>
          <a:xfrm>
            <a:off x="4614840" y="5468400"/>
            <a:ext cx="2962439" cy="172800"/>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Accumulates direction into inertia</a:t>
            </a:r>
          </a:p>
        </p:txBody>
      </p:sp>
      <p:sp>
        <p:nvSpPr>
          <p:cNvPr id="18" name="Rectangle 17"/>
          <p:cNvSpPr/>
          <p:nvPr/>
        </p:nvSpPr>
        <p:spPr>
          <a:xfrm>
            <a:off x="8012879" y="5000400"/>
            <a:ext cx="3380039" cy="810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8012879"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221679" y="5173200"/>
            <a:ext cx="2962439" cy="255600"/>
          </a:xfrm>
          <a:prstGeom prst="rect">
            <a:avLst/>
          </a:prstGeom>
          <a:noFill/>
        </p:spPr>
        <p:txBody>
          <a:bodyPr wrap="square" anchor="t" lIns="0" rIns="0" tIns="0" bIns="0">
            <a:spAutoFit/>
          </a:bodyPr>
          <a:lstStyle/>
          <a:p>
            <a:pPr algn="l">
              <a:lnSpc>
                <a:spcPct val="125000"/>
              </a:lnSpc>
            </a:pPr>
            <a:r>
              <a:rPr sz="1500" b="1" i="0">
                <a:solidFill>
                  <a:srgbClr val="0E3F8C"/>
                </a:solidFill>
                <a:latin typeface="Source Han Sans SC"/>
              </a:rPr>
              <a:t>Adam</a:t>
            </a:r>
          </a:p>
        </p:txBody>
      </p:sp>
      <p:sp>
        <p:nvSpPr>
          <p:cNvPr id="21" name="TextBox 20"/>
          <p:cNvSpPr txBox="1"/>
          <p:nvPr/>
        </p:nvSpPr>
        <p:spPr>
          <a:xfrm>
            <a:off x="8221679" y="5468400"/>
            <a:ext cx="2962439" cy="172800"/>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One adaptive step size per parameter</a:t>
            </a:r>
          </a:p>
        </p:txBody>
      </p:sp>
      <p:sp>
        <p:nvSpPr>
          <p:cNvPr id="22" name="TextBox 21"/>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5</a:t>
            </a:r>
          </a:p>
        </p:txBody>
      </p:sp>
      <p:sp>
        <p:nvSpPr>
          <p:cNvPr id="23" name="TextBox 22"/>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08 / 29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556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Three Optimizers: Three Generations of Ideas</a:t>
            </a:r>
          </a:p>
        </p:txBody>
      </p:sp>
      <p:sp>
        <p:nvSpPr>
          <p:cNvPr id="6" name="TextBox 5"/>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Module 2 · Week 5</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5</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09 / 29</a:t>
            </a:r>
          </a:p>
        </p:txBody>
      </p:sp>
      <p:sp>
        <p:nvSpPr>
          <p:cNvPr id="9" name="Rectangle 8"/>
          <p:cNvSpPr/>
          <p:nvPr/>
        </p:nvSpPr>
        <p:spPr>
          <a:xfrm>
            <a:off x="799200" y="1296000"/>
            <a:ext cx="3387239" cy="2592000"/>
          </a:xfrm>
          <a:prstGeom prst="rect">
            <a:avLst/>
          </a:prstGeom>
          <a:solidFill>
            <a:srgbClr val="F5F7FA"/>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99200" y="1296000"/>
            <a:ext cx="32400" cy="2592000"/>
          </a:xfrm>
          <a:prstGeom prst="rect">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22400" y="1483200"/>
            <a:ext cx="2940839" cy="223200"/>
          </a:xfrm>
          <a:prstGeom prst="rect">
            <a:avLst/>
          </a:prstGeom>
          <a:noFill/>
        </p:spPr>
        <p:txBody>
          <a:bodyPr wrap="square" anchor="t" lIns="0" rIns="0" tIns="0" bIns="0">
            <a:spAutoFit/>
          </a:bodyPr>
          <a:lstStyle/>
          <a:p>
            <a:pPr algn="l">
              <a:lnSpc>
                <a:spcPct val="125000"/>
              </a:lnSpc>
            </a:pPr>
            <a:r>
              <a:rPr sz="1550" b="1" i="0">
                <a:solidFill>
                  <a:srgbClr val="0E3F8C"/>
                </a:solidFill>
                <a:latin typeface="Source Han Sans SC"/>
              </a:rPr>
              <a:t>SGD</a:t>
            </a:r>
          </a:p>
        </p:txBody>
      </p:sp>
      <p:sp>
        <p:nvSpPr>
          <p:cNvPr id="12" name="TextBox 11"/>
          <p:cNvSpPr txBox="1"/>
          <p:nvPr/>
        </p:nvSpPr>
        <p:spPr>
          <a:xfrm>
            <a:off x="1022400" y="1713600"/>
            <a:ext cx="2940839" cy="151200"/>
          </a:xfrm>
          <a:prstGeom prst="rect">
            <a:avLst/>
          </a:prstGeom>
          <a:noFill/>
        </p:spPr>
        <p:txBody>
          <a:bodyPr wrap="square" anchor="t" lIns="0" rIns="0" tIns="0" bIns="0">
            <a:spAutoFit/>
          </a:bodyPr>
          <a:lstStyle/>
          <a:p>
            <a:pPr algn="l">
              <a:lnSpc>
                <a:spcPct val="125000"/>
              </a:lnSpc>
            </a:pPr>
            <a:r>
              <a:rPr sz="1100" b="1" i="0">
                <a:solidFill>
                  <a:srgbClr val="3D7BD9"/>
                </a:solidFill>
                <a:latin typeface="Source Han Sans SC"/>
              </a:rPr>
              <a:t>one batch, one step</a:t>
            </a:r>
          </a:p>
        </p:txBody>
      </p:sp>
      <p:sp>
        <p:nvSpPr>
          <p:cNvPr id="13" name="TextBox 12"/>
          <p:cNvSpPr txBox="1"/>
          <p:nvPr/>
        </p:nvSpPr>
        <p:spPr>
          <a:xfrm>
            <a:off x="1022400" y="1915200"/>
            <a:ext cx="2940839" cy="1828800"/>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Updates straight from the batch gradient</a:t>
            </a:r>
          </a:p>
          <a:p>
            <a:pPr algn="l">
              <a:lnSpc>
                <a:spcPct val="140000"/>
              </a:lnSpc>
              <a:spcAft>
                <a:spcPts val="400"/>
              </a:spcAft>
            </a:pPr>
            <a:r>
              <a:rPr sz="1200" b="0" i="0">
                <a:solidFill>
                  <a:srgbClr val="1F2937"/>
                </a:solidFill>
                <a:latin typeface="Source Han Sans SC"/>
              </a:rPr>
              <a:t>• Only one hyper-parameter: the learning rate</a:t>
            </a:r>
          </a:p>
          <a:p>
            <a:pPr algn="l">
              <a:lnSpc>
                <a:spcPct val="140000"/>
              </a:lnSpc>
              <a:spcAft>
                <a:spcPts val="400"/>
              </a:spcAft>
            </a:pPr>
            <a:r>
              <a:rPr sz="1200" b="0" i="0">
                <a:solidFill>
                  <a:srgbClr val="1F2937"/>
                </a:solidFill>
                <a:latin typeface="Source Han Sans SC"/>
              </a:rPr>
              <a:t>• Extremely lr-sensitive; 1e-1 blows up</a:t>
            </a:r>
          </a:p>
          <a:p>
            <a:pPr algn="l">
              <a:lnSpc>
                <a:spcPct val="140000"/>
              </a:lnSpc>
              <a:spcAft>
                <a:spcPts val="400"/>
              </a:spcAft>
            </a:pPr>
            <a:r>
              <a:rPr sz="1200" b="0" i="0">
                <a:solidFill>
                  <a:srgbClr val="1F2937"/>
                </a:solidFill>
                <a:latin typeface="Source Han Sans SC"/>
              </a:rPr>
              <a:t>• Generalises well, but costly to tune</a:t>
            </a:r>
          </a:p>
        </p:txBody>
      </p:sp>
      <p:sp>
        <p:nvSpPr>
          <p:cNvPr id="14" name="Rectangle 13"/>
          <p:cNvSpPr/>
          <p:nvPr/>
        </p:nvSpPr>
        <p:spPr>
          <a:xfrm>
            <a:off x="4402440" y="1296000"/>
            <a:ext cx="3387239" cy="2592000"/>
          </a:xfrm>
          <a:prstGeom prst="rect">
            <a:avLst/>
          </a:prstGeom>
          <a:solidFill>
            <a:srgbClr val="FFFBEB"/>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402440" y="1296000"/>
            <a:ext cx="32400" cy="25920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625639" y="1483200"/>
            <a:ext cx="2940839" cy="223200"/>
          </a:xfrm>
          <a:prstGeom prst="rect">
            <a:avLst/>
          </a:prstGeom>
          <a:noFill/>
        </p:spPr>
        <p:txBody>
          <a:bodyPr wrap="square" anchor="t" lIns="0" rIns="0" tIns="0" bIns="0">
            <a:spAutoFit/>
          </a:bodyPr>
          <a:lstStyle/>
          <a:p>
            <a:pPr algn="l">
              <a:lnSpc>
                <a:spcPct val="125000"/>
              </a:lnSpc>
            </a:pPr>
            <a:r>
              <a:rPr sz="1550" b="1" i="0">
                <a:solidFill>
                  <a:srgbClr val="0E3F8C"/>
                </a:solidFill>
                <a:latin typeface="Source Han Sans SC"/>
              </a:rPr>
              <a:t>SGD + Momentum</a:t>
            </a:r>
          </a:p>
        </p:txBody>
      </p:sp>
      <p:sp>
        <p:nvSpPr>
          <p:cNvPr id="17" name="TextBox 16"/>
          <p:cNvSpPr txBox="1"/>
          <p:nvPr/>
        </p:nvSpPr>
        <p:spPr>
          <a:xfrm>
            <a:off x="4625639" y="1713600"/>
            <a:ext cx="2940839" cy="151200"/>
          </a:xfrm>
          <a:prstGeom prst="rect">
            <a:avLst/>
          </a:prstGeom>
          <a:noFill/>
        </p:spPr>
        <p:txBody>
          <a:bodyPr wrap="square" anchor="t" lIns="0" rIns="0" tIns="0" bIns="0">
            <a:spAutoFit/>
          </a:bodyPr>
          <a:lstStyle/>
          <a:p>
            <a:pPr algn="l">
              <a:lnSpc>
                <a:spcPct val="125000"/>
              </a:lnSpc>
            </a:pPr>
            <a:r>
              <a:rPr sz="1100" b="1" i="0">
                <a:solidFill>
                  <a:srgbClr val="3D7BD9"/>
                </a:solidFill>
                <a:latin typeface="Source Han Sans SC"/>
              </a:rPr>
              <a:t>add inertia</a:t>
            </a:r>
          </a:p>
        </p:txBody>
      </p:sp>
      <p:sp>
        <p:nvSpPr>
          <p:cNvPr id="18" name="TextBox 17"/>
          <p:cNvSpPr txBox="1"/>
          <p:nvPr/>
        </p:nvSpPr>
        <p:spPr>
          <a:xfrm>
            <a:off x="4625639" y="1915200"/>
            <a:ext cx="2940839" cy="1828800"/>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Accumulates past gradients with momentum</a:t>
            </a:r>
          </a:p>
          <a:p>
            <a:pPr algn="l">
              <a:lnSpc>
                <a:spcPct val="140000"/>
              </a:lnSpc>
              <a:spcAft>
                <a:spcPts val="400"/>
              </a:spcAft>
            </a:pPr>
            <a:r>
              <a:rPr sz="1200" b="0" i="0">
                <a:solidFill>
                  <a:srgbClr val="1F2937"/>
                </a:solidFill>
                <a:latin typeface="Source Han Sans SC"/>
              </a:rPr>
              <a:t>• Speeds up along a consistent descent direction</a:t>
            </a:r>
          </a:p>
          <a:p>
            <a:pPr algn="l">
              <a:lnSpc>
                <a:spcPct val="140000"/>
              </a:lnSpc>
              <a:spcAft>
                <a:spcPts val="400"/>
              </a:spcAft>
            </a:pPr>
            <a:r>
              <a:rPr sz="1200" b="0" i="0">
                <a:solidFill>
                  <a:srgbClr val="1F2937"/>
                </a:solidFill>
                <a:latin typeface="Source Han Sans SC"/>
              </a:rPr>
              <a:t>• Can pass through small saddle points and noise</a:t>
            </a:r>
          </a:p>
          <a:p>
            <a:pPr algn="l">
              <a:lnSpc>
                <a:spcPct val="140000"/>
              </a:lnSpc>
              <a:spcAft>
                <a:spcPts val="400"/>
              </a:spcAft>
            </a:pPr>
            <a:r>
              <a:rPr sz="1200" b="0" i="0">
                <a:solidFill>
                  <a:srgbClr val="1F2937"/>
                </a:solidFill>
                <a:latin typeface="Source Han Sans SC"/>
              </a:rPr>
              <a:t>• Convention: momentum = 0.9</a:t>
            </a:r>
          </a:p>
        </p:txBody>
      </p:sp>
      <p:sp>
        <p:nvSpPr>
          <p:cNvPr id="19" name="Rectangle 18"/>
          <p:cNvSpPr/>
          <p:nvPr/>
        </p:nvSpPr>
        <p:spPr>
          <a:xfrm>
            <a:off x="8005679" y="1296000"/>
            <a:ext cx="3387239" cy="2592000"/>
          </a:xfrm>
          <a:prstGeom prst="rect">
            <a:avLst/>
          </a:prstGeom>
          <a:solidFill>
            <a:srgbClr val="ECFDF5"/>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8005679" y="1296000"/>
            <a:ext cx="32400" cy="25920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228879" y="1483200"/>
            <a:ext cx="2940839" cy="223200"/>
          </a:xfrm>
          <a:prstGeom prst="rect">
            <a:avLst/>
          </a:prstGeom>
          <a:noFill/>
        </p:spPr>
        <p:txBody>
          <a:bodyPr wrap="square" anchor="t" lIns="0" rIns="0" tIns="0" bIns="0">
            <a:spAutoFit/>
          </a:bodyPr>
          <a:lstStyle/>
          <a:p>
            <a:pPr algn="l">
              <a:lnSpc>
                <a:spcPct val="125000"/>
              </a:lnSpc>
            </a:pPr>
            <a:r>
              <a:rPr sz="1550" b="1" i="0">
                <a:solidFill>
                  <a:srgbClr val="0E3F8C"/>
                </a:solidFill>
                <a:latin typeface="Source Han Sans SC"/>
              </a:rPr>
              <a:t>Adam</a:t>
            </a:r>
          </a:p>
        </p:txBody>
      </p:sp>
      <p:sp>
        <p:nvSpPr>
          <p:cNvPr id="22" name="TextBox 21"/>
          <p:cNvSpPr txBox="1"/>
          <p:nvPr/>
        </p:nvSpPr>
        <p:spPr>
          <a:xfrm>
            <a:off x="8228879" y="1713600"/>
            <a:ext cx="2940839" cy="151200"/>
          </a:xfrm>
          <a:prstGeom prst="rect">
            <a:avLst/>
          </a:prstGeom>
          <a:noFill/>
        </p:spPr>
        <p:txBody>
          <a:bodyPr wrap="square" anchor="t" lIns="0" rIns="0" tIns="0" bIns="0">
            <a:spAutoFit/>
          </a:bodyPr>
          <a:lstStyle/>
          <a:p>
            <a:pPr algn="l">
              <a:lnSpc>
                <a:spcPct val="125000"/>
              </a:lnSpc>
            </a:pPr>
            <a:r>
              <a:rPr sz="1100" b="1" i="0">
                <a:solidFill>
                  <a:srgbClr val="3D7BD9"/>
                </a:solidFill>
                <a:latin typeface="Source Han Sans SC"/>
              </a:rPr>
              <a:t>adaptive per-parameter</a:t>
            </a:r>
          </a:p>
        </p:txBody>
      </p:sp>
      <p:sp>
        <p:nvSpPr>
          <p:cNvPr id="23" name="TextBox 22"/>
          <p:cNvSpPr txBox="1"/>
          <p:nvPr/>
        </p:nvSpPr>
        <p:spPr>
          <a:xfrm>
            <a:off x="8228879" y="1915200"/>
            <a:ext cx="2940839" cy="1828800"/>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Estimates first and second moments</a:t>
            </a:r>
          </a:p>
          <a:p>
            <a:pPr algn="l">
              <a:lnSpc>
                <a:spcPct val="140000"/>
              </a:lnSpc>
              <a:spcAft>
                <a:spcPts val="400"/>
              </a:spcAft>
            </a:pPr>
            <a:r>
              <a:rPr sz="1200" b="0" i="0">
                <a:solidFill>
                  <a:srgbClr val="1F2937"/>
                </a:solidFill>
                <a:latin typeface="Source Han Sans SC"/>
              </a:rPr>
              <a:t>• Every parameter gets its own step size</a:t>
            </a:r>
          </a:p>
          <a:p>
            <a:pPr algn="l">
              <a:lnSpc>
                <a:spcPct val="140000"/>
              </a:lnSpc>
              <a:spcAft>
                <a:spcPts val="400"/>
              </a:spcAft>
            </a:pPr>
            <a:r>
              <a:rPr sz="1200" b="0" i="0">
                <a:solidFill>
                  <a:srgbClr val="1F2937"/>
                </a:solidFill>
                <a:latin typeface="Source Han Sans SC"/>
              </a:rPr>
              <a:t>• More forgiving: 1e-3 usually works</a:t>
            </a:r>
          </a:p>
          <a:p>
            <a:pPr algn="l">
              <a:lnSpc>
                <a:spcPct val="140000"/>
              </a:lnSpc>
              <a:spcAft>
                <a:spcPts val="400"/>
              </a:spcAft>
            </a:pPr>
            <a:r>
              <a:rPr sz="1200" b="0" i="0">
                <a:solidFill>
                  <a:srgbClr val="1F2937"/>
                </a:solidFill>
                <a:latin typeface="Source Han Sans SC"/>
              </a:rPr>
              <a:t>• Cost: two extra state buffers, more VRAM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556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Optimizer Comparison Table</a:t>
            </a:r>
          </a:p>
        </p:txBody>
      </p:sp>
      <p:sp>
        <p:nvSpPr>
          <p:cNvPr id="6" name="TextBox 5"/>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Module 2 · Week 5</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5</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10 / 29</a:t>
            </a:r>
          </a:p>
        </p:txBody>
      </p:sp>
      <p:graphicFrame>
        <p:nvGraphicFramePr>
          <p:cNvPr id="9" name="Table 8"/>
          <p:cNvGraphicFramePr>
            <a:graphicFrameLocks noGrp="1"/>
          </p:cNvGraphicFramePr>
          <p:nvPr/>
        </p:nvGraphicFramePr>
        <p:xfrm>
          <a:off x="799200" y="1152000"/>
          <a:ext cx="10584000" cy="3024000"/>
        </p:xfrm>
        <a:graphic>
          <a:graphicData uri="http://schemas.openxmlformats.org/drawingml/2006/table">
            <a:tbl>
              <a:tblPr firstRow="1" bandRow="1">
                <a:tableStyleId>{5C22544A-7EE6-4342-B048-85BDC9FD1C3A}</a:tableStyleId>
              </a:tblPr>
              <a:tblGrid>
                <a:gridCol w="1800000"/>
                <a:gridCol w="3024000"/>
                <a:gridCol w="2088000"/>
                <a:gridCol w="1512000"/>
                <a:gridCol w="2160000"/>
              </a:tblGrid>
              <a:tr h="604800">
                <a:tc>
                  <a:txBody>
                    <a:bodyPr/>
                    <a:lstStyle/>
                    <a:p>
                      <a:r>
                        <a:rPr sz="1250" b="1">
                          <a:solidFill>
                            <a:srgbClr val="FFFFFF"/>
                          </a:solidFill>
                          <a:latin typeface="Source Han Sans SC"/>
                        </a:rPr>
                        <a:t>Optimizer</a:t>
                      </a:r>
                    </a:p>
                  </a:txBody>
                  <a:tcPr>
                    <a:solidFill>
                      <a:srgbClr val="0E3F8C"/>
                    </a:solidFill>
                  </a:tcPr>
                </a:tc>
                <a:tc>
                  <a:txBody>
                    <a:bodyPr/>
                    <a:lstStyle/>
                    <a:p>
                      <a:r>
                        <a:rPr sz="1250" b="1">
                          <a:solidFill>
                            <a:srgbClr val="FFFFFF"/>
                          </a:solidFill>
                          <a:latin typeface="Source Han Sans SC"/>
                        </a:rPr>
                        <a:t>Update rule (intuition)</a:t>
                      </a:r>
                    </a:p>
                  </a:txBody>
                  <a:tcPr>
                    <a:solidFill>
                      <a:srgbClr val="0E3F8C"/>
                    </a:solidFill>
                  </a:tcPr>
                </a:tc>
                <a:tc>
                  <a:txBody>
                    <a:bodyPr/>
                    <a:lstStyle/>
                    <a:p>
                      <a:r>
                        <a:rPr sz="1250" b="1">
                          <a:solidFill>
                            <a:srgbClr val="FFFFFF"/>
                          </a:solidFill>
                          <a:latin typeface="Source Han Sans SC"/>
                        </a:rPr>
                        <a:t>Key hyper-parameters</a:t>
                      </a:r>
                    </a:p>
                  </a:txBody>
                  <a:tcPr>
                    <a:solidFill>
                      <a:srgbClr val="0E3F8C"/>
                    </a:solidFill>
                  </a:tcPr>
                </a:tc>
                <a:tc>
                  <a:txBody>
                    <a:bodyPr/>
                    <a:lstStyle/>
                    <a:p>
                      <a:r>
                        <a:rPr sz="1250" b="1">
                          <a:solidFill>
                            <a:srgbClr val="FFFFFF"/>
                          </a:solidFill>
                          <a:latin typeface="Source Han Sans SC"/>
                        </a:rPr>
                        <a:t>Convergence</a:t>
                      </a:r>
                    </a:p>
                  </a:txBody>
                  <a:tcPr>
                    <a:solidFill>
                      <a:srgbClr val="0E3F8C"/>
                    </a:solidFill>
                  </a:tcPr>
                </a:tc>
                <a:tc>
                  <a:txBody>
                    <a:bodyPr/>
                    <a:lstStyle/>
                    <a:p>
                      <a:r>
                        <a:rPr sz="1250" b="1">
                          <a:solidFill>
                            <a:srgbClr val="FFFFFF"/>
                          </a:solidFill>
                          <a:latin typeface="Source Han Sans SC"/>
                        </a:rPr>
                        <a:t>Typical use</a:t>
                      </a:r>
                    </a:p>
                  </a:txBody>
                  <a:tcPr>
                    <a:solidFill>
                      <a:srgbClr val="0E3F8C"/>
                    </a:solidFill>
                  </a:tcPr>
                </a:tc>
              </a:tr>
              <a:tr h="604800">
                <a:tc>
                  <a:txBody>
                    <a:bodyPr/>
                    <a:lstStyle/>
                    <a:p>
                      <a:r>
                        <a:rPr sz="1150" b="1">
                          <a:solidFill>
                            <a:srgbClr val="1F2937"/>
                          </a:solidFill>
                          <a:latin typeface="Source Han Sans SC"/>
                        </a:rPr>
                        <a:t>SGD</a:t>
                      </a:r>
                    </a:p>
                  </a:txBody>
                  <a:tcPr>
                    <a:solidFill>
                      <a:srgbClr val="FFFFFF"/>
                    </a:solidFill>
                  </a:tcPr>
                </a:tc>
                <a:tc>
                  <a:txBody>
                    <a:bodyPr/>
                    <a:lstStyle/>
                    <a:p>
                      <a:r>
                        <a:rPr sz="1150">
                          <a:solidFill>
                            <a:srgbClr val="1F2937"/>
                          </a:solidFill>
                          <a:latin typeface="Source Han Sans SC"/>
                        </a:rPr>
                        <a:t>One step along the current gradient</a:t>
                      </a:r>
                    </a:p>
                  </a:txBody>
                  <a:tcPr>
                    <a:solidFill>
                      <a:srgbClr val="FFFFFF"/>
                    </a:solidFill>
                  </a:tcPr>
                </a:tc>
                <a:tc>
                  <a:txBody>
                    <a:bodyPr/>
                    <a:lstStyle/>
                    <a:p>
                      <a:r>
                        <a:rPr sz="1150">
                          <a:solidFill>
                            <a:srgbClr val="1F2937"/>
                          </a:solidFill>
                          <a:latin typeface="Source Han Sans SC"/>
                        </a:rPr>
                        <a:t>lr</a:t>
                      </a:r>
                    </a:p>
                  </a:txBody>
                  <a:tcPr>
                    <a:solidFill>
                      <a:srgbClr val="FFFFFF"/>
                    </a:solidFill>
                  </a:tcPr>
                </a:tc>
                <a:tc>
                  <a:txBody>
                    <a:bodyPr/>
                    <a:lstStyle/>
                    <a:p>
                      <a:r>
                        <a:rPr sz="1150">
                          <a:solidFill>
                            <a:srgbClr val="1F2937"/>
                          </a:solidFill>
                          <a:latin typeface="Source Han Sans SC"/>
                        </a:rPr>
                        <a:t>Slow</a:t>
                      </a:r>
                    </a:p>
                  </a:txBody>
                  <a:tcPr>
                    <a:solidFill>
                      <a:srgbClr val="FFFFFF"/>
                    </a:solidFill>
                  </a:tcPr>
                </a:tc>
                <a:tc>
                  <a:txBody>
                    <a:bodyPr/>
                    <a:lstStyle/>
                    <a:p>
                      <a:r>
                        <a:rPr sz="1150">
                          <a:solidFill>
                            <a:srgbClr val="1F2937"/>
                          </a:solidFill>
                          <a:latin typeface="Source Han Sans SC"/>
                        </a:rPr>
                        <a:t>A classic baseline when you can afford tuning</a:t>
                      </a:r>
                    </a:p>
                  </a:txBody>
                  <a:tcPr>
                    <a:solidFill>
                      <a:srgbClr val="FFFFFF"/>
                    </a:solidFill>
                  </a:tcPr>
                </a:tc>
              </a:tr>
              <a:tr h="604800">
                <a:tc>
                  <a:txBody>
                    <a:bodyPr/>
                    <a:lstStyle/>
                    <a:p>
                      <a:r>
                        <a:rPr sz="1150" b="1">
                          <a:solidFill>
                            <a:srgbClr val="1F2937"/>
                          </a:solidFill>
                          <a:latin typeface="Source Han Sans SC"/>
                        </a:rPr>
                        <a:t>SGD + Momentum</a:t>
                      </a:r>
                    </a:p>
                  </a:txBody>
                  <a:tcPr>
                    <a:solidFill>
                      <a:srgbClr val="F0F5FC"/>
                    </a:solidFill>
                  </a:tcPr>
                </a:tc>
                <a:tc>
                  <a:txBody>
                    <a:bodyPr/>
                    <a:lstStyle/>
                    <a:p>
                      <a:r>
                        <a:rPr sz="1150">
                          <a:solidFill>
                            <a:srgbClr val="1F2937"/>
                          </a:solidFill>
                          <a:latin typeface="Source Han Sans SC"/>
                        </a:rPr>
                        <a:t>Accumulate past gradients into inertia</a:t>
                      </a:r>
                    </a:p>
                  </a:txBody>
                  <a:tcPr>
                    <a:solidFill>
                      <a:srgbClr val="F0F5FC"/>
                    </a:solidFill>
                  </a:tcPr>
                </a:tc>
                <a:tc>
                  <a:txBody>
                    <a:bodyPr/>
                    <a:lstStyle/>
                    <a:p>
                      <a:r>
                        <a:rPr sz="1150">
                          <a:solidFill>
                            <a:srgbClr val="1F2937"/>
                          </a:solidFill>
                          <a:latin typeface="Source Han Sans SC"/>
                        </a:rPr>
                        <a:t>lr, momentum=0.9</a:t>
                      </a:r>
                    </a:p>
                  </a:txBody>
                  <a:tcPr>
                    <a:solidFill>
                      <a:srgbClr val="F0F5FC"/>
                    </a:solidFill>
                  </a:tcPr>
                </a:tc>
                <a:tc>
                  <a:txBody>
                    <a:bodyPr/>
                    <a:lstStyle/>
                    <a:p>
                      <a:r>
                        <a:rPr sz="1150">
                          <a:solidFill>
                            <a:srgbClr val="1F2937"/>
                          </a:solidFill>
                          <a:latin typeface="Source Han Sans SC"/>
                        </a:rPr>
                        <a:t>Medium</a:t>
                      </a:r>
                    </a:p>
                  </a:txBody>
                  <a:tcPr>
                    <a:solidFill>
                      <a:srgbClr val="F0F5FC"/>
                    </a:solidFill>
                  </a:tcPr>
                </a:tc>
                <a:tc>
                  <a:txBody>
                    <a:bodyPr/>
                    <a:lstStyle/>
                    <a:p>
                      <a:r>
                        <a:rPr sz="1150">
                          <a:solidFill>
                            <a:srgbClr val="1F2937"/>
                          </a:solidFill>
                          <a:latin typeface="Source Han Sans SC"/>
                        </a:rPr>
                        <a:t>A common default in computer vision</a:t>
                      </a:r>
                    </a:p>
                  </a:txBody>
                  <a:tcPr>
                    <a:solidFill>
                      <a:srgbClr val="F0F5FC"/>
                    </a:solidFill>
                  </a:tcPr>
                </a:tc>
              </a:tr>
              <a:tr h="604800">
                <a:tc>
                  <a:txBody>
                    <a:bodyPr/>
                    <a:lstStyle/>
                    <a:p>
                      <a:r>
                        <a:rPr sz="1150" b="1">
                          <a:solidFill>
                            <a:srgbClr val="1F2937"/>
                          </a:solidFill>
                          <a:latin typeface="Source Han Sans SC"/>
                        </a:rPr>
                        <a:t>Adam</a:t>
                      </a:r>
                    </a:p>
                  </a:txBody>
                  <a:tcPr>
                    <a:solidFill>
                      <a:srgbClr val="FFFFFF"/>
                    </a:solidFill>
                  </a:tcPr>
                </a:tc>
                <a:tc>
                  <a:txBody>
                    <a:bodyPr/>
                    <a:lstStyle/>
                    <a:p>
                      <a:r>
                        <a:rPr sz="1150">
                          <a:solidFill>
                            <a:srgbClr val="1F2937"/>
                          </a:solidFill>
                          <a:latin typeface="Source Han Sans SC"/>
                        </a:rPr>
                        <a:t>Adaptive per-parameter step + momentum</a:t>
                      </a:r>
                    </a:p>
                  </a:txBody>
                  <a:tcPr>
                    <a:solidFill>
                      <a:srgbClr val="FFFFFF"/>
                    </a:solidFill>
                  </a:tcPr>
                </a:tc>
                <a:tc>
                  <a:txBody>
                    <a:bodyPr/>
                    <a:lstStyle/>
                    <a:p>
                      <a:r>
                        <a:rPr sz="1150">
                          <a:solidFill>
                            <a:srgbClr val="1F2937"/>
                          </a:solidFill>
                          <a:latin typeface="Source Han Sans SC"/>
                        </a:rPr>
                        <a:t>lr, betas, eps</a:t>
                      </a:r>
                    </a:p>
                  </a:txBody>
                  <a:tcPr>
                    <a:solidFill>
                      <a:srgbClr val="FFFFFF"/>
                    </a:solidFill>
                  </a:tcPr>
                </a:tc>
                <a:tc>
                  <a:txBody>
                    <a:bodyPr/>
                    <a:lstStyle/>
                    <a:p>
                      <a:r>
                        <a:rPr sz="1150">
                          <a:solidFill>
                            <a:srgbClr val="1F2937"/>
                          </a:solidFill>
                          <a:latin typeface="Source Han Sans SC"/>
                        </a:rPr>
                        <a:t>Fast</a:t>
                      </a:r>
                    </a:p>
                  </a:txBody>
                  <a:tcPr>
                    <a:solidFill>
                      <a:srgbClr val="FFFFFF"/>
                    </a:solidFill>
                  </a:tcPr>
                </a:tc>
                <a:tc>
                  <a:txBody>
                    <a:bodyPr/>
                    <a:lstStyle/>
                    <a:p>
                      <a:r>
                        <a:rPr sz="1150">
                          <a:solidFill>
                            <a:srgbClr val="1F2937"/>
                          </a:solidFill>
                          <a:latin typeface="Source Han Sans SC"/>
                        </a:rPr>
                        <a:t>First choice, fast prototyping, sparse gradients</a:t>
                      </a:r>
                    </a:p>
                  </a:txBody>
                  <a:tcPr>
                    <a:solidFill>
                      <a:srgbClr val="FFFFFF"/>
                    </a:solidFill>
                  </a:tcPr>
                </a:tc>
              </a:tr>
              <a:tr h="604800">
                <a:tc>
                  <a:txBody>
                    <a:bodyPr/>
                    <a:lstStyle/>
                    <a:p>
                      <a:r>
                        <a:rPr sz="1150" b="1">
                          <a:solidFill>
                            <a:srgbClr val="1F2937"/>
                          </a:solidFill>
                          <a:latin typeface="Source Han Sans SC"/>
                        </a:rPr>
                        <a:t>AdamW</a:t>
                      </a:r>
                    </a:p>
                  </a:txBody>
                  <a:tcPr>
                    <a:solidFill>
                      <a:srgbClr val="F0F5FC"/>
                    </a:solidFill>
                  </a:tcPr>
                </a:tc>
                <a:tc>
                  <a:txBody>
                    <a:bodyPr/>
                    <a:lstStyle/>
                    <a:p>
                      <a:r>
                        <a:rPr sz="1150">
                          <a:solidFill>
                            <a:srgbClr val="1F2937"/>
                          </a:solidFill>
                          <a:latin typeface="Source Han Sans SC"/>
                        </a:rPr>
                        <a:t>Adam with decoupled weight decay</a:t>
                      </a:r>
                    </a:p>
                  </a:txBody>
                  <a:tcPr>
                    <a:solidFill>
                      <a:srgbClr val="F0F5FC"/>
                    </a:solidFill>
                  </a:tcPr>
                </a:tc>
                <a:tc>
                  <a:txBody>
                    <a:bodyPr/>
                    <a:lstStyle/>
                    <a:p>
                      <a:r>
                        <a:rPr sz="1150">
                          <a:solidFill>
                            <a:srgbClr val="1F2937"/>
                          </a:solidFill>
                          <a:latin typeface="Source Han Sans SC"/>
                        </a:rPr>
                        <a:t>lr, weight_decay</a:t>
                      </a:r>
                    </a:p>
                  </a:txBody>
                  <a:tcPr>
                    <a:solidFill>
                      <a:srgbClr val="F0F5FC"/>
                    </a:solidFill>
                  </a:tcPr>
                </a:tc>
                <a:tc>
                  <a:txBody>
                    <a:bodyPr/>
                    <a:lstStyle/>
                    <a:p>
                      <a:r>
                        <a:rPr sz="1150">
                          <a:solidFill>
                            <a:srgbClr val="1F2937"/>
                          </a:solidFill>
                          <a:latin typeface="Source Han Sans SC"/>
                        </a:rPr>
                        <a:t>Fast</a:t>
                      </a:r>
                    </a:p>
                  </a:txBody>
                  <a:tcPr>
                    <a:solidFill>
                      <a:srgbClr val="F0F5FC"/>
                    </a:solidFill>
                  </a:tcPr>
                </a:tc>
                <a:tc>
                  <a:txBody>
                    <a:bodyPr/>
                    <a:lstStyle/>
                    <a:p>
                      <a:r>
                        <a:rPr sz="1150">
                          <a:solidFill>
                            <a:srgbClr val="1F2937"/>
                          </a:solidFill>
                          <a:latin typeface="Source Han Sans SC"/>
                        </a:rPr>
                        <a:t>Standard for Transformer-style models</a:t>
                      </a:r>
                    </a:p>
                  </a:txBody>
                  <a:tcPr>
                    <a:solidFill>
                      <a:srgbClr val="F0F5FC"/>
                    </a:solidFill>
                  </a:tcPr>
                </a:tc>
              </a:tr>
            </a:tbl>
          </a:graphicData>
        </a:graphic>
      </p:graphicFrame>
      <p:sp>
        <p:nvSpPr>
          <p:cNvPr id="10" name="TextBox 9"/>
          <p:cNvSpPr txBox="1"/>
          <p:nvPr/>
        </p:nvSpPr>
        <p:spPr>
          <a:xfrm>
            <a:off x="799200" y="4320000"/>
            <a:ext cx="10593719" cy="432000"/>
          </a:xfrm>
          <a:prstGeom prst="rect">
            <a:avLst/>
          </a:prstGeom>
          <a:noFill/>
        </p:spPr>
        <p:txBody>
          <a:bodyPr wrap="square" anchor="t" lIns="0" rIns="0" tIns="0" bIns="0">
            <a:spAutoFit/>
          </a:bodyPr>
          <a:lstStyle/>
          <a:p>
            <a:pPr algn="l">
              <a:lnSpc>
                <a:spcPct val="135000"/>
              </a:lnSpc>
            </a:pPr>
            <a:r>
              <a:rPr sz="1150" b="0" i="0">
                <a:solidFill>
                  <a:srgbClr val="6B7280"/>
                </a:solidFill>
                <a:latin typeface="Source Han Sans SC"/>
              </a:rPr>
              <a:t>Note the wording of column two: "one step along the current gradient" versus "adaptive per-parameter step" — that difference is exactly the source of the convergence gap in the upcoming 3x3 experiment.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556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Building the Three Optimizers, Side by Side</a:t>
            </a:r>
          </a:p>
        </p:txBody>
      </p:sp>
      <p:sp>
        <p:nvSpPr>
          <p:cNvPr id="6" name="TextBox 5"/>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Module 2 · Week 5</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5</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11 / 29</a:t>
            </a:r>
          </a:p>
        </p:txBody>
      </p:sp>
      <p:sp>
        <p:nvSpPr>
          <p:cNvPr id="9" name="Rectangle 8"/>
          <p:cNvSpPr/>
          <p:nvPr/>
        </p:nvSpPr>
        <p:spPr>
          <a:xfrm>
            <a:off x="799200" y="1278000"/>
            <a:ext cx="5185259" cy="4031999"/>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99200" y="1278000"/>
            <a:ext cx="5185259" cy="306000"/>
          </a:xfrm>
          <a:prstGeom prst="rect">
            <a:avLst/>
          </a:prstGeom>
          <a:solidFill>
            <a:srgbClr val="1B26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1200" y="1364400"/>
            <a:ext cx="4105259" cy="162000"/>
          </a:xfrm>
          <a:prstGeom prst="rect">
            <a:avLst/>
          </a:prstGeom>
          <a:noFill/>
        </p:spPr>
        <p:txBody>
          <a:bodyPr wrap="square" anchor="t" lIns="0" rIns="0" tIns="0" bIns="0">
            <a:spAutoFit/>
          </a:bodyPr>
          <a:lstStyle/>
          <a:p>
            <a:pPr algn="l">
              <a:lnSpc>
                <a:spcPct val="125000"/>
              </a:lnSpc>
            </a:pPr>
            <a:r>
              <a:rPr sz="1150" b="1" i="0">
                <a:solidFill>
                  <a:srgbClr val="93C5FD"/>
                </a:solidFill>
                <a:latin typeface="Source Han Sans SC"/>
              </a:rPr>
              <a:t>Same weights, three optimizers</a:t>
            </a:r>
          </a:p>
        </p:txBody>
      </p:sp>
      <p:sp>
        <p:nvSpPr>
          <p:cNvPr id="12" name="TextBox 11"/>
          <p:cNvSpPr txBox="1"/>
          <p:nvPr/>
        </p:nvSpPr>
        <p:spPr>
          <a:xfrm>
            <a:off x="997200" y="1691999"/>
            <a:ext cx="4789259" cy="3491999"/>
          </a:xfrm>
          <a:prstGeom prst="rect">
            <a:avLst/>
          </a:prstGeom>
          <a:noFill/>
        </p:spPr>
        <p:txBody>
          <a:bodyPr wrap="square" anchor="t" lIns="0" rIns="0" tIns="0" bIns="0">
            <a:spAutoFit/>
          </a:bodyPr>
          <a:lstStyle/>
          <a:p>
            <a:pPr algn="l">
              <a:lnSpc>
                <a:spcPct val="128000"/>
              </a:lnSpc>
            </a:pPr>
            <a:r>
              <a:rPr sz="1100" b="0" i="0">
                <a:solidFill>
                  <a:srgbClr val="E2E8F0"/>
                </a:solidFill>
                <a:latin typeface="Menlo"/>
              </a:rPr>
              <a:t>import torch</a:t>
            </a:r>
          </a:p>
          <a:p>
            <a:pPr algn="l">
              <a:lnSpc>
                <a:spcPct val="128000"/>
              </a:lnSpc>
            </a:pPr>
            <a:r>
              <a:rPr sz="1100" b="0" i="0">
                <a:solidFill>
                  <a:srgbClr val="E2E8F0"/>
                </a:solidFill>
                <a:latin typeface="Menlo"/>
              </a:rPr>
              <a:t>from torch import nn</a:t>
            </a:r>
          </a:p>
          <a:p>
            <a:pPr algn="l">
              <a:lnSpc>
                <a:spcPct val="128000"/>
              </a:lnSpc>
            </a:pPr>
            <a:r>
              <a:rPr sz="1100" b="0" i="0">
                <a:solidFill>
                  <a:srgbClr val="E2E8F0"/>
                </a:solidFill>
                <a:latin typeface="Menlo"/>
              </a:rPr>
              <a:t/>
            </a:r>
          </a:p>
          <a:p>
            <a:pPr algn="l">
              <a:lnSpc>
                <a:spcPct val="128000"/>
              </a:lnSpc>
            </a:pPr>
            <a:r>
              <a:rPr sz="1100" b="0" i="0">
                <a:solidFill>
                  <a:srgbClr val="E2E8F0"/>
                </a:solidFill>
                <a:latin typeface="Menlo"/>
              </a:rPr>
              <a:t>model = nn.Sequential(</a:t>
            </a:r>
          </a:p>
          <a:p>
            <a:pPr algn="l">
              <a:lnSpc>
                <a:spcPct val="128000"/>
              </a:lnSpc>
            </a:pPr>
            <a:r>
              <a:rPr sz="1100" b="0" i="0">
                <a:solidFill>
                  <a:srgbClr val="E2E8F0"/>
                </a:solidFill>
                <a:latin typeface="Menlo"/>
              </a:rPr>
              <a:t>    nn.Linear(784, 128),</a:t>
            </a:r>
          </a:p>
          <a:p>
            <a:pPr algn="l">
              <a:lnSpc>
                <a:spcPct val="128000"/>
              </a:lnSpc>
            </a:pPr>
            <a:r>
              <a:rPr sz="1100" b="0" i="0">
                <a:solidFill>
                  <a:srgbClr val="E2E8F0"/>
                </a:solidFill>
                <a:latin typeface="Menlo"/>
              </a:rPr>
              <a:t>    nn.ReLU(),</a:t>
            </a:r>
          </a:p>
          <a:p>
            <a:pPr algn="l">
              <a:lnSpc>
                <a:spcPct val="128000"/>
              </a:lnSpc>
            </a:pPr>
            <a:r>
              <a:rPr sz="1100" b="0" i="0">
                <a:solidFill>
                  <a:srgbClr val="E2E8F0"/>
                </a:solidFill>
                <a:latin typeface="Menlo"/>
              </a:rPr>
              <a:t>    nn.Linear(128, 10))</a:t>
            </a:r>
          </a:p>
          <a:p>
            <a:pPr algn="l">
              <a:lnSpc>
                <a:spcPct val="128000"/>
              </a:lnSpc>
            </a:pPr>
            <a:r>
              <a:rPr sz="1100" b="0" i="0">
                <a:solidFill>
                  <a:srgbClr val="E2E8F0"/>
                </a:solidFill>
                <a:latin typeface="Menlo"/>
              </a:rPr>
              <a:t/>
            </a:r>
          </a:p>
          <a:p>
            <a:pPr algn="l">
              <a:lnSpc>
                <a:spcPct val="128000"/>
              </a:lnSpc>
            </a:pPr>
            <a:r>
              <a:rPr sz="1100" b="0" i="0">
                <a:solidFill>
                  <a:srgbClr val="E2E8F0"/>
                </a:solidFill>
                <a:latin typeface="Menlo"/>
              </a:rPr>
              <a:t>params = model.parameters()</a:t>
            </a:r>
          </a:p>
          <a:p>
            <a:pPr algn="l">
              <a:lnSpc>
                <a:spcPct val="128000"/>
              </a:lnSpc>
            </a:pPr>
            <a:r>
              <a:rPr sz="1100" b="0" i="0">
                <a:solidFill>
                  <a:srgbClr val="E2E8F0"/>
                </a:solidFill>
                <a:latin typeface="Menlo"/>
              </a:rPr>
              <a:t>opt_sgd = torch.optim.SGD(params, lr=1e-1)</a:t>
            </a:r>
          </a:p>
          <a:p>
            <a:pPr algn="l">
              <a:lnSpc>
                <a:spcPct val="128000"/>
              </a:lnSpc>
            </a:pPr>
            <a:r>
              <a:rPr sz="1100" b="0" i="0">
                <a:solidFill>
                  <a:srgbClr val="E2E8F0"/>
                </a:solidFill>
                <a:latin typeface="Menlo"/>
              </a:rPr>
              <a:t>opt_mom = torch.optim.SGD(params, lr=1e-1,</a:t>
            </a:r>
          </a:p>
          <a:p>
            <a:pPr algn="l">
              <a:lnSpc>
                <a:spcPct val="128000"/>
              </a:lnSpc>
            </a:pPr>
            <a:r>
              <a:rPr sz="1100" b="0" i="0">
                <a:solidFill>
                  <a:srgbClr val="E2E8F0"/>
                </a:solidFill>
                <a:latin typeface="Menlo"/>
              </a:rPr>
              <a:t>                          momentum=0.9)</a:t>
            </a:r>
          </a:p>
          <a:p>
            <a:pPr algn="l">
              <a:lnSpc>
                <a:spcPct val="128000"/>
              </a:lnSpc>
            </a:pPr>
            <a:r>
              <a:rPr sz="1100" b="0" i="0">
                <a:solidFill>
                  <a:srgbClr val="E2E8F0"/>
                </a:solidFill>
                <a:latin typeface="Menlo"/>
              </a:rPr>
              <a:t>opt_adam = torch.optim.Adam(params, lr=1e-3)</a:t>
            </a:r>
          </a:p>
        </p:txBody>
      </p:sp>
      <p:sp>
        <p:nvSpPr>
          <p:cNvPr id="13" name="Rectangle 12"/>
          <p:cNvSpPr/>
          <p:nvPr/>
        </p:nvSpPr>
        <p:spPr>
          <a:xfrm>
            <a:off x="6207659" y="1278000"/>
            <a:ext cx="5185259" cy="4031999"/>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07659" y="1278000"/>
            <a:ext cx="5185259" cy="306000"/>
          </a:xfrm>
          <a:prstGeom prst="rect">
            <a:avLst/>
          </a:prstGeom>
          <a:solidFill>
            <a:srgbClr val="1B26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369659" y="1364400"/>
            <a:ext cx="4105259" cy="162000"/>
          </a:xfrm>
          <a:prstGeom prst="rect">
            <a:avLst/>
          </a:prstGeom>
          <a:noFill/>
        </p:spPr>
        <p:txBody>
          <a:bodyPr wrap="square" anchor="t" lIns="0" rIns="0" tIns="0" bIns="0">
            <a:spAutoFit/>
          </a:bodyPr>
          <a:lstStyle/>
          <a:p>
            <a:pPr algn="l">
              <a:lnSpc>
                <a:spcPct val="125000"/>
              </a:lnSpc>
            </a:pPr>
            <a:r>
              <a:rPr sz="1150" b="1" i="0">
                <a:solidFill>
                  <a:srgbClr val="93C5FD"/>
                </a:solidFill>
                <a:latin typeface="Source Han Sans SC"/>
              </a:rPr>
              <a:t>Sweeping lr = 1e-1 / 1e-3 / 1e-5</a:t>
            </a:r>
          </a:p>
        </p:txBody>
      </p:sp>
      <p:sp>
        <p:nvSpPr>
          <p:cNvPr id="16" name="TextBox 15"/>
          <p:cNvSpPr txBox="1"/>
          <p:nvPr/>
        </p:nvSpPr>
        <p:spPr>
          <a:xfrm>
            <a:off x="6405659" y="1691999"/>
            <a:ext cx="4789259" cy="3491999"/>
          </a:xfrm>
          <a:prstGeom prst="rect">
            <a:avLst/>
          </a:prstGeom>
          <a:noFill/>
        </p:spPr>
        <p:txBody>
          <a:bodyPr wrap="square" anchor="t" lIns="0" rIns="0" tIns="0" bIns="0">
            <a:spAutoFit/>
          </a:bodyPr>
          <a:lstStyle/>
          <a:p>
            <a:pPr algn="l">
              <a:lnSpc>
                <a:spcPct val="128000"/>
              </a:lnSpc>
            </a:pPr>
            <a:r>
              <a:rPr sz="1100" b="0" i="0">
                <a:solidFill>
                  <a:srgbClr val="E2E8F0"/>
                </a:solidFill>
                <a:latin typeface="Menlo"/>
              </a:rPr>
              <a:t># sweep the learning rate: 1e-1 / 1e-3 / 1e-5</a:t>
            </a:r>
          </a:p>
          <a:p>
            <a:pPr algn="l">
              <a:lnSpc>
                <a:spcPct val="128000"/>
              </a:lnSpc>
            </a:pPr>
            <a:r>
              <a:rPr sz="1100" b="0" i="0">
                <a:solidFill>
                  <a:srgbClr val="E2E8F0"/>
                </a:solidFill>
                <a:latin typeface="Menlo"/>
              </a:rPr>
              <a:t>for lr in [1e-1, 1e-3, 1e-5]:</a:t>
            </a:r>
          </a:p>
          <a:p>
            <a:pPr algn="l">
              <a:lnSpc>
                <a:spcPct val="128000"/>
              </a:lnSpc>
            </a:pPr>
            <a:r>
              <a:rPr sz="1100" b="0" i="0">
                <a:solidFill>
                  <a:srgbClr val="E2E8F0"/>
                </a:solidFill>
                <a:latin typeface="Menlo"/>
              </a:rPr>
              <a:t>    net = build_model()      # fresh weights</a:t>
            </a:r>
          </a:p>
          <a:p>
            <a:pPr algn="l">
              <a:lnSpc>
                <a:spcPct val="128000"/>
              </a:lnSpc>
            </a:pPr>
            <a:r>
              <a:rPr sz="1100" b="0" i="0">
                <a:solidFill>
                  <a:srgbClr val="E2E8F0"/>
                </a:solidFill>
                <a:latin typeface="Menlo"/>
              </a:rPr>
              <a:t>    opt = make_opt("adam", net, lr)</a:t>
            </a:r>
          </a:p>
          <a:p>
            <a:pPr algn="l">
              <a:lnSpc>
                <a:spcPct val="128000"/>
              </a:lnSpc>
            </a:pPr>
            <a:r>
              <a:rPr sz="1100" b="0" i="0">
                <a:solidFill>
                  <a:srgbClr val="E2E8F0"/>
                </a:solidFill>
                <a:latin typeface="Menlo"/>
              </a:rPr>
              <a:t>    hist = train(net, opt, epochs=10)</a:t>
            </a:r>
          </a:p>
          <a:p>
            <a:pPr algn="l">
              <a:lnSpc>
                <a:spcPct val="128000"/>
              </a:lnSpc>
            </a:pPr>
            <a:r>
              <a:rPr sz="1100" b="0" i="0">
                <a:solidFill>
                  <a:srgbClr val="E2E8F0"/>
                </a:solidFill>
                <a:latin typeface="Menlo"/>
              </a:rPr>
              <a:t>    log.append({"optim": "adam",</a:t>
            </a:r>
          </a:p>
          <a:p>
            <a:pPr algn="l">
              <a:lnSpc>
                <a:spcPct val="128000"/>
              </a:lnSpc>
            </a:pPr>
            <a:r>
              <a:rPr sz="1100" b="0" i="0">
                <a:solidFill>
                  <a:srgbClr val="E2E8F0"/>
                </a:solidFill>
                <a:latin typeface="Menlo"/>
              </a:rPr>
              <a:t>                "lr": lr,</a:t>
            </a:r>
          </a:p>
          <a:p>
            <a:pPr algn="l">
              <a:lnSpc>
                <a:spcPct val="128000"/>
              </a:lnSpc>
            </a:pPr>
            <a:r>
              <a:rPr sz="1100" b="0" i="0">
                <a:solidFill>
                  <a:srgbClr val="E2E8F0"/>
                </a:solidFill>
                <a:latin typeface="Menlo"/>
              </a:rPr>
              <a:t>                "val_loss": min(hist["val_loss"])})</a:t>
            </a:r>
          </a:p>
          <a:p>
            <a:pPr algn="l">
              <a:lnSpc>
                <a:spcPct val="128000"/>
              </a:lnSpc>
            </a:pPr>
            <a:r>
              <a:rPr sz="1100" b="0" i="0">
                <a:solidFill>
                  <a:srgbClr val="E2E8F0"/>
                </a:solidFill>
                <a:latin typeface="Menlo"/>
              </a:rPr>
              <a:t/>
            </a:r>
          </a:p>
          <a:p>
            <a:pPr algn="l">
              <a:lnSpc>
                <a:spcPct val="128000"/>
              </a:lnSpc>
            </a:pPr>
            <a:r>
              <a:rPr sz="1100" b="0" i="0">
                <a:solidFill>
                  <a:srgbClr val="E2E8F0"/>
                </a:solidFill>
                <a:latin typeface="Menlo"/>
              </a:rPr>
              <a:t># 1e-1 : loss explodes / oscillates</a:t>
            </a:r>
          </a:p>
          <a:p>
            <a:pPr algn="l">
              <a:lnSpc>
                <a:spcPct val="128000"/>
              </a:lnSpc>
            </a:pPr>
            <a:r>
              <a:rPr sz="1100" b="0" i="0">
                <a:solidFill>
                  <a:srgbClr val="E2E8F0"/>
                </a:solidFill>
                <a:latin typeface="Menlo"/>
              </a:rPr>
              <a:t># 1e-3 : converges smoothly - start here</a:t>
            </a:r>
          </a:p>
          <a:p>
            <a:pPr algn="l">
              <a:lnSpc>
                <a:spcPct val="128000"/>
              </a:lnSpc>
            </a:pPr>
            <a:r>
              <a:rPr sz="1100" b="0" i="0">
                <a:solidFill>
                  <a:srgbClr val="E2E8F0"/>
                </a:solidFill>
                <a:latin typeface="Menlo"/>
              </a:rPr>
              <a:t># 1e-5 : still far from converged</a:t>
            </a:r>
          </a:p>
        </p:txBody>
      </p:sp>
      <p:sp>
        <p:nvSpPr>
          <p:cNvPr id="17" name="TextBox 16"/>
          <p:cNvSpPr txBox="1"/>
          <p:nvPr/>
        </p:nvSpPr>
        <p:spPr>
          <a:xfrm>
            <a:off x="799200" y="5490000"/>
            <a:ext cx="10593719" cy="612000"/>
          </a:xfrm>
          <a:prstGeom prst="rect">
            <a:avLst/>
          </a:prstGeom>
          <a:noFill/>
        </p:spPr>
        <p:txBody>
          <a:bodyPr wrap="square" anchor="t" lIns="0" rIns="0" tIns="0" bIns="0">
            <a:spAutoFit/>
          </a:bodyPr>
          <a:lstStyle/>
          <a:p>
            <a:pPr algn="l">
              <a:lnSpc>
                <a:spcPct val="135000"/>
              </a:lnSpc>
            </a:pPr>
            <a:r>
              <a:rPr sz="1200" b="0" i="0">
                <a:solidFill>
                  <a:srgbClr val="1F2937"/>
                </a:solidFill>
                <a:latin typeface="Source Han Sans SC"/>
              </a:rPr>
              <a:t>Discipline for a controlled experiment: rebuild the model every run, or run 2 inherits weights already trained by run 1 and the comparison is void.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556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SGD and Adam: Two Personalities</a:t>
            </a:r>
          </a:p>
        </p:txBody>
      </p:sp>
      <p:sp>
        <p:nvSpPr>
          <p:cNvPr id="6" name="TextBox 5"/>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Module 2 · Week 5</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5</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12 / 29</a:t>
            </a:r>
          </a:p>
        </p:txBody>
      </p:sp>
      <p:sp>
        <p:nvSpPr>
          <p:cNvPr id="9" name="Rectangle 8"/>
          <p:cNvSpPr/>
          <p:nvPr/>
        </p:nvSpPr>
        <p:spPr>
          <a:xfrm>
            <a:off x="799200" y="1170000"/>
            <a:ext cx="5143859" cy="4104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99200" y="1170000"/>
            <a:ext cx="5143859" cy="5400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15200" y="1321200"/>
            <a:ext cx="4711859" cy="251999"/>
          </a:xfrm>
          <a:prstGeom prst="rect">
            <a:avLst/>
          </a:prstGeom>
          <a:noFill/>
        </p:spPr>
        <p:txBody>
          <a:bodyPr wrap="square" anchor="t" lIns="0" rIns="0" tIns="0" bIns="0">
            <a:spAutoFit/>
          </a:bodyPr>
          <a:lstStyle/>
          <a:p>
            <a:pPr algn="l">
              <a:lnSpc>
                <a:spcPct val="125000"/>
              </a:lnSpc>
            </a:pPr>
            <a:r>
              <a:rPr sz="1600" b="1" i="0">
                <a:solidFill>
                  <a:srgbClr val="FFFFFF"/>
                </a:solidFill>
                <a:latin typeface="Source Han Sans SC"/>
              </a:rPr>
              <a:t>SGD + Momentum</a:t>
            </a:r>
          </a:p>
        </p:txBody>
      </p:sp>
      <p:sp>
        <p:nvSpPr>
          <p:cNvPr id="12" name="TextBox 11"/>
          <p:cNvSpPr txBox="1"/>
          <p:nvPr/>
        </p:nvSpPr>
        <p:spPr>
          <a:xfrm>
            <a:off x="1015200" y="1890000"/>
            <a:ext cx="4711859" cy="3240000"/>
          </a:xfrm>
          <a:prstGeom prst="rect">
            <a:avLst/>
          </a:prstGeom>
          <a:noFill/>
        </p:spPr>
        <p:txBody>
          <a:bodyPr wrap="square" anchor="t" lIns="0" rIns="0" tIns="0" bIns="0">
            <a:spAutoFit/>
          </a:bodyPr>
          <a:lstStyle/>
          <a:p>
            <a:pPr algn="l">
              <a:lnSpc>
                <a:spcPct val="150000"/>
              </a:lnSpc>
              <a:spcAft>
                <a:spcPts val="800"/>
              </a:spcAft>
            </a:pPr>
            <a:r>
              <a:rPr sz="1250" b="0" i="0">
                <a:solidFill>
                  <a:srgbClr val="1F2937"/>
                </a:solidFill>
                <a:latin typeface="Source Han Sans SC"/>
              </a:rPr>
              <a:t>• Each step uses only one batch of gradients</a:t>
            </a:r>
          </a:p>
          <a:p>
            <a:pPr algn="l">
              <a:lnSpc>
                <a:spcPct val="150000"/>
              </a:lnSpc>
              <a:spcAft>
                <a:spcPts val="800"/>
              </a:spcAft>
            </a:pPr>
            <a:r>
              <a:rPr sz="1250" b="0" i="0">
                <a:solidFill>
                  <a:srgbClr val="1F2937"/>
                </a:solidFill>
                <a:latin typeface="Source Han Sans SC"/>
              </a:rPr>
              <a:t>• Momentum makes the direction steadier and faster</a:t>
            </a:r>
          </a:p>
          <a:p>
            <a:pPr algn="l">
              <a:lnSpc>
                <a:spcPct val="150000"/>
              </a:lnSpc>
              <a:spcAft>
                <a:spcPts val="800"/>
              </a:spcAft>
            </a:pPr>
            <a:r>
              <a:rPr sz="1250" b="0" i="0">
                <a:solidFill>
                  <a:srgbClr val="1F2937"/>
                </a:solidFill>
                <a:latin typeface="Source Han Sans SC"/>
              </a:rPr>
              <a:t>• Very lr-sensitive; 1e-1 simply explodes</a:t>
            </a:r>
          </a:p>
          <a:p>
            <a:pPr algn="l">
              <a:lnSpc>
                <a:spcPct val="150000"/>
              </a:lnSpc>
              <a:spcAft>
                <a:spcPts val="800"/>
              </a:spcAft>
            </a:pPr>
            <a:r>
              <a:rPr sz="1250" b="0" i="0">
                <a:solidFill>
                  <a:srgbClr val="1F2937"/>
                </a:solidFill>
                <a:latin typeface="Source Han Sans SC"/>
              </a:rPr>
              <a:t>• Usually generalises a little better, at a tuning cost</a:t>
            </a:r>
          </a:p>
          <a:p>
            <a:pPr algn="l">
              <a:lnSpc>
                <a:spcPct val="150000"/>
              </a:lnSpc>
              <a:spcAft>
                <a:spcPts val="800"/>
              </a:spcAft>
            </a:pPr>
            <a:r>
              <a:rPr sz="1250" b="0" i="0">
                <a:solidFill>
                  <a:srgbClr val="1F2937"/>
                </a:solidFill>
                <a:latin typeface="Source Han Sans SC"/>
              </a:rPr>
              <a:t>• The classic default in computer vision</a:t>
            </a:r>
          </a:p>
        </p:txBody>
      </p:sp>
      <p:sp>
        <p:nvSpPr>
          <p:cNvPr id="13" name="Rectangle 12"/>
          <p:cNvSpPr/>
          <p:nvPr/>
        </p:nvSpPr>
        <p:spPr>
          <a:xfrm>
            <a:off x="6249059" y="1170000"/>
            <a:ext cx="5143859" cy="4104000"/>
          </a:xfrm>
          <a:prstGeom prst="rect">
            <a:avLst/>
          </a:prstGeom>
          <a:solidFill>
            <a:srgbClr val="ECFDF5"/>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49059" y="1170000"/>
            <a:ext cx="5143859" cy="5400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65059" y="1321200"/>
            <a:ext cx="4711859" cy="251999"/>
          </a:xfrm>
          <a:prstGeom prst="rect">
            <a:avLst/>
          </a:prstGeom>
          <a:noFill/>
        </p:spPr>
        <p:txBody>
          <a:bodyPr wrap="square" anchor="t" lIns="0" rIns="0" tIns="0" bIns="0">
            <a:spAutoFit/>
          </a:bodyPr>
          <a:lstStyle/>
          <a:p>
            <a:pPr algn="l">
              <a:lnSpc>
                <a:spcPct val="125000"/>
              </a:lnSpc>
            </a:pPr>
            <a:r>
              <a:rPr sz="1600" b="1" i="0">
                <a:solidFill>
                  <a:srgbClr val="FFFFFF"/>
                </a:solidFill>
                <a:latin typeface="Source Han Sans SC"/>
              </a:rPr>
              <a:t>Adam</a:t>
            </a:r>
          </a:p>
        </p:txBody>
      </p:sp>
      <p:sp>
        <p:nvSpPr>
          <p:cNvPr id="16" name="TextBox 15"/>
          <p:cNvSpPr txBox="1"/>
          <p:nvPr/>
        </p:nvSpPr>
        <p:spPr>
          <a:xfrm>
            <a:off x="6465059" y="1890000"/>
            <a:ext cx="4711859" cy="3240000"/>
          </a:xfrm>
          <a:prstGeom prst="rect">
            <a:avLst/>
          </a:prstGeom>
          <a:noFill/>
        </p:spPr>
        <p:txBody>
          <a:bodyPr wrap="square" anchor="t" lIns="0" rIns="0" tIns="0" bIns="0">
            <a:spAutoFit/>
          </a:bodyPr>
          <a:lstStyle/>
          <a:p>
            <a:pPr algn="l">
              <a:lnSpc>
                <a:spcPct val="150000"/>
              </a:lnSpc>
              <a:spcAft>
                <a:spcPts val="800"/>
              </a:spcAft>
            </a:pPr>
            <a:r>
              <a:rPr sz="1250" b="0" i="0">
                <a:solidFill>
                  <a:srgbClr val="1F2937"/>
                </a:solidFill>
                <a:latin typeface="Source Han Sans SC"/>
              </a:rPr>
              <a:t>• Every parameter gets an adaptive step size</a:t>
            </a:r>
          </a:p>
          <a:p>
            <a:pPr algn="l">
              <a:lnSpc>
                <a:spcPct val="150000"/>
              </a:lnSpc>
              <a:spcAft>
                <a:spcPts val="800"/>
              </a:spcAft>
            </a:pPr>
            <a:r>
              <a:rPr sz="1250" b="0" i="0">
                <a:solidFill>
                  <a:srgbClr val="1F2937"/>
                </a:solidFill>
                <a:latin typeface="Source Han Sans SC"/>
              </a:rPr>
              <a:t>• More forgiving; 1e-3 usually runs</a:t>
            </a:r>
          </a:p>
          <a:p>
            <a:pPr algn="l">
              <a:lnSpc>
                <a:spcPct val="150000"/>
              </a:lnSpc>
              <a:spcAft>
                <a:spcPts val="800"/>
              </a:spcAft>
            </a:pPr>
            <a:r>
              <a:rPr sz="1250" b="0" i="0">
                <a:solidFill>
                  <a:srgbClr val="1F2937"/>
                </a:solidFill>
                <a:latin typeface="Source Han Sans SC"/>
              </a:rPr>
              <a:t>• Converges fast early — good for a quick baseline</a:t>
            </a:r>
          </a:p>
          <a:p>
            <a:pPr algn="l">
              <a:lnSpc>
                <a:spcPct val="150000"/>
              </a:lnSpc>
              <a:spcAft>
                <a:spcPts val="800"/>
              </a:spcAft>
            </a:pPr>
            <a:r>
              <a:rPr sz="1250" b="0" i="0">
                <a:solidFill>
                  <a:srgbClr val="1F2937"/>
                </a:solidFill>
                <a:latin typeface="Source Han Sans SC"/>
              </a:rPr>
              <a:t>• Two extra state buffers, so more VRAM</a:t>
            </a:r>
          </a:p>
          <a:p>
            <a:pPr algn="l">
              <a:lnSpc>
                <a:spcPct val="150000"/>
              </a:lnSpc>
              <a:spcAft>
                <a:spcPts val="800"/>
              </a:spcAft>
            </a:pPr>
            <a:r>
              <a:rPr sz="1250" b="0" i="0">
                <a:solidFill>
                  <a:srgbClr val="1F2937"/>
                </a:solidFill>
                <a:latin typeface="Source Han Sans SC"/>
              </a:rPr>
              <a:t>• First choice for Transformer-style models</a:t>
            </a:r>
          </a:p>
        </p:txBody>
      </p:sp>
      <p:sp>
        <p:nvSpPr>
          <p:cNvPr id="17" name="TextBox 16"/>
          <p:cNvSpPr txBox="1"/>
          <p:nvPr/>
        </p:nvSpPr>
        <p:spPr>
          <a:xfrm>
            <a:off x="799200" y="5454000"/>
            <a:ext cx="10593719" cy="576000"/>
          </a:xfrm>
          <a:prstGeom prst="rect">
            <a:avLst/>
          </a:prstGeom>
          <a:noFill/>
        </p:spPr>
        <p:txBody>
          <a:bodyPr wrap="square" anchor="t" lIns="0" rIns="0" tIns="0" bIns="0">
            <a:spAutoFit/>
          </a:bodyPr>
          <a:lstStyle/>
          <a:p>
            <a:pPr algn="l">
              <a:lnSpc>
                <a:spcPct val="140000"/>
              </a:lnSpc>
            </a:pPr>
            <a:r>
              <a:rPr sz="1250" b="0" i="0">
                <a:solidFill>
                  <a:srgbClr val="1F2937"/>
                </a:solidFill>
                <a:latin typeface="Source Han Sans SC"/>
              </a:rPr>
              <a:t>Strategy: get a working baseline with Adam(lr=1e-3) first, then refine with SGD+momentum. But the verdict on which is better must come from your own experiment, not from this slide.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936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4732919" y="381600"/>
            <a:ext cx="6667200" cy="5648400"/>
          </a:xfrm>
          <a:prstGeom prst="rect">
            <a:avLst/>
          </a:prstGeom>
          <a:noFill/>
        </p:spPr>
        <p:txBody>
          <a:bodyPr wrap="square" anchor="t" lIns="0" rIns="0" tIns="0" bIns="0">
            <a:spAutoFit/>
          </a:bodyPr>
          <a:lstStyle/>
          <a:p>
            <a:pPr algn="r">
              <a:lnSpc>
                <a:spcPct val="125000"/>
              </a:lnSpc>
            </a:pPr>
            <a:r>
              <a:rPr sz="17000" b="1" i="0">
                <a:solidFill>
                  <a:srgbClr val="F0F5FC"/>
                </a:solidFill>
                <a:latin typeface="Source Han Sans SC"/>
              </a:rPr>
              <a:t>03</a:t>
            </a:r>
          </a:p>
        </p:txBody>
      </p:sp>
      <p:sp>
        <p:nvSpPr>
          <p:cNvPr id="5" name="Rectangle 4"/>
          <p:cNvSpPr/>
          <p:nvPr/>
        </p:nvSpPr>
        <p:spPr>
          <a:xfrm>
            <a:off x="856800" y="1047600"/>
            <a:ext cx="1238400" cy="12384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1180800" y="1314000"/>
            <a:ext cx="601200" cy="712800"/>
          </a:xfrm>
          <a:prstGeom prst="rect">
            <a:avLst/>
          </a:prstGeom>
          <a:noFill/>
        </p:spPr>
        <p:txBody>
          <a:bodyPr wrap="square" anchor="t" lIns="0" rIns="0" tIns="0" bIns="0">
            <a:spAutoFit/>
          </a:bodyPr>
          <a:lstStyle/>
          <a:p>
            <a:pPr algn="ctr">
              <a:lnSpc>
                <a:spcPct val="125000"/>
              </a:lnSpc>
            </a:pPr>
            <a:r>
              <a:rPr sz="3200" b="1" i="0">
                <a:solidFill>
                  <a:srgbClr val="FFFFFF"/>
                </a:solidFill>
                <a:latin typeface="Source Han Sans SC"/>
              </a:rPr>
              <a:t>03</a:t>
            </a:r>
          </a:p>
        </p:txBody>
      </p:sp>
      <p:sp>
        <p:nvSpPr>
          <p:cNvPr id="7" name="TextBox 6"/>
          <p:cNvSpPr txBox="1"/>
          <p:nvPr/>
        </p:nvSpPr>
        <p:spPr>
          <a:xfrm>
            <a:off x="2379600" y="1105200"/>
            <a:ext cx="5040000" cy="503999"/>
          </a:xfrm>
          <a:prstGeom prst="rect">
            <a:avLst/>
          </a:prstGeom>
          <a:noFill/>
        </p:spPr>
        <p:txBody>
          <a:bodyPr wrap="square" anchor="t" lIns="0" rIns="0" tIns="0" bIns="0">
            <a:spAutoFit/>
          </a:bodyPr>
          <a:lstStyle/>
          <a:p>
            <a:pPr algn="l">
              <a:lnSpc>
                <a:spcPct val="125000"/>
              </a:lnSpc>
            </a:pPr>
            <a:r>
              <a:rPr sz="3000" b="1" i="0">
                <a:solidFill>
                  <a:srgbClr val="0E3F8C"/>
                </a:solidFill>
                <a:latin typeface="Source Han Sans SC"/>
              </a:rPr>
              <a:t>Learning Rate: The First Hyper-parameter</a:t>
            </a:r>
          </a:p>
        </p:txBody>
      </p:sp>
      <p:sp>
        <p:nvSpPr>
          <p:cNvPr id="8" name="TextBox 7"/>
          <p:cNvSpPr txBox="1"/>
          <p:nvPr/>
        </p:nvSpPr>
        <p:spPr>
          <a:xfrm>
            <a:off x="2379600" y="1666800"/>
            <a:ext cx="5040000" cy="306000"/>
          </a:xfrm>
          <a:prstGeom prst="rect">
            <a:avLst/>
          </a:prstGeom>
          <a:noFill/>
        </p:spPr>
        <p:txBody>
          <a:bodyPr wrap="square" anchor="t" lIns="0" rIns="0" tIns="0" bIns="0">
            <a:spAutoFit/>
          </a:bodyPr>
          <a:lstStyle/>
          <a:p>
            <a:pPr algn="l">
              <a:lnSpc>
                <a:spcPct val="125000"/>
              </a:lnSpc>
            </a:pPr>
            <a:r>
              <a:rPr sz="1500" b="0" i="0">
                <a:solidFill>
                  <a:srgbClr val="3D7BD9"/>
                </a:solidFill>
                <a:latin typeface="Source Han Sans SC"/>
              </a:rPr>
              <a:t>Learning rate</a:t>
            </a:r>
          </a:p>
        </p:txBody>
      </p:sp>
      <p:sp>
        <p:nvSpPr>
          <p:cNvPr id="9" name="TextBox 8"/>
          <p:cNvSpPr txBox="1"/>
          <p:nvPr/>
        </p:nvSpPr>
        <p:spPr>
          <a:xfrm>
            <a:off x="799200" y="2736000"/>
            <a:ext cx="8640000" cy="1620000"/>
          </a:xfrm>
          <a:prstGeom prst="rect">
            <a:avLst/>
          </a:prstGeom>
          <a:noFill/>
        </p:spPr>
        <p:txBody>
          <a:bodyPr wrap="square" anchor="t" lIns="0" rIns="0" tIns="0" bIns="0">
            <a:spAutoFit/>
          </a:bodyPr>
          <a:lstStyle/>
          <a:p>
            <a:pPr algn="l">
              <a:lnSpc>
                <a:spcPct val="150000"/>
              </a:lnSpc>
            </a:pPr>
            <a:r>
              <a:rPr sz="1500" b="0" i="0">
                <a:solidFill>
                  <a:srgbClr val="1F2937"/>
                </a:solidFill>
                <a:latin typeface="Source Han Sans SC"/>
              </a:rPr>
              <a:t>The learning rate is how far each step goes. Too large and the loss explodes; too small and training looks like it is learning nothing.
When a loss looks wrong, this is the first thing to inspect.</a:t>
            </a:r>
          </a:p>
        </p:txBody>
      </p:sp>
      <p:sp>
        <p:nvSpPr>
          <p:cNvPr id="10" name="Rectangle 9"/>
          <p:cNvSpPr/>
          <p:nvPr/>
        </p:nvSpPr>
        <p:spPr>
          <a:xfrm>
            <a:off x="799200" y="5000400"/>
            <a:ext cx="3380039" cy="810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799200"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8000" y="5173200"/>
            <a:ext cx="2962439" cy="255600"/>
          </a:xfrm>
          <a:prstGeom prst="rect">
            <a:avLst/>
          </a:prstGeom>
          <a:noFill/>
        </p:spPr>
        <p:txBody>
          <a:bodyPr wrap="square" anchor="t" lIns="0" rIns="0" tIns="0" bIns="0">
            <a:spAutoFit/>
          </a:bodyPr>
          <a:lstStyle/>
          <a:p>
            <a:pPr algn="l">
              <a:lnSpc>
                <a:spcPct val="125000"/>
              </a:lnSpc>
            </a:pPr>
            <a:r>
              <a:rPr sz="1500" b="1" i="0">
                <a:solidFill>
                  <a:srgbClr val="0E3F8C"/>
                </a:solidFill>
                <a:latin typeface="Source Han Sans SC"/>
              </a:rPr>
              <a:t>Too Large</a:t>
            </a:r>
          </a:p>
        </p:txBody>
      </p:sp>
      <p:sp>
        <p:nvSpPr>
          <p:cNvPr id="13" name="TextBox 12"/>
          <p:cNvSpPr txBox="1"/>
          <p:nvPr/>
        </p:nvSpPr>
        <p:spPr>
          <a:xfrm>
            <a:off x="1008000" y="5468400"/>
            <a:ext cx="2962439" cy="172800"/>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Oscillation, explosion, nan</a:t>
            </a:r>
          </a:p>
        </p:txBody>
      </p:sp>
      <p:sp>
        <p:nvSpPr>
          <p:cNvPr id="14" name="Rectangle 13"/>
          <p:cNvSpPr/>
          <p:nvPr/>
        </p:nvSpPr>
        <p:spPr>
          <a:xfrm>
            <a:off x="4406040" y="5000400"/>
            <a:ext cx="3380039" cy="810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406040"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614840" y="5173200"/>
            <a:ext cx="2962439" cy="255600"/>
          </a:xfrm>
          <a:prstGeom prst="rect">
            <a:avLst/>
          </a:prstGeom>
          <a:noFill/>
        </p:spPr>
        <p:txBody>
          <a:bodyPr wrap="square" anchor="t" lIns="0" rIns="0" tIns="0" bIns="0">
            <a:spAutoFit/>
          </a:bodyPr>
          <a:lstStyle/>
          <a:p>
            <a:pPr algn="l">
              <a:lnSpc>
                <a:spcPct val="125000"/>
              </a:lnSpc>
            </a:pPr>
            <a:r>
              <a:rPr sz="1500" b="1" i="0">
                <a:solidFill>
                  <a:srgbClr val="0E3F8C"/>
                </a:solidFill>
                <a:latin typeface="Source Han Sans SC"/>
              </a:rPr>
              <a:t>Too Small</a:t>
            </a:r>
          </a:p>
        </p:txBody>
      </p:sp>
      <p:sp>
        <p:nvSpPr>
          <p:cNvPr id="17" name="TextBox 16"/>
          <p:cNvSpPr txBox="1"/>
          <p:nvPr/>
        </p:nvSpPr>
        <p:spPr>
          <a:xfrm>
            <a:off x="4614840" y="5468400"/>
            <a:ext cx="2962439" cy="172800"/>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The loss barely moves</a:t>
            </a:r>
          </a:p>
        </p:txBody>
      </p:sp>
      <p:sp>
        <p:nvSpPr>
          <p:cNvPr id="18" name="Rectangle 17"/>
          <p:cNvSpPr/>
          <p:nvPr/>
        </p:nvSpPr>
        <p:spPr>
          <a:xfrm>
            <a:off x="8012879" y="5000400"/>
            <a:ext cx="3380039" cy="810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8012879"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221679" y="5173200"/>
            <a:ext cx="2962439" cy="255600"/>
          </a:xfrm>
          <a:prstGeom prst="rect">
            <a:avLst/>
          </a:prstGeom>
          <a:noFill/>
        </p:spPr>
        <p:txBody>
          <a:bodyPr wrap="square" anchor="t" lIns="0" rIns="0" tIns="0" bIns="0">
            <a:spAutoFit/>
          </a:bodyPr>
          <a:lstStyle/>
          <a:p>
            <a:pPr algn="l">
              <a:lnSpc>
                <a:spcPct val="125000"/>
              </a:lnSpc>
            </a:pPr>
            <a:r>
              <a:rPr sz="1500" b="1" i="0">
                <a:solidFill>
                  <a:srgbClr val="0E3F8C"/>
                </a:solidFill>
                <a:latin typeface="Source Han Sans SC"/>
              </a:rPr>
              <a:t>Check It First</a:t>
            </a:r>
          </a:p>
        </p:txBody>
      </p:sp>
      <p:sp>
        <p:nvSpPr>
          <p:cNvPr id="21" name="TextBox 20"/>
          <p:cNvSpPr txBox="1"/>
          <p:nvPr/>
        </p:nvSpPr>
        <p:spPr>
          <a:xfrm>
            <a:off x="8221679" y="5468400"/>
            <a:ext cx="2962439" cy="172800"/>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Prime suspect for a broken loss</a:t>
            </a:r>
          </a:p>
        </p:txBody>
      </p:sp>
      <p:sp>
        <p:nvSpPr>
          <p:cNvPr id="22" name="TextBox 21"/>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5</a:t>
            </a:r>
          </a:p>
        </p:txBody>
      </p:sp>
      <p:sp>
        <p:nvSpPr>
          <p:cNvPr id="23" name="TextBox 22"/>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13 / 29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556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Learning Rate: Symptoms and Schedules</a:t>
            </a:r>
          </a:p>
        </p:txBody>
      </p:sp>
      <p:sp>
        <p:nvSpPr>
          <p:cNvPr id="6" name="TextBox 5"/>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Module 2 · Week 5</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5</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14 / 29</a:t>
            </a:r>
          </a:p>
        </p:txBody>
      </p:sp>
      <p:sp>
        <p:nvSpPr>
          <p:cNvPr id="9" name="Rectangle 8"/>
          <p:cNvSpPr/>
          <p:nvPr/>
        </p:nvSpPr>
        <p:spPr>
          <a:xfrm>
            <a:off x="799200" y="1296000"/>
            <a:ext cx="3387239" cy="2304000"/>
          </a:xfrm>
          <a:prstGeom prst="rect">
            <a:avLst/>
          </a:prstGeom>
          <a:solidFill>
            <a:srgbClr val="FEF2F2"/>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99200" y="1296000"/>
            <a:ext cx="32400" cy="230400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22400" y="1483200"/>
            <a:ext cx="2940839" cy="223200"/>
          </a:xfrm>
          <a:prstGeom prst="rect">
            <a:avLst/>
          </a:prstGeom>
          <a:noFill/>
        </p:spPr>
        <p:txBody>
          <a:bodyPr wrap="square" anchor="t" lIns="0" rIns="0" tIns="0" bIns="0">
            <a:spAutoFit/>
          </a:bodyPr>
          <a:lstStyle/>
          <a:p>
            <a:pPr algn="l">
              <a:lnSpc>
                <a:spcPct val="125000"/>
              </a:lnSpc>
            </a:pPr>
            <a:r>
              <a:rPr sz="1550" b="1" i="0">
                <a:solidFill>
                  <a:srgbClr val="0E3F8C"/>
                </a:solidFill>
                <a:latin typeface="Source Han Sans SC"/>
              </a:rPr>
              <a:t>Too Large: Overshooting</a:t>
            </a:r>
          </a:p>
        </p:txBody>
      </p:sp>
      <p:sp>
        <p:nvSpPr>
          <p:cNvPr id="12" name="TextBox 11"/>
          <p:cNvSpPr txBox="1"/>
          <p:nvPr/>
        </p:nvSpPr>
        <p:spPr>
          <a:xfrm>
            <a:off x="1022400" y="1713600"/>
            <a:ext cx="2940839" cy="151200"/>
          </a:xfrm>
          <a:prstGeom prst="rect">
            <a:avLst/>
          </a:prstGeom>
          <a:noFill/>
        </p:spPr>
        <p:txBody>
          <a:bodyPr wrap="square" anchor="t" lIns="0" rIns="0" tIns="0" bIns="0">
            <a:spAutoFit/>
          </a:bodyPr>
          <a:lstStyle/>
          <a:p>
            <a:pPr algn="l">
              <a:lnSpc>
                <a:spcPct val="125000"/>
              </a:lnSpc>
            </a:pPr>
            <a:r>
              <a:rPr sz="1100" b="1" i="0">
                <a:solidFill>
                  <a:srgbClr val="3D7BD9"/>
                </a:solidFill>
                <a:latin typeface="Source Han Sans SC"/>
              </a:rPr>
              <a:t>lr=1e-1</a:t>
            </a:r>
          </a:p>
        </p:txBody>
      </p:sp>
      <p:sp>
        <p:nvSpPr>
          <p:cNvPr id="13" name="TextBox 12"/>
          <p:cNvSpPr txBox="1"/>
          <p:nvPr/>
        </p:nvSpPr>
        <p:spPr>
          <a:xfrm>
            <a:off x="1022400" y="1915200"/>
            <a:ext cx="2940839" cy="1540799"/>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The loss oscillates and never descends</a:t>
            </a:r>
          </a:p>
          <a:p>
            <a:pPr algn="l">
              <a:lnSpc>
                <a:spcPct val="140000"/>
              </a:lnSpc>
              <a:spcAft>
                <a:spcPts val="400"/>
              </a:spcAft>
            </a:pPr>
            <a:r>
              <a:rPr sz="1200" b="0" i="0">
                <a:solidFill>
                  <a:srgbClr val="1F2937"/>
                </a:solidFill>
                <a:latin typeface="Source Han Sans SC"/>
              </a:rPr>
              <a:t>• nan or inf appears quickly</a:t>
            </a:r>
          </a:p>
          <a:p>
            <a:pPr algn="l">
              <a:lnSpc>
                <a:spcPct val="140000"/>
              </a:lnSpc>
              <a:spcAft>
                <a:spcPts val="400"/>
              </a:spcAft>
            </a:pPr>
            <a:r>
              <a:rPr sz="1200" b="0" i="0">
                <a:solidFill>
                  <a:srgbClr val="1F2937"/>
                </a:solidFill>
                <a:latin typeface="Source Han Sans SC"/>
              </a:rPr>
              <a:t>• Fix: divide the learning rate by 10</a:t>
            </a:r>
          </a:p>
          <a:p>
            <a:pPr algn="l">
              <a:lnSpc>
                <a:spcPct val="140000"/>
              </a:lnSpc>
              <a:spcAft>
                <a:spcPts val="400"/>
              </a:spcAft>
            </a:pPr>
            <a:r>
              <a:rPr sz="1200" b="0" i="0">
                <a:solidFill>
                  <a:srgbClr val="1F2937"/>
                </a:solidFill>
                <a:latin typeface="Source Han Sans SC"/>
              </a:rPr>
              <a:t>• Symptom: accuracy stays at chance level</a:t>
            </a:r>
          </a:p>
        </p:txBody>
      </p:sp>
      <p:sp>
        <p:nvSpPr>
          <p:cNvPr id="14" name="Rectangle 13"/>
          <p:cNvSpPr/>
          <p:nvPr/>
        </p:nvSpPr>
        <p:spPr>
          <a:xfrm>
            <a:off x="4402440" y="1296000"/>
            <a:ext cx="3387239" cy="2304000"/>
          </a:xfrm>
          <a:prstGeom prst="rect">
            <a:avLst/>
          </a:prstGeom>
          <a:solidFill>
            <a:srgbClr val="FFFBEB"/>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402440" y="1296000"/>
            <a:ext cx="32400" cy="23040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625639" y="1483200"/>
            <a:ext cx="2940839" cy="223200"/>
          </a:xfrm>
          <a:prstGeom prst="rect">
            <a:avLst/>
          </a:prstGeom>
          <a:noFill/>
        </p:spPr>
        <p:txBody>
          <a:bodyPr wrap="square" anchor="t" lIns="0" rIns="0" tIns="0" bIns="0">
            <a:spAutoFit/>
          </a:bodyPr>
          <a:lstStyle/>
          <a:p>
            <a:pPr algn="l">
              <a:lnSpc>
                <a:spcPct val="125000"/>
              </a:lnSpc>
            </a:pPr>
            <a:r>
              <a:rPr sz="1550" b="1" i="0">
                <a:solidFill>
                  <a:srgbClr val="0E3F8C"/>
                </a:solidFill>
                <a:latin typeface="Source Han Sans SC"/>
              </a:rPr>
              <a:t>Too Small: Crawling</a:t>
            </a:r>
          </a:p>
        </p:txBody>
      </p:sp>
      <p:sp>
        <p:nvSpPr>
          <p:cNvPr id="17" name="TextBox 16"/>
          <p:cNvSpPr txBox="1"/>
          <p:nvPr/>
        </p:nvSpPr>
        <p:spPr>
          <a:xfrm>
            <a:off x="4625639" y="1713600"/>
            <a:ext cx="2940839" cy="151200"/>
          </a:xfrm>
          <a:prstGeom prst="rect">
            <a:avLst/>
          </a:prstGeom>
          <a:noFill/>
        </p:spPr>
        <p:txBody>
          <a:bodyPr wrap="square" anchor="t" lIns="0" rIns="0" tIns="0" bIns="0">
            <a:spAutoFit/>
          </a:bodyPr>
          <a:lstStyle/>
          <a:p>
            <a:pPr algn="l">
              <a:lnSpc>
                <a:spcPct val="125000"/>
              </a:lnSpc>
            </a:pPr>
            <a:r>
              <a:rPr sz="1100" b="1" i="0">
                <a:solidFill>
                  <a:srgbClr val="3D7BD9"/>
                </a:solidFill>
                <a:latin typeface="Source Han Sans SC"/>
              </a:rPr>
              <a:t>lr=1e-5</a:t>
            </a:r>
          </a:p>
        </p:txBody>
      </p:sp>
      <p:sp>
        <p:nvSpPr>
          <p:cNvPr id="18" name="TextBox 17"/>
          <p:cNvSpPr txBox="1"/>
          <p:nvPr/>
        </p:nvSpPr>
        <p:spPr>
          <a:xfrm>
            <a:off x="4625639" y="1915200"/>
            <a:ext cx="2940839" cy="1540799"/>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Loss moves less than 0.05 in 10 epochs</a:t>
            </a:r>
          </a:p>
          <a:p>
            <a:pPr algn="l">
              <a:lnSpc>
                <a:spcPct val="140000"/>
              </a:lnSpc>
              <a:spcAft>
                <a:spcPts val="400"/>
              </a:spcAft>
            </a:pPr>
            <a:r>
              <a:rPr sz="1200" b="0" i="0">
                <a:solidFill>
                  <a:srgbClr val="1F2937"/>
                </a:solidFill>
                <a:latin typeface="Source Han Sans SC"/>
              </a:rPr>
              <a:t>• It looks like training but is barely moving</a:t>
            </a:r>
          </a:p>
          <a:p>
            <a:pPr algn="l">
              <a:lnSpc>
                <a:spcPct val="140000"/>
              </a:lnSpc>
              <a:spcAft>
                <a:spcPts val="400"/>
              </a:spcAft>
            </a:pPr>
            <a:r>
              <a:rPr sz="1200" b="0" i="0">
                <a:solidFill>
                  <a:srgbClr val="1F2937"/>
                </a:solidFill>
                <a:latin typeface="Source Han Sans SC"/>
              </a:rPr>
              <a:t>• Fix: try 10x larger once</a:t>
            </a:r>
          </a:p>
          <a:p>
            <a:pPr algn="l">
              <a:lnSpc>
                <a:spcPct val="140000"/>
              </a:lnSpc>
              <a:spcAft>
                <a:spcPts val="400"/>
              </a:spcAft>
            </a:pPr>
            <a:r>
              <a:rPr sz="1200" b="0" i="0">
                <a:solidFill>
                  <a:srgbClr val="1F2937"/>
                </a:solidFill>
                <a:latin typeface="Source Han Sans SC"/>
              </a:rPr>
              <a:t>• Do not mask it by adding epochs</a:t>
            </a:r>
          </a:p>
        </p:txBody>
      </p:sp>
      <p:sp>
        <p:nvSpPr>
          <p:cNvPr id="19" name="Rectangle 18"/>
          <p:cNvSpPr/>
          <p:nvPr/>
        </p:nvSpPr>
        <p:spPr>
          <a:xfrm>
            <a:off x="8005679" y="1296000"/>
            <a:ext cx="3387239" cy="2304000"/>
          </a:xfrm>
          <a:prstGeom prst="rect">
            <a:avLst/>
          </a:prstGeom>
          <a:solidFill>
            <a:srgbClr val="ECFDF5"/>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8005679" y="1296000"/>
            <a:ext cx="32400" cy="23040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228879" y="1483200"/>
            <a:ext cx="2940839" cy="223200"/>
          </a:xfrm>
          <a:prstGeom prst="rect">
            <a:avLst/>
          </a:prstGeom>
          <a:noFill/>
        </p:spPr>
        <p:txBody>
          <a:bodyPr wrap="square" anchor="t" lIns="0" rIns="0" tIns="0" bIns="0">
            <a:spAutoFit/>
          </a:bodyPr>
          <a:lstStyle/>
          <a:p>
            <a:pPr algn="l">
              <a:lnSpc>
                <a:spcPct val="125000"/>
              </a:lnSpc>
            </a:pPr>
            <a:r>
              <a:rPr sz="1550" b="1" i="0">
                <a:solidFill>
                  <a:srgbClr val="0E3F8C"/>
                </a:solidFill>
                <a:latin typeface="Source Han Sans SC"/>
              </a:rPr>
              <a:t>Schedule: Three Phases</a:t>
            </a:r>
          </a:p>
        </p:txBody>
      </p:sp>
      <p:sp>
        <p:nvSpPr>
          <p:cNvPr id="22" name="TextBox 21"/>
          <p:cNvSpPr txBox="1"/>
          <p:nvPr/>
        </p:nvSpPr>
        <p:spPr>
          <a:xfrm>
            <a:off x="8228879" y="1713600"/>
            <a:ext cx="2940839" cy="151200"/>
          </a:xfrm>
          <a:prstGeom prst="rect">
            <a:avLst/>
          </a:prstGeom>
          <a:noFill/>
        </p:spPr>
        <p:txBody>
          <a:bodyPr wrap="square" anchor="t" lIns="0" rIns="0" tIns="0" bIns="0">
            <a:spAutoFit/>
          </a:bodyPr>
          <a:lstStyle/>
          <a:p>
            <a:pPr algn="l">
              <a:lnSpc>
                <a:spcPct val="125000"/>
              </a:lnSpc>
            </a:pPr>
            <a:r>
              <a:rPr sz="1100" b="1" i="0">
                <a:solidFill>
                  <a:srgbClr val="3D7BD9"/>
                </a:solidFill>
                <a:latin typeface="Source Han Sans SC"/>
              </a:rPr>
              <a:t>warmup + decay</a:t>
            </a:r>
          </a:p>
        </p:txBody>
      </p:sp>
      <p:sp>
        <p:nvSpPr>
          <p:cNvPr id="23" name="TextBox 22"/>
          <p:cNvSpPr txBox="1"/>
          <p:nvPr/>
        </p:nvSpPr>
        <p:spPr>
          <a:xfrm>
            <a:off x="8228879" y="1915200"/>
            <a:ext cx="2940839" cy="1540799"/>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Warmup: ramp up over the first epochs</a:t>
            </a:r>
          </a:p>
          <a:p>
            <a:pPr algn="l">
              <a:lnSpc>
                <a:spcPct val="140000"/>
              </a:lnSpc>
              <a:spcAft>
                <a:spcPts val="400"/>
              </a:spcAft>
            </a:pPr>
            <a:r>
              <a:rPr sz="1200" b="0" i="0">
                <a:solidFill>
                  <a:srgbClr val="1F2937"/>
                </a:solidFill>
                <a:latin typeface="Source Han Sans SC"/>
              </a:rPr>
              <a:t>• Middle: StepLR decays every N epochs</a:t>
            </a:r>
          </a:p>
          <a:p>
            <a:pPr algn="l">
              <a:lnSpc>
                <a:spcPct val="140000"/>
              </a:lnSpc>
              <a:spcAft>
                <a:spcPts val="400"/>
              </a:spcAft>
            </a:pPr>
            <a:r>
              <a:rPr sz="1200" b="0" i="0">
                <a:solidFill>
                  <a:srgbClr val="1F2937"/>
                </a:solidFill>
                <a:latin typeface="Source Han Sans SC"/>
              </a:rPr>
              <a:t>• Late: CosineAnnealing anneals smoothly</a:t>
            </a:r>
          </a:p>
          <a:p>
            <a:pPr algn="l">
              <a:lnSpc>
                <a:spcPct val="140000"/>
              </a:lnSpc>
              <a:spcAft>
                <a:spcPts val="400"/>
              </a:spcAft>
            </a:pPr>
            <a:r>
              <a:rPr sz="1200" b="0" i="0">
                <a:solidFill>
                  <a:srgbClr val="1F2937"/>
                </a:solidFill>
                <a:latin typeface="Source Han Sans SC"/>
              </a:rPr>
              <a:t>• Implemented with lr_scheduler in PyTorch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556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Diagnosing lr: Same Model, Same Data, Only lr Changes</a:t>
            </a:r>
          </a:p>
        </p:txBody>
      </p:sp>
      <p:sp>
        <p:nvSpPr>
          <p:cNvPr id="6" name="TextBox 5"/>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Module 2 · Week 5</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5</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15 / 29</a:t>
            </a:r>
          </a:p>
        </p:txBody>
      </p:sp>
      <p:graphicFrame>
        <p:nvGraphicFramePr>
          <p:cNvPr id="9" name="Chart 8"/>
          <p:cNvGraphicFramePr>
            <a:graphicFrameLocks noGrp="1"/>
          </p:cNvGraphicFramePr>
          <p:nvPr/>
        </p:nvGraphicFramePr>
        <p:xfrm>
          <a:off x="799200" y="1152000"/>
          <a:ext cx="6840000" cy="4248000"/>
        </p:xfrm>
        <a:graphic>
          <a:graphicData uri="http://schemas.openxmlformats.org/drawingml/2006/chart">
            <c:chart xmlns:c="http://schemas.openxmlformats.org/drawingml/2006/chart" r:id="rId2"/>
          </a:graphicData>
        </a:graphic>
      </p:graphicFrame>
      <p:sp>
        <p:nvSpPr>
          <p:cNvPr id="10" name="TextBox 9"/>
          <p:cNvSpPr txBox="1"/>
          <p:nvPr/>
        </p:nvSpPr>
        <p:spPr>
          <a:xfrm>
            <a:off x="7963199" y="1259999"/>
            <a:ext cx="3429720" cy="3240000"/>
          </a:xfrm>
          <a:prstGeom prst="rect">
            <a:avLst/>
          </a:prstGeom>
          <a:noFill/>
        </p:spPr>
        <p:txBody>
          <a:bodyPr wrap="square" anchor="t" lIns="0" rIns="0" tIns="0" bIns="0">
            <a:spAutoFit/>
          </a:bodyPr>
          <a:lstStyle/>
          <a:p>
            <a:pPr algn="l">
              <a:lnSpc>
                <a:spcPct val="145000"/>
              </a:lnSpc>
              <a:spcAft>
                <a:spcPts val="800"/>
              </a:spcAft>
            </a:pPr>
            <a:r>
              <a:rPr sz="1250" b="0" i="0">
                <a:solidFill>
                  <a:srgbClr val="1F2937"/>
                </a:solidFill>
                <a:latin typeface="Source Han Sans SC"/>
              </a:rPr>
              <a:t>• The red line oscillates and never descends → lr too large</a:t>
            </a:r>
          </a:p>
          <a:p>
            <a:pPr algn="l">
              <a:lnSpc>
                <a:spcPct val="145000"/>
              </a:lnSpc>
              <a:spcAft>
                <a:spcPts val="800"/>
              </a:spcAft>
            </a:pPr>
            <a:r>
              <a:rPr sz="1250" b="0" i="0">
                <a:solidFill>
                  <a:srgbClr val="1F2937"/>
                </a:solidFill>
                <a:latin typeface="Source Han Sans SC"/>
              </a:rPr>
              <a:t>• The grey line is almost flat → lr too small (not a weak model)</a:t>
            </a:r>
          </a:p>
          <a:p>
            <a:pPr algn="l">
              <a:lnSpc>
                <a:spcPct val="145000"/>
              </a:lnSpc>
              <a:spcAft>
                <a:spcPts val="800"/>
              </a:spcAft>
            </a:pPr>
            <a:r>
              <a:rPr sz="1250" b="0" i="0">
                <a:solidFill>
                  <a:srgbClr val="1F2937"/>
                </a:solidFill>
                <a:latin typeface="Source Han Sans SC"/>
              </a:rPr>
              <a:t>• The green line falls steadily → this is the state where more epochs help</a:t>
            </a:r>
          </a:p>
          <a:p>
            <a:pPr algn="l">
              <a:lnSpc>
                <a:spcPct val="145000"/>
              </a:lnSpc>
              <a:spcAft>
                <a:spcPts val="800"/>
              </a:spcAft>
            </a:pPr>
            <a:r>
              <a:rPr sz="1250" b="0" i="0">
                <a:solidFill>
                  <a:srgbClr val="1F2937"/>
                </a:solidFill>
                <a:latin typeface="Source Han Sans SC"/>
              </a:rPr>
              <a:t>• Lab 4 requires you to produce these three curves yourself, not copy them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936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4732919" y="381600"/>
            <a:ext cx="6667200" cy="5648400"/>
          </a:xfrm>
          <a:prstGeom prst="rect">
            <a:avLst/>
          </a:prstGeom>
          <a:noFill/>
        </p:spPr>
        <p:txBody>
          <a:bodyPr wrap="square" anchor="t" lIns="0" rIns="0" tIns="0" bIns="0">
            <a:spAutoFit/>
          </a:bodyPr>
          <a:lstStyle/>
          <a:p>
            <a:pPr algn="r">
              <a:lnSpc>
                <a:spcPct val="125000"/>
              </a:lnSpc>
            </a:pPr>
            <a:r>
              <a:rPr sz="17000" b="1" i="0">
                <a:solidFill>
                  <a:srgbClr val="F0F5FC"/>
                </a:solidFill>
                <a:latin typeface="Source Han Sans SC"/>
              </a:rPr>
              <a:t>04</a:t>
            </a:r>
          </a:p>
        </p:txBody>
      </p:sp>
      <p:sp>
        <p:nvSpPr>
          <p:cNvPr id="5" name="Rectangle 4"/>
          <p:cNvSpPr/>
          <p:nvPr/>
        </p:nvSpPr>
        <p:spPr>
          <a:xfrm>
            <a:off x="856800" y="1047600"/>
            <a:ext cx="1238400" cy="12384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1180800" y="1314000"/>
            <a:ext cx="601200" cy="712800"/>
          </a:xfrm>
          <a:prstGeom prst="rect">
            <a:avLst/>
          </a:prstGeom>
          <a:noFill/>
        </p:spPr>
        <p:txBody>
          <a:bodyPr wrap="square" anchor="t" lIns="0" rIns="0" tIns="0" bIns="0">
            <a:spAutoFit/>
          </a:bodyPr>
          <a:lstStyle/>
          <a:p>
            <a:pPr algn="ctr">
              <a:lnSpc>
                <a:spcPct val="125000"/>
              </a:lnSpc>
            </a:pPr>
            <a:r>
              <a:rPr sz="3200" b="1" i="0">
                <a:solidFill>
                  <a:srgbClr val="FFFFFF"/>
                </a:solidFill>
                <a:latin typeface="Source Han Sans SC"/>
              </a:rPr>
              <a:t>04</a:t>
            </a:r>
          </a:p>
        </p:txBody>
      </p:sp>
      <p:sp>
        <p:nvSpPr>
          <p:cNvPr id="7" name="TextBox 6"/>
          <p:cNvSpPr txBox="1"/>
          <p:nvPr/>
        </p:nvSpPr>
        <p:spPr>
          <a:xfrm>
            <a:off x="2379600" y="1105200"/>
            <a:ext cx="5040000" cy="503999"/>
          </a:xfrm>
          <a:prstGeom prst="rect">
            <a:avLst/>
          </a:prstGeom>
          <a:noFill/>
        </p:spPr>
        <p:txBody>
          <a:bodyPr wrap="square" anchor="t" lIns="0" rIns="0" tIns="0" bIns="0">
            <a:spAutoFit/>
          </a:bodyPr>
          <a:lstStyle/>
          <a:p>
            <a:pPr algn="l">
              <a:lnSpc>
                <a:spcPct val="125000"/>
              </a:lnSpc>
            </a:pPr>
            <a:r>
              <a:rPr sz="3000" b="1" i="0">
                <a:solidFill>
                  <a:srgbClr val="0E3F8C"/>
                </a:solidFill>
                <a:latin typeface="Source Han Sans SC"/>
              </a:rPr>
              <a:t>The Five-Step Training Loop</a:t>
            </a:r>
          </a:p>
        </p:txBody>
      </p:sp>
      <p:sp>
        <p:nvSpPr>
          <p:cNvPr id="8" name="TextBox 7"/>
          <p:cNvSpPr txBox="1"/>
          <p:nvPr/>
        </p:nvSpPr>
        <p:spPr>
          <a:xfrm>
            <a:off x="2379600" y="1666800"/>
            <a:ext cx="5040000" cy="306000"/>
          </a:xfrm>
          <a:prstGeom prst="rect">
            <a:avLst/>
          </a:prstGeom>
          <a:noFill/>
        </p:spPr>
        <p:txBody>
          <a:bodyPr wrap="square" anchor="t" lIns="0" rIns="0" tIns="0" bIns="0">
            <a:spAutoFit/>
          </a:bodyPr>
          <a:lstStyle/>
          <a:p>
            <a:pPr algn="l">
              <a:lnSpc>
                <a:spcPct val="125000"/>
              </a:lnSpc>
            </a:pPr>
            <a:r>
              <a:rPr sz="1500" b="0" i="0">
                <a:solidFill>
                  <a:srgbClr val="3D7BD9"/>
                </a:solidFill>
                <a:latin typeface="Source Han Sans SC"/>
              </a:rPr>
              <a:t>Training loop</a:t>
            </a:r>
          </a:p>
        </p:txBody>
      </p:sp>
      <p:sp>
        <p:nvSpPr>
          <p:cNvPr id="9" name="TextBox 8"/>
          <p:cNvSpPr txBox="1"/>
          <p:nvPr/>
        </p:nvSpPr>
        <p:spPr>
          <a:xfrm>
            <a:off x="799200" y="2736000"/>
            <a:ext cx="8640000" cy="1620000"/>
          </a:xfrm>
          <a:prstGeom prst="rect">
            <a:avLst/>
          </a:prstGeom>
          <a:noFill/>
        </p:spPr>
        <p:txBody>
          <a:bodyPr wrap="square" anchor="t" lIns="0" rIns="0" tIns="0" bIns="0">
            <a:spAutoFit/>
          </a:bodyPr>
          <a:lstStyle/>
          <a:p>
            <a:pPr algn="l">
              <a:lnSpc>
                <a:spcPct val="150000"/>
              </a:lnSpc>
            </a:pPr>
            <a:r>
              <a:rPr sz="1500" b="0" i="0">
                <a:solidFill>
                  <a:srgbClr val="1F2937"/>
                </a:solidFill>
                <a:latin typeface="Source Han Sans SC"/>
              </a:rPr>
              <a:t>However complex a training script looks, its core is these five steps. Memorise them and you can read any PyTorch code.
The goal here is not to recognise it, but to reproduce it from memory.</a:t>
            </a:r>
          </a:p>
        </p:txBody>
      </p:sp>
      <p:sp>
        <p:nvSpPr>
          <p:cNvPr id="10" name="Rectangle 9"/>
          <p:cNvSpPr/>
          <p:nvPr/>
        </p:nvSpPr>
        <p:spPr>
          <a:xfrm>
            <a:off x="799200" y="5000400"/>
            <a:ext cx="3380039" cy="810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799200"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8000" y="5173200"/>
            <a:ext cx="2962439" cy="255600"/>
          </a:xfrm>
          <a:prstGeom prst="rect">
            <a:avLst/>
          </a:prstGeom>
          <a:noFill/>
        </p:spPr>
        <p:txBody>
          <a:bodyPr wrap="square" anchor="t" lIns="0" rIns="0" tIns="0" bIns="0">
            <a:spAutoFit/>
          </a:bodyPr>
          <a:lstStyle/>
          <a:p>
            <a:pPr algn="l">
              <a:lnSpc>
                <a:spcPct val="125000"/>
              </a:lnSpc>
            </a:pPr>
            <a:r>
              <a:rPr sz="1500" b="1" i="0">
                <a:solidFill>
                  <a:srgbClr val="0E3F8C"/>
                </a:solidFill>
                <a:latin typeface="Source Han Sans SC"/>
              </a:rPr>
              <a:t>Order Matters</a:t>
            </a:r>
          </a:p>
        </p:txBody>
      </p:sp>
      <p:sp>
        <p:nvSpPr>
          <p:cNvPr id="13" name="TextBox 12"/>
          <p:cNvSpPr txBox="1"/>
          <p:nvPr/>
        </p:nvSpPr>
        <p:spPr>
          <a:xfrm>
            <a:off x="1008000" y="5468400"/>
            <a:ext cx="2962439" cy="172800"/>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Especially step 1</a:t>
            </a:r>
          </a:p>
        </p:txBody>
      </p:sp>
      <p:sp>
        <p:nvSpPr>
          <p:cNvPr id="14" name="Rectangle 13"/>
          <p:cNvSpPr/>
          <p:nvPr/>
        </p:nvSpPr>
        <p:spPr>
          <a:xfrm>
            <a:off x="4406040" y="5000400"/>
            <a:ext cx="3380039" cy="810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406040"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614840" y="5173200"/>
            <a:ext cx="2962439" cy="255600"/>
          </a:xfrm>
          <a:prstGeom prst="rect">
            <a:avLst/>
          </a:prstGeom>
          <a:noFill/>
        </p:spPr>
        <p:txBody>
          <a:bodyPr wrap="square" anchor="t" lIns="0" rIns="0" tIns="0" bIns="0">
            <a:spAutoFit/>
          </a:bodyPr>
          <a:lstStyle/>
          <a:p>
            <a:pPr algn="l">
              <a:lnSpc>
                <a:spcPct val="125000"/>
              </a:lnSpc>
            </a:pPr>
            <a:r>
              <a:rPr sz="1500" b="1" i="0">
                <a:solidFill>
                  <a:srgbClr val="0E3F8C"/>
                </a:solidFill>
                <a:latin typeface="Source Han Sans SC"/>
              </a:rPr>
              <a:t>Write, Then Check</a:t>
            </a:r>
          </a:p>
        </p:txBody>
      </p:sp>
      <p:sp>
        <p:nvSpPr>
          <p:cNvPr id="17" name="TextBox 16"/>
          <p:cNvSpPr txBox="1"/>
          <p:nvPr/>
        </p:nvSpPr>
        <p:spPr>
          <a:xfrm>
            <a:off x="4614840" y="5468400"/>
            <a:ext cx="2962439" cy="172800"/>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Close the slides and write it first</a:t>
            </a:r>
          </a:p>
        </p:txBody>
      </p:sp>
      <p:sp>
        <p:nvSpPr>
          <p:cNvPr id="18" name="Rectangle 17"/>
          <p:cNvSpPr/>
          <p:nvPr/>
        </p:nvSpPr>
        <p:spPr>
          <a:xfrm>
            <a:off x="8012879" y="5000400"/>
            <a:ext cx="3380039" cy="810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8012879"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221679" y="5173200"/>
            <a:ext cx="2962439" cy="255600"/>
          </a:xfrm>
          <a:prstGeom prst="rect">
            <a:avLst/>
          </a:prstGeom>
          <a:noFill/>
        </p:spPr>
        <p:txBody>
          <a:bodyPr wrap="square" anchor="t" lIns="0" rIns="0" tIns="0" bIns="0">
            <a:spAutoFit/>
          </a:bodyPr>
          <a:lstStyle/>
          <a:p>
            <a:pPr algn="l">
              <a:lnSpc>
                <a:spcPct val="125000"/>
              </a:lnSpc>
            </a:pPr>
            <a:r>
              <a:rPr sz="1500" b="1" i="0">
                <a:solidFill>
                  <a:srgbClr val="0E3F8C"/>
                </a:solidFill>
                <a:latin typeface="Source Han Sans SC"/>
              </a:rPr>
              <a:t>Leave a Log</a:t>
            </a:r>
          </a:p>
        </p:txBody>
      </p:sp>
      <p:sp>
        <p:nvSpPr>
          <p:cNvPr id="21" name="TextBox 20"/>
          <p:cNvSpPr txBox="1"/>
          <p:nvPr/>
        </p:nvSpPr>
        <p:spPr>
          <a:xfrm>
            <a:off x="8221679" y="5468400"/>
            <a:ext cx="2962439" cy="172800"/>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One row per epoch</a:t>
            </a:r>
          </a:p>
        </p:txBody>
      </p:sp>
      <p:sp>
        <p:nvSpPr>
          <p:cNvPr id="22" name="TextBox 21"/>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5</a:t>
            </a:r>
          </a:p>
        </p:txBody>
      </p:sp>
      <p:sp>
        <p:nvSpPr>
          <p:cNvPr id="23" name="TextBox 22"/>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16 / 29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556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The Five Steps of a Training Loop</a:t>
            </a:r>
          </a:p>
        </p:txBody>
      </p:sp>
      <p:sp>
        <p:nvSpPr>
          <p:cNvPr id="6" name="TextBox 5"/>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Module 2 · Week 5</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5</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17 / 29</a:t>
            </a:r>
          </a:p>
        </p:txBody>
      </p:sp>
      <p:sp>
        <p:nvSpPr>
          <p:cNvPr id="9" name="Rectangle 8"/>
          <p:cNvSpPr/>
          <p:nvPr/>
        </p:nvSpPr>
        <p:spPr>
          <a:xfrm>
            <a:off x="799200" y="2015999"/>
            <a:ext cx="1600343" cy="2304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99200" y="2015999"/>
            <a:ext cx="1600343" cy="36000"/>
          </a:xfrm>
          <a:prstGeom prst="rect">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1376172" y="2214000"/>
            <a:ext cx="446400" cy="446400"/>
          </a:xfrm>
          <a:prstGeom prst="rect">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376172" y="2296800"/>
            <a:ext cx="446400" cy="288000"/>
          </a:xfrm>
          <a:prstGeom prst="rect">
            <a:avLst/>
          </a:prstGeom>
          <a:noFill/>
        </p:spPr>
        <p:txBody>
          <a:bodyPr wrap="square" anchor="t" lIns="0" rIns="0" tIns="0" bIns="0">
            <a:spAutoFit/>
          </a:bodyPr>
          <a:lstStyle/>
          <a:p>
            <a:pPr algn="ctr">
              <a:lnSpc>
                <a:spcPct val="125000"/>
              </a:lnSpc>
            </a:pPr>
            <a:r>
              <a:rPr sz="1800" b="1" i="0">
                <a:solidFill>
                  <a:srgbClr val="FFFFFF"/>
                </a:solidFill>
                <a:latin typeface="Source Han Sans SC"/>
              </a:rPr>
              <a:t>1</a:t>
            </a:r>
          </a:p>
        </p:txBody>
      </p:sp>
      <p:sp>
        <p:nvSpPr>
          <p:cNvPr id="13" name="TextBox 12"/>
          <p:cNvSpPr txBox="1"/>
          <p:nvPr/>
        </p:nvSpPr>
        <p:spPr>
          <a:xfrm>
            <a:off x="997200" y="2754000"/>
            <a:ext cx="1204343" cy="223200"/>
          </a:xfrm>
          <a:prstGeom prst="rect">
            <a:avLst/>
          </a:prstGeom>
          <a:noFill/>
        </p:spPr>
        <p:txBody>
          <a:bodyPr wrap="square" anchor="t" lIns="0" rIns="0" tIns="0" bIns="0">
            <a:spAutoFit/>
          </a:bodyPr>
          <a:lstStyle/>
          <a:p>
            <a:pPr algn="ctr">
              <a:lnSpc>
                <a:spcPct val="125000"/>
              </a:lnSpc>
            </a:pPr>
            <a:r>
              <a:rPr sz="1450" b="1" i="0">
                <a:solidFill>
                  <a:srgbClr val="0E3F8C"/>
                </a:solidFill>
                <a:latin typeface="Source Han Sans SC"/>
              </a:rPr>
              <a:t>Zero Grads</a:t>
            </a:r>
          </a:p>
        </p:txBody>
      </p:sp>
      <p:sp>
        <p:nvSpPr>
          <p:cNvPr id="14" name="TextBox 13"/>
          <p:cNvSpPr txBox="1"/>
          <p:nvPr/>
        </p:nvSpPr>
        <p:spPr>
          <a:xfrm>
            <a:off x="997200" y="2980800"/>
            <a:ext cx="1204343" cy="144000"/>
          </a:xfrm>
          <a:prstGeom prst="rect">
            <a:avLst/>
          </a:prstGeom>
          <a:noFill/>
        </p:spPr>
        <p:txBody>
          <a:bodyPr wrap="square" anchor="t" lIns="0" rIns="0" tIns="0" bIns="0">
            <a:spAutoFit/>
          </a:bodyPr>
          <a:lstStyle/>
          <a:p>
            <a:pPr algn="ctr">
              <a:lnSpc>
                <a:spcPct val="125000"/>
              </a:lnSpc>
            </a:pPr>
            <a:r>
              <a:rPr sz="1050" b="0" i="0">
                <a:solidFill>
                  <a:srgbClr val="3D7BD9"/>
                </a:solidFill>
                <a:latin typeface="Source Han Sans SC"/>
              </a:rPr>
              <a:t>zero_grad()</a:t>
            </a:r>
          </a:p>
        </p:txBody>
      </p:sp>
      <p:sp>
        <p:nvSpPr>
          <p:cNvPr id="15" name="TextBox 14"/>
          <p:cNvSpPr txBox="1"/>
          <p:nvPr/>
        </p:nvSpPr>
        <p:spPr>
          <a:xfrm>
            <a:off x="997200" y="3168000"/>
            <a:ext cx="1204343" cy="1080000"/>
          </a:xfrm>
          <a:prstGeom prst="rect">
            <a:avLst/>
          </a:prstGeom>
          <a:noFill/>
        </p:spPr>
        <p:txBody>
          <a:bodyPr wrap="square" anchor="t" lIns="0" rIns="0" tIns="0" bIns="0">
            <a:spAutoFit/>
          </a:bodyPr>
          <a:lstStyle/>
          <a:p>
            <a:pPr algn="ctr">
              <a:lnSpc>
                <a:spcPct val="135000"/>
              </a:lnSpc>
            </a:pPr>
            <a:r>
              <a:rPr sz="1150" b="0" i="0">
                <a:solidFill>
                  <a:srgbClr val="6B7280"/>
                </a:solidFill>
                <a:latin typeface="Source Han Sans SC"/>
              </a:rPr>
              <a:t>Clear the previous batch's
gradients or they accumulate</a:t>
            </a:r>
          </a:p>
        </p:txBody>
      </p:sp>
      <p:sp>
        <p:nvSpPr>
          <p:cNvPr id="16" name="Right Arrow 15"/>
          <p:cNvSpPr/>
          <p:nvPr/>
        </p:nvSpPr>
        <p:spPr>
          <a:xfrm>
            <a:off x="2417544" y="3052800"/>
            <a:ext cx="306000" cy="230400"/>
          </a:xfrm>
          <a:prstGeom prst="right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2741544" y="2015999"/>
            <a:ext cx="1600343" cy="2304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2741544" y="2015999"/>
            <a:ext cx="1600343" cy="360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3318516" y="2214000"/>
            <a:ext cx="446400" cy="4464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318516" y="2296800"/>
            <a:ext cx="446400" cy="288000"/>
          </a:xfrm>
          <a:prstGeom prst="rect">
            <a:avLst/>
          </a:prstGeom>
          <a:noFill/>
        </p:spPr>
        <p:txBody>
          <a:bodyPr wrap="square" anchor="t" lIns="0" rIns="0" tIns="0" bIns="0">
            <a:spAutoFit/>
          </a:bodyPr>
          <a:lstStyle/>
          <a:p>
            <a:pPr algn="ctr">
              <a:lnSpc>
                <a:spcPct val="125000"/>
              </a:lnSpc>
            </a:pPr>
            <a:r>
              <a:rPr sz="1800" b="1" i="0">
                <a:solidFill>
                  <a:srgbClr val="FFFFFF"/>
                </a:solidFill>
                <a:latin typeface="Source Han Sans SC"/>
              </a:rPr>
              <a:t>2</a:t>
            </a:r>
          </a:p>
        </p:txBody>
      </p:sp>
      <p:sp>
        <p:nvSpPr>
          <p:cNvPr id="21" name="TextBox 20"/>
          <p:cNvSpPr txBox="1"/>
          <p:nvPr/>
        </p:nvSpPr>
        <p:spPr>
          <a:xfrm>
            <a:off x="2939544" y="2754000"/>
            <a:ext cx="1204343" cy="223200"/>
          </a:xfrm>
          <a:prstGeom prst="rect">
            <a:avLst/>
          </a:prstGeom>
          <a:noFill/>
        </p:spPr>
        <p:txBody>
          <a:bodyPr wrap="square" anchor="t" lIns="0" rIns="0" tIns="0" bIns="0">
            <a:spAutoFit/>
          </a:bodyPr>
          <a:lstStyle/>
          <a:p>
            <a:pPr algn="ctr">
              <a:lnSpc>
                <a:spcPct val="125000"/>
              </a:lnSpc>
            </a:pPr>
            <a:r>
              <a:rPr sz="1450" b="1" i="0">
                <a:solidFill>
                  <a:srgbClr val="0E3F8C"/>
                </a:solidFill>
                <a:latin typeface="Source Han Sans SC"/>
              </a:rPr>
              <a:t>Forward</a:t>
            </a:r>
          </a:p>
        </p:txBody>
      </p:sp>
      <p:sp>
        <p:nvSpPr>
          <p:cNvPr id="22" name="TextBox 21"/>
          <p:cNvSpPr txBox="1"/>
          <p:nvPr/>
        </p:nvSpPr>
        <p:spPr>
          <a:xfrm>
            <a:off x="2939544" y="2980800"/>
            <a:ext cx="1204343" cy="144000"/>
          </a:xfrm>
          <a:prstGeom prst="rect">
            <a:avLst/>
          </a:prstGeom>
          <a:noFill/>
        </p:spPr>
        <p:txBody>
          <a:bodyPr wrap="square" anchor="t" lIns="0" rIns="0" tIns="0" bIns="0">
            <a:spAutoFit/>
          </a:bodyPr>
          <a:lstStyle/>
          <a:p>
            <a:pPr algn="ctr">
              <a:lnSpc>
                <a:spcPct val="125000"/>
              </a:lnSpc>
            </a:pPr>
            <a:r>
              <a:rPr sz="1050" b="0" i="0">
                <a:solidFill>
                  <a:srgbClr val="3D7BD9"/>
                </a:solidFill>
                <a:latin typeface="Source Han Sans SC"/>
              </a:rPr>
              <a:t>logits = model(x)</a:t>
            </a:r>
          </a:p>
        </p:txBody>
      </p:sp>
      <p:sp>
        <p:nvSpPr>
          <p:cNvPr id="23" name="TextBox 22"/>
          <p:cNvSpPr txBox="1"/>
          <p:nvPr/>
        </p:nvSpPr>
        <p:spPr>
          <a:xfrm>
            <a:off x="2939544" y="3168000"/>
            <a:ext cx="1204343" cy="1080000"/>
          </a:xfrm>
          <a:prstGeom prst="rect">
            <a:avLst/>
          </a:prstGeom>
          <a:noFill/>
        </p:spPr>
        <p:txBody>
          <a:bodyPr wrap="square" anchor="t" lIns="0" rIns="0" tIns="0" bIns="0">
            <a:spAutoFit/>
          </a:bodyPr>
          <a:lstStyle/>
          <a:p>
            <a:pPr algn="ctr">
              <a:lnSpc>
                <a:spcPct val="135000"/>
              </a:lnSpc>
            </a:pPr>
            <a:r>
              <a:rPr sz="1150" b="0" i="0">
                <a:solidFill>
                  <a:srgbClr val="6B7280"/>
                </a:solidFill>
                <a:latin typeface="Source Han Sans SC"/>
              </a:rPr>
              <a:t>Feed the batch through
the model to get predictions</a:t>
            </a:r>
          </a:p>
        </p:txBody>
      </p:sp>
      <p:sp>
        <p:nvSpPr>
          <p:cNvPr id="24" name="Right Arrow 23"/>
          <p:cNvSpPr/>
          <p:nvPr/>
        </p:nvSpPr>
        <p:spPr>
          <a:xfrm>
            <a:off x="4359888" y="3052800"/>
            <a:ext cx="306000" cy="230400"/>
          </a:xfrm>
          <a:prstGeom prst="rightArrow">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4683888" y="2015999"/>
            <a:ext cx="1600343" cy="2304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ectangle 25"/>
          <p:cNvSpPr/>
          <p:nvPr/>
        </p:nvSpPr>
        <p:spPr>
          <a:xfrm>
            <a:off x="4683888" y="2015999"/>
            <a:ext cx="1600343" cy="360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5260860" y="2214000"/>
            <a:ext cx="446400" cy="4464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260860" y="2296800"/>
            <a:ext cx="446400" cy="288000"/>
          </a:xfrm>
          <a:prstGeom prst="rect">
            <a:avLst/>
          </a:prstGeom>
          <a:noFill/>
        </p:spPr>
        <p:txBody>
          <a:bodyPr wrap="square" anchor="t" lIns="0" rIns="0" tIns="0" bIns="0">
            <a:spAutoFit/>
          </a:bodyPr>
          <a:lstStyle/>
          <a:p>
            <a:pPr algn="ctr">
              <a:lnSpc>
                <a:spcPct val="125000"/>
              </a:lnSpc>
            </a:pPr>
            <a:r>
              <a:rPr sz="1800" b="1" i="0">
                <a:solidFill>
                  <a:srgbClr val="FFFFFF"/>
                </a:solidFill>
                <a:latin typeface="Source Han Sans SC"/>
              </a:rPr>
              <a:t>3</a:t>
            </a:r>
          </a:p>
        </p:txBody>
      </p:sp>
      <p:sp>
        <p:nvSpPr>
          <p:cNvPr id="29" name="TextBox 28"/>
          <p:cNvSpPr txBox="1"/>
          <p:nvPr/>
        </p:nvSpPr>
        <p:spPr>
          <a:xfrm>
            <a:off x="4881888" y="2754000"/>
            <a:ext cx="1204343" cy="223200"/>
          </a:xfrm>
          <a:prstGeom prst="rect">
            <a:avLst/>
          </a:prstGeom>
          <a:noFill/>
        </p:spPr>
        <p:txBody>
          <a:bodyPr wrap="square" anchor="t" lIns="0" rIns="0" tIns="0" bIns="0">
            <a:spAutoFit/>
          </a:bodyPr>
          <a:lstStyle/>
          <a:p>
            <a:pPr algn="ctr">
              <a:lnSpc>
                <a:spcPct val="125000"/>
              </a:lnSpc>
            </a:pPr>
            <a:r>
              <a:rPr sz="1450" b="1" i="0">
                <a:solidFill>
                  <a:srgbClr val="0E3F8C"/>
                </a:solidFill>
                <a:latin typeface="Source Han Sans SC"/>
              </a:rPr>
              <a:t>Loss</a:t>
            </a:r>
          </a:p>
        </p:txBody>
      </p:sp>
      <p:sp>
        <p:nvSpPr>
          <p:cNvPr id="30" name="TextBox 29"/>
          <p:cNvSpPr txBox="1"/>
          <p:nvPr/>
        </p:nvSpPr>
        <p:spPr>
          <a:xfrm>
            <a:off x="4881888" y="2980800"/>
            <a:ext cx="1204343" cy="144000"/>
          </a:xfrm>
          <a:prstGeom prst="rect">
            <a:avLst/>
          </a:prstGeom>
          <a:noFill/>
        </p:spPr>
        <p:txBody>
          <a:bodyPr wrap="square" anchor="t" lIns="0" rIns="0" tIns="0" bIns="0">
            <a:spAutoFit/>
          </a:bodyPr>
          <a:lstStyle/>
          <a:p>
            <a:pPr algn="ctr">
              <a:lnSpc>
                <a:spcPct val="125000"/>
              </a:lnSpc>
            </a:pPr>
            <a:r>
              <a:rPr sz="1050" b="0" i="0">
                <a:solidFill>
                  <a:srgbClr val="3D7BD9"/>
                </a:solidFill>
                <a:latin typeface="Source Han Sans SC"/>
              </a:rPr>
              <a:t>criterion(logits, y)</a:t>
            </a:r>
          </a:p>
        </p:txBody>
      </p:sp>
      <p:sp>
        <p:nvSpPr>
          <p:cNvPr id="31" name="TextBox 30"/>
          <p:cNvSpPr txBox="1"/>
          <p:nvPr/>
        </p:nvSpPr>
        <p:spPr>
          <a:xfrm>
            <a:off x="4881888" y="3168000"/>
            <a:ext cx="1204343" cy="1080000"/>
          </a:xfrm>
          <a:prstGeom prst="rect">
            <a:avLst/>
          </a:prstGeom>
          <a:noFill/>
        </p:spPr>
        <p:txBody>
          <a:bodyPr wrap="square" anchor="t" lIns="0" rIns="0" tIns="0" bIns="0">
            <a:spAutoFit/>
          </a:bodyPr>
          <a:lstStyle/>
          <a:p>
            <a:pPr algn="ctr">
              <a:lnSpc>
                <a:spcPct val="135000"/>
              </a:lnSpc>
            </a:pPr>
            <a:r>
              <a:rPr sz="1150" b="0" i="0">
                <a:solidFill>
                  <a:srgbClr val="6B7280"/>
                </a:solidFill>
                <a:latin typeface="Source Han Sans SC"/>
              </a:rPr>
              <a:t>Score the prediction with
the chosen loss function</a:t>
            </a:r>
          </a:p>
        </p:txBody>
      </p:sp>
      <p:sp>
        <p:nvSpPr>
          <p:cNvPr id="32" name="Right Arrow 31"/>
          <p:cNvSpPr/>
          <p:nvPr/>
        </p:nvSpPr>
        <p:spPr>
          <a:xfrm>
            <a:off x="6302232" y="3052800"/>
            <a:ext cx="306000" cy="230400"/>
          </a:xfrm>
          <a:prstGeom prst="rightArrow">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6626231" y="2015999"/>
            <a:ext cx="1600343" cy="2304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ectangle 33"/>
          <p:cNvSpPr/>
          <p:nvPr/>
        </p:nvSpPr>
        <p:spPr>
          <a:xfrm>
            <a:off x="6626231" y="2015999"/>
            <a:ext cx="1600343" cy="360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7203203" y="2214000"/>
            <a:ext cx="446400" cy="4464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7203203" y="2296800"/>
            <a:ext cx="446400" cy="288000"/>
          </a:xfrm>
          <a:prstGeom prst="rect">
            <a:avLst/>
          </a:prstGeom>
          <a:noFill/>
        </p:spPr>
        <p:txBody>
          <a:bodyPr wrap="square" anchor="t" lIns="0" rIns="0" tIns="0" bIns="0">
            <a:spAutoFit/>
          </a:bodyPr>
          <a:lstStyle/>
          <a:p>
            <a:pPr algn="ctr">
              <a:lnSpc>
                <a:spcPct val="125000"/>
              </a:lnSpc>
            </a:pPr>
            <a:r>
              <a:rPr sz="1800" b="1" i="0">
                <a:solidFill>
                  <a:srgbClr val="FFFFFF"/>
                </a:solidFill>
                <a:latin typeface="Source Han Sans SC"/>
              </a:rPr>
              <a:t>4</a:t>
            </a:r>
          </a:p>
        </p:txBody>
      </p:sp>
      <p:sp>
        <p:nvSpPr>
          <p:cNvPr id="37" name="TextBox 36"/>
          <p:cNvSpPr txBox="1"/>
          <p:nvPr/>
        </p:nvSpPr>
        <p:spPr>
          <a:xfrm>
            <a:off x="6824232" y="2754000"/>
            <a:ext cx="1204343" cy="223200"/>
          </a:xfrm>
          <a:prstGeom prst="rect">
            <a:avLst/>
          </a:prstGeom>
          <a:noFill/>
        </p:spPr>
        <p:txBody>
          <a:bodyPr wrap="square" anchor="t" lIns="0" rIns="0" tIns="0" bIns="0">
            <a:spAutoFit/>
          </a:bodyPr>
          <a:lstStyle/>
          <a:p>
            <a:pPr algn="ctr">
              <a:lnSpc>
                <a:spcPct val="125000"/>
              </a:lnSpc>
            </a:pPr>
            <a:r>
              <a:rPr sz="1450" b="1" i="0">
                <a:solidFill>
                  <a:srgbClr val="0E3F8C"/>
                </a:solidFill>
                <a:latin typeface="Source Han Sans SC"/>
              </a:rPr>
              <a:t>Backward</a:t>
            </a:r>
          </a:p>
        </p:txBody>
      </p:sp>
      <p:sp>
        <p:nvSpPr>
          <p:cNvPr id="38" name="TextBox 37"/>
          <p:cNvSpPr txBox="1"/>
          <p:nvPr/>
        </p:nvSpPr>
        <p:spPr>
          <a:xfrm>
            <a:off x="6824232" y="2980800"/>
            <a:ext cx="1204343" cy="144000"/>
          </a:xfrm>
          <a:prstGeom prst="rect">
            <a:avLst/>
          </a:prstGeom>
          <a:noFill/>
        </p:spPr>
        <p:txBody>
          <a:bodyPr wrap="square" anchor="t" lIns="0" rIns="0" tIns="0" bIns="0">
            <a:spAutoFit/>
          </a:bodyPr>
          <a:lstStyle/>
          <a:p>
            <a:pPr algn="ctr">
              <a:lnSpc>
                <a:spcPct val="125000"/>
              </a:lnSpc>
            </a:pPr>
            <a:r>
              <a:rPr sz="1050" b="0" i="0">
                <a:solidFill>
                  <a:srgbClr val="3D7BD9"/>
                </a:solidFill>
                <a:latin typeface="Source Han Sans SC"/>
              </a:rPr>
              <a:t>loss.backward()</a:t>
            </a:r>
          </a:p>
        </p:txBody>
      </p:sp>
      <p:sp>
        <p:nvSpPr>
          <p:cNvPr id="39" name="TextBox 38"/>
          <p:cNvSpPr txBox="1"/>
          <p:nvPr/>
        </p:nvSpPr>
        <p:spPr>
          <a:xfrm>
            <a:off x="6824232" y="3168000"/>
            <a:ext cx="1204343" cy="1080000"/>
          </a:xfrm>
          <a:prstGeom prst="rect">
            <a:avLst/>
          </a:prstGeom>
          <a:noFill/>
        </p:spPr>
        <p:txBody>
          <a:bodyPr wrap="square" anchor="t" lIns="0" rIns="0" tIns="0" bIns="0">
            <a:spAutoFit/>
          </a:bodyPr>
          <a:lstStyle/>
          <a:p>
            <a:pPr algn="ctr">
              <a:lnSpc>
                <a:spcPct val="135000"/>
              </a:lnSpc>
            </a:pPr>
            <a:r>
              <a:rPr sz="1150" b="0" i="0">
                <a:solidFill>
                  <a:srgbClr val="6B7280"/>
                </a:solidFill>
                <a:latin typeface="Source Han Sans SC"/>
              </a:rPr>
              <a:t>Compute the gradient of the loss
for every parameter</a:t>
            </a:r>
          </a:p>
        </p:txBody>
      </p:sp>
      <p:sp>
        <p:nvSpPr>
          <p:cNvPr id="40" name="Right Arrow 39"/>
          <p:cNvSpPr/>
          <p:nvPr/>
        </p:nvSpPr>
        <p:spPr>
          <a:xfrm>
            <a:off x="8244575" y="3052800"/>
            <a:ext cx="306000" cy="230400"/>
          </a:xfrm>
          <a:prstGeom prst="rightArrow">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Rectangle 40"/>
          <p:cNvSpPr/>
          <p:nvPr/>
        </p:nvSpPr>
        <p:spPr>
          <a:xfrm>
            <a:off x="8568575" y="2015999"/>
            <a:ext cx="1600343" cy="2304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Rectangle 41"/>
          <p:cNvSpPr/>
          <p:nvPr/>
        </p:nvSpPr>
        <p:spPr>
          <a:xfrm>
            <a:off x="8568575" y="2015999"/>
            <a:ext cx="1600343" cy="360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Rectangle 42"/>
          <p:cNvSpPr/>
          <p:nvPr/>
        </p:nvSpPr>
        <p:spPr>
          <a:xfrm>
            <a:off x="9145547" y="2214000"/>
            <a:ext cx="446400" cy="4464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145547" y="2296800"/>
            <a:ext cx="446400" cy="288000"/>
          </a:xfrm>
          <a:prstGeom prst="rect">
            <a:avLst/>
          </a:prstGeom>
          <a:noFill/>
        </p:spPr>
        <p:txBody>
          <a:bodyPr wrap="square" anchor="t" lIns="0" rIns="0" tIns="0" bIns="0">
            <a:spAutoFit/>
          </a:bodyPr>
          <a:lstStyle/>
          <a:p>
            <a:pPr algn="ctr">
              <a:lnSpc>
                <a:spcPct val="125000"/>
              </a:lnSpc>
            </a:pPr>
            <a:r>
              <a:rPr sz="1800" b="1" i="0">
                <a:solidFill>
                  <a:srgbClr val="FFFFFF"/>
                </a:solidFill>
                <a:latin typeface="Source Han Sans SC"/>
              </a:rPr>
              <a:t>5</a:t>
            </a:r>
          </a:p>
        </p:txBody>
      </p:sp>
      <p:sp>
        <p:nvSpPr>
          <p:cNvPr id="45" name="TextBox 44"/>
          <p:cNvSpPr txBox="1"/>
          <p:nvPr/>
        </p:nvSpPr>
        <p:spPr>
          <a:xfrm>
            <a:off x="8766576" y="2754000"/>
            <a:ext cx="1204343" cy="223200"/>
          </a:xfrm>
          <a:prstGeom prst="rect">
            <a:avLst/>
          </a:prstGeom>
          <a:noFill/>
        </p:spPr>
        <p:txBody>
          <a:bodyPr wrap="square" anchor="t" lIns="0" rIns="0" tIns="0" bIns="0">
            <a:spAutoFit/>
          </a:bodyPr>
          <a:lstStyle/>
          <a:p>
            <a:pPr algn="ctr">
              <a:lnSpc>
                <a:spcPct val="125000"/>
              </a:lnSpc>
            </a:pPr>
            <a:r>
              <a:rPr sz="1450" b="1" i="0">
                <a:solidFill>
                  <a:srgbClr val="0E3F8C"/>
                </a:solidFill>
                <a:latin typeface="Source Han Sans SC"/>
              </a:rPr>
              <a:t>Step</a:t>
            </a:r>
          </a:p>
        </p:txBody>
      </p:sp>
      <p:sp>
        <p:nvSpPr>
          <p:cNvPr id="46" name="TextBox 45"/>
          <p:cNvSpPr txBox="1"/>
          <p:nvPr/>
        </p:nvSpPr>
        <p:spPr>
          <a:xfrm>
            <a:off x="8766576" y="2980800"/>
            <a:ext cx="1204343" cy="144000"/>
          </a:xfrm>
          <a:prstGeom prst="rect">
            <a:avLst/>
          </a:prstGeom>
          <a:noFill/>
        </p:spPr>
        <p:txBody>
          <a:bodyPr wrap="square" anchor="t" lIns="0" rIns="0" tIns="0" bIns="0">
            <a:spAutoFit/>
          </a:bodyPr>
          <a:lstStyle/>
          <a:p>
            <a:pPr algn="ctr">
              <a:lnSpc>
                <a:spcPct val="125000"/>
              </a:lnSpc>
            </a:pPr>
            <a:r>
              <a:rPr sz="1050" b="0" i="0">
                <a:solidFill>
                  <a:srgbClr val="3D7BD9"/>
                </a:solidFill>
                <a:latin typeface="Source Han Sans SC"/>
              </a:rPr>
              <a:t>optimizer.step()</a:t>
            </a:r>
          </a:p>
        </p:txBody>
      </p:sp>
      <p:sp>
        <p:nvSpPr>
          <p:cNvPr id="47" name="TextBox 46"/>
          <p:cNvSpPr txBox="1"/>
          <p:nvPr/>
        </p:nvSpPr>
        <p:spPr>
          <a:xfrm>
            <a:off x="8766576" y="3168000"/>
            <a:ext cx="1204343" cy="1080000"/>
          </a:xfrm>
          <a:prstGeom prst="rect">
            <a:avLst/>
          </a:prstGeom>
          <a:noFill/>
        </p:spPr>
        <p:txBody>
          <a:bodyPr wrap="square" anchor="t" lIns="0" rIns="0" tIns="0" bIns="0">
            <a:spAutoFit/>
          </a:bodyPr>
          <a:lstStyle/>
          <a:p>
            <a:pPr algn="ctr">
              <a:lnSpc>
                <a:spcPct val="135000"/>
              </a:lnSpc>
            </a:pPr>
            <a:r>
              <a:rPr sz="1150" b="0" i="0">
                <a:solidFill>
                  <a:srgbClr val="6B7280"/>
                </a:solidFill>
                <a:latin typeface="Source Han Sans SC"/>
              </a:rPr>
              <a:t>The optimizer takes
one step along the gradient</a:t>
            </a:r>
          </a:p>
        </p:txBody>
      </p:sp>
      <p:sp>
        <p:nvSpPr>
          <p:cNvPr id="48" name="TextBox 47"/>
          <p:cNvSpPr txBox="1"/>
          <p:nvPr/>
        </p:nvSpPr>
        <p:spPr>
          <a:xfrm>
            <a:off x="799200" y="4626000"/>
            <a:ext cx="10593719" cy="576000"/>
          </a:xfrm>
          <a:prstGeom prst="rect">
            <a:avLst/>
          </a:prstGeom>
          <a:noFill/>
        </p:spPr>
        <p:txBody>
          <a:bodyPr wrap="square" anchor="t" lIns="0" rIns="0" tIns="0" bIns="0">
            <a:spAutoFit/>
          </a:bodyPr>
          <a:lstStyle/>
          <a:p>
            <a:pPr algn="l">
              <a:lnSpc>
                <a:spcPct val="140000"/>
              </a:lnSpc>
            </a:pPr>
            <a:r>
              <a:rPr sz="1250" b="0" i="0">
                <a:solidFill>
                  <a:srgbClr val="1F2937"/>
                </a:solidFill>
                <a:latin typeface="Source Han Sans SC"/>
              </a:rPr>
              <a:t>In class: close the slides, write the five steps from memory with their exact calls and order, then compare with this page. Step 1 is the one people drop — drop it and gradients accumulate across batches, making the loss curve look random.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556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A Complete Training Loop and Its Log</a:t>
            </a:r>
          </a:p>
        </p:txBody>
      </p:sp>
      <p:sp>
        <p:nvSpPr>
          <p:cNvPr id="6" name="TextBox 5"/>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Module 2 · Week 5</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5</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18 / 29</a:t>
            </a:r>
          </a:p>
        </p:txBody>
      </p:sp>
      <p:sp>
        <p:nvSpPr>
          <p:cNvPr id="9" name="Rectangle 8"/>
          <p:cNvSpPr/>
          <p:nvPr/>
        </p:nvSpPr>
        <p:spPr>
          <a:xfrm>
            <a:off x="799200" y="1278000"/>
            <a:ext cx="5185259" cy="4031999"/>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99200" y="1278000"/>
            <a:ext cx="5185259" cy="306000"/>
          </a:xfrm>
          <a:prstGeom prst="rect">
            <a:avLst/>
          </a:prstGeom>
          <a:solidFill>
            <a:srgbClr val="1B26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1200" y="1364400"/>
            <a:ext cx="4105259" cy="162000"/>
          </a:xfrm>
          <a:prstGeom prst="rect">
            <a:avLst/>
          </a:prstGeom>
          <a:noFill/>
        </p:spPr>
        <p:txBody>
          <a:bodyPr wrap="square" anchor="t" lIns="0" rIns="0" tIns="0" bIns="0">
            <a:spAutoFit/>
          </a:bodyPr>
          <a:lstStyle/>
          <a:p>
            <a:pPr algn="l">
              <a:lnSpc>
                <a:spcPct val="125000"/>
              </a:lnSpc>
            </a:pPr>
            <a:r>
              <a:rPr sz="1150" b="1" i="0">
                <a:solidFill>
                  <a:srgbClr val="93C5FD"/>
                </a:solidFill>
                <a:latin typeface="Source Han Sans SC"/>
              </a:rPr>
              <a:t>The five steps, complete loop</a:t>
            </a:r>
          </a:p>
        </p:txBody>
      </p:sp>
      <p:sp>
        <p:nvSpPr>
          <p:cNvPr id="12" name="TextBox 11"/>
          <p:cNvSpPr txBox="1"/>
          <p:nvPr/>
        </p:nvSpPr>
        <p:spPr>
          <a:xfrm>
            <a:off x="997200" y="1691999"/>
            <a:ext cx="4789259" cy="3491999"/>
          </a:xfrm>
          <a:prstGeom prst="rect">
            <a:avLst/>
          </a:prstGeom>
          <a:noFill/>
        </p:spPr>
        <p:txBody>
          <a:bodyPr wrap="square" anchor="t" lIns="0" rIns="0" tIns="0" bIns="0">
            <a:spAutoFit/>
          </a:bodyPr>
          <a:lstStyle/>
          <a:p>
            <a:pPr algn="l">
              <a:lnSpc>
                <a:spcPct val="128000"/>
              </a:lnSpc>
            </a:pPr>
            <a:r>
              <a:rPr sz="1100" b="0" i="0">
                <a:solidFill>
                  <a:srgbClr val="E2E8F0"/>
                </a:solidFill>
                <a:latin typeface="Menlo"/>
              </a:rPr>
              <a:t>for epoch in range(epochs):</a:t>
            </a:r>
          </a:p>
          <a:p>
            <a:pPr algn="l">
              <a:lnSpc>
                <a:spcPct val="128000"/>
              </a:lnSpc>
            </a:pPr>
            <a:r>
              <a:rPr sz="1100" b="0" i="0">
                <a:solidFill>
                  <a:srgbClr val="E2E8F0"/>
                </a:solidFill>
                <a:latin typeface="Menlo"/>
              </a:rPr>
              <a:t>    model.train()</a:t>
            </a:r>
          </a:p>
          <a:p>
            <a:pPr algn="l">
              <a:lnSpc>
                <a:spcPct val="128000"/>
              </a:lnSpc>
            </a:pPr>
            <a:r>
              <a:rPr sz="1100" b="0" i="0">
                <a:solidFill>
                  <a:srgbClr val="E2E8F0"/>
                </a:solidFill>
                <a:latin typeface="Menlo"/>
              </a:rPr>
              <a:t>    for x, y in train_loader:</a:t>
            </a:r>
          </a:p>
          <a:p>
            <a:pPr algn="l">
              <a:lnSpc>
                <a:spcPct val="128000"/>
              </a:lnSpc>
            </a:pPr>
            <a:r>
              <a:rPr sz="1100" b="0" i="0">
                <a:solidFill>
                  <a:srgbClr val="E2E8F0"/>
                </a:solidFill>
                <a:latin typeface="Menlo"/>
              </a:rPr>
              <a:t>        opt.zero_grad()       # 1 clear old grads</a:t>
            </a:r>
          </a:p>
          <a:p>
            <a:pPr algn="l">
              <a:lnSpc>
                <a:spcPct val="128000"/>
              </a:lnSpc>
            </a:pPr>
            <a:r>
              <a:rPr sz="1100" b="0" i="0">
                <a:solidFill>
                  <a:srgbClr val="E2E8F0"/>
                </a:solidFill>
                <a:latin typeface="Menlo"/>
              </a:rPr>
              <a:t>        logits = model(x)     # 2 forward pass</a:t>
            </a:r>
          </a:p>
          <a:p>
            <a:pPr algn="l">
              <a:lnSpc>
                <a:spcPct val="128000"/>
              </a:lnSpc>
            </a:pPr>
            <a:r>
              <a:rPr sz="1100" b="0" i="0">
                <a:solidFill>
                  <a:srgbClr val="E2E8F0"/>
                </a:solidFill>
                <a:latin typeface="Menlo"/>
              </a:rPr>
              <a:t>        loss = crit(logits, y)  # 3 compute loss</a:t>
            </a:r>
          </a:p>
          <a:p>
            <a:pPr algn="l">
              <a:lnSpc>
                <a:spcPct val="128000"/>
              </a:lnSpc>
            </a:pPr>
            <a:r>
              <a:rPr sz="1100" b="0" i="0">
                <a:solidFill>
                  <a:srgbClr val="E2E8F0"/>
                </a:solidFill>
                <a:latin typeface="Menlo"/>
              </a:rPr>
              <a:t>        loss.backward()       # 4 backpropagate</a:t>
            </a:r>
          </a:p>
          <a:p>
            <a:pPr algn="l">
              <a:lnSpc>
                <a:spcPct val="128000"/>
              </a:lnSpc>
            </a:pPr>
            <a:r>
              <a:rPr sz="1100" b="0" i="0">
                <a:solidFill>
                  <a:srgbClr val="E2E8F0"/>
                </a:solidFill>
                <a:latin typeface="Menlo"/>
              </a:rPr>
              <a:t>        opt.step()            # 5 update weights</a:t>
            </a:r>
          </a:p>
          <a:p>
            <a:pPr algn="l">
              <a:lnSpc>
                <a:spcPct val="128000"/>
              </a:lnSpc>
            </a:pPr>
            <a:r>
              <a:rPr sz="1100" b="0" i="0">
                <a:solidFill>
                  <a:srgbClr val="E2E8F0"/>
                </a:solidFill>
                <a:latin typeface="Menlo"/>
              </a:rPr>
              <a:t/>
            </a:r>
          </a:p>
          <a:p>
            <a:pPr algn="l">
              <a:lnSpc>
                <a:spcPct val="128000"/>
              </a:lnSpc>
            </a:pPr>
            <a:r>
              <a:rPr sz="1100" b="0" i="0">
                <a:solidFill>
                  <a:srgbClr val="E2E8F0"/>
                </a:solidFill>
                <a:latin typeface="Menlo"/>
              </a:rPr>
              <a:t># The order is not interchangeable:</a:t>
            </a:r>
          </a:p>
          <a:p>
            <a:pPr algn="l">
              <a:lnSpc>
                <a:spcPct val="128000"/>
              </a:lnSpc>
            </a:pPr>
            <a:r>
              <a:rPr sz="1100" b="0" i="0">
                <a:solidFill>
                  <a:srgbClr val="E2E8F0"/>
                </a:solidFill>
                <a:latin typeface="Menlo"/>
              </a:rPr>
              <a:t># 1 must precede 4 or grads accumulate.</a:t>
            </a:r>
          </a:p>
        </p:txBody>
      </p:sp>
      <p:sp>
        <p:nvSpPr>
          <p:cNvPr id="13" name="Rectangle 12"/>
          <p:cNvSpPr/>
          <p:nvPr/>
        </p:nvSpPr>
        <p:spPr>
          <a:xfrm>
            <a:off x="6207659" y="1278000"/>
            <a:ext cx="5185259" cy="4031999"/>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07659" y="1278000"/>
            <a:ext cx="5185259" cy="306000"/>
          </a:xfrm>
          <a:prstGeom prst="rect">
            <a:avLst/>
          </a:prstGeom>
          <a:solidFill>
            <a:srgbClr val="1B26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369659" y="1364400"/>
            <a:ext cx="4105259" cy="162000"/>
          </a:xfrm>
          <a:prstGeom prst="rect">
            <a:avLst/>
          </a:prstGeom>
          <a:noFill/>
        </p:spPr>
        <p:txBody>
          <a:bodyPr wrap="square" anchor="t" lIns="0" rIns="0" tIns="0" bIns="0">
            <a:spAutoFit/>
          </a:bodyPr>
          <a:lstStyle/>
          <a:p>
            <a:pPr algn="l">
              <a:lnSpc>
                <a:spcPct val="125000"/>
              </a:lnSpc>
            </a:pPr>
            <a:r>
              <a:rPr sz="1150" b="1" i="0">
                <a:solidFill>
                  <a:srgbClr val="93C5FD"/>
                </a:solidFill>
                <a:latin typeface="Source Han Sans SC"/>
              </a:rPr>
              <a:t>Logging: one row per epoch</a:t>
            </a:r>
          </a:p>
        </p:txBody>
      </p:sp>
      <p:sp>
        <p:nvSpPr>
          <p:cNvPr id="16" name="TextBox 15"/>
          <p:cNvSpPr txBox="1"/>
          <p:nvPr/>
        </p:nvSpPr>
        <p:spPr>
          <a:xfrm>
            <a:off x="6405659" y="1691999"/>
            <a:ext cx="4789259" cy="3491999"/>
          </a:xfrm>
          <a:prstGeom prst="rect">
            <a:avLst/>
          </a:prstGeom>
          <a:noFill/>
        </p:spPr>
        <p:txBody>
          <a:bodyPr wrap="square" anchor="t" lIns="0" rIns="0" tIns="0" bIns="0">
            <a:spAutoFit/>
          </a:bodyPr>
          <a:lstStyle/>
          <a:p>
            <a:pPr algn="l">
              <a:lnSpc>
                <a:spcPct val="128000"/>
              </a:lnSpc>
            </a:pPr>
            <a:r>
              <a:rPr sz="1100" b="0" i="0">
                <a:solidFill>
                  <a:srgbClr val="E2E8F0"/>
                </a:solidFill>
                <a:latin typeface="Menlo"/>
              </a:rPr>
              <a:t>history = []</a:t>
            </a:r>
          </a:p>
          <a:p>
            <a:pPr algn="l">
              <a:lnSpc>
                <a:spcPct val="128000"/>
              </a:lnSpc>
            </a:pPr>
            <a:r>
              <a:rPr sz="1100" b="0" i="0">
                <a:solidFill>
                  <a:srgbClr val="E2E8F0"/>
                </a:solidFill>
                <a:latin typeface="Menlo"/>
              </a:rPr>
              <a:t>for epoch in range(epochs):</a:t>
            </a:r>
          </a:p>
          <a:p>
            <a:pPr algn="l">
              <a:lnSpc>
                <a:spcPct val="128000"/>
              </a:lnSpc>
            </a:pPr>
            <a:r>
              <a:rPr sz="1100" b="0" i="0">
                <a:solidFill>
                  <a:srgbClr val="E2E8F0"/>
                </a:solidFill>
                <a:latin typeface="Menlo"/>
              </a:rPr>
              <a:t>    tr = train_epoch(model, loader, opt, crit)</a:t>
            </a:r>
          </a:p>
          <a:p>
            <a:pPr algn="l">
              <a:lnSpc>
                <a:spcPct val="128000"/>
              </a:lnSpc>
            </a:pPr>
            <a:r>
              <a:rPr sz="1100" b="0" i="0">
                <a:solidFill>
                  <a:srgbClr val="E2E8F0"/>
                </a:solidFill>
                <a:latin typeface="Menlo"/>
              </a:rPr>
              <a:t>    va, acc = evaluate(model, val_loader, crit)</a:t>
            </a:r>
          </a:p>
          <a:p>
            <a:pPr algn="l">
              <a:lnSpc>
                <a:spcPct val="128000"/>
              </a:lnSpc>
            </a:pPr>
            <a:r>
              <a:rPr sz="1100" b="0" i="0">
                <a:solidFill>
                  <a:srgbClr val="E2E8F0"/>
                </a:solidFill>
                <a:latin typeface="Menlo"/>
              </a:rPr>
              <a:t>    history.append({          # one row per epoch</a:t>
            </a:r>
          </a:p>
          <a:p>
            <a:pPr algn="l">
              <a:lnSpc>
                <a:spcPct val="128000"/>
              </a:lnSpc>
            </a:pPr>
            <a:r>
              <a:rPr sz="1100" b="0" i="0">
                <a:solidFill>
                  <a:srgbClr val="E2E8F0"/>
                </a:solidFill>
                <a:latin typeface="Menlo"/>
              </a:rPr>
              <a:t>        "epoch": epoch,</a:t>
            </a:r>
          </a:p>
          <a:p>
            <a:pPr algn="l">
              <a:lnSpc>
                <a:spcPct val="128000"/>
              </a:lnSpc>
            </a:pPr>
            <a:r>
              <a:rPr sz="1100" b="0" i="0">
                <a:solidFill>
                  <a:srgbClr val="E2E8F0"/>
                </a:solidFill>
                <a:latin typeface="Menlo"/>
              </a:rPr>
              <a:t>        "train_loss": round(tr, 4),</a:t>
            </a:r>
          </a:p>
          <a:p>
            <a:pPr algn="l">
              <a:lnSpc>
                <a:spcPct val="128000"/>
              </a:lnSpc>
            </a:pPr>
            <a:r>
              <a:rPr sz="1100" b="0" i="0">
                <a:solidFill>
                  <a:srgbClr val="E2E8F0"/>
                </a:solidFill>
                <a:latin typeface="Menlo"/>
              </a:rPr>
              <a:t>        "val_loss": round(va, 4),</a:t>
            </a:r>
          </a:p>
          <a:p>
            <a:pPr algn="l">
              <a:lnSpc>
                <a:spcPct val="128000"/>
              </a:lnSpc>
            </a:pPr>
            <a:r>
              <a:rPr sz="1100" b="0" i="0">
                <a:solidFill>
                  <a:srgbClr val="E2E8F0"/>
                </a:solidFill>
                <a:latin typeface="Menlo"/>
              </a:rPr>
              <a:t>        "val_acc": round(acc, 4)})</a:t>
            </a:r>
          </a:p>
          <a:p>
            <a:pPr algn="l">
              <a:lnSpc>
                <a:spcPct val="128000"/>
              </a:lnSpc>
            </a:pPr>
            <a:r>
              <a:rPr sz="1100" b="0" i="0">
                <a:solidFill>
                  <a:srgbClr val="E2E8F0"/>
                </a:solidFill>
                <a:latin typeface="Menlo"/>
              </a:rPr>
              <a:t>    print(history[-1])</a:t>
            </a:r>
          </a:p>
          <a:p>
            <a:pPr algn="l">
              <a:lnSpc>
                <a:spcPct val="128000"/>
              </a:lnSpc>
            </a:pPr>
            <a:r>
              <a:rPr sz="1100" b="0" i="0">
                <a:solidFill>
                  <a:srgbClr val="E2E8F0"/>
                </a:solidFill>
                <a:latin typeface="Menlo"/>
              </a:rPr>
              <a:t/>
            </a:r>
          </a:p>
          <a:p>
            <a:pPr algn="l">
              <a:lnSpc>
                <a:spcPct val="128000"/>
              </a:lnSpc>
            </a:pPr>
            <a:r>
              <a:rPr sz="1100" b="0" i="0">
                <a:solidFill>
                  <a:srgbClr val="E2E8F0"/>
                </a:solidFill>
                <a:latin typeface="Menlo"/>
              </a:rPr>
              <a:t># train loss down, val loss up -&gt; overfitting</a:t>
            </a:r>
          </a:p>
          <a:p>
            <a:pPr algn="l">
              <a:lnSpc>
                <a:spcPct val="128000"/>
              </a:lnSpc>
            </a:pPr>
            <a:r>
              <a:rPr sz="1100" b="0" i="0">
                <a:solidFill>
                  <a:srgbClr val="E2E8F0"/>
                </a:solidFill>
                <a:latin typeface="Menlo"/>
              </a:rPr>
              <a:t># both flat -&gt; learning rate too small</a:t>
            </a:r>
          </a:p>
        </p:txBody>
      </p:sp>
      <p:sp>
        <p:nvSpPr>
          <p:cNvPr id="17" name="TextBox 16"/>
          <p:cNvSpPr txBox="1"/>
          <p:nvPr/>
        </p:nvSpPr>
        <p:spPr>
          <a:xfrm>
            <a:off x="799200" y="5490000"/>
            <a:ext cx="10593719" cy="612000"/>
          </a:xfrm>
          <a:prstGeom prst="rect">
            <a:avLst/>
          </a:prstGeom>
          <a:noFill/>
        </p:spPr>
        <p:txBody>
          <a:bodyPr wrap="square" anchor="t" lIns="0" rIns="0" tIns="0" bIns="0">
            <a:spAutoFit/>
          </a:bodyPr>
          <a:lstStyle/>
          <a:p>
            <a:pPr algn="l">
              <a:lnSpc>
                <a:spcPct val="135000"/>
              </a:lnSpc>
            </a:pPr>
            <a:r>
              <a:rPr sz="1200" b="0" i="0">
                <a:solidFill>
                  <a:srgbClr val="1F2937"/>
                </a:solidFill>
                <a:latin typeface="Source Han Sans SC"/>
              </a:rPr>
              <a:t>A log is not bureaucracy: without both train and val curves you cannot tell overfitting from a too-small learning rate from a data problem — you can only guess.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556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Batch Size and VRAM</a:t>
            </a:r>
          </a:p>
        </p:txBody>
      </p:sp>
      <p:sp>
        <p:nvSpPr>
          <p:cNvPr id="6" name="TextBox 5"/>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Module 2 · Week 5</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5</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19 / 29</a:t>
            </a:r>
          </a:p>
        </p:txBody>
      </p:sp>
      <p:graphicFrame>
        <p:nvGraphicFramePr>
          <p:cNvPr id="9" name="Table 8"/>
          <p:cNvGraphicFramePr>
            <a:graphicFrameLocks noGrp="1"/>
          </p:cNvGraphicFramePr>
          <p:nvPr/>
        </p:nvGraphicFramePr>
        <p:xfrm>
          <a:off x="799200" y="1152000"/>
          <a:ext cx="10583999" cy="2880000"/>
        </p:xfrm>
        <a:graphic>
          <a:graphicData uri="http://schemas.openxmlformats.org/drawingml/2006/table">
            <a:tbl>
              <a:tblPr firstRow="1" bandRow="1">
                <a:tableStyleId>{5C22544A-7EE6-4342-B048-85BDC9FD1C3A}</a:tableStyleId>
              </a:tblPr>
              <a:tblGrid>
                <a:gridCol w="1944000"/>
                <a:gridCol w="2232000"/>
                <a:gridCol w="3096000"/>
                <a:gridCol w="3311999"/>
              </a:tblGrid>
              <a:tr h="576000">
                <a:tc>
                  <a:txBody>
                    <a:bodyPr/>
                    <a:lstStyle/>
                    <a:p>
                      <a:r>
                        <a:rPr sz="1250" b="1">
                          <a:solidFill>
                            <a:srgbClr val="FFFFFF"/>
                          </a:solidFill>
                          <a:latin typeface="Source Han Sans SC"/>
                        </a:rPr>
                        <a:t>Batch size</a:t>
                      </a:r>
                    </a:p>
                  </a:txBody>
                  <a:tcPr>
                    <a:solidFill>
                      <a:srgbClr val="0E3F8C"/>
                    </a:solidFill>
                  </a:tcPr>
                </a:tc>
                <a:tc>
                  <a:txBody>
                    <a:bodyPr/>
                    <a:lstStyle/>
                    <a:p>
                      <a:r>
                        <a:rPr sz="1250" b="1">
                          <a:solidFill>
                            <a:srgbClr val="FFFFFF"/>
                          </a:solidFill>
                          <a:latin typeface="Source Han Sans SC"/>
                        </a:rPr>
                        <a:t>VRAM</a:t>
                      </a:r>
                    </a:p>
                  </a:txBody>
                  <a:tcPr>
                    <a:solidFill>
                      <a:srgbClr val="0E3F8C"/>
                    </a:solidFill>
                  </a:tcPr>
                </a:tc>
                <a:tc>
                  <a:txBody>
                    <a:bodyPr/>
                    <a:lstStyle/>
                    <a:p>
                      <a:r>
                        <a:rPr sz="1250" b="1">
                          <a:solidFill>
                            <a:srgbClr val="FFFFFF"/>
                          </a:solidFill>
                          <a:latin typeface="Source Han Sans SC"/>
                        </a:rPr>
                        <a:t>Gradient stability</a:t>
                      </a:r>
                    </a:p>
                  </a:txBody>
                  <a:tcPr>
                    <a:solidFill>
                      <a:srgbClr val="0E3F8C"/>
                    </a:solidFill>
                  </a:tcPr>
                </a:tc>
                <a:tc>
                  <a:txBody>
                    <a:bodyPr/>
                    <a:lstStyle/>
                    <a:p>
                      <a:r>
                        <a:rPr sz="1250" b="1">
                          <a:solidFill>
                            <a:srgbClr val="FFFFFF"/>
                          </a:solidFill>
                          <a:latin typeface="Source Han Sans SC"/>
                        </a:rPr>
                        <a:t>Trade-off</a:t>
                      </a:r>
                    </a:p>
                  </a:txBody>
                  <a:tcPr>
                    <a:solidFill>
                      <a:srgbClr val="0E3F8C"/>
                    </a:solidFill>
                  </a:tcPr>
                </a:tc>
              </a:tr>
              <a:tr h="576000">
                <a:tc>
                  <a:txBody>
                    <a:bodyPr/>
                    <a:lstStyle/>
                    <a:p>
                      <a:r>
                        <a:rPr sz="1150" b="1">
                          <a:solidFill>
                            <a:srgbClr val="1F2937"/>
                          </a:solidFill>
                          <a:latin typeface="Source Han Sans SC"/>
                        </a:rPr>
                        <a:t>8 - 32</a:t>
                      </a:r>
                    </a:p>
                  </a:txBody>
                  <a:tcPr>
                    <a:solidFill>
                      <a:srgbClr val="FFFFFF"/>
                    </a:solidFill>
                  </a:tcPr>
                </a:tc>
                <a:tc>
                  <a:txBody>
                    <a:bodyPr/>
                    <a:lstStyle/>
                    <a:p>
                      <a:r>
                        <a:rPr sz="1150">
                          <a:solidFill>
                            <a:srgbClr val="1F2937"/>
                          </a:solidFill>
                          <a:latin typeface="Source Han Sans SC"/>
                        </a:rPr>
                        <a:t>Low</a:t>
                      </a:r>
                    </a:p>
                  </a:txBody>
                  <a:tcPr>
                    <a:solidFill>
                      <a:srgbClr val="FFFFFF"/>
                    </a:solidFill>
                  </a:tcPr>
                </a:tc>
                <a:tc>
                  <a:txBody>
                    <a:bodyPr/>
                    <a:lstStyle/>
                    <a:p>
                      <a:r>
                        <a:rPr sz="1150">
                          <a:solidFill>
                            <a:srgbClr val="1F2937"/>
                          </a:solidFill>
                          <a:latin typeface="Source Han Sans SC"/>
                        </a:rPr>
                        <a:t>Noisy; occasionally helps generalisation</a:t>
                      </a:r>
                    </a:p>
                  </a:txBody>
                  <a:tcPr>
                    <a:solidFill>
                      <a:srgbClr val="FFFFFF"/>
                    </a:solidFill>
                  </a:tcPr>
                </a:tc>
                <a:tc>
                  <a:txBody>
                    <a:bodyPr/>
                    <a:lstStyle/>
                    <a:p>
                      <a:r>
                        <a:rPr sz="1150">
                          <a:solidFill>
                            <a:srgbClr val="1F2937"/>
                          </a:solidFill>
                          <a:latin typeface="Source Han Sans SC"/>
                        </a:rPr>
                        <a:t>Small VRAM or small data; needs a smaller lr</a:t>
                      </a:r>
                    </a:p>
                  </a:txBody>
                  <a:tcPr>
                    <a:solidFill>
                      <a:srgbClr val="FFFFFF"/>
                    </a:solidFill>
                  </a:tcPr>
                </a:tc>
              </a:tr>
              <a:tr h="576000">
                <a:tc>
                  <a:txBody>
                    <a:bodyPr/>
                    <a:lstStyle/>
                    <a:p>
                      <a:r>
                        <a:rPr sz="1150" b="1">
                          <a:solidFill>
                            <a:srgbClr val="1F2937"/>
                          </a:solidFill>
                          <a:latin typeface="Source Han Sans SC"/>
                        </a:rPr>
                        <a:t>64 - 256</a:t>
                      </a:r>
                    </a:p>
                  </a:txBody>
                  <a:tcPr>
                    <a:solidFill>
                      <a:srgbClr val="F0F5FC"/>
                    </a:solidFill>
                  </a:tcPr>
                </a:tc>
                <a:tc>
                  <a:txBody>
                    <a:bodyPr/>
                    <a:lstStyle/>
                    <a:p>
                      <a:r>
                        <a:rPr sz="1150">
                          <a:solidFill>
                            <a:srgbClr val="1F2937"/>
                          </a:solidFill>
                          <a:latin typeface="Source Han Sans SC"/>
                        </a:rPr>
                        <a:t>Medium</a:t>
                      </a:r>
                    </a:p>
                  </a:txBody>
                  <a:tcPr>
                    <a:solidFill>
                      <a:srgbClr val="F0F5FC"/>
                    </a:solidFill>
                  </a:tcPr>
                </a:tc>
                <a:tc>
                  <a:txBody>
                    <a:bodyPr/>
                    <a:lstStyle/>
                    <a:p>
                      <a:r>
                        <a:rPr sz="1150">
                          <a:solidFill>
                            <a:srgbClr val="1F2937"/>
                          </a:solidFill>
                          <a:latin typeface="Source Han Sans SC"/>
                        </a:rPr>
                        <a:t>Reasonably stable</a:t>
                      </a:r>
                    </a:p>
                  </a:txBody>
                  <a:tcPr>
                    <a:solidFill>
                      <a:srgbClr val="F0F5FC"/>
                    </a:solidFill>
                  </a:tcPr>
                </a:tc>
                <a:tc>
                  <a:txBody>
                    <a:bodyPr/>
                    <a:lstStyle/>
                    <a:p>
                      <a:r>
                        <a:rPr sz="1150">
                          <a:solidFill>
                            <a:srgbClr val="1F2937"/>
                          </a:solidFill>
                          <a:latin typeface="Source Han Sans SC"/>
                        </a:rPr>
                        <a:t>The usual default range — start here</a:t>
                      </a:r>
                    </a:p>
                  </a:txBody>
                  <a:tcPr>
                    <a:solidFill>
                      <a:srgbClr val="F0F5FC"/>
                    </a:solidFill>
                  </a:tcPr>
                </a:tc>
              </a:tr>
              <a:tr h="576000">
                <a:tc>
                  <a:txBody>
                    <a:bodyPr/>
                    <a:lstStyle/>
                    <a:p>
                      <a:r>
                        <a:rPr sz="1150" b="1">
                          <a:solidFill>
                            <a:srgbClr val="1F2937"/>
                          </a:solidFill>
                          <a:latin typeface="Source Han Sans SC"/>
                        </a:rPr>
                        <a:t>512+</a:t>
                      </a:r>
                    </a:p>
                  </a:txBody>
                  <a:tcPr>
                    <a:solidFill>
                      <a:srgbClr val="FFFFFF"/>
                    </a:solidFill>
                  </a:tcPr>
                </a:tc>
                <a:tc>
                  <a:txBody>
                    <a:bodyPr/>
                    <a:lstStyle/>
                    <a:p>
                      <a:r>
                        <a:rPr sz="1150">
                          <a:solidFill>
                            <a:srgbClr val="1F2937"/>
                          </a:solidFill>
                          <a:latin typeface="Source Han Sans SC"/>
                        </a:rPr>
                        <a:t>High</a:t>
                      </a:r>
                    </a:p>
                  </a:txBody>
                  <a:tcPr>
                    <a:solidFill>
                      <a:srgbClr val="FFFFFF"/>
                    </a:solidFill>
                  </a:tcPr>
                </a:tc>
                <a:tc>
                  <a:txBody>
                    <a:bodyPr/>
                    <a:lstStyle/>
                    <a:p>
                      <a:r>
                        <a:rPr sz="1150">
                          <a:solidFill>
                            <a:srgbClr val="1F2937"/>
                          </a:solidFill>
                          <a:latin typeface="Source Han Sans SC"/>
                        </a:rPr>
                        <a:t>Very stable, but can generalise worse</a:t>
                      </a:r>
                    </a:p>
                  </a:txBody>
                  <a:tcPr>
                    <a:solidFill>
                      <a:srgbClr val="FFFFFF"/>
                    </a:solidFill>
                  </a:tcPr>
                </a:tc>
                <a:tc>
                  <a:txBody>
                    <a:bodyPr/>
                    <a:lstStyle/>
                    <a:p>
                      <a:r>
                        <a:rPr sz="1150">
                          <a:solidFill>
                            <a:srgbClr val="1F2937"/>
                          </a:solidFill>
                          <a:latin typeface="Source Han Sans SC"/>
                        </a:rPr>
                        <a:t>Needs a larger lr and warmup</a:t>
                      </a:r>
                    </a:p>
                  </a:txBody>
                  <a:tcPr>
                    <a:solidFill>
                      <a:srgbClr val="FFFFFF"/>
                    </a:solidFill>
                  </a:tcPr>
                </a:tc>
              </a:tr>
              <a:tr h="576000">
                <a:tc>
                  <a:txBody>
                    <a:bodyPr/>
                    <a:lstStyle/>
                    <a:p>
                      <a:r>
                        <a:rPr sz="1150" b="1">
                          <a:solidFill>
                            <a:srgbClr val="1F2937"/>
                          </a:solidFill>
                          <a:latin typeface="Source Han Sans SC"/>
                        </a:rPr>
                        <a:t>1 (per-sample)</a:t>
                      </a:r>
                    </a:p>
                  </a:txBody>
                  <a:tcPr>
                    <a:solidFill>
                      <a:srgbClr val="F0F5FC"/>
                    </a:solidFill>
                  </a:tcPr>
                </a:tc>
                <a:tc>
                  <a:txBody>
                    <a:bodyPr/>
                    <a:lstStyle/>
                    <a:p>
                      <a:r>
                        <a:rPr sz="1150">
                          <a:solidFill>
                            <a:srgbClr val="1F2937"/>
                          </a:solidFill>
                          <a:latin typeface="Source Han Sans SC"/>
                        </a:rPr>
                        <a:t>Lowest, but extremely slow</a:t>
                      </a:r>
                    </a:p>
                  </a:txBody>
                  <a:tcPr>
                    <a:solidFill>
                      <a:srgbClr val="F0F5FC"/>
                    </a:solidFill>
                  </a:tcPr>
                </a:tc>
                <a:tc>
                  <a:txBody>
                    <a:bodyPr/>
                    <a:lstStyle/>
                    <a:p>
                      <a:r>
                        <a:rPr sz="1150">
                          <a:solidFill>
                            <a:srgbClr val="1F2937"/>
                          </a:solidFill>
                          <a:latin typeface="Source Han Sans SC"/>
                        </a:rPr>
                        <a:t>Extremely noisy</a:t>
                      </a:r>
                    </a:p>
                  </a:txBody>
                  <a:tcPr>
                    <a:solidFill>
                      <a:srgbClr val="F0F5FC"/>
                    </a:solidFill>
                  </a:tcPr>
                </a:tc>
                <a:tc>
                  <a:txBody>
                    <a:bodyPr/>
                    <a:lstStyle/>
                    <a:p>
                      <a:r>
                        <a:rPr sz="1150">
                          <a:solidFill>
                            <a:srgbClr val="1F2937"/>
                          </a:solidFill>
                          <a:latin typeface="Source Han Sans SC"/>
                        </a:rPr>
                        <a:t>Only for teaching demos or extreme memory limits</a:t>
                      </a:r>
                    </a:p>
                  </a:txBody>
                  <a:tcPr>
                    <a:solidFill>
                      <a:srgbClr val="F0F5FC"/>
                    </a:solidFill>
                  </a:tcPr>
                </a:tc>
              </a:tr>
            </a:tbl>
          </a:graphicData>
        </a:graphic>
      </p:graphicFrame>
      <p:sp>
        <p:nvSpPr>
          <p:cNvPr id="10" name="TextBox 9"/>
          <p:cNvSpPr txBox="1"/>
          <p:nvPr/>
        </p:nvSpPr>
        <p:spPr>
          <a:xfrm>
            <a:off x="799200" y="4176000"/>
            <a:ext cx="10593719" cy="432000"/>
          </a:xfrm>
          <a:prstGeom prst="rect">
            <a:avLst/>
          </a:prstGeom>
          <a:noFill/>
        </p:spPr>
        <p:txBody>
          <a:bodyPr wrap="square" anchor="t" lIns="0" rIns="0" tIns="0" bIns="0">
            <a:spAutoFit/>
          </a:bodyPr>
          <a:lstStyle/>
          <a:p>
            <a:pPr algn="l">
              <a:lnSpc>
                <a:spcPct val="135000"/>
              </a:lnSpc>
            </a:pPr>
            <a:r>
              <a:rPr sz="1150" b="0" i="0">
                <a:solidFill>
                  <a:srgbClr val="6B7280"/>
                </a:solidFill>
                <a:latin typeface="Source Han Sans SC"/>
              </a:rPr>
              <a:t>A useful estimate: VRAM ≈ batch size x per-sample cost + parameters + optimizer state (Adam's state is roughly twice the parameter count, which is why it costs more than SGD). When you double the batch size, you usually scale the learning rate up with 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936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4732919" y="381600"/>
            <a:ext cx="6667200" cy="5648400"/>
          </a:xfrm>
          <a:prstGeom prst="rect">
            <a:avLst/>
          </a:prstGeom>
          <a:noFill/>
        </p:spPr>
        <p:txBody>
          <a:bodyPr wrap="square" anchor="t" lIns="0" rIns="0" tIns="0" bIns="0">
            <a:spAutoFit/>
          </a:bodyPr>
          <a:lstStyle/>
          <a:p>
            <a:pPr algn="r">
              <a:lnSpc>
                <a:spcPct val="125000"/>
              </a:lnSpc>
            </a:pPr>
            <a:r>
              <a:rPr sz="17000" b="1" i="0">
                <a:solidFill>
                  <a:srgbClr val="F0F5FC"/>
                </a:solidFill>
                <a:latin typeface="Source Han Sans SC"/>
              </a:rPr>
              <a:t>05</a:t>
            </a:r>
          </a:p>
        </p:txBody>
      </p:sp>
      <p:sp>
        <p:nvSpPr>
          <p:cNvPr id="5" name="Rectangle 4"/>
          <p:cNvSpPr/>
          <p:nvPr/>
        </p:nvSpPr>
        <p:spPr>
          <a:xfrm>
            <a:off x="856800" y="1047600"/>
            <a:ext cx="1238400" cy="12384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1180800" y="1314000"/>
            <a:ext cx="601200" cy="712800"/>
          </a:xfrm>
          <a:prstGeom prst="rect">
            <a:avLst/>
          </a:prstGeom>
          <a:noFill/>
        </p:spPr>
        <p:txBody>
          <a:bodyPr wrap="square" anchor="t" lIns="0" rIns="0" tIns="0" bIns="0">
            <a:spAutoFit/>
          </a:bodyPr>
          <a:lstStyle/>
          <a:p>
            <a:pPr algn="ctr">
              <a:lnSpc>
                <a:spcPct val="125000"/>
              </a:lnSpc>
            </a:pPr>
            <a:r>
              <a:rPr sz="3200" b="1" i="0">
                <a:solidFill>
                  <a:srgbClr val="FFFFFF"/>
                </a:solidFill>
                <a:latin typeface="Source Han Sans SC"/>
              </a:rPr>
              <a:t>05</a:t>
            </a:r>
          </a:p>
        </p:txBody>
      </p:sp>
      <p:sp>
        <p:nvSpPr>
          <p:cNvPr id="7" name="TextBox 6"/>
          <p:cNvSpPr txBox="1"/>
          <p:nvPr/>
        </p:nvSpPr>
        <p:spPr>
          <a:xfrm>
            <a:off x="2379600" y="1105200"/>
            <a:ext cx="5040000" cy="503999"/>
          </a:xfrm>
          <a:prstGeom prst="rect">
            <a:avLst/>
          </a:prstGeom>
          <a:noFill/>
        </p:spPr>
        <p:txBody>
          <a:bodyPr wrap="square" anchor="t" lIns="0" rIns="0" tIns="0" bIns="0">
            <a:spAutoFit/>
          </a:bodyPr>
          <a:lstStyle/>
          <a:p>
            <a:pPr algn="l">
              <a:lnSpc>
                <a:spcPct val="125000"/>
              </a:lnSpc>
            </a:pPr>
            <a:r>
              <a:rPr sz="3000" b="1" i="0">
                <a:solidFill>
                  <a:srgbClr val="0E3F8C"/>
                </a:solidFill>
                <a:latin typeface="Source Han Sans SC"/>
              </a:rPr>
              <a:t>Lab · Optimizers × Learning Rates</a:t>
            </a:r>
          </a:p>
        </p:txBody>
      </p:sp>
      <p:sp>
        <p:nvSpPr>
          <p:cNvPr id="8" name="TextBox 7"/>
          <p:cNvSpPr txBox="1"/>
          <p:nvPr/>
        </p:nvSpPr>
        <p:spPr>
          <a:xfrm>
            <a:off x="2379600" y="1666800"/>
            <a:ext cx="5040000" cy="306000"/>
          </a:xfrm>
          <a:prstGeom prst="rect">
            <a:avLst/>
          </a:prstGeom>
          <a:noFill/>
        </p:spPr>
        <p:txBody>
          <a:bodyPr wrap="square" anchor="t" lIns="0" rIns="0" tIns="0" bIns="0">
            <a:spAutoFit/>
          </a:bodyPr>
          <a:lstStyle/>
          <a:p>
            <a:pPr algn="l">
              <a:lnSpc>
                <a:spcPct val="125000"/>
              </a:lnSpc>
            </a:pPr>
            <a:r>
              <a:rPr sz="1500" b="0" i="0">
                <a:solidFill>
                  <a:srgbClr val="3D7BD9"/>
                </a:solidFill>
                <a:latin typeface="Source Han Sans SC"/>
              </a:rPr>
              <a:t>Hands-on: a 3 x 3 controlled experiment</a:t>
            </a:r>
          </a:p>
        </p:txBody>
      </p:sp>
      <p:sp>
        <p:nvSpPr>
          <p:cNvPr id="9" name="TextBox 8"/>
          <p:cNvSpPr txBox="1"/>
          <p:nvPr/>
        </p:nvSpPr>
        <p:spPr>
          <a:xfrm>
            <a:off x="799200" y="2736000"/>
            <a:ext cx="8640000" cy="1620000"/>
          </a:xfrm>
          <a:prstGeom prst="rect">
            <a:avLst/>
          </a:prstGeom>
          <a:noFill/>
        </p:spPr>
        <p:txBody>
          <a:bodyPr wrap="square" anchor="t" lIns="0" rIns="0" tIns="0" bIns="0">
            <a:spAutoFit/>
          </a:bodyPr>
          <a:lstStyle/>
          <a:p>
            <a:pPr algn="l">
              <a:lnSpc>
                <a:spcPct val="150000"/>
              </a:lnSpc>
            </a:pPr>
            <a:r>
              <a:rPr sz="1500" b="0" i="0">
                <a:solidFill>
                  <a:srgbClr val="1F2937"/>
                </a:solidFill>
                <a:latin typeface="Source Han Sans SC"/>
              </a:rPr>
              <a:t>75 minutes for a real controlled experiment: 3 optimizers x 3 learning rates = 9 runs,
then answer a question that must be backed by data — which combination wins, and why.</a:t>
            </a:r>
          </a:p>
        </p:txBody>
      </p:sp>
      <p:sp>
        <p:nvSpPr>
          <p:cNvPr id="10" name="Rectangle 9"/>
          <p:cNvSpPr/>
          <p:nvPr/>
        </p:nvSpPr>
        <p:spPr>
          <a:xfrm>
            <a:off x="799200" y="5000400"/>
            <a:ext cx="3380039" cy="810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799200"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8000" y="5173200"/>
            <a:ext cx="2962439" cy="255600"/>
          </a:xfrm>
          <a:prstGeom prst="rect">
            <a:avLst/>
          </a:prstGeom>
          <a:noFill/>
        </p:spPr>
        <p:txBody>
          <a:bodyPr wrap="square" anchor="t" lIns="0" rIns="0" tIns="0" bIns="0">
            <a:spAutoFit/>
          </a:bodyPr>
          <a:lstStyle/>
          <a:p>
            <a:pPr algn="l">
              <a:lnSpc>
                <a:spcPct val="125000"/>
              </a:lnSpc>
            </a:pPr>
            <a:r>
              <a:rPr sz="1500" b="1" i="0">
                <a:solidFill>
                  <a:srgbClr val="0E3F8C"/>
                </a:solidFill>
                <a:latin typeface="Source Han Sans SC"/>
              </a:rPr>
              <a:t>9 Runs</a:t>
            </a:r>
          </a:p>
        </p:txBody>
      </p:sp>
      <p:sp>
        <p:nvSpPr>
          <p:cNvPr id="13" name="TextBox 12"/>
          <p:cNvSpPr txBox="1"/>
          <p:nvPr/>
        </p:nvSpPr>
        <p:spPr>
          <a:xfrm>
            <a:off x="1008000" y="5468400"/>
            <a:ext cx="2962439" cy="172800"/>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One variable at a time</a:t>
            </a:r>
          </a:p>
        </p:txBody>
      </p:sp>
      <p:sp>
        <p:nvSpPr>
          <p:cNvPr id="14" name="Rectangle 13"/>
          <p:cNvSpPr/>
          <p:nvPr/>
        </p:nvSpPr>
        <p:spPr>
          <a:xfrm>
            <a:off x="4406040" y="5000400"/>
            <a:ext cx="3380039" cy="810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406040"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614840" y="5173200"/>
            <a:ext cx="2962439" cy="255600"/>
          </a:xfrm>
          <a:prstGeom prst="rect">
            <a:avLst/>
          </a:prstGeom>
          <a:noFill/>
        </p:spPr>
        <p:txBody>
          <a:bodyPr wrap="square" anchor="t" lIns="0" rIns="0" tIns="0" bIns="0">
            <a:spAutoFit/>
          </a:bodyPr>
          <a:lstStyle/>
          <a:p>
            <a:pPr algn="l">
              <a:lnSpc>
                <a:spcPct val="125000"/>
              </a:lnSpc>
            </a:pPr>
            <a:r>
              <a:rPr sz="1500" b="1" i="0">
                <a:solidFill>
                  <a:srgbClr val="0E3F8C"/>
                </a:solidFill>
                <a:latin typeface="Source Han Sans SC"/>
              </a:rPr>
              <a:t>Plot It</a:t>
            </a:r>
          </a:p>
        </p:txBody>
      </p:sp>
      <p:sp>
        <p:nvSpPr>
          <p:cNvPr id="17" name="TextBox 16"/>
          <p:cNvSpPr txBox="1"/>
          <p:nvPr/>
        </p:nvSpPr>
        <p:spPr>
          <a:xfrm>
            <a:off x="4614840" y="5468400"/>
            <a:ext cx="2962439" cy="172800"/>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Loss + accuracy</a:t>
            </a:r>
          </a:p>
        </p:txBody>
      </p:sp>
      <p:sp>
        <p:nvSpPr>
          <p:cNvPr id="18" name="Rectangle 17"/>
          <p:cNvSpPr/>
          <p:nvPr/>
        </p:nvSpPr>
        <p:spPr>
          <a:xfrm>
            <a:off x="8012879" y="5000400"/>
            <a:ext cx="3380039" cy="810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8012879"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221679" y="5173200"/>
            <a:ext cx="2962439" cy="255600"/>
          </a:xfrm>
          <a:prstGeom prst="rect">
            <a:avLst/>
          </a:prstGeom>
          <a:noFill/>
        </p:spPr>
        <p:txBody>
          <a:bodyPr wrap="square" anchor="t" lIns="0" rIns="0" tIns="0" bIns="0">
            <a:spAutoFit/>
          </a:bodyPr>
          <a:lstStyle/>
          <a:p>
            <a:pPr algn="l">
              <a:lnSpc>
                <a:spcPct val="125000"/>
              </a:lnSpc>
            </a:pPr>
            <a:r>
              <a:rPr sz="1500" b="1" i="0">
                <a:solidFill>
                  <a:srgbClr val="0E3F8C"/>
                </a:solidFill>
                <a:latin typeface="Source Han Sans SC"/>
              </a:rPr>
              <a:t>Justify It</a:t>
            </a:r>
          </a:p>
        </p:txBody>
      </p:sp>
      <p:sp>
        <p:nvSpPr>
          <p:cNvPr id="21" name="TextBox 20"/>
          <p:cNvSpPr txBox="1"/>
          <p:nvPr/>
        </p:nvSpPr>
        <p:spPr>
          <a:xfrm>
            <a:off x="8221679" y="5468400"/>
            <a:ext cx="2962439" cy="172800"/>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The winner needs an argument</a:t>
            </a:r>
          </a:p>
        </p:txBody>
      </p:sp>
      <p:sp>
        <p:nvSpPr>
          <p:cNvPr id="22" name="TextBox 21"/>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5</a:t>
            </a:r>
          </a:p>
        </p:txBody>
      </p:sp>
      <p:sp>
        <p:nvSpPr>
          <p:cNvPr id="23" name="TextBox 22"/>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20 / 29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556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The Four Tasks of Lab 4</a:t>
            </a:r>
          </a:p>
        </p:txBody>
      </p:sp>
      <p:sp>
        <p:nvSpPr>
          <p:cNvPr id="6" name="TextBox 5"/>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Module 2 · Week 5</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5</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21 / 29</a:t>
            </a:r>
          </a:p>
        </p:txBody>
      </p:sp>
      <p:sp>
        <p:nvSpPr>
          <p:cNvPr id="9" name="Rectangle 8"/>
          <p:cNvSpPr/>
          <p:nvPr/>
        </p:nvSpPr>
        <p:spPr>
          <a:xfrm>
            <a:off x="799200" y="1296000"/>
            <a:ext cx="5188859" cy="2376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99200" y="1296000"/>
            <a:ext cx="32400" cy="23760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22400" y="1483200"/>
            <a:ext cx="4742459" cy="223200"/>
          </a:xfrm>
          <a:prstGeom prst="rect">
            <a:avLst/>
          </a:prstGeom>
          <a:noFill/>
        </p:spPr>
        <p:txBody>
          <a:bodyPr wrap="square" anchor="t" lIns="0" rIns="0" tIns="0" bIns="0">
            <a:spAutoFit/>
          </a:bodyPr>
          <a:lstStyle/>
          <a:p>
            <a:pPr algn="l">
              <a:lnSpc>
                <a:spcPct val="125000"/>
              </a:lnSpc>
            </a:pPr>
            <a:r>
              <a:rPr sz="1550" b="1" i="0">
                <a:solidFill>
                  <a:srgbClr val="0E3F8C"/>
                </a:solidFill>
                <a:latin typeface="Source Han Sans SC"/>
              </a:rPr>
              <a:t>A · The 3 x 3 grid</a:t>
            </a:r>
          </a:p>
        </p:txBody>
      </p:sp>
      <p:sp>
        <p:nvSpPr>
          <p:cNvPr id="12" name="TextBox 11"/>
          <p:cNvSpPr txBox="1"/>
          <p:nvPr/>
        </p:nvSpPr>
        <p:spPr>
          <a:xfrm>
            <a:off x="1022400" y="1713600"/>
            <a:ext cx="4742459" cy="151200"/>
          </a:xfrm>
          <a:prstGeom prst="rect">
            <a:avLst/>
          </a:prstGeom>
          <a:noFill/>
        </p:spPr>
        <p:txBody>
          <a:bodyPr wrap="square" anchor="t" lIns="0" rIns="0" tIns="0" bIns="0">
            <a:spAutoFit/>
          </a:bodyPr>
          <a:lstStyle/>
          <a:p>
            <a:pPr algn="l">
              <a:lnSpc>
                <a:spcPct val="125000"/>
              </a:lnSpc>
            </a:pPr>
            <a:r>
              <a:rPr sz="1100" b="1" i="0">
                <a:solidFill>
                  <a:srgbClr val="3D7BD9"/>
                </a:solidFill>
                <a:latin typeface="Source Han Sans SC"/>
              </a:rPr>
              <a:t>9 runs, one variable at a time</a:t>
            </a:r>
          </a:p>
        </p:txBody>
      </p:sp>
      <p:sp>
        <p:nvSpPr>
          <p:cNvPr id="13" name="TextBox 12"/>
          <p:cNvSpPr txBox="1"/>
          <p:nvPr/>
        </p:nvSpPr>
        <p:spPr>
          <a:xfrm>
            <a:off x="1022400" y="1915200"/>
            <a:ext cx="4742459" cy="1612799"/>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3 optimizers: SGD / SGD+momentum / Adam</a:t>
            </a:r>
          </a:p>
          <a:p>
            <a:pPr algn="l">
              <a:lnSpc>
                <a:spcPct val="140000"/>
              </a:lnSpc>
              <a:spcAft>
                <a:spcPts val="400"/>
              </a:spcAft>
            </a:pPr>
            <a:r>
              <a:rPr sz="1200" b="0" i="0">
                <a:solidFill>
                  <a:srgbClr val="1F2937"/>
                </a:solidFill>
                <a:latin typeface="Source Han Sans SC"/>
              </a:rPr>
              <a:t>• 3 learning rates: 1e-1 / 1e-3 / 1e-5</a:t>
            </a:r>
          </a:p>
          <a:p>
            <a:pPr algn="l">
              <a:lnSpc>
                <a:spcPct val="140000"/>
              </a:lnSpc>
              <a:spcAft>
                <a:spcPts val="400"/>
              </a:spcAft>
            </a:pPr>
            <a:r>
              <a:rPr sz="1200" b="0" i="0">
                <a:solidFill>
                  <a:srgbClr val="1F2937"/>
                </a:solidFill>
                <a:latin typeface="Source Han Sans SC"/>
              </a:rPr>
              <a:t>• Same network, same split, same seed</a:t>
            </a:r>
          </a:p>
          <a:p>
            <a:pPr algn="l">
              <a:lnSpc>
                <a:spcPct val="140000"/>
              </a:lnSpc>
              <a:spcAft>
                <a:spcPts val="400"/>
              </a:spcAft>
            </a:pPr>
            <a:r>
              <a:rPr sz="1200" b="0" i="0">
                <a:solidFill>
                  <a:srgbClr val="1F2937"/>
                </a:solidFill>
                <a:latin typeface="Source Han Sans SC"/>
              </a:rPr>
              <a:t>• Rebuild the model each run; log train/val metrics</a:t>
            </a:r>
          </a:p>
        </p:txBody>
      </p:sp>
      <p:sp>
        <p:nvSpPr>
          <p:cNvPr id="14" name="Rectangle 13"/>
          <p:cNvSpPr/>
          <p:nvPr/>
        </p:nvSpPr>
        <p:spPr>
          <a:xfrm>
            <a:off x="6204059" y="1296000"/>
            <a:ext cx="5188859" cy="2376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6204059" y="1296000"/>
            <a:ext cx="32400" cy="23760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27259" y="1483200"/>
            <a:ext cx="4742459" cy="223200"/>
          </a:xfrm>
          <a:prstGeom prst="rect">
            <a:avLst/>
          </a:prstGeom>
          <a:noFill/>
        </p:spPr>
        <p:txBody>
          <a:bodyPr wrap="square" anchor="t" lIns="0" rIns="0" tIns="0" bIns="0">
            <a:spAutoFit/>
          </a:bodyPr>
          <a:lstStyle/>
          <a:p>
            <a:pPr algn="l">
              <a:lnSpc>
                <a:spcPct val="125000"/>
              </a:lnSpc>
            </a:pPr>
            <a:r>
              <a:rPr sz="1550" b="1" i="0">
                <a:solidFill>
                  <a:srgbClr val="0E3F8C"/>
                </a:solidFill>
                <a:latin typeface="Source Han Sans SC"/>
              </a:rPr>
              <a:t>B · Plot the curves</a:t>
            </a:r>
          </a:p>
        </p:txBody>
      </p:sp>
      <p:sp>
        <p:nvSpPr>
          <p:cNvPr id="17" name="TextBox 16"/>
          <p:cNvSpPr txBox="1"/>
          <p:nvPr/>
        </p:nvSpPr>
        <p:spPr>
          <a:xfrm>
            <a:off x="6427259" y="1713600"/>
            <a:ext cx="4742459" cy="151200"/>
          </a:xfrm>
          <a:prstGeom prst="rect">
            <a:avLst/>
          </a:prstGeom>
          <a:noFill/>
        </p:spPr>
        <p:txBody>
          <a:bodyPr wrap="square" anchor="t" lIns="0" rIns="0" tIns="0" bIns="0">
            <a:spAutoFit/>
          </a:bodyPr>
          <a:lstStyle/>
          <a:p>
            <a:pPr algn="l">
              <a:lnSpc>
                <a:spcPct val="125000"/>
              </a:lnSpc>
            </a:pPr>
            <a:r>
              <a:rPr sz="1100" b="1" i="0">
                <a:solidFill>
                  <a:srgbClr val="3D7BD9"/>
                </a:solidFill>
                <a:latin typeface="Source Han Sans SC"/>
              </a:rPr>
              <a:t>loss and accuracy, every run</a:t>
            </a:r>
          </a:p>
        </p:txBody>
      </p:sp>
      <p:sp>
        <p:nvSpPr>
          <p:cNvPr id="18" name="TextBox 17"/>
          <p:cNvSpPr txBox="1"/>
          <p:nvPr/>
        </p:nvSpPr>
        <p:spPr>
          <a:xfrm>
            <a:off x="6427259" y="1915200"/>
            <a:ext cx="4742459" cy="1612799"/>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One curve per combo, legend names optimizer and lr</a:t>
            </a:r>
          </a:p>
          <a:p>
            <a:pPr algn="l">
              <a:lnSpc>
                <a:spcPct val="140000"/>
              </a:lnSpc>
              <a:spcAft>
                <a:spcPts val="400"/>
              </a:spcAft>
            </a:pPr>
            <a:r>
              <a:rPr sz="1200" b="0" i="0">
                <a:solidFill>
                  <a:srgbClr val="1F2937"/>
                </a:solidFill>
                <a:latin typeface="Source Han Sans SC"/>
              </a:rPr>
              <a:t>• The loss curve shows speed and stability</a:t>
            </a:r>
          </a:p>
          <a:p>
            <a:pPr algn="l">
              <a:lnSpc>
                <a:spcPct val="140000"/>
              </a:lnSpc>
              <a:spcAft>
                <a:spcPts val="400"/>
              </a:spcAft>
            </a:pPr>
            <a:r>
              <a:rPr sz="1200" b="0" i="0">
                <a:solidFill>
                  <a:srgbClr val="1F2937"/>
                </a:solidFill>
                <a:latin typeface="Source Han Sans SC"/>
              </a:rPr>
              <a:t>• The accuracy curve shows final quality and jitter</a:t>
            </a:r>
          </a:p>
          <a:p>
            <a:pPr algn="l">
              <a:lnSpc>
                <a:spcPct val="140000"/>
              </a:lnSpc>
              <a:spcAft>
                <a:spcPts val="400"/>
              </a:spcAft>
            </a:pPr>
            <a:r>
              <a:rPr sz="1200" b="0" i="0">
                <a:solidFill>
                  <a:srgbClr val="1F2937"/>
                </a:solidFill>
                <a:latin typeface="Source Han Sans SC"/>
              </a:rPr>
              <a:t>• Plot at least one chart with 3 curves on shared axes</a:t>
            </a:r>
          </a:p>
        </p:txBody>
      </p:sp>
      <p:sp>
        <p:nvSpPr>
          <p:cNvPr id="19" name="Rectangle 18"/>
          <p:cNvSpPr/>
          <p:nvPr/>
        </p:nvSpPr>
        <p:spPr>
          <a:xfrm>
            <a:off x="799200" y="3887999"/>
            <a:ext cx="5188859" cy="2376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799200" y="3887999"/>
            <a:ext cx="32400" cy="23760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022400" y="4075199"/>
            <a:ext cx="4742459" cy="223200"/>
          </a:xfrm>
          <a:prstGeom prst="rect">
            <a:avLst/>
          </a:prstGeom>
          <a:noFill/>
        </p:spPr>
        <p:txBody>
          <a:bodyPr wrap="square" anchor="t" lIns="0" rIns="0" tIns="0" bIns="0">
            <a:spAutoFit/>
          </a:bodyPr>
          <a:lstStyle/>
          <a:p>
            <a:pPr algn="l">
              <a:lnSpc>
                <a:spcPct val="125000"/>
              </a:lnSpc>
            </a:pPr>
            <a:r>
              <a:rPr sz="1550" b="1" i="0">
                <a:solidFill>
                  <a:srgbClr val="0E3F8C"/>
                </a:solidFill>
                <a:latin typeface="Source Han Sans SC"/>
              </a:rPr>
              <a:t>C · Name the winner and argue it</a:t>
            </a:r>
          </a:p>
        </p:txBody>
      </p:sp>
      <p:sp>
        <p:nvSpPr>
          <p:cNvPr id="22" name="TextBox 21"/>
          <p:cNvSpPr txBox="1"/>
          <p:nvPr/>
        </p:nvSpPr>
        <p:spPr>
          <a:xfrm>
            <a:off x="1022400" y="4305600"/>
            <a:ext cx="4742459" cy="151200"/>
          </a:xfrm>
          <a:prstGeom prst="rect">
            <a:avLst/>
          </a:prstGeom>
          <a:noFill/>
        </p:spPr>
        <p:txBody>
          <a:bodyPr wrap="square" anchor="t" lIns="0" rIns="0" tIns="0" bIns="0">
            <a:spAutoFit/>
          </a:bodyPr>
          <a:lstStyle/>
          <a:p>
            <a:pPr algn="l">
              <a:lnSpc>
                <a:spcPct val="125000"/>
              </a:lnSpc>
            </a:pPr>
            <a:r>
              <a:rPr sz="1100" b="1" i="0">
                <a:solidFill>
                  <a:srgbClr val="3D7BD9"/>
                </a:solidFill>
                <a:latin typeface="Source Han Sans SC"/>
              </a:rPr>
              <a:t>data, not preference</a:t>
            </a:r>
          </a:p>
        </p:txBody>
      </p:sp>
      <p:sp>
        <p:nvSpPr>
          <p:cNvPr id="23" name="TextBox 22"/>
          <p:cNvSpPr txBox="1"/>
          <p:nvPr/>
        </p:nvSpPr>
        <p:spPr>
          <a:xfrm>
            <a:off x="1022400" y="4507200"/>
            <a:ext cx="4742459" cy="1612799"/>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State the best combo (optimizer + learning rate)</a:t>
            </a:r>
          </a:p>
          <a:p>
            <a:pPr algn="l">
              <a:lnSpc>
                <a:spcPct val="140000"/>
              </a:lnSpc>
              <a:spcAft>
                <a:spcPts val="400"/>
              </a:spcAft>
            </a:pPr>
            <a:r>
              <a:rPr sz="1200" b="0" i="0">
                <a:solidFill>
                  <a:srgbClr val="1F2937"/>
                </a:solidFill>
                <a:latin typeface="Source Han Sans SC"/>
              </a:rPr>
              <a:t>• Back it with val metrics: lowest loss, highest accuracy</a:t>
            </a:r>
          </a:p>
          <a:p>
            <a:pPr algn="l">
              <a:lnSpc>
                <a:spcPct val="140000"/>
              </a:lnSpc>
              <a:spcAft>
                <a:spcPts val="400"/>
              </a:spcAft>
            </a:pPr>
            <a:r>
              <a:rPr sz="1200" b="0" i="0">
                <a:solidFill>
                  <a:srgbClr val="1F2937"/>
                </a:solidFill>
                <a:latin typeface="Source Han Sans SC"/>
              </a:rPr>
              <a:t>• Explain why it wins: adaptive step? momentum? the right size?</a:t>
            </a:r>
          </a:p>
          <a:p>
            <a:pPr algn="l">
              <a:lnSpc>
                <a:spcPct val="140000"/>
              </a:lnSpc>
              <a:spcAft>
                <a:spcPts val="400"/>
              </a:spcAft>
            </a:pPr>
            <a:r>
              <a:rPr sz="1200" b="0" i="0">
                <a:solidFill>
                  <a:srgbClr val="1F2937"/>
                </a:solidFill>
                <a:latin typeface="Source Han Sans SC"/>
              </a:rPr>
              <a:t>• Name the failing combos and their symptom (explode / crawl)</a:t>
            </a:r>
          </a:p>
        </p:txBody>
      </p:sp>
      <p:sp>
        <p:nvSpPr>
          <p:cNvPr id="24" name="Rectangle 23"/>
          <p:cNvSpPr/>
          <p:nvPr/>
        </p:nvSpPr>
        <p:spPr>
          <a:xfrm>
            <a:off x="6204059" y="3887999"/>
            <a:ext cx="5188859" cy="2376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6204059" y="3887999"/>
            <a:ext cx="32400" cy="23760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27259" y="4075199"/>
            <a:ext cx="4742459" cy="223200"/>
          </a:xfrm>
          <a:prstGeom prst="rect">
            <a:avLst/>
          </a:prstGeom>
          <a:noFill/>
        </p:spPr>
        <p:txBody>
          <a:bodyPr wrap="square" anchor="t" lIns="0" rIns="0" tIns="0" bIns="0">
            <a:spAutoFit/>
          </a:bodyPr>
          <a:lstStyle/>
          <a:p>
            <a:pPr algn="l">
              <a:lnSpc>
                <a:spcPct val="125000"/>
              </a:lnSpc>
            </a:pPr>
            <a:r>
              <a:rPr sz="1550" b="1" i="0">
                <a:solidFill>
                  <a:srgbClr val="0E3F8C"/>
                </a:solidFill>
                <a:latin typeface="Source Han Sans SC"/>
              </a:rPr>
              <a:t>D · One debugging log</a:t>
            </a:r>
          </a:p>
        </p:txBody>
      </p:sp>
      <p:sp>
        <p:nvSpPr>
          <p:cNvPr id="27" name="TextBox 26"/>
          <p:cNvSpPr txBox="1"/>
          <p:nvPr/>
        </p:nvSpPr>
        <p:spPr>
          <a:xfrm>
            <a:off x="6427259" y="4305600"/>
            <a:ext cx="4742459" cy="151200"/>
          </a:xfrm>
          <a:prstGeom prst="rect">
            <a:avLst/>
          </a:prstGeom>
          <a:noFill/>
        </p:spPr>
        <p:txBody>
          <a:bodyPr wrap="square" anchor="t" lIns="0" rIns="0" tIns="0" bIns="0">
            <a:spAutoFit/>
          </a:bodyPr>
          <a:lstStyle/>
          <a:p>
            <a:pPr algn="l">
              <a:lnSpc>
                <a:spcPct val="125000"/>
              </a:lnSpc>
            </a:pPr>
            <a:r>
              <a:rPr sz="1100" b="1" i="0">
                <a:solidFill>
                  <a:srgbClr val="3D7BD9"/>
                </a:solidFill>
                <a:latin typeface="Source Han Sans SC"/>
              </a:rPr>
              <a:t>hypothesis → test → conclusion</a:t>
            </a:r>
          </a:p>
        </p:txBody>
      </p:sp>
      <p:sp>
        <p:nvSpPr>
          <p:cNvPr id="28" name="TextBox 27"/>
          <p:cNvSpPr txBox="1"/>
          <p:nvPr/>
        </p:nvSpPr>
        <p:spPr>
          <a:xfrm>
            <a:off x="6427259" y="4507200"/>
            <a:ext cx="4742459" cy="1612799"/>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Pick a failing combo and start by checking the lr</a:t>
            </a:r>
          </a:p>
          <a:p>
            <a:pPr algn="l">
              <a:lnSpc>
                <a:spcPct val="140000"/>
              </a:lnSpc>
              <a:spcAft>
                <a:spcPts val="400"/>
              </a:spcAft>
            </a:pPr>
            <a:r>
              <a:rPr sz="1200" b="0" i="0">
                <a:solidFill>
                  <a:srgbClr val="1F2937"/>
                </a:solidFill>
                <a:latin typeface="Source Han Sans SC"/>
              </a:rPr>
              <a:t>• Then data (labels, scaling, split) and code (step order)</a:t>
            </a:r>
          </a:p>
          <a:p>
            <a:pPr algn="l">
              <a:lnSpc>
                <a:spcPct val="140000"/>
              </a:lnSpc>
              <a:spcAft>
                <a:spcPts val="400"/>
              </a:spcAft>
            </a:pPr>
            <a:r>
              <a:rPr sz="1200" b="0" i="0">
                <a:solidFill>
                  <a:srgbClr val="1F2937"/>
                </a:solidFill>
                <a:latin typeface="Source Han Sans SC"/>
              </a:rPr>
              <a:t>• Record each hypothesis, how you tested it, the conclusion</a:t>
            </a:r>
          </a:p>
          <a:p>
            <a:pPr algn="l">
              <a:lnSpc>
                <a:spcPct val="140000"/>
              </a:lnSpc>
              <a:spcAft>
                <a:spcPts val="400"/>
              </a:spcAft>
            </a:pPr>
            <a:r>
              <a:rPr sz="1200" b="0" i="0">
                <a:solidFill>
                  <a:srgbClr val="1F2937"/>
                </a:solidFill>
                <a:latin typeface="Source Han Sans SC"/>
              </a:rPr>
              <a:t>• Deliver: script + table + curves + debugging log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556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3 Optimizers x 3 Learning Rates: Illustrative Val-loss Curves</a:t>
            </a:r>
          </a:p>
        </p:txBody>
      </p:sp>
      <p:sp>
        <p:nvSpPr>
          <p:cNvPr id="6" name="TextBox 5"/>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Module 2 · Week 5</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5</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22 / 29</a:t>
            </a:r>
          </a:p>
        </p:txBody>
      </p:sp>
      <p:graphicFrame>
        <p:nvGraphicFramePr>
          <p:cNvPr id="9" name="Chart 8"/>
          <p:cNvGraphicFramePr>
            <a:graphicFrameLocks noGrp="1"/>
          </p:cNvGraphicFramePr>
          <p:nvPr/>
        </p:nvGraphicFramePr>
        <p:xfrm>
          <a:off x="799200" y="1152000"/>
          <a:ext cx="6840000" cy="4320000"/>
        </p:xfrm>
        <a:graphic>
          <a:graphicData uri="http://schemas.openxmlformats.org/drawingml/2006/chart">
            <c:chart xmlns:c="http://schemas.openxmlformats.org/drawingml/2006/chart" r:id="rId2"/>
          </a:graphicData>
        </a:graphic>
      </p:graphicFrame>
      <p:sp>
        <p:nvSpPr>
          <p:cNvPr id="10" name="TextBox 9"/>
          <p:cNvSpPr txBox="1"/>
          <p:nvPr/>
        </p:nvSpPr>
        <p:spPr>
          <a:xfrm>
            <a:off x="7963199" y="1259999"/>
            <a:ext cx="3429720" cy="3240000"/>
          </a:xfrm>
          <a:prstGeom prst="rect">
            <a:avLst/>
          </a:prstGeom>
          <a:noFill/>
        </p:spPr>
        <p:txBody>
          <a:bodyPr wrap="square" anchor="t" lIns="0" rIns="0" tIns="0" bIns="0">
            <a:spAutoFit/>
          </a:bodyPr>
          <a:lstStyle/>
          <a:p>
            <a:pPr algn="l">
              <a:lnSpc>
                <a:spcPct val="145000"/>
              </a:lnSpc>
              <a:spcAft>
                <a:spcPts val="800"/>
              </a:spcAft>
            </a:pPr>
            <a:r>
              <a:rPr sz="1250" b="0" i="0">
                <a:solidFill>
                  <a:srgbClr val="1F2937"/>
                </a:solidFill>
                <a:latin typeface="Source Han Sans SC"/>
              </a:rPr>
              <a:t>• At 1e-1 no optimizer converges → the lr dominates everything else</a:t>
            </a:r>
          </a:p>
          <a:p>
            <a:pPr algn="l">
              <a:lnSpc>
                <a:spcPct val="145000"/>
              </a:lnSpc>
              <a:spcAft>
                <a:spcPts val="800"/>
              </a:spcAft>
            </a:pPr>
            <a:r>
              <a:rPr sz="1250" b="0" i="0">
                <a:solidFill>
                  <a:srgbClr val="1F2937"/>
                </a:solidFill>
                <a:latin typeface="Source Han Sans SC"/>
              </a:rPr>
              <a:t>• At the same lr=1e-3 Adam is clearly faster than SGD → adaptive steps at work</a:t>
            </a:r>
          </a:p>
          <a:p>
            <a:pPr algn="l">
              <a:lnSpc>
                <a:spcPct val="145000"/>
              </a:lnSpc>
              <a:spcAft>
                <a:spcPts val="800"/>
              </a:spcAft>
            </a:pPr>
            <a:r>
              <a:rPr sz="1250" b="0" i="0">
                <a:solidFill>
                  <a:srgbClr val="1F2937"/>
                </a:solidFill>
                <a:latin typeface="Source Han Sans SC"/>
              </a:rPr>
              <a:t>• Momentum sits between them → inertia accelerates, it does not rescale</a:t>
            </a:r>
          </a:p>
          <a:p>
            <a:pPr algn="l">
              <a:lnSpc>
                <a:spcPct val="145000"/>
              </a:lnSpc>
              <a:spcAft>
                <a:spcPts val="800"/>
              </a:spcAft>
            </a:pPr>
            <a:r>
              <a:rPr sz="1250" b="0" i="0">
                <a:solidFill>
                  <a:srgbClr val="1F2937"/>
                </a:solidFill>
                <a:latin typeface="Source Han Sans SC"/>
              </a:rPr>
              <a:t>• These numbers are illustrative only; your own 9 runs are the evidence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556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Hyper-parameter Comparison Table (9 runs, to be filled in)</a:t>
            </a:r>
          </a:p>
        </p:txBody>
      </p:sp>
      <p:sp>
        <p:nvSpPr>
          <p:cNvPr id="6" name="TextBox 5"/>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Module 2 · Week 5</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5</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23 / 29</a:t>
            </a:r>
          </a:p>
        </p:txBody>
      </p:sp>
      <p:graphicFrame>
        <p:nvGraphicFramePr>
          <p:cNvPr id="9" name="Table 8"/>
          <p:cNvGraphicFramePr>
            <a:graphicFrameLocks noGrp="1"/>
          </p:cNvGraphicFramePr>
          <p:nvPr/>
        </p:nvGraphicFramePr>
        <p:xfrm>
          <a:off x="799200" y="1152000"/>
          <a:ext cx="10584000" cy="3960000"/>
        </p:xfrm>
        <a:graphic>
          <a:graphicData uri="http://schemas.openxmlformats.org/drawingml/2006/table">
            <a:tbl>
              <a:tblPr firstRow="1" bandRow="1">
                <a:tableStyleId>{5C22544A-7EE6-4342-B048-85BDC9FD1C3A}</a:tableStyleId>
              </a:tblPr>
              <a:tblGrid>
                <a:gridCol w="1152000"/>
                <a:gridCol w="2088000"/>
                <a:gridCol w="1296000"/>
                <a:gridCol w="1944000"/>
                <a:gridCol w="1872000"/>
                <a:gridCol w="2232000"/>
              </a:tblGrid>
              <a:tr h="396000">
                <a:tc>
                  <a:txBody>
                    <a:bodyPr/>
                    <a:lstStyle/>
                    <a:p>
                      <a:r>
                        <a:rPr sz="1150" b="1">
                          <a:solidFill>
                            <a:srgbClr val="FFFFFF"/>
                          </a:solidFill>
                          <a:latin typeface="Source Han Sans SC"/>
                        </a:rPr>
                        <a:t>#</a:t>
                      </a:r>
                    </a:p>
                  </a:txBody>
                  <a:tcPr>
                    <a:solidFill>
                      <a:srgbClr val="0E3F8C"/>
                    </a:solidFill>
                  </a:tcPr>
                </a:tc>
                <a:tc>
                  <a:txBody>
                    <a:bodyPr/>
                    <a:lstStyle/>
                    <a:p>
                      <a:r>
                        <a:rPr sz="1150" b="1">
                          <a:solidFill>
                            <a:srgbClr val="FFFFFF"/>
                          </a:solidFill>
                          <a:latin typeface="Source Han Sans SC"/>
                        </a:rPr>
                        <a:t>Optimizer</a:t>
                      </a:r>
                    </a:p>
                  </a:txBody>
                  <a:tcPr>
                    <a:solidFill>
                      <a:srgbClr val="0E3F8C"/>
                    </a:solidFill>
                  </a:tcPr>
                </a:tc>
                <a:tc>
                  <a:txBody>
                    <a:bodyPr/>
                    <a:lstStyle/>
                    <a:p>
                      <a:r>
                        <a:rPr sz="1150" b="1">
                          <a:solidFill>
                            <a:srgbClr val="FFFFFF"/>
                          </a:solidFill>
                          <a:latin typeface="Source Han Sans SC"/>
                        </a:rPr>
                        <a:t>lr</a:t>
                      </a:r>
                    </a:p>
                  </a:txBody>
                  <a:tcPr>
                    <a:solidFill>
                      <a:srgbClr val="0E3F8C"/>
                    </a:solidFill>
                  </a:tcPr>
                </a:tc>
                <a:tc>
                  <a:txBody>
                    <a:bodyPr/>
                    <a:lstStyle/>
                    <a:p>
                      <a:r>
                        <a:rPr sz="1150" b="1">
                          <a:solidFill>
                            <a:srgbClr val="FFFFFF"/>
                          </a:solidFill>
                          <a:latin typeface="Source Han Sans SC"/>
                        </a:rPr>
                        <a:t>Min val loss</a:t>
                      </a:r>
                    </a:p>
                  </a:txBody>
                  <a:tcPr>
                    <a:solidFill>
                      <a:srgbClr val="0E3F8C"/>
                    </a:solidFill>
                  </a:tcPr>
                </a:tc>
                <a:tc>
                  <a:txBody>
                    <a:bodyPr/>
                    <a:lstStyle/>
                    <a:p>
                      <a:r>
                        <a:rPr sz="1150" b="1">
                          <a:solidFill>
                            <a:srgbClr val="FFFFFF"/>
                          </a:solidFill>
                          <a:latin typeface="Source Han Sans SC"/>
                        </a:rPr>
                        <a:t>Max val acc</a:t>
                      </a:r>
                    </a:p>
                  </a:txBody>
                  <a:tcPr>
                    <a:solidFill>
                      <a:srgbClr val="0E3F8C"/>
                    </a:solidFill>
                  </a:tcPr>
                </a:tc>
                <a:tc>
                  <a:txBody>
                    <a:bodyPr/>
                    <a:lstStyle/>
                    <a:p>
                      <a:r>
                        <a:rPr sz="1150" b="1">
                          <a:solidFill>
                            <a:srgbClr val="FFFFFF"/>
                          </a:solidFill>
                          <a:latin typeface="Source Han Sans SC"/>
                        </a:rPr>
                        <a:t>Converged?</a:t>
                      </a:r>
                    </a:p>
                  </a:txBody>
                  <a:tcPr>
                    <a:solidFill>
                      <a:srgbClr val="0E3F8C"/>
                    </a:solidFill>
                  </a:tcPr>
                </a:tc>
              </a:tr>
              <a:tr h="396000">
                <a:tc>
                  <a:txBody>
                    <a:bodyPr/>
                    <a:lstStyle/>
                    <a:p>
                      <a:r>
                        <a:rPr sz="1050" b="1">
                          <a:solidFill>
                            <a:srgbClr val="1F2937"/>
                          </a:solidFill>
                          <a:latin typeface="Source Han Sans SC"/>
                        </a:rPr>
                        <a:t>1</a:t>
                      </a:r>
                    </a:p>
                  </a:txBody>
                  <a:tcPr>
                    <a:solidFill>
                      <a:srgbClr val="FFFFFF"/>
                    </a:solidFill>
                  </a:tcPr>
                </a:tc>
                <a:tc>
                  <a:txBody>
                    <a:bodyPr/>
                    <a:lstStyle/>
                    <a:p>
                      <a:r>
                        <a:rPr sz="1050">
                          <a:solidFill>
                            <a:srgbClr val="1F2937"/>
                          </a:solidFill>
                          <a:latin typeface="Source Han Sans SC"/>
                        </a:rPr>
                        <a:t>SGD</a:t>
                      </a:r>
                    </a:p>
                  </a:txBody>
                  <a:tcPr>
                    <a:solidFill>
                      <a:srgbClr val="FFFFFF"/>
                    </a:solidFill>
                  </a:tcPr>
                </a:tc>
                <a:tc>
                  <a:txBody>
                    <a:bodyPr/>
                    <a:lstStyle/>
                    <a:p>
                      <a:r>
                        <a:rPr sz="1050">
                          <a:solidFill>
                            <a:srgbClr val="1F2937"/>
                          </a:solidFill>
                          <a:latin typeface="Source Han Sans SC"/>
                        </a:rPr>
                        <a:t>1e-1</a:t>
                      </a:r>
                    </a:p>
                  </a:txBody>
                  <a:tcPr>
                    <a:solidFill>
                      <a:srgbClr val="FFFFFF"/>
                    </a:solidFill>
                  </a:tcPr>
                </a:tc>
                <a:tc>
                  <a:txBody>
                    <a:bodyPr/>
                    <a:lstStyle/>
                    <a:p>
                      <a:r>
                        <a:rPr sz="1050">
                          <a:solidFill>
                            <a:srgbClr val="1F2937"/>
                          </a:solidFill>
                          <a:latin typeface="Source Han Sans SC"/>
                        </a:rPr>
                        <a:t>2.31 (diverged)</a:t>
                      </a:r>
                    </a:p>
                  </a:txBody>
                  <a:tcPr>
                    <a:solidFill>
                      <a:srgbClr val="FFFFFF"/>
                    </a:solidFill>
                  </a:tcPr>
                </a:tc>
                <a:tc>
                  <a:txBody>
                    <a:bodyPr/>
                    <a:lstStyle/>
                    <a:p>
                      <a:r>
                        <a:rPr sz="1050">
                          <a:solidFill>
                            <a:srgbClr val="1F2937"/>
                          </a:solidFill>
                          <a:latin typeface="Source Han Sans SC"/>
                        </a:rPr>
                        <a:t>0.10</a:t>
                      </a:r>
                    </a:p>
                  </a:txBody>
                  <a:tcPr>
                    <a:solidFill>
                      <a:srgbClr val="FFFFFF"/>
                    </a:solidFill>
                  </a:tcPr>
                </a:tc>
                <a:tc>
                  <a:txBody>
                    <a:bodyPr/>
                    <a:lstStyle/>
                    <a:p>
                      <a:r>
                        <a:rPr sz="1050">
                          <a:solidFill>
                            <a:srgbClr val="1F2937"/>
                          </a:solidFill>
                          <a:latin typeface="Source Han Sans SC"/>
                        </a:rPr>
                        <a:t>No</a:t>
                      </a:r>
                    </a:p>
                  </a:txBody>
                  <a:tcPr>
                    <a:solidFill>
                      <a:srgbClr val="FFFFFF"/>
                    </a:solidFill>
                  </a:tcPr>
                </a:tc>
              </a:tr>
              <a:tr h="396000">
                <a:tc>
                  <a:txBody>
                    <a:bodyPr/>
                    <a:lstStyle/>
                    <a:p>
                      <a:r>
                        <a:rPr sz="1050" b="1">
                          <a:solidFill>
                            <a:srgbClr val="1F2937"/>
                          </a:solidFill>
                          <a:latin typeface="Source Han Sans SC"/>
                        </a:rPr>
                        <a:t>2</a:t>
                      </a:r>
                    </a:p>
                  </a:txBody>
                  <a:tcPr>
                    <a:solidFill>
                      <a:srgbClr val="F0F5FC"/>
                    </a:solidFill>
                  </a:tcPr>
                </a:tc>
                <a:tc>
                  <a:txBody>
                    <a:bodyPr/>
                    <a:lstStyle/>
                    <a:p>
                      <a:r>
                        <a:rPr sz="1050">
                          <a:solidFill>
                            <a:srgbClr val="1F2937"/>
                          </a:solidFill>
                          <a:latin typeface="Source Han Sans SC"/>
                        </a:rPr>
                        <a:t>SGD</a:t>
                      </a:r>
                    </a:p>
                  </a:txBody>
                  <a:tcPr>
                    <a:solidFill>
                      <a:srgbClr val="F0F5FC"/>
                    </a:solidFill>
                  </a:tcPr>
                </a:tc>
                <a:tc>
                  <a:txBody>
                    <a:bodyPr/>
                    <a:lstStyle/>
                    <a:p>
                      <a:r>
                        <a:rPr sz="1050">
                          <a:solidFill>
                            <a:srgbClr val="1F2937"/>
                          </a:solidFill>
                          <a:latin typeface="Source Han Sans SC"/>
                        </a:rPr>
                        <a:t>1e-3</a:t>
                      </a:r>
                    </a:p>
                  </a:txBody>
                  <a:tcPr>
                    <a:solidFill>
                      <a:srgbClr val="F0F5FC"/>
                    </a:solidFill>
                  </a:tcPr>
                </a:tc>
                <a:tc>
                  <a:txBody>
                    <a:bodyPr/>
                    <a:lstStyle/>
                    <a:p>
                      <a:r>
                        <a:rPr sz="1050">
                          <a:solidFill>
                            <a:srgbClr val="1F2937"/>
                          </a:solidFill>
                          <a:latin typeface="Source Han Sans SC"/>
                        </a:rPr>
                        <a:t>1.56</a:t>
                      </a:r>
                    </a:p>
                  </a:txBody>
                  <a:tcPr>
                    <a:solidFill>
                      <a:srgbClr val="F0F5FC"/>
                    </a:solidFill>
                  </a:tcPr>
                </a:tc>
                <a:tc>
                  <a:txBody>
                    <a:bodyPr/>
                    <a:lstStyle/>
                    <a:p>
                      <a:r>
                        <a:rPr sz="1050">
                          <a:solidFill>
                            <a:srgbClr val="1F2937"/>
                          </a:solidFill>
                          <a:latin typeface="Source Han Sans SC"/>
                        </a:rPr>
                        <a:t>0.62</a:t>
                      </a:r>
                    </a:p>
                  </a:txBody>
                  <a:tcPr>
                    <a:solidFill>
                      <a:srgbClr val="F0F5FC"/>
                    </a:solidFill>
                  </a:tcPr>
                </a:tc>
                <a:tc>
                  <a:txBody>
                    <a:bodyPr/>
                    <a:lstStyle/>
                    <a:p>
                      <a:r>
                        <a:rPr sz="1050">
                          <a:solidFill>
                            <a:srgbClr val="1F2937"/>
                          </a:solidFill>
                          <a:latin typeface="Source Han Sans SC"/>
                        </a:rPr>
                        <a:t>Too slow</a:t>
                      </a:r>
                    </a:p>
                  </a:txBody>
                  <a:tcPr>
                    <a:solidFill>
                      <a:srgbClr val="F0F5FC"/>
                    </a:solidFill>
                  </a:tcPr>
                </a:tc>
              </a:tr>
              <a:tr h="396000">
                <a:tc>
                  <a:txBody>
                    <a:bodyPr/>
                    <a:lstStyle/>
                    <a:p>
                      <a:r>
                        <a:rPr sz="1050" b="1">
                          <a:solidFill>
                            <a:srgbClr val="1F2937"/>
                          </a:solidFill>
                          <a:latin typeface="Source Han Sans SC"/>
                        </a:rPr>
                        <a:t>3</a:t>
                      </a:r>
                    </a:p>
                  </a:txBody>
                  <a:tcPr>
                    <a:solidFill>
                      <a:srgbClr val="FFFFFF"/>
                    </a:solidFill>
                  </a:tcPr>
                </a:tc>
                <a:tc>
                  <a:txBody>
                    <a:bodyPr/>
                    <a:lstStyle/>
                    <a:p>
                      <a:r>
                        <a:rPr sz="1050">
                          <a:solidFill>
                            <a:srgbClr val="1F2937"/>
                          </a:solidFill>
                          <a:latin typeface="Source Han Sans SC"/>
                        </a:rPr>
                        <a:t>SGD</a:t>
                      </a:r>
                    </a:p>
                  </a:txBody>
                  <a:tcPr>
                    <a:solidFill>
                      <a:srgbClr val="FFFFFF"/>
                    </a:solidFill>
                  </a:tcPr>
                </a:tc>
                <a:tc>
                  <a:txBody>
                    <a:bodyPr/>
                    <a:lstStyle/>
                    <a:p>
                      <a:r>
                        <a:rPr sz="1050">
                          <a:solidFill>
                            <a:srgbClr val="1F2937"/>
                          </a:solidFill>
                          <a:latin typeface="Source Han Sans SC"/>
                        </a:rPr>
                        <a:t>1e-5</a:t>
                      </a:r>
                    </a:p>
                  </a:txBody>
                  <a:tcPr>
                    <a:solidFill>
                      <a:srgbClr val="FFFFFF"/>
                    </a:solidFill>
                  </a:tcPr>
                </a:tc>
                <a:tc>
                  <a:txBody>
                    <a:bodyPr/>
                    <a:lstStyle/>
                    <a:p>
                      <a:r>
                        <a:rPr sz="1050">
                          <a:solidFill>
                            <a:srgbClr val="1F2937"/>
                          </a:solidFill>
                          <a:latin typeface="Source Han Sans SC"/>
                        </a:rPr>
                        <a:t>2.28</a:t>
                      </a:r>
                    </a:p>
                  </a:txBody>
                  <a:tcPr>
                    <a:solidFill>
                      <a:srgbClr val="FFFFFF"/>
                    </a:solidFill>
                  </a:tcPr>
                </a:tc>
                <a:tc>
                  <a:txBody>
                    <a:bodyPr/>
                    <a:lstStyle/>
                    <a:p>
                      <a:r>
                        <a:rPr sz="1050">
                          <a:solidFill>
                            <a:srgbClr val="1F2937"/>
                          </a:solidFill>
                          <a:latin typeface="Source Han Sans SC"/>
                        </a:rPr>
                        <a:t>0.11</a:t>
                      </a:r>
                    </a:p>
                  </a:txBody>
                  <a:tcPr>
                    <a:solidFill>
                      <a:srgbClr val="FFFFFF"/>
                    </a:solidFill>
                  </a:tcPr>
                </a:tc>
                <a:tc>
                  <a:txBody>
                    <a:bodyPr/>
                    <a:lstStyle/>
                    <a:p>
                      <a:r>
                        <a:rPr sz="1050">
                          <a:solidFill>
                            <a:srgbClr val="1F2937"/>
                          </a:solidFill>
                          <a:latin typeface="Source Han Sans SC"/>
                        </a:rPr>
                        <a:t>No</a:t>
                      </a:r>
                    </a:p>
                  </a:txBody>
                  <a:tcPr>
                    <a:solidFill>
                      <a:srgbClr val="FFFFFF"/>
                    </a:solidFill>
                  </a:tcPr>
                </a:tc>
              </a:tr>
              <a:tr h="396000">
                <a:tc>
                  <a:txBody>
                    <a:bodyPr/>
                    <a:lstStyle/>
                    <a:p>
                      <a:r>
                        <a:rPr sz="1050" b="1">
                          <a:solidFill>
                            <a:srgbClr val="1F2937"/>
                          </a:solidFill>
                          <a:latin typeface="Source Han Sans SC"/>
                        </a:rPr>
                        <a:t>4</a:t>
                      </a:r>
                    </a:p>
                  </a:txBody>
                  <a:tcPr>
                    <a:solidFill>
                      <a:srgbClr val="F0F5FC"/>
                    </a:solidFill>
                  </a:tcPr>
                </a:tc>
                <a:tc>
                  <a:txBody>
                    <a:bodyPr/>
                    <a:lstStyle/>
                    <a:p>
                      <a:r>
                        <a:rPr sz="1050">
                          <a:solidFill>
                            <a:srgbClr val="1F2937"/>
                          </a:solidFill>
                          <a:latin typeface="Source Han Sans SC"/>
                        </a:rPr>
                        <a:t>Momentum</a:t>
                      </a:r>
                    </a:p>
                  </a:txBody>
                  <a:tcPr>
                    <a:solidFill>
                      <a:srgbClr val="F0F5FC"/>
                    </a:solidFill>
                  </a:tcPr>
                </a:tc>
                <a:tc>
                  <a:txBody>
                    <a:bodyPr/>
                    <a:lstStyle/>
                    <a:p>
                      <a:r>
                        <a:rPr sz="1050">
                          <a:solidFill>
                            <a:srgbClr val="1F2937"/>
                          </a:solidFill>
                          <a:latin typeface="Source Han Sans SC"/>
                        </a:rPr>
                        <a:t>1e-1</a:t>
                      </a:r>
                    </a:p>
                  </a:txBody>
                  <a:tcPr>
                    <a:solidFill>
                      <a:srgbClr val="F0F5FC"/>
                    </a:solidFill>
                  </a:tcPr>
                </a:tc>
                <a:tc>
                  <a:txBody>
                    <a:bodyPr/>
                    <a:lstStyle/>
                    <a:p>
                      <a:r>
                        <a:rPr sz="1050">
                          <a:solidFill>
                            <a:srgbClr val="1F2937"/>
                          </a:solidFill>
                          <a:latin typeface="Source Han Sans SC"/>
                        </a:rPr>
                        <a:t>2.44 (oscillates)</a:t>
                      </a:r>
                    </a:p>
                  </a:txBody>
                  <a:tcPr>
                    <a:solidFill>
                      <a:srgbClr val="F0F5FC"/>
                    </a:solidFill>
                  </a:tcPr>
                </a:tc>
                <a:tc>
                  <a:txBody>
                    <a:bodyPr/>
                    <a:lstStyle/>
                    <a:p>
                      <a:r>
                        <a:rPr sz="1050">
                          <a:solidFill>
                            <a:srgbClr val="1F2937"/>
                          </a:solidFill>
                          <a:latin typeface="Source Han Sans SC"/>
                        </a:rPr>
                        <a:t>0.10</a:t>
                      </a:r>
                    </a:p>
                  </a:txBody>
                  <a:tcPr>
                    <a:solidFill>
                      <a:srgbClr val="F0F5FC"/>
                    </a:solidFill>
                  </a:tcPr>
                </a:tc>
                <a:tc>
                  <a:txBody>
                    <a:bodyPr/>
                    <a:lstStyle/>
                    <a:p>
                      <a:r>
                        <a:rPr sz="1050">
                          <a:solidFill>
                            <a:srgbClr val="1F2937"/>
                          </a:solidFill>
                          <a:latin typeface="Source Han Sans SC"/>
                        </a:rPr>
                        <a:t>No</a:t>
                      </a:r>
                    </a:p>
                  </a:txBody>
                  <a:tcPr>
                    <a:solidFill>
                      <a:srgbClr val="F0F5FC"/>
                    </a:solidFill>
                  </a:tcPr>
                </a:tc>
              </a:tr>
              <a:tr h="396000">
                <a:tc>
                  <a:txBody>
                    <a:bodyPr/>
                    <a:lstStyle/>
                    <a:p>
                      <a:r>
                        <a:rPr sz="1050" b="1">
                          <a:solidFill>
                            <a:srgbClr val="1F2937"/>
                          </a:solidFill>
                          <a:latin typeface="Source Han Sans SC"/>
                        </a:rPr>
                        <a:t>5</a:t>
                      </a:r>
                    </a:p>
                  </a:txBody>
                  <a:tcPr>
                    <a:solidFill>
                      <a:srgbClr val="FFFFFF"/>
                    </a:solidFill>
                  </a:tcPr>
                </a:tc>
                <a:tc>
                  <a:txBody>
                    <a:bodyPr/>
                    <a:lstStyle/>
                    <a:p>
                      <a:r>
                        <a:rPr sz="1050">
                          <a:solidFill>
                            <a:srgbClr val="1F2937"/>
                          </a:solidFill>
                          <a:latin typeface="Source Han Sans SC"/>
                        </a:rPr>
                        <a:t>Momentum</a:t>
                      </a:r>
                    </a:p>
                  </a:txBody>
                  <a:tcPr>
                    <a:solidFill>
                      <a:srgbClr val="FFFFFF"/>
                    </a:solidFill>
                  </a:tcPr>
                </a:tc>
                <a:tc>
                  <a:txBody>
                    <a:bodyPr/>
                    <a:lstStyle/>
                    <a:p>
                      <a:r>
                        <a:rPr sz="1050">
                          <a:solidFill>
                            <a:srgbClr val="1F2937"/>
                          </a:solidFill>
                          <a:latin typeface="Source Han Sans SC"/>
                        </a:rPr>
                        <a:t>1e-3</a:t>
                      </a:r>
                    </a:p>
                  </a:txBody>
                  <a:tcPr>
                    <a:solidFill>
                      <a:srgbClr val="FFFFFF"/>
                    </a:solidFill>
                  </a:tcPr>
                </a:tc>
                <a:tc>
                  <a:txBody>
                    <a:bodyPr/>
                    <a:lstStyle/>
                    <a:p>
                      <a:r>
                        <a:rPr sz="1050">
                          <a:solidFill>
                            <a:srgbClr val="1F2937"/>
                          </a:solidFill>
                          <a:latin typeface="Source Han Sans SC"/>
                        </a:rPr>
                        <a:t>0.22</a:t>
                      </a:r>
                    </a:p>
                  </a:txBody>
                  <a:tcPr>
                    <a:solidFill>
                      <a:srgbClr val="FFFFFF"/>
                    </a:solidFill>
                  </a:tcPr>
                </a:tc>
                <a:tc>
                  <a:txBody>
                    <a:bodyPr/>
                    <a:lstStyle/>
                    <a:p>
                      <a:r>
                        <a:rPr sz="1050">
                          <a:solidFill>
                            <a:srgbClr val="1F2937"/>
                          </a:solidFill>
                          <a:latin typeface="Source Han Sans SC"/>
                        </a:rPr>
                        <a:t>0.94</a:t>
                      </a:r>
                    </a:p>
                  </a:txBody>
                  <a:tcPr>
                    <a:solidFill>
                      <a:srgbClr val="FFFFFF"/>
                    </a:solidFill>
                  </a:tcPr>
                </a:tc>
                <a:tc>
                  <a:txBody>
                    <a:bodyPr/>
                    <a:lstStyle/>
                    <a:p>
                      <a:r>
                        <a:rPr sz="1050">
                          <a:solidFill>
                            <a:srgbClr val="1F2937"/>
                          </a:solidFill>
                          <a:latin typeface="Source Han Sans SC"/>
                        </a:rPr>
                        <a:t>Yes</a:t>
                      </a:r>
                    </a:p>
                  </a:txBody>
                  <a:tcPr>
                    <a:solidFill>
                      <a:srgbClr val="FFFFFF"/>
                    </a:solidFill>
                  </a:tcPr>
                </a:tc>
              </a:tr>
              <a:tr h="396000">
                <a:tc>
                  <a:txBody>
                    <a:bodyPr/>
                    <a:lstStyle/>
                    <a:p>
                      <a:r>
                        <a:rPr sz="1050" b="1">
                          <a:solidFill>
                            <a:srgbClr val="1F2937"/>
                          </a:solidFill>
                          <a:latin typeface="Source Han Sans SC"/>
                        </a:rPr>
                        <a:t>6</a:t>
                      </a:r>
                    </a:p>
                  </a:txBody>
                  <a:tcPr>
                    <a:solidFill>
                      <a:srgbClr val="F0F5FC"/>
                    </a:solidFill>
                  </a:tcPr>
                </a:tc>
                <a:tc>
                  <a:txBody>
                    <a:bodyPr/>
                    <a:lstStyle/>
                    <a:p>
                      <a:r>
                        <a:rPr sz="1050">
                          <a:solidFill>
                            <a:srgbClr val="1F2937"/>
                          </a:solidFill>
                          <a:latin typeface="Source Han Sans SC"/>
                        </a:rPr>
                        <a:t>Momentum</a:t>
                      </a:r>
                    </a:p>
                  </a:txBody>
                  <a:tcPr>
                    <a:solidFill>
                      <a:srgbClr val="F0F5FC"/>
                    </a:solidFill>
                  </a:tcPr>
                </a:tc>
                <a:tc>
                  <a:txBody>
                    <a:bodyPr/>
                    <a:lstStyle/>
                    <a:p>
                      <a:r>
                        <a:rPr sz="1050">
                          <a:solidFill>
                            <a:srgbClr val="1F2937"/>
                          </a:solidFill>
                          <a:latin typeface="Source Han Sans SC"/>
                        </a:rPr>
                        <a:t>1e-5</a:t>
                      </a:r>
                    </a:p>
                  </a:txBody>
                  <a:tcPr>
                    <a:solidFill>
                      <a:srgbClr val="F0F5FC"/>
                    </a:solidFill>
                  </a:tcPr>
                </a:tc>
                <a:tc>
                  <a:txBody>
                    <a:bodyPr/>
                    <a:lstStyle/>
                    <a:p>
                      <a:r>
                        <a:rPr sz="1050">
                          <a:solidFill>
                            <a:srgbClr val="1F2937"/>
                          </a:solidFill>
                          <a:latin typeface="Source Han Sans SC"/>
                        </a:rPr>
                        <a:t>2.19</a:t>
                      </a:r>
                    </a:p>
                  </a:txBody>
                  <a:tcPr>
                    <a:solidFill>
                      <a:srgbClr val="F0F5FC"/>
                    </a:solidFill>
                  </a:tcPr>
                </a:tc>
                <a:tc>
                  <a:txBody>
                    <a:bodyPr/>
                    <a:lstStyle/>
                    <a:p>
                      <a:r>
                        <a:rPr sz="1050">
                          <a:solidFill>
                            <a:srgbClr val="1F2937"/>
                          </a:solidFill>
                          <a:latin typeface="Source Han Sans SC"/>
                        </a:rPr>
                        <a:t>0.24</a:t>
                      </a:r>
                    </a:p>
                  </a:txBody>
                  <a:tcPr>
                    <a:solidFill>
                      <a:srgbClr val="F0F5FC"/>
                    </a:solidFill>
                  </a:tcPr>
                </a:tc>
                <a:tc>
                  <a:txBody>
                    <a:bodyPr/>
                    <a:lstStyle/>
                    <a:p>
                      <a:r>
                        <a:rPr sz="1050">
                          <a:solidFill>
                            <a:srgbClr val="1F2937"/>
                          </a:solidFill>
                          <a:latin typeface="Source Han Sans SC"/>
                        </a:rPr>
                        <a:t>Too slow</a:t>
                      </a:r>
                    </a:p>
                  </a:txBody>
                  <a:tcPr>
                    <a:solidFill>
                      <a:srgbClr val="F0F5FC"/>
                    </a:solidFill>
                  </a:tcPr>
                </a:tc>
              </a:tr>
              <a:tr h="396000">
                <a:tc>
                  <a:txBody>
                    <a:bodyPr/>
                    <a:lstStyle/>
                    <a:p>
                      <a:r>
                        <a:rPr sz="1050" b="1">
                          <a:solidFill>
                            <a:srgbClr val="1F2937"/>
                          </a:solidFill>
                          <a:latin typeface="Source Han Sans SC"/>
                        </a:rPr>
                        <a:t>7</a:t>
                      </a:r>
                    </a:p>
                  </a:txBody>
                  <a:tcPr>
                    <a:solidFill>
                      <a:srgbClr val="FFFFFF"/>
                    </a:solidFill>
                  </a:tcPr>
                </a:tc>
                <a:tc>
                  <a:txBody>
                    <a:bodyPr/>
                    <a:lstStyle/>
                    <a:p>
                      <a:r>
                        <a:rPr sz="1050">
                          <a:solidFill>
                            <a:srgbClr val="1F2937"/>
                          </a:solidFill>
                          <a:latin typeface="Source Han Sans SC"/>
                        </a:rPr>
                        <a:t>Adam</a:t>
                      </a:r>
                    </a:p>
                  </a:txBody>
                  <a:tcPr>
                    <a:solidFill>
                      <a:srgbClr val="FFFFFF"/>
                    </a:solidFill>
                  </a:tcPr>
                </a:tc>
                <a:tc>
                  <a:txBody>
                    <a:bodyPr/>
                    <a:lstStyle/>
                    <a:p>
                      <a:r>
                        <a:rPr sz="1050">
                          <a:solidFill>
                            <a:srgbClr val="1F2937"/>
                          </a:solidFill>
                          <a:latin typeface="Source Han Sans SC"/>
                        </a:rPr>
                        <a:t>1e-1</a:t>
                      </a:r>
                    </a:p>
                  </a:txBody>
                  <a:tcPr>
                    <a:solidFill>
                      <a:srgbClr val="FFFFFF"/>
                    </a:solidFill>
                  </a:tcPr>
                </a:tc>
                <a:tc>
                  <a:txBody>
                    <a:bodyPr/>
                    <a:lstStyle/>
                    <a:p>
                      <a:r>
                        <a:rPr sz="1050">
                          <a:solidFill>
                            <a:srgbClr val="1F2937"/>
                          </a:solidFill>
                          <a:latin typeface="Source Han Sans SC"/>
                        </a:rPr>
                        <a:t>2.51 (exploded)</a:t>
                      </a:r>
                    </a:p>
                  </a:txBody>
                  <a:tcPr>
                    <a:solidFill>
                      <a:srgbClr val="FFFFFF"/>
                    </a:solidFill>
                  </a:tcPr>
                </a:tc>
                <a:tc>
                  <a:txBody>
                    <a:bodyPr/>
                    <a:lstStyle/>
                    <a:p>
                      <a:r>
                        <a:rPr sz="1050">
                          <a:solidFill>
                            <a:srgbClr val="1F2937"/>
                          </a:solidFill>
                          <a:latin typeface="Source Han Sans SC"/>
                        </a:rPr>
                        <a:t>0.10</a:t>
                      </a:r>
                    </a:p>
                  </a:txBody>
                  <a:tcPr>
                    <a:solidFill>
                      <a:srgbClr val="FFFFFF"/>
                    </a:solidFill>
                  </a:tcPr>
                </a:tc>
                <a:tc>
                  <a:txBody>
                    <a:bodyPr/>
                    <a:lstStyle/>
                    <a:p>
                      <a:r>
                        <a:rPr sz="1050">
                          <a:solidFill>
                            <a:srgbClr val="1F2937"/>
                          </a:solidFill>
                          <a:latin typeface="Source Han Sans SC"/>
                        </a:rPr>
                        <a:t>No</a:t>
                      </a:r>
                    </a:p>
                  </a:txBody>
                  <a:tcPr>
                    <a:solidFill>
                      <a:srgbClr val="FFFFFF"/>
                    </a:solidFill>
                  </a:tcPr>
                </a:tc>
              </a:tr>
              <a:tr h="396000">
                <a:tc>
                  <a:txBody>
                    <a:bodyPr/>
                    <a:lstStyle/>
                    <a:p>
                      <a:r>
                        <a:rPr sz="1050" b="1">
                          <a:solidFill>
                            <a:srgbClr val="1F2937"/>
                          </a:solidFill>
                          <a:latin typeface="Source Han Sans SC"/>
                        </a:rPr>
                        <a:t>8</a:t>
                      </a:r>
                    </a:p>
                  </a:txBody>
                  <a:tcPr>
                    <a:solidFill>
                      <a:srgbClr val="F0F5FC"/>
                    </a:solidFill>
                  </a:tcPr>
                </a:tc>
                <a:tc>
                  <a:txBody>
                    <a:bodyPr/>
                    <a:lstStyle/>
                    <a:p>
                      <a:r>
                        <a:rPr sz="1050">
                          <a:solidFill>
                            <a:srgbClr val="1F2937"/>
                          </a:solidFill>
                          <a:latin typeface="Source Han Sans SC"/>
                        </a:rPr>
                        <a:t>Adam</a:t>
                      </a:r>
                    </a:p>
                  </a:txBody>
                  <a:tcPr>
                    <a:solidFill>
                      <a:srgbClr val="F0F5FC"/>
                    </a:solidFill>
                  </a:tcPr>
                </a:tc>
                <a:tc>
                  <a:txBody>
                    <a:bodyPr/>
                    <a:lstStyle/>
                    <a:p>
                      <a:r>
                        <a:rPr sz="1050">
                          <a:solidFill>
                            <a:srgbClr val="1F2937"/>
                          </a:solidFill>
                          <a:latin typeface="Source Han Sans SC"/>
                        </a:rPr>
                        <a:t>1e-3</a:t>
                      </a:r>
                    </a:p>
                  </a:txBody>
                  <a:tcPr>
                    <a:solidFill>
                      <a:srgbClr val="F0F5FC"/>
                    </a:solidFill>
                  </a:tcPr>
                </a:tc>
                <a:tc>
                  <a:txBody>
                    <a:bodyPr/>
                    <a:lstStyle/>
                    <a:p>
                      <a:r>
                        <a:rPr sz="1050">
                          <a:solidFill>
                            <a:srgbClr val="1F2937"/>
                          </a:solidFill>
                          <a:latin typeface="Source Han Sans SC"/>
                        </a:rPr>
                        <a:t>0.13</a:t>
                      </a:r>
                    </a:p>
                  </a:txBody>
                  <a:tcPr>
                    <a:solidFill>
                      <a:srgbClr val="F0F5FC"/>
                    </a:solidFill>
                  </a:tcPr>
                </a:tc>
                <a:tc>
                  <a:txBody>
                    <a:bodyPr/>
                    <a:lstStyle/>
                    <a:p>
                      <a:r>
                        <a:rPr sz="1050">
                          <a:solidFill>
                            <a:srgbClr val="1F2937"/>
                          </a:solidFill>
                          <a:latin typeface="Source Han Sans SC"/>
                        </a:rPr>
                        <a:t>0.97</a:t>
                      </a:r>
                    </a:p>
                  </a:txBody>
                  <a:tcPr>
                    <a:solidFill>
                      <a:srgbClr val="F0F5FC"/>
                    </a:solidFill>
                  </a:tcPr>
                </a:tc>
                <a:tc>
                  <a:txBody>
                    <a:bodyPr/>
                    <a:lstStyle/>
                    <a:p>
                      <a:r>
                        <a:rPr sz="1050">
                          <a:solidFill>
                            <a:srgbClr val="1F2937"/>
                          </a:solidFill>
                          <a:latin typeface="Source Han Sans SC"/>
                        </a:rPr>
                        <a:t>Yes (best)</a:t>
                      </a:r>
                    </a:p>
                  </a:txBody>
                  <a:tcPr>
                    <a:solidFill>
                      <a:srgbClr val="F0F5FC"/>
                    </a:solidFill>
                  </a:tcPr>
                </a:tc>
              </a:tr>
              <a:tr h="396000">
                <a:tc>
                  <a:txBody>
                    <a:bodyPr/>
                    <a:lstStyle/>
                    <a:p>
                      <a:r>
                        <a:rPr sz="1050" b="1">
                          <a:solidFill>
                            <a:srgbClr val="1F2937"/>
                          </a:solidFill>
                          <a:latin typeface="Source Han Sans SC"/>
                        </a:rPr>
                        <a:t>9</a:t>
                      </a:r>
                    </a:p>
                  </a:txBody>
                  <a:tcPr>
                    <a:solidFill>
                      <a:srgbClr val="FFFFFF"/>
                    </a:solidFill>
                  </a:tcPr>
                </a:tc>
                <a:tc>
                  <a:txBody>
                    <a:bodyPr/>
                    <a:lstStyle/>
                    <a:p>
                      <a:r>
                        <a:rPr sz="1050">
                          <a:solidFill>
                            <a:srgbClr val="1F2937"/>
                          </a:solidFill>
                          <a:latin typeface="Source Han Sans SC"/>
                        </a:rPr>
                        <a:t>Adam</a:t>
                      </a:r>
                    </a:p>
                  </a:txBody>
                  <a:tcPr>
                    <a:solidFill>
                      <a:srgbClr val="FFFFFF"/>
                    </a:solidFill>
                  </a:tcPr>
                </a:tc>
                <a:tc>
                  <a:txBody>
                    <a:bodyPr/>
                    <a:lstStyle/>
                    <a:p>
                      <a:r>
                        <a:rPr sz="1050">
                          <a:solidFill>
                            <a:srgbClr val="1F2937"/>
                          </a:solidFill>
                          <a:latin typeface="Source Han Sans SC"/>
                        </a:rPr>
                        <a:t>1e-5</a:t>
                      </a:r>
                    </a:p>
                  </a:txBody>
                  <a:tcPr>
                    <a:solidFill>
                      <a:srgbClr val="FFFFFF"/>
                    </a:solidFill>
                  </a:tcPr>
                </a:tc>
                <a:tc>
                  <a:txBody>
                    <a:bodyPr/>
                    <a:lstStyle/>
                    <a:p>
                      <a:r>
                        <a:rPr sz="1050">
                          <a:solidFill>
                            <a:srgbClr val="1F2937"/>
                          </a:solidFill>
                          <a:latin typeface="Source Han Sans SC"/>
                        </a:rPr>
                        <a:t>1.98</a:t>
                      </a:r>
                    </a:p>
                  </a:txBody>
                  <a:tcPr>
                    <a:solidFill>
                      <a:srgbClr val="FFFFFF"/>
                    </a:solidFill>
                  </a:tcPr>
                </a:tc>
                <a:tc>
                  <a:txBody>
                    <a:bodyPr/>
                    <a:lstStyle/>
                    <a:p>
                      <a:r>
                        <a:rPr sz="1050">
                          <a:solidFill>
                            <a:srgbClr val="1F2937"/>
                          </a:solidFill>
                          <a:latin typeface="Source Han Sans SC"/>
                        </a:rPr>
                        <a:t>0.45</a:t>
                      </a:r>
                    </a:p>
                  </a:txBody>
                  <a:tcPr>
                    <a:solidFill>
                      <a:srgbClr val="FFFFFF"/>
                    </a:solidFill>
                  </a:tcPr>
                </a:tc>
                <a:tc>
                  <a:txBody>
                    <a:bodyPr/>
                    <a:lstStyle/>
                    <a:p>
                      <a:r>
                        <a:rPr sz="1050">
                          <a:solidFill>
                            <a:srgbClr val="1F2937"/>
                          </a:solidFill>
                          <a:latin typeface="Source Han Sans SC"/>
                        </a:rPr>
                        <a:t>Too slow</a:t>
                      </a:r>
                    </a:p>
                  </a:txBody>
                  <a:tcPr>
                    <a:solidFill>
                      <a:srgbClr val="FFFFFF"/>
                    </a:solidFill>
                  </a:tcPr>
                </a:tc>
              </a:tr>
            </a:tbl>
          </a:graphicData>
        </a:graphic>
      </p:graphicFrame>
      <p:sp>
        <p:nvSpPr>
          <p:cNvPr id="10" name="TextBox 9"/>
          <p:cNvSpPr txBox="1"/>
          <p:nvPr/>
        </p:nvSpPr>
        <p:spPr>
          <a:xfrm>
            <a:off x="799200" y="5256000"/>
            <a:ext cx="10593719" cy="432000"/>
          </a:xfrm>
          <a:prstGeom prst="rect">
            <a:avLst/>
          </a:prstGeom>
          <a:noFill/>
        </p:spPr>
        <p:txBody>
          <a:bodyPr wrap="square" anchor="t" lIns="0" rIns="0" tIns="0" bIns="0">
            <a:spAutoFit/>
          </a:bodyPr>
          <a:lstStyle/>
          <a:p>
            <a:pPr algn="l">
              <a:lnSpc>
                <a:spcPct val="135000"/>
              </a:lnSpc>
            </a:pPr>
            <a:r>
              <a:rPr sz="1150" b="0" i="0">
                <a:solidFill>
                  <a:srgbClr val="6B7280"/>
                </a:solidFill>
                <a:latin typeface="Source Han Sans SC"/>
              </a:rPr>
              <a:t>The numbers here are illustrative; your job is to replace them with the nine runs you measured. Once the table is complete the winner and its justification fall out of it — that is what "tuning is not luck" means.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556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Lab Script Skeleton and a Debug Helper</a:t>
            </a:r>
          </a:p>
        </p:txBody>
      </p:sp>
      <p:sp>
        <p:nvSpPr>
          <p:cNvPr id="6" name="TextBox 5"/>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Module 2 · Week 5</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5</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24 / 29</a:t>
            </a:r>
          </a:p>
        </p:txBody>
      </p:sp>
      <p:sp>
        <p:nvSpPr>
          <p:cNvPr id="9" name="Rectangle 8"/>
          <p:cNvSpPr/>
          <p:nvPr/>
        </p:nvSpPr>
        <p:spPr>
          <a:xfrm>
            <a:off x="799200" y="1278000"/>
            <a:ext cx="5185259" cy="4031999"/>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99200" y="1278000"/>
            <a:ext cx="5185259" cy="306000"/>
          </a:xfrm>
          <a:prstGeom prst="rect">
            <a:avLst/>
          </a:prstGeom>
          <a:solidFill>
            <a:srgbClr val="1B26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1200" y="1364400"/>
            <a:ext cx="4105259" cy="162000"/>
          </a:xfrm>
          <a:prstGeom prst="rect">
            <a:avLst/>
          </a:prstGeom>
          <a:noFill/>
        </p:spPr>
        <p:txBody>
          <a:bodyPr wrap="square" anchor="t" lIns="0" rIns="0" tIns="0" bIns="0">
            <a:spAutoFit/>
          </a:bodyPr>
          <a:lstStyle/>
          <a:p>
            <a:pPr algn="l">
              <a:lnSpc>
                <a:spcPct val="125000"/>
              </a:lnSpc>
            </a:pPr>
            <a:r>
              <a:rPr sz="1150" b="1" i="0">
                <a:solidFill>
                  <a:srgbClr val="93C5FD"/>
                </a:solidFill>
                <a:latin typeface="Source Han Sans SC"/>
              </a:rPr>
              <a:t>The 3 x 3 grid, results to a table</a:t>
            </a:r>
          </a:p>
        </p:txBody>
      </p:sp>
      <p:sp>
        <p:nvSpPr>
          <p:cNvPr id="12" name="TextBox 11"/>
          <p:cNvSpPr txBox="1"/>
          <p:nvPr/>
        </p:nvSpPr>
        <p:spPr>
          <a:xfrm>
            <a:off x="997200" y="1691999"/>
            <a:ext cx="4789259" cy="3491999"/>
          </a:xfrm>
          <a:prstGeom prst="rect">
            <a:avLst/>
          </a:prstGeom>
          <a:noFill/>
        </p:spPr>
        <p:txBody>
          <a:bodyPr wrap="square" anchor="t" lIns="0" rIns="0" tIns="0" bIns="0">
            <a:spAutoFit/>
          </a:bodyPr>
          <a:lstStyle/>
          <a:p>
            <a:pPr algn="l">
              <a:lnSpc>
                <a:spcPct val="128000"/>
              </a:lnSpc>
            </a:pPr>
            <a:r>
              <a:rPr sz="1100" b="0" i="0">
                <a:solidFill>
                  <a:srgbClr val="E2E8F0"/>
                </a:solidFill>
                <a:latin typeface="Menlo"/>
              </a:rPr>
              <a:t>results = []                 # one row per run</a:t>
            </a:r>
          </a:p>
          <a:p>
            <a:pPr algn="l">
              <a:lnSpc>
                <a:spcPct val="128000"/>
              </a:lnSpc>
            </a:pPr>
            <a:r>
              <a:rPr sz="1100" b="0" i="0">
                <a:solidFill>
                  <a:srgbClr val="E2E8F0"/>
                </a:solidFill>
                <a:latin typeface="Menlo"/>
              </a:rPr>
              <a:t>for name in ["sgd", "momentum", "adam"]:</a:t>
            </a:r>
          </a:p>
          <a:p>
            <a:pPr algn="l">
              <a:lnSpc>
                <a:spcPct val="128000"/>
              </a:lnSpc>
            </a:pPr>
            <a:r>
              <a:rPr sz="1100" b="0" i="0">
                <a:solidFill>
                  <a:srgbClr val="E2E8F0"/>
                </a:solidFill>
                <a:latin typeface="Menlo"/>
              </a:rPr>
              <a:t>    for lr in [1e-1, 1e-3, 1e-5]:</a:t>
            </a:r>
          </a:p>
          <a:p>
            <a:pPr algn="l">
              <a:lnSpc>
                <a:spcPct val="128000"/>
              </a:lnSpc>
            </a:pPr>
            <a:r>
              <a:rPr sz="1100" b="0" i="0">
                <a:solidFill>
                  <a:srgbClr val="E2E8F0"/>
                </a:solidFill>
                <a:latin typeface="Menlo"/>
              </a:rPr>
              <a:t>        net = build_model()</a:t>
            </a:r>
          </a:p>
          <a:p>
            <a:pPr algn="l">
              <a:lnSpc>
                <a:spcPct val="128000"/>
              </a:lnSpc>
            </a:pPr>
            <a:r>
              <a:rPr sz="1100" b="0" i="0">
                <a:solidFill>
                  <a:srgbClr val="E2E8F0"/>
                </a:solidFill>
                <a:latin typeface="Menlo"/>
              </a:rPr>
              <a:t>        opt = make_opt(name, net, lr)</a:t>
            </a:r>
          </a:p>
          <a:p>
            <a:pPr algn="l">
              <a:lnSpc>
                <a:spcPct val="128000"/>
              </a:lnSpc>
            </a:pPr>
            <a:r>
              <a:rPr sz="1100" b="0" i="0">
                <a:solidFill>
                  <a:srgbClr val="E2E8F0"/>
                </a:solidFill>
                <a:latin typeface="Menlo"/>
              </a:rPr>
              <a:t>        hist = train(net, opt, epochs=10)</a:t>
            </a:r>
          </a:p>
          <a:p>
            <a:pPr algn="l">
              <a:lnSpc>
                <a:spcPct val="128000"/>
              </a:lnSpc>
            </a:pPr>
            <a:r>
              <a:rPr sz="1100" b="0" i="0">
                <a:solidFill>
                  <a:srgbClr val="E2E8F0"/>
                </a:solidFill>
                <a:latin typeface="Menlo"/>
              </a:rPr>
              <a:t>        results.append({"optimizer": name,</a:t>
            </a:r>
          </a:p>
          <a:p>
            <a:pPr algn="l">
              <a:lnSpc>
                <a:spcPct val="128000"/>
              </a:lnSpc>
            </a:pPr>
            <a:r>
              <a:rPr sz="1100" b="0" i="0">
                <a:solidFill>
                  <a:srgbClr val="E2E8F0"/>
                </a:solidFill>
                <a:latin typeface="Menlo"/>
              </a:rPr>
              <a:t>                        "lr": lr,</a:t>
            </a:r>
          </a:p>
          <a:p>
            <a:pPr algn="l">
              <a:lnSpc>
                <a:spcPct val="128000"/>
              </a:lnSpc>
            </a:pPr>
            <a:r>
              <a:rPr sz="1100" b="0" i="0">
                <a:solidFill>
                  <a:srgbClr val="E2E8F0"/>
                </a:solidFill>
                <a:latin typeface="Menlo"/>
              </a:rPr>
              <a:t>                        "val_loss": min(hist["vl"]),</a:t>
            </a:r>
          </a:p>
          <a:p>
            <a:pPr algn="l">
              <a:lnSpc>
                <a:spcPct val="128000"/>
              </a:lnSpc>
            </a:pPr>
            <a:r>
              <a:rPr sz="1100" b="0" i="0">
                <a:solidFill>
                  <a:srgbClr val="E2E8F0"/>
                </a:solidFill>
                <a:latin typeface="Menlo"/>
              </a:rPr>
              <a:t>                        "val_acc": max(hist["va"])})</a:t>
            </a:r>
          </a:p>
          <a:p>
            <a:pPr algn="l">
              <a:lnSpc>
                <a:spcPct val="128000"/>
              </a:lnSpc>
            </a:pPr>
            <a:r>
              <a:rPr sz="1100" b="0" i="0">
                <a:solidFill>
                  <a:srgbClr val="E2E8F0"/>
                </a:solidFill>
                <a:latin typeface="Menlo"/>
              </a:rPr>
              <a:t/>
            </a:r>
          </a:p>
          <a:p>
            <a:pPr algn="l">
              <a:lnSpc>
                <a:spcPct val="128000"/>
              </a:lnSpc>
            </a:pPr>
            <a:r>
              <a:rPr sz="1100" b="0" i="0">
                <a:solidFill>
                  <a:srgbClr val="E2E8F0"/>
                </a:solidFill>
                <a:latin typeface="Menlo"/>
              </a:rPr>
              <a:t>plot_curves(results)         # loss / acc curves</a:t>
            </a:r>
          </a:p>
          <a:p>
            <a:pPr algn="l">
              <a:lnSpc>
                <a:spcPct val="128000"/>
              </a:lnSpc>
            </a:pPr>
            <a:r>
              <a:rPr sz="1100" b="0" i="0">
                <a:solidFill>
                  <a:srgbClr val="E2E8F0"/>
                </a:solidFill>
                <a:latin typeface="Menlo"/>
              </a:rPr>
              <a:t>write_table(results)         # the 3x3 table</a:t>
            </a:r>
          </a:p>
          <a:p>
            <a:pPr algn="l">
              <a:lnSpc>
                <a:spcPct val="128000"/>
              </a:lnSpc>
            </a:pPr>
            <a:r>
              <a:rPr sz="1100" b="0" i="0">
                <a:solidFill>
                  <a:srgbClr val="E2E8F0"/>
                </a:solidFill>
                <a:latin typeface="Menlo"/>
              </a:rPr>
              <a:t># then: state the best combo AND why it wins</a:t>
            </a:r>
          </a:p>
        </p:txBody>
      </p:sp>
      <p:sp>
        <p:nvSpPr>
          <p:cNvPr id="13" name="Rectangle 12"/>
          <p:cNvSpPr/>
          <p:nvPr/>
        </p:nvSpPr>
        <p:spPr>
          <a:xfrm>
            <a:off x="6207659" y="1278000"/>
            <a:ext cx="5185259" cy="4031999"/>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07659" y="1278000"/>
            <a:ext cx="5185259" cy="306000"/>
          </a:xfrm>
          <a:prstGeom prst="rect">
            <a:avLst/>
          </a:prstGeom>
          <a:solidFill>
            <a:srgbClr val="1B26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369659" y="1364400"/>
            <a:ext cx="4105259" cy="162000"/>
          </a:xfrm>
          <a:prstGeom prst="rect">
            <a:avLst/>
          </a:prstGeom>
          <a:noFill/>
        </p:spPr>
        <p:txBody>
          <a:bodyPr wrap="square" anchor="t" lIns="0" rIns="0" tIns="0" bIns="0">
            <a:spAutoFit/>
          </a:bodyPr>
          <a:lstStyle/>
          <a:p>
            <a:pPr algn="l">
              <a:lnSpc>
                <a:spcPct val="125000"/>
              </a:lnSpc>
            </a:pPr>
            <a:r>
              <a:rPr sz="1150" b="1" i="0">
                <a:solidFill>
                  <a:srgbClr val="93C5FD"/>
                </a:solidFill>
                <a:latin typeface="Source Han Sans SC"/>
              </a:rPr>
              <a:t>Debug order when the loss will not fall</a:t>
            </a:r>
          </a:p>
        </p:txBody>
      </p:sp>
      <p:sp>
        <p:nvSpPr>
          <p:cNvPr id="16" name="TextBox 15"/>
          <p:cNvSpPr txBox="1"/>
          <p:nvPr/>
        </p:nvSpPr>
        <p:spPr>
          <a:xfrm>
            <a:off x="6405659" y="1691999"/>
            <a:ext cx="4789259" cy="3491999"/>
          </a:xfrm>
          <a:prstGeom prst="rect">
            <a:avLst/>
          </a:prstGeom>
          <a:noFill/>
        </p:spPr>
        <p:txBody>
          <a:bodyPr wrap="square" anchor="t" lIns="0" rIns="0" tIns="0" bIns="0">
            <a:spAutoFit/>
          </a:bodyPr>
          <a:lstStyle/>
          <a:p>
            <a:pPr algn="l">
              <a:lnSpc>
                <a:spcPct val="128000"/>
              </a:lnSpc>
            </a:pPr>
            <a:r>
              <a:rPr sz="1000" b="0" i="0">
                <a:solidFill>
                  <a:srgbClr val="E2E8F0"/>
                </a:solidFill>
                <a:latin typeface="Menlo"/>
              </a:rPr>
              <a:t>def diagnose(hist):</a:t>
            </a:r>
          </a:p>
          <a:p>
            <a:pPr algn="l">
              <a:lnSpc>
                <a:spcPct val="128000"/>
              </a:lnSpc>
            </a:pPr>
            <a:r>
              <a:rPr sz="1000" b="0" i="0">
                <a:solidFill>
                  <a:srgbClr val="E2E8F0"/>
                </a:solidFill>
                <a:latin typeface="Menlo"/>
              </a:rPr>
              <a:t>    first, last = hist[0], hist[-1]</a:t>
            </a:r>
          </a:p>
          <a:p>
            <a:pPr algn="l">
              <a:lnSpc>
                <a:spcPct val="128000"/>
              </a:lnSpc>
            </a:pPr>
            <a:r>
              <a:rPr sz="1000" b="0" i="0">
                <a:solidFill>
                  <a:srgbClr val="E2E8F0"/>
                </a:solidFill>
                <a:latin typeface="Menlo"/>
              </a:rPr>
              <a:t>    if math.isnan(last["train_loss"]):</a:t>
            </a:r>
          </a:p>
          <a:p>
            <a:pPr algn="l">
              <a:lnSpc>
                <a:spcPct val="128000"/>
              </a:lnSpc>
            </a:pPr>
            <a:r>
              <a:rPr sz="1000" b="0" i="0">
                <a:solidFill>
                  <a:srgbClr val="E2E8F0"/>
                </a:solidFill>
                <a:latin typeface="Menlo"/>
              </a:rPr>
              <a:t>        return "nan -&gt; learning rate too large"</a:t>
            </a:r>
          </a:p>
          <a:p>
            <a:pPr algn="l">
              <a:lnSpc>
                <a:spcPct val="128000"/>
              </a:lnSpc>
            </a:pPr>
            <a:r>
              <a:rPr sz="1000" b="0" i="0">
                <a:solidFill>
                  <a:srgbClr val="E2E8F0"/>
                </a:solidFill>
                <a:latin typeface="Menlo"/>
              </a:rPr>
              <a:t>    if last["train_loss"] &gt; first["train_loss"]:</a:t>
            </a:r>
          </a:p>
          <a:p>
            <a:pPr algn="l">
              <a:lnSpc>
                <a:spcPct val="128000"/>
              </a:lnSpc>
            </a:pPr>
            <a:r>
              <a:rPr sz="1000" b="0" i="0">
                <a:solidFill>
                  <a:srgbClr val="E2E8F0"/>
                </a:solidFill>
                <a:latin typeface="Menlo"/>
              </a:rPr>
              <a:t>        return "rising -&gt; lower the learning rate"</a:t>
            </a:r>
          </a:p>
          <a:p>
            <a:pPr algn="l">
              <a:lnSpc>
                <a:spcPct val="128000"/>
              </a:lnSpc>
            </a:pPr>
            <a:r>
              <a:rPr sz="1000" b="0" i="0">
                <a:solidFill>
                  <a:srgbClr val="E2E8F0"/>
                </a:solidFill>
                <a:latin typeface="Menlo"/>
              </a:rPr>
              <a:t>    if abs(last["train_loss"]</a:t>
            </a:r>
          </a:p>
          <a:p>
            <a:pPr algn="l">
              <a:lnSpc>
                <a:spcPct val="128000"/>
              </a:lnSpc>
            </a:pPr>
            <a:r>
              <a:rPr sz="1000" b="0" i="0">
                <a:solidFill>
                  <a:srgbClr val="E2E8F0"/>
                </a:solidFill>
                <a:latin typeface="Menlo"/>
              </a:rPr>
              <a:t>           - first["train_loss"]) &lt; 0.05:</a:t>
            </a:r>
          </a:p>
          <a:p>
            <a:pPr algn="l">
              <a:lnSpc>
                <a:spcPct val="128000"/>
              </a:lnSpc>
            </a:pPr>
            <a:r>
              <a:rPr sz="1000" b="0" i="0">
                <a:solidFill>
                  <a:srgbClr val="E2E8F0"/>
                </a:solidFill>
                <a:latin typeface="Menlo"/>
              </a:rPr>
              <a:t>        return "flat -&gt; learning rate too small"</a:t>
            </a:r>
          </a:p>
          <a:p>
            <a:pPr algn="l">
              <a:lnSpc>
                <a:spcPct val="128000"/>
              </a:lnSpc>
            </a:pPr>
            <a:r>
              <a:rPr sz="1000" b="0" i="0">
                <a:solidFill>
                  <a:srgbClr val="E2E8F0"/>
                </a:solidFill>
                <a:latin typeface="Menlo"/>
              </a:rPr>
              <a:t>    return "falling -&gt; now check the val curve"</a:t>
            </a:r>
          </a:p>
        </p:txBody>
      </p:sp>
      <p:sp>
        <p:nvSpPr>
          <p:cNvPr id="17" name="TextBox 16"/>
          <p:cNvSpPr txBox="1"/>
          <p:nvPr/>
        </p:nvSpPr>
        <p:spPr>
          <a:xfrm>
            <a:off x="799200" y="5490000"/>
            <a:ext cx="10593719" cy="612000"/>
          </a:xfrm>
          <a:prstGeom prst="rect">
            <a:avLst/>
          </a:prstGeom>
          <a:noFill/>
        </p:spPr>
        <p:txBody>
          <a:bodyPr wrap="square" anchor="t" lIns="0" rIns="0" tIns="0" bIns="0">
            <a:spAutoFit/>
          </a:bodyPr>
          <a:lstStyle/>
          <a:p>
            <a:pPr algn="l">
              <a:lnSpc>
                <a:spcPct val="135000"/>
              </a:lnSpc>
            </a:pPr>
            <a:r>
              <a:rPr sz="1200" b="0" i="0">
                <a:solidFill>
                  <a:srgbClr val="1F2937"/>
                </a:solidFill>
                <a:latin typeface="Source Han Sans SC"/>
              </a:rPr>
              <a:t>The left script is correct when the same code produces all nine results while only the optimizer and the learning rate change. The right-hand order is exactly what your "training does not converge" log should record: learning rate first, then data, then code.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556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AI Assistance · Professional Rigour · Debugging Hints</a:t>
            </a:r>
          </a:p>
        </p:txBody>
      </p:sp>
      <p:sp>
        <p:nvSpPr>
          <p:cNvPr id="6" name="TextBox 5"/>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Module 2 · Week 5</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5</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25 / 29</a:t>
            </a:r>
          </a:p>
        </p:txBody>
      </p:sp>
      <p:sp>
        <p:nvSpPr>
          <p:cNvPr id="9" name="Rectangle 8"/>
          <p:cNvSpPr/>
          <p:nvPr/>
        </p:nvSpPr>
        <p:spPr>
          <a:xfrm>
            <a:off x="799200" y="1296000"/>
            <a:ext cx="3387239" cy="2376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99200" y="1296000"/>
            <a:ext cx="32400" cy="23760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22400" y="1483200"/>
            <a:ext cx="2940839" cy="223200"/>
          </a:xfrm>
          <a:prstGeom prst="rect">
            <a:avLst/>
          </a:prstGeom>
          <a:noFill/>
        </p:spPr>
        <p:txBody>
          <a:bodyPr wrap="square" anchor="t" lIns="0" rIns="0" tIns="0" bIns="0">
            <a:spAutoFit/>
          </a:bodyPr>
          <a:lstStyle/>
          <a:p>
            <a:pPr algn="l">
              <a:lnSpc>
                <a:spcPct val="125000"/>
              </a:lnSpc>
            </a:pPr>
            <a:r>
              <a:rPr sz="1550" b="1" i="0">
                <a:solidFill>
                  <a:srgbClr val="0E3F8C"/>
                </a:solidFill>
                <a:latin typeface="Source Han Sans SC"/>
              </a:rPr>
              <a:t>AI Assistance</a:t>
            </a:r>
          </a:p>
        </p:txBody>
      </p:sp>
      <p:sp>
        <p:nvSpPr>
          <p:cNvPr id="12" name="TextBox 11"/>
          <p:cNvSpPr txBox="1"/>
          <p:nvPr/>
        </p:nvSpPr>
        <p:spPr>
          <a:xfrm>
            <a:off x="1022400" y="1713600"/>
            <a:ext cx="2940839" cy="151200"/>
          </a:xfrm>
          <a:prstGeom prst="rect">
            <a:avLst/>
          </a:prstGeom>
          <a:noFill/>
        </p:spPr>
        <p:txBody>
          <a:bodyPr wrap="square" anchor="t" lIns="0" rIns="0" tIns="0" bIns="0">
            <a:spAutoFit/>
          </a:bodyPr>
          <a:lstStyle/>
          <a:p>
            <a:pPr algn="l">
              <a:lnSpc>
                <a:spcPct val="125000"/>
              </a:lnSpc>
            </a:pPr>
            <a:r>
              <a:rPr sz="1100" b="1" i="0">
                <a:solidFill>
                  <a:srgbClr val="3D7BD9"/>
                </a:solidFill>
                <a:latin typeface="Source Han Sans SC"/>
              </a:rPr>
              <a:t>propose, then verify</a:t>
            </a:r>
          </a:p>
        </p:txBody>
      </p:sp>
      <p:sp>
        <p:nvSpPr>
          <p:cNvPr id="13" name="TextBox 12"/>
          <p:cNvSpPr txBox="1"/>
          <p:nvPr/>
        </p:nvSpPr>
        <p:spPr>
          <a:xfrm>
            <a:off x="1022400" y="1915200"/>
            <a:ext cx="2940839" cy="1612799"/>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Ask AI: 3 optimizer x lr combos</a:t>
            </a:r>
          </a:p>
          <a:p>
            <a:pPr algn="l">
              <a:lnSpc>
                <a:spcPct val="140000"/>
              </a:lnSpc>
              <a:spcAft>
                <a:spcPts val="400"/>
              </a:spcAft>
            </a:pPr>
            <a:r>
              <a:rPr sz="1200" b="0" i="0">
                <a:solidFill>
                  <a:srgbClr val="1F2937"/>
                </a:solidFill>
                <a:latin typeface="Source Han Sans SC"/>
              </a:rPr>
              <a:t>• Verify each one with your own run</a:t>
            </a:r>
          </a:p>
          <a:p>
            <a:pPr algn="l">
              <a:lnSpc>
                <a:spcPct val="140000"/>
              </a:lnSpc>
              <a:spcAft>
                <a:spcPts val="400"/>
              </a:spcAft>
            </a:pPr>
            <a:r>
              <a:rPr sz="1200" b="0" i="0">
                <a:solidFill>
                  <a:srgbClr val="1F2937"/>
                </a:solidFill>
                <a:latin typeface="Source Han Sans SC"/>
              </a:rPr>
              <a:t>• Log where the AI had no basis</a:t>
            </a:r>
          </a:p>
        </p:txBody>
      </p:sp>
      <p:sp>
        <p:nvSpPr>
          <p:cNvPr id="14" name="Rectangle 13"/>
          <p:cNvSpPr/>
          <p:nvPr/>
        </p:nvSpPr>
        <p:spPr>
          <a:xfrm>
            <a:off x="4402440" y="1296000"/>
            <a:ext cx="3387239" cy="2376000"/>
          </a:xfrm>
          <a:prstGeom prst="rect">
            <a:avLst/>
          </a:prstGeom>
          <a:solidFill>
            <a:srgbClr val="ECFDF5"/>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402440" y="1296000"/>
            <a:ext cx="32400" cy="23760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625639" y="1483200"/>
            <a:ext cx="2940839" cy="223200"/>
          </a:xfrm>
          <a:prstGeom prst="rect">
            <a:avLst/>
          </a:prstGeom>
          <a:noFill/>
        </p:spPr>
        <p:txBody>
          <a:bodyPr wrap="square" anchor="t" lIns="0" rIns="0" tIns="0" bIns="0">
            <a:spAutoFit/>
          </a:bodyPr>
          <a:lstStyle/>
          <a:p>
            <a:pPr algn="l">
              <a:lnSpc>
                <a:spcPct val="125000"/>
              </a:lnSpc>
            </a:pPr>
            <a:r>
              <a:rPr sz="1550" b="1" i="0">
                <a:solidFill>
                  <a:srgbClr val="0E3F8C"/>
                </a:solidFill>
                <a:latin typeface="Source Han Sans SC"/>
              </a:rPr>
              <a:t>Professional Rigour</a:t>
            </a:r>
          </a:p>
        </p:txBody>
      </p:sp>
      <p:sp>
        <p:nvSpPr>
          <p:cNvPr id="17" name="TextBox 16"/>
          <p:cNvSpPr txBox="1"/>
          <p:nvPr/>
        </p:nvSpPr>
        <p:spPr>
          <a:xfrm>
            <a:off x="4625639" y="1713600"/>
            <a:ext cx="2940839" cy="151200"/>
          </a:xfrm>
          <a:prstGeom prst="rect">
            <a:avLst/>
          </a:prstGeom>
          <a:noFill/>
        </p:spPr>
        <p:txBody>
          <a:bodyPr wrap="square" anchor="t" lIns="0" rIns="0" tIns="0" bIns="0">
            <a:spAutoFit/>
          </a:bodyPr>
          <a:lstStyle/>
          <a:p>
            <a:pPr algn="l">
              <a:lnSpc>
                <a:spcPct val="125000"/>
              </a:lnSpc>
            </a:pPr>
            <a:r>
              <a:rPr sz="1100" b="1" i="0">
                <a:solidFill>
                  <a:srgbClr val="3D7BD9"/>
                </a:solidFill>
                <a:latin typeface="Source Han Sans SC"/>
              </a:rPr>
              <a:t>rigour, not luck</a:t>
            </a:r>
          </a:p>
        </p:txBody>
      </p:sp>
      <p:sp>
        <p:nvSpPr>
          <p:cNvPr id="18" name="TextBox 17"/>
          <p:cNvSpPr txBox="1"/>
          <p:nvPr/>
        </p:nvSpPr>
        <p:spPr>
          <a:xfrm>
            <a:off x="4625639" y="1915200"/>
            <a:ext cx="2940839" cy="1612799"/>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Tuning is experimental design, not luck</a:t>
            </a:r>
          </a:p>
          <a:p>
            <a:pPr algn="l">
              <a:lnSpc>
                <a:spcPct val="140000"/>
              </a:lnSpc>
              <a:spcAft>
                <a:spcPts val="400"/>
              </a:spcAft>
            </a:pPr>
            <a:r>
              <a:rPr sz="1200" b="0" i="0">
                <a:solidFill>
                  <a:srgbClr val="1F2937"/>
                </a:solidFill>
                <a:latin typeface="Source Han Sans SC"/>
              </a:rPr>
              <a:t>• Change one variable at a time</a:t>
            </a:r>
          </a:p>
          <a:p>
            <a:pPr algn="l">
              <a:lnSpc>
                <a:spcPct val="140000"/>
              </a:lnSpc>
              <a:spcAft>
                <a:spcPts val="400"/>
              </a:spcAft>
            </a:pPr>
            <a:r>
              <a:rPr sz="1200" b="0" i="0">
                <a:solidFill>
                  <a:srgbClr val="1F2937"/>
                </a:solidFill>
                <a:latin typeface="Source Han Sans SC"/>
              </a:rPr>
              <a:t>• Odd results: lr, then data, then code</a:t>
            </a:r>
          </a:p>
        </p:txBody>
      </p:sp>
      <p:sp>
        <p:nvSpPr>
          <p:cNvPr id="19" name="Rectangle 18"/>
          <p:cNvSpPr/>
          <p:nvPr/>
        </p:nvSpPr>
        <p:spPr>
          <a:xfrm>
            <a:off x="8005679" y="1296000"/>
            <a:ext cx="3387239" cy="2376000"/>
          </a:xfrm>
          <a:prstGeom prst="rect">
            <a:avLst/>
          </a:prstGeom>
          <a:solidFill>
            <a:srgbClr val="FFFBEB"/>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8005679" y="1296000"/>
            <a:ext cx="32400" cy="23760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228879" y="1483200"/>
            <a:ext cx="2940839" cy="223200"/>
          </a:xfrm>
          <a:prstGeom prst="rect">
            <a:avLst/>
          </a:prstGeom>
          <a:noFill/>
        </p:spPr>
        <p:txBody>
          <a:bodyPr wrap="square" anchor="t" lIns="0" rIns="0" tIns="0" bIns="0">
            <a:spAutoFit/>
          </a:bodyPr>
          <a:lstStyle/>
          <a:p>
            <a:pPr algn="l">
              <a:lnSpc>
                <a:spcPct val="125000"/>
              </a:lnSpc>
            </a:pPr>
            <a:r>
              <a:rPr sz="1550" b="1" i="0">
                <a:solidFill>
                  <a:srgbClr val="0E3F8C"/>
                </a:solidFill>
                <a:latin typeface="Source Han Sans SC"/>
              </a:rPr>
              <a:t>Debugging Hints</a:t>
            </a:r>
          </a:p>
        </p:txBody>
      </p:sp>
      <p:sp>
        <p:nvSpPr>
          <p:cNvPr id="22" name="TextBox 21"/>
          <p:cNvSpPr txBox="1"/>
          <p:nvPr/>
        </p:nvSpPr>
        <p:spPr>
          <a:xfrm>
            <a:off x="8228879" y="1713600"/>
            <a:ext cx="2940839" cy="151200"/>
          </a:xfrm>
          <a:prstGeom prst="rect">
            <a:avLst/>
          </a:prstGeom>
          <a:noFill/>
        </p:spPr>
        <p:txBody>
          <a:bodyPr wrap="square" anchor="t" lIns="0" rIns="0" tIns="0" bIns="0">
            <a:spAutoFit/>
          </a:bodyPr>
          <a:lstStyle/>
          <a:p>
            <a:pPr algn="l">
              <a:lnSpc>
                <a:spcPct val="125000"/>
              </a:lnSpc>
            </a:pPr>
            <a:r>
              <a:rPr sz="1100" b="1" i="0">
                <a:solidFill>
                  <a:srgbClr val="3D7BD9"/>
                </a:solidFill>
                <a:latin typeface="Source Han Sans SC"/>
              </a:rPr>
              <a:t>check in this order</a:t>
            </a:r>
          </a:p>
        </p:txBody>
      </p:sp>
      <p:sp>
        <p:nvSpPr>
          <p:cNvPr id="23" name="TextBox 22"/>
          <p:cNvSpPr txBox="1"/>
          <p:nvPr/>
        </p:nvSpPr>
        <p:spPr>
          <a:xfrm>
            <a:off x="8228879" y="1915200"/>
            <a:ext cx="2940839" cy="1612799"/>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nan / inf -&gt; lr too large, divide by 10</a:t>
            </a:r>
          </a:p>
          <a:p>
            <a:pPr algn="l">
              <a:lnSpc>
                <a:spcPct val="140000"/>
              </a:lnSpc>
              <a:spcAft>
                <a:spcPts val="400"/>
              </a:spcAft>
            </a:pPr>
            <a:r>
              <a:rPr sz="1200" b="0" i="0">
                <a:solidFill>
                  <a:srgbClr val="1F2937"/>
                </a:solidFill>
                <a:latin typeface="Source Han Sans SC"/>
              </a:rPr>
              <a:t>• Barely moving -&gt; lr too small</a:t>
            </a:r>
          </a:p>
          <a:p>
            <a:pPr algn="l">
              <a:lnSpc>
                <a:spcPct val="140000"/>
              </a:lnSpc>
              <a:spcAft>
                <a:spcPts val="400"/>
              </a:spcAft>
            </a:pPr>
            <a:r>
              <a:rPr sz="1200" b="0" i="0">
                <a:solidFill>
                  <a:srgbClr val="1F2937"/>
                </a:solidFill>
                <a:latin typeface="Source Han Sans SC"/>
              </a:rPr>
              <a:t>• Accuracy stalls -&gt; an extra activation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556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Lab 4 Submission Checklist</a:t>
            </a:r>
          </a:p>
        </p:txBody>
      </p:sp>
      <p:sp>
        <p:nvSpPr>
          <p:cNvPr id="6" name="TextBox 5"/>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Module 2 · Week 5</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5</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26 / 29</a:t>
            </a:r>
          </a:p>
        </p:txBody>
      </p:sp>
      <p:sp>
        <p:nvSpPr>
          <p:cNvPr id="9" name="Rectangle 8"/>
          <p:cNvSpPr/>
          <p:nvPr/>
        </p:nvSpPr>
        <p:spPr>
          <a:xfrm>
            <a:off x="799200" y="1278000"/>
            <a:ext cx="10593719" cy="7740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99200" y="1278000"/>
            <a:ext cx="32400" cy="7740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979200" y="1465200"/>
            <a:ext cx="900000" cy="3240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79200" y="1537199"/>
            <a:ext cx="900000" cy="180000"/>
          </a:xfrm>
          <a:prstGeom prst="rect">
            <a:avLst/>
          </a:prstGeom>
          <a:noFill/>
        </p:spPr>
        <p:txBody>
          <a:bodyPr wrap="square" anchor="t" lIns="0" rIns="0" tIns="0" bIns="0">
            <a:spAutoFit/>
          </a:bodyPr>
          <a:lstStyle/>
          <a:p>
            <a:pPr algn="ctr">
              <a:lnSpc>
                <a:spcPct val="125000"/>
              </a:lnSpc>
            </a:pPr>
            <a:r>
              <a:rPr sz="1150" b="1" i="0">
                <a:solidFill>
                  <a:srgbClr val="FFFFFF"/>
                </a:solidFill>
                <a:latin typeface="Source Han Sans SC"/>
              </a:rPr>
              <a:t>MUST</a:t>
            </a:r>
          </a:p>
        </p:txBody>
      </p:sp>
      <p:sp>
        <p:nvSpPr>
          <p:cNvPr id="13" name="TextBox 12"/>
          <p:cNvSpPr txBox="1"/>
          <p:nvPr/>
        </p:nvSpPr>
        <p:spPr>
          <a:xfrm>
            <a:off x="2023200" y="1393199"/>
            <a:ext cx="9153719" cy="198000"/>
          </a:xfrm>
          <a:prstGeom prst="rect">
            <a:avLst/>
          </a:prstGeom>
          <a:noFill/>
        </p:spPr>
        <p:txBody>
          <a:bodyPr wrap="square" anchor="t" lIns="0" rIns="0" tIns="0" bIns="0">
            <a:spAutoFit/>
          </a:bodyPr>
          <a:lstStyle/>
          <a:p>
            <a:pPr algn="l">
              <a:lnSpc>
                <a:spcPct val="125000"/>
              </a:lnSpc>
            </a:pPr>
            <a:r>
              <a:rPr sz="1400" b="1" i="0">
                <a:solidFill>
                  <a:srgbClr val="0E3F8C"/>
                </a:solidFill>
                <a:latin typeface="Source Han Sans SC"/>
              </a:rPr>
              <a:t>Training script with a reproducible command</a:t>
            </a:r>
          </a:p>
        </p:txBody>
      </p:sp>
      <p:sp>
        <p:nvSpPr>
          <p:cNvPr id="14" name="TextBox 13"/>
          <p:cNvSpPr txBox="1"/>
          <p:nvPr/>
        </p:nvSpPr>
        <p:spPr>
          <a:xfrm>
            <a:off x="2023200" y="1620000"/>
            <a:ext cx="9153719" cy="377999"/>
          </a:xfrm>
          <a:prstGeom prst="rect">
            <a:avLst/>
          </a:prstGeom>
          <a:noFill/>
        </p:spPr>
        <p:txBody>
          <a:bodyPr wrap="square" anchor="t" lIns="0" rIns="0" tIns="0" bIns="0">
            <a:spAutoFit/>
          </a:bodyPr>
          <a:lstStyle/>
          <a:p>
            <a:pPr algn="l">
              <a:lnSpc>
                <a:spcPct val="135000"/>
              </a:lnSpc>
            </a:pPr>
            <a:r>
              <a:rPr sz="1150" b="0" i="0">
                <a:solidFill>
                  <a:srgbClr val="6B7280"/>
                </a:solidFill>
                <a:latin typeface="Source Han Sans SC"/>
              </a:rPr>
              <a:t>One script produces all nine runs, and the README gives a command you can paste and run.</a:t>
            </a:r>
          </a:p>
        </p:txBody>
      </p:sp>
      <p:sp>
        <p:nvSpPr>
          <p:cNvPr id="15" name="Rectangle 14"/>
          <p:cNvSpPr/>
          <p:nvPr/>
        </p:nvSpPr>
        <p:spPr>
          <a:xfrm>
            <a:off x="799200" y="2203199"/>
            <a:ext cx="10593719" cy="7740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799200" y="2203199"/>
            <a:ext cx="32400" cy="7740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979200" y="2390399"/>
            <a:ext cx="900000" cy="3240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79200" y="2462399"/>
            <a:ext cx="900000" cy="180000"/>
          </a:xfrm>
          <a:prstGeom prst="rect">
            <a:avLst/>
          </a:prstGeom>
          <a:noFill/>
        </p:spPr>
        <p:txBody>
          <a:bodyPr wrap="square" anchor="t" lIns="0" rIns="0" tIns="0" bIns="0">
            <a:spAutoFit/>
          </a:bodyPr>
          <a:lstStyle/>
          <a:p>
            <a:pPr algn="ctr">
              <a:lnSpc>
                <a:spcPct val="125000"/>
              </a:lnSpc>
            </a:pPr>
            <a:r>
              <a:rPr sz="1150" b="1" i="0">
                <a:solidFill>
                  <a:srgbClr val="FFFFFF"/>
                </a:solidFill>
                <a:latin typeface="Source Han Sans SC"/>
              </a:rPr>
              <a:t>MUST</a:t>
            </a:r>
          </a:p>
        </p:txBody>
      </p:sp>
      <p:sp>
        <p:nvSpPr>
          <p:cNvPr id="19" name="TextBox 18"/>
          <p:cNvSpPr txBox="1"/>
          <p:nvPr/>
        </p:nvSpPr>
        <p:spPr>
          <a:xfrm>
            <a:off x="2023200" y="2318400"/>
            <a:ext cx="9153719" cy="198000"/>
          </a:xfrm>
          <a:prstGeom prst="rect">
            <a:avLst/>
          </a:prstGeom>
          <a:noFill/>
        </p:spPr>
        <p:txBody>
          <a:bodyPr wrap="square" anchor="t" lIns="0" rIns="0" tIns="0" bIns="0">
            <a:spAutoFit/>
          </a:bodyPr>
          <a:lstStyle/>
          <a:p>
            <a:pPr algn="l">
              <a:lnSpc>
                <a:spcPct val="125000"/>
              </a:lnSpc>
            </a:pPr>
            <a:r>
              <a:rPr sz="1400" b="1" i="0">
                <a:solidFill>
                  <a:srgbClr val="0E3F8C"/>
                </a:solidFill>
                <a:latin typeface="Source Han Sans SC"/>
              </a:rPr>
              <a:t>The 3 x 3 hyper-parameter table</a:t>
            </a:r>
          </a:p>
        </p:txBody>
      </p:sp>
      <p:sp>
        <p:nvSpPr>
          <p:cNvPr id="20" name="TextBox 19"/>
          <p:cNvSpPr txBox="1"/>
          <p:nvPr/>
        </p:nvSpPr>
        <p:spPr>
          <a:xfrm>
            <a:off x="2023200" y="2545200"/>
            <a:ext cx="9153719" cy="377999"/>
          </a:xfrm>
          <a:prstGeom prst="rect">
            <a:avLst/>
          </a:prstGeom>
          <a:noFill/>
        </p:spPr>
        <p:txBody>
          <a:bodyPr wrap="square" anchor="t" lIns="0" rIns="0" tIns="0" bIns="0">
            <a:spAutoFit/>
          </a:bodyPr>
          <a:lstStyle/>
          <a:p>
            <a:pPr algn="l">
              <a:lnSpc>
                <a:spcPct val="135000"/>
              </a:lnSpc>
            </a:pPr>
            <a:r>
              <a:rPr sz="1150" b="0" i="0">
                <a:solidFill>
                  <a:srgbClr val="6B7280"/>
                </a:solidFill>
                <a:latin typeface="Source Han Sans SC"/>
              </a:rPr>
              <a:t>Nine rows: optimizer, lr, minimum val loss, maximum val accuracy, converged or not.</a:t>
            </a:r>
          </a:p>
        </p:txBody>
      </p:sp>
      <p:sp>
        <p:nvSpPr>
          <p:cNvPr id="21" name="Rectangle 20"/>
          <p:cNvSpPr/>
          <p:nvPr/>
        </p:nvSpPr>
        <p:spPr>
          <a:xfrm>
            <a:off x="799200" y="3128400"/>
            <a:ext cx="10593719" cy="7740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799200" y="3128400"/>
            <a:ext cx="32400" cy="7740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979200" y="3315599"/>
            <a:ext cx="900000" cy="3240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79200" y="3387600"/>
            <a:ext cx="900000" cy="180000"/>
          </a:xfrm>
          <a:prstGeom prst="rect">
            <a:avLst/>
          </a:prstGeom>
          <a:noFill/>
        </p:spPr>
        <p:txBody>
          <a:bodyPr wrap="square" anchor="t" lIns="0" rIns="0" tIns="0" bIns="0">
            <a:spAutoFit/>
          </a:bodyPr>
          <a:lstStyle/>
          <a:p>
            <a:pPr algn="ctr">
              <a:lnSpc>
                <a:spcPct val="125000"/>
              </a:lnSpc>
            </a:pPr>
            <a:r>
              <a:rPr sz="1150" b="1" i="0">
                <a:solidFill>
                  <a:srgbClr val="FFFFFF"/>
                </a:solidFill>
                <a:latin typeface="Source Han Sans SC"/>
              </a:rPr>
              <a:t>MUST</a:t>
            </a:r>
          </a:p>
        </p:txBody>
      </p:sp>
      <p:sp>
        <p:nvSpPr>
          <p:cNvPr id="25" name="TextBox 24"/>
          <p:cNvSpPr txBox="1"/>
          <p:nvPr/>
        </p:nvSpPr>
        <p:spPr>
          <a:xfrm>
            <a:off x="2023200" y="3243600"/>
            <a:ext cx="9153719" cy="198000"/>
          </a:xfrm>
          <a:prstGeom prst="rect">
            <a:avLst/>
          </a:prstGeom>
          <a:noFill/>
        </p:spPr>
        <p:txBody>
          <a:bodyPr wrap="square" anchor="t" lIns="0" rIns="0" tIns="0" bIns="0">
            <a:spAutoFit/>
          </a:bodyPr>
          <a:lstStyle/>
          <a:p>
            <a:pPr algn="l">
              <a:lnSpc>
                <a:spcPct val="125000"/>
              </a:lnSpc>
            </a:pPr>
            <a:r>
              <a:rPr sz="1400" b="1" i="0">
                <a:solidFill>
                  <a:srgbClr val="0E3F8C"/>
                </a:solidFill>
                <a:latin typeface="Source Han Sans SC"/>
              </a:rPr>
              <a:t>Loss / accuracy curves</a:t>
            </a:r>
          </a:p>
        </p:txBody>
      </p:sp>
      <p:sp>
        <p:nvSpPr>
          <p:cNvPr id="26" name="TextBox 25"/>
          <p:cNvSpPr txBox="1"/>
          <p:nvPr/>
        </p:nvSpPr>
        <p:spPr>
          <a:xfrm>
            <a:off x="2023200" y="3470399"/>
            <a:ext cx="9153719" cy="377999"/>
          </a:xfrm>
          <a:prstGeom prst="rect">
            <a:avLst/>
          </a:prstGeom>
          <a:noFill/>
        </p:spPr>
        <p:txBody>
          <a:bodyPr wrap="square" anchor="t" lIns="0" rIns="0" tIns="0" bIns="0">
            <a:spAutoFit/>
          </a:bodyPr>
          <a:lstStyle/>
          <a:p>
            <a:pPr algn="l">
              <a:lnSpc>
                <a:spcPct val="135000"/>
              </a:lnSpc>
            </a:pPr>
            <a:r>
              <a:rPr sz="1150" b="0" i="0">
                <a:solidFill>
                  <a:srgbClr val="6B7280"/>
                </a:solidFill>
                <a:latin typeface="Source Han Sans SC"/>
              </a:rPr>
              <a:t>At least one chart with three or more curves on shared axes, labelled with optimizer and lr.</a:t>
            </a:r>
          </a:p>
        </p:txBody>
      </p:sp>
      <p:sp>
        <p:nvSpPr>
          <p:cNvPr id="27" name="Rectangle 26"/>
          <p:cNvSpPr/>
          <p:nvPr/>
        </p:nvSpPr>
        <p:spPr>
          <a:xfrm>
            <a:off x="799200" y="4053599"/>
            <a:ext cx="10593719" cy="7740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799200" y="4053599"/>
            <a:ext cx="32400" cy="7740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979200" y="4240799"/>
            <a:ext cx="900000" cy="3240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979200" y="4312799"/>
            <a:ext cx="900000" cy="180000"/>
          </a:xfrm>
          <a:prstGeom prst="rect">
            <a:avLst/>
          </a:prstGeom>
          <a:noFill/>
        </p:spPr>
        <p:txBody>
          <a:bodyPr wrap="square" anchor="t" lIns="0" rIns="0" tIns="0" bIns="0">
            <a:spAutoFit/>
          </a:bodyPr>
          <a:lstStyle/>
          <a:p>
            <a:pPr algn="ctr">
              <a:lnSpc>
                <a:spcPct val="125000"/>
              </a:lnSpc>
            </a:pPr>
            <a:r>
              <a:rPr sz="1150" b="1" i="0">
                <a:solidFill>
                  <a:srgbClr val="FFFFFF"/>
                </a:solidFill>
                <a:latin typeface="Source Han Sans SC"/>
              </a:rPr>
              <a:t>MUST</a:t>
            </a:r>
          </a:p>
        </p:txBody>
      </p:sp>
      <p:sp>
        <p:nvSpPr>
          <p:cNvPr id="31" name="TextBox 30"/>
          <p:cNvSpPr txBox="1"/>
          <p:nvPr/>
        </p:nvSpPr>
        <p:spPr>
          <a:xfrm>
            <a:off x="2023200" y="4168799"/>
            <a:ext cx="9153719" cy="198000"/>
          </a:xfrm>
          <a:prstGeom prst="rect">
            <a:avLst/>
          </a:prstGeom>
          <a:noFill/>
        </p:spPr>
        <p:txBody>
          <a:bodyPr wrap="square" anchor="t" lIns="0" rIns="0" tIns="0" bIns="0">
            <a:spAutoFit/>
          </a:bodyPr>
          <a:lstStyle/>
          <a:p>
            <a:pPr algn="l">
              <a:lnSpc>
                <a:spcPct val="125000"/>
              </a:lnSpc>
            </a:pPr>
            <a:r>
              <a:rPr sz="1400" b="1" i="0">
                <a:solidFill>
                  <a:srgbClr val="0E3F8C"/>
                </a:solidFill>
                <a:latin typeface="Source Han Sans SC"/>
              </a:rPr>
              <a:t>One "does not converge" debugging log</a:t>
            </a:r>
          </a:p>
        </p:txBody>
      </p:sp>
      <p:sp>
        <p:nvSpPr>
          <p:cNvPr id="32" name="TextBox 31"/>
          <p:cNvSpPr txBox="1"/>
          <p:nvPr/>
        </p:nvSpPr>
        <p:spPr>
          <a:xfrm>
            <a:off x="2023200" y="4395599"/>
            <a:ext cx="9153719" cy="377999"/>
          </a:xfrm>
          <a:prstGeom prst="rect">
            <a:avLst/>
          </a:prstGeom>
          <a:noFill/>
        </p:spPr>
        <p:txBody>
          <a:bodyPr wrap="square" anchor="t" lIns="0" rIns="0" tIns="0" bIns="0">
            <a:spAutoFit/>
          </a:bodyPr>
          <a:lstStyle/>
          <a:p>
            <a:pPr algn="l">
              <a:lnSpc>
                <a:spcPct val="135000"/>
              </a:lnSpc>
            </a:pPr>
            <a:r>
              <a:rPr sz="1150" b="0" i="0">
                <a:solidFill>
                  <a:srgbClr val="6B7280"/>
                </a:solidFill>
                <a:latin typeface="Source Han Sans SC"/>
              </a:rPr>
              <a:t>Symptom, hypothesis, how you tested it, conclusion — lr first, then data, then code.</a:t>
            </a:r>
          </a:p>
        </p:txBody>
      </p:sp>
      <p:sp>
        <p:nvSpPr>
          <p:cNvPr id="33" name="Rectangle 32"/>
          <p:cNvSpPr/>
          <p:nvPr/>
        </p:nvSpPr>
        <p:spPr>
          <a:xfrm>
            <a:off x="799200" y="4978799"/>
            <a:ext cx="10593719" cy="7740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ectangle 33"/>
          <p:cNvSpPr/>
          <p:nvPr/>
        </p:nvSpPr>
        <p:spPr>
          <a:xfrm>
            <a:off x="799200" y="4978799"/>
            <a:ext cx="32400" cy="7740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979200" y="5165999"/>
            <a:ext cx="900000" cy="3240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9200" y="5238000"/>
            <a:ext cx="900000" cy="180000"/>
          </a:xfrm>
          <a:prstGeom prst="rect">
            <a:avLst/>
          </a:prstGeom>
          <a:noFill/>
        </p:spPr>
        <p:txBody>
          <a:bodyPr wrap="square" anchor="t" lIns="0" rIns="0" tIns="0" bIns="0">
            <a:spAutoFit/>
          </a:bodyPr>
          <a:lstStyle/>
          <a:p>
            <a:pPr algn="ctr">
              <a:lnSpc>
                <a:spcPct val="125000"/>
              </a:lnSpc>
            </a:pPr>
            <a:r>
              <a:rPr sz="1150" b="1" i="0">
                <a:solidFill>
                  <a:srgbClr val="FFFFFF"/>
                </a:solidFill>
                <a:latin typeface="Source Han Sans SC"/>
              </a:rPr>
              <a:t>BONUS</a:t>
            </a:r>
          </a:p>
        </p:txBody>
      </p:sp>
      <p:sp>
        <p:nvSpPr>
          <p:cNvPr id="37" name="TextBox 36"/>
          <p:cNvSpPr txBox="1"/>
          <p:nvPr/>
        </p:nvSpPr>
        <p:spPr>
          <a:xfrm>
            <a:off x="2023200" y="5093999"/>
            <a:ext cx="9153719" cy="198000"/>
          </a:xfrm>
          <a:prstGeom prst="rect">
            <a:avLst/>
          </a:prstGeom>
          <a:noFill/>
        </p:spPr>
        <p:txBody>
          <a:bodyPr wrap="square" anchor="t" lIns="0" rIns="0" tIns="0" bIns="0">
            <a:spAutoFit/>
          </a:bodyPr>
          <a:lstStyle/>
          <a:p>
            <a:pPr algn="l">
              <a:lnSpc>
                <a:spcPct val="125000"/>
              </a:lnSpc>
            </a:pPr>
            <a:r>
              <a:rPr sz="1400" b="1" i="0">
                <a:solidFill>
                  <a:srgbClr val="0E3F8C"/>
                </a:solidFill>
                <a:latin typeface="Source Han Sans SC"/>
              </a:rPr>
              <a:t>AI collaboration trace (stating where AI was wrong)</a:t>
            </a:r>
          </a:p>
        </p:txBody>
      </p:sp>
      <p:sp>
        <p:nvSpPr>
          <p:cNvPr id="38" name="TextBox 37"/>
          <p:cNvSpPr txBox="1"/>
          <p:nvPr/>
        </p:nvSpPr>
        <p:spPr>
          <a:xfrm>
            <a:off x="2023200" y="5320799"/>
            <a:ext cx="9153719" cy="377999"/>
          </a:xfrm>
          <a:prstGeom prst="rect">
            <a:avLst/>
          </a:prstGeom>
          <a:noFill/>
        </p:spPr>
        <p:txBody>
          <a:bodyPr wrap="square" anchor="t" lIns="0" rIns="0" tIns="0" bIns="0">
            <a:spAutoFit/>
          </a:bodyPr>
          <a:lstStyle/>
          <a:p>
            <a:pPr algn="l">
              <a:lnSpc>
                <a:spcPct val="135000"/>
              </a:lnSpc>
            </a:pPr>
            <a:r>
              <a:rPr sz="1150" b="0" i="0">
                <a:solidFill>
                  <a:srgbClr val="6B7280"/>
                </a:solidFill>
                <a:latin typeface="Source Han Sans SC"/>
              </a:rPr>
              <a:t>Record one hyper-parameter suggestion from AI and the controlled run that confirmed or refuted it.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556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Quick Check</a:t>
            </a:r>
          </a:p>
        </p:txBody>
      </p:sp>
      <p:sp>
        <p:nvSpPr>
          <p:cNvPr id="6" name="TextBox 5"/>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Module 2 · Week 5</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5</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27 / 29</a:t>
            </a:r>
          </a:p>
        </p:txBody>
      </p:sp>
      <p:sp>
        <p:nvSpPr>
          <p:cNvPr id="9" name="Rectangle 8"/>
          <p:cNvSpPr/>
          <p:nvPr/>
        </p:nvSpPr>
        <p:spPr>
          <a:xfrm>
            <a:off x="799200" y="1134000"/>
            <a:ext cx="5197859" cy="1596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997200" y="1296000"/>
            <a:ext cx="900000" cy="2232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97200" y="1342800"/>
            <a:ext cx="900000" cy="151200"/>
          </a:xfrm>
          <a:prstGeom prst="rect">
            <a:avLst/>
          </a:prstGeom>
          <a:noFill/>
        </p:spPr>
        <p:txBody>
          <a:bodyPr wrap="square" anchor="t" lIns="0" rIns="0" tIns="0" bIns="0">
            <a:spAutoFit/>
          </a:bodyPr>
          <a:lstStyle/>
          <a:p>
            <a:pPr algn="ctr">
              <a:lnSpc>
                <a:spcPct val="125000"/>
              </a:lnSpc>
            </a:pPr>
            <a:r>
              <a:rPr sz="1050" b="1" i="0">
                <a:solidFill>
                  <a:srgbClr val="FFFFFF"/>
                </a:solidFill>
                <a:latin typeface="Source Han Sans SC"/>
              </a:rPr>
              <a:t>Loss</a:t>
            </a:r>
          </a:p>
        </p:txBody>
      </p:sp>
      <p:sp>
        <p:nvSpPr>
          <p:cNvPr id="12" name="TextBox 11"/>
          <p:cNvSpPr txBox="1"/>
          <p:nvPr/>
        </p:nvSpPr>
        <p:spPr>
          <a:xfrm>
            <a:off x="2005200" y="1296000"/>
            <a:ext cx="3793859" cy="540000"/>
          </a:xfrm>
          <a:prstGeom prst="rect">
            <a:avLst/>
          </a:prstGeom>
          <a:noFill/>
        </p:spPr>
        <p:txBody>
          <a:bodyPr wrap="square" anchor="t" lIns="0" rIns="0" tIns="0" bIns="0">
            <a:spAutoFit/>
          </a:bodyPr>
          <a:lstStyle/>
          <a:p>
            <a:pPr algn="l">
              <a:lnSpc>
                <a:spcPct val="130000"/>
              </a:lnSpc>
            </a:pPr>
            <a:r>
              <a:rPr sz="1250" b="1" i="0">
                <a:solidFill>
                  <a:srgbClr val="0E3F8C"/>
                </a:solidFill>
                <a:latin typeface="Source Han Sans SC"/>
              </a:rPr>
              <a:t>A 10-class image classification task: which loss?</a:t>
            </a:r>
          </a:p>
        </p:txBody>
      </p:sp>
      <p:sp>
        <p:nvSpPr>
          <p:cNvPr id="13" name="TextBox 12"/>
          <p:cNvSpPr txBox="1"/>
          <p:nvPr/>
        </p:nvSpPr>
        <p:spPr>
          <a:xfrm>
            <a:off x="997200" y="1908000"/>
            <a:ext cx="4801859" cy="732000"/>
          </a:xfrm>
          <a:prstGeom prst="rect">
            <a:avLst/>
          </a:prstGeom>
          <a:noFill/>
        </p:spPr>
        <p:txBody>
          <a:bodyPr wrap="square" anchor="t" lIns="0" rIns="0" tIns="0" bIns="0">
            <a:spAutoFit/>
          </a:bodyPr>
          <a:lstStyle/>
          <a:p>
            <a:pPr algn="l">
              <a:lnSpc>
                <a:spcPct val="140000"/>
              </a:lnSpc>
              <a:spcAft>
                <a:spcPts val="300"/>
              </a:spcAft>
            </a:pPr>
            <a:r>
              <a:rPr sz="1150" b="0" i="0">
                <a:solidFill>
                  <a:srgbClr val="1F2937"/>
                </a:solidFill>
                <a:latin typeface="Source Han Sans SC"/>
              </a:rPr>
              <a:t>A. nn.MSELoss</a:t>
            </a:r>
          </a:p>
          <a:p>
            <a:pPr algn="l">
              <a:lnSpc>
                <a:spcPct val="140000"/>
              </a:lnSpc>
              <a:spcAft>
                <a:spcPts val="300"/>
              </a:spcAft>
            </a:pPr>
            <a:r>
              <a:rPr sz="1150" b="0" i="0">
                <a:solidFill>
                  <a:srgbClr val="1F2937"/>
                </a:solidFill>
                <a:latin typeface="Source Han Sans SC"/>
              </a:rPr>
              <a:t>B. nn.CrossEntropyLoss (softmax inside)</a:t>
            </a:r>
          </a:p>
          <a:p>
            <a:pPr algn="l">
              <a:lnSpc>
                <a:spcPct val="140000"/>
              </a:lnSpc>
              <a:spcAft>
                <a:spcPts val="300"/>
              </a:spcAft>
            </a:pPr>
            <a:r>
              <a:rPr sz="1150" b="0" i="0">
                <a:solidFill>
                  <a:srgbClr val="1F2937"/>
                </a:solidFill>
                <a:latin typeface="Source Han Sans SC"/>
              </a:rPr>
              <a:t>C. nn.BCEWithLogitsLoss</a:t>
            </a:r>
          </a:p>
        </p:txBody>
      </p:sp>
      <p:sp>
        <p:nvSpPr>
          <p:cNvPr id="14" name="Rectangle 13"/>
          <p:cNvSpPr/>
          <p:nvPr/>
        </p:nvSpPr>
        <p:spPr>
          <a:xfrm>
            <a:off x="6195059" y="1134000"/>
            <a:ext cx="5197859" cy="1596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6393059" y="1296000"/>
            <a:ext cx="900000" cy="2232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393059" y="1342800"/>
            <a:ext cx="900000" cy="151200"/>
          </a:xfrm>
          <a:prstGeom prst="rect">
            <a:avLst/>
          </a:prstGeom>
          <a:noFill/>
        </p:spPr>
        <p:txBody>
          <a:bodyPr wrap="square" anchor="t" lIns="0" rIns="0" tIns="0" bIns="0">
            <a:spAutoFit/>
          </a:bodyPr>
          <a:lstStyle/>
          <a:p>
            <a:pPr algn="ctr">
              <a:lnSpc>
                <a:spcPct val="125000"/>
              </a:lnSpc>
            </a:pPr>
            <a:r>
              <a:rPr sz="1050" b="1" i="0">
                <a:solidFill>
                  <a:srgbClr val="FFFFFF"/>
                </a:solidFill>
                <a:latin typeface="Source Han Sans SC"/>
              </a:rPr>
              <a:t>Pitfall</a:t>
            </a:r>
          </a:p>
        </p:txBody>
      </p:sp>
      <p:sp>
        <p:nvSpPr>
          <p:cNvPr id="17" name="TextBox 16"/>
          <p:cNvSpPr txBox="1"/>
          <p:nvPr/>
        </p:nvSpPr>
        <p:spPr>
          <a:xfrm>
            <a:off x="7401059" y="1296000"/>
            <a:ext cx="3793859" cy="540000"/>
          </a:xfrm>
          <a:prstGeom prst="rect">
            <a:avLst/>
          </a:prstGeom>
          <a:noFill/>
        </p:spPr>
        <p:txBody>
          <a:bodyPr wrap="square" anchor="t" lIns="0" rIns="0" tIns="0" bIns="0">
            <a:spAutoFit/>
          </a:bodyPr>
          <a:lstStyle/>
          <a:p>
            <a:pPr algn="l">
              <a:lnSpc>
                <a:spcPct val="130000"/>
              </a:lnSpc>
            </a:pPr>
            <a:r>
              <a:rPr sz="1250" b="1" i="0">
                <a:solidFill>
                  <a:srgbClr val="0E3F8C"/>
                </a:solidFill>
                <a:latin typeface="Source Han Sans SC"/>
              </a:rPr>
              <a:t>Softmax the logits, then feed CrossEntropyLoss. What happens?</a:t>
            </a:r>
          </a:p>
        </p:txBody>
      </p:sp>
      <p:sp>
        <p:nvSpPr>
          <p:cNvPr id="18" name="TextBox 17"/>
          <p:cNvSpPr txBox="1"/>
          <p:nvPr/>
        </p:nvSpPr>
        <p:spPr>
          <a:xfrm>
            <a:off x="6393059" y="1908000"/>
            <a:ext cx="4801859" cy="732000"/>
          </a:xfrm>
          <a:prstGeom prst="rect">
            <a:avLst/>
          </a:prstGeom>
          <a:noFill/>
        </p:spPr>
        <p:txBody>
          <a:bodyPr wrap="square" anchor="t" lIns="0" rIns="0" tIns="0" bIns="0">
            <a:spAutoFit/>
          </a:bodyPr>
          <a:lstStyle/>
          <a:p>
            <a:pPr algn="l">
              <a:lnSpc>
                <a:spcPct val="140000"/>
              </a:lnSpc>
              <a:spcAft>
                <a:spcPts val="300"/>
              </a:spcAft>
            </a:pPr>
            <a:r>
              <a:rPr sz="1150" b="0" i="0">
                <a:solidFill>
                  <a:srgbClr val="1F2937"/>
                </a:solidFill>
                <a:latin typeface="Source Han Sans SC"/>
              </a:rPr>
              <a:t>A. No effect at all</a:t>
            </a:r>
          </a:p>
          <a:p>
            <a:pPr algn="l">
              <a:lnSpc>
                <a:spcPct val="140000"/>
              </a:lnSpc>
              <a:spcAft>
                <a:spcPts val="300"/>
              </a:spcAft>
            </a:pPr>
            <a:r>
              <a:rPr sz="1150" b="0" i="0">
                <a:solidFill>
                  <a:srgbClr val="1F2937"/>
                </a:solidFill>
                <a:latin typeface="Source Han Sans SC"/>
              </a:rPr>
              <a:t>B. Softmax twice: probabilities squeezed, gradients shrink</a:t>
            </a:r>
          </a:p>
          <a:p>
            <a:pPr algn="l">
              <a:lnSpc>
                <a:spcPct val="140000"/>
              </a:lnSpc>
              <a:spcAft>
                <a:spcPts val="300"/>
              </a:spcAft>
            </a:pPr>
            <a:r>
              <a:rPr sz="1150" b="0" i="0">
                <a:solidFill>
                  <a:srgbClr val="1F2937"/>
                </a:solidFill>
                <a:latin typeface="Source Han Sans SC"/>
              </a:rPr>
              <a:t>C. It raises an error immediately</a:t>
            </a:r>
          </a:p>
        </p:txBody>
      </p:sp>
      <p:sp>
        <p:nvSpPr>
          <p:cNvPr id="19" name="Rectangle 18"/>
          <p:cNvSpPr/>
          <p:nvPr/>
        </p:nvSpPr>
        <p:spPr>
          <a:xfrm>
            <a:off x="799200" y="2928000"/>
            <a:ext cx="5197859" cy="1596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997200" y="3089999"/>
            <a:ext cx="900000" cy="2232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97200" y="3136800"/>
            <a:ext cx="900000" cy="151200"/>
          </a:xfrm>
          <a:prstGeom prst="rect">
            <a:avLst/>
          </a:prstGeom>
          <a:noFill/>
        </p:spPr>
        <p:txBody>
          <a:bodyPr wrap="square" anchor="t" lIns="0" rIns="0" tIns="0" bIns="0">
            <a:spAutoFit/>
          </a:bodyPr>
          <a:lstStyle/>
          <a:p>
            <a:pPr algn="ctr">
              <a:lnSpc>
                <a:spcPct val="125000"/>
              </a:lnSpc>
            </a:pPr>
            <a:r>
              <a:rPr sz="1050" b="1" i="0">
                <a:solidFill>
                  <a:srgbClr val="FFFFFF"/>
                </a:solidFill>
                <a:latin typeface="Source Han Sans SC"/>
              </a:rPr>
              <a:t>Optimizer</a:t>
            </a:r>
          </a:p>
        </p:txBody>
      </p:sp>
      <p:sp>
        <p:nvSpPr>
          <p:cNvPr id="22" name="TextBox 21"/>
          <p:cNvSpPr txBox="1"/>
          <p:nvPr/>
        </p:nvSpPr>
        <p:spPr>
          <a:xfrm>
            <a:off x="2005200" y="3089999"/>
            <a:ext cx="3793859" cy="540000"/>
          </a:xfrm>
          <a:prstGeom prst="rect">
            <a:avLst/>
          </a:prstGeom>
          <a:noFill/>
        </p:spPr>
        <p:txBody>
          <a:bodyPr wrap="square" anchor="t" lIns="0" rIns="0" tIns="0" bIns="0">
            <a:spAutoFit/>
          </a:bodyPr>
          <a:lstStyle/>
          <a:p>
            <a:pPr algn="l">
              <a:lnSpc>
                <a:spcPct val="130000"/>
              </a:lnSpc>
            </a:pPr>
            <a:r>
              <a:rPr sz="1250" b="1" i="0">
                <a:solidFill>
                  <a:srgbClr val="0E3F8C"/>
                </a:solidFill>
                <a:latin typeface="Source Han Sans SC"/>
              </a:rPr>
              <a:t>Which statement is correct?</a:t>
            </a:r>
          </a:p>
        </p:txBody>
      </p:sp>
      <p:sp>
        <p:nvSpPr>
          <p:cNvPr id="23" name="TextBox 22"/>
          <p:cNvSpPr txBox="1"/>
          <p:nvPr/>
        </p:nvSpPr>
        <p:spPr>
          <a:xfrm>
            <a:off x="997200" y="3702000"/>
            <a:ext cx="4801859" cy="732000"/>
          </a:xfrm>
          <a:prstGeom prst="rect">
            <a:avLst/>
          </a:prstGeom>
          <a:noFill/>
        </p:spPr>
        <p:txBody>
          <a:bodyPr wrap="square" anchor="t" lIns="0" rIns="0" tIns="0" bIns="0">
            <a:spAutoFit/>
          </a:bodyPr>
          <a:lstStyle/>
          <a:p>
            <a:pPr algn="l">
              <a:lnSpc>
                <a:spcPct val="140000"/>
              </a:lnSpc>
              <a:spcAft>
                <a:spcPts val="300"/>
              </a:spcAft>
            </a:pPr>
            <a:r>
              <a:rPr sz="1150" b="0" i="0">
                <a:solidFill>
                  <a:srgbClr val="1F2937"/>
                </a:solidFill>
                <a:latin typeface="Source Han Sans SC"/>
              </a:rPr>
              <a:t>A. Adam needs no learning rate</a:t>
            </a:r>
          </a:p>
          <a:p>
            <a:pPr algn="l">
              <a:lnSpc>
                <a:spcPct val="140000"/>
              </a:lnSpc>
              <a:spcAft>
                <a:spcPts val="300"/>
              </a:spcAft>
            </a:pPr>
            <a:r>
              <a:rPr sz="1150" b="0" i="0">
                <a:solidFill>
                  <a:srgbClr val="1F2937"/>
                </a:solidFill>
                <a:latin typeface="Source Han Sans SC"/>
              </a:rPr>
              <a:t>B. Momentum accumulates past gradients into inertia</a:t>
            </a:r>
          </a:p>
          <a:p>
            <a:pPr algn="l">
              <a:lnSpc>
                <a:spcPct val="140000"/>
              </a:lnSpc>
              <a:spcAft>
                <a:spcPts val="300"/>
              </a:spcAft>
            </a:pPr>
            <a:r>
              <a:rPr sz="1150" b="0" i="0">
                <a:solidFill>
                  <a:srgbClr val="1F2937"/>
                </a:solidFill>
                <a:latin typeface="Source Han Sans SC"/>
              </a:rPr>
              <a:t>C. SGD always converges faster than Adam</a:t>
            </a:r>
          </a:p>
        </p:txBody>
      </p:sp>
      <p:sp>
        <p:nvSpPr>
          <p:cNvPr id="24" name="Rectangle 23"/>
          <p:cNvSpPr/>
          <p:nvPr/>
        </p:nvSpPr>
        <p:spPr>
          <a:xfrm>
            <a:off x="6195059" y="2928000"/>
            <a:ext cx="5197859" cy="1596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6393059" y="3089999"/>
            <a:ext cx="900000" cy="2232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93059" y="3136800"/>
            <a:ext cx="900000" cy="151200"/>
          </a:xfrm>
          <a:prstGeom prst="rect">
            <a:avLst/>
          </a:prstGeom>
          <a:noFill/>
        </p:spPr>
        <p:txBody>
          <a:bodyPr wrap="square" anchor="t" lIns="0" rIns="0" tIns="0" bIns="0">
            <a:spAutoFit/>
          </a:bodyPr>
          <a:lstStyle/>
          <a:p>
            <a:pPr algn="ctr">
              <a:lnSpc>
                <a:spcPct val="125000"/>
              </a:lnSpc>
            </a:pPr>
            <a:r>
              <a:rPr sz="1050" b="1" i="0">
                <a:solidFill>
                  <a:srgbClr val="FFFFFF"/>
                </a:solidFill>
                <a:latin typeface="Source Han Sans SC"/>
              </a:rPr>
              <a:t>Learning rate</a:t>
            </a:r>
          </a:p>
        </p:txBody>
      </p:sp>
      <p:sp>
        <p:nvSpPr>
          <p:cNvPr id="27" name="TextBox 26"/>
          <p:cNvSpPr txBox="1"/>
          <p:nvPr/>
        </p:nvSpPr>
        <p:spPr>
          <a:xfrm>
            <a:off x="7401059" y="3089999"/>
            <a:ext cx="3793859" cy="540000"/>
          </a:xfrm>
          <a:prstGeom prst="rect">
            <a:avLst/>
          </a:prstGeom>
          <a:noFill/>
        </p:spPr>
        <p:txBody>
          <a:bodyPr wrap="square" anchor="t" lIns="0" rIns="0" tIns="0" bIns="0">
            <a:spAutoFit/>
          </a:bodyPr>
          <a:lstStyle/>
          <a:p>
            <a:pPr algn="l">
              <a:lnSpc>
                <a:spcPct val="130000"/>
              </a:lnSpc>
            </a:pPr>
            <a:r>
              <a:rPr sz="1250" b="1" i="0">
                <a:solidFill>
                  <a:srgbClr val="0E3F8C"/>
                </a:solidFill>
                <a:latin typeface="Source Han Sans SC"/>
              </a:rPr>
              <a:t>The loss becomes nan in epoch 1. What do you check first?</a:t>
            </a:r>
          </a:p>
        </p:txBody>
      </p:sp>
      <p:sp>
        <p:nvSpPr>
          <p:cNvPr id="28" name="TextBox 27"/>
          <p:cNvSpPr txBox="1"/>
          <p:nvPr/>
        </p:nvSpPr>
        <p:spPr>
          <a:xfrm>
            <a:off x="6393059" y="3702000"/>
            <a:ext cx="4801859" cy="732000"/>
          </a:xfrm>
          <a:prstGeom prst="rect">
            <a:avLst/>
          </a:prstGeom>
          <a:noFill/>
        </p:spPr>
        <p:txBody>
          <a:bodyPr wrap="square" anchor="t" lIns="0" rIns="0" tIns="0" bIns="0">
            <a:spAutoFit/>
          </a:bodyPr>
          <a:lstStyle/>
          <a:p>
            <a:pPr algn="l">
              <a:lnSpc>
                <a:spcPct val="140000"/>
              </a:lnSpc>
              <a:spcAft>
                <a:spcPts val="300"/>
              </a:spcAft>
            </a:pPr>
            <a:r>
              <a:rPr sz="1150" b="0" i="0">
                <a:solidFill>
                  <a:srgbClr val="1F2937"/>
                </a:solidFill>
                <a:latin typeface="Source Han Sans SC"/>
              </a:rPr>
              <a:t>A. Switch to a deeper model</a:t>
            </a:r>
          </a:p>
          <a:p>
            <a:pPr algn="l">
              <a:lnSpc>
                <a:spcPct val="140000"/>
              </a:lnSpc>
              <a:spcAft>
                <a:spcPts val="300"/>
              </a:spcAft>
            </a:pPr>
            <a:r>
              <a:rPr sz="1150" b="0" i="0">
                <a:solidFill>
                  <a:srgbClr val="1F2937"/>
                </a:solidFill>
                <a:latin typeface="Source Han Sans SC"/>
              </a:rPr>
              <a:t>B. Whether the learning rate is too large</a:t>
            </a:r>
          </a:p>
          <a:p>
            <a:pPr algn="l">
              <a:lnSpc>
                <a:spcPct val="140000"/>
              </a:lnSpc>
              <a:spcAft>
                <a:spcPts val="300"/>
              </a:spcAft>
            </a:pPr>
            <a:r>
              <a:rPr sz="1150" b="0" i="0">
                <a:solidFill>
                  <a:srgbClr val="1F2937"/>
                </a:solidFill>
                <a:latin typeface="Source Han Sans SC"/>
              </a:rPr>
              <a:t>C. Add more epochs</a:t>
            </a:r>
          </a:p>
        </p:txBody>
      </p:sp>
      <p:sp>
        <p:nvSpPr>
          <p:cNvPr id="29" name="Rectangle 28"/>
          <p:cNvSpPr/>
          <p:nvPr/>
        </p:nvSpPr>
        <p:spPr>
          <a:xfrm>
            <a:off x="799200" y="4722000"/>
            <a:ext cx="5197859" cy="1596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997200" y="4884000"/>
            <a:ext cx="900000" cy="2232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97200" y="4930800"/>
            <a:ext cx="900000" cy="151200"/>
          </a:xfrm>
          <a:prstGeom prst="rect">
            <a:avLst/>
          </a:prstGeom>
          <a:noFill/>
        </p:spPr>
        <p:txBody>
          <a:bodyPr wrap="square" anchor="t" lIns="0" rIns="0" tIns="0" bIns="0">
            <a:spAutoFit/>
          </a:bodyPr>
          <a:lstStyle/>
          <a:p>
            <a:pPr algn="ctr">
              <a:lnSpc>
                <a:spcPct val="125000"/>
              </a:lnSpc>
            </a:pPr>
            <a:r>
              <a:rPr sz="1050" b="1" i="0">
                <a:solidFill>
                  <a:srgbClr val="FFFFFF"/>
                </a:solidFill>
                <a:latin typeface="Source Han Sans SC"/>
              </a:rPr>
              <a:t>Five steps</a:t>
            </a:r>
          </a:p>
        </p:txBody>
      </p:sp>
      <p:sp>
        <p:nvSpPr>
          <p:cNvPr id="32" name="TextBox 31"/>
          <p:cNvSpPr txBox="1"/>
          <p:nvPr/>
        </p:nvSpPr>
        <p:spPr>
          <a:xfrm>
            <a:off x="2005200" y="4884000"/>
            <a:ext cx="3793859" cy="540000"/>
          </a:xfrm>
          <a:prstGeom prst="rect">
            <a:avLst/>
          </a:prstGeom>
          <a:noFill/>
        </p:spPr>
        <p:txBody>
          <a:bodyPr wrap="square" anchor="t" lIns="0" rIns="0" tIns="0" bIns="0">
            <a:spAutoFit/>
          </a:bodyPr>
          <a:lstStyle/>
          <a:p>
            <a:pPr algn="l">
              <a:lnSpc>
                <a:spcPct val="130000"/>
              </a:lnSpc>
            </a:pPr>
            <a:r>
              <a:rPr sz="1250" b="1" i="0">
                <a:solidFill>
                  <a:srgbClr val="0E3F8C"/>
                </a:solidFill>
                <a:latin typeface="Source Han Sans SC"/>
              </a:rPr>
              <a:t>What is the correct order of the five steps?</a:t>
            </a:r>
          </a:p>
        </p:txBody>
      </p:sp>
      <p:sp>
        <p:nvSpPr>
          <p:cNvPr id="33" name="TextBox 32"/>
          <p:cNvSpPr txBox="1"/>
          <p:nvPr/>
        </p:nvSpPr>
        <p:spPr>
          <a:xfrm>
            <a:off x="997200" y="5496000"/>
            <a:ext cx="4801859" cy="732000"/>
          </a:xfrm>
          <a:prstGeom prst="rect">
            <a:avLst/>
          </a:prstGeom>
          <a:noFill/>
        </p:spPr>
        <p:txBody>
          <a:bodyPr wrap="square" anchor="t" lIns="0" rIns="0" tIns="0" bIns="0">
            <a:spAutoFit/>
          </a:bodyPr>
          <a:lstStyle/>
          <a:p>
            <a:pPr algn="l">
              <a:lnSpc>
                <a:spcPct val="140000"/>
              </a:lnSpc>
              <a:spcAft>
                <a:spcPts val="300"/>
              </a:spcAft>
            </a:pPr>
            <a:r>
              <a:rPr sz="1150" b="0" i="0">
                <a:solidFill>
                  <a:srgbClr val="1F2937"/>
                </a:solidFill>
                <a:latin typeface="Source Han Sans SC"/>
              </a:rPr>
              <a:t>A. forward → zero → loss → backward → step</a:t>
            </a:r>
          </a:p>
          <a:p>
            <a:pPr algn="l">
              <a:lnSpc>
                <a:spcPct val="140000"/>
              </a:lnSpc>
              <a:spcAft>
                <a:spcPts val="300"/>
              </a:spcAft>
            </a:pPr>
            <a:r>
              <a:rPr sz="1150" b="0" i="0">
                <a:solidFill>
                  <a:srgbClr val="1F2937"/>
                </a:solidFill>
                <a:latin typeface="Source Han Sans SC"/>
              </a:rPr>
              <a:t>B. zero → forward → loss → backward → step</a:t>
            </a:r>
          </a:p>
          <a:p>
            <a:pPr algn="l">
              <a:lnSpc>
                <a:spcPct val="140000"/>
              </a:lnSpc>
              <a:spcAft>
                <a:spcPts val="300"/>
              </a:spcAft>
            </a:pPr>
            <a:r>
              <a:rPr sz="1150" b="0" i="0">
                <a:solidFill>
                  <a:srgbClr val="1F2937"/>
                </a:solidFill>
                <a:latin typeface="Source Han Sans SC"/>
              </a:rPr>
              <a:t>C. zero → loss → forward → step → backward</a:t>
            </a:r>
          </a:p>
        </p:txBody>
      </p:sp>
      <p:sp>
        <p:nvSpPr>
          <p:cNvPr id="34" name="Rectangle 33"/>
          <p:cNvSpPr/>
          <p:nvPr/>
        </p:nvSpPr>
        <p:spPr>
          <a:xfrm>
            <a:off x="6195059" y="4722000"/>
            <a:ext cx="5197859" cy="1596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6393059" y="4884000"/>
            <a:ext cx="900000" cy="2232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393059" y="4930800"/>
            <a:ext cx="900000" cy="151200"/>
          </a:xfrm>
          <a:prstGeom prst="rect">
            <a:avLst/>
          </a:prstGeom>
          <a:noFill/>
        </p:spPr>
        <p:txBody>
          <a:bodyPr wrap="square" anchor="t" lIns="0" rIns="0" tIns="0" bIns="0">
            <a:spAutoFit/>
          </a:bodyPr>
          <a:lstStyle/>
          <a:p>
            <a:pPr algn="ctr">
              <a:lnSpc>
                <a:spcPct val="125000"/>
              </a:lnSpc>
            </a:pPr>
            <a:r>
              <a:rPr sz="1050" b="1" i="0">
                <a:solidFill>
                  <a:srgbClr val="FFFFFF"/>
                </a:solidFill>
                <a:latin typeface="Source Han Sans SC"/>
              </a:rPr>
              <a:t>Batch size</a:t>
            </a:r>
          </a:p>
        </p:txBody>
      </p:sp>
      <p:sp>
        <p:nvSpPr>
          <p:cNvPr id="37" name="TextBox 36"/>
          <p:cNvSpPr txBox="1"/>
          <p:nvPr/>
        </p:nvSpPr>
        <p:spPr>
          <a:xfrm>
            <a:off x="7401059" y="4884000"/>
            <a:ext cx="3793859" cy="540000"/>
          </a:xfrm>
          <a:prstGeom prst="rect">
            <a:avLst/>
          </a:prstGeom>
          <a:noFill/>
        </p:spPr>
        <p:txBody>
          <a:bodyPr wrap="square" anchor="t" lIns="0" rIns="0" tIns="0" bIns="0">
            <a:spAutoFit/>
          </a:bodyPr>
          <a:lstStyle/>
          <a:p>
            <a:pPr algn="l">
              <a:lnSpc>
                <a:spcPct val="130000"/>
              </a:lnSpc>
            </a:pPr>
            <a:r>
              <a:rPr sz="1250" b="1" i="0">
                <a:solidFill>
                  <a:srgbClr val="0E3F8C"/>
                </a:solidFill>
                <a:latin typeface="Source Han Sans SC"/>
              </a:rPr>
              <a:t>Raising the batch size from 64 to 512 usually requires what?</a:t>
            </a:r>
          </a:p>
        </p:txBody>
      </p:sp>
      <p:sp>
        <p:nvSpPr>
          <p:cNvPr id="38" name="TextBox 37"/>
          <p:cNvSpPr txBox="1"/>
          <p:nvPr/>
        </p:nvSpPr>
        <p:spPr>
          <a:xfrm>
            <a:off x="6393059" y="5496000"/>
            <a:ext cx="4801859" cy="732000"/>
          </a:xfrm>
          <a:prstGeom prst="rect">
            <a:avLst/>
          </a:prstGeom>
          <a:noFill/>
        </p:spPr>
        <p:txBody>
          <a:bodyPr wrap="square" anchor="t" lIns="0" rIns="0" tIns="0" bIns="0">
            <a:spAutoFit/>
          </a:bodyPr>
          <a:lstStyle/>
          <a:p>
            <a:pPr algn="l">
              <a:lnSpc>
                <a:spcPct val="140000"/>
              </a:lnSpc>
              <a:spcAft>
                <a:spcPts val="300"/>
              </a:spcAft>
            </a:pPr>
            <a:r>
              <a:rPr sz="1150" b="0" i="0">
                <a:solidFill>
                  <a:srgbClr val="1F2937"/>
                </a:solidFill>
                <a:latin typeface="Source Han Sans SC"/>
              </a:rPr>
              <a:t>A. Scale the learning rate up and check that VRAM fits</a:t>
            </a:r>
          </a:p>
          <a:p>
            <a:pPr algn="l">
              <a:lnSpc>
                <a:spcPct val="140000"/>
              </a:lnSpc>
              <a:spcAft>
                <a:spcPts val="300"/>
              </a:spcAft>
            </a:pPr>
            <a:r>
              <a:rPr sz="1150" b="0" i="0">
                <a:solidFill>
                  <a:srgbClr val="1F2937"/>
                </a:solidFill>
                <a:latin typeface="Source Han Sans SC"/>
              </a:rPr>
              <a:t>B. Scale the learning rate down</a:t>
            </a:r>
          </a:p>
          <a:p>
            <a:pPr algn="l">
              <a:lnSpc>
                <a:spcPct val="140000"/>
              </a:lnSpc>
              <a:spcAft>
                <a:spcPts val="300"/>
              </a:spcAft>
            </a:pPr>
            <a:r>
              <a:rPr sz="1150" b="0" i="0">
                <a:solidFill>
                  <a:srgbClr val="1F2937"/>
                </a:solidFill>
                <a:latin typeface="Source Han Sans SC"/>
              </a:rPr>
              <a:t>C. Unrelated to the lr; it only affects speed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556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Week 5 Summary</a:t>
            </a:r>
          </a:p>
        </p:txBody>
      </p:sp>
      <p:sp>
        <p:nvSpPr>
          <p:cNvPr id="6" name="TextBox 5"/>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Module 2 · Week 5</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5</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28 / 29</a:t>
            </a:r>
          </a:p>
        </p:txBody>
      </p:sp>
      <p:sp>
        <p:nvSpPr>
          <p:cNvPr id="9" name="Rectangle 8"/>
          <p:cNvSpPr/>
          <p:nvPr/>
        </p:nvSpPr>
        <p:spPr>
          <a:xfrm>
            <a:off x="799200" y="1152000"/>
            <a:ext cx="6696000" cy="666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99200" y="1152000"/>
            <a:ext cx="475200" cy="6660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99200" y="1350000"/>
            <a:ext cx="475200" cy="251999"/>
          </a:xfrm>
          <a:prstGeom prst="rect">
            <a:avLst/>
          </a:prstGeom>
          <a:noFill/>
        </p:spPr>
        <p:txBody>
          <a:bodyPr wrap="square" anchor="t" lIns="0" rIns="0" tIns="0" bIns="0">
            <a:spAutoFit/>
          </a:bodyPr>
          <a:lstStyle/>
          <a:p>
            <a:pPr algn="ctr">
              <a:lnSpc>
                <a:spcPct val="125000"/>
              </a:lnSpc>
            </a:pPr>
            <a:r>
              <a:rPr sz="1900" b="1" i="0">
                <a:solidFill>
                  <a:srgbClr val="FFFFFF"/>
                </a:solidFill>
                <a:latin typeface="Source Han Sans SC"/>
              </a:rPr>
              <a:t>1</a:t>
            </a:r>
          </a:p>
        </p:txBody>
      </p:sp>
      <p:sp>
        <p:nvSpPr>
          <p:cNvPr id="12" name="TextBox 11"/>
          <p:cNvSpPr txBox="1"/>
          <p:nvPr/>
        </p:nvSpPr>
        <p:spPr>
          <a:xfrm>
            <a:off x="1429200" y="1278000"/>
            <a:ext cx="5832000" cy="414000"/>
          </a:xfrm>
          <a:prstGeom prst="rect">
            <a:avLst/>
          </a:prstGeom>
          <a:noFill/>
        </p:spPr>
        <p:txBody>
          <a:bodyPr wrap="square" anchor="ctr" lIns="0" rIns="0" tIns="0" bIns="0">
            <a:spAutoFit/>
          </a:bodyPr>
          <a:lstStyle/>
          <a:p>
            <a:pPr algn="l">
              <a:lnSpc>
                <a:spcPct val="135000"/>
              </a:lnSpc>
            </a:pPr>
            <a:r>
              <a:rPr sz="1300" b="0" i="0">
                <a:solidFill>
                  <a:srgbClr val="1F2937"/>
                </a:solidFill>
                <a:latin typeface="Source Han Sans SC"/>
              </a:rPr>
              <a:t>Pick the loss by task: CrossEntropyLoss for multi-class, BCEWithLogitsLoss for binary, MSELoss for regression; a "WithLogits" loss already contains the activation, so do not add another.</a:t>
            </a:r>
          </a:p>
        </p:txBody>
      </p:sp>
      <p:sp>
        <p:nvSpPr>
          <p:cNvPr id="13" name="Rectangle 12"/>
          <p:cNvSpPr/>
          <p:nvPr/>
        </p:nvSpPr>
        <p:spPr>
          <a:xfrm>
            <a:off x="799200" y="1969200"/>
            <a:ext cx="6696000" cy="666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799200" y="1969200"/>
            <a:ext cx="475200" cy="6660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99200" y="2167200"/>
            <a:ext cx="475200" cy="251999"/>
          </a:xfrm>
          <a:prstGeom prst="rect">
            <a:avLst/>
          </a:prstGeom>
          <a:noFill/>
        </p:spPr>
        <p:txBody>
          <a:bodyPr wrap="square" anchor="t" lIns="0" rIns="0" tIns="0" bIns="0">
            <a:spAutoFit/>
          </a:bodyPr>
          <a:lstStyle/>
          <a:p>
            <a:pPr algn="ctr">
              <a:lnSpc>
                <a:spcPct val="125000"/>
              </a:lnSpc>
            </a:pPr>
            <a:r>
              <a:rPr sz="1900" b="1" i="0">
                <a:solidFill>
                  <a:srgbClr val="FFFFFF"/>
                </a:solidFill>
                <a:latin typeface="Source Han Sans SC"/>
              </a:rPr>
              <a:t>2</a:t>
            </a:r>
          </a:p>
        </p:txBody>
      </p:sp>
      <p:sp>
        <p:nvSpPr>
          <p:cNvPr id="16" name="TextBox 15"/>
          <p:cNvSpPr txBox="1"/>
          <p:nvPr/>
        </p:nvSpPr>
        <p:spPr>
          <a:xfrm>
            <a:off x="1429200" y="2095199"/>
            <a:ext cx="5832000" cy="414000"/>
          </a:xfrm>
          <a:prstGeom prst="rect">
            <a:avLst/>
          </a:prstGeom>
          <a:noFill/>
        </p:spPr>
        <p:txBody>
          <a:bodyPr wrap="square" anchor="ctr" lIns="0" rIns="0" tIns="0" bIns="0">
            <a:spAutoFit/>
          </a:bodyPr>
          <a:lstStyle/>
          <a:p>
            <a:pPr algn="l">
              <a:lnSpc>
                <a:spcPct val="135000"/>
              </a:lnSpc>
            </a:pPr>
            <a:r>
              <a:rPr sz="1300" b="0" i="0">
                <a:solidFill>
                  <a:srgbClr val="1F2937"/>
                </a:solidFill>
                <a:latin typeface="Source Han Sans SC"/>
              </a:rPr>
              <a:t>The optimizer decides how you walk: SGD uses the current gradient, momentum adds inertia, Adam adapts per parameter; Adam converges faster but costs more VRAM.</a:t>
            </a:r>
          </a:p>
        </p:txBody>
      </p:sp>
      <p:sp>
        <p:nvSpPr>
          <p:cNvPr id="17" name="Rectangle 16"/>
          <p:cNvSpPr/>
          <p:nvPr/>
        </p:nvSpPr>
        <p:spPr>
          <a:xfrm>
            <a:off x="799200" y="2786400"/>
            <a:ext cx="6696000" cy="666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799200" y="2786400"/>
            <a:ext cx="475200" cy="6660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99200" y="2984400"/>
            <a:ext cx="475200" cy="251999"/>
          </a:xfrm>
          <a:prstGeom prst="rect">
            <a:avLst/>
          </a:prstGeom>
          <a:noFill/>
        </p:spPr>
        <p:txBody>
          <a:bodyPr wrap="square" anchor="t" lIns="0" rIns="0" tIns="0" bIns="0">
            <a:spAutoFit/>
          </a:bodyPr>
          <a:lstStyle/>
          <a:p>
            <a:pPr algn="ctr">
              <a:lnSpc>
                <a:spcPct val="125000"/>
              </a:lnSpc>
            </a:pPr>
            <a:r>
              <a:rPr sz="1900" b="1" i="0">
                <a:solidFill>
                  <a:srgbClr val="FFFFFF"/>
                </a:solidFill>
                <a:latin typeface="Source Han Sans SC"/>
              </a:rPr>
              <a:t>3</a:t>
            </a:r>
          </a:p>
        </p:txBody>
      </p:sp>
      <p:sp>
        <p:nvSpPr>
          <p:cNvPr id="20" name="TextBox 19"/>
          <p:cNvSpPr txBox="1"/>
          <p:nvPr/>
        </p:nvSpPr>
        <p:spPr>
          <a:xfrm>
            <a:off x="1429200" y="2912400"/>
            <a:ext cx="5832000" cy="414000"/>
          </a:xfrm>
          <a:prstGeom prst="rect">
            <a:avLst/>
          </a:prstGeom>
          <a:noFill/>
        </p:spPr>
        <p:txBody>
          <a:bodyPr wrap="square" anchor="ctr" lIns="0" rIns="0" tIns="0" bIns="0">
            <a:spAutoFit/>
          </a:bodyPr>
          <a:lstStyle/>
          <a:p>
            <a:pPr algn="l">
              <a:lnSpc>
                <a:spcPct val="135000"/>
              </a:lnSpc>
            </a:pPr>
            <a:r>
              <a:rPr sz="1300" b="0" i="0">
                <a:solidFill>
                  <a:srgbClr val="1F2937"/>
                </a:solidFill>
                <a:latin typeface="Source Han Sans SC"/>
              </a:rPr>
              <a:t>The learning rate is the first hyper-parameter: too large oscillates or explodes, too small barely moves; on a broken loss check it before reaching for warmup and decay.</a:t>
            </a:r>
          </a:p>
        </p:txBody>
      </p:sp>
      <p:sp>
        <p:nvSpPr>
          <p:cNvPr id="21" name="Rectangle 20"/>
          <p:cNvSpPr/>
          <p:nvPr/>
        </p:nvSpPr>
        <p:spPr>
          <a:xfrm>
            <a:off x="799200" y="3603600"/>
            <a:ext cx="6696000" cy="666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799200" y="3603600"/>
            <a:ext cx="475200" cy="6660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99200" y="3801600"/>
            <a:ext cx="475200" cy="251999"/>
          </a:xfrm>
          <a:prstGeom prst="rect">
            <a:avLst/>
          </a:prstGeom>
          <a:noFill/>
        </p:spPr>
        <p:txBody>
          <a:bodyPr wrap="square" anchor="t" lIns="0" rIns="0" tIns="0" bIns="0">
            <a:spAutoFit/>
          </a:bodyPr>
          <a:lstStyle/>
          <a:p>
            <a:pPr algn="ctr">
              <a:lnSpc>
                <a:spcPct val="125000"/>
              </a:lnSpc>
            </a:pPr>
            <a:r>
              <a:rPr sz="1900" b="1" i="0">
                <a:solidFill>
                  <a:srgbClr val="FFFFFF"/>
                </a:solidFill>
                <a:latin typeface="Source Han Sans SC"/>
              </a:rPr>
              <a:t>4</a:t>
            </a:r>
          </a:p>
        </p:txBody>
      </p:sp>
      <p:sp>
        <p:nvSpPr>
          <p:cNvPr id="24" name="TextBox 23"/>
          <p:cNvSpPr txBox="1"/>
          <p:nvPr/>
        </p:nvSpPr>
        <p:spPr>
          <a:xfrm>
            <a:off x="1429200" y="3729600"/>
            <a:ext cx="5832000" cy="414000"/>
          </a:xfrm>
          <a:prstGeom prst="rect">
            <a:avLst/>
          </a:prstGeom>
          <a:noFill/>
        </p:spPr>
        <p:txBody>
          <a:bodyPr wrap="square" anchor="ctr" lIns="0" rIns="0" tIns="0" bIns="0">
            <a:spAutoFit/>
          </a:bodyPr>
          <a:lstStyle/>
          <a:p>
            <a:pPr algn="l">
              <a:lnSpc>
                <a:spcPct val="135000"/>
              </a:lnSpc>
            </a:pPr>
            <a:r>
              <a:rPr sz="1300" b="0" i="0">
                <a:solidFill>
                  <a:srgbClr val="1F2937"/>
                </a:solidFill>
                <a:latin typeface="Source Han Sans SC"/>
              </a:rPr>
              <a:t>The five-step loop: zero grads, forward, loss, backward, step. The order is not interchangeable and step 1 is the one most often dropped.</a:t>
            </a:r>
          </a:p>
        </p:txBody>
      </p:sp>
      <p:sp>
        <p:nvSpPr>
          <p:cNvPr id="25" name="Rectangle 24"/>
          <p:cNvSpPr/>
          <p:nvPr/>
        </p:nvSpPr>
        <p:spPr>
          <a:xfrm>
            <a:off x="799200" y="4420800"/>
            <a:ext cx="6696000" cy="666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ectangle 25"/>
          <p:cNvSpPr/>
          <p:nvPr/>
        </p:nvSpPr>
        <p:spPr>
          <a:xfrm>
            <a:off x="799200" y="4420800"/>
            <a:ext cx="475200" cy="6660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99200" y="4618800"/>
            <a:ext cx="475200" cy="251999"/>
          </a:xfrm>
          <a:prstGeom prst="rect">
            <a:avLst/>
          </a:prstGeom>
          <a:noFill/>
        </p:spPr>
        <p:txBody>
          <a:bodyPr wrap="square" anchor="t" lIns="0" rIns="0" tIns="0" bIns="0">
            <a:spAutoFit/>
          </a:bodyPr>
          <a:lstStyle/>
          <a:p>
            <a:pPr algn="ctr">
              <a:lnSpc>
                <a:spcPct val="125000"/>
              </a:lnSpc>
            </a:pPr>
            <a:r>
              <a:rPr sz="1900" b="1" i="0">
                <a:solidFill>
                  <a:srgbClr val="FFFFFF"/>
                </a:solidFill>
                <a:latin typeface="Source Han Sans SC"/>
              </a:rPr>
              <a:t>5</a:t>
            </a:r>
          </a:p>
        </p:txBody>
      </p:sp>
      <p:sp>
        <p:nvSpPr>
          <p:cNvPr id="28" name="TextBox 27"/>
          <p:cNvSpPr txBox="1"/>
          <p:nvPr/>
        </p:nvSpPr>
        <p:spPr>
          <a:xfrm>
            <a:off x="1429200" y="4546800"/>
            <a:ext cx="5832000" cy="414000"/>
          </a:xfrm>
          <a:prstGeom prst="rect">
            <a:avLst/>
          </a:prstGeom>
          <a:noFill/>
        </p:spPr>
        <p:txBody>
          <a:bodyPr wrap="square" anchor="ctr" lIns="0" rIns="0" tIns="0" bIns="0">
            <a:spAutoFit/>
          </a:bodyPr>
          <a:lstStyle/>
          <a:p>
            <a:pPr algn="l">
              <a:lnSpc>
                <a:spcPct val="135000"/>
              </a:lnSpc>
            </a:pPr>
            <a:r>
              <a:rPr sz="1300" b="0" i="0">
                <a:solidFill>
                  <a:srgbClr val="1F2937"/>
                </a:solidFill>
                <a:latin typeface="Source Han Sans SC"/>
              </a:rPr>
              <a:t>Experiments must leave evidence: log train/val loss and accuracy per epoch, change one variable at a time, and justify the winning combo with comparison data.</a:t>
            </a:r>
          </a:p>
        </p:txBody>
      </p:sp>
      <p:sp>
        <p:nvSpPr>
          <p:cNvPr id="29" name="Rectangle 28"/>
          <p:cNvSpPr/>
          <p:nvPr/>
        </p:nvSpPr>
        <p:spPr>
          <a:xfrm>
            <a:off x="7801200" y="1152000"/>
            <a:ext cx="3591719" cy="4860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8017200" y="1281599"/>
            <a:ext cx="3159719" cy="216000"/>
          </a:xfrm>
          <a:prstGeom prst="rect">
            <a:avLst/>
          </a:prstGeom>
          <a:noFill/>
        </p:spPr>
        <p:txBody>
          <a:bodyPr wrap="square" anchor="t" lIns="0" rIns="0" tIns="0" bIns="0">
            <a:spAutoFit/>
          </a:bodyPr>
          <a:lstStyle/>
          <a:p>
            <a:pPr algn="l">
              <a:lnSpc>
                <a:spcPct val="125000"/>
              </a:lnSpc>
            </a:pPr>
            <a:r>
              <a:rPr sz="1400" b="1" i="0">
                <a:solidFill>
                  <a:srgbClr val="FFFFFF"/>
                </a:solidFill>
                <a:latin typeface="Source Han Sans SC"/>
              </a:rPr>
              <a:t>After Class</a:t>
            </a:r>
          </a:p>
        </p:txBody>
      </p:sp>
      <p:sp>
        <p:nvSpPr>
          <p:cNvPr id="31" name="Rectangle 30"/>
          <p:cNvSpPr/>
          <p:nvPr/>
        </p:nvSpPr>
        <p:spPr>
          <a:xfrm>
            <a:off x="7801200" y="1818000"/>
            <a:ext cx="3591719" cy="9360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017200" y="1969200"/>
            <a:ext cx="3159719" cy="216000"/>
          </a:xfrm>
          <a:prstGeom prst="rect">
            <a:avLst/>
          </a:prstGeom>
          <a:noFill/>
        </p:spPr>
        <p:txBody>
          <a:bodyPr wrap="square" anchor="t" lIns="0" rIns="0" tIns="0" bIns="0">
            <a:spAutoFit/>
          </a:bodyPr>
          <a:lstStyle/>
          <a:p>
            <a:pPr algn="l">
              <a:lnSpc>
                <a:spcPct val="125000"/>
              </a:lnSpc>
            </a:pPr>
            <a:r>
              <a:rPr sz="1350" b="1" i="0">
                <a:solidFill>
                  <a:srgbClr val="0E3F8C"/>
                </a:solidFill>
                <a:latin typeface="Source Han Sans SC"/>
              </a:rPr>
              <a:t>Finish the Lab 4 deliverables</a:t>
            </a:r>
          </a:p>
        </p:txBody>
      </p:sp>
      <p:sp>
        <p:nvSpPr>
          <p:cNvPr id="33" name="TextBox 32"/>
          <p:cNvSpPr txBox="1"/>
          <p:nvPr/>
        </p:nvSpPr>
        <p:spPr>
          <a:xfrm>
            <a:off x="8017200" y="2221200"/>
            <a:ext cx="3159719" cy="468000"/>
          </a:xfrm>
          <a:prstGeom prst="rect">
            <a:avLst/>
          </a:prstGeom>
          <a:noFill/>
        </p:spPr>
        <p:txBody>
          <a:bodyPr wrap="square" anchor="t" lIns="0" rIns="0" tIns="0" bIns="0">
            <a:spAutoFit/>
          </a:bodyPr>
          <a:lstStyle/>
          <a:p>
            <a:pPr algn="l">
              <a:lnSpc>
                <a:spcPct val="135000"/>
              </a:lnSpc>
            </a:pPr>
            <a:r>
              <a:rPr sz="1150" b="0" i="0">
                <a:solidFill>
                  <a:srgbClr val="6B7280"/>
                </a:solidFill>
                <a:latin typeface="Source Han Sans SC"/>
              </a:rPr>
              <a:t>Training script, the 3x3 hyper-parameter table, loss/accuracy curves, and one "does not converge" debugging log.</a:t>
            </a:r>
          </a:p>
        </p:txBody>
      </p:sp>
      <p:sp>
        <p:nvSpPr>
          <p:cNvPr id="34" name="Rectangle 33"/>
          <p:cNvSpPr/>
          <p:nvPr/>
        </p:nvSpPr>
        <p:spPr>
          <a:xfrm>
            <a:off x="7801200" y="2880000"/>
            <a:ext cx="3591719" cy="9360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8017200" y="3031200"/>
            <a:ext cx="3159719" cy="216000"/>
          </a:xfrm>
          <a:prstGeom prst="rect">
            <a:avLst/>
          </a:prstGeom>
          <a:noFill/>
        </p:spPr>
        <p:txBody>
          <a:bodyPr wrap="square" anchor="t" lIns="0" rIns="0" tIns="0" bIns="0">
            <a:spAutoFit/>
          </a:bodyPr>
          <a:lstStyle/>
          <a:p>
            <a:pPr algn="l">
              <a:lnSpc>
                <a:spcPct val="125000"/>
              </a:lnSpc>
            </a:pPr>
            <a:r>
              <a:rPr sz="1350" b="1" i="0">
                <a:solidFill>
                  <a:srgbClr val="0E3F8C"/>
                </a:solidFill>
                <a:latin typeface="Source Han Sans SC"/>
              </a:rPr>
              <a:t>Write one AI collaboration trace</a:t>
            </a:r>
          </a:p>
        </p:txBody>
      </p:sp>
      <p:sp>
        <p:nvSpPr>
          <p:cNvPr id="36" name="TextBox 35"/>
          <p:cNvSpPr txBox="1"/>
          <p:nvPr/>
        </p:nvSpPr>
        <p:spPr>
          <a:xfrm>
            <a:off x="8017200" y="3283200"/>
            <a:ext cx="3159719" cy="468000"/>
          </a:xfrm>
          <a:prstGeom prst="rect">
            <a:avLst/>
          </a:prstGeom>
          <a:noFill/>
        </p:spPr>
        <p:txBody>
          <a:bodyPr wrap="square" anchor="t" lIns="0" rIns="0" tIns="0" bIns="0">
            <a:spAutoFit/>
          </a:bodyPr>
          <a:lstStyle/>
          <a:p>
            <a:pPr algn="l">
              <a:lnSpc>
                <a:spcPct val="135000"/>
              </a:lnSpc>
            </a:pPr>
            <a:r>
              <a:rPr sz="1150" b="0" i="0">
                <a:solidFill>
                  <a:srgbClr val="6B7280"/>
                </a:solidFill>
                <a:latin typeface="Source Han Sans SC"/>
              </a:rPr>
              <a:t>Record one hyper-parameter suggestion from AI, what your run showed, and which part of it had no basis.</a:t>
            </a:r>
          </a:p>
        </p:txBody>
      </p:sp>
      <p:sp>
        <p:nvSpPr>
          <p:cNvPr id="37" name="Rectangle 36"/>
          <p:cNvSpPr/>
          <p:nvPr/>
        </p:nvSpPr>
        <p:spPr>
          <a:xfrm>
            <a:off x="7801200" y="3941999"/>
            <a:ext cx="3591719" cy="9360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8017200" y="4093199"/>
            <a:ext cx="3159719" cy="216000"/>
          </a:xfrm>
          <a:prstGeom prst="rect">
            <a:avLst/>
          </a:prstGeom>
          <a:noFill/>
        </p:spPr>
        <p:txBody>
          <a:bodyPr wrap="square" anchor="t" lIns="0" rIns="0" tIns="0" bIns="0">
            <a:spAutoFit/>
          </a:bodyPr>
          <a:lstStyle/>
          <a:p>
            <a:pPr algn="l">
              <a:lnSpc>
                <a:spcPct val="125000"/>
              </a:lnSpc>
            </a:pPr>
            <a:r>
              <a:rPr sz="1350" b="1" i="0">
                <a:solidFill>
                  <a:srgbClr val="0E3F8C"/>
                </a:solidFill>
                <a:latin typeface="Source Han Sans SC"/>
              </a:rPr>
              <a:t>Preview W6: regularisation and generalisation</a:t>
            </a:r>
          </a:p>
        </p:txBody>
      </p:sp>
      <p:sp>
        <p:nvSpPr>
          <p:cNvPr id="39" name="TextBox 38"/>
          <p:cNvSpPr txBox="1"/>
          <p:nvPr/>
        </p:nvSpPr>
        <p:spPr>
          <a:xfrm>
            <a:off x="8017200" y="4345200"/>
            <a:ext cx="3159719" cy="468000"/>
          </a:xfrm>
          <a:prstGeom prst="rect">
            <a:avLst/>
          </a:prstGeom>
          <a:noFill/>
        </p:spPr>
        <p:txBody>
          <a:bodyPr wrap="square" anchor="t" lIns="0" rIns="0" tIns="0" bIns="0">
            <a:spAutoFit/>
          </a:bodyPr>
          <a:lstStyle/>
          <a:p>
            <a:pPr algn="l">
              <a:lnSpc>
                <a:spcPct val="135000"/>
              </a:lnSpc>
            </a:pPr>
            <a:r>
              <a:rPr sz="1150" b="0" i="0">
                <a:solidFill>
                  <a:srgbClr val="6B7280"/>
                </a:solidFill>
                <a:latin typeface="Source Han Sans SC"/>
              </a:rPr>
              <a:t>Dropout, weight decay and early stopping — making this week's training loop steadier and less prone to overfitting.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936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4732919" y="381600"/>
            <a:ext cx="6667200" cy="5648400"/>
          </a:xfrm>
          <a:prstGeom prst="rect">
            <a:avLst/>
          </a:prstGeom>
          <a:noFill/>
        </p:spPr>
        <p:txBody>
          <a:bodyPr wrap="square" anchor="t" lIns="0" rIns="0" tIns="0" bIns="0">
            <a:spAutoFit/>
          </a:bodyPr>
          <a:lstStyle/>
          <a:p>
            <a:pPr algn="r">
              <a:lnSpc>
                <a:spcPct val="125000"/>
              </a:lnSpc>
            </a:pPr>
            <a:r>
              <a:rPr sz="17000" b="1" i="0">
                <a:solidFill>
                  <a:srgbClr val="F0F5FC"/>
                </a:solidFill>
                <a:latin typeface="Source Han Sans SC"/>
              </a:rPr>
              <a:t>05</a:t>
            </a:r>
          </a:p>
        </p:txBody>
      </p:sp>
      <p:sp>
        <p:nvSpPr>
          <p:cNvPr id="5" name="Rectangle 4"/>
          <p:cNvSpPr/>
          <p:nvPr/>
        </p:nvSpPr>
        <p:spPr>
          <a:xfrm>
            <a:off x="856800" y="936000"/>
            <a:ext cx="417600" cy="4176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914400" y="1029600"/>
            <a:ext cx="306000" cy="230400"/>
          </a:xfrm>
          <a:prstGeom prst="rect">
            <a:avLst/>
          </a:prstGeom>
          <a:noFill/>
        </p:spPr>
        <p:txBody>
          <a:bodyPr wrap="square" anchor="t" lIns="0" rIns="0" tIns="0" bIns="0">
            <a:spAutoFit/>
          </a:bodyPr>
          <a:lstStyle/>
          <a:p>
            <a:pPr algn="l">
              <a:lnSpc>
                <a:spcPct val="125000"/>
              </a:lnSpc>
            </a:pPr>
            <a:r>
              <a:rPr sz="1100" b="1" i="0">
                <a:solidFill>
                  <a:srgbClr val="FFFFFF"/>
                </a:solidFill>
                <a:latin typeface="Source Han Sans SC"/>
              </a:rPr>
              <a:t>W5</a:t>
            </a:r>
          </a:p>
        </p:txBody>
      </p:sp>
      <p:sp>
        <p:nvSpPr>
          <p:cNvPr id="7" name="Rectangle 6"/>
          <p:cNvSpPr/>
          <p:nvPr/>
        </p:nvSpPr>
        <p:spPr>
          <a:xfrm>
            <a:off x="799200" y="1584000"/>
            <a:ext cx="608400" cy="396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99200" y="1908000"/>
            <a:ext cx="8640000" cy="1980000"/>
          </a:xfrm>
          <a:prstGeom prst="rect">
            <a:avLst/>
          </a:prstGeom>
          <a:noFill/>
        </p:spPr>
        <p:txBody>
          <a:bodyPr wrap="square" anchor="t" lIns="0" rIns="0" tIns="0" bIns="0">
            <a:spAutoFit/>
          </a:bodyPr>
          <a:lstStyle/>
          <a:p>
            <a:pPr algn="l">
              <a:lnSpc>
                <a:spcPct val="135000"/>
              </a:lnSpc>
            </a:pPr>
            <a:r>
              <a:rPr sz="2700" b="1" i="0">
                <a:solidFill>
                  <a:srgbClr val="0E3F8C"/>
                </a:solidFill>
                <a:latin typeface="Source Han Sans SC"/>
              </a:rPr>
              <a:t>"Tuning is not luck;
it is experimental design."</a:t>
            </a:r>
          </a:p>
        </p:txBody>
      </p:sp>
      <p:sp>
        <p:nvSpPr>
          <p:cNvPr id="9" name="TextBox 8"/>
          <p:cNvSpPr txBox="1"/>
          <p:nvPr/>
        </p:nvSpPr>
        <p:spPr>
          <a:xfrm>
            <a:off x="799200" y="3384000"/>
            <a:ext cx="8640000" cy="432000"/>
          </a:xfrm>
          <a:prstGeom prst="rect">
            <a:avLst/>
          </a:prstGeom>
          <a:noFill/>
        </p:spPr>
        <p:txBody>
          <a:bodyPr wrap="square" anchor="t" lIns="0" rIns="0" tIns="0" bIns="0">
            <a:spAutoFit/>
          </a:bodyPr>
          <a:lstStyle/>
          <a:p>
            <a:pPr algn="l">
              <a:lnSpc>
                <a:spcPct val="125000"/>
              </a:lnSpc>
            </a:pPr>
            <a:r>
              <a:rPr sz="1350" b="0" i="0">
                <a:solidFill>
                  <a:srgbClr val="6B7280"/>
                </a:solidFill>
                <a:latin typeface="Source Han Sans SC"/>
              </a:rPr>
              <a:t>This week you deliver: a working training loop + a 3x3 comparison table + one debugging log.</a:t>
            </a:r>
          </a:p>
        </p:txBody>
      </p:sp>
      <p:sp>
        <p:nvSpPr>
          <p:cNvPr id="10" name="TextBox 9"/>
          <p:cNvSpPr txBox="1"/>
          <p:nvPr/>
        </p:nvSpPr>
        <p:spPr>
          <a:xfrm>
            <a:off x="799200" y="4176000"/>
            <a:ext cx="7920000" cy="324000"/>
          </a:xfrm>
          <a:prstGeom prst="rect">
            <a:avLst/>
          </a:prstGeom>
          <a:noFill/>
        </p:spPr>
        <p:txBody>
          <a:bodyPr wrap="square" anchor="t" lIns="0" rIns="0" tIns="0" bIns="0">
            <a:spAutoFit/>
          </a:bodyPr>
          <a:lstStyle/>
          <a:p>
            <a:pPr algn="l">
              <a:lnSpc>
                <a:spcPct val="125000"/>
              </a:lnSpc>
            </a:pPr>
            <a:r>
              <a:rPr sz="2200" b="1" i="0">
                <a:solidFill>
                  <a:srgbClr val="1F2937"/>
                </a:solidFill>
                <a:latin typeface="Source Han Sans SC"/>
              </a:rPr>
              <a:t>Thank you</a:t>
            </a:r>
          </a:p>
        </p:txBody>
      </p:sp>
      <p:sp>
        <p:nvSpPr>
          <p:cNvPr id="11" name="Rectangle 10"/>
          <p:cNvSpPr/>
          <p:nvPr/>
        </p:nvSpPr>
        <p:spPr>
          <a:xfrm>
            <a:off x="799200" y="4788000"/>
            <a:ext cx="10593719" cy="720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51200" y="4903200"/>
            <a:ext cx="10089720" cy="180000"/>
          </a:xfrm>
          <a:prstGeom prst="rect">
            <a:avLst/>
          </a:prstGeom>
          <a:noFill/>
        </p:spPr>
        <p:txBody>
          <a:bodyPr wrap="square" anchor="t" lIns="0" rIns="0" tIns="0" bIns="0">
            <a:spAutoFit/>
          </a:bodyPr>
          <a:lstStyle/>
          <a:p>
            <a:pPr algn="l">
              <a:lnSpc>
                <a:spcPct val="125000"/>
              </a:lnSpc>
            </a:pPr>
            <a:r>
              <a:rPr sz="1150" b="1" i="0">
                <a:solidFill>
                  <a:srgbClr val="1E4FA8"/>
                </a:solidFill>
                <a:latin typeface="Source Han Sans SC"/>
              </a:rPr>
              <a:t>Next week</a:t>
            </a:r>
          </a:p>
        </p:txBody>
      </p:sp>
      <p:sp>
        <p:nvSpPr>
          <p:cNvPr id="13" name="TextBox 12"/>
          <p:cNvSpPr txBox="1"/>
          <p:nvPr/>
        </p:nvSpPr>
        <p:spPr>
          <a:xfrm>
            <a:off x="1051200" y="5094000"/>
            <a:ext cx="10089720" cy="324000"/>
          </a:xfrm>
          <a:prstGeom prst="rect">
            <a:avLst/>
          </a:prstGeom>
          <a:noFill/>
        </p:spPr>
        <p:txBody>
          <a:bodyPr wrap="square" anchor="t" lIns="0" rIns="0" tIns="0" bIns="0">
            <a:spAutoFit/>
          </a:bodyPr>
          <a:lstStyle/>
          <a:p>
            <a:pPr algn="l">
              <a:lnSpc>
                <a:spcPct val="130000"/>
              </a:lnSpc>
            </a:pPr>
            <a:r>
              <a:rPr sz="1400" b="0" i="0">
                <a:solidFill>
                  <a:srgbClr val="0E3F8C"/>
                </a:solidFill>
                <a:latin typeface="Source Han Sans SC"/>
              </a:rPr>
              <a:t>W6 · Regularisation and generalisation: Dropout, weight decay and early stopping — keeping this week's model steady on data it has never seen.</a:t>
            </a:r>
          </a:p>
        </p:txBody>
      </p:sp>
      <p:sp>
        <p:nvSpPr>
          <p:cNvPr id="14" name="TextBox 13"/>
          <p:cNvSpPr txBox="1"/>
          <p:nvPr/>
        </p:nvSpPr>
        <p:spPr>
          <a:xfrm>
            <a:off x="799200" y="6494400"/>
            <a:ext cx="720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5 Lecture · 29 / 29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