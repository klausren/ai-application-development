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lr = 1e-1 (too large)</c:v>
                </c:pt>
              </c:strCache>
            </c:strRef>
          </c:tx>
          <c:spPr>
            <a:ln w="31750">
              <a:solidFill>
                <a:srgbClr val="B91C1C"/>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2.3</c:v>
                </c:pt>
                <c:pt idx="1">
                  <c:v>2.58</c:v>
                </c:pt>
                <c:pt idx="2">
                  <c:v>2.09</c:v>
                </c:pt>
                <c:pt idx="3">
                  <c:v>2.64</c:v>
                </c:pt>
                <c:pt idx="4">
                  <c:v>2.04</c:v>
                </c:pt>
                <c:pt idx="5">
                  <c:v>2.71</c:v>
                </c:pt>
                <c:pt idx="6">
                  <c:v>2.16</c:v>
                </c:pt>
                <c:pt idx="7">
                  <c:v>2.56</c:v>
                </c:pt>
                <c:pt idx="8">
                  <c:v>2.22</c:v>
                </c:pt>
                <c:pt idx="9">
                  <c:v>2.67</c:v>
                </c:pt>
              </c:numCache>
            </c:numRef>
          </c:val>
          <c:smooth/>
        </c:ser>
        <c:ser>
          <c:idx val="1"/>
          <c:order val="1"/>
          <c:tx>
            <c:strRef>
              <c:f>Sheet1!$C$1</c:f>
              <c:strCache>
                <c:ptCount val="1"/>
                <c:pt idx="0">
                  <c:v>lr = 1e-3 (about right)</c:v>
                </c:pt>
              </c:strCache>
            </c:strRef>
          </c:tx>
          <c:spPr>
            <a:ln w="22225">
              <a:solidFill>
                <a:srgbClr val="059669"/>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2.3</c:v>
                </c:pt>
                <c:pt idx="1">
                  <c:v>1.62</c:v>
                </c:pt>
                <c:pt idx="2">
                  <c:v>1.05</c:v>
                </c:pt>
                <c:pt idx="3">
                  <c:v>0.72</c:v>
                </c:pt>
                <c:pt idx="4">
                  <c:v>0.51</c:v>
                </c:pt>
                <c:pt idx="5">
                  <c:v>0.38</c:v>
                </c:pt>
                <c:pt idx="6">
                  <c:v>0.3</c:v>
                </c:pt>
                <c:pt idx="7">
                  <c:v>0.25</c:v>
                </c:pt>
                <c:pt idx="8">
                  <c:v>0.22</c:v>
                </c:pt>
                <c:pt idx="9">
                  <c:v>0.2</c:v>
                </c:pt>
              </c:numCache>
            </c:numRef>
          </c:val>
          <c:smooth/>
        </c:ser>
        <c:ser>
          <c:idx val="2"/>
          <c:order val="2"/>
          <c:tx>
            <c:strRef>
              <c:f>Sheet1!$D$1</c:f>
              <c:strCache>
                <c:ptCount val="1"/>
                <c:pt idx="0">
                  <c:v>lr = 1e-5 (too small)</c:v>
                </c:pt>
              </c:strCache>
            </c:strRef>
          </c:tx>
          <c:spPr>
            <a:ln w="22225">
              <a:solidFill>
                <a:srgbClr val="6B7280"/>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Sheet1!$D$2:$D$11</c:f>
              <c:numCache>
                <c:formatCode>General</c:formatCode>
                <c:ptCount val="10"/>
                <c:pt idx="0">
                  <c:v>2.3</c:v>
                </c:pt>
                <c:pt idx="1">
                  <c:v>2.28</c:v>
                </c:pt>
                <c:pt idx="2">
                  <c:v>2.26</c:v>
                </c:pt>
                <c:pt idx="3">
                  <c:v>2.24</c:v>
                </c:pt>
                <c:pt idx="4">
                  <c:v>2.22</c:v>
                </c:pt>
                <c:pt idx="5">
                  <c:v>2.2</c:v>
                </c:pt>
                <c:pt idx="6">
                  <c:v>2.18</c:v>
                </c:pt>
                <c:pt idx="7">
                  <c:v>2.16</c:v>
                </c:pt>
                <c:pt idx="8">
                  <c:v>2.14</c:v>
                </c:pt>
                <c:pt idx="9">
                  <c:v>2.12</c:v>
                </c:pt>
              </c:numCache>
            </c:numRef>
          </c:val>
          <c:smooth/>
        </c:ser>
        <c:marker val="1"/>
        <c:smooth val="0"/>
        <c:axId val="2118791784"/>
        <c:axId val="2140495176"/>
      </c:lineChart>
      <c:catAx>
        <c:axId val="2118791784"/>
        <c:scaling>
          <c:orientation val="minMax"/>
        </c:scaling>
        <c:delete val="0"/>
        <c:axPos val="b"/>
        <c:title>
          <c:tx>
            <c:rich>
              <a:bodyPr/>
              <a:lstStyle/>
              <a:p>
                <a:r>
                  <a:t>Epoch →</a:t>
                </a:r>
              </a:p>
            </c:rich>
          </c:tx>
          <c:layout/>
          <c:overlay val="0"/>
        </c:title>
        <c:majorTickMark val="out"/>
        <c:minorTickMark val="none"/>
        <c:tickLblPos val="nextTo"/>
        <c:crossAx val="2140495176"/>
        <c:crosses val="autoZero"/>
        <c:auto val="1"/>
        <c:lblAlgn val="ctr"/>
        <c:lblOffset val="100"/>
        <c:noMultiLvlLbl val="0"/>
      </c:catAx>
      <c:valAx>
        <c:axId val="2140495176"/>
        <c:scaling>
          <c:max val="2.8"/>
        </c:scaling>
        <c:delete val="0"/>
        <c:axPos val="l"/>
        <c:majorGridlines/>
        <c:title>
          <c:tx>
            <c:rich>
              <a:bodyPr/>
              <a:lstStyle/>
              <a:p>
                <a:r>
                  <a:t>Train loss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SGD · lr=1e-1 (diverges)</c:v>
                </c:pt>
              </c:strCache>
            </c:strRef>
          </c:tx>
          <c:spPr>
            <a:ln w="22225">
              <a:solidFill>
                <a:srgbClr val="B91C1C"/>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2.3</c:v>
                </c:pt>
                <c:pt idx="1">
                  <c:v>2.48</c:v>
                </c:pt>
                <c:pt idx="2">
                  <c:v>2.36</c:v>
                </c:pt>
                <c:pt idx="3">
                  <c:v>2.55</c:v>
                </c:pt>
                <c:pt idx="4">
                  <c:v>2.3</c:v>
                </c:pt>
                <c:pt idx="5">
                  <c:v>2.6</c:v>
                </c:pt>
                <c:pt idx="6">
                  <c:v>2.34</c:v>
                </c:pt>
                <c:pt idx="7">
                  <c:v>2.52</c:v>
                </c:pt>
                <c:pt idx="8">
                  <c:v>2.31</c:v>
                </c:pt>
                <c:pt idx="9">
                  <c:v>2.58</c:v>
                </c:pt>
              </c:numCache>
            </c:numRef>
          </c:val>
          <c:smooth/>
        </c:ser>
        <c:ser>
          <c:idx val="1"/>
          <c:order val="1"/>
          <c:tx>
            <c:strRef>
              <c:f>Sheet1!$C$1</c:f>
              <c:strCache>
                <c:ptCount val="1"/>
                <c:pt idx="0">
                  <c:v>SGD · lr=1e-3 (too slow)</c:v>
                </c:pt>
              </c:strCache>
            </c:strRef>
          </c:tx>
          <c:spPr>
            <a:ln w="22225">
              <a:solidFill>
                <a:srgbClr val="6B7280"/>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2.3</c:v>
                </c:pt>
                <c:pt idx="1">
                  <c:v>2.21</c:v>
                </c:pt>
                <c:pt idx="2">
                  <c:v>2.12</c:v>
                </c:pt>
                <c:pt idx="3">
                  <c:v>2.03</c:v>
                </c:pt>
                <c:pt idx="4">
                  <c:v>1.94</c:v>
                </c:pt>
                <c:pt idx="5">
                  <c:v>1.86</c:v>
                </c:pt>
                <c:pt idx="6">
                  <c:v>1.78</c:v>
                </c:pt>
                <c:pt idx="7">
                  <c:v>1.7</c:v>
                </c:pt>
                <c:pt idx="8">
                  <c:v>1.63</c:v>
                </c:pt>
                <c:pt idx="9">
                  <c:v>1.56</c:v>
                </c:pt>
              </c:numCache>
            </c:numRef>
          </c:val>
          <c:smooth/>
        </c:ser>
        <c:ser>
          <c:idx val="2"/>
          <c:order val="2"/>
          <c:tx>
            <c:strRef>
              <c:f>Sheet1!$D$1</c:f>
              <c:strCache>
                <c:ptCount val="1"/>
                <c:pt idx="0">
                  <c:v>Momentum · lr=1e-3 (good)</c:v>
                </c:pt>
              </c:strCache>
            </c:strRef>
          </c:tx>
          <c:spPr>
            <a:ln w="22225">
              <a:solidFill>
                <a:srgbClr val="D97706"/>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Sheet1!$D$2:$D$11</c:f>
              <c:numCache>
                <c:formatCode>General</c:formatCode>
                <c:ptCount val="10"/>
                <c:pt idx="0">
                  <c:v>2.3</c:v>
                </c:pt>
                <c:pt idx="1">
                  <c:v>1.7</c:v>
                </c:pt>
                <c:pt idx="2">
                  <c:v>1.15</c:v>
                </c:pt>
                <c:pt idx="3">
                  <c:v>0.8</c:v>
                </c:pt>
                <c:pt idx="4">
                  <c:v>0.58</c:v>
                </c:pt>
                <c:pt idx="5">
                  <c:v>0.44</c:v>
                </c:pt>
                <c:pt idx="6">
                  <c:v>0.35</c:v>
                </c:pt>
                <c:pt idx="7">
                  <c:v>0.29</c:v>
                </c:pt>
                <c:pt idx="8">
                  <c:v>0.25</c:v>
                </c:pt>
                <c:pt idx="9">
                  <c:v>0.22</c:v>
                </c:pt>
              </c:numCache>
            </c:numRef>
          </c:val>
          <c:smooth/>
        </c:ser>
        <c:ser>
          <c:idx val="3"/>
          <c:order val="3"/>
          <c:tx>
            <c:strRef>
              <c:f>Sheet1!$E$1</c:f>
              <c:strCache>
                <c:ptCount val="1"/>
                <c:pt idx="0">
                  <c:v>Adam · lr=1e-3 (best)</c:v>
                </c:pt>
              </c:strCache>
            </c:strRef>
          </c:tx>
          <c:spPr>
            <a:ln w="31750">
              <a:solidFill>
                <a:srgbClr val="059669"/>
              </a:solidFill>
            </a:ln>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Sheet1!$E$2:$E$11</c:f>
              <c:numCache>
                <c:formatCode>General</c:formatCode>
                <c:ptCount val="10"/>
                <c:pt idx="0">
                  <c:v>2.3</c:v>
                </c:pt>
                <c:pt idx="1">
                  <c:v>1.35</c:v>
                </c:pt>
                <c:pt idx="2">
                  <c:v>0.78</c:v>
                </c:pt>
                <c:pt idx="3">
                  <c:v>0.48</c:v>
                </c:pt>
                <c:pt idx="4">
                  <c:v>0.33</c:v>
                </c:pt>
                <c:pt idx="5">
                  <c:v>0.24</c:v>
                </c:pt>
                <c:pt idx="6">
                  <c:v>0.19</c:v>
                </c:pt>
                <c:pt idx="7">
                  <c:v>0.16</c:v>
                </c:pt>
                <c:pt idx="8">
                  <c:v>0.14</c:v>
                </c:pt>
                <c:pt idx="9">
                  <c:v>0.13</c:v>
                </c:pt>
              </c:numCache>
            </c:numRef>
          </c:val>
          <c:smooth/>
        </c:ser>
        <c:marker val="1"/>
        <c:smooth val="0"/>
        <c:axId val="2118791784"/>
        <c:axId val="2140495176"/>
      </c:lineChart>
      <c:catAx>
        <c:axId val="2118791784"/>
        <c:scaling>
          <c:orientation val="minMax"/>
        </c:scaling>
        <c:delete val="0"/>
        <c:axPos val="b"/>
        <c:title>
          <c:tx>
            <c:rich>
              <a:bodyPr/>
              <a:lstStyle/>
              <a:p>
                <a:r>
                  <a:t>Epoch →</a:t>
                </a:r>
              </a:p>
            </c:rich>
          </c:tx>
          <c:layout/>
          <c:overlay val="0"/>
        </c:title>
        <c:majorTickMark val="out"/>
        <c:minorTickMark val="none"/>
        <c:tickLblPos val="nextTo"/>
        <c:crossAx val="2140495176"/>
        <c:crosses val="autoZero"/>
        <c:auto val="1"/>
        <c:lblAlgn val="ctr"/>
        <c:lblOffset val="100"/>
        <c:noMultiLvlLbl val="0"/>
      </c:catAx>
      <c:valAx>
        <c:axId val="2140495176"/>
        <c:scaling>
          <c:max val="2.8"/>
        </c:scaling>
        <c:delete val="0"/>
        <c:axPos val="l"/>
        <c:majorGridlines/>
        <c:title>
          <c:tx>
            <c:rich>
              <a:bodyPr/>
              <a:lstStyle/>
              <a:p>
                <a:r>
                  <a:t>Val loss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Source Han Sans SC"/>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133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33200"/>
            <a:ext cx="12192119" cy="576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6096059" y="856800"/>
            <a:ext cx="5296859" cy="4572000"/>
          </a:xfrm>
          <a:prstGeom prst="rect">
            <a:avLst/>
          </a:prstGeom>
          <a:noFill/>
        </p:spPr>
        <p:txBody>
          <a:bodyPr wrap="square" anchor="t" lIns="0" rIns="0" tIns="0" bIns="0">
            <a:spAutoFit/>
          </a:bodyPr>
          <a:lstStyle/>
          <a:p>
            <a:pPr algn="r">
              <a:lnSpc>
                <a:spcPct val="125000"/>
              </a:lnSpc>
            </a:pPr>
            <a:r>
              <a:rPr sz="19000" b="1" i="0">
                <a:solidFill>
                  <a:srgbClr val="F0F5FC"/>
                </a:solidFill>
                <a:latin typeface="Source Han Sans SC"/>
              </a:rPr>
              <a:t>05</a:t>
            </a:r>
          </a:p>
        </p:txBody>
      </p:sp>
      <p:sp>
        <p:nvSpPr>
          <p:cNvPr id="6" name="TextBox 5"/>
          <p:cNvSpPr txBox="1"/>
          <p:nvPr/>
        </p:nvSpPr>
        <p:spPr>
          <a:xfrm>
            <a:off x="799200" y="856800"/>
            <a:ext cx="7200000" cy="216000"/>
          </a:xfrm>
          <a:prstGeom prst="rect">
            <a:avLst/>
          </a:prstGeom>
          <a:noFill/>
        </p:spPr>
        <p:txBody>
          <a:bodyPr wrap="square" anchor="t" lIns="0" rIns="0" tIns="0" bIns="0">
            <a:spAutoFit/>
          </a:bodyPr>
          <a:lstStyle/>
          <a:p>
            <a:pPr algn="l">
              <a:lnSpc>
                <a:spcPct val="125000"/>
              </a:lnSpc>
            </a:pPr>
            <a:r>
              <a:rPr sz="1150" b="1" i="0">
                <a:solidFill>
                  <a:srgbClr val="1E4FA8"/>
                </a:solidFill>
                <a:latin typeface="Source Han Sans SC"/>
              </a:rPr>
              <a:t>52015CC3BV · UNDERGRADUATE · INTERNATIONAL</a:t>
            </a:r>
          </a:p>
        </p:txBody>
      </p:sp>
      <p:sp>
        <p:nvSpPr>
          <p:cNvPr id="7" name="Rectangle 6"/>
          <p:cNvSpPr/>
          <p:nvPr/>
        </p:nvSpPr>
        <p:spPr>
          <a:xfrm>
            <a:off x="799200" y="12672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609200"/>
            <a:ext cx="10593719" cy="540000"/>
          </a:xfrm>
          <a:prstGeom prst="rect">
            <a:avLst/>
          </a:prstGeom>
          <a:noFill/>
        </p:spPr>
        <p:txBody>
          <a:bodyPr wrap="square" anchor="t" lIns="0" rIns="0" tIns="0" bIns="0">
            <a:spAutoFit/>
          </a:bodyPr>
          <a:lstStyle/>
          <a:p>
            <a:pPr algn="l">
              <a:lnSpc>
                <a:spcPct val="125000"/>
              </a:lnSpc>
            </a:pPr>
            <a:r>
              <a:rPr sz="4000" b="1" i="0">
                <a:solidFill>
                  <a:srgbClr val="0E3F8C"/>
                </a:solidFill>
                <a:latin typeface="Source Han Sans SC"/>
              </a:rPr>
              <a:t>Training Loop, Loss and Optimizer</a:t>
            </a:r>
          </a:p>
        </p:txBody>
      </p:sp>
      <p:sp>
        <p:nvSpPr>
          <p:cNvPr id="9" name="TextBox 8"/>
          <p:cNvSpPr txBox="1"/>
          <p:nvPr/>
        </p:nvSpPr>
        <p:spPr>
          <a:xfrm>
            <a:off x="799200" y="2232000"/>
            <a:ext cx="10593719" cy="972000"/>
          </a:xfrm>
          <a:prstGeom prst="rect">
            <a:avLst/>
          </a:prstGeom>
          <a:noFill/>
        </p:spPr>
        <p:txBody>
          <a:bodyPr wrap="square" anchor="t" lIns="0" rIns="0" tIns="0" bIns="0">
            <a:spAutoFit/>
          </a:bodyPr>
          <a:lstStyle/>
          <a:p>
            <a:pPr algn="l">
              <a:lnSpc>
                <a:spcPct val="125000"/>
              </a:lnSpc>
            </a:pPr>
            <a:r>
              <a:rPr sz="2500" b="0" i="0">
                <a:solidFill>
                  <a:srgbClr val="1F2937"/>
                </a:solidFill>
                <a:latin typeface="Source Han Sans SC"/>
              </a:rPr>
              <a:t>What we optimise, how we walk, how big the step</a:t>
            </a:r>
          </a:p>
        </p:txBody>
      </p:sp>
      <p:sp>
        <p:nvSpPr>
          <p:cNvPr id="10" name="TextBox 9"/>
          <p:cNvSpPr txBox="1"/>
          <p:nvPr/>
        </p:nvSpPr>
        <p:spPr>
          <a:xfrm>
            <a:off x="799200" y="3344399"/>
            <a:ext cx="10593719" cy="288000"/>
          </a:xfrm>
          <a:prstGeom prst="rect">
            <a:avLst/>
          </a:prstGeom>
          <a:noFill/>
        </p:spPr>
        <p:txBody>
          <a:bodyPr wrap="square" anchor="t" lIns="0" rIns="0" tIns="0" bIns="0">
            <a:spAutoFit/>
          </a:bodyPr>
          <a:lstStyle/>
          <a:p>
            <a:pPr algn="l">
              <a:lnSpc>
                <a:spcPct val="125000"/>
              </a:lnSpc>
            </a:pPr>
            <a:r>
              <a:rPr sz="1400" b="0" i="0">
                <a:solidFill>
                  <a:srgbClr val="6B7280"/>
                </a:solidFill>
                <a:latin typeface="Source Han Sans SC"/>
              </a:rPr>
              <a:t>Week 5 · Choosing a loss · Optimizers compared · Learning rate · The five-step loop · Logging &amp; plots</a:t>
            </a:r>
          </a:p>
        </p:txBody>
      </p:sp>
      <p:sp>
        <p:nvSpPr>
          <p:cNvPr id="11" name="Rectangle 10"/>
          <p:cNvSpPr/>
          <p:nvPr/>
        </p:nvSpPr>
        <p:spPr>
          <a:xfrm>
            <a:off x="799200" y="5295600"/>
            <a:ext cx="187247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2000" y="5364000"/>
            <a:ext cx="1526875"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Module 2 · W5-8</a:t>
            </a:r>
          </a:p>
        </p:txBody>
      </p:sp>
      <p:sp>
        <p:nvSpPr>
          <p:cNvPr id="13" name="Rectangle 12"/>
          <p:cNvSpPr/>
          <p:nvPr/>
        </p:nvSpPr>
        <p:spPr>
          <a:xfrm>
            <a:off x="2894875" y="5295600"/>
            <a:ext cx="2808713"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67675" y="5364000"/>
            <a:ext cx="2463113"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180 min · Lecture + Lab + Quiz</a:t>
            </a:r>
          </a:p>
        </p:txBody>
      </p:sp>
      <p:sp>
        <p:nvSpPr>
          <p:cNvPr id="15" name="Rectangle 14"/>
          <p:cNvSpPr/>
          <p:nvPr/>
        </p:nvSpPr>
        <p:spPr>
          <a:xfrm>
            <a:off x="5926788" y="5295600"/>
            <a:ext cx="337045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99588" y="5364000"/>
            <a:ext cx="3024855"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PyTorch · optimizers · learning rate · logs</a:t>
            </a:r>
          </a:p>
        </p:txBody>
      </p:sp>
      <p:sp>
        <p:nvSpPr>
          <p:cNvPr id="17" name="Rectangle 16"/>
          <p:cNvSpPr/>
          <p:nvPr/>
        </p:nvSpPr>
        <p:spPr>
          <a:xfrm>
            <a:off x="9520444" y="5295600"/>
            <a:ext cx="1872475" cy="324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93244" y="5364000"/>
            <a:ext cx="1526875" cy="190800"/>
          </a:xfrm>
          <a:prstGeom prst="rect">
            <a:avLst/>
          </a:prstGeom>
          <a:noFill/>
        </p:spPr>
        <p:txBody>
          <a:bodyPr wrap="square" anchor="t" lIns="0" rIns="0" tIns="0" bIns="0">
            <a:spAutoFit/>
          </a:bodyPr>
          <a:lstStyle/>
          <a:p>
            <a:pPr algn="l">
              <a:lnSpc>
                <a:spcPct val="125000"/>
              </a:lnSpc>
            </a:pPr>
            <a:r>
              <a:rPr sz="1150" b="1" i="0">
                <a:solidFill>
                  <a:srgbClr val="0E3F8C"/>
                </a:solidFill>
                <a:latin typeface="Source Han Sans SC"/>
              </a:rPr>
              <a:t>International Students</a:t>
            </a:r>
          </a:p>
        </p:txBody>
      </p:sp>
      <p:sp>
        <p:nvSpPr>
          <p:cNvPr id="19" name="Rectangle 18"/>
          <p:cNvSpPr/>
          <p:nvPr/>
        </p:nvSpPr>
        <p:spPr>
          <a:xfrm>
            <a:off x="799200" y="5868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6800" y="5961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W5</a:t>
            </a:r>
          </a:p>
        </p:txBody>
      </p:sp>
      <p:sp>
        <p:nvSpPr>
          <p:cNvPr id="21" name="TextBox 20"/>
          <p:cNvSpPr txBox="1"/>
          <p:nvPr/>
        </p:nvSpPr>
        <p:spPr>
          <a:xfrm>
            <a:off x="1332000" y="5983200"/>
            <a:ext cx="5760000" cy="2016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Lecturer: ____________  ·  School of Software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Contents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02 / 31</a:t>
            </a:r>
          </a:p>
        </p:txBody>
      </p:sp>
      <p:sp>
        <p:nvSpPr>
          <p:cNvPr id="9" name="Rectangle 8"/>
          <p:cNvSpPr/>
          <p:nvPr/>
        </p:nvSpPr>
        <p:spPr>
          <a:xfrm>
            <a:off x="799200" y="1044000"/>
            <a:ext cx="2858400" cy="49536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47600" y="2163600"/>
            <a:ext cx="2361600" cy="496800"/>
          </a:xfrm>
          <a:prstGeom prst="rect">
            <a:avLst/>
          </a:prstGeom>
          <a:noFill/>
        </p:spPr>
        <p:txBody>
          <a:bodyPr wrap="square" anchor="t" lIns="0" rIns="0" tIns="0" bIns="0">
            <a:spAutoFit/>
          </a:bodyPr>
          <a:lstStyle/>
          <a:p>
            <a:pPr algn="l">
              <a:lnSpc>
                <a:spcPct val="125000"/>
              </a:lnSpc>
            </a:pPr>
            <a:r>
              <a:rPr sz="2600" b="1" i="0">
                <a:solidFill>
                  <a:srgbClr val="0E3F8C"/>
                </a:solidFill>
                <a:latin typeface="Source Han Sans SC"/>
              </a:rPr>
              <a:t>5 Parts</a:t>
            </a:r>
          </a:p>
        </p:txBody>
      </p:sp>
      <p:sp>
        <p:nvSpPr>
          <p:cNvPr id="11" name="TextBox 10"/>
          <p:cNvSpPr txBox="1"/>
          <p:nvPr/>
        </p:nvSpPr>
        <p:spPr>
          <a:xfrm>
            <a:off x="1047600" y="2628000"/>
            <a:ext cx="2361600" cy="280800"/>
          </a:xfrm>
          <a:prstGeom prst="rect">
            <a:avLst/>
          </a:prstGeom>
          <a:noFill/>
        </p:spPr>
        <p:txBody>
          <a:bodyPr wrap="square" anchor="t" lIns="0" rIns="0" tIns="0" bIns="0">
            <a:spAutoFit/>
          </a:bodyPr>
          <a:lstStyle/>
          <a:p>
            <a:pPr algn="l">
              <a:lnSpc>
                <a:spcPct val="125000"/>
              </a:lnSpc>
            </a:pPr>
            <a:r>
              <a:rPr sz="1150" b="1" i="0">
                <a:solidFill>
                  <a:srgbClr val="6B7280"/>
                </a:solidFill>
                <a:latin typeface="Source Han Sans SC"/>
              </a:rPr>
              <a:t>Part</a:t>
            </a:r>
          </a:p>
        </p:txBody>
      </p:sp>
      <p:sp>
        <p:nvSpPr>
          <p:cNvPr id="12" name="Rectangle 11"/>
          <p:cNvSpPr/>
          <p:nvPr/>
        </p:nvSpPr>
        <p:spPr>
          <a:xfrm>
            <a:off x="1047600" y="2991600"/>
            <a:ext cx="2361600" cy="18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47600" y="3160800"/>
            <a:ext cx="2361600" cy="8964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The loss names what you optimise, the optimizer decides how you walk, the learning rate decides how big a step you take.</a:t>
            </a:r>
          </a:p>
        </p:txBody>
      </p:sp>
      <p:sp>
        <p:nvSpPr>
          <p:cNvPr id="14" name="Rectangle 13"/>
          <p:cNvSpPr/>
          <p:nvPr/>
        </p:nvSpPr>
        <p:spPr>
          <a:xfrm>
            <a:off x="1047600" y="4208400"/>
            <a:ext cx="2361600" cy="6876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80800" y="4305600"/>
            <a:ext cx="2095200" cy="4967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Theory ~90 min · Lab 80 min · Quiz &amp; Summary 10 min</a:t>
            </a:r>
          </a:p>
        </p:txBody>
      </p:sp>
      <p:sp>
        <p:nvSpPr>
          <p:cNvPr id="16" name="Rectangle 15"/>
          <p:cNvSpPr/>
          <p:nvPr/>
        </p:nvSpPr>
        <p:spPr>
          <a:xfrm>
            <a:off x="3924000" y="16488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999600" y="17712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999600" y="18720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01</a:t>
            </a:r>
          </a:p>
        </p:txBody>
      </p:sp>
      <p:sp>
        <p:nvSpPr>
          <p:cNvPr id="19" name="TextBox 18"/>
          <p:cNvSpPr txBox="1"/>
          <p:nvPr/>
        </p:nvSpPr>
        <p:spPr>
          <a:xfrm>
            <a:off x="4687200" y="17892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The Loss: What We Optimise</a:t>
            </a:r>
          </a:p>
        </p:txBody>
      </p:sp>
      <p:sp>
        <p:nvSpPr>
          <p:cNvPr id="20" name="TextBox 19"/>
          <p:cNvSpPr txBox="1"/>
          <p:nvPr/>
        </p:nvSpPr>
        <p:spPr>
          <a:xfrm>
            <a:off x="4687200" y="2077199"/>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Loss</a:t>
            </a:r>
          </a:p>
        </p:txBody>
      </p:sp>
      <p:sp>
        <p:nvSpPr>
          <p:cNvPr id="21" name="TextBox 20"/>
          <p:cNvSpPr txBox="1"/>
          <p:nvPr/>
        </p:nvSpPr>
        <p:spPr>
          <a:xfrm>
            <a:off x="4687200" y="22680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Task type decides the loss · three common losses · one classic pitfall</a:t>
            </a:r>
          </a:p>
        </p:txBody>
      </p:sp>
      <p:sp>
        <p:nvSpPr>
          <p:cNvPr id="22" name="Right Arrow 21"/>
          <p:cNvSpPr/>
          <p:nvPr/>
        </p:nvSpPr>
        <p:spPr>
          <a:xfrm>
            <a:off x="11048400" y="19332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924000" y="24012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999600" y="25236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999600" y="26244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02</a:t>
            </a:r>
          </a:p>
        </p:txBody>
      </p:sp>
      <p:sp>
        <p:nvSpPr>
          <p:cNvPr id="26" name="TextBox 25"/>
          <p:cNvSpPr txBox="1"/>
          <p:nvPr/>
        </p:nvSpPr>
        <p:spPr>
          <a:xfrm>
            <a:off x="4687200" y="25416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Optimizers: How We Update</a:t>
            </a:r>
          </a:p>
        </p:txBody>
      </p:sp>
      <p:sp>
        <p:nvSpPr>
          <p:cNvPr id="27" name="TextBox 26"/>
          <p:cNvSpPr txBox="1"/>
          <p:nvPr/>
        </p:nvSpPr>
        <p:spPr>
          <a:xfrm>
            <a:off x="4687200" y="28296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Optimizer</a:t>
            </a:r>
          </a:p>
        </p:txBody>
      </p:sp>
      <p:sp>
        <p:nvSpPr>
          <p:cNvPr id="28" name="TextBox 27"/>
          <p:cNvSpPr txBox="1"/>
          <p:nvPr/>
        </p:nvSpPr>
        <p:spPr>
          <a:xfrm>
            <a:off x="4687200" y="30204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SGD · momentum · Adam · what differs and what it costs</a:t>
            </a:r>
          </a:p>
        </p:txBody>
      </p:sp>
      <p:sp>
        <p:nvSpPr>
          <p:cNvPr id="29" name="Right Arrow 28"/>
          <p:cNvSpPr/>
          <p:nvPr/>
        </p:nvSpPr>
        <p:spPr>
          <a:xfrm>
            <a:off x="11048400" y="26856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924000" y="31536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999600" y="32760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99600" y="33767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03</a:t>
            </a:r>
          </a:p>
        </p:txBody>
      </p:sp>
      <p:sp>
        <p:nvSpPr>
          <p:cNvPr id="33" name="TextBox 32"/>
          <p:cNvSpPr txBox="1"/>
          <p:nvPr/>
        </p:nvSpPr>
        <p:spPr>
          <a:xfrm>
            <a:off x="4687200" y="32940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Learning Rate: The First Hyper-parameter</a:t>
            </a:r>
          </a:p>
        </p:txBody>
      </p:sp>
      <p:sp>
        <p:nvSpPr>
          <p:cNvPr id="34" name="TextBox 33"/>
          <p:cNvSpPr txBox="1"/>
          <p:nvPr/>
        </p:nvSpPr>
        <p:spPr>
          <a:xfrm>
            <a:off x="4687200" y="3581999"/>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Learning rate</a:t>
            </a:r>
          </a:p>
        </p:txBody>
      </p:sp>
      <p:sp>
        <p:nvSpPr>
          <p:cNvPr id="35" name="TextBox 34"/>
          <p:cNvSpPr txBox="1"/>
          <p:nvPr/>
        </p:nvSpPr>
        <p:spPr>
          <a:xfrm>
            <a:off x="4687200" y="37728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Symptoms of too large / too small · schedules · reading the loss curve</a:t>
            </a:r>
          </a:p>
        </p:txBody>
      </p:sp>
      <p:sp>
        <p:nvSpPr>
          <p:cNvPr id="36" name="Right Arrow 35"/>
          <p:cNvSpPr/>
          <p:nvPr/>
        </p:nvSpPr>
        <p:spPr>
          <a:xfrm>
            <a:off x="11048400" y="34380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924000" y="39060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999600" y="40284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999600" y="4129199"/>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04</a:t>
            </a:r>
          </a:p>
        </p:txBody>
      </p:sp>
      <p:sp>
        <p:nvSpPr>
          <p:cNvPr id="40" name="TextBox 39"/>
          <p:cNvSpPr txBox="1"/>
          <p:nvPr/>
        </p:nvSpPr>
        <p:spPr>
          <a:xfrm>
            <a:off x="4687200" y="40464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The Five-Step Training Loop</a:t>
            </a:r>
          </a:p>
        </p:txBody>
      </p:sp>
      <p:sp>
        <p:nvSpPr>
          <p:cNvPr id="41" name="TextBox 40"/>
          <p:cNvSpPr txBox="1"/>
          <p:nvPr/>
        </p:nvSpPr>
        <p:spPr>
          <a:xfrm>
            <a:off x="4687200" y="43344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Training loop</a:t>
            </a:r>
          </a:p>
        </p:txBody>
      </p:sp>
      <p:sp>
        <p:nvSpPr>
          <p:cNvPr id="42" name="TextBox 41"/>
          <p:cNvSpPr txBox="1"/>
          <p:nvPr/>
        </p:nvSpPr>
        <p:spPr>
          <a:xfrm>
            <a:off x="4687200" y="45252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Zero → forward → loss → backward → step · logs and batch size</a:t>
            </a:r>
          </a:p>
        </p:txBody>
      </p:sp>
      <p:sp>
        <p:nvSpPr>
          <p:cNvPr id="43" name="Right Arrow 42"/>
          <p:cNvSpPr/>
          <p:nvPr/>
        </p:nvSpPr>
        <p:spPr>
          <a:xfrm>
            <a:off x="11048400" y="41904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924000" y="4658400"/>
            <a:ext cx="7466399" cy="7632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999600" y="4780800"/>
            <a:ext cx="496799" cy="496799"/>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3999600" y="4881600"/>
            <a:ext cx="496799" cy="230400"/>
          </a:xfrm>
          <a:prstGeom prst="rect">
            <a:avLst/>
          </a:prstGeom>
          <a:noFill/>
        </p:spPr>
        <p:txBody>
          <a:bodyPr wrap="square" anchor="t" lIns="0" rIns="0" tIns="0" bIns="0">
            <a:spAutoFit/>
          </a:bodyPr>
          <a:lstStyle/>
          <a:p>
            <a:pPr algn="ctr">
              <a:lnSpc>
                <a:spcPct val="125000"/>
              </a:lnSpc>
            </a:pPr>
            <a:r>
              <a:rPr sz="1700" b="1" i="0">
                <a:solidFill>
                  <a:srgbClr val="1E4FA8"/>
                </a:solidFill>
                <a:latin typeface="Source Han Sans SC"/>
              </a:rPr>
              <a:t>05</a:t>
            </a:r>
          </a:p>
        </p:txBody>
      </p:sp>
      <p:sp>
        <p:nvSpPr>
          <p:cNvPr id="47" name="TextBox 46"/>
          <p:cNvSpPr txBox="1"/>
          <p:nvPr/>
        </p:nvSpPr>
        <p:spPr>
          <a:xfrm>
            <a:off x="4687200" y="4798800"/>
            <a:ext cx="4320000" cy="277200"/>
          </a:xfrm>
          <a:prstGeom prst="rect">
            <a:avLst/>
          </a:prstGeom>
          <a:noFill/>
        </p:spPr>
        <p:txBody>
          <a:bodyPr wrap="square" anchor="t" lIns="0" rIns="0" tIns="0" bIns="0">
            <a:spAutoFit/>
          </a:bodyPr>
          <a:lstStyle/>
          <a:p>
            <a:pPr algn="l">
              <a:lnSpc>
                <a:spcPct val="125000"/>
              </a:lnSpc>
            </a:pPr>
            <a:r>
              <a:rPr sz="1600" b="1" i="0">
                <a:solidFill>
                  <a:srgbClr val="0E3F8C"/>
                </a:solidFill>
                <a:latin typeface="Source Han Sans SC"/>
              </a:rPr>
              <a:t>Lab · Optimizers × Learning Rates</a:t>
            </a:r>
          </a:p>
        </p:txBody>
      </p:sp>
      <p:sp>
        <p:nvSpPr>
          <p:cNvPr id="48" name="TextBox 47"/>
          <p:cNvSpPr txBox="1"/>
          <p:nvPr/>
        </p:nvSpPr>
        <p:spPr>
          <a:xfrm>
            <a:off x="4687200" y="5086800"/>
            <a:ext cx="4320000" cy="162000"/>
          </a:xfrm>
          <a:prstGeom prst="rect">
            <a:avLst/>
          </a:prstGeom>
          <a:noFill/>
        </p:spPr>
        <p:txBody>
          <a:bodyPr wrap="square" anchor="t" lIns="0" rIns="0" tIns="0" bIns="0">
            <a:spAutoFit/>
          </a:bodyPr>
          <a:lstStyle/>
          <a:p>
            <a:pPr algn="l">
              <a:lnSpc>
                <a:spcPct val="125000"/>
              </a:lnSpc>
            </a:pPr>
            <a:r>
              <a:rPr sz="1150" b="1" i="0">
                <a:solidFill>
                  <a:srgbClr val="3D7BD9"/>
                </a:solidFill>
                <a:latin typeface="Source Han Sans SC"/>
              </a:rPr>
              <a:t>Hands-On Lab</a:t>
            </a:r>
          </a:p>
        </p:txBody>
      </p:sp>
      <p:sp>
        <p:nvSpPr>
          <p:cNvPr id="49" name="TextBox 48"/>
          <p:cNvSpPr txBox="1"/>
          <p:nvPr/>
        </p:nvSpPr>
        <p:spPr>
          <a:xfrm>
            <a:off x="4687200" y="5277600"/>
            <a:ext cx="6249600" cy="162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3 optimizers x 3 learning rates · loss/accuracy curves · the best combo and why</a:t>
            </a:r>
          </a:p>
        </p:txBody>
      </p:sp>
      <p:sp>
        <p:nvSpPr>
          <p:cNvPr id="50" name="Right Arrow 49"/>
          <p:cNvSpPr/>
          <p:nvPr/>
        </p:nvSpPr>
        <p:spPr>
          <a:xfrm>
            <a:off x="11048400" y="4942800"/>
            <a:ext cx="180000" cy="1908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01</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01</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The Loss: What We Optimise</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Loss</a:t>
            </a:r>
          </a:p>
        </p:txBody>
      </p:sp>
      <p:sp>
        <p:nvSpPr>
          <p:cNvPr id="9" name="TextBox 8"/>
          <p:cNvSpPr txBox="1"/>
          <p:nvPr/>
        </p:nvSpPr>
        <p:spPr>
          <a:xfrm>
            <a:off x="799200" y="2736000"/>
            <a:ext cx="8640000" cy="11726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Training is not vaguely "making the model better" — it is driving one number down.
The loss function is that number; choose it wrongly and the model spends its effort where you do not care.</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Task Decides</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Multi-class / binary / regression</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Activation Inside</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Do not softmax by hand</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Numerically Stable</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The logits version is safer</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Three Task Types, Three Losses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04 / 31</a:t>
            </a:r>
          </a:p>
        </p:txBody>
      </p:sp>
      <p:sp>
        <p:nvSpPr>
          <p:cNvPr id="9" name="Rectangle 8"/>
          <p:cNvSpPr/>
          <p:nvPr/>
        </p:nvSpPr>
        <p:spPr>
          <a:xfrm>
            <a:off x="799200" y="1296000"/>
            <a:ext cx="3387239"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30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Multi-class</a:t>
            </a:r>
          </a:p>
        </p:txBody>
      </p:sp>
      <p:sp>
        <p:nvSpPr>
          <p:cNvPr id="12" name="TextBox 11"/>
          <p:cNvSpPr txBox="1"/>
          <p:nvPr/>
        </p:nvSpPr>
        <p:spPr>
          <a:xfrm>
            <a:off x="1022400"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nn.CrossEntropyLoss</a:t>
            </a:r>
          </a:p>
        </p:txBody>
      </p:sp>
      <p:sp>
        <p:nvSpPr>
          <p:cNvPr id="13" name="TextBox 12"/>
          <p:cNvSpPr txBox="1"/>
          <p:nvPr/>
        </p:nvSpPr>
        <p:spPr>
          <a:xfrm>
            <a:off x="1022400" y="1915200"/>
            <a:ext cx="294083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Takes raw logits of shape (N, C)</a:t>
            </a:r>
          </a:p>
          <a:p>
            <a:pPr algn="l">
              <a:lnSpc>
                <a:spcPct val="140000"/>
              </a:lnSpc>
              <a:spcAft>
                <a:spcPts val="400"/>
              </a:spcAft>
            </a:pPr>
            <a:r>
              <a:rPr sz="1200" b="0" i="0">
                <a:solidFill>
                  <a:srgbClr val="1F2937"/>
                </a:solidFill>
                <a:latin typeface="Source Han Sans SC"/>
              </a:rPr>
              <a:t>• Labels are class indices (long)</a:t>
            </a:r>
          </a:p>
          <a:p>
            <a:pPr algn="l">
              <a:lnSpc>
                <a:spcPct val="140000"/>
              </a:lnSpc>
              <a:spcAft>
                <a:spcPts val="400"/>
              </a:spcAft>
            </a:pPr>
            <a:r>
              <a:rPr sz="1200" b="0" i="0">
                <a:solidFill>
                  <a:srgbClr val="1F2937"/>
                </a:solidFill>
                <a:latin typeface="Source Han Sans SC"/>
              </a:rPr>
              <a:t>• softmax is built in — do not repeat it</a:t>
            </a:r>
          </a:p>
          <a:p>
            <a:pPr algn="l">
              <a:lnSpc>
                <a:spcPct val="140000"/>
              </a:lnSpc>
              <a:spcAft>
                <a:spcPts val="400"/>
              </a:spcAft>
            </a:pPr>
            <a:r>
              <a:rPr sz="1200" b="0" i="0">
                <a:solidFill>
                  <a:srgbClr val="1F2937"/>
                </a:solidFill>
                <a:latin typeface="Source Han Sans SC"/>
              </a:rPr>
              <a:t>• e.g. 10-class image classification</a:t>
            </a:r>
          </a:p>
        </p:txBody>
      </p:sp>
      <p:sp>
        <p:nvSpPr>
          <p:cNvPr id="14" name="Rectangle 13"/>
          <p:cNvSpPr/>
          <p:nvPr/>
        </p:nvSpPr>
        <p:spPr>
          <a:xfrm>
            <a:off x="4402440" y="1296000"/>
            <a:ext cx="3387239" cy="2304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96000"/>
            <a:ext cx="32400" cy="2304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Binary / Multi-label</a:t>
            </a:r>
          </a:p>
        </p:txBody>
      </p:sp>
      <p:sp>
        <p:nvSpPr>
          <p:cNvPr id="17" name="TextBox 16"/>
          <p:cNvSpPr txBox="1"/>
          <p:nvPr/>
        </p:nvSpPr>
        <p:spPr>
          <a:xfrm>
            <a:off x="462563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nn.BCEWithLogitsLoss</a:t>
            </a:r>
          </a:p>
        </p:txBody>
      </p:sp>
      <p:sp>
        <p:nvSpPr>
          <p:cNvPr id="18" name="TextBox 17"/>
          <p:cNvSpPr txBox="1"/>
          <p:nvPr/>
        </p:nvSpPr>
        <p:spPr>
          <a:xfrm>
            <a:off x="4625639" y="1915200"/>
            <a:ext cx="294083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Takes logits, shape (N,) or (N, 1)</a:t>
            </a:r>
          </a:p>
          <a:p>
            <a:pPr algn="l">
              <a:lnSpc>
                <a:spcPct val="140000"/>
              </a:lnSpc>
              <a:spcAft>
                <a:spcPts val="400"/>
              </a:spcAft>
            </a:pPr>
            <a:r>
              <a:rPr sz="1200" b="0" i="0">
                <a:solidFill>
                  <a:srgbClr val="1F2937"/>
                </a:solidFill>
                <a:latin typeface="Source Han Sans SC"/>
              </a:rPr>
              <a:t>• Targets must be float (0.0 / 1.0)</a:t>
            </a:r>
          </a:p>
          <a:p>
            <a:pPr algn="l">
              <a:lnSpc>
                <a:spcPct val="140000"/>
              </a:lnSpc>
              <a:spcAft>
                <a:spcPts val="400"/>
              </a:spcAft>
            </a:pPr>
            <a:r>
              <a:rPr sz="1200" b="0" i="0">
                <a:solidFill>
                  <a:srgbClr val="1F2937"/>
                </a:solidFill>
                <a:latin typeface="Source Han Sans SC"/>
              </a:rPr>
              <a:t>• sigmoid is built in</a:t>
            </a:r>
          </a:p>
          <a:p>
            <a:pPr algn="l">
              <a:lnSpc>
                <a:spcPct val="140000"/>
              </a:lnSpc>
              <a:spcAft>
                <a:spcPts val="400"/>
              </a:spcAft>
            </a:pPr>
            <a:r>
              <a:rPr sz="1200" b="0" i="0">
                <a:solidFill>
                  <a:srgbClr val="1F2937"/>
                </a:solidFill>
                <a:latin typeface="Source Han Sans SC"/>
              </a:rPr>
              <a:t>• For multi-label each class is independent</a:t>
            </a:r>
          </a:p>
        </p:txBody>
      </p:sp>
      <p:sp>
        <p:nvSpPr>
          <p:cNvPr id="19" name="Rectangle 18"/>
          <p:cNvSpPr/>
          <p:nvPr/>
        </p:nvSpPr>
        <p:spPr>
          <a:xfrm>
            <a:off x="8005679" y="1296000"/>
            <a:ext cx="3387239" cy="23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96000"/>
            <a:ext cx="32400" cy="230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Regression</a:t>
            </a:r>
          </a:p>
        </p:txBody>
      </p:sp>
      <p:sp>
        <p:nvSpPr>
          <p:cNvPr id="22" name="TextBox 21"/>
          <p:cNvSpPr txBox="1"/>
          <p:nvPr/>
        </p:nvSpPr>
        <p:spPr>
          <a:xfrm>
            <a:off x="822887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nn.MSELoss</a:t>
            </a:r>
          </a:p>
        </p:txBody>
      </p:sp>
      <p:sp>
        <p:nvSpPr>
          <p:cNvPr id="23" name="TextBox 22"/>
          <p:cNvSpPr txBox="1"/>
          <p:nvPr/>
        </p:nvSpPr>
        <p:spPr>
          <a:xfrm>
            <a:off x="8228879" y="1915200"/>
            <a:ext cx="294083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Predicts a continuous value: price, temperature</a:t>
            </a:r>
          </a:p>
          <a:p>
            <a:pPr algn="l">
              <a:lnSpc>
                <a:spcPct val="140000"/>
              </a:lnSpc>
              <a:spcAft>
                <a:spcPts val="400"/>
              </a:spcAft>
            </a:pPr>
            <a:r>
              <a:rPr sz="1200" b="0" i="0">
                <a:solidFill>
                  <a:srgbClr val="1F2937"/>
                </a:solidFill>
                <a:latin typeface="Source Han Sans SC"/>
              </a:rPr>
              <a:t>• No activation function at all</a:t>
            </a:r>
          </a:p>
          <a:p>
            <a:pPr algn="l">
              <a:lnSpc>
                <a:spcPct val="140000"/>
              </a:lnSpc>
              <a:spcAft>
                <a:spcPts val="400"/>
              </a:spcAft>
            </a:pPr>
            <a:r>
              <a:rPr sz="1200" b="0" i="0">
                <a:solidFill>
                  <a:srgbClr val="1F2937"/>
                </a:solidFill>
                <a:latin typeface="Source Han Sans SC"/>
              </a:rPr>
              <a:t>• Punishes large errors heavily</a:t>
            </a:r>
          </a:p>
          <a:p>
            <a:pPr algn="l">
              <a:lnSpc>
                <a:spcPct val="140000"/>
              </a:lnSpc>
              <a:spcAft>
                <a:spcPts val="400"/>
              </a:spcAft>
            </a:pPr>
            <a:r>
              <a:rPr sz="1200" b="0" i="0">
                <a:solidFill>
                  <a:srgbClr val="1F2937"/>
                </a:solidFill>
                <a:latin typeface="Source Han Sans SC"/>
              </a:rPr>
              <a:t>• With outliers use L1 / SmoothL1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Common Loss Functions at a Glance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05 / 31</a:t>
            </a:r>
          </a:p>
        </p:txBody>
      </p:sp>
      <p:graphicFrame>
        <p:nvGraphicFramePr>
          <p:cNvPr id="9" name="Table 8"/>
          <p:cNvGraphicFramePr>
            <a:graphicFrameLocks noGrp="1"/>
          </p:cNvGraphicFramePr>
          <p:nvPr/>
        </p:nvGraphicFramePr>
        <p:xfrm>
          <a:off x="799200" y="1152000"/>
          <a:ext cx="10583999" cy="3456000"/>
        </p:xfrm>
        <a:graphic>
          <a:graphicData uri="http://schemas.openxmlformats.org/drawingml/2006/table">
            <a:tbl>
              <a:tblPr firstRow="1" bandRow="1">
                <a:tableStyleId>{5C22544A-7EE6-4342-B048-85BDC9FD1C3A}</a:tableStyleId>
              </a:tblPr>
              <a:tblGrid>
                <a:gridCol w="1728000"/>
                <a:gridCol w="2376000"/>
                <a:gridCol w="2304000"/>
                <a:gridCol w="2015999"/>
                <a:gridCol w="2160000"/>
              </a:tblGrid>
              <a:tr h="576000">
                <a:tc>
                  <a:txBody>
                    <a:bodyPr/>
                    <a:lstStyle/>
                    <a:p>
                      <a:r>
                        <a:rPr sz="1250" b="1">
                          <a:solidFill>
                            <a:srgbClr val="FFFFFF"/>
                          </a:solidFill>
                          <a:latin typeface="Source Han Sans SC"/>
                        </a:rPr>
                        <a:t>Task</a:t>
                      </a:r>
                    </a:p>
                  </a:txBody>
                  <a:tcPr>
                    <a:solidFill>
                      <a:srgbClr val="0E3F8C"/>
                    </a:solidFill>
                  </a:tcPr>
                </a:tc>
                <a:tc>
                  <a:txBody>
                    <a:bodyPr/>
                    <a:lstStyle/>
                    <a:p>
                      <a:r>
                        <a:rPr sz="1250" b="1">
                          <a:solidFill>
                            <a:srgbClr val="FFFFFF"/>
                          </a:solidFill>
                          <a:latin typeface="Source Han Sans SC"/>
                        </a:rPr>
                        <a:t>Loss</a:t>
                      </a:r>
                    </a:p>
                  </a:txBody>
                  <a:tcPr>
                    <a:solidFill>
                      <a:srgbClr val="0E3F8C"/>
                    </a:solidFill>
                  </a:tcPr>
                </a:tc>
                <a:tc>
                  <a:txBody>
                    <a:bodyPr/>
                    <a:lstStyle/>
                    <a:p>
                      <a:r>
                        <a:rPr sz="1250" b="1">
                          <a:solidFill>
                            <a:srgbClr val="FFFFFF"/>
                          </a:solidFill>
                          <a:latin typeface="Source Han Sans SC"/>
                        </a:rPr>
                        <a:t>Input</a:t>
                      </a:r>
                    </a:p>
                  </a:txBody>
                  <a:tcPr>
                    <a:solidFill>
                      <a:srgbClr val="0E3F8C"/>
                    </a:solidFill>
                  </a:tcPr>
                </a:tc>
                <a:tc>
                  <a:txBody>
                    <a:bodyPr/>
                    <a:lstStyle/>
                    <a:p>
                      <a:r>
                        <a:rPr sz="1250" b="1">
                          <a:solidFill>
                            <a:srgbClr val="FFFFFF"/>
                          </a:solidFill>
                          <a:latin typeface="Source Han Sans SC"/>
                        </a:rPr>
                        <a:t>Output layer</a:t>
                      </a:r>
                    </a:p>
                  </a:txBody>
                  <a:tcPr>
                    <a:solidFill>
                      <a:srgbClr val="0E3F8C"/>
                    </a:solidFill>
                  </a:tcPr>
                </a:tc>
                <a:tc>
                  <a:txBody>
                    <a:bodyPr/>
                    <a:lstStyle/>
                    <a:p>
                      <a:r>
                        <a:rPr sz="1250" b="1">
                          <a:solidFill>
                            <a:srgbClr val="FFFFFF"/>
                          </a:solidFill>
                          <a:latin typeface="Source Han Sans SC"/>
                        </a:rPr>
                        <a:t>Watch out</a:t>
                      </a:r>
                    </a:p>
                  </a:txBody>
                  <a:tcPr>
                    <a:solidFill>
                      <a:srgbClr val="0E3F8C"/>
                    </a:solidFill>
                  </a:tcPr>
                </a:tc>
              </a:tr>
              <a:tr h="576000">
                <a:tc>
                  <a:txBody>
                    <a:bodyPr/>
                    <a:lstStyle/>
                    <a:p>
                      <a:r>
                        <a:rPr sz="1150" b="1">
                          <a:solidFill>
                            <a:srgbClr val="1F2937"/>
                          </a:solidFill>
                          <a:latin typeface="Source Han Sans SC"/>
                        </a:rPr>
                        <a:t>Multi-class</a:t>
                      </a:r>
                    </a:p>
                  </a:txBody>
                  <a:tcPr>
                    <a:solidFill>
                      <a:srgbClr val="FFFFFF"/>
                    </a:solidFill>
                  </a:tcPr>
                </a:tc>
                <a:tc>
                  <a:txBody>
                    <a:bodyPr/>
                    <a:lstStyle/>
                    <a:p>
                      <a:r>
                        <a:rPr sz="1150" b="0">
                          <a:solidFill>
                            <a:srgbClr val="1F2937"/>
                          </a:solidFill>
                          <a:latin typeface="Source Han Sans SC"/>
                        </a:rPr>
                        <a:t>CrossEntropyLoss</a:t>
                      </a:r>
                    </a:p>
                  </a:txBody>
                  <a:tcPr>
                    <a:solidFill>
                      <a:srgbClr val="FFFFFF"/>
                    </a:solidFill>
                  </a:tcPr>
                </a:tc>
                <a:tc>
                  <a:txBody>
                    <a:bodyPr/>
                    <a:lstStyle/>
                    <a:p>
                      <a:r>
                        <a:rPr sz="1150" b="0">
                          <a:solidFill>
                            <a:srgbClr val="1F2937"/>
                          </a:solidFill>
                          <a:latin typeface="Source Han Sans SC"/>
                        </a:rPr>
                        <a:t>Raw logits (N, C)</a:t>
                      </a:r>
                    </a:p>
                  </a:txBody>
                  <a:tcPr>
                    <a:solidFill>
                      <a:srgbClr val="FFFFFF"/>
                    </a:solidFill>
                  </a:tcPr>
                </a:tc>
                <a:tc>
                  <a:txBody>
                    <a:bodyPr/>
                    <a:lstStyle/>
                    <a:p>
                      <a:r>
                        <a:rPr sz="1150" b="0">
                          <a:solidFill>
                            <a:srgbClr val="1F2937"/>
                          </a:solidFill>
                          <a:latin typeface="Source Han Sans SC"/>
                        </a:rPr>
                        <a:t>None (softmax inside)</a:t>
                      </a:r>
                    </a:p>
                  </a:txBody>
                  <a:tcPr>
                    <a:solidFill>
                      <a:srgbClr val="FFFFFF"/>
                    </a:solidFill>
                  </a:tcPr>
                </a:tc>
                <a:tc>
                  <a:txBody>
                    <a:bodyPr/>
                    <a:lstStyle/>
                    <a:p>
                      <a:r>
                        <a:rPr sz="1150" b="0">
                          <a:solidFill>
                            <a:srgbClr val="1F2937"/>
                          </a:solidFill>
                          <a:latin typeface="Source Han Sans SC"/>
                        </a:rPr>
                        <a:t>A manual softmax means doing it twice</a:t>
                      </a:r>
                    </a:p>
                  </a:txBody>
                  <a:tcPr>
                    <a:solidFill>
                      <a:srgbClr val="FFFFFF"/>
                    </a:solidFill>
                  </a:tcPr>
                </a:tc>
              </a:tr>
              <a:tr h="576000">
                <a:tc>
                  <a:txBody>
                    <a:bodyPr/>
                    <a:lstStyle/>
                    <a:p>
                      <a:r>
                        <a:rPr sz="1150" b="1">
                          <a:solidFill>
                            <a:srgbClr val="1F2937"/>
                          </a:solidFill>
                          <a:latin typeface="Source Han Sans SC"/>
                        </a:rPr>
                        <a:t>Binary</a:t>
                      </a:r>
                    </a:p>
                  </a:txBody>
                  <a:tcPr>
                    <a:solidFill>
                      <a:srgbClr val="F0F5FC"/>
                    </a:solidFill>
                  </a:tcPr>
                </a:tc>
                <a:tc>
                  <a:txBody>
                    <a:bodyPr/>
                    <a:lstStyle/>
                    <a:p>
                      <a:r>
                        <a:rPr sz="1150" b="0">
                          <a:solidFill>
                            <a:srgbClr val="1F2937"/>
                          </a:solidFill>
                          <a:latin typeface="Source Han Sans SC"/>
                        </a:rPr>
                        <a:t>BCEWithLogitsLoss</a:t>
                      </a:r>
                    </a:p>
                  </a:txBody>
                  <a:tcPr>
                    <a:solidFill>
                      <a:srgbClr val="F0F5FC"/>
                    </a:solidFill>
                  </a:tcPr>
                </a:tc>
                <a:tc>
                  <a:txBody>
                    <a:bodyPr/>
                    <a:lstStyle/>
                    <a:p>
                      <a:r>
                        <a:rPr sz="1150" b="0">
                          <a:solidFill>
                            <a:srgbClr val="1F2937"/>
                          </a:solidFill>
                          <a:latin typeface="Source Han Sans SC"/>
                        </a:rPr>
                        <a:t>Raw logits (N, 1)</a:t>
                      </a:r>
                    </a:p>
                  </a:txBody>
                  <a:tcPr>
                    <a:solidFill>
                      <a:srgbClr val="F0F5FC"/>
                    </a:solidFill>
                  </a:tcPr>
                </a:tc>
                <a:tc>
                  <a:txBody>
                    <a:bodyPr/>
                    <a:lstStyle/>
                    <a:p>
                      <a:r>
                        <a:rPr sz="1150" b="0">
                          <a:solidFill>
                            <a:srgbClr val="1F2937"/>
                          </a:solidFill>
                          <a:latin typeface="Source Han Sans SC"/>
                        </a:rPr>
                        <a:t>None (sigmoid inside)</a:t>
                      </a:r>
                    </a:p>
                  </a:txBody>
                  <a:tcPr>
                    <a:solidFill>
                      <a:srgbClr val="F0F5FC"/>
                    </a:solidFill>
                  </a:tcPr>
                </a:tc>
                <a:tc>
                  <a:txBody>
                    <a:bodyPr/>
                    <a:lstStyle/>
                    <a:p>
                      <a:r>
                        <a:rPr sz="1150" b="0">
                          <a:solidFill>
                            <a:srgbClr val="1F2937"/>
                          </a:solidFill>
                          <a:latin typeface="Source Han Sans SC"/>
                        </a:rPr>
                        <a:t>Targets must be float</a:t>
                      </a:r>
                    </a:p>
                  </a:txBody>
                  <a:tcPr>
                    <a:solidFill>
                      <a:srgbClr val="F0F5FC"/>
                    </a:solidFill>
                  </a:tcPr>
                </a:tc>
              </a:tr>
              <a:tr h="576000">
                <a:tc>
                  <a:txBody>
                    <a:bodyPr/>
                    <a:lstStyle/>
                    <a:p>
                      <a:r>
                        <a:rPr sz="1150" b="1">
                          <a:solidFill>
                            <a:srgbClr val="1F2937"/>
                          </a:solidFill>
                          <a:latin typeface="Source Han Sans SC"/>
                        </a:rPr>
                        <a:t>Multi-label</a:t>
                      </a:r>
                    </a:p>
                  </a:txBody>
                  <a:tcPr>
                    <a:solidFill>
                      <a:srgbClr val="FFFFFF"/>
                    </a:solidFill>
                  </a:tcPr>
                </a:tc>
                <a:tc>
                  <a:txBody>
                    <a:bodyPr/>
                    <a:lstStyle/>
                    <a:p>
                      <a:r>
                        <a:rPr sz="1150" b="0">
                          <a:solidFill>
                            <a:srgbClr val="1F2937"/>
                          </a:solidFill>
                          <a:latin typeface="Source Han Sans SC"/>
                        </a:rPr>
                        <a:t>BCEWithLogitsLoss</a:t>
                      </a:r>
                    </a:p>
                  </a:txBody>
                  <a:tcPr>
                    <a:solidFill>
                      <a:srgbClr val="FFFFFF"/>
                    </a:solidFill>
                  </a:tcPr>
                </a:tc>
                <a:tc>
                  <a:txBody>
                    <a:bodyPr/>
                    <a:lstStyle/>
                    <a:p>
                      <a:r>
                        <a:rPr sz="1150" b="0">
                          <a:solidFill>
                            <a:srgbClr val="1F2937"/>
                          </a:solidFill>
                          <a:latin typeface="Source Han Sans SC"/>
                        </a:rPr>
                        <a:t>Raw logits (N, C)</a:t>
                      </a:r>
                    </a:p>
                  </a:txBody>
                  <a:tcPr>
                    <a:solidFill>
                      <a:srgbClr val="FFFFFF"/>
                    </a:solidFill>
                  </a:tcPr>
                </a:tc>
                <a:tc>
                  <a:txBody>
                    <a:bodyPr/>
                    <a:lstStyle/>
                    <a:p>
                      <a:r>
                        <a:rPr sz="1150" b="0">
                          <a:solidFill>
                            <a:srgbClr val="1F2937"/>
                          </a:solidFill>
                          <a:latin typeface="Source Han Sans SC"/>
                        </a:rPr>
                        <a:t>None</a:t>
                      </a:r>
                    </a:p>
                  </a:txBody>
                  <a:tcPr>
                    <a:solidFill>
                      <a:srgbClr val="FFFFFF"/>
                    </a:solidFill>
                  </a:tcPr>
                </a:tc>
                <a:tc>
                  <a:txBody>
                    <a:bodyPr/>
                    <a:lstStyle/>
                    <a:p>
                      <a:r>
                        <a:rPr sz="1150" b="0">
                          <a:solidFill>
                            <a:srgbClr val="1F2937"/>
                          </a:solidFill>
                          <a:latin typeface="Source Han Sans SC"/>
                        </a:rPr>
                        <a:t>Classes independent, can co-occur</a:t>
                      </a:r>
                    </a:p>
                  </a:txBody>
                  <a:tcPr>
                    <a:solidFill>
                      <a:srgbClr val="FFFFFF"/>
                    </a:solidFill>
                  </a:tcPr>
                </a:tc>
              </a:tr>
              <a:tr h="576000">
                <a:tc>
                  <a:txBody>
                    <a:bodyPr/>
                    <a:lstStyle/>
                    <a:p>
                      <a:r>
                        <a:rPr sz="1150" b="1">
                          <a:solidFill>
                            <a:srgbClr val="1F2937"/>
                          </a:solidFill>
                          <a:latin typeface="Source Han Sans SC"/>
                        </a:rPr>
                        <a:t>Regression</a:t>
                      </a:r>
                    </a:p>
                  </a:txBody>
                  <a:tcPr>
                    <a:solidFill>
                      <a:srgbClr val="F0F5FC"/>
                    </a:solidFill>
                  </a:tcPr>
                </a:tc>
                <a:tc>
                  <a:txBody>
                    <a:bodyPr/>
                    <a:lstStyle/>
                    <a:p>
                      <a:r>
                        <a:rPr sz="1150" b="0">
                          <a:solidFill>
                            <a:srgbClr val="1F2937"/>
                          </a:solidFill>
                          <a:latin typeface="Source Han Sans SC"/>
                        </a:rPr>
                        <a:t>MSELoss</a:t>
                      </a:r>
                    </a:p>
                  </a:txBody>
                  <a:tcPr>
                    <a:solidFill>
                      <a:srgbClr val="F0F5FC"/>
                    </a:solidFill>
                  </a:tcPr>
                </a:tc>
                <a:tc>
                  <a:txBody>
                    <a:bodyPr/>
                    <a:lstStyle/>
                    <a:p>
                      <a:r>
                        <a:rPr sz="1150" b="0">
                          <a:solidFill>
                            <a:srgbClr val="1F2937"/>
                          </a:solidFill>
                          <a:latin typeface="Source Han Sans SC"/>
                        </a:rPr>
                        <a:t>Continuous predictions</a:t>
                      </a:r>
                    </a:p>
                  </a:txBody>
                  <a:tcPr>
                    <a:solidFill>
                      <a:srgbClr val="F0F5FC"/>
                    </a:solidFill>
                  </a:tcPr>
                </a:tc>
                <a:tc>
                  <a:txBody>
                    <a:bodyPr/>
                    <a:lstStyle/>
                    <a:p>
                      <a:r>
                        <a:rPr sz="1150" b="0">
                          <a:solidFill>
                            <a:srgbClr val="1F2937"/>
                          </a:solidFill>
                          <a:latin typeface="Source Han Sans SC"/>
                        </a:rPr>
                        <a:t>None</a:t>
                      </a:r>
                    </a:p>
                  </a:txBody>
                  <a:tcPr>
                    <a:solidFill>
                      <a:srgbClr val="F0F5FC"/>
                    </a:solidFill>
                  </a:tcPr>
                </a:tc>
                <a:tc>
                  <a:txBody>
                    <a:bodyPr/>
                    <a:lstStyle/>
                    <a:p>
                      <a:r>
                        <a:rPr sz="1150" b="0">
                          <a:solidFill>
                            <a:srgbClr val="1F2937"/>
                          </a:solidFill>
                          <a:latin typeface="Source Han Sans SC"/>
                        </a:rPr>
                        <a:t>Very sensitive to outliers</a:t>
                      </a:r>
                    </a:p>
                  </a:txBody>
                  <a:tcPr>
                    <a:solidFill>
                      <a:srgbClr val="F0F5FC"/>
                    </a:solidFill>
                  </a:tcPr>
                </a:tc>
              </a:tr>
              <a:tr h="576000">
                <a:tc>
                  <a:txBody>
                    <a:bodyPr/>
                    <a:lstStyle/>
                    <a:p>
                      <a:r>
                        <a:rPr sz="1150" b="1">
                          <a:solidFill>
                            <a:srgbClr val="1F2937"/>
                          </a:solidFill>
                          <a:latin typeface="Source Han Sans SC"/>
                        </a:rPr>
                        <a:t>Imbalanced</a:t>
                      </a:r>
                    </a:p>
                  </a:txBody>
                  <a:tcPr>
                    <a:solidFill>
                      <a:srgbClr val="FFFFFF"/>
                    </a:solidFill>
                  </a:tcPr>
                </a:tc>
                <a:tc>
                  <a:txBody>
                    <a:bodyPr/>
                    <a:lstStyle/>
                    <a:p>
                      <a:r>
                        <a:rPr sz="1150" b="0">
                          <a:solidFill>
                            <a:srgbClr val="1F2937"/>
                          </a:solidFill>
                          <a:latin typeface="Source Han Sans SC"/>
                        </a:rPr>
                        <a:t>CrossEntropyLoss(weight=)</a:t>
                      </a:r>
                    </a:p>
                  </a:txBody>
                  <a:tcPr>
                    <a:solidFill>
                      <a:srgbClr val="FFFFFF"/>
                    </a:solidFill>
                  </a:tcPr>
                </a:tc>
                <a:tc>
                  <a:txBody>
                    <a:bodyPr/>
                    <a:lstStyle/>
                    <a:p>
                      <a:r>
                        <a:rPr sz="1150" b="0">
                          <a:solidFill>
                            <a:srgbClr val="1F2937"/>
                          </a:solidFill>
                          <a:latin typeface="Source Han Sans SC"/>
                        </a:rPr>
                        <a:t>Logits + class weights</a:t>
                      </a:r>
                    </a:p>
                  </a:txBody>
                  <a:tcPr>
                    <a:solidFill>
                      <a:srgbClr val="FFFFFF"/>
                    </a:solidFill>
                  </a:tcPr>
                </a:tc>
                <a:tc>
                  <a:txBody>
                    <a:bodyPr/>
                    <a:lstStyle/>
                    <a:p>
                      <a:r>
                        <a:rPr sz="1150" b="0">
                          <a:solidFill>
                            <a:srgbClr val="1F2937"/>
                          </a:solidFill>
                          <a:latin typeface="Source Han Sans SC"/>
                        </a:rPr>
                        <a:t>None</a:t>
                      </a:r>
                    </a:p>
                  </a:txBody>
                  <a:tcPr>
                    <a:solidFill>
                      <a:srgbClr val="FFFFFF"/>
                    </a:solidFill>
                  </a:tcPr>
                </a:tc>
                <a:tc>
                  <a:txBody>
                    <a:bodyPr/>
                    <a:lstStyle/>
                    <a:p>
                      <a:r>
                        <a:rPr sz="1150" b="0">
                          <a:solidFill>
                            <a:srgbClr val="1F2937"/>
                          </a:solidFill>
                          <a:latin typeface="Source Han Sans SC"/>
                        </a:rPr>
                        <a:t>Set weights as inverse class frequency</a:t>
                      </a:r>
                    </a:p>
                  </a:txBody>
                  <a:tcPr>
                    <a:solidFill>
                      <a:srgbClr val="FFFFFF"/>
                    </a:solidFill>
                  </a:tcPr>
                </a:tc>
              </a:tr>
            </a:tbl>
          </a:graphicData>
        </a:graphic>
      </p:graphicFrame>
      <p:sp>
        <p:nvSpPr>
          <p:cNvPr id="10" name="TextBox 9"/>
          <p:cNvSpPr txBox="1"/>
          <p:nvPr/>
        </p:nvSpPr>
        <p:spPr>
          <a:xfrm>
            <a:off x="799200" y="4752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One line to remember it: cross-entropy for classification, mean squared error for regression; any loss with "WithLogits" in its name already contains the activation — which is why you must not add another.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Three Losses in Code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06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Choosing the loss</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import torch, torch.nn as nn</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1) multi-class: softmax is INSIDE</a:t>
            </a:r>
          </a:p>
          <a:p>
            <a:pPr algn="l">
              <a:lnSpc>
                <a:spcPct val="128000"/>
              </a:lnSpc>
            </a:pPr>
            <a:r>
              <a:rPr sz="1100" b="0" i="0">
                <a:solidFill>
                  <a:srgbClr val="E2E8F0"/>
                </a:solidFill>
                <a:latin typeface="Menlo"/>
              </a:rPr>
              <a:t>criterion = nn.CrossEntropyLoss()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2) binary / multi-label: sigmoid INSIDE</a:t>
            </a:r>
          </a:p>
          <a:p>
            <a:pPr algn="l">
              <a:lnSpc>
                <a:spcPct val="128000"/>
              </a:lnSpc>
            </a:pPr>
            <a:r>
              <a:rPr sz="1100" b="0" i="0">
                <a:solidFill>
                  <a:srgbClr val="E2E8F0"/>
                </a:solidFill>
                <a:latin typeface="Menlo"/>
              </a:rPr>
              <a:t>criterion = nn.BCEWithLogitsLoss()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3) regression: no activation at all</a:t>
            </a:r>
          </a:p>
          <a:p>
            <a:pPr algn="l">
              <a:lnSpc>
                <a:spcPct val="128000"/>
              </a:lnSpc>
            </a:pPr>
            <a:r>
              <a:rPr sz="1100" b="0" i="0">
                <a:solidFill>
                  <a:srgbClr val="E2E8F0"/>
                </a:solidFill>
                <a:latin typeface="Menlo"/>
              </a:rPr>
              <a:t>criterion = nn.MSELoss()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rule: always feed raw logits</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Pitfall: softmax done twice</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 PITFALL: softmax applied twice</a:t>
            </a:r>
          </a:p>
          <a:p>
            <a:pPr algn="l">
              <a:lnSpc>
                <a:spcPct val="128000"/>
              </a:lnSpc>
            </a:pPr>
            <a:r>
              <a:rPr sz="1100" b="0" i="0">
                <a:solidFill>
                  <a:srgbClr val="E2E8F0"/>
                </a:solidFill>
                <a:latin typeface="Menlo"/>
              </a:rPr>
              <a:t>logits = model(x)            # raw logits</a:t>
            </a:r>
          </a:p>
          <a:p>
            <a:pPr algn="l">
              <a:lnSpc>
                <a:spcPct val="128000"/>
              </a:lnSpc>
            </a:pPr>
            <a:r>
              <a:rPr sz="1100" b="0" i="0">
                <a:solidFill>
                  <a:srgbClr val="E2E8F0"/>
                </a:solidFill>
                <a:latin typeface="Menlo"/>
              </a:rPr>
              <a:t>probs = torch.softmax(logits, 1)</a:t>
            </a:r>
          </a:p>
          <a:p>
            <a:pPr algn="l">
              <a:lnSpc>
                <a:spcPct val="128000"/>
              </a:lnSpc>
            </a:pPr>
            <a:r>
              <a:rPr sz="1100" b="0" i="0">
                <a:solidFill>
                  <a:srgbClr val="E2E8F0"/>
                </a:solidFill>
                <a:latin typeface="Menlo"/>
              </a:rPr>
              <a:t>loss = nn.CrossEntropyLoss()(probs, y)</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probs get re-normalised and squeezed,</a:t>
            </a:r>
          </a:p>
          <a:p>
            <a:pPr algn="l">
              <a:lnSpc>
                <a:spcPct val="128000"/>
              </a:lnSpc>
            </a:pPr>
            <a:r>
              <a:rPr sz="1100" b="0" i="0">
                <a:solidFill>
                  <a:srgbClr val="E2E8F0"/>
                </a:solidFill>
                <a:latin typeface="Menlo"/>
              </a:rPr>
              <a:t># gradients shrink, the loss falls slowly</a:t>
            </a:r>
          </a:p>
          <a:p>
            <a:pPr algn="l">
              <a:lnSpc>
                <a:spcPct val="128000"/>
              </a:lnSpc>
            </a:pPr>
            <a:r>
              <a:rPr sz="1100" b="0" i="0">
                <a:solidFill>
                  <a:srgbClr val="E2E8F0"/>
                </a:solidFill>
                <a:latin typeface="Menlo"/>
              </a:rPr>
              <a:t># and accuracy stalls.</a:t>
            </a:r>
          </a:p>
          <a:p>
            <a:pPr algn="l">
              <a:lnSpc>
                <a:spcPct val="128000"/>
              </a:lnSpc>
            </a:pPr>
            <a:r>
              <a:rPr sz="1100" b="0" i="0">
                <a:solidFill>
                  <a:srgbClr val="E2E8F0"/>
                </a:solidFill>
                <a:latin typeface="Menlo"/>
              </a:rPr>
              <a:t># FIX: pass the logits directly</a:t>
            </a:r>
          </a:p>
          <a:p>
            <a:pPr algn="l">
              <a:lnSpc>
                <a:spcPct val="128000"/>
              </a:lnSpc>
            </a:pPr>
            <a:r>
              <a:rPr sz="1100" b="0" i="0">
                <a:solidFill>
                  <a:srgbClr val="E2E8F0"/>
                </a:solidFill>
                <a:latin typeface="Menlo"/>
              </a:rPr>
              <a:t>loss = nn.CrossEntropyLoss()(logits, y)</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The left panel is how to choose; the right is how to get it wrong. A double softmax raises no error — it just leaves your accuracy inexplicably low, and silent bugs are harder to find than crashes.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Correct Usage vs Common Pitfalls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07 / 31</a:t>
            </a:r>
          </a:p>
        </p:txBody>
      </p:sp>
      <p:sp>
        <p:nvSpPr>
          <p:cNvPr id="9" name="Rectangle 8"/>
          <p:cNvSpPr/>
          <p:nvPr/>
        </p:nvSpPr>
        <p:spPr>
          <a:xfrm>
            <a:off x="799200" y="1170000"/>
            <a:ext cx="5143859" cy="41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Correct Usage</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Feed the loss raw logits, not probabilities</a:t>
            </a:r>
          </a:p>
          <a:p>
            <a:pPr algn="l">
              <a:lnSpc>
                <a:spcPct val="150000"/>
              </a:lnSpc>
              <a:spcAft>
                <a:spcPts val="800"/>
              </a:spcAft>
            </a:pPr>
            <a:r>
              <a:rPr sz="1250" b="0" i="0">
                <a:solidFill>
                  <a:srgbClr val="1F2937"/>
                </a:solidFill>
                <a:latin typeface="Source Han Sans SC"/>
              </a:rPr>
              <a:t>• Let the loss handle the activation internally</a:t>
            </a:r>
          </a:p>
          <a:p>
            <a:pPr algn="l">
              <a:lnSpc>
                <a:spcPct val="150000"/>
              </a:lnSpc>
              <a:spcAft>
                <a:spcPts val="800"/>
              </a:spcAft>
            </a:pPr>
            <a:r>
              <a:rPr sz="1250" b="0" i="0">
                <a:solidFill>
                  <a:srgbClr val="1F2937"/>
                </a:solidFill>
                <a:latin typeface="Source Han Sans SC"/>
              </a:rPr>
              <a:t>• Binary tasks use BCEWithLogitsLoss</a:t>
            </a:r>
          </a:p>
          <a:p>
            <a:pPr algn="l">
              <a:lnSpc>
                <a:spcPct val="150000"/>
              </a:lnSpc>
              <a:spcAft>
                <a:spcPts val="800"/>
              </a:spcAft>
            </a:pPr>
            <a:r>
              <a:rPr sz="1250" b="0" i="0">
                <a:solidFill>
                  <a:srgbClr val="1F2937"/>
                </a:solidFill>
                <a:latin typeface="Source Han Sans SC"/>
              </a:rPr>
              <a:t>• Labels: long for cross-entropy, float for BCE</a:t>
            </a:r>
          </a:p>
          <a:p>
            <a:pPr algn="l">
              <a:lnSpc>
                <a:spcPct val="150000"/>
              </a:lnSpc>
              <a:spcAft>
                <a:spcPts val="800"/>
              </a:spcAft>
            </a:pPr>
            <a:r>
              <a:rPr sz="1250" b="0" i="0">
                <a:solidFill>
                  <a:srgbClr val="1F2937"/>
                </a:solidFill>
                <a:latin typeface="Source Han Sans SC"/>
              </a:rPr>
              <a:t>• Under imbalance pass class weights via weight=</a:t>
            </a:r>
          </a:p>
        </p:txBody>
      </p:sp>
      <p:sp>
        <p:nvSpPr>
          <p:cNvPr id="13" name="Rectangle 12"/>
          <p:cNvSpPr/>
          <p:nvPr/>
        </p:nvSpPr>
        <p:spPr>
          <a:xfrm>
            <a:off x="6249059" y="1170000"/>
            <a:ext cx="5143859" cy="4104000"/>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Common Pitfalls</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Softmax then cross-entropy = done twice</a:t>
            </a:r>
          </a:p>
          <a:p>
            <a:pPr algn="l">
              <a:lnSpc>
                <a:spcPct val="150000"/>
              </a:lnSpc>
              <a:spcAft>
                <a:spcPts val="800"/>
              </a:spcAft>
            </a:pPr>
            <a:r>
              <a:rPr sz="1250" b="0" i="0">
                <a:solidFill>
                  <a:srgbClr val="1F2937"/>
                </a:solidFill>
                <a:latin typeface="Source Han Sans SC"/>
              </a:rPr>
              <a:t>• Adding a manual sigmoid before BCEWithLogitsLoss</a:t>
            </a:r>
          </a:p>
          <a:p>
            <a:pPr algn="l">
              <a:lnSpc>
                <a:spcPct val="150000"/>
              </a:lnSpc>
              <a:spcAft>
                <a:spcPts val="800"/>
              </a:spcAft>
            </a:pPr>
            <a:r>
              <a:rPr sz="1250" b="0" i="0">
                <a:solidFill>
                  <a:srgbClr val="1F2937"/>
                </a:solidFill>
                <a:latin typeface="Source Han Sans SC"/>
              </a:rPr>
              <a:t>• Forgetting the long / float cast, which errors out</a:t>
            </a:r>
          </a:p>
          <a:p>
            <a:pPr algn="l">
              <a:lnSpc>
                <a:spcPct val="150000"/>
              </a:lnSpc>
              <a:spcAft>
                <a:spcPts val="800"/>
              </a:spcAft>
            </a:pPr>
            <a:r>
              <a:rPr sz="1250" b="0" i="0">
                <a:solidFill>
                  <a:srgbClr val="1F2937"/>
                </a:solidFill>
                <a:latin typeface="Source Han Sans SC"/>
              </a:rPr>
              <a:t>• Using MSELoss for a classification task</a:t>
            </a:r>
          </a:p>
          <a:p>
            <a:pPr algn="l">
              <a:lnSpc>
                <a:spcPct val="150000"/>
              </a:lnSpc>
              <a:spcAft>
                <a:spcPts val="800"/>
              </a:spcAft>
            </a:pPr>
            <a:r>
              <a:rPr sz="1250" b="0" i="0">
                <a:solidFill>
                  <a:srgbClr val="1F2937"/>
                </a:solidFill>
                <a:latin typeface="Source Han Sans SC"/>
              </a:rPr>
              <a:t>• Loss falls but accuracy is stuck (usually pitfall 1)</a:t>
            </a:r>
          </a:p>
        </p:txBody>
      </p:sp>
      <p:sp>
        <p:nvSpPr>
          <p:cNvPr id="17" name="TextBox 16"/>
          <p:cNvSpPr txBox="1"/>
          <p:nvPr/>
        </p:nvSpPr>
        <p:spPr>
          <a:xfrm>
            <a:off x="799200" y="5454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Keep this diagnostic: if the loss falls but the metric does not move, first look at the line just above the loss call for a redundant activation.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02</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02</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Optimizers: How We Update</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Optimizer</a:t>
            </a:r>
          </a:p>
        </p:txBody>
      </p:sp>
      <p:sp>
        <p:nvSpPr>
          <p:cNvPr id="9" name="TextBox 8"/>
          <p:cNvSpPr txBox="1"/>
          <p:nvPr/>
        </p:nvSpPr>
        <p:spPr>
          <a:xfrm>
            <a:off x="799200" y="2736000"/>
            <a:ext cx="8640000" cy="151559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The loss tells you how wrong you are; the optimizer decides which way and how far to move.
Same model, same data — change the optimizer and convergence can differ by an order of magnitude.</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SGD</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Only the current gradient</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Momentum</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Accumulates direction into inertia</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Adam</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One adaptive step size per parameter</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Three Optimizers: Three Generations of Ideas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09 / 31</a:t>
            </a:r>
          </a:p>
        </p:txBody>
      </p:sp>
      <p:sp>
        <p:nvSpPr>
          <p:cNvPr id="9" name="Rectangle 8"/>
          <p:cNvSpPr/>
          <p:nvPr/>
        </p:nvSpPr>
        <p:spPr>
          <a:xfrm>
            <a:off x="799200" y="1296000"/>
            <a:ext cx="3387239" cy="2592000"/>
          </a:xfrm>
          <a:prstGeom prst="rect">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5920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SGD</a:t>
            </a:r>
          </a:p>
        </p:txBody>
      </p:sp>
      <p:sp>
        <p:nvSpPr>
          <p:cNvPr id="12" name="TextBox 11"/>
          <p:cNvSpPr txBox="1"/>
          <p:nvPr/>
        </p:nvSpPr>
        <p:spPr>
          <a:xfrm>
            <a:off x="1022400"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one batch, one step</a:t>
            </a:r>
          </a:p>
        </p:txBody>
      </p:sp>
      <p:sp>
        <p:nvSpPr>
          <p:cNvPr id="13" name="TextBox 12"/>
          <p:cNvSpPr txBox="1"/>
          <p:nvPr/>
        </p:nvSpPr>
        <p:spPr>
          <a:xfrm>
            <a:off x="1022400" y="1915200"/>
            <a:ext cx="2940839" cy="1828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Updates straight from the batch gradient</a:t>
            </a:r>
          </a:p>
          <a:p>
            <a:pPr algn="l">
              <a:lnSpc>
                <a:spcPct val="140000"/>
              </a:lnSpc>
              <a:spcAft>
                <a:spcPts val="400"/>
              </a:spcAft>
            </a:pPr>
            <a:r>
              <a:rPr sz="1200" b="0" i="0">
                <a:solidFill>
                  <a:srgbClr val="1F2937"/>
                </a:solidFill>
                <a:latin typeface="Source Han Sans SC"/>
              </a:rPr>
              <a:t>• Only one hyper-parameter: the learning rate</a:t>
            </a:r>
          </a:p>
          <a:p>
            <a:pPr algn="l">
              <a:lnSpc>
                <a:spcPct val="140000"/>
              </a:lnSpc>
              <a:spcAft>
                <a:spcPts val="400"/>
              </a:spcAft>
            </a:pPr>
            <a:r>
              <a:rPr sz="1200" b="0" i="0">
                <a:solidFill>
                  <a:srgbClr val="1F2937"/>
                </a:solidFill>
                <a:latin typeface="Source Han Sans SC"/>
              </a:rPr>
              <a:t>• Extremely lr-sensitive; 1e-1 blows up</a:t>
            </a:r>
          </a:p>
          <a:p>
            <a:pPr algn="l">
              <a:lnSpc>
                <a:spcPct val="140000"/>
              </a:lnSpc>
              <a:spcAft>
                <a:spcPts val="400"/>
              </a:spcAft>
            </a:pPr>
            <a:r>
              <a:rPr sz="1200" b="0" i="0">
                <a:solidFill>
                  <a:srgbClr val="1F2937"/>
                </a:solidFill>
                <a:latin typeface="Source Han Sans SC"/>
              </a:rPr>
              <a:t>• Generalises well, but costly to tune</a:t>
            </a:r>
          </a:p>
        </p:txBody>
      </p:sp>
      <p:sp>
        <p:nvSpPr>
          <p:cNvPr id="14" name="Rectangle 13"/>
          <p:cNvSpPr/>
          <p:nvPr/>
        </p:nvSpPr>
        <p:spPr>
          <a:xfrm>
            <a:off x="4402440" y="1296000"/>
            <a:ext cx="3387239" cy="2592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96000"/>
            <a:ext cx="32400" cy="2592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SGD + Momentum</a:t>
            </a:r>
          </a:p>
        </p:txBody>
      </p:sp>
      <p:sp>
        <p:nvSpPr>
          <p:cNvPr id="17" name="TextBox 16"/>
          <p:cNvSpPr txBox="1"/>
          <p:nvPr/>
        </p:nvSpPr>
        <p:spPr>
          <a:xfrm>
            <a:off x="462563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add inertia</a:t>
            </a:r>
          </a:p>
        </p:txBody>
      </p:sp>
      <p:sp>
        <p:nvSpPr>
          <p:cNvPr id="18" name="TextBox 17"/>
          <p:cNvSpPr txBox="1"/>
          <p:nvPr/>
        </p:nvSpPr>
        <p:spPr>
          <a:xfrm>
            <a:off x="4625639" y="1915200"/>
            <a:ext cx="2940839" cy="1828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Accumulates past gradients with momentum</a:t>
            </a:r>
          </a:p>
          <a:p>
            <a:pPr algn="l">
              <a:lnSpc>
                <a:spcPct val="140000"/>
              </a:lnSpc>
              <a:spcAft>
                <a:spcPts val="400"/>
              </a:spcAft>
            </a:pPr>
            <a:r>
              <a:rPr sz="1200" b="0" i="0">
                <a:solidFill>
                  <a:srgbClr val="1F2937"/>
                </a:solidFill>
                <a:latin typeface="Source Han Sans SC"/>
              </a:rPr>
              <a:t>• Speeds up along a consistent descent direction</a:t>
            </a:r>
          </a:p>
          <a:p>
            <a:pPr algn="l">
              <a:lnSpc>
                <a:spcPct val="140000"/>
              </a:lnSpc>
              <a:spcAft>
                <a:spcPts val="400"/>
              </a:spcAft>
            </a:pPr>
            <a:r>
              <a:rPr sz="1200" b="0" i="0">
                <a:solidFill>
                  <a:srgbClr val="1F2937"/>
                </a:solidFill>
                <a:latin typeface="Source Han Sans SC"/>
              </a:rPr>
              <a:t>• Can pass through small saddle points and noise</a:t>
            </a:r>
          </a:p>
          <a:p>
            <a:pPr algn="l">
              <a:lnSpc>
                <a:spcPct val="140000"/>
              </a:lnSpc>
              <a:spcAft>
                <a:spcPts val="400"/>
              </a:spcAft>
            </a:pPr>
            <a:r>
              <a:rPr sz="1200" b="0" i="0">
                <a:solidFill>
                  <a:srgbClr val="1F2937"/>
                </a:solidFill>
                <a:latin typeface="Source Han Sans SC"/>
              </a:rPr>
              <a:t>• Convention: momentum = 0.9</a:t>
            </a:r>
          </a:p>
        </p:txBody>
      </p:sp>
      <p:sp>
        <p:nvSpPr>
          <p:cNvPr id="19" name="Rectangle 18"/>
          <p:cNvSpPr/>
          <p:nvPr/>
        </p:nvSpPr>
        <p:spPr>
          <a:xfrm>
            <a:off x="8005679" y="1296000"/>
            <a:ext cx="3387239" cy="2592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96000"/>
            <a:ext cx="32400" cy="2592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Adam</a:t>
            </a:r>
          </a:p>
        </p:txBody>
      </p:sp>
      <p:sp>
        <p:nvSpPr>
          <p:cNvPr id="22" name="TextBox 21"/>
          <p:cNvSpPr txBox="1"/>
          <p:nvPr/>
        </p:nvSpPr>
        <p:spPr>
          <a:xfrm>
            <a:off x="822887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adaptive per-parameter</a:t>
            </a:r>
          </a:p>
        </p:txBody>
      </p:sp>
      <p:sp>
        <p:nvSpPr>
          <p:cNvPr id="23" name="TextBox 22"/>
          <p:cNvSpPr txBox="1"/>
          <p:nvPr/>
        </p:nvSpPr>
        <p:spPr>
          <a:xfrm>
            <a:off x="8228879" y="1915200"/>
            <a:ext cx="2940839" cy="1828800"/>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Estimates first and second moments</a:t>
            </a:r>
          </a:p>
          <a:p>
            <a:pPr algn="l">
              <a:lnSpc>
                <a:spcPct val="140000"/>
              </a:lnSpc>
              <a:spcAft>
                <a:spcPts val="400"/>
              </a:spcAft>
            </a:pPr>
            <a:r>
              <a:rPr sz="1200" b="0" i="0">
                <a:solidFill>
                  <a:srgbClr val="1F2937"/>
                </a:solidFill>
                <a:latin typeface="Source Han Sans SC"/>
              </a:rPr>
              <a:t>• Every parameter gets its own step size</a:t>
            </a:r>
          </a:p>
          <a:p>
            <a:pPr algn="l">
              <a:lnSpc>
                <a:spcPct val="140000"/>
              </a:lnSpc>
              <a:spcAft>
                <a:spcPts val="400"/>
              </a:spcAft>
            </a:pPr>
            <a:r>
              <a:rPr sz="1200" b="0" i="0">
                <a:solidFill>
                  <a:srgbClr val="1F2937"/>
                </a:solidFill>
                <a:latin typeface="Source Han Sans SC"/>
              </a:rPr>
              <a:t>• More forgiving: 1e-3 usually works</a:t>
            </a:r>
          </a:p>
          <a:p>
            <a:pPr algn="l">
              <a:lnSpc>
                <a:spcPct val="140000"/>
              </a:lnSpc>
              <a:spcAft>
                <a:spcPts val="400"/>
              </a:spcAft>
            </a:pPr>
            <a:r>
              <a:rPr sz="1200" b="0" i="0">
                <a:solidFill>
                  <a:srgbClr val="1F2937"/>
                </a:solidFill>
                <a:latin typeface="Source Han Sans SC"/>
              </a:rPr>
              <a:t>• Cost: two extra state buffers, more VRAM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Optimizer Comparison Table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10 / 31</a:t>
            </a:r>
          </a:p>
        </p:txBody>
      </p:sp>
      <p:graphicFrame>
        <p:nvGraphicFramePr>
          <p:cNvPr id="9" name="Table 8"/>
          <p:cNvGraphicFramePr>
            <a:graphicFrameLocks noGrp="1"/>
          </p:cNvGraphicFramePr>
          <p:nvPr/>
        </p:nvGraphicFramePr>
        <p:xfrm>
          <a:off x="799200" y="1152000"/>
          <a:ext cx="10584000" cy="3024000"/>
        </p:xfrm>
        <a:graphic>
          <a:graphicData uri="http://schemas.openxmlformats.org/drawingml/2006/table">
            <a:tbl>
              <a:tblPr firstRow="1" bandRow="1">
                <a:tableStyleId>{5C22544A-7EE6-4342-B048-85BDC9FD1C3A}</a:tableStyleId>
              </a:tblPr>
              <a:tblGrid>
                <a:gridCol w="1800000"/>
                <a:gridCol w="3024000"/>
                <a:gridCol w="2088000"/>
                <a:gridCol w="1512000"/>
                <a:gridCol w="2160000"/>
              </a:tblGrid>
              <a:tr h="604800">
                <a:tc>
                  <a:txBody>
                    <a:bodyPr/>
                    <a:lstStyle/>
                    <a:p>
                      <a:r>
                        <a:rPr sz="1250" b="1">
                          <a:solidFill>
                            <a:srgbClr val="FFFFFF"/>
                          </a:solidFill>
                          <a:latin typeface="Source Han Sans SC"/>
                        </a:rPr>
                        <a:t>Optimizer</a:t>
                      </a:r>
                    </a:p>
                  </a:txBody>
                  <a:tcPr>
                    <a:solidFill>
                      <a:srgbClr val="0E3F8C"/>
                    </a:solidFill>
                  </a:tcPr>
                </a:tc>
                <a:tc>
                  <a:txBody>
                    <a:bodyPr/>
                    <a:lstStyle/>
                    <a:p>
                      <a:r>
                        <a:rPr sz="1250" b="1">
                          <a:solidFill>
                            <a:srgbClr val="FFFFFF"/>
                          </a:solidFill>
                          <a:latin typeface="Source Han Sans SC"/>
                        </a:rPr>
                        <a:t>Update rule (intuition)</a:t>
                      </a:r>
                    </a:p>
                  </a:txBody>
                  <a:tcPr>
                    <a:solidFill>
                      <a:srgbClr val="0E3F8C"/>
                    </a:solidFill>
                  </a:tcPr>
                </a:tc>
                <a:tc>
                  <a:txBody>
                    <a:bodyPr/>
                    <a:lstStyle/>
                    <a:p>
                      <a:r>
                        <a:rPr sz="1250" b="1">
                          <a:solidFill>
                            <a:srgbClr val="FFFFFF"/>
                          </a:solidFill>
                          <a:latin typeface="Source Han Sans SC"/>
                        </a:rPr>
                        <a:t>Key hyper-parameters</a:t>
                      </a:r>
                    </a:p>
                  </a:txBody>
                  <a:tcPr>
                    <a:solidFill>
                      <a:srgbClr val="0E3F8C"/>
                    </a:solidFill>
                  </a:tcPr>
                </a:tc>
                <a:tc>
                  <a:txBody>
                    <a:bodyPr/>
                    <a:lstStyle/>
                    <a:p>
                      <a:r>
                        <a:rPr sz="1250" b="1">
                          <a:solidFill>
                            <a:srgbClr val="FFFFFF"/>
                          </a:solidFill>
                          <a:latin typeface="Source Han Sans SC"/>
                        </a:rPr>
                        <a:t>Convergence</a:t>
                      </a:r>
                    </a:p>
                  </a:txBody>
                  <a:tcPr>
                    <a:solidFill>
                      <a:srgbClr val="0E3F8C"/>
                    </a:solidFill>
                  </a:tcPr>
                </a:tc>
                <a:tc>
                  <a:txBody>
                    <a:bodyPr/>
                    <a:lstStyle/>
                    <a:p>
                      <a:r>
                        <a:rPr sz="1250" b="1">
                          <a:solidFill>
                            <a:srgbClr val="FFFFFF"/>
                          </a:solidFill>
                          <a:latin typeface="Source Han Sans SC"/>
                        </a:rPr>
                        <a:t>Typical use</a:t>
                      </a:r>
                    </a:p>
                  </a:txBody>
                  <a:tcPr>
                    <a:solidFill>
                      <a:srgbClr val="0E3F8C"/>
                    </a:solidFill>
                  </a:tcPr>
                </a:tc>
              </a:tr>
              <a:tr h="604800">
                <a:tc>
                  <a:txBody>
                    <a:bodyPr/>
                    <a:lstStyle/>
                    <a:p>
                      <a:r>
                        <a:rPr sz="1150" b="1">
                          <a:solidFill>
                            <a:srgbClr val="1F2937"/>
                          </a:solidFill>
                          <a:latin typeface="Source Han Sans SC"/>
                        </a:rPr>
                        <a:t>SGD</a:t>
                      </a:r>
                    </a:p>
                  </a:txBody>
                  <a:tcPr>
                    <a:solidFill>
                      <a:srgbClr val="FFFFFF"/>
                    </a:solidFill>
                  </a:tcPr>
                </a:tc>
                <a:tc>
                  <a:txBody>
                    <a:bodyPr/>
                    <a:lstStyle/>
                    <a:p>
                      <a:r>
                        <a:rPr sz="1150" b="0">
                          <a:solidFill>
                            <a:srgbClr val="1F2937"/>
                          </a:solidFill>
                          <a:latin typeface="Source Han Sans SC"/>
                        </a:rPr>
                        <a:t>One step along the current gradient</a:t>
                      </a:r>
                    </a:p>
                  </a:txBody>
                  <a:tcPr>
                    <a:solidFill>
                      <a:srgbClr val="FFFFFF"/>
                    </a:solidFill>
                  </a:tcPr>
                </a:tc>
                <a:tc>
                  <a:txBody>
                    <a:bodyPr/>
                    <a:lstStyle/>
                    <a:p>
                      <a:r>
                        <a:rPr sz="1150" b="0">
                          <a:solidFill>
                            <a:srgbClr val="1F2937"/>
                          </a:solidFill>
                          <a:latin typeface="Source Han Sans SC"/>
                        </a:rPr>
                        <a:t>lr</a:t>
                      </a:r>
                    </a:p>
                  </a:txBody>
                  <a:tcPr>
                    <a:solidFill>
                      <a:srgbClr val="FFFFFF"/>
                    </a:solidFill>
                  </a:tcPr>
                </a:tc>
                <a:tc>
                  <a:txBody>
                    <a:bodyPr/>
                    <a:lstStyle/>
                    <a:p>
                      <a:r>
                        <a:rPr sz="1150" b="0">
                          <a:solidFill>
                            <a:srgbClr val="1F2937"/>
                          </a:solidFill>
                          <a:latin typeface="Source Han Sans SC"/>
                        </a:rPr>
                        <a:t>Slow</a:t>
                      </a:r>
                    </a:p>
                  </a:txBody>
                  <a:tcPr>
                    <a:solidFill>
                      <a:srgbClr val="FFFFFF"/>
                    </a:solidFill>
                  </a:tcPr>
                </a:tc>
                <a:tc>
                  <a:txBody>
                    <a:bodyPr/>
                    <a:lstStyle/>
                    <a:p>
                      <a:r>
                        <a:rPr sz="1150" b="0">
                          <a:solidFill>
                            <a:srgbClr val="1F2937"/>
                          </a:solidFill>
                          <a:latin typeface="Source Han Sans SC"/>
                        </a:rPr>
                        <a:t>A classic baseline when you can afford tuning</a:t>
                      </a:r>
                    </a:p>
                  </a:txBody>
                  <a:tcPr>
                    <a:solidFill>
                      <a:srgbClr val="FFFFFF"/>
                    </a:solidFill>
                  </a:tcPr>
                </a:tc>
              </a:tr>
              <a:tr h="604800">
                <a:tc>
                  <a:txBody>
                    <a:bodyPr/>
                    <a:lstStyle/>
                    <a:p>
                      <a:r>
                        <a:rPr sz="1150" b="1">
                          <a:solidFill>
                            <a:srgbClr val="1F2937"/>
                          </a:solidFill>
                          <a:latin typeface="Source Han Sans SC"/>
                        </a:rPr>
                        <a:t>SGD + Momentum</a:t>
                      </a:r>
                    </a:p>
                  </a:txBody>
                  <a:tcPr>
                    <a:solidFill>
                      <a:srgbClr val="F0F5FC"/>
                    </a:solidFill>
                  </a:tcPr>
                </a:tc>
                <a:tc>
                  <a:txBody>
                    <a:bodyPr/>
                    <a:lstStyle/>
                    <a:p>
                      <a:r>
                        <a:rPr sz="1150" b="0">
                          <a:solidFill>
                            <a:srgbClr val="1F2937"/>
                          </a:solidFill>
                          <a:latin typeface="Source Han Sans SC"/>
                        </a:rPr>
                        <a:t>Accumulate past gradients into inertia</a:t>
                      </a:r>
                    </a:p>
                  </a:txBody>
                  <a:tcPr>
                    <a:solidFill>
                      <a:srgbClr val="F0F5FC"/>
                    </a:solidFill>
                  </a:tcPr>
                </a:tc>
                <a:tc>
                  <a:txBody>
                    <a:bodyPr/>
                    <a:lstStyle/>
                    <a:p>
                      <a:r>
                        <a:rPr sz="1150" b="0">
                          <a:solidFill>
                            <a:srgbClr val="1F2937"/>
                          </a:solidFill>
                          <a:latin typeface="Source Han Sans SC"/>
                        </a:rPr>
                        <a:t>lr, momentum=0.9</a:t>
                      </a:r>
                    </a:p>
                  </a:txBody>
                  <a:tcPr>
                    <a:solidFill>
                      <a:srgbClr val="F0F5FC"/>
                    </a:solidFill>
                  </a:tcPr>
                </a:tc>
                <a:tc>
                  <a:txBody>
                    <a:bodyPr/>
                    <a:lstStyle/>
                    <a:p>
                      <a:r>
                        <a:rPr sz="1150" b="0">
                          <a:solidFill>
                            <a:srgbClr val="1F2937"/>
                          </a:solidFill>
                          <a:latin typeface="Source Han Sans SC"/>
                        </a:rPr>
                        <a:t>Medium</a:t>
                      </a:r>
                    </a:p>
                  </a:txBody>
                  <a:tcPr>
                    <a:solidFill>
                      <a:srgbClr val="F0F5FC"/>
                    </a:solidFill>
                  </a:tcPr>
                </a:tc>
                <a:tc>
                  <a:txBody>
                    <a:bodyPr/>
                    <a:lstStyle/>
                    <a:p>
                      <a:r>
                        <a:rPr sz="1150" b="0">
                          <a:solidFill>
                            <a:srgbClr val="1F2937"/>
                          </a:solidFill>
                          <a:latin typeface="Source Han Sans SC"/>
                        </a:rPr>
                        <a:t>A common default in computer vision</a:t>
                      </a:r>
                    </a:p>
                  </a:txBody>
                  <a:tcPr>
                    <a:solidFill>
                      <a:srgbClr val="F0F5FC"/>
                    </a:solidFill>
                  </a:tcPr>
                </a:tc>
              </a:tr>
              <a:tr h="604800">
                <a:tc>
                  <a:txBody>
                    <a:bodyPr/>
                    <a:lstStyle/>
                    <a:p>
                      <a:r>
                        <a:rPr sz="1150" b="1">
                          <a:solidFill>
                            <a:srgbClr val="1F2937"/>
                          </a:solidFill>
                          <a:latin typeface="Source Han Sans SC"/>
                        </a:rPr>
                        <a:t>Adam</a:t>
                      </a:r>
                    </a:p>
                  </a:txBody>
                  <a:tcPr>
                    <a:solidFill>
                      <a:srgbClr val="FFFFFF"/>
                    </a:solidFill>
                  </a:tcPr>
                </a:tc>
                <a:tc>
                  <a:txBody>
                    <a:bodyPr/>
                    <a:lstStyle/>
                    <a:p>
                      <a:r>
                        <a:rPr sz="1150" b="0">
                          <a:solidFill>
                            <a:srgbClr val="1F2937"/>
                          </a:solidFill>
                          <a:latin typeface="Source Han Sans SC"/>
                        </a:rPr>
                        <a:t>Adaptive per-parameter step + momentum</a:t>
                      </a:r>
                    </a:p>
                  </a:txBody>
                  <a:tcPr>
                    <a:solidFill>
                      <a:srgbClr val="FFFFFF"/>
                    </a:solidFill>
                  </a:tcPr>
                </a:tc>
                <a:tc>
                  <a:txBody>
                    <a:bodyPr/>
                    <a:lstStyle/>
                    <a:p>
                      <a:r>
                        <a:rPr sz="1150" b="0">
                          <a:solidFill>
                            <a:srgbClr val="1F2937"/>
                          </a:solidFill>
                          <a:latin typeface="Source Han Sans SC"/>
                        </a:rPr>
                        <a:t>lr, betas, eps</a:t>
                      </a:r>
                    </a:p>
                  </a:txBody>
                  <a:tcPr>
                    <a:solidFill>
                      <a:srgbClr val="FFFFFF"/>
                    </a:solidFill>
                  </a:tcPr>
                </a:tc>
                <a:tc>
                  <a:txBody>
                    <a:bodyPr/>
                    <a:lstStyle/>
                    <a:p>
                      <a:r>
                        <a:rPr sz="1150" b="0">
                          <a:solidFill>
                            <a:srgbClr val="1F2937"/>
                          </a:solidFill>
                          <a:latin typeface="Source Han Sans SC"/>
                        </a:rPr>
                        <a:t>Fast</a:t>
                      </a:r>
                    </a:p>
                  </a:txBody>
                  <a:tcPr>
                    <a:solidFill>
                      <a:srgbClr val="FFFFFF"/>
                    </a:solidFill>
                  </a:tcPr>
                </a:tc>
                <a:tc>
                  <a:txBody>
                    <a:bodyPr/>
                    <a:lstStyle/>
                    <a:p>
                      <a:r>
                        <a:rPr sz="1150" b="0">
                          <a:solidFill>
                            <a:srgbClr val="1F2937"/>
                          </a:solidFill>
                          <a:latin typeface="Source Han Sans SC"/>
                        </a:rPr>
                        <a:t>First choice, fast prototyping, sparse gradients</a:t>
                      </a:r>
                    </a:p>
                  </a:txBody>
                  <a:tcPr>
                    <a:solidFill>
                      <a:srgbClr val="FFFFFF"/>
                    </a:solidFill>
                  </a:tcPr>
                </a:tc>
              </a:tr>
              <a:tr h="604800">
                <a:tc>
                  <a:txBody>
                    <a:bodyPr/>
                    <a:lstStyle/>
                    <a:p>
                      <a:r>
                        <a:rPr sz="1150" b="1">
                          <a:solidFill>
                            <a:srgbClr val="1F2937"/>
                          </a:solidFill>
                          <a:latin typeface="Source Han Sans SC"/>
                        </a:rPr>
                        <a:t>AdamW</a:t>
                      </a:r>
                    </a:p>
                  </a:txBody>
                  <a:tcPr>
                    <a:solidFill>
                      <a:srgbClr val="F0F5FC"/>
                    </a:solidFill>
                  </a:tcPr>
                </a:tc>
                <a:tc>
                  <a:txBody>
                    <a:bodyPr/>
                    <a:lstStyle/>
                    <a:p>
                      <a:r>
                        <a:rPr sz="1150" b="0">
                          <a:solidFill>
                            <a:srgbClr val="1F2937"/>
                          </a:solidFill>
                          <a:latin typeface="Source Han Sans SC"/>
                        </a:rPr>
                        <a:t>Adam with decoupled weight decay</a:t>
                      </a:r>
                    </a:p>
                  </a:txBody>
                  <a:tcPr>
                    <a:solidFill>
                      <a:srgbClr val="F0F5FC"/>
                    </a:solidFill>
                  </a:tcPr>
                </a:tc>
                <a:tc>
                  <a:txBody>
                    <a:bodyPr/>
                    <a:lstStyle/>
                    <a:p>
                      <a:r>
                        <a:rPr sz="1150" b="0">
                          <a:solidFill>
                            <a:srgbClr val="1F2937"/>
                          </a:solidFill>
                          <a:latin typeface="Source Han Sans SC"/>
                        </a:rPr>
                        <a:t>lr, weight_decay</a:t>
                      </a:r>
                    </a:p>
                  </a:txBody>
                  <a:tcPr>
                    <a:solidFill>
                      <a:srgbClr val="F0F5FC"/>
                    </a:solidFill>
                  </a:tcPr>
                </a:tc>
                <a:tc>
                  <a:txBody>
                    <a:bodyPr/>
                    <a:lstStyle/>
                    <a:p>
                      <a:r>
                        <a:rPr sz="1150" b="0">
                          <a:solidFill>
                            <a:srgbClr val="1F2937"/>
                          </a:solidFill>
                          <a:latin typeface="Source Han Sans SC"/>
                        </a:rPr>
                        <a:t>Fast</a:t>
                      </a:r>
                    </a:p>
                  </a:txBody>
                  <a:tcPr>
                    <a:solidFill>
                      <a:srgbClr val="F0F5FC"/>
                    </a:solidFill>
                  </a:tcPr>
                </a:tc>
                <a:tc>
                  <a:txBody>
                    <a:bodyPr/>
                    <a:lstStyle/>
                    <a:p>
                      <a:r>
                        <a:rPr sz="1150" b="0">
                          <a:solidFill>
                            <a:srgbClr val="1F2937"/>
                          </a:solidFill>
                          <a:latin typeface="Source Han Sans SC"/>
                        </a:rPr>
                        <a:t>Standard for Transformer-style models</a:t>
                      </a:r>
                    </a:p>
                  </a:txBody>
                  <a:tcPr>
                    <a:solidFill>
                      <a:srgbClr val="F0F5FC"/>
                    </a:solidFill>
                  </a:tcPr>
                </a:tc>
              </a:tr>
            </a:tbl>
          </a:graphicData>
        </a:graphic>
      </p:graphicFrame>
      <p:sp>
        <p:nvSpPr>
          <p:cNvPr id="10" name="TextBox 9"/>
          <p:cNvSpPr txBox="1"/>
          <p:nvPr/>
        </p:nvSpPr>
        <p:spPr>
          <a:xfrm>
            <a:off x="799200" y="4320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Note the wording of column two: "one step along the current gradient" versus "adaptive per-parameter step" — that difference is exactly the source of the convergence gap in the upcoming 3x3 experiment.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Building the Three Optimizers, Side by Side</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11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Same weights, three optimizers</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import torch</a:t>
            </a:r>
          </a:p>
          <a:p>
            <a:pPr algn="l">
              <a:lnSpc>
                <a:spcPct val="128000"/>
              </a:lnSpc>
            </a:pPr>
            <a:r>
              <a:rPr sz="1100" b="0" i="0">
                <a:solidFill>
                  <a:srgbClr val="E2E8F0"/>
                </a:solidFill>
                <a:latin typeface="Menlo"/>
              </a:rPr>
              <a:t>from torch import nn</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model = nn.Sequential(</a:t>
            </a:r>
          </a:p>
          <a:p>
            <a:pPr algn="l">
              <a:lnSpc>
                <a:spcPct val="128000"/>
              </a:lnSpc>
            </a:pPr>
            <a:r>
              <a:rPr sz="1100" b="0" i="0">
                <a:solidFill>
                  <a:srgbClr val="E2E8F0"/>
                </a:solidFill>
                <a:latin typeface="Menlo"/>
              </a:rPr>
              <a:t>    nn.Linear(784, 128),</a:t>
            </a:r>
          </a:p>
          <a:p>
            <a:pPr algn="l">
              <a:lnSpc>
                <a:spcPct val="128000"/>
              </a:lnSpc>
            </a:pPr>
            <a:r>
              <a:rPr sz="1100" b="0" i="0">
                <a:solidFill>
                  <a:srgbClr val="E2E8F0"/>
                </a:solidFill>
                <a:latin typeface="Menlo"/>
              </a:rPr>
              <a:t>    nn.ReLU(),</a:t>
            </a:r>
          </a:p>
          <a:p>
            <a:pPr algn="l">
              <a:lnSpc>
                <a:spcPct val="128000"/>
              </a:lnSpc>
            </a:pPr>
            <a:r>
              <a:rPr sz="1100" b="0" i="0">
                <a:solidFill>
                  <a:srgbClr val="E2E8F0"/>
                </a:solidFill>
                <a:latin typeface="Menlo"/>
              </a:rPr>
              <a:t>    nn.Linear(128, 10))</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params = model.parameters()</a:t>
            </a:r>
          </a:p>
          <a:p>
            <a:pPr algn="l">
              <a:lnSpc>
                <a:spcPct val="128000"/>
              </a:lnSpc>
            </a:pPr>
            <a:r>
              <a:rPr sz="1100" b="0" i="0">
                <a:solidFill>
                  <a:srgbClr val="E2E8F0"/>
                </a:solidFill>
                <a:latin typeface="Menlo"/>
              </a:rPr>
              <a:t>opt_sgd = torch.optim.SGD(params, lr=1e-1)</a:t>
            </a:r>
          </a:p>
          <a:p>
            <a:pPr algn="l">
              <a:lnSpc>
                <a:spcPct val="128000"/>
              </a:lnSpc>
            </a:pPr>
            <a:r>
              <a:rPr sz="1100" b="0" i="0">
                <a:solidFill>
                  <a:srgbClr val="E2E8F0"/>
                </a:solidFill>
                <a:latin typeface="Menlo"/>
              </a:rPr>
              <a:t>opt_mom = torch.optim.SGD(params, lr=1e-1,</a:t>
            </a:r>
          </a:p>
          <a:p>
            <a:pPr algn="l">
              <a:lnSpc>
                <a:spcPct val="128000"/>
              </a:lnSpc>
            </a:pPr>
            <a:r>
              <a:rPr sz="1100" b="0" i="0">
                <a:solidFill>
                  <a:srgbClr val="E2E8F0"/>
                </a:solidFill>
                <a:latin typeface="Menlo"/>
              </a:rPr>
              <a:t>                          momentum=0.9)</a:t>
            </a:r>
          </a:p>
          <a:p>
            <a:pPr algn="l">
              <a:lnSpc>
                <a:spcPct val="128000"/>
              </a:lnSpc>
            </a:pPr>
            <a:r>
              <a:rPr sz="1100" b="0" i="0">
                <a:solidFill>
                  <a:srgbClr val="E2E8F0"/>
                </a:solidFill>
                <a:latin typeface="Menlo"/>
              </a:rPr>
              <a:t>opt_adam = torch.optim.Adam(params, lr=1e-3)</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Sweeping lr = 1e-1 / 1e-3 / 1e-5</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 sweep the learning rate: 1e-1 / 1e-3 / 1e-5</a:t>
            </a:r>
          </a:p>
          <a:p>
            <a:pPr algn="l">
              <a:lnSpc>
                <a:spcPct val="128000"/>
              </a:lnSpc>
            </a:pPr>
            <a:r>
              <a:rPr sz="1100" b="0" i="0">
                <a:solidFill>
                  <a:srgbClr val="E2E8F0"/>
                </a:solidFill>
                <a:latin typeface="Menlo"/>
              </a:rPr>
              <a:t>for lr in [1e-1, 1e-3, 1e-5]:</a:t>
            </a:r>
          </a:p>
          <a:p>
            <a:pPr algn="l">
              <a:lnSpc>
                <a:spcPct val="128000"/>
              </a:lnSpc>
            </a:pPr>
            <a:r>
              <a:rPr sz="1100" b="0" i="0">
                <a:solidFill>
                  <a:srgbClr val="E2E8F0"/>
                </a:solidFill>
                <a:latin typeface="Menlo"/>
              </a:rPr>
              <a:t>    net = build_model()      # fresh weights</a:t>
            </a:r>
          </a:p>
          <a:p>
            <a:pPr algn="l">
              <a:lnSpc>
                <a:spcPct val="128000"/>
              </a:lnSpc>
            </a:pPr>
            <a:r>
              <a:rPr sz="1100" b="0" i="0">
                <a:solidFill>
                  <a:srgbClr val="E2E8F0"/>
                </a:solidFill>
                <a:latin typeface="Menlo"/>
              </a:rPr>
              <a:t>    opt = make_opt("adam", net, lr)</a:t>
            </a:r>
          </a:p>
          <a:p>
            <a:pPr algn="l">
              <a:lnSpc>
                <a:spcPct val="128000"/>
              </a:lnSpc>
            </a:pPr>
            <a:r>
              <a:rPr sz="1100" b="0" i="0">
                <a:solidFill>
                  <a:srgbClr val="E2E8F0"/>
                </a:solidFill>
                <a:latin typeface="Menlo"/>
              </a:rPr>
              <a:t>    hist = train(net, opt, epochs=10)</a:t>
            </a:r>
          </a:p>
          <a:p>
            <a:pPr algn="l">
              <a:lnSpc>
                <a:spcPct val="128000"/>
              </a:lnSpc>
            </a:pPr>
            <a:r>
              <a:rPr sz="1100" b="0" i="0">
                <a:solidFill>
                  <a:srgbClr val="E2E8F0"/>
                </a:solidFill>
                <a:latin typeface="Menlo"/>
              </a:rPr>
              <a:t>    log.append({"optim": "adam",</a:t>
            </a:r>
          </a:p>
          <a:p>
            <a:pPr algn="l">
              <a:lnSpc>
                <a:spcPct val="128000"/>
              </a:lnSpc>
            </a:pPr>
            <a:r>
              <a:rPr sz="1100" b="0" i="0">
                <a:solidFill>
                  <a:srgbClr val="E2E8F0"/>
                </a:solidFill>
                <a:latin typeface="Menlo"/>
              </a:rPr>
              <a:t>                "lr": lr,</a:t>
            </a:r>
          </a:p>
          <a:p>
            <a:pPr algn="l">
              <a:lnSpc>
                <a:spcPct val="128000"/>
              </a:lnSpc>
            </a:pPr>
            <a:r>
              <a:rPr sz="1100" b="0" i="0">
                <a:solidFill>
                  <a:srgbClr val="E2E8F0"/>
                </a:solidFill>
                <a:latin typeface="Menlo"/>
              </a:rPr>
              <a:t>                "val_loss": min(hist["val_loss"])})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1e-1 : loss explodes / oscillates</a:t>
            </a:r>
          </a:p>
          <a:p>
            <a:pPr algn="l">
              <a:lnSpc>
                <a:spcPct val="128000"/>
              </a:lnSpc>
            </a:pPr>
            <a:r>
              <a:rPr sz="1100" b="0" i="0">
                <a:solidFill>
                  <a:srgbClr val="E2E8F0"/>
                </a:solidFill>
                <a:latin typeface="Menlo"/>
              </a:rPr>
              <a:t># 1e-3 : converges smoothly - start here</a:t>
            </a:r>
          </a:p>
          <a:p>
            <a:pPr algn="l">
              <a:lnSpc>
                <a:spcPct val="128000"/>
              </a:lnSpc>
            </a:pPr>
            <a:r>
              <a:rPr sz="1100" b="0" i="0">
                <a:solidFill>
                  <a:srgbClr val="E2E8F0"/>
                </a:solidFill>
                <a:latin typeface="Menlo"/>
              </a:rPr>
              <a:t># 1e-5 : still far from converged</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Discipline for a controlled experiment: rebuild the model every run, or run 2 inherits weights already trained by run 1 and the comparison is void.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SGD and Adam: Two Personalities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12 / 31</a:t>
            </a:r>
          </a:p>
        </p:txBody>
      </p:sp>
      <p:sp>
        <p:nvSpPr>
          <p:cNvPr id="9" name="Rectangle 8"/>
          <p:cNvSpPr/>
          <p:nvPr/>
        </p:nvSpPr>
        <p:spPr>
          <a:xfrm>
            <a:off x="799200" y="1170000"/>
            <a:ext cx="5143859" cy="41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70000"/>
            <a:ext cx="5143859" cy="540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15200"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SGD + Momentum</a:t>
            </a:r>
          </a:p>
        </p:txBody>
      </p:sp>
      <p:sp>
        <p:nvSpPr>
          <p:cNvPr id="12" name="TextBox 11"/>
          <p:cNvSpPr txBox="1"/>
          <p:nvPr/>
        </p:nvSpPr>
        <p:spPr>
          <a:xfrm>
            <a:off x="1015200"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Each step uses only one batch of gradients</a:t>
            </a:r>
          </a:p>
          <a:p>
            <a:pPr algn="l">
              <a:lnSpc>
                <a:spcPct val="150000"/>
              </a:lnSpc>
              <a:spcAft>
                <a:spcPts val="800"/>
              </a:spcAft>
            </a:pPr>
            <a:r>
              <a:rPr sz="1250" b="0" i="0">
                <a:solidFill>
                  <a:srgbClr val="1F2937"/>
                </a:solidFill>
                <a:latin typeface="Source Han Sans SC"/>
              </a:rPr>
              <a:t>• Momentum makes the direction steadier and faster</a:t>
            </a:r>
          </a:p>
          <a:p>
            <a:pPr algn="l">
              <a:lnSpc>
                <a:spcPct val="150000"/>
              </a:lnSpc>
              <a:spcAft>
                <a:spcPts val="800"/>
              </a:spcAft>
            </a:pPr>
            <a:r>
              <a:rPr sz="1250" b="0" i="0">
                <a:solidFill>
                  <a:srgbClr val="1F2937"/>
                </a:solidFill>
                <a:latin typeface="Source Han Sans SC"/>
              </a:rPr>
              <a:t>• Very lr-sensitive; 1e-1 simply explodes</a:t>
            </a:r>
          </a:p>
          <a:p>
            <a:pPr algn="l">
              <a:lnSpc>
                <a:spcPct val="150000"/>
              </a:lnSpc>
              <a:spcAft>
                <a:spcPts val="800"/>
              </a:spcAft>
            </a:pPr>
            <a:r>
              <a:rPr sz="1250" b="0" i="0">
                <a:solidFill>
                  <a:srgbClr val="1F2937"/>
                </a:solidFill>
                <a:latin typeface="Source Han Sans SC"/>
              </a:rPr>
              <a:t>• Usually generalises a little better, at a tuning cost</a:t>
            </a:r>
          </a:p>
          <a:p>
            <a:pPr algn="l">
              <a:lnSpc>
                <a:spcPct val="150000"/>
              </a:lnSpc>
              <a:spcAft>
                <a:spcPts val="800"/>
              </a:spcAft>
            </a:pPr>
            <a:r>
              <a:rPr sz="1250" b="0" i="0">
                <a:solidFill>
                  <a:srgbClr val="1F2937"/>
                </a:solidFill>
                <a:latin typeface="Source Han Sans SC"/>
              </a:rPr>
              <a:t>• The classic default in computer vision</a:t>
            </a:r>
          </a:p>
        </p:txBody>
      </p:sp>
      <p:sp>
        <p:nvSpPr>
          <p:cNvPr id="13" name="Rectangle 12"/>
          <p:cNvSpPr/>
          <p:nvPr/>
        </p:nvSpPr>
        <p:spPr>
          <a:xfrm>
            <a:off x="6249059" y="1170000"/>
            <a:ext cx="5143859" cy="41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9059" y="1170000"/>
            <a:ext cx="5143859" cy="54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5059" y="1321200"/>
            <a:ext cx="4711859" cy="251999"/>
          </a:xfrm>
          <a:prstGeom prst="rect">
            <a:avLst/>
          </a:prstGeom>
          <a:noFill/>
        </p:spPr>
        <p:txBody>
          <a:bodyPr wrap="square" anchor="t" lIns="0" rIns="0" tIns="0" bIns="0">
            <a:spAutoFit/>
          </a:bodyPr>
          <a:lstStyle/>
          <a:p>
            <a:pPr algn="l">
              <a:lnSpc>
                <a:spcPct val="125000"/>
              </a:lnSpc>
            </a:pPr>
            <a:r>
              <a:rPr sz="1600" b="1" i="0">
                <a:solidFill>
                  <a:srgbClr val="FFFFFF"/>
                </a:solidFill>
                <a:latin typeface="Source Han Sans SC"/>
              </a:rPr>
              <a:t>Adam</a:t>
            </a:r>
          </a:p>
        </p:txBody>
      </p:sp>
      <p:sp>
        <p:nvSpPr>
          <p:cNvPr id="16" name="TextBox 15"/>
          <p:cNvSpPr txBox="1"/>
          <p:nvPr/>
        </p:nvSpPr>
        <p:spPr>
          <a:xfrm>
            <a:off x="6465059" y="1890000"/>
            <a:ext cx="4711859" cy="3276000"/>
          </a:xfrm>
          <a:prstGeom prst="rect">
            <a:avLst/>
          </a:prstGeom>
          <a:noFill/>
        </p:spPr>
        <p:txBody>
          <a:bodyPr wrap="square" anchor="t" lIns="0" rIns="0" tIns="0" bIns="0">
            <a:spAutoFit/>
          </a:bodyPr>
          <a:lstStyle/>
          <a:p>
            <a:pPr algn="l">
              <a:lnSpc>
                <a:spcPct val="150000"/>
              </a:lnSpc>
              <a:spcAft>
                <a:spcPts val="800"/>
              </a:spcAft>
            </a:pPr>
            <a:r>
              <a:rPr sz="1250" b="0" i="0">
                <a:solidFill>
                  <a:srgbClr val="1F2937"/>
                </a:solidFill>
                <a:latin typeface="Source Han Sans SC"/>
              </a:rPr>
              <a:t>• Every parameter gets an adaptive step size</a:t>
            </a:r>
          </a:p>
          <a:p>
            <a:pPr algn="l">
              <a:lnSpc>
                <a:spcPct val="150000"/>
              </a:lnSpc>
              <a:spcAft>
                <a:spcPts val="800"/>
              </a:spcAft>
            </a:pPr>
            <a:r>
              <a:rPr sz="1250" b="0" i="0">
                <a:solidFill>
                  <a:srgbClr val="1F2937"/>
                </a:solidFill>
                <a:latin typeface="Source Han Sans SC"/>
              </a:rPr>
              <a:t>• More forgiving; 1e-3 usually runs</a:t>
            </a:r>
          </a:p>
          <a:p>
            <a:pPr algn="l">
              <a:lnSpc>
                <a:spcPct val="150000"/>
              </a:lnSpc>
              <a:spcAft>
                <a:spcPts val="800"/>
              </a:spcAft>
            </a:pPr>
            <a:r>
              <a:rPr sz="1250" b="0" i="0">
                <a:solidFill>
                  <a:srgbClr val="1F2937"/>
                </a:solidFill>
                <a:latin typeface="Source Han Sans SC"/>
              </a:rPr>
              <a:t>• Converges fast early — good for a quick baseline</a:t>
            </a:r>
          </a:p>
          <a:p>
            <a:pPr algn="l">
              <a:lnSpc>
                <a:spcPct val="150000"/>
              </a:lnSpc>
              <a:spcAft>
                <a:spcPts val="800"/>
              </a:spcAft>
            </a:pPr>
            <a:r>
              <a:rPr sz="1250" b="0" i="0">
                <a:solidFill>
                  <a:srgbClr val="1F2937"/>
                </a:solidFill>
                <a:latin typeface="Source Han Sans SC"/>
              </a:rPr>
              <a:t>• Two extra state buffers, so more VRAM</a:t>
            </a:r>
          </a:p>
          <a:p>
            <a:pPr algn="l">
              <a:lnSpc>
                <a:spcPct val="150000"/>
              </a:lnSpc>
              <a:spcAft>
                <a:spcPts val="800"/>
              </a:spcAft>
            </a:pPr>
            <a:r>
              <a:rPr sz="1250" b="0" i="0">
                <a:solidFill>
                  <a:srgbClr val="1F2937"/>
                </a:solidFill>
                <a:latin typeface="Source Han Sans SC"/>
              </a:rPr>
              <a:t>• First choice for Transformer-style models</a:t>
            </a:r>
          </a:p>
        </p:txBody>
      </p:sp>
      <p:sp>
        <p:nvSpPr>
          <p:cNvPr id="17" name="TextBox 16"/>
          <p:cNvSpPr txBox="1"/>
          <p:nvPr/>
        </p:nvSpPr>
        <p:spPr>
          <a:xfrm>
            <a:off x="799200" y="5454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Strategy: get a working baseline with Adam(lr=1e-3) first, then refine with SGD+momentum. But the verdict on which is better must come from your own experiment, not from this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One Loss Surface, Two Walks: SGD and Adam</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Same start, same surface, each at the learning rate it can survive</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13 / 31</a:t>
            </a:r>
          </a:p>
        </p:txBody>
      </p:sp>
      <p:sp>
        <p:nvSpPr>
          <p:cNvPr id="10" name="Rounded Rectangle 9"/>
          <p:cNvSpPr/>
          <p:nvPr/>
        </p:nvSpPr>
        <p:spPr>
          <a:xfrm>
            <a:off x="799200" y="1512000"/>
            <a:ext cx="7056000" cy="3248137"/>
          </a:xfrm>
          <a:prstGeom prst="roundRect">
            <a:avLst>
              <a:gd name="adj" fmla="val 350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3251875" y="2750594"/>
            <a:ext cx="1659740" cy="659347"/>
          </a:xfrm>
          <a:prstGeom prst="ellipse">
            <a:avLst/>
          </a:prstGeom>
          <a:noFill/>
          <a:ln w="1397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2422005" y="2420921"/>
            <a:ext cx="3319480" cy="1318694"/>
          </a:xfrm>
          <a:prstGeom prst="ellipse">
            <a:avLst/>
          </a:prstGeom>
          <a:noFill/>
          <a:ln w="1397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592135" y="2091247"/>
            <a:ext cx="4979220" cy="1978042"/>
          </a:xfrm>
          <a:prstGeom prst="ellipse">
            <a:avLst/>
          </a:prstGeom>
          <a:noFill/>
          <a:ln w="1397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 name="Connector 13"/>
          <p:cNvCxnSpPr/>
          <p:nvPr/>
        </p:nvCxnSpPr>
        <p:spPr>
          <a:xfrm>
            <a:off x="1177200" y="3080268"/>
            <a:ext cx="6390000" cy="0"/>
          </a:xfrm>
          <a:prstGeom prst="line">
            <a:avLst/>
          </a:prstGeom>
          <a:ln w="1143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081745" y="1735199"/>
            <a:ext cx="0" cy="2690138"/>
          </a:xfrm>
          <a:prstGeom prst="line">
            <a:avLst/>
          </a:prstGeom>
          <a:ln w="1143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27745" y="3026268"/>
            <a:ext cx="108000" cy="1080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66000" y="2979468"/>
            <a:ext cx="486000" cy="198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w2</a:t>
            </a:r>
          </a:p>
        </p:txBody>
      </p:sp>
      <p:sp>
        <p:nvSpPr>
          <p:cNvPr id="18" name="TextBox 17"/>
          <p:cNvSpPr txBox="1"/>
          <p:nvPr/>
        </p:nvSpPr>
        <p:spPr>
          <a:xfrm>
            <a:off x="6847200" y="4475737"/>
            <a:ext cx="75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w1</a:t>
            </a:r>
          </a:p>
        </p:txBody>
      </p:sp>
      <p:sp>
        <p:nvSpPr>
          <p:cNvPr id="19" name="Freeform 18"/>
          <p:cNvSpPr/>
          <p:nvPr/>
        </p:nvSpPr>
        <p:spPr>
          <a:xfrm>
            <a:off x="4003979" y="2130808"/>
            <a:ext cx="3231272" cy="1536243"/>
          </a:xfrm>
          <a:custGeom>
            <a:avLst/>
            <a:gdLst/>
            <a:ahLst/>
            <a:cxnLst/>
            <a:rect l="l" t="t" r="r" b="b"/>
            <a:pathLst>
              <a:path w="3231272" h="1536243">
                <a:moveTo>
                  <a:pt x="3231272" y="0"/>
                </a:moveTo>
                <a:lnTo>
                  <a:pt x="2998909" y="553852"/>
                </a:lnTo>
                <a:lnTo>
                  <a:pt x="2767178" y="1054976"/>
                </a:lnTo>
                <a:lnTo>
                  <a:pt x="2536581" y="1404181"/>
                </a:lnTo>
                <a:lnTo>
                  <a:pt x="2307684" y="1536243"/>
                </a:lnTo>
                <a:lnTo>
                  <a:pt x="2081127" y="1495801"/>
                </a:lnTo>
                <a:lnTo>
                  <a:pt x="1857626" y="1349547"/>
                </a:lnTo>
                <a:lnTo>
                  <a:pt x="1637979" y="1148885"/>
                </a:lnTo>
                <a:lnTo>
                  <a:pt x="1423064" y="935958"/>
                </a:lnTo>
                <a:lnTo>
                  <a:pt x="1213840" y="749461"/>
                </a:lnTo>
                <a:lnTo>
                  <a:pt x="1011338" y="621218"/>
                </a:lnTo>
                <a:lnTo>
                  <a:pt x="816653" y="567505"/>
                </a:lnTo>
                <a:lnTo>
                  <a:pt x="630918" y="586529"/>
                </a:lnTo>
                <a:lnTo>
                  <a:pt x="455285" y="664220"/>
                </a:lnTo>
                <a:lnTo>
                  <a:pt x="290886" y="780661"/>
                </a:lnTo>
                <a:lnTo>
                  <a:pt x="138799" y="913495"/>
                </a:lnTo>
                <a:lnTo>
                  <a:pt x="0" y="1039858"/>
                </a:lnTo>
              </a:path>
            </a:pathLst>
          </a:cu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003979" y="2130808"/>
            <a:ext cx="3231272" cy="1536243"/>
          </a:xfrm>
          <a:custGeom>
            <a:avLst/>
            <a:gdLst/>
            <a:ahLst/>
            <a:cxnLst/>
            <a:rect l="l" t="t" r="r" b="b"/>
            <a:pathLst>
              <a:path w="3231272" h="1536243">
                <a:moveTo>
                  <a:pt x="3231272" y="0"/>
                </a:moveTo>
                <a:lnTo>
                  <a:pt x="2998909" y="553852"/>
                </a:lnTo>
                <a:lnTo>
                  <a:pt x="2767178" y="1054976"/>
                </a:lnTo>
                <a:lnTo>
                  <a:pt x="2536581" y="1404181"/>
                </a:lnTo>
                <a:lnTo>
                  <a:pt x="2307684" y="1536243"/>
                </a:lnTo>
                <a:lnTo>
                  <a:pt x="2081127" y="1495801"/>
                </a:lnTo>
                <a:lnTo>
                  <a:pt x="1857626" y="1349547"/>
                </a:lnTo>
                <a:lnTo>
                  <a:pt x="1637979" y="1148885"/>
                </a:lnTo>
                <a:lnTo>
                  <a:pt x="1423064" y="935958"/>
                </a:lnTo>
                <a:lnTo>
                  <a:pt x="1213840" y="749461"/>
                </a:lnTo>
                <a:lnTo>
                  <a:pt x="1011338" y="621218"/>
                </a:lnTo>
                <a:lnTo>
                  <a:pt x="816653" y="567505"/>
                </a:lnTo>
                <a:lnTo>
                  <a:pt x="630918" y="586529"/>
                </a:lnTo>
                <a:lnTo>
                  <a:pt x="455285" y="664220"/>
                </a:lnTo>
                <a:lnTo>
                  <a:pt x="290886" y="780661"/>
                </a:lnTo>
                <a:lnTo>
                  <a:pt x="138799" y="913495"/>
                </a:lnTo>
                <a:lnTo>
                  <a:pt x="0" y="1039858"/>
                </a:lnTo>
              </a:path>
            </a:pathLst>
          </a:custGeom>
          <a:noFill/>
          <a:ln w="27940">
            <a:solidFill>
              <a:srgbClr val="1E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966888" y="2648660"/>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735157" y="3149784"/>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504560" y="3498989"/>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275663" y="3631051"/>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49106" y="3590609"/>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825605" y="3444355"/>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605958" y="3243693"/>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391043" y="3030766"/>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5181819" y="2844269"/>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979317" y="2716026"/>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784632" y="2662313"/>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4598897" y="2681337"/>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4423264" y="2759028"/>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4258865" y="2875469"/>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4106778" y="3008303"/>
            <a:ext cx="72000" cy="72000"/>
          </a:xfrm>
          <a:prstGeom prst="ellips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Isosceles Triangle 35"/>
          <p:cNvSpPr/>
          <p:nvPr/>
        </p:nvSpPr>
        <p:spPr>
          <a:xfrm rot="16200000">
            <a:off x="3931979" y="3098666"/>
            <a:ext cx="144000" cy="144000"/>
          </a:xfrm>
          <a:prstGeom prst="triangle">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reeform 36"/>
          <p:cNvSpPr/>
          <p:nvPr/>
        </p:nvSpPr>
        <p:spPr>
          <a:xfrm>
            <a:off x="5616786" y="2130808"/>
            <a:ext cx="1618465" cy="1503945"/>
          </a:xfrm>
          <a:custGeom>
            <a:avLst/>
            <a:gdLst/>
            <a:ahLst/>
            <a:cxnLst/>
            <a:rect l="l" t="t" r="r" b="b"/>
            <a:pathLst>
              <a:path w="1618465" h="1503945">
                <a:moveTo>
                  <a:pt x="1618465" y="0"/>
                </a:moveTo>
                <a:lnTo>
                  <a:pt x="1479711" y="1503945"/>
                </a:lnTo>
                <a:lnTo>
                  <a:pt x="1347062" y="625641"/>
                </a:lnTo>
                <a:lnTo>
                  <a:pt x="1220250" y="1138570"/>
                </a:lnTo>
                <a:lnTo>
                  <a:pt x="1099017" y="839020"/>
                </a:lnTo>
                <a:lnTo>
                  <a:pt x="983118" y="1013957"/>
                </a:lnTo>
                <a:lnTo>
                  <a:pt x="872319" y="911794"/>
                </a:lnTo>
                <a:lnTo>
                  <a:pt x="766395" y="971457"/>
                </a:lnTo>
                <a:lnTo>
                  <a:pt x="665132" y="936614"/>
                </a:lnTo>
                <a:lnTo>
                  <a:pt x="568325" y="956962"/>
                </a:lnTo>
                <a:lnTo>
                  <a:pt x="475776" y="945079"/>
                </a:lnTo>
                <a:lnTo>
                  <a:pt x="387300" y="952019"/>
                </a:lnTo>
                <a:lnTo>
                  <a:pt x="302717" y="947966"/>
                </a:lnTo>
                <a:lnTo>
                  <a:pt x="221856" y="950333"/>
                </a:lnTo>
                <a:lnTo>
                  <a:pt x="144553" y="948950"/>
                </a:lnTo>
                <a:lnTo>
                  <a:pt x="70650" y="949758"/>
                </a:lnTo>
                <a:lnTo>
                  <a:pt x="0" y="949286"/>
                </a:lnTo>
              </a:path>
            </a:pathLst>
          </a:cu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5616786" y="2130808"/>
            <a:ext cx="1618465" cy="1503945"/>
          </a:xfrm>
          <a:custGeom>
            <a:avLst/>
            <a:gdLst/>
            <a:ahLst/>
            <a:cxnLst/>
            <a:rect l="l" t="t" r="r" b="b"/>
            <a:pathLst>
              <a:path w="1618465" h="1503945">
                <a:moveTo>
                  <a:pt x="1618465" y="0"/>
                </a:moveTo>
                <a:lnTo>
                  <a:pt x="1479711" y="1503945"/>
                </a:lnTo>
                <a:lnTo>
                  <a:pt x="1347062" y="625641"/>
                </a:lnTo>
                <a:lnTo>
                  <a:pt x="1220250" y="1138570"/>
                </a:lnTo>
                <a:lnTo>
                  <a:pt x="1099017" y="839020"/>
                </a:lnTo>
                <a:lnTo>
                  <a:pt x="983118" y="1013957"/>
                </a:lnTo>
                <a:lnTo>
                  <a:pt x="872319" y="911794"/>
                </a:lnTo>
                <a:lnTo>
                  <a:pt x="766395" y="971457"/>
                </a:lnTo>
                <a:lnTo>
                  <a:pt x="665132" y="936614"/>
                </a:lnTo>
                <a:lnTo>
                  <a:pt x="568325" y="956962"/>
                </a:lnTo>
                <a:lnTo>
                  <a:pt x="475776" y="945079"/>
                </a:lnTo>
                <a:lnTo>
                  <a:pt x="387300" y="952019"/>
                </a:lnTo>
                <a:lnTo>
                  <a:pt x="302717" y="947966"/>
                </a:lnTo>
                <a:lnTo>
                  <a:pt x="221856" y="950333"/>
                </a:lnTo>
                <a:lnTo>
                  <a:pt x="144553" y="948950"/>
                </a:lnTo>
                <a:lnTo>
                  <a:pt x="70650" y="949758"/>
                </a:lnTo>
                <a:lnTo>
                  <a:pt x="0" y="949286"/>
                </a:lnTo>
              </a:path>
            </a:pathLst>
          </a:custGeom>
          <a:noFill/>
          <a:ln w="279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060497" y="3598753"/>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927848" y="2720449"/>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801036" y="323337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679803" y="293382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6563904" y="3108765"/>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6453105" y="3006602"/>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6347181" y="3066265"/>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6245918" y="3031422"/>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6149111" y="3051770"/>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6056562" y="3039887"/>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5968086" y="3046827"/>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5883503" y="3042774"/>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5802642" y="3045141"/>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5725339" y="3043758"/>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5651436" y="3044566"/>
            <a:ext cx="72000" cy="7200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Isosceles Triangle 53"/>
          <p:cNvSpPr/>
          <p:nvPr/>
        </p:nvSpPr>
        <p:spPr>
          <a:xfrm rot="16200000">
            <a:off x="5544786" y="3008094"/>
            <a:ext cx="144000" cy="144000"/>
          </a:xfrm>
          <a:prstGeom prst="triangl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7145251" y="2040808"/>
            <a:ext cx="180000" cy="180000"/>
          </a:xfrm>
          <a:prstGeom prst="ellipse">
            <a:avLst/>
          </a:prstGeom>
          <a:noFill/>
          <a:ln w="22225">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7181251" y="2076808"/>
            <a:ext cx="108000" cy="1080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731251" y="1799608"/>
            <a:ext cx="1007999" cy="180000"/>
          </a:xfrm>
          <a:prstGeom prst="rect">
            <a:avLst/>
          </a:prstGeom>
          <a:noFill/>
        </p:spPr>
        <p:txBody>
          <a:bodyPr wrap="square" anchor="t" lIns="0" rIns="0" tIns="0" bIns="0">
            <a:spAutoFit/>
          </a:bodyPr>
          <a:lstStyle/>
          <a:p>
            <a:pPr algn="l">
              <a:lnSpc>
                <a:spcPct val="125000"/>
              </a:lnSpc>
            </a:pPr>
            <a:r>
              <a:rPr sz="1050" b="0" i="0">
                <a:solidFill>
                  <a:srgbClr val="0E3F8C"/>
                </a:solidFill>
                <a:latin typeface="Source Han Sans SC"/>
              </a:rPr>
              <a:t>start (1.90, 0.24)</a:t>
            </a:r>
          </a:p>
        </p:txBody>
      </p:sp>
      <p:sp>
        <p:nvSpPr>
          <p:cNvPr id="58" name="Rounded Rectangle 57"/>
          <p:cNvSpPr/>
          <p:nvPr/>
        </p:nvSpPr>
        <p:spPr>
          <a:xfrm>
            <a:off x="8143200" y="1512000"/>
            <a:ext cx="3249719" cy="993073"/>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143200" y="1512000"/>
            <a:ext cx="50400" cy="993073"/>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316000" y="1627200"/>
            <a:ext cx="2907719" cy="365174"/>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SGD</a:t>
            </a:r>
          </a:p>
        </p:txBody>
      </p:sp>
      <p:sp>
        <p:nvSpPr>
          <p:cNvPr id="61" name="TextBox 60"/>
          <p:cNvSpPr txBox="1"/>
          <p:nvPr/>
        </p:nvSpPr>
        <p:spPr>
          <a:xfrm>
            <a:off x="8316000" y="1934774"/>
            <a:ext cx="2907719" cy="63509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lr = 0.022, a sixth of Adam's · w2 flips sign on all 16 of its 16 steps</a:t>
            </a:r>
          </a:p>
        </p:txBody>
      </p:sp>
      <p:sp>
        <p:nvSpPr>
          <p:cNvPr id="62" name="Rounded Rectangle 61"/>
          <p:cNvSpPr/>
          <p:nvPr/>
        </p:nvSpPr>
        <p:spPr>
          <a:xfrm>
            <a:off x="8143200" y="2627473"/>
            <a:ext cx="3249719" cy="993073"/>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8143200" y="2627473"/>
            <a:ext cx="50400" cy="993073"/>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316000" y="2742673"/>
            <a:ext cx="2907719" cy="365174"/>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Adam</a:t>
            </a:r>
          </a:p>
        </p:txBody>
      </p:sp>
      <p:sp>
        <p:nvSpPr>
          <p:cNvPr id="65" name="TextBox 64"/>
          <p:cNvSpPr txBox="1"/>
          <p:nvPr/>
        </p:nvSpPr>
        <p:spPr>
          <a:xfrm>
            <a:off x="8316000" y="3050248"/>
            <a:ext cx="2907719" cy="635099"/>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lr = 0.14 · w2 flips just 3 times, settles, and ends at the bottom</a:t>
            </a:r>
          </a:p>
        </p:txBody>
      </p:sp>
      <p:sp>
        <p:nvSpPr>
          <p:cNvPr id="66" name="TextBox 65"/>
          <p:cNvSpPr txBox="1"/>
          <p:nvPr/>
        </p:nvSpPr>
        <p:spPr>
          <a:xfrm>
            <a:off x="799200" y="5595337"/>
            <a:ext cx="10593719" cy="648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Loss f(w1, w2) = w1^2 + 36w2^2, a narrow roughly 1:6 valley. Each rate is that optimizer's own swept ceiling: past 0.028 SGD is thrown off the steep wall, so it is pinned at 0.022 and can barely crawl along the floor. "More forgiving of the learning rate" is visible 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03</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03</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Learning Rate: The First Hyper-parameter</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Learning rate</a:t>
            </a:r>
          </a:p>
        </p:txBody>
      </p:sp>
      <p:sp>
        <p:nvSpPr>
          <p:cNvPr id="9" name="TextBox 8"/>
          <p:cNvSpPr txBox="1"/>
          <p:nvPr/>
        </p:nvSpPr>
        <p:spPr>
          <a:xfrm>
            <a:off x="799200" y="2736000"/>
            <a:ext cx="8640000" cy="11726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The learning rate is how far each step goes. Too large and the loss explodes; too small and training looks like it is learning nothing.
When a loss looks wrong, this is the first thing to inspect.</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Too Large</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Oscillation, explosion, nan</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Too Small</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The loss barely moves</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Check It First</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Prime suspect for a broken loss</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Learning Rate: Symptoms and Schedules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15 / 31</a:t>
            </a:r>
          </a:p>
        </p:txBody>
      </p:sp>
      <p:sp>
        <p:nvSpPr>
          <p:cNvPr id="9" name="Rectangle 8"/>
          <p:cNvSpPr/>
          <p:nvPr/>
        </p:nvSpPr>
        <p:spPr>
          <a:xfrm>
            <a:off x="799200" y="1296000"/>
            <a:ext cx="3387239" cy="2304000"/>
          </a:xfrm>
          <a:prstGeom prst="rect">
            <a:avLst/>
          </a:prstGeom>
          <a:solidFill>
            <a:srgbClr val="FEF2F2"/>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304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Too Large: Overshooting</a:t>
            </a:r>
          </a:p>
        </p:txBody>
      </p:sp>
      <p:sp>
        <p:nvSpPr>
          <p:cNvPr id="12" name="TextBox 11"/>
          <p:cNvSpPr txBox="1"/>
          <p:nvPr/>
        </p:nvSpPr>
        <p:spPr>
          <a:xfrm>
            <a:off x="1022400"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lr=1e-1</a:t>
            </a:r>
          </a:p>
        </p:txBody>
      </p:sp>
      <p:sp>
        <p:nvSpPr>
          <p:cNvPr id="13" name="TextBox 12"/>
          <p:cNvSpPr txBox="1"/>
          <p:nvPr/>
        </p:nvSpPr>
        <p:spPr>
          <a:xfrm>
            <a:off x="1022400" y="1915200"/>
            <a:ext cx="294083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The loss oscillates and never descends</a:t>
            </a:r>
          </a:p>
          <a:p>
            <a:pPr algn="l">
              <a:lnSpc>
                <a:spcPct val="140000"/>
              </a:lnSpc>
              <a:spcAft>
                <a:spcPts val="400"/>
              </a:spcAft>
            </a:pPr>
            <a:r>
              <a:rPr sz="1200" b="0" i="0">
                <a:solidFill>
                  <a:srgbClr val="1F2937"/>
                </a:solidFill>
                <a:latin typeface="Source Han Sans SC"/>
              </a:rPr>
              <a:t>• nan or inf appears quickly</a:t>
            </a:r>
          </a:p>
          <a:p>
            <a:pPr algn="l">
              <a:lnSpc>
                <a:spcPct val="140000"/>
              </a:lnSpc>
              <a:spcAft>
                <a:spcPts val="400"/>
              </a:spcAft>
            </a:pPr>
            <a:r>
              <a:rPr sz="1200" b="0" i="0">
                <a:solidFill>
                  <a:srgbClr val="1F2937"/>
                </a:solidFill>
                <a:latin typeface="Source Han Sans SC"/>
              </a:rPr>
              <a:t>• Fix: divide the learning rate by 10</a:t>
            </a:r>
          </a:p>
          <a:p>
            <a:pPr algn="l">
              <a:lnSpc>
                <a:spcPct val="140000"/>
              </a:lnSpc>
              <a:spcAft>
                <a:spcPts val="400"/>
              </a:spcAft>
            </a:pPr>
            <a:r>
              <a:rPr sz="1200" b="0" i="0">
                <a:solidFill>
                  <a:srgbClr val="1F2937"/>
                </a:solidFill>
                <a:latin typeface="Source Han Sans SC"/>
              </a:rPr>
              <a:t>• Symptom: accuracy stays at chance level</a:t>
            </a:r>
          </a:p>
        </p:txBody>
      </p:sp>
      <p:sp>
        <p:nvSpPr>
          <p:cNvPr id="14" name="Rectangle 13"/>
          <p:cNvSpPr/>
          <p:nvPr/>
        </p:nvSpPr>
        <p:spPr>
          <a:xfrm>
            <a:off x="4402440" y="1296000"/>
            <a:ext cx="3387239" cy="2304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96000"/>
            <a:ext cx="32400" cy="2304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Too Small: Crawling</a:t>
            </a:r>
          </a:p>
        </p:txBody>
      </p:sp>
      <p:sp>
        <p:nvSpPr>
          <p:cNvPr id="17" name="TextBox 16"/>
          <p:cNvSpPr txBox="1"/>
          <p:nvPr/>
        </p:nvSpPr>
        <p:spPr>
          <a:xfrm>
            <a:off x="462563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lr=1e-5</a:t>
            </a:r>
          </a:p>
        </p:txBody>
      </p:sp>
      <p:sp>
        <p:nvSpPr>
          <p:cNvPr id="18" name="TextBox 17"/>
          <p:cNvSpPr txBox="1"/>
          <p:nvPr/>
        </p:nvSpPr>
        <p:spPr>
          <a:xfrm>
            <a:off x="4625639" y="1915200"/>
            <a:ext cx="294083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Loss moves less than 0.05 in 10 epochs</a:t>
            </a:r>
          </a:p>
          <a:p>
            <a:pPr algn="l">
              <a:lnSpc>
                <a:spcPct val="140000"/>
              </a:lnSpc>
              <a:spcAft>
                <a:spcPts val="400"/>
              </a:spcAft>
            </a:pPr>
            <a:r>
              <a:rPr sz="1200" b="0" i="0">
                <a:solidFill>
                  <a:srgbClr val="1F2937"/>
                </a:solidFill>
                <a:latin typeface="Source Han Sans SC"/>
              </a:rPr>
              <a:t>• It looks like training but is barely moving</a:t>
            </a:r>
          </a:p>
          <a:p>
            <a:pPr algn="l">
              <a:lnSpc>
                <a:spcPct val="140000"/>
              </a:lnSpc>
              <a:spcAft>
                <a:spcPts val="400"/>
              </a:spcAft>
            </a:pPr>
            <a:r>
              <a:rPr sz="1200" b="0" i="0">
                <a:solidFill>
                  <a:srgbClr val="1F2937"/>
                </a:solidFill>
                <a:latin typeface="Source Han Sans SC"/>
              </a:rPr>
              <a:t>• Fix: try 10x larger once</a:t>
            </a:r>
          </a:p>
          <a:p>
            <a:pPr algn="l">
              <a:lnSpc>
                <a:spcPct val="140000"/>
              </a:lnSpc>
              <a:spcAft>
                <a:spcPts val="400"/>
              </a:spcAft>
            </a:pPr>
            <a:r>
              <a:rPr sz="1200" b="0" i="0">
                <a:solidFill>
                  <a:srgbClr val="1F2937"/>
                </a:solidFill>
                <a:latin typeface="Source Han Sans SC"/>
              </a:rPr>
              <a:t>• Do not mask it by adding epochs</a:t>
            </a:r>
          </a:p>
        </p:txBody>
      </p:sp>
      <p:sp>
        <p:nvSpPr>
          <p:cNvPr id="19" name="Rectangle 18"/>
          <p:cNvSpPr/>
          <p:nvPr/>
        </p:nvSpPr>
        <p:spPr>
          <a:xfrm>
            <a:off x="8005679" y="1296000"/>
            <a:ext cx="3387239" cy="2304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96000"/>
            <a:ext cx="32400" cy="230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Schedule: Three Phases</a:t>
            </a:r>
          </a:p>
        </p:txBody>
      </p:sp>
      <p:sp>
        <p:nvSpPr>
          <p:cNvPr id="22" name="TextBox 21"/>
          <p:cNvSpPr txBox="1"/>
          <p:nvPr/>
        </p:nvSpPr>
        <p:spPr>
          <a:xfrm>
            <a:off x="822887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warmup + decay</a:t>
            </a:r>
          </a:p>
        </p:txBody>
      </p:sp>
      <p:sp>
        <p:nvSpPr>
          <p:cNvPr id="23" name="TextBox 22"/>
          <p:cNvSpPr txBox="1"/>
          <p:nvPr/>
        </p:nvSpPr>
        <p:spPr>
          <a:xfrm>
            <a:off x="8228879" y="1915200"/>
            <a:ext cx="2940839" cy="1540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Warmup: ramp up over the first epochs</a:t>
            </a:r>
          </a:p>
          <a:p>
            <a:pPr algn="l">
              <a:lnSpc>
                <a:spcPct val="140000"/>
              </a:lnSpc>
              <a:spcAft>
                <a:spcPts val="400"/>
              </a:spcAft>
            </a:pPr>
            <a:r>
              <a:rPr sz="1200" b="0" i="0">
                <a:solidFill>
                  <a:srgbClr val="1F2937"/>
                </a:solidFill>
                <a:latin typeface="Source Han Sans SC"/>
              </a:rPr>
              <a:t>• Middle: StepLR decays every N epochs</a:t>
            </a:r>
          </a:p>
          <a:p>
            <a:pPr algn="l">
              <a:lnSpc>
                <a:spcPct val="140000"/>
              </a:lnSpc>
              <a:spcAft>
                <a:spcPts val="400"/>
              </a:spcAft>
            </a:pPr>
            <a:r>
              <a:rPr sz="1200" b="0" i="0">
                <a:solidFill>
                  <a:srgbClr val="1F2937"/>
                </a:solidFill>
                <a:latin typeface="Source Han Sans SC"/>
              </a:rPr>
              <a:t>• Late: CosineAnnealing anneals smoothly</a:t>
            </a:r>
          </a:p>
          <a:p>
            <a:pPr algn="l">
              <a:lnSpc>
                <a:spcPct val="140000"/>
              </a:lnSpc>
              <a:spcAft>
                <a:spcPts val="400"/>
              </a:spcAft>
            </a:pPr>
            <a:r>
              <a:rPr sz="1200" b="0" i="0">
                <a:solidFill>
                  <a:srgbClr val="1F2937"/>
                </a:solidFill>
                <a:latin typeface="Source Han Sans SC"/>
              </a:rPr>
              <a:t>• Implemented with lr_scheduler in PyTorch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232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Gradient Descent: How Big a Step Decides Where You Land</a:t>
            </a:r>
          </a:p>
        </p:txBody>
      </p:sp>
      <p:sp>
        <p:nvSpPr>
          <p:cNvPr id="6" name="TextBox 5"/>
          <p:cNvSpPr txBox="1"/>
          <p:nvPr/>
        </p:nvSpPr>
        <p:spPr>
          <a:xfrm>
            <a:off x="799200" y="496799"/>
            <a:ext cx="7713719" cy="180000"/>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Same loss curve, same start — only the learning rate changes</a:t>
            </a:r>
          </a:p>
        </p:txBody>
      </p:sp>
      <p:sp>
        <p:nvSpPr>
          <p:cNvPr id="7" name="TextBox 6"/>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8" name="TextBox 7"/>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9" name="TextBox 8"/>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16 / 31</a:t>
            </a:r>
          </a:p>
        </p:txBody>
      </p:sp>
      <p:sp>
        <p:nvSpPr>
          <p:cNvPr id="10" name="Rounded Rectangle 9"/>
          <p:cNvSpPr/>
          <p:nvPr/>
        </p:nvSpPr>
        <p:spPr>
          <a:xfrm>
            <a:off x="799200" y="1188000"/>
            <a:ext cx="3327240" cy="4320000"/>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200" y="1389600"/>
            <a:ext cx="2787240" cy="393749"/>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Too small</a:t>
            </a:r>
          </a:p>
        </p:txBody>
      </p:sp>
      <p:sp>
        <p:nvSpPr>
          <p:cNvPr id="12" name="TextBox 11"/>
          <p:cNvSpPr txBox="1"/>
          <p:nvPr/>
        </p:nvSpPr>
        <p:spPr>
          <a:xfrm>
            <a:off x="1069200" y="1718549"/>
            <a:ext cx="2787240" cy="327074"/>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lr = 0.06  ·  8 steps</a:t>
            </a:r>
          </a:p>
        </p:txBody>
      </p:sp>
      <p:cxnSp>
        <p:nvCxnSpPr>
          <p:cNvPr id="13" name="Connector 12"/>
          <p:cNvCxnSpPr/>
          <p:nvPr/>
        </p:nvCxnSpPr>
        <p:spPr>
          <a:xfrm>
            <a:off x="1184400" y="4662000"/>
            <a:ext cx="2506439" cy="0"/>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84400" y="2351624"/>
            <a:ext cx="0" cy="2310376"/>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3651240" y="4590000"/>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Isosceles Triangle 15"/>
          <p:cNvSpPr/>
          <p:nvPr/>
        </p:nvSpPr>
        <p:spPr>
          <a:xfrm>
            <a:off x="1112400" y="2240024"/>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Freeform 16"/>
          <p:cNvSpPr/>
          <p:nvPr/>
        </p:nvSpPr>
        <p:spPr>
          <a:xfrm>
            <a:off x="1184400" y="2279624"/>
            <a:ext cx="2571239" cy="2382376"/>
          </a:xfrm>
          <a:custGeom>
            <a:avLst/>
            <a:gdLst/>
            <a:ahLst/>
            <a:cxnLst/>
            <a:rect l="l" t="t" r="r" b="b"/>
            <a:pathLst>
              <a:path w="2571239" h="2382376">
                <a:moveTo>
                  <a:pt x="0" y="0"/>
                </a:moveTo>
                <a:lnTo>
                  <a:pt x="21427" y="78750"/>
                </a:lnTo>
                <a:lnTo>
                  <a:pt x="42854" y="156178"/>
                </a:lnTo>
                <a:lnTo>
                  <a:pt x="64281" y="232281"/>
                </a:lnTo>
                <a:lnTo>
                  <a:pt x="85708" y="307061"/>
                </a:lnTo>
                <a:lnTo>
                  <a:pt x="107135" y="380518"/>
                </a:lnTo>
                <a:lnTo>
                  <a:pt x="128562" y="452651"/>
                </a:lnTo>
                <a:lnTo>
                  <a:pt x="149989" y="523461"/>
                </a:lnTo>
                <a:lnTo>
                  <a:pt x="171416" y="592947"/>
                </a:lnTo>
                <a:lnTo>
                  <a:pt x="192843" y="661109"/>
                </a:lnTo>
                <a:lnTo>
                  <a:pt x="214270" y="727948"/>
                </a:lnTo>
                <a:lnTo>
                  <a:pt x="235697" y="793463"/>
                </a:lnTo>
                <a:lnTo>
                  <a:pt x="257124" y="857655"/>
                </a:lnTo>
                <a:lnTo>
                  <a:pt x="278551" y="920523"/>
                </a:lnTo>
                <a:lnTo>
                  <a:pt x="299978" y="982068"/>
                </a:lnTo>
                <a:lnTo>
                  <a:pt x="321405" y="1042289"/>
                </a:lnTo>
                <a:lnTo>
                  <a:pt x="342832" y="1101187"/>
                </a:lnTo>
                <a:lnTo>
                  <a:pt x="364259" y="1158761"/>
                </a:lnTo>
                <a:lnTo>
                  <a:pt x="385686" y="1215011"/>
                </a:lnTo>
                <a:lnTo>
                  <a:pt x="407113" y="1269938"/>
                </a:lnTo>
                <a:lnTo>
                  <a:pt x="428540" y="1323542"/>
                </a:lnTo>
                <a:lnTo>
                  <a:pt x="449966" y="1375822"/>
                </a:lnTo>
                <a:lnTo>
                  <a:pt x="471394" y="1426778"/>
                </a:lnTo>
                <a:lnTo>
                  <a:pt x="492821" y="1476411"/>
                </a:lnTo>
                <a:lnTo>
                  <a:pt x="514247" y="1524720"/>
                </a:lnTo>
                <a:lnTo>
                  <a:pt x="535675" y="1571706"/>
                </a:lnTo>
                <a:lnTo>
                  <a:pt x="557102" y="1617368"/>
                </a:lnTo>
                <a:lnTo>
                  <a:pt x="578529" y="1661707"/>
                </a:lnTo>
                <a:lnTo>
                  <a:pt x="599955" y="1704722"/>
                </a:lnTo>
                <a:lnTo>
                  <a:pt x="621383" y="1746414"/>
                </a:lnTo>
                <a:lnTo>
                  <a:pt x="642810" y="1786782"/>
                </a:lnTo>
                <a:lnTo>
                  <a:pt x="664237" y="1825826"/>
                </a:lnTo>
                <a:lnTo>
                  <a:pt x="685663" y="1863547"/>
                </a:lnTo>
                <a:lnTo>
                  <a:pt x="707091" y="1899944"/>
                </a:lnTo>
                <a:lnTo>
                  <a:pt x="728518" y="1935018"/>
                </a:lnTo>
                <a:lnTo>
                  <a:pt x="749945" y="1968769"/>
                </a:lnTo>
                <a:lnTo>
                  <a:pt x="771372" y="2001195"/>
                </a:lnTo>
                <a:lnTo>
                  <a:pt x="792799" y="2032299"/>
                </a:lnTo>
                <a:lnTo>
                  <a:pt x="814225" y="2062078"/>
                </a:lnTo>
                <a:lnTo>
                  <a:pt x="835653" y="2090534"/>
                </a:lnTo>
                <a:lnTo>
                  <a:pt x="857080" y="2117667"/>
                </a:lnTo>
                <a:lnTo>
                  <a:pt x="878506" y="2143476"/>
                </a:lnTo>
                <a:lnTo>
                  <a:pt x="899934" y="2167962"/>
                </a:lnTo>
                <a:lnTo>
                  <a:pt x="921361" y="2191124"/>
                </a:lnTo>
                <a:lnTo>
                  <a:pt x="942788" y="2212962"/>
                </a:lnTo>
                <a:lnTo>
                  <a:pt x="964215" y="2233477"/>
                </a:lnTo>
                <a:lnTo>
                  <a:pt x="985641" y="2252668"/>
                </a:lnTo>
                <a:lnTo>
                  <a:pt x="1007069" y="2270536"/>
                </a:lnTo>
                <a:lnTo>
                  <a:pt x="1028496" y="2287080"/>
                </a:lnTo>
                <a:lnTo>
                  <a:pt x="1049923" y="2302301"/>
                </a:lnTo>
                <a:lnTo>
                  <a:pt x="1071350" y="2316198"/>
                </a:lnTo>
                <a:lnTo>
                  <a:pt x="1092777" y="2328772"/>
                </a:lnTo>
                <a:lnTo>
                  <a:pt x="1114204" y="2340022"/>
                </a:lnTo>
                <a:lnTo>
                  <a:pt x="1135631" y="2349949"/>
                </a:lnTo>
                <a:lnTo>
                  <a:pt x="1157058" y="2358552"/>
                </a:lnTo>
                <a:lnTo>
                  <a:pt x="1178485" y="2365831"/>
                </a:lnTo>
                <a:lnTo>
                  <a:pt x="1199912" y="2371787"/>
                </a:lnTo>
                <a:lnTo>
                  <a:pt x="1221339" y="2376420"/>
                </a:lnTo>
                <a:lnTo>
                  <a:pt x="1242766" y="2379728"/>
                </a:lnTo>
                <a:lnTo>
                  <a:pt x="1264193" y="2381714"/>
                </a:lnTo>
                <a:lnTo>
                  <a:pt x="1285620" y="2382376"/>
                </a:lnTo>
                <a:lnTo>
                  <a:pt x="1307047" y="2381714"/>
                </a:lnTo>
                <a:lnTo>
                  <a:pt x="1328474" y="2379728"/>
                </a:lnTo>
                <a:lnTo>
                  <a:pt x="1349901" y="2376420"/>
                </a:lnTo>
                <a:lnTo>
                  <a:pt x="1371328" y="2371787"/>
                </a:lnTo>
                <a:lnTo>
                  <a:pt x="1392755" y="2365831"/>
                </a:lnTo>
                <a:lnTo>
                  <a:pt x="1414182" y="2358552"/>
                </a:lnTo>
                <a:lnTo>
                  <a:pt x="1435609" y="2349949"/>
                </a:lnTo>
                <a:lnTo>
                  <a:pt x="1457036" y="2340022"/>
                </a:lnTo>
                <a:lnTo>
                  <a:pt x="1478463" y="2328772"/>
                </a:lnTo>
                <a:lnTo>
                  <a:pt x="1499890" y="2316198"/>
                </a:lnTo>
                <a:lnTo>
                  <a:pt x="1521317" y="2302301"/>
                </a:lnTo>
                <a:lnTo>
                  <a:pt x="1542744" y="2287080"/>
                </a:lnTo>
                <a:lnTo>
                  <a:pt x="1564171" y="2270536"/>
                </a:lnTo>
                <a:lnTo>
                  <a:pt x="1585598" y="2252668"/>
                </a:lnTo>
                <a:lnTo>
                  <a:pt x="1607025" y="2233477"/>
                </a:lnTo>
                <a:lnTo>
                  <a:pt x="1628451" y="2212962"/>
                </a:lnTo>
                <a:lnTo>
                  <a:pt x="1649879" y="2191124"/>
                </a:lnTo>
                <a:lnTo>
                  <a:pt x="1671306" y="2167962"/>
                </a:lnTo>
                <a:lnTo>
                  <a:pt x="1692733" y="2143476"/>
                </a:lnTo>
                <a:lnTo>
                  <a:pt x="1714160" y="2117667"/>
                </a:lnTo>
                <a:lnTo>
                  <a:pt x="1735587" y="2090534"/>
                </a:lnTo>
                <a:lnTo>
                  <a:pt x="1757013" y="2062078"/>
                </a:lnTo>
                <a:lnTo>
                  <a:pt x="1778441" y="2032299"/>
                </a:lnTo>
                <a:lnTo>
                  <a:pt x="1799868" y="2001195"/>
                </a:lnTo>
                <a:lnTo>
                  <a:pt x="1821295" y="1968769"/>
                </a:lnTo>
                <a:lnTo>
                  <a:pt x="1842722" y="1935018"/>
                </a:lnTo>
                <a:lnTo>
                  <a:pt x="1864148" y="1899944"/>
                </a:lnTo>
                <a:lnTo>
                  <a:pt x="1885576" y="1863547"/>
                </a:lnTo>
                <a:lnTo>
                  <a:pt x="1907003" y="1825826"/>
                </a:lnTo>
                <a:lnTo>
                  <a:pt x="1928430" y="1786782"/>
                </a:lnTo>
                <a:lnTo>
                  <a:pt x="1949857" y="1746414"/>
                </a:lnTo>
                <a:lnTo>
                  <a:pt x="1971284" y="1704722"/>
                </a:lnTo>
                <a:lnTo>
                  <a:pt x="1992710" y="1661707"/>
                </a:lnTo>
                <a:lnTo>
                  <a:pt x="2014138" y="1617368"/>
                </a:lnTo>
                <a:lnTo>
                  <a:pt x="2035564" y="1571706"/>
                </a:lnTo>
                <a:lnTo>
                  <a:pt x="2056992" y="1524720"/>
                </a:lnTo>
                <a:lnTo>
                  <a:pt x="2078419" y="1476411"/>
                </a:lnTo>
                <a:lnTo>
                  <a:pt x="2099846" y="1426778"/>
                </a:lnTo>
                <a:lnTo>
                  <a:pt x="2121273" y="1375822"/>
                </a:lnTo>
                <a:lnTo>
                  <a:pt x="2142700" y="1323542"/>
                </a:lnTo>
                <a:lnTo>
                  <a:pt x="2164127" y="1269938"/>
                </a:lnTo>
                <a:lnTo>
                  <a:pt x="2185554" y="1215011"/>
                </a:lnTo>
                <a:lnTo>
                  <a:pt x="2206981" y="1158761"/>
                </a:lnTo>
                <a:lnTo>
                  <a:pt x="2228408" y="1101187"/>
                </a:lnTo>
                <a:lnTo>
                  <a:pt x="2249835" y="1042289"/>
                </a:lnTo>
                <a:lnTo>
                  <a:pt x="2271261" y="982068"/>
                </a:lnTo>
                <a:lnTo>
                  <a:pt x="2292689" y="920523"/>
                </a:lnTo>
                <a:lnTo>
                  <a:pt x="2314116" y="857655"/>
                </a:lnTo>
                <a:lnTo>
                  <a:pt x="2335542" y="793463"/>
                </a:lnTo>
                <a:lnTo>
                  <a:pt x="2356969" y="727948"/>
                </a:lnTo>
                <a:lnTo>
                  <a:pt x="2378397" y="661109"/>
                </a:lnTo>
                <a:lnTo>
                  <a:pt x="2399823" y="592947"/>
                </a:lnTo>
                <a:lnTo>
                  <a:pt x="2421251" y="523461"/>
                </a:lnTo>
                <a:lnTo>
                  <a:pt x="2442678" y="452651"/>
                </a:lnTo>
                <a:lnTo>
                  <a:pt x="2464105" y="380518"/>
                </a:lnTo>
                <a:lnTo>
                  <a:pt x="2485532" y="307061"/>
                </a:lnTo>
                <a:lnTo>
                  <a:pt x="2506959" y="232281"/>
                </a:lnTo>
                <a:lnTo>
                  <a:pt x="2528386" y="156178"/>
                </a:lnTo>
                <a:lnTo>
                  <a:pt x="2549813" y="78750"/>
                </a:lnTo>
                <a:lnTo>
                  <a:pt x="2571239" y="0"/>
                </a:lnTo>
              </a:path>
            </a:pathLst>
          </a:custGeom>
          <a:noFill/>
          <a:ln w="279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2470020" y="2358824"/>
            <a:ext cx="0" cy="2303176"/>
          </a:xfrm>
          <a:prstGeom prst="line">
            <a:avLst/>
          </a:prstGeom>
          <a:ln w="13970">
            <a:solidFill>
              <a:srgbClr val="E5E7EB"/>
            </a:solidFill>
            <a:prstDash val="dash"/>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294616" y="2811371"/>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0" name="Connector 19"/>
          <p:cNvCxnSpPr/>
          <p:nvPr/>
        </p:nvCxnSpPr>
        <p:spPr>
          <a:xfrm>
            <a:off x="1355816" y="2872571"/>
            <a:ext cx="133704"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89520" y="2872571"/>
            <a:ext cx="0" cy="403695"/>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428320" y="3215066"/>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3" name="Connector 22"/>
          <p:cNvCxnSpPr/>
          <p:nvPr/>
        </p:nvCxnSpPr>
        <p:spPr>
          <a:xfrm>
            <a:off x="1489520" y="3276266"/>
            <a:ext cx="117660"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07180" y="3276266"/>
            <a:ext cx="0" cy="312621"/>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545980" y="3527687"/>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6" name="Connector 25"/>
          <p:cNvCxnSpPr/>
          <p:nvPr/>
        </p:nvCxnSpPr>
        <p:spPr>
          <a:xfrm>
            <a:off x="1607180" y="3588887"/>
            <a:ext cx="10354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710721" y="3588887"/>
            <a:ext cx="0" cy="242094"/>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649521" y="3769781"/>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29" name="Connector 28"/>
          <p:cNvCxnSpPr/>
          <p:nvPr/>
        </p:nvCxnSpPr>
        <p:spPr>
          <a:xfrm>
            <a:off x="1710721" y="3830981"/>
            <a:ext cx="91116"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801837" y="3830981"/>
            <a:ext cx="0" cy="187478"/>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740637" y="3957259"/>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2" name="Connector 31"/>
          <p:cNvCxnSpPr/>
          <p:nvPr/>
        </p:nvCxnSpPr>
        <p:spPr>
          <a:xfrm>
            <a:off x="1801837" y="4018459"/>
            <a:ext cx="8018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882018" y="4018459"/>
            <a:ext cx="0" cy="145183"/>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820818" y="4102442"/>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5" name="Connector 34"/>
          <p:cNvCxnSpPr/>
          <p:nvPr/>
        </p:nvCxnSpPr>
        <p:spPr>
          <a:xfrm>
            <a:off x="1882018" y="4163642"/>
            <a:ext cx="7056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52579" y="4163642"/>
            <a:ext cx="0" cy="112429"/>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891379" y="4214871"/>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Connector 37"/>
          <p:cNvCxnSpPr/>
          <p:nvPr/>
        </p:nvCxnSpPr>
        <p:spPr>
          <a:xfrm>
            <a:off x="1952579" y="4276071"/>
            <a:ext cx="62093"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014672" y="4276071"/>
            <a:ext cx="0" cy="87066"/>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953472" y="4301937"/>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1" name="Connector 40"/>
          <p:cNvCxnSpPr/>
          <p:nvPr/>
        </p:nvCxnSpPr>
        <p:spPr>
          <a:xfrm>
            <a:off x="2014672" y="4363137"/>
            <a:ext cx="54641" cy="0"/>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069313" y="4363137"/>
            <a:ext cx="0" cy="67423"/>
          </a:xfrm>
          <a:prstGeom prst="line">
            <a:avLst/>
          </a:prstGeom>
          <a:ln w="19050">
            <a:solidFill>
              <a:srgbClr val="6B7280"/>
            </a:solidFill>
          </a:ln>
          <a:effectLst/>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008113" y="4369360"/>
            <a:ext cx="122400" cy="12240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1262216" y="2778971"/>
            <a:ext cx="187200" cy="187200"/>
          </a:xfrm>
          <a:prstGeom prst="ellipse">
            <a:avLst/>
          </a:prstGeom>
          <a:noFill/>
          <a:ln w="2032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1291016" y="2807771"/>
            <a:ext cx="129600" cy="1296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134000" y="2114024"/>
            <a:ext cx="1512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loss L(w)</a:t>
            </a:r>
          </a:p>
        </p:txBody>
      </p:sp>
      <p:sp>
        <p:nvSpPr>
          <p:cNvPr id="47" name="TextBox 46"/>
          <p:cNvSpPr txBox="1"/>
          <p:nvPr/>
        </p:nvSpPr>
        <p:spPr>
          <a:xfrm>
            <a:off x="1134000" y="4719600"/>
            <a:ext cx="1080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w -&gt;</a:t>
            </a:r>
          </a:p>
        </p:txBody>
      </p:sp>
      <p:sp>
        <p:nvSpPr>
          <p:cNvPr id="48" name="TextBox 47"/>
          <p:cNvSpPr txBox="1"/>
          <p:nvPr/>
        </p:nvSpPr>
        <p:spPr>
          <a:xfrm>
            <a:off x="1678020" y="4719600"/>
            <a:ext cx="756000" cy="180000"/>
          </a:xfrm>
          <a:prstGeom prst="rect">
            <a:avLst/>
          </a:prstGeom>
          <a:noFill/>
        </p:spPr>
        <p:txBody>
          <a:bodyPr wrap="square" anchor="t" lIns="0" rIns="0" tIns="0" bIns="0">
            <a:spAutoFit/>
          </a:bodyPr>
          <a:lstStyle/>
          <a:p>
            <a:pPr algn="r">
              <a:lnSpc>
                <a:spcPct val="125000"/>
              </a:lnSpc>
            </a:pPr>
            <a:r>
              <a:rPr sz="1050" b="0" i="0">
                <a:solidFill>
                  <a:srgbClr val="6B7280"/>
                </a:solidFill>
                <a:latin typeface="Source Han Sans SC"/>
              </a:rPr>
              <a:t>w*</a:t>
            </a:r>
          </a:p>
        </p:txBody>
      </p:sp>
      <p:sp>
        <p:nvSpPr>
          <p:cNvPr id="49" name="TextBox 48"/>
          <p:cNvSpPr txBox="1"/>
          <p:nvPr/>
        </p:nvSpPr>
        <p:spPr>
          <a:xfrm>
            <a:off x="1069200" y="5076000"/>
            <a:ext cx="2787240" cy="327074"/>
          </a:xfrm>
          <a:prstGeom prst="rect">
            <a:avLst/>
          </a:prstGeom>
          <a:noFill/>
        </p:spPr>
        <p:txBody>
          <a:bodyPr wrap="square" anchor="t" lIns="0" rIns="0" tIns="0" bIns="0">
            <a:spAutoFit/>
          </a:bodyPr>
          <a:lstStyle/>
          <a:p>
            <a:pPr algn="ctr">
              <a:lnSpc>
                <a:spcPct val="125000"/>
              </a:lnSpc>
            </a:pPr>
            <a:r>
              <a:rPr sz="1150" b="1" i="0">
                <a:solidFill>
                  <a:srgbClr val="6B7280"/>
                </a:solidFill>
                <a:latin typeface="Source Han Sans SC"/>
              </a:rPr>
              <a:t>8 steps in, still short of w*</a:t>
            </a:r>
          </a:p>
        </p:txBody>
      </p:sp>
      <p:sp>
        <p:nvSpPr>
          <p:cNvPr id="50" name="Rounded Rectangle 49"/>
          <p:cNvSpPr/>
          <p:nvPr/>
        </p:nvSpPr>
        <p:spPr>
          <a:xfrm>
            <a:off x="4432440" y="1188000"/>
            <a:ext cx="3327240" cy="4320000"/>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702440" y="1389600"/>
            <a:ext cx="2787240" cy="393749"/>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Just right</a:t>
            </a:r>
          </a:p>
        </p:txBody>
      </p:sp>
      <p:sp>
        <p:nvSpPr>
          <p:cNvPr id="52" name="TextBox 51"/>
          <p:cNvSpPr txBox="1"/>
          <p:nvPr/>
        </p:nvSpPr>
        <p:spPr>
          <a:xfrm>
            <a:off x="4702440" y="1718549"/>
            <a:ext cx="2787240" cy="327074"/>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lr = 0.45  ·  3 steps</a:t>
            </a:r>
          </a:p>
        </p:txBody>
      </p:sp>
      <p:cxnSp>
        <p:nvCxnSpPr>
          <p:cNvPr id="53" name="Connector 52"/>
          <p:cNvCxnSpPr/>
          <p:nvPr/>
        </p:nvCxnSpPr>
        <p:spPr>
          <a:xfrm>
            <a:off x="4817640" y="4662000"/>
            <a:ext cx="2506440" cy="0"/>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817640" y="2351624"/>
            <a:ext cx="0" cy="2310376"/>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5400000">
            <a:off x="7284480" y="4590000"/>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Isosceles Triangle 55"/>
          <p:cNvSpPr/>
          <p:nvPr/>
        </p:nvSpPr>
        <p:spPr>
          <a:xfrm>
            <a:off x="4745640" y="2240024"/>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reeform 56"/>
          <p:cNvSpPr/>
          <p:nvPr/>
        </p:nvSpPr>
        <p:spPr>
          <a:xfrm>
            <a:off x="4817640" y="2279624"/>
            <a:ext cx="2571240" cy="2382376"/>
          </a:xfrm>
          <a:custGeom>
            <a:avLst/>
            <a:gdLst/>
            <a:ahLst/>
            <a:cxnLst/>
            <a:rect l="l" t="t" r="r" b="b"/>
            <a:pathLst>
              <a:path w="2571240" h="2382376">
                <a:moveTo>
                  <a:pt x="0" y="0"/>
                </a:moveTo>
                <a:lnTo>
                  <a:pt x="21427" y="78750"/>
                </a:lnTo>
                <a:lnTo>
                  <a:pt x="42854" y="156178"/>
                </a:lnTo>
                <a:lnTo>
                  <a:pt x="64281" y="232281"/>
                </a:lnTo>
                <a:lnTo>
                  <a:pt x="85708" y="307061"/>
                </a:lnTo>
                <a:lnTo>
                  <a:pt x="107135" y="380518"/>
                </a:lnTo>
                <a:lnTo>
                  <a:pt x="128562" y="452651"/>
                </a:lnTo>
                <a:lnTo>
                  <a:pt x="149989" y="523461"/>
                </a:lnTo>
                <a:lnTo>
                  <a:pt x="171416" y="592947"/>
                </a:lnTo>
                <a:lnTo>
                  <a:pt x="192843" y="661109"/>
                </a:lnTo>
                <a:lnTo>
                  <a:pt x="214270" y="727948"/>
                </a:lnTo>
                <a:lnTo>
                  <a:pt x="235697" y="793463"/>
                </a:lnTo>
                <a:lnTo>
                  <a:pt x="257124" y="857655"/>
                </a:lnTo>
                <a:lnTo>
                  <a:pt x="278551" y="920523"/>
                </a:lnTo>
                <a:lnTo>
                  <a:pt x="299978" y="982068"/>
                </a:lnTo>
                <a:lnTo>
                  <a:pt x="321405" y="1042289"/>
                </a:lnTo>
                <a:lnTo>
                  <a:pt x="342832" y="1101187"/>
                </a:lnTo>
                <a:lnTo>
                  <a:pt x="364259" y="1158761"/>
                </a:lnTo>
                <a:lnTo>
                  <a:pt x="385686" y="1215011"/>
                </a:lnTo>
                <a:lnTo>
                  <a:pt x="407113" y="1269938"/>
                </a:lnTo>
                <a:lnTo>
                  <a:pt x="428540" y="1323542"/>
                </a:lnTo>
                <a:lnTo>
                  <a:pt x="449967" y="1375822"/>
                </a:lnTo>
                <a:lnTo>
                  <a:pt x="471394" y="1426778"/>
                </a:lnTo>
                <a:lnTo>
                  <a:pt x="492821" y="1476411"/>
                </a:lnTo>
                <a:lnTo>
                  <a:pt x="514248" y="1524720"/>
                </a:lnTo>
                <a:lnTo>
                  <a:pt x="535675" y="1571706"/>
                </a:lnTo>
                <a:lnTo>
                  <a:pt x="557102" y="1617368"/>
                </a:lnTo>
                <a:lnTo>
                  <a:pt x="578529" y="1661707"/>
                </a:lnTo>
                <a:lnTo>
                  <a:pt x="599956" y="1704722"/>
                </a:lnTo>
                <a:lnTo>
                  <a:pt x="621383" y="1746414"/>
                </a:lnTo>
                <a:lnTo>
                  <a:pt x="642810" y="1786782"/>
                </a:lnTo>
                <a:lnTo>
                  <a:pt x="664237" y="1825826"/>
                </a:lnTo>
                <a:lnTo>
                  <a:pt x="685664" y="1863547"/>
                </a:lnTo>
                <a:lnTo>
                  <a:pt x="707091" y="1899944"/>
                </a:lnTo>
                <a:lnTo>
                  <a:pt x="728518" y="1935018"/>
                </a:lnTo>
                <a:lnTo>
                  <a:pt x="749945" y="1968769"/>
                </a:lnTo>
                <a:lnTo>
                  <a:pt x="771372" y="2001195"/>
                </a:lnTo>
                <a:lnTo>
                  <a:pt x="792799" y="2032299"/>
                </a:lnTo>
                <a:lnTo>
                  <a:pt x="814226" y="2062078"/>
                </a:lnTo>
                <a:lnTo>
                  <a:pt x="835653" y="2090534"/>
                </a:lnTo>
                <a:lnTo>
                  <a:pt x="857080" y="2117667"/>
                </a:lnTo>
                <a:lnTo>
                  <a:pt x="878507" y="2143476"/>
                </a:lnTo>
                <a:lnTo>
                  <a:pt x="899934" y="2167962"/>
                </a:lnTo>
                <a:lnTo>
                  <a:pt x="921361" y="2191124"/>
                </a:lnTo>
                <a:lnTo>
                  <a:pt x="942788" y="2212962"/>
                </a:lnTo>
                <a:lnTo>
                  <a:pt x="964215" y="2233477"/>
                </a:lnTo>
                <a:lnTo>
                  <a:pt x="985642" y="2252668"/>
                </a:lnTo>
                <a:lnTo>
                  <a:pt x="1007069" y="2270536"/>
                </a:lnTo>
                <a:lnTo>
                  <a:pt x="1028496" y="2287080"/>
                </a:lnTo>
                <a:lnTo>
                  <a:pt x="1049923" y="2302301"/>
                </a:lnTo>
                <a:lnTo>
                  <a:pt x="1071350" y="2316198"/>
                </a:lnTo>
                <a:lnTo>
                  <a:pt x="1092777" y="2328772"/>
                </a:lnTo>
                <a:lnTo>
                  <a:pt x="1114204" y="2340022"/>
                </a:lnTo>
                <a:lnTo>
                  <a:pt x="1135631" y="2349949"/>
                </a:lnTo>
                <a:lnTo>
                  <a:pt x="1157057" y="2358552"/>
                </a:lnTo>
                <a:lnTo>
                  <a:pt x="1178484" y="2365831"/>
                </a:lnTo>
                <a:lnTo>
                  <a:pt x="1199912" y="2371787"/>
                </a:lnTo>
                <a:lnTo>
                  <a:pt x="1221339" y="2376420"/>
                </a:lnTo>
                <a:lnTo>
                  <a:pt x="1242766" y="2379728"/>
                </a:lnTo>
                <a:lnTo>
                  <a:pt x="1264193" y="2381714"/>
                </a:lnTo>
                <a:lnTo>
                  <a:pt x="1285619" y="2382376"/>
                </a:lnTo>
                <a:lnTo>
                  <a:pt x="1307047" y="2381714"/>
                </a:lnTo>
                <a:lnTo>
                  <a:pt x="1328474" y="2379728"/>
                </a:lnTo>
                <a:lnTo>
                  <a:pt x="1349901" y="2376420"/>
                </a:lnTo>
                <a:lnTo>
                  <a:pt x="1371328" y="2371787"/>
                </a:lnTo>
                <a:lnTo>
                  <a:pt x="1392754" y="2365831"/>
                </a:lnTo>
                <a:lnTo>
                  <a:pt x="1414182" y="2358552"/>
                </a:lnTo>
                <a:lnTo>
                  <a:pt x="1435609" y="2349949"/>
                </a:lnTo>
                <a:lnTo>
                  <a:pt x="1457036" y="2340022"/>
                </a:lnTo>
                <a:lnTo>
                  <a:pt x="1478463" y="2328772"/>
                </a:lnTo>
                <a:lnTo>
                  <a:pt x="1499890" y="2316198"/>
                </a:lnTo>
                <a:lnTo>
                  <a:pt x="1521317" y="2302301"/>
                </a:lnTo>
                <a:lnTo>
                  <a:pt x="1542744" y="2287080"/>
                </a:lnTo>
                <a:lnTo>
                  <a:pt x="1564171" y="2270536"/>
                </a:lnTo>
                <a:lnTo>
                  <a:pt x="1585598" y="2252668"/>
                </a:lnTo>
                <a:lnTo>
                  <a:pt x="1607025" y="2233477"/>
                </a:lnTo>
                <a:lnTo>
                  <a:pt x="1628451" y="2212962"/>
                </a:lnTo>
                <a:lnTo>
                  <a:pt x="1649879" y="2191124"/>
                </a:lnTo>
                <a:lnTo>
                  <a:pt x="1671306" y="2167962"/>
                </a:lnTo>
                <a:lnTo>
                  <a:pt x="1692733" y="2143476"/>
                </a:lnTo>
                <a:lnTo>
                  <a:pt x="1714160" y="2117667"/>
                </a:lnTo>
                <a:lnTo>
                  <a:pt x="1735587" y="2090534"/>
                </a:lnTo>
                <a:lnTo>
                  <a:pt x="1757013" y="2062078"/>
                </a:lnTo>
                <a:lnTo>
                  <a:pt x="1778441" y="2032299"/>
                </a:lnTo>
                <a:lnTo>
                  <a:pt x="1799868" y="2001195"/>
                </a:lnTo>
                <a:lnTo>
                  <a:pt x="1821295" y="1968769"/>
                </a:lnTo>
                <a:lnTo>
                  <a:pt x="1842722" y="1935018"/>
                </a:lnTo>
                <a:lnTo>
                  <a:pt x="1864148" y="1899944"/>
                </a:lnTo>
                <a:lnTo>
                  <a:pt x="1885576" y="1863547"/>
                </a:lnTo>
                <a:lnTo>
                  <a:pt x="1907003" y="1825826"/>
                </a:lnTo>
                <a:lnTo>
                  <a:pt x="1928430" y="1786782"/>
                </a:lnTo>
                <a:lnTo>
                  <a:pt x="1949857" y="1746414"/>
                </a:lnTo>
                <a:lnTo>
                  <a:pt x="1971283" y="1704722"/>
                </a:lnTo>
                <a:lnTo>
                  <a:pt x="1992711" y="1661707"/>
                </a:lnTo>
                <a:lnTo>
                  <a:pt x="2014138" y="1617368"/>
                </a:lnTo>
                <a:lnTo>
                  <a:pt x="2035565" y="1571706"/>
                </a:lnTo>
                <a:lnTo>
                  <a:pt x="2056992" y="1524720"/>
                </a:lnTo>
                <a:lnTo>
                  <a:pt x="2078419" y="1476411"/>
                </a:lnTo>
                <a:lnTo>
                  <a:pt x="2099846" y="1426778"/>
                </a:lnTo>
                <a:lnTo>
                  <a:pt x="2121273" y="1375822"/>
                </a:lnTo>
                <a:lnTo>
                  <a:pt x="2142700" y="1323542"/>
                </a:lnTo>
                <a:lnTo>
                  <a:pt x="2164127" y="1269938"/>
                </a:lnTo>
                <a:lnTo>
                  <a:pt x="2185554" y="1215011"/>
                </a:lnTo>
                <a:lnTo>
                  <a:pt x="2206981" y="1158761"/>
                </a:lnTo>
                <a:lnTo>
                  <a:pt x="2228408" y="1101187"/>
                </a:lnTo>
                <a:lnTo>
                  <a:pt x="2249835" y="1042289"/>
                </a:lnTo>
                <a:lnTo>
                  <a:pt x="2271262" y="982068"/>
                </a:lnTo>
                <a:lnTo>
                  <a:pt x="2292689" y="920523"/>
                </a:lnTo>
                <a:lnTo>
                  <a:pt x="2314116" y="857655"/>
                </a:lnTo>
                <a:lnTo>
                  <a:pt x="2335542" y="793463"/>
                </a:lnTo>
                <a:lnTo>
                  <a:pt x="2356970" y="727948"/>
                </a:lnTo>
                <a:lnTo>
                  <a:pt x="2378397" y="661109"/>
                </a:lnTo>
                <a:lnTo>
                  <a:pt x="2399824" y="592947"/>
                </a:lnTo>
                <a:lnTo>
                  <a:pt x="2421251" y="523461"/>
                </a:lnTo>
                <a:lnTo>
                  <a:pt x="2442677" y="452651"/>
                </a:lnTo>
                <a:lnTo>
                  <a:pt x="2464105" y="380518"/>
                </a:lnTo>
                <a:lnTo>
                  <a:pt x="2485532" y="307061"/>
                </a:lnTo>
                <a:lnTo>
                  <a:pt x="2506959" y="232281"/>
                </a:lnTo>
                <a:lnTo>
                  <a:pt x="2528386" y="156178"/>
                </a:lnTo>
                <a:lnTo>
                  <a:pt x="2549813" y="78750"/>
                </a:lnTo>
                <a:lnTo>
                  <a:pt x="2571240" y="0"/>
                </a:lnTo>
              </a:path>
            </a:pathLst>
          </a:custGeom>
          <a:noFill/>
          <a:ln w="279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flipV="1">
            <a:off x="6103259" y="2358824"/>
            <a:ext cx="0" cy="2303176"/>
          </a:xfrm>
          <a:prstGeom prst="line">
            <a:avLst/>
          </a:prstGeom>
          <a:ln w="13970">
            <a:solidFill>
              <a:srgbClr val="E5E7EB"/>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4927856" y="2811371"/>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0" name="Connector 59"/>
          <p:cNvCxnSpPr/>
          <p:nvPr/>
        </p:nvCxnSpPr>
        <p:spPr>
          <a:xfrm>
            <a:off x="4989056" y="2872571"/>
            <a:ext cx="1002783" cy="0"/>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991839" y="2872571"/>
            <a:ext cx="0" cy="1771534"/>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5930639" y="4582905"/>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3" name="Connector 62"/>
          <p:cNvCxnSpPr/>
          <p:nvPr/>
        </p:nvCxnSpPr>
        <p:spPr>
          <a:xfrm>
            <a:off x="5991839" y="4644105"/>
            <a:ext cx="100278" cy="0"/>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092117" y="4644105"/>
            <a:ext cx="0" cy="17716"/>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6030917" y="4600621"/>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6" name="Connector 65"/>
          <p:cNvCxnSpPr/>
          <p:nvPr/>
        </p:nvCxnSpPr>
        <p:spPr>
          <a:xfrm>
            <a:off x="6092117" y="4661821"/>
            <a:ext cx="10028" cy="0"/>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102145" y="4661821"/>
            <a:ext cx="0" cy="177"/>
          </a:xfrm>
          <a:prstGeom prst="line">
            <a:avLst/>
          </a:prstGeom>
          <a:ln w="19050">
            <a:solidFill>
              <a:srgbClr val="059669"/>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6040945" y="4600798"/>
            <a:ext cx="122400" cy="1224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895456" y="2778971"/>
            <a:ext cx="187200" cy="187200"/>
          </a:xfrm>
          <a:prstGeom prst="ellipse">
            <a:avLst/>
          </a:prstGeom>
          <a:noFill/>
          <a:ln w="2032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4924256" y="2807771"/>
            <a:ext cx="129600" cy="1296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4767240" y="2114024"/>
            <a:ext cx="1512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loss L(w)</a:t>
            </a:r>
          </a:p>
        </p:txBody>
      </p:sp>
      <p:sp>
        <p:nvSpPr>
          <p:cNvPr id="72" name="TextBox 71"/>
          <p:cNvSpPr txBox="1"/>
          <p:nvPr/>
        </p:nvSpPr>
        <p:spPr>
          <a:xfrm>
            <a:off x="4767240" y="4719600"/>
            <a:ext cx="1080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w -&gt;</a:t>
            </a:r>
          </a:p>
        </p:txBody>
      </p:sp>
      <p:sp>
        <p:nvSpPr>
          <p:cNvPr id="73" name="TextBox 72"/>
          <p:cNvSpPr txBox="1"/>
          <p:nvPr/>
        </p:nvSpPr>
        <p:spPr>
          <a:xfrm>
            <a:off x="5311260" y="4719600"/>
            <a:ext cx="756000" cy="180000"/>
          </a:xfrm>
          <a:prstGeom prst="rect">
            <a:avLst/>
          </a:prstGeom>
          <a:noFill/>
        </p:spPr>
        <p:txBody>
          <a:bodyPr wrap="square" anchor="t" lIns="0" rIns="0" tIns="0" bIns="0">
            <a:spAutoFit/>
          </a:bodyPr>
          <a:lstStyle/>
          <a:p>
            <a:pPr algn="r">
              <a:lnSpc>
                <a:spcPct val="125000"/>
              </a:lnSpc>
            </a:pPr>
            <a:r>
              <a:rPr sz="1050" b="0" i="0">
                <a:solidFill>
                  <a:srgbClr val="6B7280"/>
                </a:solidFill>
                <a:latin typeface="Source Han Sans SC"/>
              </a:rPr>
              <a:t>w*</a:t>
            </a:r>
          </a:p>
        </p:txBody>
      </p:sp>
      <p:sp>
        <p:nvSpPr>
          <p:cNvPr id="74" name="TextBox 73"/>
          <p:cNvSpPr txBox="1"/>
          <p:nvPr/>
        </p:nvSpPr>
        <p:spPr>
          <a:xfrm>
            <a:off x="4702440" y="5076000"/>
            <a:ext cx="2787240" cy="327074"/>
          </a:xfrm>
          <a:prstGeom prst="rect">
            <a:avLst/>
          </a:prstGeom>
          <a:noFill/>
        </p:spPr>
        <p:txBody>
          <a:bodyPr wrap="square" anchor="t" lIns="0" rIns="0" tIns="0" bIns="0">
            <a:spAutoFit/>
          </a:bodyPr>
          <a:lstStyle/>
          <a:p>
            <a:pPr algn="ctr">
              <a:lnSpc>
                <a:spcPct val="125000"/>
              </a:lnSpc>
            </a:pPr>
            <a:r>
              <a:rPr sz="1150" b="1" i="0">
                <a:solidFill>
                  <a:srgbClr val="059669"/>
                </a:solidFill>
                <a:latin typeface="Source Han Sans SC"/>
              </a:rPr>
              <a:t>At the bottom in 3 steps</a:t>
            </a:r>
          </a:p>
        </p:txBody>
      </p:sp>
      <p:sp>
        <p:nvSpPr>
          <p:cNvPr id="75" name="Rounded Rectangle 74"/>
          <p:cNvSpPr/>
          <p:nvPr/>
        </p:nvSpPr>
        <p:spPr>
          <a:xfrm>
            <a:off x="8065679" y="1188000"/>
            <a:ext cx="3327240" cy="4320000"/>
          </a:xfrm>
          <a:prstGeom prst="roundRect">
            <a:avLst>
              <a:gd name="adj" fmla="val 3500"/>
            </a:avLst>
          </a:prstGeom>
          <a:solidFill>
            <a:srgbClr val="F5F7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335679" y="1389600"/>
            <a:ext cx="2787240" cy="393749"/>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Too large</a:t>
            </a:r>
          </a:p>
        </p:txBody>
      </p:sp>
      <p:sp>
        <p:nvSpPr>
          <p:cNvPr id="77" name="TextBox 76"/>
          <p:cNvSpPr txBox="1"/>
          <p:nvPr/>
        </p:nvSpPr>
        <p:spPr>
          <a:xfrm>
            <a:off x="8335679" y="1718549"/>
            <a:ext cx="2787240" cy="327074"/>
          </a:xfrm>
          <a:prstGeom prst="rect">
            <a:avLst/>
          </a:prstGeom>
          <a:noFill/>
        </p:spPr>
        <p:txBody>
          <a:bodyPr wrap="square" anchor="t" lIns="0" rIns="0" tIns="0" bIns="0">
            <a:spAutoFit/>
          </a:bodyPr>
          <a:lstStyle/>
          <a:p>
            <a:pPr algn="l">
              <a:lnSpc>
                <a:spcPct val="125000"/>
              </a:lnSpc>
            </a:pPr>
            <a:r>
              <a:rPr sz="1150" b="0" i="0">
                <a:solidFill>
                  <a:srgbClr val="6B7280"/>
                </a:solidFill>
                <a:latin typeface="Source Han Sans SC"/>
              </a:rPr>
              <a:t>lr = 1.15  ·  diverges</a:t>
            </a:r>
          </a:p>
        </p:txBody>
      </p:sp>
      <p:cxnSp>
        <p:nvCxnSpPr>
          <p:cNvPr id="78" name="Connector 77"/>
          <p:cNvCxnSpPr/>
          <p:nvPr/>
        </p:nvCxnSpPr>
        <p:spPr>
          <a:xfrm>
            <a:off x="8450880" y="4662000"/>
            <a:ext cx="2506440" cy="0"/>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8450880" y="2351624"/>
            <a:ext cx="0" cy="2310376"/>
          </a:xfrm>
          <a:prstGeom prst="line">
            <a:avLst/>
          </a:prstGeom>
          <a:ln w="17780">
            <a:solidFill>
              <a:srgbClr val="E5E7EB"/>
            </a:solidFill>
          </a:ln>
          <a:effectLst/>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5400000">
            <a:off x="10917720" y="4590000"/>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Isosceles Triangle 80"/>
          <p:cNvSpPr/>
          <p:nvPr/>
        </p:nvSpPr>
        <p:spPr>
          <a:xfrm>
            <a:off x="8378879" y="2240024"/>
            <a:ext cx="144000" cy="144000"/>
          </a:xfrm>
          <a:prstGeom prst="triangle">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Freeform 81"/>
          <p:cNvSpPr/>
          <p:nvPr/>
        </p:nvSpPr>
        <p:spPr>
          <a:xfrm>
            <a:off x="8450880" y="2279624"/>
            <a:ext cx="2571239" cy="2382376"/>
          </a:xfrm>
          <a:custGeom>
            <a:avLst/>
            <a:gdLst/>
            <a:ahLst/>
            <a:cxnLst/>
            <a:rect l="l" t="t" r="r" b="b"/>
            <a:pathLst>
              <a:path w="2571239" h="2382376">
                <a:moveTo>
                  <a:pt x="0" y="0"/>
                </a:moveTo>
                <a:lnTo>
                  <a:pt x="21426" y="78750"/>
                </a:lnTo>
                <a:lnTo>
                  <a:pt x="42853" y="156178"/>
                </a:lnTo>
                <a:lnTo>
                  <a:pt x="64281" y="232281"/>
                </a:lnTo>
                <a:lnTo>
                  <a:pt x="85708" y="307061"/>
                </a:lnTo>
                <a:lnTo>
                  <a:pt x="107135" y="380518"/>
                </a:lnTo>
                <a:lnTo>
                  <a:pt x="128561" y="452651"/>
                </a:lnTo>
                <a:lnTo>
                  <a:pt x="149988" y="523461"/>
                </a:lnTo>
                <a:lnTo>
                  <a:pt x="171415" y="592947"/>
                </a:lnTo>
                <a:lnTo>
                  <a:pt x="192843" y="661109"/>
                </a:lnTo>
                <a:lnTo>
                  <a:pt x="214270" y="727948"/>
                </a:lnTo>
                <a:lnTo>
                  <a:pt x="235696" y="793463"/>
                </a:lnTo>
                <a:lnTo>
                  <a:pt x="257123" y="857655"/>
                </a:lnTo>
                <a:lnTo>
                  <a:pt x="278550" y="920523"/>
                </a:lnTo>
                <a:lnTo>
                  <a:pt x="299978" y="982068"/>
                </a:lnTo>
                <a:lnTo>
                  <a:pt x="321405" y="1042289"/>
                </a:lnTo>
                <a:lnTo>
                  <a:pt x="342832" y="1101187"/>
                </a:lnTo>
                <a:lnTo>
                  <a:pt x="364258" y="1158761"/>
                </a:lnTo>
                <a:lnTo>
                  <a:pt x="385685" y="1215011"/>
                </a:lnTo>
                <a:lnTo>
                  <a:pt x="407112" y="1269938"/>
                </a:lnTo>
                <a:lnTo>
                  <a:pt x="428540" y="1323542"/>
                </a:lnTo>
                <a:lnTo>
                  <a:pt x="449967" y="1375822"/>
                </a:lnTo>
                <a:lnTo>
                  <a:pt x="471393" y="1426778"/>
                </a:lnTo>
                <a:lnTo>
                  <a:pt x="492820" y="1476411"/>
                </a:lnTo>
                <a:lnTo>
                  <a:pt x="514247" y="1524720"/>
                </a:lnTo>
                <a:lnTo>
                  <a:pt x="535675" y="1571706"/>
                </a:lnTo>
                <a:lnTo>
                  <a:pt x="557102" y="1617368"/>
                </a:lnTo>
                <a:lnTo>
                  <a:pt x="578529" y="1661707"/>
                </a:lnTo>
                <a:lnTo>
                  <a:pt x="599955" y="1704722"/>
                </a:lnTo>
                <a:lnTo>
                  <a:pt x="621382" y="1746414"/>
                </a:lnTo>
                <a:lnTo>
                  <a:pt x="642810" y="1786782"/>
                </a:lnTo>
                <a:lnTo>
                  <a:pt x="664237" y="1825826"/>
                </a:lnTo>
                <a:lnTo>
                  <a:pt x="685664" y="1863547"/>
                </a:lnTo>
                <a:lnTo>
                  <a:pt x="707090" y="1899944"/>
                </a:lnTo>
                <a:lnTo>
                  <a:pt x="728517" y="1935018"/>
                </a:lnTo>
                <a:lnTo>
                  <a:pt x="749945" y="1968769"/>
                </a:lnTo>
                <a:lnTo>
                  <a:pt x="771372" y="2001195"/>
                </a:lnTo>
                <a:lnTo>
                  <a:pt x="792799" y="2032299"/>
                </a:lnTo>
                <a:lnTo>
                  <a:pt x="814226" y="2062078"/>
                </a:lnTo>
                <a:lnTo>
                  <a:pt x="835652" y="2090534"/>
                </a:lnTo>
                <a:lnTo>
                  <a:pt x="857079" y="2117667"/>
                </a:lnTo>
                <a:lnTo>
                  <a:pt x="878506" y="2143476"/>
                </a:lnTo>
                <a:lnTo>
                  <a:pt x="899934" y="2167962"/>
                </a:lnTo>
                <a:lnTo>
                  <a:pt x="921361" y="2191124"/>
                </a:lnTo>
                <a:lnTo>
                  <a:pt x="942787" y="2212962"/>
                </a:lnTo>
                <a:lnTo>
                  <a:pt x="964214" y="2233477"/>
                </a:lnTo>
                <a:lnTo>
                  <a:pt x="985641" y="2252668"/>
                </a:lnTo>
                <a:lnTo>
                  <a:pt x="1007069" y="2270536"/>
                </a:lnTo>
                <a:lnTo>
                  <a:pt x="1028496" y="2287080"/>
                </a:lnTo>
                <a:lnTo>
                  <a:pt x="1049923" y="2302301"/>
                </a:lnTo>
                <a:lnTo>
                  <a:pt x="1071349" y="2316198"/>
                </a:lnTo>
                <a:lnTo>
                  <a:pt x="1092776" y="2328772"/>
                </a:lnTo>
                <a:lnTo>
                  <a:pt x="1114204" y="2340022"/>
                </a:lnTo>
                <a:lnTo>
                  <a:pt x="1135631" y="2349949"/>
                </a:lnTo>
                <a:lnTo>
                  <a:pt x="1157058" y="2358552"/>
                </a:lnTo>
                <a:lnTo>
                  <a:pt x="1178484" y="2365831"/>
                </a:lnTo>
                <a:lnTo>
                  <a:pt x="1199911" y="2371787"/>
                </a:lnTo>
                <a:lnTo>
                  <a:pt x="1221339" y="2376420"/>
                </a:lnTo>
                <a:lnTo>
                  <a:pt x="1242766" y="2379728"/>
                </a:lnTo>
                <a:lnTo>
                  <a:pt x="1264193" y="2381714"/>
                </a:lnTo>
                <a:lnTo>
                  <a:pt x="1285619" y="2382376"/>
                </a:lnTo>
                <a:lnTo>
                  <a:pt x="1307046" y="2381714"/>
                </a:lnTo>
                <a:lnTo>
                  <a:pt x="1328474" y="2379728"/>
                </a:lnTo>
                <a:lnTo>
                  <a:pt x="1349901" y="2376420"/>
                </a:lnTo>
                <a:lnTo>
                  <a:pt x="1371328" y="2371787"/>
                </a:lnTo>
                <a:lnTo>
                  <a:pt x="1392755" y="2365831"/>
                </a:lnTo>
                <a:lnTo>
                  <a:pt x="1414181" y="2358552"/>
                </a:lnTo>
                <a:lnTo>
                  <a:pt x="1435608" y="2349949"/>
                </a:lnTo>
                <a:lnTo>
                  <a:pt x="1457035" y="2340022"/>
                </a:lnTo>
                <a:lnTo>
                  <a:pt x="1478463" y="2328772"/>
                </a:lnTo>
                <a:lnTo>
                  <a:pt x="1499890" y="2316198"/>
                </a:lnTo>
                <a:lnTo>
                  <a:pt x="1521316" y="2302301"/>
                </a:lnTo>
                <a:lnTo>
                  <a:pt x="1542743" y="2287080"/>
                </a:lnTo>
                <a:lnTo>
                  <a:pt x="1564170" y="2270536"/>
                </a:lnTo>
                <a:lnTo>
                  <a:pt x="1585598" y="2252668"/>
                </a:lnTo>
                <a:lnTo>
                  <a:pt x="1607025" y="2233477"/>
                </a:lnTo>
                <a:lnTo>
                  <a:pt x="1628452" y="2212962"/>
                </a:lnTo>
                <a:lnTo>
                  <a:pt x="1649878" y="2191124"/>
                </a:lnTo>
                <a:lnTo>
                  <a:pt x="1671305" y="2167962"/>
                </a:lnTo>
                <a:lnTo>
                  <a:pt x="1692733" y="2143476"/>
                </a:lnTo>
                <a:lnTo>
                  <a:pt x="1714159" y="2117667"/>
                </a:lnTo>
                <a:lnTo>
                  <a:pt x="1735587" y="2090534"/>
                </a:lnTo>
                <a:lnTo>
                  <a:pt x="1757013" y="2062078"/>
                </a:lnTo>
                <a:lnTo>
                  <a:pt x="1778440" y="2032299"/>
                </a:lnTo>
                <a:lnTo>
                  <a:pt x="1799868" y="2001195"/>
                </a:lnTo>
                <a:lnTo>
                  <a:pt x="1821295" y="1968769"/>
                </a:lnTo>
                <a:lnTo>
                  <a:pt x="1842722" y="1935018"/>
                </a:lnTo>
                <a:lnTo>
                  <a:pt x="1864149" y="1899944"/>
                </a:lnTo>
                <a:lnTo>
                  <a:pt x="1885575" y="1863547"/>
                </a:lnTo>
                <a:lnTo>
                  <a:pt x="1907003" y="1825826"/>
                </a:lnTo>
                <a:lnTo>
                  <a:pt x="1928429" y="1786782"/>
                </a:lnTo>
                <a:lnTo>
                  <a:pt x="1949857" y="1746414"/>
                </a:lnTo>
                <a:lnTo>
                  <a:pt x="1971284" y="1704722"/>
                </a:lnTo>
                <a:lnTo>
                  <a:pt x="1992710" y="1661707"/>
                </a:lnTo>
                <a:lnTo>
                  <a:pt x="2014137" y="1617368"/>
                </a:lnTo>
                <a:lnTo>
                  <a:pt x="2035564" y="1571706"/>
                </a:lnTo>
                <a:lnTo>
                  <a:pt x="2056992" y="1524720"/>
                </a:lnTo>
                <a:lnTo>
                  <a:pt x="2078418" y="1476411"/>
                </a:lnTo>
                <a:lnTo>
                  <a:pt x="2099846" y="1426778"/>
                </a:lnTo>
                <a:lnTo>
                  <a:pt x="2121272" y="1375822"/>
                </a:lnTo>
                <a:lnTo>
                  <a:pt x="2142699" y="1323542"/>
                </a:lnTo>
                <a:lnTo>
                  <a:pt x="2164127" y="1269938"/>
                </a:lnTo>
                <a:lnTo>
                  <a:pt x="2185554" y="1215011"/>
                </a:lnTo>
                <a:lnTo>
                  <a:pt x="2206981" y="1158761"/>
                </a:lnTo>
                <a:lnTo>
                  <a:pt x="2228407" y="1101187"/>
                </a:lnTo>
                <a:lnTo>
                  <a:pt x="2249834" y="1042289"/>
                </a:lnTo>
                <a:lnTo>
                  <a:pt x="2271261" y="982068"/>
                </a:lnTo>
                <a:lnTo>
                  <a:pt x="2292688" y="920523"/>
                </a:lnTo>
                <a:lnTo>
                  <a:pt x="2314116" y="857655"/>
                </a:lnTo>
                <a:lnTo>
                  <a:pt x="2335542" y="793463"/>
                </a:lnTo>
                <a:lnTo>
                  <a:pt x="2356969" y="727948"/>
                </a:lnTo>
                <a:lnTo>
                  <a:pt x="2378396" y="661109"/>
                </a:lnTo>
                <a:lnTo>
                  <a:pt x="2399823" y="592947"/>
                </a:lnTo>
                <a:lnTo>
                  <a:pt x="2421251" y="523461"/>
                </a:lnTo>
                <a:lnTo>
                  <a:pt x="2442678" y="452651"/>
                </a:lnTo>
                <a:lnTo>
                  <a:pt x="2464104" y="380518"/>
                </a:lnTo>
                <a:lnTo>
                  <a:pt x="2485531" y="307061"/>
                </a:lnTo>
                <a:lnTo>
                  <a:pt x="2506958" y="232281"/>
                </a:lnTo>
                <a:lnTo>
                  <a:pt x="2528386" y="156178"/>
                </a:lnTo>
                <a:lnTo>
                  <a:pt x="2549813" y="78750"/>
                </a:lnTo>
                <a:lnTo>
                  <a:pt x="2571239" y="0"/>
                </a:lnTo>
              </a:path>
            </a:pathLst>
          </a:custGeom>
          <a:noFill/>
          <a:ln w="2794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flipV="1">
            <a:off x="9736499" y="2358824"/>
            <a:ext cx="0" cy="2303176"/>
          </a:xfrm>
          <a:prstGeom prst="line">
            <a:avLst/>
          </a:prstGeom>
          <a:ln w="13970">
            <a:solidFill>
              <a:srgbClr val="E5E7EB"/>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8903927" y="3743144"/>
            <a:ext cx="122400" cy="12240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85" name="Connector 84"/>
          <p:cNvCxnSpPr/>
          <p:nvPr/>
        </p:nvCxnSpPr>
        <p:spPr>
          <a:xfrm>
            <a:off x="8965127" y="3804344"/>
            <a:ext cx="1774156" cy="0"/>
          </a:xfrm>
          <a:prstGeom prst="line">
            <a:avLst/>
          </a:prstGeom>
          <a:ln w="19050">
            <a:solidFill>
              <a:srgbClr val="B91C1C"/>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739283" y="3212562"/>
            <a:ext cx="0" cy="591782"/>
          </a:xfrm>
          <a:prstGeom prst="line">
            <a:avLst/>
          </a:prstGeom>
          <a:ln w="19050">
            <a:solidFill>
              <a:srgbClr val="B91C1C"/>
            </a:solidFill>
          </a:ln>
          <a:effectLst/>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0678083" y="3151362"/>
            <a:ext cx="122400" cy="12240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8871527" y="3710744"/>
            <a:ext cx="187200" cy="187200"/>
          </a:xfrm>
          <a:prstGeom prst="ellipse">
            <a:avLst/>
          </a:prstGeom>
          <a:noFill/>
          <a:ln w="20320">
            <a:solidFill>
              <a:srgbClr val="0E3F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8900327" y="3739544"/>
            <a:ext cx="129600" cy="129600"/>
          </a:xfrm>
          <a:prstGeom prst="ellipse">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400479" y="2114024"/>
            <a:ext cx="1512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loss L(w)</a:t>
            </a:r>
          </a:p>
        </p:txBody>
      </p:sp>
      <p:sp>
        <p:nvSpPr>
          <p:cNvPr id="91" name="TextBox 90"/>
          <p:cNvSpPr txBox="1"/>
          <p:nvPr/>
        </p:nvSpPr>
        <p:spPr>
          <a:xfrm>
            <a:off x="8400479" y="4719600"/>
            <a:ext cx="1080000" cy="180000"/>
          </a:xfrm>
          <a:prstGeom prst="rect">
            <a:avLst/>
          </a:prstGeom>
          <a:noFill/>
        </p:spPr>
        <p:txBody>
          <a:bodyPr wrap="square" anchor="t" lIns="0" rIns="0" tIns="0" bIns="0">
            <a:spAutoFit/>
          </a:bodyPr>
          <a:lstStyle/>
          <a:p>
            <a:pPr algn="l">
              <a:lnSpc>
                <a:spcPct val="125000"/>
              </a:lnSpc>
            </a:pPr>
            <a:r>
              <a:rPr sz="1050" b="0" i="0">
                <a:solidFill>
                  <a:srgbClr val="6B7280"/>
                </a:solidFill>
                <a:latin typeface="Source Han Sans SC"/>
              </a:rPr>
              <a:t>w -&gt;</a:t>
            </a:r>
          </a:p>
        </p:txBody>
      </p:sp>
      <p:sp>
        <p:nvSpPr>
          <p:cNvPr id="92" name="TextBox 91"/>
          <p:cNvSpPr txBox="1"/>
          <p:nvPr/>
        </p:nvSpPr>
        <p:spPr>
          <a:xfrm>
            <a:off x="8944500" y="4719600"/>
            <a:ext cx="756000" cy="180000"/>
          </a:xfrm>
          <a:prstGeom prst="rect">
            <a:avLst/>
          </a:prstGeom>
          <a:noFill/>
        </p:spPr>
        <p:txBody>
          <a:bodyPr wrap="square" anchor="t" lIns="0" rIns="0" tIns="0" bIns="0">
            <a:spAutoFit/>
          </a:bodyPr>
          <a:lstStyle/>
          <a:p>
            <a:pPr algn="r">
              <a:lnSpc>
                <a:spcPct val="125000"/>
              </a:lnSpc>
            </a:pPr>
            <a:r>
              <a:rPr sz="1050" b="0" i="0">
                <a:solidFill>
                  <a:srgbClr val="6B7280"/>
                </a:solidFill>
                <a:latin typeface="Source Han Sans SC"/>
              </a:rPr>
              <a:t>w*</a:t>
            </a:r>
          </a:p>
        </p:txBody>
      </p:sp>
      <p:sp>
        <p:nvSpPr>
          <p:cNvPr id="93" name="TextBox 92"/>
          <p:cNvSpPr txBox="1"/>
          <p:nvPr/>
        </p:nvSpPr>
        <p:spPr>
          <a:xfrm>
            <a:off x="8335679" y="5076000"/>
            <a:ext cx="2787240" cy="327074"/>
          </a:xfrm>
          <a:prstGeom prst="rect">
            <a:avLst/>
          </a:prstGeom>
          <a:noFill/>
        </p:spPr>
        <p:txBody>
          <a:bodyPr wrap="square" anchor="t" lIns="0" rIns="0" tIns="0" bIns="0">
            <a:spAutoFit/>
          </a:bodyPr>
          <a:lstStyle/>
          <a:p>
            <a:pPr algn="ctr">
              <a:lnSpc>
                <a:spcPct val="125000"/>
              </a:lnSpc>
            </a:pPr>
            <a:r>
              <a:rPr sz="1150" b="1" i="0">
                <a:solidFill>
                  <a:srgbClr val="B91C1C"/>
                </a:solidFill>
                <a:latin typeface="Source Han Sans SC"/>
              </a:rPr>
              <a:t>Every step lands further away</a:t>
            </a:r>
          </a:p>
        </p:txBody>
      </p:sp>
      <p:sp>
        <p:nvSpPr>
          <p:cNvPr id="94" name="TextBox 93"/>
          <p:cNvSpPr txBox="1"/>
          <p:nvPr/>
        </p:nvSpPr>
        <p:spPr>
          <a:xfrm>
            <a:off x="799200" y="5695200"/>
            <a:ext cx="10593719" cy="648000"/>
          </a:xfrm>
          <a:prstGeom prst="rect">
            <a:avLst/>
          </a:prstGeom>
          <a:noFill/>
        </p:spPr>
        <p:txBody>
          <a:bodyPr wrap="square" anchor="t" lIns="0" rIns="0" tIns="0" bIns="0">
            <a:spAutoFit/>
          </a:bodyPr>
          <a:lstStyle/>
          <a:p>
            <a:pPr algn="l">
              <a:lnSpc>
                <a:spcPct val="135000"/>
              </a:lnSpc>
            </a:pPr>
            <a:r>
              <a:rPr sz="1200" b="0" i="0">
                <a:solidFill>
                  <a:srgbClr val="6B7280"/>
                </a:solidFill>
                <a:latin typeface="Source Han Sans SC"/>
              </a:rPr>
              <a:t>Loss L(w) = (w - 3)^2 with plain gradient descent w &lt;- w - lr*2(w-3). The curve and the start are identical in all three panels; the only thing that changes is the size of one step.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Diagnosing lr: Same Model, Same Data, Only lr Changes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17 / 31</a:t>
            </a:r>
          </a:p>
        </p:txBody>
      </p:sp>
      <p:graphicFrame>
        <p:nvGraphicFramePr>
          <p:cNvPr id="9" name="Chart 8"/>
          <p:cNvGraphicFramePr>
            <a:graphicFrameLocks noGrp="1"/>
          </p:cNvGraphicFramePr>
          <p:nvPr/>
        </p:nvGraphicFramePr>
        <p:xfrm>
          <a:off x="799200" y="1152000"/>
          <a:ext cx="6840000" cy="4248000"/>
        </p:xfrm>
        <a:graphic>
          <a:graphicData uri="http://schemas.openxmlformats.org/drawingml/2006/chart">
            <c:chart xmlns:c="http://schemas.openxmlformats.org/drawingml/2006/chart" r:id="rId2"/>
          </a:graphicData>
        </a:graphic>
      </p:graphicFrame>
      <p:sp>
        <p:nvSpPr>
          <p:cNvPr id="10" name="TextBox 9"/>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250" b="0" i="0">
                <a:solidFill>
                  <a:srgbClr val="1F2937"/>
                </a:solidFill>
                <a:latin typeface="Source Han Sans SC"/>
              </a:rPr>
              <a:t>• The red line oscillates and never descends → lr too large</a:t>
            </a:r>
          </a:p>
          <a:p>
            <a:pPr algn="l">
              <a:lnSpc>
                <a:spcPct val="145000"/>
              </a:lnSpc>
              <a:spcAft>
                <a:spcPts val="800"/>
              </a:spcAft>
            </a:pPr>
            <a:r>
              <a:rPr sz="1250" b="0" i="0">
                <a:solidFill>
                  <a:srgbClr val="1F2937"/>
                </a:solidFill>
                <a:latin typeface="Source Han Sans SC"/>
              </a:rPr>
              <a:t>• The grey line is almost flat → lr too small (not a weak model)</a:t>
            </a:r>
          </a:p>
          <a:p>
            <a:pPr algn="l">
              <a:lnSpc>
                <a:spcPct val="145000"/>
              </a:lnSpc>
              <a:spcAft>
                <a:spcPts val="800"/>
              </a:spcAft>
            </a:pPr>
            <a:r>
              <a:rPr sz="1250" b="0" i="0">
                <a:solidFill>
                  <a:srgbClr val="1F2937"/>
                </a:solidFill>
                <a:latin typeface="Source Han Sans SC"/>
              </a:rPr>
              <a:t>• The green line falls steadily → this is the state where more epochs help</a:t>
            </a:r>
          </a:p>
          <a:p>
            <a:pPr algn="l">
              <a:lnSpc>
                <a:spcPct val="145000"/>
              </a:lnSpc>
              <a:spcAft>
                <a:spcPts val="800"/>
              </a:spcAft>
            </a:pPr>
            <a:r>
              <a:rPr sz="1250" b="0" i="0">
                <a:solidFill>
                  <a:srgbClr val="1F2937"/>
                </a:solidFill>
                <a:latin typeface="Source Han Sans SC"/>
              </a:rPr>
              <a:t>• Lab 4 requires you to produce these three curves yourself, not copy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04</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04</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The Five-Step Training Loop</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Training loop</a:t>
            </a:r>
          </a:p>
        </p:txBody>
      </p:sp>
      <p:sp>
        <p:nvSpPr>
          <p:cNvPr id="9" name="TextBox 8"/>
          <p:cNvSpPr txBox="1"/>
          <p:nvPr/>
        </p:nvSpPr>
        <p:spPr>
          <a:xfrm>
            <a:off x="799200" y="2736000"/>
            <a:ext cx="8640000" cy="1172698"/>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However complex a training script looks, its core is these five steps. Memorise them and you can read any PyTorch code.
The goal here is not to recognise it, but to reproduce it from memory.</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Order Matters</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Especially step 1</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Write, Then Check</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Close the slides and write it first</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Leave a Log</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One row per epoch</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Five Steps of a Training Loop</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19 / 31</a:t>
            </a:r>
          </a:p>
        </p:txBody>
      </p:sp>
      <p:sp>
        <p:nvSpPr>
          <p:cNvPr id="9" name="Rectangle 8"/>
          <p:cNvSpPr/>
          <p:nvPr/>
        </p:nvSpPr>
        <p:spPr>
          <a:xfrm>
            <a:off x="799200"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2015999"/>
            <a:ext cx="1600343" cy="360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376172" y="2214000"/>
            <a:ext cx="446400" cy="446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376172"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1</a:t>
            </a:r>
          </a:p>
        </p:txBody>
      </p:sp>
      <p:sp>
        <p:nvSpPr>
          <p:cNvPr id="13" name="TextBox 12"/>
          <p:cNvSpPr txBox="1"/>
          <p:nvPr/>
        </p:nvSpPr>
        <p:spPr>
          <a:xfrm>
            <a:off x="997200" y="2754000"/>
            <a:ext cx="1204343" cy="295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Zero Grads</a:t>
            </a:r>
          </a:p>
        </p:txBody>
      </p:sp>
      <p:sp>
        <p:nvSpPr>
          <p:cNvPr id="14" name="TextBox 13"/>
          <p:cNvSpPr txBox="1"/>
          <p:nvPr/>
        </p:nvSpPr>
        <p:spPr>
          <a:xfrm>
            <a:off x="997200" y="2980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zero_grad()</a:t>
            </a:r>
          </a:p>
        </p:txBody>
      </p:sp>
      <p:sp>
        <p:nvSpPr>
          <p:cNvPr id="15" name="TextBox 14"/>
          <p:cNvSpPr txBox="1"/>
          <p:nvPr/>
        </p:nvSpPr>
        <p:spPr>
          <a:xfrm>
            <a:off x="997200" y="3168000"/>
            <a:ext cx="1204343" cy="1079999"/>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Clear the previous batch's
gradients or they accumulate</a:t>
            </a:r>
          </a:p>
        </p:txBody>
      </p:sp>
      <p:sp>
        <p:nvSpPr>
          <p:cNvPr id="16" name="Right Arrow 15"/>
          <p:cNvSpPr/>
          <p:nvPr/>
        </p:nvSpPr>
        <p:spPr>
          <a:xfrm>
            <a:off x="2417544" y="3052800"/>
            <a:ext cx="306000" cy="23040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741544"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741544" y="2015999"/>
            <a:ext cx="1600343" cy="36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318516" y="2214000"/>
            <a:ext cx="446400" cy="4464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18516"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2</a:t>
            </a:r>
          </a:p>
        </p:txBody>
      </p:sp>
      <p:sp>
        <p:nvSpPr>
          <p:cNvPr id="21" name="TextBox 20"/>
          <p:cNvSpPr txBox="1"/>
          <p:nvPr/>
        </p:nvSpPr>
        <p:spPr>
          <a:xfrm>
            <a:off x="2939544" y="2754000"/>
            <a:ext cx="1204343" cy="295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Forward</a:t>
            </a:r>
          </a:p>
        </p:txBody>
      </p:sp>
      <p:sp>
        <p:nvSpPr>
          <p:cNvPr id="22" name="TextBox 21"/>
          <p:cNvSpPr txBox="1"/>
          <p:nvPr/>
        </p:nvSpPr>
        <p:spPr>
          <a:xfrm>
            <a:off x="2939544" y="2980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logits = model(x)</a:t>
            </a:r>
          </a:p>
        </p:txBody>
      </p:sp>
      <p:sp>
        <p:nvSpPr>
          <p:cNvPr id="23" name="TextBox 22"/>
          <p:cNvSpPr txBox="1"/>
          <p:nvPr/>
        </p:nvSpPr>
        <p:spPr>
          <a:xfrm>
            <a:off x="2939544" y="3168000"/>
            <a:ext cx="1204343" cy="1079999"/>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Feed the batch through
the model to get predictions</a:t>
            </a:r>
          </a:p>
        </p:txBody>
      </p:sp>
      <p:sp>
        <p:nvSpPr>
          <p:cNvPr id="24" name="Right Arrow 23"/>
          <p:cNvSpPr/>
          <p:nvPr/>
        </p:nvSpPr>
        <p:spPr>
          <a:xfrm>
            <a:off x="4359888" y="3052800"/>
            <a:ext cx="306000" cy="230400"/>
          </a:xfrm>
          <a:prstGeom prst="rightArrow">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683888"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683888" y="2015999"/>
            <a:ext cx="1600343" cy="3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5260860" y="2214000"/>
            <a:ext cx="446400" cy="4464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60860"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3</a:t>
            </a:r>
          </a:p>
        </p:txBody>
      </p:sp>
      <p:sp>
        <p:nvSpPr>
          <p:cNvPr id="29" name="TextBox 28"/>
          <p:cNvSpPr txBox="1"/>
          <p:nvPr/>
        </p:nvSpPr>
        <p:spPr>
          <a:xfrm>
            <a:off x="4881888" y="2754000"/>
            <a:ext cx="1204343" cy="295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Loss</a:t>
            </a:r>
          </a:p>
        </p:txBody>
      </p:sp>
      <p:sp>
        <p:nvSpPr>
          <p:cNvPr id="30" name="TextBox 29"/>
          <p:cNvSpPr txBox="1"/>
          <p:nvPr/>
        </p:nvSpPr>
        <p:spPr>
          <a:xfrm>
            <a:off x="4881888" y="2980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criterion(logits, y)</a:t>
            </a:r>
          </a:p>
        </p:txBody>
      </p:sp>
      <p:sp>
        <p:nvSpPr>
          <p:cNvPr id="31" name="TextBox 30"/>
          <p:cNvSpPr txBox="1"/>
          <p:nvPr/>
        </p:nvSpPr>
        <p:spPr>
          <a:xfrm>
            <a:off x="4881888" y="3168000"/>
            <a:ext cx="1204343" cy="1079999"/>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Score the prediction with
the chosen loss function</a:t>
            </a:r>
          </a:p>
        </p:txBody>
      </p:sp>
      <p:sp>
        <p:nvSpPr>
          <p:cNvPr id="32" name="Right Arrow 31"/>
          <p:cNvSpPr/>
          <p:nvPr/>
        </p:nvSpPr>
        <p:spPr>
          <a:xfrm>
            <a:off x="6302232" y="3052800"/>
            <a:ext cx="306000" cy="230400"/>
          </a:xfrm>
          <a:prstGeom prst="rightArrow">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626231"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626231" y="2015999"/>
            <a:ext cx="1600343" cy="36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203203" y="2214000"/>
            <a:ext cx="446400" cy="4464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203203"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4</a:t>
            </a:r>
          </a:p>
        </p:txBody>
      </p:sp>
      <p:sp>
        <p:nvSpPr>
          <p:cNvPr id="37" name="TextBox 36"/>
          <p:cNvSpPr txBox="1"/>
          <p:nvPr/>
        </p:nvSpPr>
        <p:spPr>
          <a:xfrm>
            <a:off x="6824232" y="2754000"/>
            <a:ext cx="1204343" cy="295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Backward</a:t>
            </a:r>
          </a:p>
        </p:txBody>
      </p:sp>
      <p:sp>
        <p:nvSpPr>
          <p:cNvPr id="38" name="TextBox 37"/>
          <p:cNvSpPr txBox="1"/>
          <p:nvPr/>
        </p:nvSpPr>
        <p:spPr>
          <a:xfrm>
            <a:off x="6824232" y="2980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loss.backward()</a:t>
            </a:r>
          </a:p>
        </p:txBody>
      </p:sp>
      <p:sp>
        <p:nvSpPr>
          <p:cNvPr id="39" name="TextBox 38"/>
          <p:cNvSpPr txBox="1"/>
          <p:nvPr/>
        </p:nvSpPr>
        <p:spPr>
          <a:xfrm>
            <a:off x="6824232" y="3168000"/>
            <a:ext cx="1204343" cy="1079999"/>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Compute the gradient of the loss
for every parameter</a:t>
            </a:r>
          </a:p>
        </p:txBody>
      </p:sp>
      <p:sp>
        <p:nvSpPr>
          <p:cNvPr id="40" name="Right Arrow 39"/>
          <p:cNvSpPr/>
          <p:nvPr/>
        </p:nvSpPr>
        <p:spPr>
          <a:xfrm>
            <a:off x="8244575" y="3052800"/>
            <a:ext cx="306000" cy="230400"/>
          </a:xfrm>
          <a:prstGeom prst="rightArrow">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8568575" y="2015999"/>
            <a:ext cx="1600343" cy="2304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8568575" y="2015999"/>
            <a:ext cx="1600343" cy="36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9145547" y="2214000"/>
            <a:ext cx="446400" cy="4464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145547" y="2296800"/>
            <a:ext cx="446400" cy="288000"/>
          </a:xfrm>
          <a:prstGeom prst="rect">
            <a:avLst/>
          </a:prstGeom>
          <a:noFill/>
        </p:spPr>
        <p:txBody>
          <a:bodyPr wrap="square" anchor="t" lIns="0" rIns="0" tIns="0" bIns="0">
            <a:spAutoFit/>
          </a:bodyPr>
          <a:lstStyle/>
          <a:p>
            <a:pPr algn="ctr">
              <a:lnSpc>
                <a:spcPct val="125000"/>
              </a:lnSpc>
            </a:pPr>
            <a:r>
              <a:rPr sz="1800" b="1" i="0">
                <a:solidFill>
                  <a:srgbClr val="FFFFFF"/>
                </a:solidFill>
                <a:latin typeface="Source Han Sans SC"/>
              </a:rPr>
              <a:t>5</a:t>
            </a:r>
          </a:p>
        </p:txBody>
      </p:sp>
      <p:sp>
        <p:nvSpPr>
          <p:cNvPr id="45" name="TextBox 44"/>
          <p:cNvSpPr txBox="1"/>
          <p:nvPr/>
        </p:nvSpPr>
        <p:spPr>
          <a:xfrm>
            <a:off x="8766576" y="2754000"/>
            <a:ext cx="1204343" cy="295200"/>
          </a:xfrm>
          <a:prstGeom prst="rect">
            <a:avLst/>
          </a:prstGeom>
          <a:noFill/>
        </p:spPr>
        <p:txBody>
          <a:bodyPr wrap="square" anchor="t" lIns="0" rIns="0" tIns="0" bIns="0">
            <a:spAutoFit/>
          </a:bodyPr>
          <a:lstStyle/>
          <a:p>
            <a:pPr algn="ctr">
              <a:lnSpc>
                <a:spcPct val="125000"/>
              </a:lnSpc>
            </a:pPr>
            <a:r>
              <a:rPr sz="1450" b="1" i="0">
                <a:solidFill>
                  <a:srgbClr val="0E3F8C"/>
                </a:solidFill>
                <a:latin typeface="Source Han Sans SC"/>
              </a:rPr>
              <a:t>Step</a:t>
            </a:r>
          </a:p>
        </p:txBody>
      </p:sp>
      <p:sp>
        <p:nvSpPr>
          <p:cNvPr id="46" name="TextBox 45"/>
          <p:cNvSpPr txBox="1"/>
          <p:nvPr/>
        </p:nvSpPr>
        <p:spPr>
          <a:xfrm>
            <a:off x="8766576" y="2980800"/>
            <a:ext cx="1204343" cy="144000"/>
          </a:xfrm>
          <a:prstGeom prst="rect">
            <a:avLst/>
          </a:prstGeom>
          <a:noFill/>
        </p:spPr>
        <p:txBody>
          <a:bodyPr wrap="square" anchor="t" lIns="0" rIns="0" tIns="0" bIns="0">
            <a:spAutoFit/>
          </a:bodyPr>
          <a:lstStyle/>
          <a:p>
            <a:pPr algn="ctr">
              <a:lnSpc>
                <a:spcPct val="125000"/>
              </a:lnSpc>
            </a:pPr>
            <a:r>
              <a:rPr sz="1050" b="0" i="0">
                <a:solidFill>
                  <a:srgbClr val="3D7BD9"/>
                </a:solidFill>
                <a:latin typeface="Source Han Sans SC"/>
              </a:rPr>
              <a:t>optimizer.step()</a:t>
            </a:r>
          </a:p>
        </p:txBody>
      </p:sp>
      <p:sp>
        <p:nvSpPr>
          <p:cNvPr id="47" name="TextBox 46"/>
          <p:cNvSpPr txBox="1"/>
          <p:nvPr/>
        </p:nvSpPr>
        <p:spPr>
          <a:xfrm>
            <a:off x="8766576" y="3168000"/>
            <a:ext cx="1204343" cy="1079999"/>
          </a:xfrm>
          <a:prstGeom prst="rect">
            <a:avLst/>
          </a:prstGeom>
          <a:noFill/>
        </p:spPr>
        <p:txBody>
          <a:bodyPr wrap="square" anchor="t" lIns="0" rIns="0" tIns="0" bIns="0">
            <a:spAutoFit/>
          </a:bodyPr>
          <a:lstStyle/>
          <a:p>
            <a:pPr algn="ctr">
              <a:lnSpc>
                <a:spcPct val="135000"/>
              </a:lnSpc>
            </a:pPr>
            <a:r>
              <a:rPr sz="1150" b="0" i="0">
                <a:solidFill>
                  <a:srgbClr val="6B7280"/>
                </a:solidFill>
                <a:latin typeface="Source Han Sans SC"/>
              </a:rPr>
              <a:t>The optimizer takes
one step along the gradient</a:t>
            </a:r>
          </a:p>
        </p:txBody>
      </p:sp>
      <p:sp>
        <p:nvSpPr>
          <p:cNvPr id="48" name="TextBox 47"/>
          <p:cNvSpPr txBox="1"/>
          <p:nvPr/>
        </p:nvSpPr>
        <p:spPr>
          <a:xfrm>
            <a:off x="799200" y="4626000"/>
            <a:ext cx="10593719" cy="576000"/>
          </a:xfrm>
          <a:prstGeom prst="rect">
            <a:avLst/>
          </a:prstGeom>
          <a:noFill/>
        </p:spPr>
        <p:txBody>
          <a:bodyPr wrap="square" anchor="t" lIns="0" rIns="0" tIns="0" bIns="0">
            <a:spAutoFit/>
          </a:bodyPr>
          <a:lstStyle/>
          <a:p>
            <a:pPr algn="l">
              <a:lnSpc>
                <a:spcPct val="140000"/>
              </a:lnSpc>
            </a:pPr>
            <a:r>
              <a:rPr sz="1250" b="0" i="0">
                <a:solidFill>
                  <a:srgbClr val="1F2937"/>
                </a:solidFill>
                <a:latin typeface="Source Han Sans SC"/>
              </a:rPr>
              <a:t>In class: close the slides, write the five steps from memory with their exact calls and order, then compare with this page. Step 1 is the one people drop — drop it and gradients accumulate across batches, making the loss curve look random.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A Complete Training Loop and Its Log</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20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The five steps, complete loop</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for epoch in range(epochs):</a:t>
            </a:r>
          </a:p>
          <a:p>
            <a:pPr algn="l">
              <a:lnSpc>
                <a:spcPct val="128000"/>
              </a:lnSpc>
            </a:pPr>
            <a:r>
              <a:rPr sz="1100" b="0" i="0">
                <a:solidFill>
                  <a:srgbClr val="E2E8F0"/>
                </a:solidFill>
                <a:latin typeface="Menlo"/>
              </a:rPr>
              <a:t>    model.train()</a:t>
            </a:r>
          </a:p>
          <a:p>
            <a:pPr algn="l">
              <a:lnSpc>
                <a:spcPct val="128000"/>
              </a:lnSpc>
            </a:pPr>
            <a:r>
              <a:rPr sz="1100" b="0" i="0">
                <a:solidFill>
                  <a:srgbClr val="E2E8F0"/>
                </a:solidFill>
                <a:latin typeface="Menlo"/>
              </a:rPr>
              <a:t>    for x, y in train_loader:</a:t>
            </a:r>
          </a:p>
          <a:p>
            <a:pPr algn="l">
              <a:lnSpc>
                <a:spcPct val="128000"/>
              </a:lnSpc>
            </a:pPr>
            <a:r>
              <a:rPr sz="1100" b="0" i="0">
                <a:solidFill>
                  <a:srgbClr val="E2E8F0"/>
                </a:solidFill>
                <a:latin typeface="Menlo"/>
              </a:rPr>
              <a:t>        opt.zero_grad()       # 1 clear old grads</a:t>
            </a:r>
          </a:p>
          <a:p>
            <a:pPr algn="l">
              <a:lnSpc>
                <a:spcPct val="128000"/>
              </a:lnSpc>
            </a:pPr>
            <a:r>
              <a:rPr sz="1100" b="0" i="0">
                <a:solidFill>
                  <a:srgbClr val="E2E8F0"/>
                </a:solidFill>
                <a:latin typeface="Menlo"/>
              </a:rPr>
              <a:t>        logits = model(x)     # 2 forward pass</a:t>
            </a:r>
          </a:p>
          <a:p>
            <a:pPr algn="l">
              <a:lnSpc>
                <a:spcPct val="128000"/>
              </a:lnSpc>
            </a:pPr>
            <a:r>
              <a:rPr sz="1100" b="0" i="0">
                <a:solidFill>
                  <a:srgbClr val="E2E8F0"/>
                </a:solidFill>
                <a:latin typeface="Menlo"/>
              </a:rPr>
              <a:t>        loss = crit(logits, y)  # 3 compute loss</a:t>
            </a:r>
          </a:p>
          <a:p>
            <a:pPr algn="l">
              <a:lnSpc>
                <a:spcPct val="128000"/>
              </a:lnSpc>
            </a:pPr>
            <a:r>
              <a:rPr sz="1100" b="0" i="0">
                <a:solidFill>
                  <a:srgbClr val="E2E8F0"/>
                </a:solidFill>
                <a:latin typeface="Menlo"/>
              </a:rPr>
              <a:t>        loss.backward()       # 4 backpropagate</a:t>
            </a:r>
          </a:p>
          <a:p>
            <a:pPr algn="l">
              <a:lnSpc>
                <a:spcPct val="128000"/>
              </a:lnSpc>
            </a:pPr>
            <a:r>
              <a:rPr sz="1100" b="0" i="0">
                <a:solidFill>
                  <a:srgbClr val="E2E8F0"/>
                </a:solidFill>
                <a:latin typeface="Menlo"/>
              </a:rPr>
              <a:t>        opt.step()            # 5 update weights</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The order is not interchangeable:</a:t>
            </a:r>
          </a:p>
          <a:p>
            <a:pPr algn="l">
              <a:lnSpc>
                <a:spcPct val="128000"/>
              </a:lnSpc>
            </a:pPr>
            <a:r>
              <a:rPr sz="1100" b="0" i="0">
                <a:solidFill>
                  <a:srgbClr val="E2E8F0"/>
                </a:solidFill>
                <a:latin typeface="Menlo"/>
              </a:rPr>
              <a:t># 1 must precede 4 or grads accumulate.</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Logging: one row per epoch</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history = []</a:t>
            </a:r>
          </a:p>
          <a:p>
            <a:pPr algn="l">
              <a:lnSpc>
                <a:spcPct val="128000"/>
              </a:lnSpc>
            </a:pPr>
            <a:r>
              <a:rPr sz="1100" b="0" i="0">
                <a:solidFill>
                  <a:srgbClr val="E2E8F0"/>
                </a:solidFill>
                <a:latin typeface="Menlo"/>
              </a:rPr>
              <a:t>for epoch in range(epochs):</a:t>
            </a:r>
          </a:p>
          <a:p>
            <a:pPr algn="l">
              <a:lnSpc>
                <a:spcPct val="128000"/>
              </a:lnSpc>
            </a:pPr>
            <a:r>
              <a:rPr sz="1100" b="0" i="0">
                <a:solidFill>
                  <a:srgbClr val="E2E8F0"/>
                </a:solidFill>
                <a:latin typeface="Menlo"/>
              </a:rPr>
              <a:t>    tr = train_epoch(model, loader, opt, crit)</a:t>
            </a:r>
          </a:p>
          <a:p>
            <a:pPr algn="l">
              <a:lnSpc>
                <a:spcPct val="128000"/>
              </a:lnSpc>
            </a:pPr>
            <a:r>
              <a:rPr sz="1100" b="0" i="0">
                <a:solidFill>
                  <a:srgbClr val="E2E8F0"/>
                </a:solidFill>
                <a:latin typeface="Menlo"/>
              </a:rPr>
              <a:t>    va, acc = evaluate(model, val_loader, crit)</a:t>
            </a:r>
          </a:p>
          <a:p>
            <a:pPr algn="l">
              <a:lnSpc>
                <a:spcPct val="128000"/>
              </a:lnSpc>
            </a:pPr>
            <a:r>
              <a:rPr sz="1100" b="0" i="0">
                <a:solidFill>
                  <a:srgbClr val="E2E8F0"/>
                </a:solidFill>
                <a:latin typeface="Menlo"/>
              </a:rPr>
              <a:t>    history.append({          # one row per epoch</a:t>
            </a:r>
          </a:p>
          <a:p>
            <a:pPr algn="l">
              <a:lnSpc>
                <a:spcPct val="128000"/>
              </a:lnSpc>
            </a:pPr>
            <a:r>
              <a:rPr sz="1100" b="0" i="0">
                <a:solidFill>
                  <a:srgbClr val="E2E8F0"/>
                </a:solidFill>
                <a:latin typeface="Menlo"/>
              </a:rPr>
              <a:t>        "epoch": epoch,</a:t>
            </a:r>
          </a:p>
          <a:p>
            <a:pPr algn="l">
              <a:lnSpc>
                <a:spcPct val="128000"/>
              </a:lnSpc>
            </a:pPr>
            <a:r>
              <a:rPr sz="1100" b="0" i="0">
                <a:solidFill>
                  <a:srgbClr val="E2E8F0"/>
                </a:solidFill>
                <a:latin typeface="Menlo"/>
              </a:rPr>
              <a:t>        "train_loss": round(tr, 4),</a:t>
            </a:r>
          </a:p>
          <a:p>
            <a:pPr algn="l">
              <a:lnSpc>
                <a:spcPct val="128000"/>
              </a:lnSpc>
            </a:pPr>
            <a:r>
              <a:rPr sz="1100" b="0" i="0">
                <a:solidFill>
                  <a:srgbClr val="E2E8F0"/>
                </a:solidFill>
                <a:latin typeface="Menlo"/>
              </a:rPr>
              <a:t>        "val_loss": round(va, 4),</a:t>
            </a:r>
          </a:p>
          <a:p>
            <a:pPr algn="l">
              <a:lnSpc>
                <a:spcPct val="128000"/>
              </a:lnSpc>
            </a:pPr>
            <a:r>
              <a:rPr sz="1100" b="0" i="0">
                <a:solidFill>
                  <a:srgbClr val="E2E8F0"/>
                </a:solidFill>
                <a:latin typeface="Menlo"/>
              </a:rPr>
              <a:t>        "val_acc": round(acc, 4)})</a:t>
            </a:r>
          </a:p>
          <a:p>
            <a:pPr algn="l">
              <a:lnSpc>
                <a:spcPct val="128000"/>
              </a:lnSpc>
            </a:pPr>
            <a:r>
              <a:rPr sz="1100" b="0" i="0">
                <a:solidFill>
                  <a:srgbClr val="E2E8F0"/>
                </a:solidFill>
                <a:latin typeface="Menlo"/>
              </a:rPr>
              <a:t>    print(history[-1])</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 train loss down, val loss up -&gt; overfitting</a:t>
            </a:r>
          </a:p>
          <a:p>
            <a:pPr algn="l">
              <a:lnSpc>
                <a:spcPct val="128000"/>
              </a:lnSpc>
            </a:pPr>
            <a:r>
              <a:rPr sz="1100" b="0" i="0">
                <a:solidFill>
                  <a:srgbClr val="E2E8F0"/>
                </a:solidFill>
                <a:latin typeface="Menlo"/>
              </a:rPr>
              <a:t># both flat -&gt; learning rate too small</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A log is not bureaucracy: without both train and val curves you cannot tell overfitting from a too-small learning rate from a data problem — you can only guess.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Batch Size and VRAM</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21 / 31</a:t>
            </a:r>
          </a:p>
        </p:txBody>
      </p:sp>
      <p:graphicFrame>
        <p:nvGraphicFramePr>
          <p:cNvPr id="9" name="Table 8"/>
          <p:cNvGraphicFramePr>
            <a:graphicFrameLocks noGrp="1"/>
          </p:cNvGraphicFramePr>
          <p:nvPr/>
        </p:nvGraphicFramePr>
        <p:xfrm>
          <a:off x="799200" y="1152000"/>
          <a:ext cx="10583999" cy="2880000"/>
        </p:xfrm>
        <a:graphic>
          <a:graphicData uri="http://schemas.openxmlformats.org/drawingml/2006/table">
            <a:tbl>
              <a:tblPr firstRow="1" bandRow="1">
                <a:tableStyleId>{5C22544A-7EE6-4342-B048-85BDC9FD1C3A}</a:tableStyleId>
              </a:tblPr>
              <a:tblGrid>
                <a:gridCol w="1944000"/>
                <a:gridCol w="2232000"/>
                <a:gridCol w="3096000"/>
                <a:gridCol w="3311999"/>
              </a:tblGrid>
              <a:tr h="576000">
                <a:tc>
                  <a:txBody>
                    <a:bodyPr/>
                    <a:lstStyle/>
                    <a:p>
                      <a:r>
                        <a:rPr sz="1250" b="1">
                          <a:solidFill>
                            <a:srgbClr val="FFFFFF"/>
                          </a:solidFill>
                          <a:latin typeface="Source Han Sans SC"/>
                        </a:rPr>
                        <a:t>Batch size</a:t>
                      </a:r>
                    </a:p>
                  </a:txBody>
                  <a:tcPr>
                    <a:solidFill>
                      <a:srgbClr val="0E3F8C"/>
                    </a:solidFill>
                  </a:tcPr>
                </a:tc>
                <a:tc>
                  <a:txBody>
                    <a:bodyPr/>
                    <a:lstStyle/>
                    <a:p>
                      <a:r>
                        <a:rPr sz="1250" b="1">
                          <a:solidFill>
                            <a:srgbClr val="FFFFFF"/>
                          </a:solidFill>
                          <a:latin typeface="Source Han Sans SC"/>
                        </a:rPr>
                        <a:t>VRAM</a:t>
                      </a:r>
                    </a:p>
                  </a:txBody>
                  <a:tcPr>
                    <a:solidFill>
                      <a:srgbClr val="0E3F8C"/>
                    </a:solidFill>
                  </a:tcPr>
                </a:tc>
                <a:tc>
                  <a:txBody>
                    <a:bodyPr/>
                    <a:lstStyle/>
                    <a:p>
                      <a:r>
                        <a:rPr sz="1250" b="1">
                          <a:solidFill>
                            <a:srgbClr val="FFFFFF"/>
                          </a:solidFill>
                          <a:latin typeface="Source Han Sans SC"/>
                        </a:rPr>
                        <a:t>Gradient stability</a:t>
                      </a:r>
                    </a:p>
                  </a:txBody>
                  <a:tcPr>
                    <a:solidFill>
                      <a:srgbClr val="0E3F8C"/>
                    </a:solidFill>
                  </a:tcPr>
                </a:tc>
                <a:tc>
                  <a:txBody>
                    <a:bodyPr/>
                    <a:lstStyle/>
                    <a:p>
                      <a:r>
                        <a:rPr sz="1250" b="1">
                          <a:solidFill>
                            <a:srgbClr val="FFFFFF"/>
                          </a:solidFill>
                          <a:latin typeface="Source Han Sans SC"/>
                        </a:rPr>
                        <a:t>Trade-off</a:t>
                      </a:r>
                    </a:p>
                  </a:txBody>
                  <a:tcPr>
                    <a:solidFill>
                      <a:srgbClr val="0E3F8C"/>
                    </a:solidFill>
                  </a:tcPr>
                </a:tc>
              </a:tr>
              <a:tr h="576000">
                <a:tc>
                  <a:txBody>
                    <a:bodyPr/>
                    <a:lstStyle/>
                    <a:p>
                      <a:r>
                        <a:rPr sz="1150" b="1">
                          <a:solidFill>
                            <a:srgbClr val="1F2937"/>
                          </a:solidFill>
                          <a:latin typeface="Source Han Sans SC"/>
                        </a:rPr>
                        <a:t>8 - 32</a:t>
                      </a:r>
                    </a:p>
                  </a:txBody>
                  <a:tcPr>
                    <a:solidFill>
                      <a:srgbClr val="FFFFFF"/>
                    </a:solidFill>
                  </a:tcPr>
                </a:tc>
                <a:tc>
                  <a:txBody>
                    <a:bodyPr/>
                    <a:lstStyle/>
                    <a:p>
                      <a:r>
                        <a:rPr sz="1150" b="0">
                          <a:solidFill>
                            <a:srgbClr val="1F2937"/>
                          </a:solidFill>
                          <a:latin typeface="Source Han Sans SC"/>
                        </a:rPr>
                        <a:t>Low</a:t>
                      </a:r>
                    </a:p>
                  </a:txBody>
                  <a:tcPr>
                    <a:solidFill>
                      <a:srgbClr val="FFFFFF"/>
                    </a:solidFill>
                  </a:tcPr>
                </a:tc>
                <a:tc>
                  <a:txBody>
                    <a:bodyPr/>
                    <a:lstStyle/>
                    <a:p>
                      <a:r>
                        <a:rPr sz="1150" b="0">
                          <a:solidFill>
                            <a:srgbClr val="1F2937"/>
                          </a:solidFill>
                          <a:latin typeface="Source Han Sans SC"/>
                        </a:rPr>
                        <a:t>Noisy; occasionally helps generalisation</a:t>
                      </a:r>
                    </a:p>
                  </a:txBody>
                  <a:tcPr>
                    <a:solidFill>
                      <a:srgbClr val="FFFFFF"/>
                    </a:solidFill>
                  </a:tcPr>
                </a:tc>
                <a:tc>
                  <a:txBody>
                    <a:bodyPr/>
                    <a:lstStyle/>
                    <a:p>
                      <a:r>
                        <a:rPr sz="1150" b="0">
                          <a:solidFill>
                            <a:srgbClr val="1F2937"/>
                          </a:solidFill>
                          <a:latin typeface="Source Han Sans SC"/>
                        </a:rPr>
                        <a:t>Small VRAM or small data; needs a smaller lr</a:t>
                      </a:r>
                    </a:p>
                  </a:txBody>
                  <a:tcPr>
                    <a:solidFill>
                      <a:srgbClr val="FFFFFF"/>
                    </a:solidFill>
                  </a:tcPr>
                </a:tc>
              </a:tr>
              <a:tr h="576000">
                <a:tc>
                  <a:txBody>
                    <a:bodyPr/>
                    <a:lstStyle/>
                    <a:p>
                      <a:r>
                        <a:rPr sz="1150" b="1">
                          <a:solidFill>
                            <a:srgbClr val="1F2937"/>
                          </a:solidFill>
                          <a:latin typeface="Source Han Sans SC"/>
                        </a:rPr>
                        <a:t>64 - 256</a:t>
                      </a:r>
                    </a:p>
                  </a:txBody>
                  <a:tcPr>
                    <a:solidFill>
                      <a:srgbClr val="F0F5FC"/>
                    </a:solidFill>
                  </a:tcPr>
                </a:tc>
                <a:tc>
                  <a:txBody>
                    <a:bodyPr/>
                    <a:lstStyle/>
                    <a:p>
                      <a:r>
                        <a:rPr sz="1150" b="0">
                          <a:solidFill>
                            <a:srgbClr val="1F2937"/>
                          </a:solidFill>
                          <a:latin typeface="Source Han Sans SC"/>
                        </a:rPr>
                        <a:t>Medium</a:t>
                      </a:r>
                    </a:p>
                  </a:txBody>
                  <a:tcPr>
                    <a:solidFill>
                      <a:srgbClr val="F0F5FC"/>
                    </a:solidFill>
                  </a:tcPr>
                </a:tc>
                <a:tc>
                  <a:txBody>
                    <a:bodyPr/>
                    <a:lstStyle/>
                    <a:p>
                      <a:r>
                        <a:rPr sz="1150" b="0">
                          <a:solidFill>
                            <a:srgbClr val="1F2937"/>
                          </a:solidFill>
                          <a:latin typeface="Source Han Sans SC"/>
                        </a:rPr>
                        <a:t>Reasonably stable</a:t>
                      </a:r>
                    </a:p>
                  </a:txBody>
                  <a:tcPr>
                    <a:solidFill>
                      <a:srgbClr val="F0F5FC"/>
                    </a:solidFill>
                  </a:tcPr>
                </a:tc>
                <a:tc>
                  <a:txBody>
                    <a:bodyPr/>
                    <a:lstStyle/>
                    <a:p>
                      <a:r>
                        <a:rPr sz="1150" b="0">
                          <a:solidFill>
                            <a:srgbClr val="1F2937"/>
                          </a:solidFill>
                          <a:latin typeface="Source Han Sans SC"/>
                        </a:rPr>
                        <a:t>The usual default range — start here</a:t>
                      </a:r>
                    </a:p>
                  </a:txBody>
                  <a:tcPr>
                    <a:solidFill>
                      <a:srgbClr val="F0F5FC"/>
                    </a:solidFill>
                  </a:tcPr>
                </a:tc>
              </a:tr>
              <a:tr h="576000">
                <a:tc>
                  <a:txBody>
                    <a:bodyPr/>
                    <a:lstStyle/>
                    <a:p>
                      <a:r>
                        <a:rPr sz="1150" b="1">
                          <a:solidFill>
                            <a:srgbClr val="1F2937"/>
                          </a:solidFill>
                          <a:latin typeface="Source Han Sans SC"/>
                        </a:rPr>
                        <a:t>512+</a:t>
                      </a:r>
                    </a:p>
                  </a:txBody>
                  <a:tcPr>
                    <a:solidFill>
                      <a:srgbClr val="FFFFFF"/>
                    </a:solidFill>
                  </a:tcPr>
                </a:tc>
                <a:tc>
                  <a:txBody>
                    <a:bodyPr/>
                    <a:lstStyle/>
                    <a:p>
                      <a:r>
                        <a:rPr sz="1150" b="0">
                          <a:solidFill>
                            <a:srgbClr val="1F2937"/>
                          </a:solidFill>
                          <a:latin typeface="Source Han Sans SC"/>
                        </a:rPr>
                        <a:t>High</a:t>
                      </a:r>
                    </a:p>
                  </a:txBody>
                  <a:tcPr>
                    <a:solidFill>
                      <a:srgbClr val="FFFFFF"/>
                    </a:solidFill>
                  </a:tcPr>
                </a:tc>
                <a:tc>
                  <a:txBody>
                    <a:bodyPr/>
                    <a:lstStyle/>
                    <a:p>
                      <a:r>
                        <a:rPr sz="1150" b="0">
                          <a:solidFill>
                            <a:srgbClr val="1F2937"/>
                          </a:solidFill>
                          <a:latin typeface="Source Han Sans SC"/>
                        </a:rPr>
                        <a:t>Very stable, but can generalise worse</a:t>
                      </a:r>
                    </a:p>
                  </a:txBody>
                  <a:tcPr>
                    <a:solidFill>
                      <a:srgbClr val="FFFFFF"/>
                    </a:solidFill>
                  </a:tcPr>
                </a:tc>
                <a:tc>
                  <a:txBody>
                    <a:bodyPr/>
                    <a:lstStyle/>
                    <a:p>
                      <a:r>
                        <a:rPr sz="1150" b="0">
                          <a:solidFill>
                            <a:srgbClr val="1F2937"/>
                          </a:solidFill>
                          <a:latin typeface="Source Han Sans SC"/>
                        </a:rPr>
                        <a:t>Needs a larger lr and warmup</a:t>
                      </a:r>
                    </a:p>
                  </a:txBody>
                  <a:tcPr>
                    <a:solidFill>
                      <a:srgbClr val="FFFFFF"/>
                    </a:solidFill>
                  </a:tcPr>
                </a:tc>
              </a:tr>
              <a:tr h="576000">
                <a:tc>
                  <a:txBody>
                    <a:bodyPr/>
                    <a:lstStyle/>
                    <a:p>
                      <a:r>
                        <a:rPr sz="1150" b="1">
                          <a:solidFill>
                            <a:srgbClr val="1F2937"/>
                          </a:solidFill>
                          <a:latin typeface="Source Han Sans SC"/>
                        </a:rPr>
                        <a:t>1 (per-sample)</a:t>
                      </a:r>
                    </a:p>
                  </a:txBody>
                  <a:tcPr>
                    <a:solidFill>
                      <a:srgbClr val="F0F5FC"/>
                    </a:solidFill>
                  </a:tcPr>
                </a:tc>
                <a:tc>
                  <a:txBody>
                    <a:bodyPr/>
                    <a:lstStyle/>
                    <a:p>
                      <a:r>
                        <a:rPr sz="1150" b="0">
                          <a:solidFill>
                            <a:srgbClr val="1F2937"/>
                          </a:solidFill>
                          <a:latin typeface="Source Han Sans SC"/>
                        </a:rPr>
                        <a:t>Lowest, but extremely slow</a:t>
                      </a:r>
                    </a:p>
                  </a:txBody>
                  <a:tcPr>
                    <a:solidFill>
                      <a:srgbClr val="F0F5FC"/>
                    </a:solidFill>
                  </a:tcPr>
                </a:tc>
                <a:tc>
                  <a:txBody>
                    <a:bodyPr/>
                    <a:lstStyle/>
                    <a:p>
                      <a:r>
                        <a:rPr sz="1150" b="0">
                          <a:solidFill>
                            <a:srgbClr val="1F2937"/>
                          </a:solidFill>
                          <a:latin typeface="Source Han Sans SC"/>
                        </a:rPr>
                        <a:t>Extremely noisy</a:t>
                      </a:r>
                    </a:p>
                  </a:txBody>
                  <a:tcPr>
                    <a:solidFill>
                      <a:srgbClr val="F0F5FC"/>
                    </a:solidFill>
                  </a:tcPr>
                </a:tc>
                <a:tc>
                  <a:txBody>
                    <a:bodyPr/>
                    <a:lstStyle/>
                    <a:p>
                      <a:r>
                        <a:rPr sz="1150" b="0">
                          <a:solidFill>
                            <a:srgbClr val="1F2937"/>
                          </a:solidFill>
                          <a:latin typeface="Source Han Sans SC"/>
                        </a:rPr>
                        <a:t>Only for teaching demos or extreme memory limits</a:t>
                      </a:r>
                    </a:p>
                  </a:txBody>
                  <a:tcPr>
                    <a:solidFill>
                      <a:srgbClr val="F0F5FC"/>
                    </a:solidFill>
                  </a:tcPr>
                </a:tc>
              </a:tr>
            </a:tbl>
          </a:graphicData>
        </a:graphic>
      </p:graphicFrame>
      <p:sp>
        <p:nvSpPr>
          <p:cNvPr id="10" name="TextBox 9"/>
          <p:cNvSpPr txBox="1"/>
          <p:nvPr/>
        </p:nvSpPr>
        <p:spPr>
          <a:xfrm>
            <a:off x="799200" y="4176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A useful estimate: VRAM ≈ batch size x per-sample cost + parameters + optimizer state (Adam's state is roughly twice the parameter count, which is why it costs more than SGD). When you double the batch size, you usually scale the learning rate up with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1047600"/>
            <a:ext cx="1238400" cy="12384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0800" y="1314000"/>
            <a:ext cx="601200" cy="712800"/>
          </a:xfrm>
          <a:prstGeom prst="rect">
            <a:avLst/>
          </a:prstGeom>
          <a:noFill/>
        </p:spPr>
        <p:txBody>
          <a:bodyPr wrap="square" anchor="t" lIns="0" rIns="0" tIns="0" bIns="0">
            <a:spAutoFit/>
          </a:bodyPr>
          <a:lstStyle/>
          <a:p>
            <a:pPr algn="ctr">
              <a:lnSpc>
                <a:spcPct val="125000"/>
              </a:lnSpc>
            </a:pPr>
            <a:r>
              <a:rPr sz="3200" b="1" i="0">
                <a:solidFill>
                  <a:srgbClr val="FFFFFF"/>
                </a:solidFill>
                <a:latin typeface="Source Han Sans SC"/>
              </a:rPr>
              <a:t>05</a:t>
            </a:r>
          </a:p>
        </p:txBody>
      </p:sp>
      <p:sp>
        <p:nvSpPr>
          <p:cNvPr id="7" name="TextBox 6"/>
          <p:cNvSpPr txBox="1"/>
          <p:nvPr/>
        </p:nvSpPr>
        <p:spPr>
          <a:xfrm>
            <a:off x="2379600" y="1105200"/>
            <a:ext cx="5040000" cy="612000"/>
          </a:xfrm>
          <a:prstGeom prst="rect">
            <a:avLst/>
          </a:prstGeom>
          <a:noFill/>
        </p:spPr>
        <p:txBody>
          <a:bodyPr wrap="square" anchor="t" lIns="0" rIns="0" tIns="0" bIns="0">
            <a:spAutoFit/>
          </a:bodyPr>
          <a:lstStyle/>
          <a:p>
            <a:pPr algn="l">
              <a:lnSpc>
                <a:spcPct val="125000"/>
              </a:lnSpc>
            </a:pPr>
            <a:r>
              <a:rPr sz="3000" b="1" i="0">
                <a:solidFill>
                  <a:srgbClr val="0E3F8C"/>
                </a:solidFill>
                <a:latin typeface="Source Han Sans SC"/>
              </a:rPr>
              <a:t>Lab · Optimizers × Learning Rates</a:t>
            </a:r>
          </a:p>
        </p:txBody>
      </p:sp>
      <p:sp>
        <p:nvSpPr>
          <p:cNvPr id="8" name="TextBox 7"/>
          <p:cNvSpPr txBox="1"/>
          <p:nvPr/>
        </p:nvSpPr>
        <p:spPr>
          <a:xfrm>
            <a:off x="2379600" y="1666800"/>
            <a:ext cx="5040000" cy="306000"/>
          </a:xfrm>
          <a:prstGeom prst="rect">
            <a:avLst/>
          </a:prstGeom>
          <a:noFill/>
        </p:spPr>
        <p:txBody>
          <a:bodyPr wrap="square" anchor="t" lIns="0" rIns="0" tIns="0" bIns="0">
            <a:spAutoFit/>
          </a:bodyPr>
          <a:lstStyle/>
          <a:p>
            <a:pPr algn="l">
              <a:lnSpc>
                <a:spcPct val="125000"/>
              </a:lnSpc>
            </a:pPr>
            <a:r>
              <a:rPr sz="1500" b="0" i="0">
                <a:solidFill>
                  <a:srgbClr val="3D7BD9"/>
                </a:solidFill>
                <a:latin typeface="Source Han Sans SC"/>
              </a:rPr>
              <a:t>Hands-on: a 3 x 3 controlled experiment</a:t>
            </a:r>
          </a:p>
        </p:txBody>
      </p:sp>
      <p:sp>
        <p:nvSpPr>
          <p:cNvPr id="9" name="TextBox 8"/>
          <p:cNvSpPr txBox="1"/>
          <p:nvPr/>
        </p:nvSpPr>
        <p:spPr>
          <a:xfrm>
            <a:off x="799200" y="2736000"/>
            <a:ext cx="8640000" cy="1515597"/>
          </a:xfrm>
          <a:prstGeom prst="rect">
            <a:avLst/>
          </a:prstGeom>
          <a:noFill/>
        </p:spPr>
        <p:txBody>
          <a:bodyPr wrap="square" anchor="t" lIns="0" rIns="0" tIns="0" bIns="0">
            <a:spAutoFit/>
          </a:bodyPr>
          <a:lstStyle/>
          <a:p>
            <a:pPr algn="l">
              <a:lnSpc>
                <a:spcPct val="150000"/>
              </a:lnSpc>
            </a:pPr>
            <a:r>
              <a:rPr sz="1500" b="0" i="0">
                <a:solidFill>
                  <a:srgbClr val="1F2937"/>
                </a:solidFill>
                <a:latin typeface="Source Han Sans SC"/>
              </a:rPr>
              <a:t>80 minutes for a real controlled experiment: 3 optimizers x 3 learning rates = 9 runs,
then answer a question that must be backed by data — which combination wins, and why.</a:t>
            </a:r>
          </a:p>
        </p:txBody>
      </p:sp>
      <p:sp>
        <p:nvSpPr>
          <p:cNvPr id="10" name="Rectangle 9"/>
          <p:cNvSpPr/>
          <p:nvPr/>
        </p:nvSpPr>
        <p:spPr>
          <a:xfrm>
            <a:off x="79920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9920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800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9 Runs</a:t>
            </a:r>
          </a:p>
        </p:txBody>
      </p:sp>
      <p:sp>
        <p:nvSpPr>
          <p:cNvPr id="13" name="TextBox 12"/>
          <p:cNvSpPr txBox="1"/>
          <p:nvPr/>
        </p:nvSpPr>
        <p:spPr>
          <a:xfrm>
            <a:off x="100800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One variable at a time</a:t>
            </a:r>
          </a:p>
        </p:txBody>
      </p:sp>
      <p:sp>
        <p:nvSpPr>
          <p:cNvPr id="14" name="Rectangle 13"/>
          <p:cNvSpPr/>
          <p:nvPr/>
        </p:nvSpPr>
        <p:spPr>
          <a:xfrm>
            <a:off x="4406040"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6040"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14840"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Plot It</a:t>
            </a:r>
          </a:p>
        </p:txBody>
      </p:sp>
      <p:sp>
        <p:nvSpPr>
          <p:cNvPr id="17" name="TextBox 16"/>
          <p:cNvSpPr txBox="1"/>
          <p:nvPr/>
        </p:nvSpPr>
        <p:spPr>
          <a:xfrm>
            <a:off x="4614840"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Loss + accuracy</a:t>
            </a:r>
          </a:p>
        </p:txBody>
      </p:sp>
      <p:sp>
        <p:nvSpPr>
          <p:cNvPr id="18" name="Rectangle 17"/>
          <p:cNvSpPr/>
          <p:nvPr/>
        </p:nvSpPr>
        <p:spPr>
          <a:xfrm>
            <a:off x="8012879" y="5000400"/>
            <a:ext cx="3380039" cy="810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12879" y="5000400"/>
            <a:ext cx="3380039" cy="252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21679" y="5173200"/>
            <a:ext cx="2962439" cy="255600"/>
          </a:xfrm>
          <a:prstGeom prst="rect">
            <a:avLst/>
          </a:prstGeom>
          <a:noFill/>
        </p:spPr>
        <p:txBody>
          <a:bodyPr wrap="square" anchor="t" lIns="0" rIns="0" tIns="0" bIns="0">
            <a:spAutoFit/>
          </a:bodyPr>
          <a:lstStyle/>
          <a:p>
            <a:pPr algn="l">
              <a:lnSpc>
                <a:spcPct val="125000"/>
              </a:lnSpc>
            </a:pPr>
            <a:r>
              <a:rPr sz="1500" b="1" i="0">
                <a:solidFill>
                  <a:srgbClr val="0E3F8C"/>
                </a:solidFill>
                <a:latin typeface="Source Han Sans SC"/>
              </a:rPr>
              <a:t>Justify It</a:t>
            </a:r>
          </a:p>
        </p:txBody>
      </p:sp>
      <p:sp>
        <p:nvSpPr>
          <p:cNvPr id="21" name="TextBox 20"/>
          <p:cNvSpPr txBox="1"/>
          <p:nvPr/>
        </p:nvSpPr>
        <p:spPr>
          <a:xfrm>
            <a:off x="8221679" y="5468400"/>
            <a:ext cx="2962439" cy="172800"/>
          </a:xfrm>
          <a:prstGeom prst="rect">
            <a:avLst/>
          </a:prstGeom>
          <a:noFill/>
        </p:spPr>
        <p:txBody>
          <a:bodyPr wrap="square" anchor="t" lIns="0" rIns="0" tIns="0" bIns="0">
            <a:spAutoFit/>
          </a:bodyPr>
          <a:lstStyle/>
          <a:p>
            <a:pPr algn="l">
              <a:lnSpc>
                <a:spcPct val="125000"/>
              </a:lnSpc>
            </a:pPr>
            <a:r>
              <a:rPr sz="1100" b="0" i="0">
                <a:solidFill>
                  <a:srgbClr val="6B7280"/>
                </a:solidFill>
                <a:latin typeface="Source Han Sans SC"/>
              </a:rPr>
              <a:t>The winner needs an argument</a:t>
            </a:r>
          </a:p>
        </p:txBody>
      </p:sp>
      <p:sp>
        <p:nvSpPr>
          <p:cNvPr id="22" name="TextBox 21"/>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23" name="TextBox 22"/>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The Four Tasks of Lab 4</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23 / 31</a:t>
            </a:r>
          </a:p>
        </p:txBody>
      </p:sp>
      <p:sp>
        <p:nvSpPr>
          <p:cNvPr id="9" name="Rectangle 8"/>
          <p:cNvSpPr/>
          <p:nvPr/>
        </p:nvSpPr>
        <p:spPr>
          <a:xfrm>
            <a:off x="799200" y="1296000"/>
            <a:ext cx="5188859" cy="23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37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83200"/>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A · The 3 x 3 grid</a:t>
            </a:r>
          </a:p>
        </p:txBody>
      </p:sp>
      <p:sp>
        <p:nvSpPr>
          <p:cNvPr id="12" name="TextBox 11"/>
          <p:cNvSpPr txBox="1"/>
          <p:nvPr/>
        </p:nvSpPr>
        <p:spPr>
          <a:xfrm>
            <a:off x="1022400" y="1713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9 runs, one variable at a time</a:t>
            </a:r>
          </a:p>
        </p:txBody>
      </p:sp>
      <p:sp>
        <p:nvSpPr>
          <p:cNvPr id="13" name="TextBox 12"/>
          <p:cNvSpPr txBox="1"/>
          <p:nvPr/>
        </p:nvSpPr>
        <p:spPr>
          <a:xfrm>
            <a:off x="1022400" y="1915200"/>
            <a:ext cx="474245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3 optimizers: SGD / SGD+momentum / Adam</a:t>
            </a:r>
          </a:p>
          <a:p>
            <a:pPr algn="l">
              <a:lnSpc>
                <a:spcPct val="140000"/>
              </a:lnSpc>
              <a:spcAft>
                <a:spcPts val="400"/>
              </a:spcAft>
            </a:pPr>
            <a:r>
              <a:rPr sz="1200" b="0" i="0">
                <a:solidFill>
                  <a:srgbClr val="1F2937"/>
                </a:solidFill>
                <a:latin typeface="Source Han Sans SC"/>
              </a:rPr>
              <a:t>• 3 learning rates: 1e-1 / 1e-3 / 1e-5</a:t>
            </a:r>
          </a:p>
          <a:p>
            <a:pPr algn="l">
              <a:lnSpc>
                <a:spcPct val="140000"/>
              </a:lnSpc>
              <a:spcAft>
                <a:spcPts val="400"/>
              </a:spcAft>
            </a:pPr>
            <a:r>
              <a:rPr sz="1200" b="0" i="0">
                <a:solidFill>
                  <a:srgbClr val="1F2937"/>
                </a:solidFill>
                <a:latin typeface="Source Han Sans SC"/>
              </a:rPr>
              <a:t>• Same network, same split, same seed</a:t>
            </a:r>
          </a:p>
          <a:p>
            <a:pPr algn="l">
              <a:lnSpc>
                <a:spcPct val="140000"/>
              </a:lnSpc>
              <a:spcAft>
                <a:spcPts val="400"/>
              </a:spcAft>
            </a:pPr>
            <a:r>
              <a:rPr sz="1200" b="0" i="0">
                <a:solidFill>
                  <a:srgbClr val="1F2937"/>
                </a:solidFill>
                <a:latin typeface="Source Han Sans SC"/>
              </a:rPr>
              <a:t>• Rebuild the model each run; log train/val metrics</a:t>
            </a:r>
          </a:p>
        </p:txBody>
      </p:sp>
      <p:sp>
        <p:nvSpPr>
          <p:cNvPr id="14" name="Rectangle 13"/>
          <p:cNvSpPr/>
          <p:nvPr/>
        </p:nvSpPr>
        <p:spPr>
          <a:xfrm>
            <a:off x="6204059" y="1296000"/>
            <a:ext cx="5188859" cy="23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04059" y="1296000"/>
            <a:ext cx="32400" cy="237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27259" y="1483200"/>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B · Plot the curves</a:t>
            </a:r>
          </a:p>
        </p:txBody>
      </p:sp>
      <p:sp>
        <p:nvSpPr>
          <p:cNvPr id="17" name="TextBox 16"/>
          <p:cNvSpPr txBox="1"/>
          <p:nvPr/>
        </p:nvSpPr>
        <p:spPr>
          <a:xfrm>
            <a:off x="6427259" y="1713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loss and accuracy, every run</a:t>
            </a:r>
          </a:p>
        </p:txBody>
      </p:sp>
      <p:sp>
        <p:nvSpPr>
          <p:cNvPr id="18" name="TextBox 17"/>
          <p:cNvSpPr txBox="1"/>
          <p:nvPr/>
        </p:nvSpPr>
        <p:spPr>
          <a:xfrm>
            <a:off x="6427259" y="1915200"/>
            <a:ext cx="474245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One curve per combo, legend names optimizer and lr</a:t>
            </a:r>
          </a:p>
          <a:p>
            <a:pPr algn="l">
              <a:lnSpc>
                <a:spcPct val="140000"/>
              </a:lnSpc>
              <a:spcAft>
                <a:spcPts val="400"/>
              </a:spcAft>
            </a:pPr>
            <a:r>
              <a:rPr sz="1200" b="0" i="0">
                <a:solidFill>
                  <a:srgbClr val="1F2937"/>
                </a:solidFill>
                <a:latin typeface="Source Han Sans SC"/>
              </a:rPr>
              <a:t>• The loss curve shows speed and stability</a:t>
            </a:r>
          </a:p>
          <a:p>
            <a:pPr algn="l">
              <a:lnSpc>
                <a:spcPct val="140000"/>
              </a:lnSpc>
              <a:spcAft>
                <a:spcPts val="400"/>
              </a:spcAft>
            </a:pPr>
            <a:r>
              <a:rPr sz="1200" b="0" i="0">
                <a:solidFill>
                  <a:srgbClr val="1F2937"/>
                </a:solidFill>
                <a:latin typeface="Source Han Sans SC"/>
              </a:rPr>
              <a:t>• The accuracy curve shows final quality and jitter</a:t>
            </a:r>
          </a:p>
          <a:p>
            <a:pPr algn="l">
              <a:lnSpc>
                <a:spcPct val="140000"/>
              </a:lnSpc>
              <a:spcAft>
                <a:spcPts val="400"/>
              </a:spcAft>
            </a:pPr>
            <a:r>
              <a:rPr sz="1200" b="0" i="0">
                <a:solidFill>
                  <a:srgbClr val="1F2937"/>
                </a:solidFill>
                <a:latin typeface="Source Han Sans SC"/>
              </a:rPr>
              <a:t>• Plot at least one chart with 3 curves on shared axes</a:t>
            </a:r>
          </a:p>
        </p:txBody>
      </p:sp>
      <p:sp>
        <p:nvSpPr>
          <p:cNvPr id="19" name="Rectangle 18"/>
          <p:cNvSpPr/>
          <p:nvPr/>
        </p:nvSpPr>
        <p:spPr>
          <a:xfrm>
            <a:off x="799200" y="3887999"/>
            <a:ext cx="5188859" cy="23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799200" y="3887999"/>
            <a:ext cx="32400" cy="237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2400" y="4075199"/>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C · Name the winner and argue it</a:t>
            </a:r>
          </a:p>
        </p:txBody>
      </p:sp>
      <p:sp>
        <p:nvSpPr>
          <p:cNvPr id="22" name="TextBox 21"/>
          <p:cNvSpPr txBox="1"/>
          <p:nvPr/>
        </p:nvSpPr>
        <p:spPr>
          <a:xfrm>
            <a:off x="1022400" y="4305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data, not preference</a:t>
            </a:r>
          </a:p>
        </p:txBody>
      </p:sp>
      <p:sp>
        <p:nvSpPr>
          <p:cNvPr id="23" name="TextBox 22"/>
          <p:cNvSpPr txBox="1"/>
          <p:nvPr/>
        </p:nvSpPr>
        <p:spPr>
          <a:xfrm>
            <a:off x="1022400" y="4507200"/>
            <a:ext cx="474245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State the best combo (optimizer + learning rate)</a:t>
            </a:r>
          </a:p>
          <a:p>
            <a:pPr algn="l">
              <a:lnSpc>
                <a:spcPct val="140000"/>
              </a:lnSpc>
              <a:spcAft>
                <a:spcPts val="400"/>
              </a:spcAft>
            </a:pPr>
            <a:r>
              <a:rPr sz="1200" b="0" i="0">
                <a:solidFill>
                  <a:srgbClr val="1F2937"/>
                </a:solidFill>
                <a:latin typeface="Source Han Sans SC"/>
              </a:rPr>
              <a:t>• Back it with val metrics: lowest loss, highest accuracy</a:t>
            </a:r>
          </a:p>
          <a:p>
            <a:pPr algn="l">
              <a:lnSpc>
                <a:spcPct val="140000"/>
              </a:lnSpc>
              <a:spcAft>
                <a:spcPts val="400"/>
              </a:spcAft>
            </a:pPr>
            <a:r>
              <a:rPr sz="1200" b="0" i="0">
                <a:solidFill>
                  <a:srgbClr val="1F2937"/>
                </a:solidFill>
                <a:latin typeface="Source Han Sans SC"/>
              </a:rPr>
              <a:t>• Explain why it wins: adaptive step? momentum? the right size?</a:t>
            </a:r>
          </a:p>
          <a:p>
            <a:pPr algn="l">
              <a:lnSpc>
                <a:spcPct val="140000"/>
              </a:lnSpc>
              <a:spcAft>
                <a:spcPts val="400"/>
              </a:spcAft>
            </a:pPr>
            <a:r>
              <a:rPr sz="1200" b="0" i="0">
                <a:solidFill>
                  <a:srgbClr val="1F2937"/>
                </a:solidFill>
                <a:latin typeface="Source Han Sans SC"/>
              </a:rPr>
              <a:t>• Name the failing combos and their symptom (explode / crawl)</a:t>
            </a:r>
          </a:p>
        </p:txBody>
      </p:sp>
      <p:sp>
        <p:nvSpPr>
          <p:cNvPr id="24" name="Rectangle 23"/>
          <p:cNvSpPr/>
          <p:nvPr/>
        </p:nvSpPr>
        <p:spPr>
          <a:xfrm>
            <a:off x="6204059" y="3887999"/>
            <a:ext cx="5188859" cy="23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04059" y="3887999"/>
            <a:ext cx="32400" cy="2376000"/>
          </a:xfrm>
          <a:prstGeom prst="rect">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27259" y="4075199"/>
            <a:ext cx="474245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D · One debugging log</a:t>
            </a:r>
          </a:p>
        </p:txBody>
      </p:sp>
      <p:sp>
        <p:nvSpPr>
          <p:cNvPr id="27" name="TextBox 26"/>
          <p:cNvSpPr txBox="1"/>
          <p:nvPr/>
        </p:nvSpPr>
        <p:spPr>
          <a:xfrm>
            <a:off x="6427259" y="4305600"/>
            <a:ext cx="474245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hypothesis → test → conclusion</a:t>
            </a:r>
          </a:p>
        </p:txBody>
      </p:sp>
      <p:sp>
        <p:nvSpPr>
          <p:cNvPr id="28" name="TextBox 27"/>
          <p:cNvSpPr txBox="1"/>
          <p:nvPr/>
        </p:nvSpPr>
        <p:spPr>
          <a:xfrm>
            <a:off x="6427259" y="4507200"/>
            <a:ext cx="474245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Pick a failing combo and start by checking the lr</a:t>
            </a:r>
          </a:p>
          <a:p>
            <a:pPr algn="l">
              <a:lnSpc>
                <a:spcPct val="140000"/>
              </a:lnSpc>
              <a:spcAft>
                <a:spcPts val="400"/>
              </a:spcAft>
            </a:pPr>
            <a:r>
              <a:rPr sz="1200" b="0" i="0">
                <a:solidFill>
                  <a:srgbClr val="1F2937"/>
                </a:solidFill>
                <a:latin typeface="Source Han Sans SC"/>
              </a:rPr>
              <a:t>• Then data (labels, scaling, split) and code (step order)</a:t>
            </a:r>
          </a:p>
          <a:p>
            <a:pPr algn="l">
              <a:lnSpc>
                <a:spcPct val="140000"/>
              </a:lnSpc>
              <a:spcAft>
                <a:spcPts val="400"/>
              </a:spcAft>
            </a:pPr>
            <a:r>
              <a:rPr sz="1200" b="0" i="0">
                <a:solidFill>
                  <a:srgbClr val="1F2937"/>
                </a:solidFill>
                <a:latin typeface="Source Han Sans SC"/>
              </a:rPr>
              <a:t>• Record each hypothesis, how you tested it, the conclusion</a:t>
            </a:r>
          </a:p>
          <a:p>
            <a:pPr algn="l">
              <a:lnSpc>
                <a:spcPct val="140000"/>
              </a:lnSpc>
              <a:spcAft>
                <a:spcPts val="400"/>
              </a:spcAft>
            </a:pPr>
            <a:r>
              <a:rPr sz="1200" b="0" i="0">
                <a:solidFill>
                  <a:srgbClr val="1F2937"/>
                </a:solidFill>
                <a:latin typeface="Source Han Sans SC"/>
              </a:rPr>
              <a:t>• Deliver: script + table + curves + debugging log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3 Optimizers x 3 Learning Rates: Illustrative Val-loss Curves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24 / 31</a:t>
            </a:r>
          </a:p>
        </p:txBody>
      </p:sp>
      <p:graphicFrame>
        <p:nvGraphicFramePr>
          <p:cNvPr id="9" name="Chart 8"/>
          <p:cNvGraphicFramePr>
            <a:graphicFrameLocks noGrp="1"/>
          </p:cNvGraphicFramePr>
          <p:nvPr/>
        </p:nvGraphicFramePr>
        <p:xfrm>
          <a:off x="799200" y="1152000"/>
          <a:ext cx="6840000" cy="4320000"/>
        </p:xfrm>
        <a:graphic>
          <a:graphicData uri="http://schemas.openxmlformats.org/drawingml/2006/chart">
            <c:chart xmlns:c="http://schemas.openxmlformats.org/drawingml/2006/chart" r:id="rId2"/>
          </a:graphicData>
        </a:graphic>
      </p:graphicFrame>
      <p:sp>
        <p:nvSpPr>
          <p:cNvPr id="10" name="TextBox 9"/>
          <p:cNvSpPr txBox="1"/>
          <p:nvPr/>
        </p:nvSpPr>
        <p:spPr>
          <a:xfrm>
            <a:off x="7963199" y="1259999"/>
            <a:ext cx="3429720" cy="3240000"/>
          </a:xfrm>
          <a:prstGeom prst="rect">
            <a:avLst/>
          </a:prstGeom>
          <a:noFill/>
        </p:spPr>
        <p:txBody>
          <a:bodyPr wrap="square" anchor="t" lIns="0" rIns="0" tIns="0" bIns="0">
            <a:spAutoFit/>
          </a:bodyPr>
          <a:lstStyle/>
          <a:p>
            <a:pPr algn="l">
              <a:lnSpc>
                <a:spcPct val="145000"/>
              </a:lnSpc>
              <a:spcAft>
                <a:spcPts val="800"/>
              </a:spcAft>
            </a:pPr>
            <a:r>
              <a:rPr sz="1250" b="0" i="0">
                <a:solidFill>
                  <a:srgbClr val="1F2937"/>
                </a:solidFill>
                <a:latin typeface="Source Han Sans SC"/>
              </a:rPr>
              <a:t>• At 1e-1 no optimizer converges → the lr dominates everything else</a:t>
            </a:r>
          </a:p>
          <a:p>
            <a:pPr algn="l">
              <a:lnSpc>
                <a:spcPct val="145000"/>
              </a:lnSpc>
              <a:spcAft>
                <a:spcPts val="800"/>
              </a:spcAft>
            </a:pPr>
            <a:r>
              <a:rPr sz="1250" b="0" i="0">
                <a:solidFill>
                  <a:srgbClr val="1F2937"/>
                </a:solidFill>
                <a:latin typeface="Source Han Sans SC"/>
              </a:rPr>
              <a:t>• At the same lr=1e-3 Adam is clearly faster than SGD → adaptive steps at work</a:t>
            </a:r>
          </a:p>
          <a:p>
            <a:pPr algn="l">
              <a:lnSpc>
                <a:spcPct val="145000"/>
              </a:lnSpc>
              <a:spcAft>
                <a:spcPts val="800"/>
              </a:spcAft>
            </a:pPr>
            <a:r>
              <a:rPr sz="1250" b="0" i="0">
                <a:solidFill>
                  <a:srgbClr val="1F2937"/>
                </a:solidFill>
                <a:latin typeface="Source Han Sans SC"/>
              </a:rPr>
              <a:t>• Momentum sits between them → inertia accelerates, it does not rescale</a:t>
            </a:r>
          </a:p>
          <a:p>
            <a:pPr algn="l">
              <a:lnSpc>
                <a:spcPct val="145000"/>
              </a:lnSpc>
              <a:spcAft>
                <a:spcPts val="800"/>
              </a:spcAft>
            </a:pPr>
            <a:r>
              <a:rPr sz="1250" b="0" i="0">
                <a:solidFill>
                  <a:srgbClr val="1F2937"/>
                </a:solidFill>
                <a:latin typeface="Source Han Sans SC"/>
              </a:rPr>
              <a:t>• These numbers are illustrative only; your own 9 runs are the evidence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Hyper-parameter Comparison Table (9 runs, to be filled in)</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25 / 31</a:t>
            </a:r>
          </a:p>
        </p:txBody>
      </p:sp>
      <p:graphicFrame>
        <p:nvGraphicFramePr>
          <p:cNvPr id="9" name="Table 8"/>
          <p:cNvGraphicFramePr>
            <a:graphicFrameLocks noGrp="1"/>
          </p:cNvGraphicFramePr>
          <p:nvPr/>
        </p:nvGraphicFramePr>
        <p:xfrm>
          <a:off x="799200" y="1152000"/>
          <a:ext cx="10584000" cy="3960000"/>
        </p:xfrm>
        <a:graphic>
          <a:graphicData uri="http://schemas.openxmlformats.org/drawingml/2006/table">
            <a:tbl>
              <a:tblPr firstRow="1" bandRow="1">
                <a:tableStyleId>{5C22544A-7EE6-4342-B048-85BDC9FD1C3A}</a:tableStyleId>
              </a:tblPr>
              <a:tblGrid>
                <a:gridCol w="1152000"/>
                <a:gridCol w="2088000"/>
                <a:gridCol w="1296000"/>
                <a:gridCol w="1944000"/>
                <a:gridCol w="1872000"/>
                <a:gridCol w="2232000"/>
              </a:tblGrid>
              <a:tr h="396000">
                <a:tc>
                  <a:txBody>
                    <a:bodyPr/>
                    <a:lstStyle/>
                    <a:p>
                      <a:r>
                        <a:rPr sz="1150" b="1">
                          <a:solidFill>
                            <a:srgbClr val="FFFFFF"/>
                          </a:solidFill>
                          <a:latin typeface="Source Han Sans SC"/>
                        </a:rPr>
                        <a:t>#</a:t>
                      </a:r>
                    </a:p>
                  </a:txBody>
                  <a:tcPr>
                    <a:solidFill>
                      <a:srgbClr val="0E3F8C"/>
                    </a:solidFill>
                  </a:tcPr>
                </a:tc>
                <a:tc>
                  <a:txBody>
                    <a:bodyPr/>
                    <a:lstStyle/>
                    <a:p>
                      <a:r>
                        <a:rPr sz="1150" b="1">
                          <a:solidFill>
                            <a:srgbClr val="FFFFFF"/>
                          </a:solidFill>
                          <a:latin typeface="Source Han Sans SC"/>
                        </a:rPr>
                        <a:t>Optimizer</a:t>
                      </a:r>
                    </a:p>
                  </a:txBody>
                  <a:tcPr>
                    <a:solidFill>
                      <a:srgbClr val="0E3F8C"/>
                    </a:solidFill>
                  </a:tcPr>
                </a:tc>
                <a:tc>
                  <a:txBody>
                    <a:bodyPr/>
                    <a:lstStyle/>
                    <a:p>
                      <a:r>
                        <a:rPr sz="1150" b="1">
                          <a:solidFill>
                            <a:srgbClr val="FFFFFF"/>
                          </a:solidFill>
                          <a:latin typeface="Source Han Sans SC"/>
                        </a:rPr>
                        <a:t>lr</a:t>
                      </a:r>
                    </a:p>
                  </a:txBody>
                  <a:tcPr>
                    <a:solidFill>
                      <a:srgbClr val="0E3F8C"/>
                    </a:solidFill>
                  </a:tcPr>
                </a:tc>
                <a:tc>
                  <a:txBody>
                    <a:bodyPr/>
                    <a:lstStyle/>
                    <a:p>
                      <a:r>
                        <a:rPr sz="1150" b="1">
                          <a:solidFill>
                            <a:srgbClr val="FFFFFF"/>
                          </a:solidFill>
                          <a:latin typeface="Source Han Sans SC"/>
                        </a:rPr>
                        <a:t>Min val loss</a:t>
                      </a:r>
                    </a:p>
                  </a:txBody>
                  <a:tcPr>
                    <a:solidFill>
                      <a:srgbClr val="0E3F8C"/>
                    </a:solidFill>
                  </a:tcPr>
                </a:tc>
                <a:tc>
                  <a:txBody>
                    <a:bodyPr/>
                    <a:lstStyle/>
                    <a:p>
                      <a:r>
                        <a:rPr sz="1150" b="1">
                          <a:solidFill>
                            <a:srgbClr val="FFFFFF"/>
                          </a:solidFill>
                          <a:latin typeface="Source Han Sans SC"/>
                        </a:rPr>
                        <a:t>Max val acc</a:t>
                      </a:r>
                    </a:p>
                  </a:txBody>
                  <a:tcPr>
                    <a:solidFill>
                      <a:srgbClr val="0E3F8C"/>
                    </a:solidFill>
                  </a:tcPr>
                </a:tc>
                <a:tc>
                  <a:txBody>
                    <a:bodyPr/>
                    <a:lstStyle/>
                    <a:p>
                      <a:r>
                        <a:rPr sz="1150" b="1">
                          <a:solidFill>
                            <a:srgbClr val="FFFFFF"/>
                          </a:solidFill>
                          <a:latin typeface="Source Han Sans SC"/>
                        </a:rPr>
                        <a:t>Converged?</a:t>
                      </a:r>
                    </a:p>
                  </a:txBody>
                  <a:tcPr>
                    <a:solidFill>
                      <a:srgbClr val="0E3F8C"/>
                    </a:solidFill>
                  </a:tcPr>
                </a:tc>
              </a:tr>
              <a:tr h="396000">
                <a:tc>
                  <a:txBody>
                    <a:bodyPr/>
                    <a:lstStyle/>
                    <a:p>
                      <a:r>
                        <a:rPr sz="1050" b="1">
                          <a:solidFill>
                            <a:srgbClr val="1F2937"/>
                          </a:solidFill>
                          <a:latin typeface="Source Han Sans SC"/>
                        </a:rPr>
                        <a:t>1</a:t>
                      </a:r>
                    </a:p>
                  </a:txBody>
                  <a:tcPr>
                    <a:solidFill>
                      <a:srgbClr val="FFFFFF"/>
                    </a:solidFill>
                  </a:tcPr>
                </a:tc>
                <a:tc>
                  <a:txBody>
                    <a:bodyPr/>
                    <a:lstStyle/>
                    <a:p>
                      <a:r>
                        <a:rPr sz="1050" b="0">
                          <a:solidFill>
                            <a:srgbClr val="1F2937"/>
                          </a:solidFill>
                          <a:latin typeface="Source Han Sans SC"/>
                        </a:rPr>
                        <a:t>SGD</a:t>
                      </a:r>
                    </a:p>
                  </a:txBody>
                  <a:tcPr>
                    <a:solidFill>
                      <a:srgbClr val="FFFFFF"/>
                    </a:solidFill>
                  </a:tcPr>
                </a:tc>
                <a:tc>
                  <a:txBody>
                    <a:bodyPr/>
                    <a:lstStyle/>
                    <a:p>
                      <a:r>
                        <a:rPr sz="1050" b="0">
                          <a:solidFill>
                            <a:srgbClr val="1F2937"/>
                          </a:solidFill>
                          <a:latin typeface="Source Han Sans SC"/>
                        </a:rPr>
                        <a:t>1e-1</a:t>
                      </a:r>
                    </a:p>
                  </a:txBody>
                  <a:tcPr>
                    <a:solidFill>
                      <a:srgbClr val="FFFFFF"/>
                    </a:solidFill>
                  </a:tcPr>
                </a:tc>
                <a:tc>
                  <a:txBody>
                    <a:bodyPr/>
                    <a:lstStyle/>
                    <a:p>
                      <a:r>
                        <a:rPr sz="1050" b="0">
                          <a:solidFill>
                            <a:srgbClr val="1F2937"/>
                          </a:solidFill>
                          <a:latin typeface="Source Han Sans SC"/>
                        </a:rPr>
                        <a:t>2.31 (diverged)</a:t>
                      </a:r>
                    </a:p>
                  </a:txBody>
                  <a:tcPr>
                    <a:solidFill>
                      <a:srgbClr val="FFFFFF"/>
                    </a:solidFill>
                  </a:tcPr>
                </a:tc>
                <a:tc>
                  <a:txBody>
                    <a:bodyPr/>
                    <a:lstStyle/>
                    <a:p>
                      <a:r>
                        <a:rPr sz="1050" b="0">
                          <a:solidFill>
                            <a:srgbClr val="1F2937"/>
                          </a:solidFill>
                          <a:latin typeface="Source Han Sans SC"/>
                        </a:rPr>
                        <a:t>0.10</a:t>
                      </a:r>
                    </a:p>
                  </a:txBody>
                  <a:tcPr>
                    <a:solidFill>
                      <a:srgbClr val="FFFFFF"/>
                    </a:solidFill>
                  </a:tcPr>
                </a:tc>
                <a:tc>
                  <a:txBody>
                    <a:bodyPr/>
                    <a:lstStyle/>
                    <a:p>
                      <a:r>
                        <a:rPr sz="1050" b="0">
                          <a:solidFill>
                            <a:srgbClr val="1F2937"/>
                          </a:solidFill>
                          <a:latin typeface="Source Han Sans SC"/>
                        </a:rPr>
                        <a:t>No</a:t>
                      </a:r>
                    </a:p>
                  </a:txBody>
                  <a:tcPr>
                    <a:solidFill>
                      <a:srgbClr val="FFFFFF"/>
                    </a:solidFill>
                  </a:tcPr>
                </a:tc>
              </a:tr>
              <a:tr h="396000">
                <a:tc>
                  <a:txBody>
                    <a:bodyPr/>
                    <a:lstStyle/>
                    <a:p>
                      <a:r>
                        <a:rPr sz="1050" b="1">
                          <a:solidFill>
                            <a:srgbClr val="1F2937"/>
                          </a:solidFill>
                          <a:latin typeface="Source Han Sans SC"/>
                        </a:rPr>
                        <a:t>2</a:t>
                      </a:r>
                    </a:p>
                  </a:txBody>
                  <a:tcPr>
                    <a:solidFill>
                      <a:srgbClr val="F0F5FC"/>
                    </a:solidFill>
                  </a:tcPr>
                </a:tc>
                <a:tc>
                  <a:txBody>
                    <a:bodyPr/>
                    <a:lstStyle/>
                    <a:p>
                      <a:r>
                        <a:rPr sz="1050" b="0">
                          <a:solidFill>
                            <a:srgbClr val="1F2937"/>
                          </a:solidFill>
                          <a:latin typeface="Source Han Sans SC"/>
                        </a:rPr>
                        <a:t>SGD</a:t>
                      </a:r>
                    </a:p>
                  </a:txBody>
                  <a:tcPr>
                    <a:solidFill>
                      <a:srgbClr val="F0F5FC"/>
                    </a:solidFill>
                  </a:tcPr>
                </a:tc>
                <a:tc>
                  <a:txBody>
                    <a:bodyPr/>
                    <a:lstStyle/>
                    <a:p>
                      <a:r>
                        <a:rPr sz="1050" b="0">
                          <a:solidFill>
                            <a:srgbClr val="1F2937"/>
                          </a:solidFill>
                          <a:latin typeface="Source Han Sans SC"/>
                        </a:rPr>
                        <a:t>1e-3</a:t>
                      </a:r>
                    </a:p>
                  </a:txBody>
                  <a:tcPr>
                    <a:solidFill>
                      <a:srgbClr val="F0F5FC"/>
                    </a:solidFill>
                  </a:tcPr>
                </a:tc>
                <a:tc>
                  <a:txBody>
                    <a:bodyPr/>
                    <a:lstStyle/>
                    <a:p>
                      <a:r>
                        <a:rPr sz="1050" b="0">
                          <a:solidFill>
                            <a:srgbClr val="1F2937"/>
                          </a:solidFill>
                          <a:latin typeface="Source Han Sans SC"/>
                        </a:rPr>
                        <a:t>1.56</a:t>
                      </a:r>
                    </a:p>
                  </a:txBody>
                  <a:tcPr>
                    <a:solidFill>
                      <a:srgbClr val="F0F5FC"/>
                    </a:solidFill>
                  </a:tcPr>
                </a:tc>
                <a:tc>
                  <a:txBody>
                    <a:bodyPr/>
                    <a:lstStyle/>
                    <a:p>
                      <a:r>
                        <a:rPr sz="1050" b="0">
                          <a:solidFill>
                            <a:srgbClr val="1F2937"/>
                          </a:solidFill>
                          <a:latin typeface="Source Han Sans SC"/>
                        </a:rPr>
                        <a:t>0.62</a:t>
                      </a:r>
                    </a:p>
                  </a:txBody>
                  <a:tcPr>
                    <a:solidFill>
                      <a:srgbClr val="F0F5FC"/>
                    </a:solidFill>
                  </a:tcPr>
                </a:tc>
                <a:tc>
                  <a:txBody>
                    <a:bodyPr/>
                    <a:lstStyle/>
                    <a:p>
                      <a:r>
                        <a:rPr sz="1050" b="0">
                          <a:solidFill>
                            <a:srgbClr val="1F2937"/>
                          </a:solidFill>
                          <a:latin typeface="Source Han Sans SC"/>
                        </a:rPr>
                        <a:t>Too slow</a:t>
                      </a:r>
                    </a:p>
                  </a:txBody>
                  <a:tcPr>
                    <a:solidFill>
                      <a:srgbClr val="F0F5FC"/>
                    </a:solidFill>
                  </a:tcPr>
                </a:tc>
              </a:tr>
              <a:tr h="396000">
                <a:tc>
                  <a:txBody>
                    <a:bodyPr/>
                    <a:lstStyle/>
                    <a:p>
                      <a:r>
                        <a:rPr sz="1050" b="1">
                          <a:solidFill>
                            <a:srgbClr val="1F2937"/>
                          </a:solidFill>
                          <a:latin typeface="Source Han Sans SC"/>
                        </a:rPr>
                        <a:t>3</a:t>
                      </a:r>
                    </a:p>
                  </a:txBody>
                  <a:tcPr>
                    <a:solidFill>
                      <a:srgbClr val="FFFFFF"/>
                    </a:solidFill>
                  </a:tcPr>
                </a:tc>
                <a:tc>
                  <a:txBody>
                    <a:bodyPr/>
                    <a:lstStyle/>
                    <a:p>
                      <a:r>
                        <a:rPr sz="1050" b="0">
                          <a:solidFill>
                            <a:srgbClr val="1F2937"/>
                          </a:solidFill>
                          <a:latin typeface="Source Han Sans SC"/>
                        </a:rPr>
                        <a:t>SGD</a:t>
                      </a:r>
                    </a:p>
                  </a:txBody>
                  <a:tcPr>
                    <a:solidFill>
                      <a:srgbClr val="FFFFFF"/>
                    </a:solidFill>
                  </a:tcPr>
                </a:tc>
                <a:tc>
                  <a:txBody>
                    <a:bodyPr/>
                    <a:lstStyle/>
                    <a:p>
                      <a:r>
                        <a:rPr sz="1050" b="0">
                          <a:solidFill>
                            <a:srgbClr val="1F2937"/>
                          </a:solidFill>
                          <a:latin typeface="Source Han Sans SC"/>
                        </a:rPr>
                        <a:t>1e-5</a:t>
                      </a:r>
                    </a:p>
                  </a:txBody>
                  <a:tcPr>
                    <a:solidFill>
                      <a:srgbClr val="FFFFFF"/>
                    </a:solidFill>
                  </a:tcPr>
                </a:tc>
                <a:tc>
                  <a:txBody>
                    <a:bodyPr/>
                    <a:lstStyle/>
                    <a:p>
                      <a:r>
                        <a:rPr sz="1050" b="0">
                          <a:solidFill>
                            <a:srgbClr val="1F2937"/>
                          </a:solidFill>
                          <a:latin typeface="Source Han Sans SC"/>
                        </a:rPr>
                        <a:t>2.28</a:t>
                      </a:r>
                    </a:p>
                  </a:txBody>
                  <a:tcPr>
                    <a:solidFill>
                      <a:srgbClr val="FFFFFF"/>
                    </a:solidFill>
                  </a:tcPr>
                </a:tc>
                <a:tc>
                  <a:txBody>
                    <a:bodyPr/>
                    <a:lstStyle/>
                    <a:p>
                      <a:r>
                        <a:rPr sz="1050" b="0">
                          <a:solidFill>
                            <a:srgbClr val="1F2937"/>
                          </a:solidFill>
                          <a:latin typeface="Source Han Sans SC"/>
                        </a:rPr>
                        <a:t>0.11</a:t>
                      </a:r>
                    </a:p>
                  </a:txBody>
                  <a:tcPr>
                    <a:solidFill>
                      <a:srgbClr val="FFFFFF"/>
                    </a:solidFill>
                  </a:tcPr>
                </a:tc>
                <a:tc>
                  <a:txBody>
                    <a:bodyPr/>
                    <a:lstStyle/>
                    <a:p>
                      <a:r>
                        <a:rPr sz="1050" b="0">
                          <a:solidFill>
                            <a:srgbClr val="1F2937"/>
                          </a:solidFill>
                          <a:latin typeface="Source Han Sans SC"/>
                        </a:rPr>
                        <a:t>No</a:t>
                      </a:r>
                    </a:p>
                  </a:txBody>
                  <a:tcPr>
                    <a:solidFill>
                      <a:srgbClr val="FFFFFF"/>
                    </a:solidFill>
                  </a:tcPr>
                </a:tc>
              </a:tr>
              <a:tr h="396000">
                <a:tc>
                  <a:txBody>
                    <a:bodyPr/>
                    <a:lstStyle/>
                    <a:p>
                      <a:r>
                        <a:rPr sz="1050" b="1">
                          <a:solidFill>
                            <a:srgbClr val="1F2937"/>
                          </a:solidFill>
                          <a:latin typeface="Source Han Sans SC"/>
                        </a:rPr>
                        <a:t>4</a:t>
                      </a:r>
                    </a:p>
                  </a:txBody>
                  <a:tcPr>
                    <a:solidFill>
                      <a:srgbClr val="F0F5FC"/>
                    </a:solidFill>
                  </a:tcPr>
                </a:tc>
                <a:tc>
                  <a:txBody>
                    <a:bodyPr/>
                    <a:lstStyle/>
                    <a:p>
                      <a:r>
                        <a:rPr sz="1050" b="0">
                          <a:solidFill>
                            <a:srgbClr val="1F2937"/>
                          </a:solidFill>
                          <a:latin typeface="Source Han Sans SC"/>
                        </a:rPr>
                        <a:t>Momentum</a:t>
                      </a:r>
                    </a:p>
                  </a:txBody>
                  <a:tcPr>
                    <a:solidFill>
                      <a:srgbClr val="F0F5FC"/>
                    </a:solidFill>
                  </a:tcPr>
                </a:tc>
                <a:tc>
                  <a:txBody>
                    <a:bodyPr/>
                    <a:lstStyle/>
                    <a:p>
                      <a:r>
                        <a:rPr sz="1050" b="0">
                          <a:solidFill>
                            <a:srgbClr val="1F2937"/>
                          </a:solidFill>
                          <a:latin typeface="Source Han Sans SC"/>
                        </a:rPr>
                        <a:t>1e-1</a:t>
                      </a:r>
                    </a:p>
                  </a:txBody>
                  <a:tcPr>
                    <a:solidFill>
                      <a:srgbClr val="F0F5FC"/>
                    </a:solidFill>
                  </a:tcPr>
                </a:tc>
                <a:tc>
                  <a:txBody>
                    <a:bodyPr/>
                    <a:lstStyle/>
                    <a:p>
                      <a:r>
                        <a:rPr sz="1050" b="0">
                          <a:solidFill>
                            <a:srgbClr val="1F2937"/>
                          </a:solidFill>
                          <a:latin typeface="Source Han Sans SC"/>
                        </a:rPr>
                        <a:t>2.44 (oscillates)</a:t>
                      </a:r>
                    </a:p>
                  </a:txBody>
                  <a:tcPr>
                    <a:solidFill>
                      <a:srgbClr val="F0F5FC"/>
                    </a:solidFill>
                  </a:tcPr>
                </a:tc>
                <a:tc>
                  <a:txBody>
                    <a:bodyPr/>
                    <a:lstStyle/>
                    <a:p>
                      <a:r>
                        <a:rPr sz="1050" b="0">
                          <a:solidFill>
                            <a:srgbClr val="1F2937"/>
                          </a:solidFill>
                          <a:latin typeface="Source Han Sans SC"/>
                        </a:rPr>
                        <a:t>0.10</a:t>
                      </a:r>
                    </a:p>
                  </a:txBody>
                  <a:tcPr>
                    <a:solidFill>
                      <a:srgbClr val="F0F5FC"/>
                    </a:solidFill>
                  </a:tcPr>
                </a:tc>
                <a:tc>
                  <a:txBody>
                    <a:bodyPr/>
                    <a:lstStyle/>
                    <a:p>
                      <a:r>
                        <a:rPr sz="1050" b="0">
                          <a:solidFill>
                            <a:srgbClr val="1F2937"/>
                          </a:solidFill>
                          <a:latin typeface="Source Han Sans SC"/>
                        </a:rPr>
                        <a:t>No</a:t>
                      </a:r>
                    </a:p>
                  </a:txBody>
                  <a:tcPr>
                    <a:solidFill>
                      <a:srgbClr val="F0F5FC"/>
                    </a:solidFill>
                  </a:tcPr>
                </a:tc>
              </a:tr>
              <a:tr h="396000">
                <a:tc>
                  <a:txBody>
                    <a:bodyPr/>
                    <a:lstStyle/>
                    <a:p>
                      <a:r>
                        <a:rPr sz="1050" b="1">
                          <a:solidFill>
                            <a:srgbClr val="1F2937"/>
                          </a:solidFill>
                          <a:latin typeface="Source Han Sans SC"/>
                        </a:rPr>
                        <a:t>5</a:t>
                      </a:r>
                    </a:p>
                  </a:txBody>
                  <a:tcPr>
                    <a:solidFill>
                      <a:srgbClr val="FFFFFF"/>
                    </a:solidFill>
                  </a:tcPr>
                </a:tc>
                <a:tc>
                  <a:txBody>
                    <a:bodyPr/>
                    <a:lstStyle/>
                    <a:p>
                      <a:r>
                        <a:rPr sz="1050" b="0">
                          <a:solidFill>
                            <a:srgbClr val="1F2937"/>
                          </a:solidFill>
                          <a:latin typeface="Source Han Sans SC"/>
                        </a:rPr>
                        <a:t>Momentum</a:t>
                      </a:r>
                    </a:p>
                  </a:txBody>
                  <a:tcPr>
                    <a:solidFill>
                      <a:srgbClr val="FFFFFF"/>
                    </a:solidFill>
                  </a:tcPr>
                </a:tc>
                <a:tc>
                  <a:txBody>
                    <a:bodyPr/>
                    <a:lstStyle/>
                    <a:p>
                      <a:r>
                        <a:rPr sz="1050" b="0">
                          <a:solidFill>
                            <a:srgbClr val="1F2937"/>
                          </a:solidFill>
                          <a:latin typeface="Source Han Sans SC"/>
                        </a:rPr>
                        <a:t>1e-3</a:t>
                      </a:r>
                    </a:p>
                  </a:txBody>
                  <a:tcPr>
                    <a:solidFill>
                      <a:srgbClr val="FFFFFF"/>
                    </a:solidFill>
                  </a:tcPr>
                </a:tc>
                <a:tc>
                  <a:txBody>
                    <a:bodyPr/>
                    <a:lstStyle/>
                    <a:p>
                      <a:r>
                        <a:rPr sz="1050" b="0">
                          <a:solidFill>
                            <a:srgbClr val="1F2937"/>
                          </a:solidFill>
                          <a:latin typeface="Source Han Sans SC"/>
                        </a:rPr>
                        <a:t>0.22</a:t>
                      </a:r>
                    </a:p>
                  </a:txBody>
                  <a:tcPr>
                    <a:solidFill>
                      <a:srgbClr val="FFFFFF"/>
                    </a:solidFill>
                  </a:tcPr>
                </a:tc>
                <a:tc>
                  <a:txBody>
                    <a:bodyPr/>
                    <a:lstStyle/>
                    <a:p>
                      <a:r>
                        <a:rPr sz="1050" b="0">
                          <a:solidFill>
                            <a:srgbClr val="1F2937"/>
                          </a:solidFill>
                          <a:latin typeface="Source Han Sans SC"/>
                        </a:rPr>
                        <a:t>0.94</a:t>
                      </a:r>
                    </a:p>
                  </a:txBody>
                  <a:tcPr>
                    <a:solidFill>
                      <a:srgbClr val="FFFFFF"/>
                    </a:solidFill>
                  </a:tcPr>
                </a:tc>
                <a:tc>
                  <a:txBody>
                    <a:bodyPr/>
                    <a:lstStyle/>
                    <a:p>
                      <a:r>
                        <a:rPr sz="1050" b="0">
                          <a:solidFill>
                            <a:srgbClr val="1F2937"/>
                          </a:solidFill>
                          <a:latin typeface="Source Han Sans SC"/>
                        </a:rPr>
                        <a:t>Yes</a:t>
                      </a:r>
                    </a:p>
                  </a:txBody>
                  <a:tcPr>
                    <a:solidFill>
                      <a:srgbClr val="FFFFFF"/>
                    </a:solidFill>
                  </a:tcPr>
                </a:tc>
              </a:tr>
              <a:tr h="396000">
                <a:tc>
                  <a:txBody>
                    <a:bodyPr/>
                    <a:lstStyle/>
                    <a:p>
                      <a:r>
                        <a:rPr sz="1050" b="1">
                          <a:solidFill>
                            <a:srgbClr val="1F2937"/>
                          </a:solidFill>
                          <a:latin typeface="Source Han Sans SC"/>
                        </a:rPr>
                        <a:t>6</a:t>
                      </a:r>
                    </a:p>
                  </a:txBody>
                  <a:tcPr>
                    <a:solidFill>
                      <a:srgbClr val="F0F5FC"/>
                    </a:solidFill>
                  </a:tcPr>
                </a:tc>
                <a:tc>
                  <a:txBody>
                    <a:bodyPr/>
                    <a:lstStyle/>
                    <a:p>
                      <a:r>
                        <a:rPr sz="1050" b="0">
                          <a:solidFill>
                            <a:srgbClr val="1F2937"/>
                          </a:solidFill>
                          <a:latin typeface="Source Han Sans SC"/>
                        </a:rPr>
                        <a:t>Momentum</a:t>
                      </a:r>
                    </a:p>
                  </a:txBody>
                  <a:tcPr>
                    <a:solidFill>
                      <a:srgbClr val="F0F5FC"/>
                    </a:solidFill>
                  </a:tcPr>
                </a:tc>
                <a:tc>
                  <a:txBody>
                    <a:bodyPr/>
                    <a:lstStyle/>
                    <a:p>
                      <a:r>
                        <a:rPr sz="1050" b="0">
                          <a:solidFill>
                            <a:srgbClr val="1F2937"/>
                          </a:solidFill>
                          <a:latin typeface="Source Han Sans SC"/>
                        </a:rPr>
                        <a:t>1e-5</a:t>
                      </a:r>
                    </a:p>
                  </a:txBody>
                  <a:tcPr>
                    <a:solidFill>
                      <a:srgbClr val="F0F5FC"/>
                    </a:solidFill>
                  </a:tcPr>
                </a:tc>
                <a:tc>
                  <a:txBody>
                    <a:bodyPr/>
                    <a:lstStyle/>
                    <a:p>
                      <a:r>
                        <a:rPr sz="1050" b="0">
                          <a:solidFill>
                            <a:srgbClr val="1F2937"/>
                          </a:solidFill>
                          <a:latin typeface="Source Han Sans SC"/>
                        </a:rPr>
                        <a:t>2.19</a:t>
                      </a:r>
                    </a:p>
                  </a:txBody>
                  <a:tcPr>
                    <a:solidFill>
                      <a:srgbClr val="F0F5FC"/>
                    </a:solidFill>
                  </a:tcPr>
                </a:tc>
                <a:tc>
                  <a:txBody>
                    <a:bodyPr/>
                    <a:lstStyle/>
                    <a:p>
                      <a:r>
                        <a:rPr sz="1050" b="0">
                          <a:solidFill>
                            <a:srgbClr val="1F2937"/>
                          </a:solidFill>
                          <a:latin typeface="Source Han Sans SC"/>
                        </a:rPr>
                        <a:t>0.24</a:t>
                      </a:r>
                    </a:p>
                  </a:txBody>
                  <a:tcPr>
                    <a:solidFill>
                      <a:srgbClr val="F0F5FC"/>
                    </a:solidFill>
                  </a:tcPr>
                </a:tc>
                <a:tc>
                  <a:txBody>
                    <a:bodyPr/>
                    <a:lstStyle/>
                    <a:p>
                      <a:r>
                        <a:rPr sz="1050" b="0">
                          <a:solidFill>
                            <a:srgbClr val="1F2937"/>
                          </a:solidFill>
                          <a:latin typeface="Source Han Sans SC"/>
                        </a:rPr>
                        <a:t>Too slow</a:t>
                      </a:r>
                    </a:p>
                  </a:txBody>
                  <a:tcPr>
                    <a:solidFill>
                      <a:srgbClr val="F0F5FC"/>
                    </a:solidFill>
                  </a:tcPr>
                </a:tc>
              </a:tr>
              <a:tr h="396000">
                <a:tc>
                  <a:txBody>
                    <a:bodyPr/>
                    <a:lstStyle/>
                    <a:p>
                      <a:r>
                        <a:rPr sz="1050" b="1">
                          <a:solidFill>
                            <a:srgbClr val="1F2937"/>
                          </a:solidFill>
                          <a:latin typeface="Source Han Sans SC"/>
                        </a:rPr>
                        <a:t>7</a:t>
                      </a:r>
                    </a:p>
                  </a:txBody>
                  <a:tcPr>
                    <a:solidFill>
                      <a:srgbClr val="FFFFFF"/>
                    </a:solidFill>
                  </a:tcPr>
                </a:tc>
                <a:tc>
                  <a:txBody>
                    <a:bodyPr/>
                    <a:lstStyle/>
                    <a:p>
                      <a:r>
                        <a:rPr sz="1050" b="0">
                          <a:solidFill>
                            <a:srgbClr val="1F2937"/>
                          </a:solidFill>
                          <a:latin typeface="Source Han Sans SC"/>
                        </a:rPr>
                        <a:t>Adam</a:t>
                      </a:r>
                    </a:p>
                  </a:txBody>
                  <a:tcPr>
                    <a:solidFill>
                      <a:srgbClr val="FFFFFF"/>
                    </a:solidFill>
                  </a:tcPr>
                </a:tc>
                <a:tc>
                  <a:txBody>
                    <a:bodyPr/>
                    <a:lstStyle/>
                    <a:p>
                      <a:r>
                        <a:rPr sz="1050" b="0">
                          <a:solidFill>
                            <a:srgbClr val="1F2937"/>
                          </a:solidFill>
                          <a:latin typeface="Source Han Sans SC"/>
                        </a:rPr>
                        <a:t>1e-1</a:t>
                      </a:r>
                    </a:p>
                  </a:txBody>
                  <a:tcPr>
                    <a:solidFill>
                      <a:srgbClr val="FFFFFF"/>
                    </a:solidFill>
                  </a:tcPr>
                </a:tc>
                <a:tc>
                  <a:txBody>
                    <a:bodyPr/>
                    <a:lstStyle/>
                    <a:p>
                      <a:r>
                        <a:rPr sz="1050" b="0">
                          <a:solidFill>
                            <a:srgbClr val="1F2937"/>
                          </a:solidFill>
                          <a:latin typeface="Source Han Sans SC"/>
                        </a:rPr>
                        <a:t>2.51 (exploded)</a:t>
                      </a:r>
                    </a:p>
                  </a:txBody>
                  <a:tcPr>
                    <a:solidFill>
                      <a:srgbClr val="FFFFFF"/>
                    </a:solidFill>
                  </a:tcPr>
                </a:tc>
                <a:tc>
                  <a:txBody>
                    <a:bodyPr/>
                    <a:lstStyle/>
                    <a:p>
                      <a:r>
                        <a:rPr sz="1050" b="0">
                          <a:solidFill>
                            <a:srgbClr val="1F2937"/>
                          </a:solidFill>
                          <a:latin typeface="Source Han Sans SC"/>
                        </a:rPr>
                        <a:t>0.10</a:t>
                      </a:r>
                    </a:p>
                  </a:txBody>
                  <a:tcPr>
                    <a:solidFill>
                      <a:srgbClr val="FFFFFF"/>
                    </a:solidFill>
                  </a:tcPr>
                </a:tc>
                <a:tc>
                  <a:txBody>
                    <a:bodyPr/>
                    <a:lstStyle/>
                    <a:p>
                      <a:r>
                        <a:rPr sz="1050" b="0">
                          <a:solidFill>
                            <a:srgbClr val="1F2937"/>
                          </a:solidFill>
                          <a:latin typeface="Source Han Sans SC"/>
                        </a:rPr>
                        <a:t>No</a:t>
                      </a:r>
                    </a:p>
                  </a:txBody>
                  <a:tcPr>
                    <a:solidFill>
                      <a:srgbClr val="FFFFFF"/>
                    </a:solidFill>
                  </a:tcPr>
                </a:tc>
              </a:tr>
              <a:tr h="396000">
                <a:tc>
                  <a:txBody>
                    <a:bodyPr/>
                    <a:lstStyle/>
                    <a:p>
                      <a:r>
                        <a:rPr sz="1050" b="1">
                          <a:solidFill>
                            <a:srgbClr val="1F2937"/>
                          </a:solidFill>
                          <a:latin typeface="Source Han Sans SC"/>
                        </a:rPr>
                        <a:t>8</a:t>
                      </a:r>
                    </a:p>
                  </a:txBody>
                  <a:tcPr>
                    <a:solidFill>
                      <a:srgbClr val="F0F5FC"/>
                    </a:solidFill>
                  </a:tcPr>
                </a:tc>
                <a:tc>
                  <a:txBody>
                    <a:bodyPr/>
                    <a:lstStyle/>
                    <a:p>
                      <a:r>
                        <a:rPr sz="1050" b="0">
                          <a:solidFill>
                            <a:srgbClr val="1F2937"/>
                          </a:solidFill>
                          <a:latin typeface="Source Han Sans SC"/>
                        </a:rPr>
                        <a:t>Adam</a:t>
                      </a:r>
                    </a:p>
                  </a:txBody>
                  <a:tcPr>
                    <a:solidFill>
                      <a:srgbClr val="F0F5FC"/>
                    </a:solidFill>
                  </a:tcPr>
                </a:tc>
                <a:tc>
                  <a:txBody>
                    <a:bodyPr/>
                    <a:lstStyle/>
                    <a:p>
                      <a:r>
                        <a:rPr sz="1050" b="0">
                          <a:solidFill>
                            <a:srgbClr val="1F2937"/>
                          </a:solidFill>
                          <a:latin typeface="Source Han Sans SC"/>
                        </a:rPr>
                        <a:t>1e-3</a:t>
                      </a:r>
                    </a:p>
                  </a:txBody>
                  <a:tcPr>
                    <a:solidFill>
                      <a:srgbClr val="F0F5FC"/>
                    </a:solidFill>
                  </a:tcPr>
                </a:tc>
                <a:tc>
                  <a:txBody>
                    <a:bodyPr/>
                    <a:lstStyle/>
                    <a:p>
                      <a:r>
                        <a:rPr sz="1050" b="0">
                          <a:solidFill>
                            <a:srgbClr val="1F2937"/>
                          </a:solidFill>
                          <a:latin typeface="Source Han Sans SC"/>
                        </a:rPr>
                        <a:t>0.13</a:t>
                      </a:r>
                    </a:p>
                  </a:txBody>
                  <a:tcPr>
                    <a:solidFill>
                      <a:srgbClr val="F0F5FC"/>
                    </a:solidFill>
                  </a:tcPr>
                </a:tc>
                <a:tc>
                  <a:txBody>
                    <a:bodyPr/>
                    <a:lstStyle/>
                    <a:p>
                      <a:r>
                        <a:rPr sz="1050" b="0">
                          <a:solidFill>
                            <a:srgbClr val="1F2937"/>
                          </a:solidFill>
                          <a:latin typeface="Source Han Sans SC"/>
                        </a:rPr>
                        <a:t>0.97</a:t>
                      </a:r>
                    </a:p>
                  </a:txBody>
                  <a:tcPr>
                    <a:solidFill>
                      <a:srgbClr val="F0F5FC"/>
                    </a:solidFill>
                  </a:tcPr>
                </a:tc>
                <a:tc>
                  <a:txBody>
                    <a:bodyPr/>
                    <a:lstStyle/>
                    <a:p>
                      <a:r>
                        <a:rPr sz="1050" b="0">
                          <a:solidFill>
                            <a:srgbClr val="1F2937"/>
                          </a:solidFill>
                          <a:latin typeface="Source Han Sans SC"/>
                        </a:rPr>
                        <a:t>Yes (best)</a:t>
                      </a:r>
                    </a:p>
                  </a:txBody>
                  <a:tcPr>
                    <a:solidFill>
                      <a:srgbClr val="F0F5FC"/>
                    </a:solidFill>
                  </a:tcPr>
                </a:tc>
              </a:tr>
              <a:tr h="396000">
                <a:tc>
                  <a:txBody>
                    <a:bodyPr/>
                    <a:lstStyle/>
                    <a:p>
                      <a:r>
                        <a:rPr sz="1050" b="1">
                          <a:solidFill>
                            <a:srgbClr val="1F2937"/>
                          </a:solidFill>
                          <a:latin typeface="Source Han Sans SC"/>
                        </a:rPr>
                        <a:t>9</a:t>
                      </a:r>
                    </a:p>
                  </a:txBody>
                  <a:tcPr>
                    <a:solidFill>
                      <a:srgbClr val="FFFFFF"/>
                    </a:solidFill>
                  </a:tcPr>
                </a:tc>
                <a:tc>
                  <a:txBody>
                    <a:bodyPr/>
                    <a:lstStyle/>
                    <a:p>
                      <a:r>
                        <a:rPr sz="1050" b="0">
                          <a:solidFill>
                            <a:srgbClr val="1F2937"/>
                          </a:solidFill>
                          <a:latin typeface="Source Han Sans SC"/>
                        </a:rPr>
                        <a:t>Adam</a:t>
                      </a:r>
                    </a:p>
                  </a:txBody>
                  <a:tcPr>
                    <a:solidFill>
                      <a:srgbClr val="FFFFFF"/>
                    </a:solidFill>
                  </a:tcPr>
                </a:tc>
                <a:tc>
                  <a:txBody>
                    <a:bodyPr/>
                    <a:lstStyle/>
                    <a:p>
                      <a:r>
                        <a:rPr sz="1050" b="0">
                          <a:solidFill>
                            <a:srgbClr val="1F2937"/>
                          </a:solidFill>
                          <a:latin typeface="Source Han Sans SC"/>
                        </a:rPr>
                        <a:t>1e-5</a:t>
                      </a:r>
                    </a:p>
                  </a:txBody>
                  <a:tcPr>
                    <a:solidFill>
                      <a:srgbClr val="FFFFFF"/>
                    </a:solidFill>
                  </a:tcPr>
                </a:tc>
                <a:tc>
                  <a:txBody>
                    <a:bodyPr/>
                    <a:lstStyle/>
                    <a:p>
                      <a:r>
                        <a:rPr sz="1050" b="0">
                          <a:solidFill>
                            <a:srgbClr val="1F2937"/>
                          </a:solidFill>
                          <a:latin typeface="Source Han Sans SC"/>
                        </a:rPr>
                        <a:t>1.98</a:t>
                      </a:r>
                    </a:p>
                  </a:txBody>
                  <a:tcPr>
                    <a:solidFill>
                      <a:srgbClr val="FFFFFF"/>
                    </a:solidFill>
                  </a:tcPr>
                </a:tc>
                <a:tc>
                  <a:txBody>
                    <a:bodyPr/>
                    <a:lstStyle/>
                    <a:p>
                      <a:r>
                        <a:rPr sz="1050" b="0">
                          <a:solidFill>
                            <a:srgbClr val="1F2937"/>
                          </a:solidFill>
                          <a:latin typeface="Source Han Sans SC"/>
                        </a:rPr>
                        <a:t>0.45</a:t>
                      </a:r>
                    </a:p>
                  </a:txBody>
                  <a:tcPr>
                    <a:solidFill>
                      <a:srgbClr val="FFFFFF"/>
                    </a:solidFill>
                  </a:tcPr>
                </a:tc>
                <a:tc>
                  <a:txBody>
                    <a:bodyPr/>
                    <a:lstStyle/>
                    <a:p>
                      <a:r>
                        <a:rPr sz="1050" b="0">
                          <a:solidFill>
                            <a:srgbClr val="1F2937"/>
                          </a:solidFill>
                          <a:latin typeface="Source Han Sans SC"/>
                        </a:rPr>
                        <a:t>Too slow</a:t>
                      </a:r>
                    </a:p>
                  </a:txBody>
                  <a:tcPr>
                    <a:solidFill>
                      <a:srgbClr val="FFFFFF"/>
                    </a:solidFill>
                  </a:tcPr>
                </a:tc>
              </a:tr>
            </a:tbl>
          </a:graphicData>
        </a:graphic>
      </p:graphicFrame>
      <p:sp>
        <p:nvSpPr>
          <p:cNvPr id="10" name="TextBox 9"/>
          <p:cNvSpPr txBox="1"/>
          <p:nvPr/>
        </p:nvSpPr>
        <p:spPr>
          <a:xfrm>
            <a:off x="799200" y="5256000"/>
            <a:ext cx="10593719" cy="503999"/>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The numbers here are illustrative; your job is to replace them with the nine runs you measured. Once the table is complete the winner and its justification fall out of it — that is what "tuning is not luck" means.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Lab Script Skeleton and a Debug Helper</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26 / 31</a:t>
            </a:r>
          </a:p>
        </p:txBody>
      </p:sp>
      <p:sp>
        <p:nvSpPr>
          <p:cNvPr id="9" name="Rectangle 8"/>
          <p:cNvSpPr/>
          <p:nvPr/>
        </p:nvSpPr>
        <p:spPr>
          <a:xfrm>
            <a:off x="799200"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1200"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The 3 x 3 grid, results to a table</a:t>
            </a:r>
          </a:p>
        </p:txBody>
      </p:sp>
      <p:sp>
        <p:nvSpPr>
          <p:cNvPr id="12" name="TextBox 11"/>
          <p:cNvSpPr txBox="1"/>
          <p:nvPr/>
        </p:nvSpPr>
        <p:spPr>
          <a:xfrm>
            <a:off x="997200" y="1691999"/>
            <a:ext cx="4789259" cy="3546000"/>
          </a:xfrm>
          <a:prstGeom prst="rect">
            <a:avLst/>
          </a:prstGeom>
          <a:noFill/>
        </p:spPr>
        <p:txBody>
          <a:bodyPr wrap="square" anchor="t" lIns="0" rIns="0" tIns="0" bIns="0">
            <a:spAutoFit/>
          </a:bodyPr>
          <a:lstStyle/>
          <a:p>
            <a:pPr algn="l">
              <a:lnSpc>
                <a:spcPct val="128000"/>
              </a:lnSpc>
            </a:pPr>
            <a:r>
              <a:rPr sz="1100" b="0" i="0">
                <a:solidFill>
                  <a:srgbClr val="E2E8F0"/>
                </a:solidFill>
                <a:latin typeface="Menlo"/>
              </a:rPr>
              <a:t>results = []                 # one row per run</a:t>
            </a:r>
          </a:p>
          <a:p>
            <a:pPr algn="l">
              <a:lnSpc>
                <a:spcPct val="128000"/>
              </a:lnSpc>
            </a:pPr>
            <a:r>
              <a:rPr sz="1100" b="0" i="0">
                <a:solidFill>
                  <a:srgbClr val="E2E8F0"/>
                </a:solidFill>
                <a:latin typeface="Menlo"/>
              </a:rPr>
              <a:t>for name in ["sgd", "momentum", "adam"]:</a:t>
            </a:r>
          </a:p>
          <a:p>
            <a:pPr algn="l">
              <a:lnSpc>
                <a:spcPct val="128000"/>
              </a:lnSpc>
            </a:pPr>
            <a:r>
              <a:rPr sz="1100" b="0" i="0">
                <a:solidFill>
                  <a:srgbClr val="E2E8F0"/>
                </a:solidFill>
                <a:latin typeface="Menlo"/>
              </a:rPr>
              <a:t>    for lr in [1e-1, 1e-3, 1e-5]:</a:t>
            </a:r>
          </a:p>
          <a:p>
            <a:pPr algn="l">
              <a:lnSpc>
                <a:spcPct val="128000"/>
              </a:lnSpc>
            </a:pPr>
            <a:r>
              <a:rPr sz="1100" b="0" i="0">
                <a:solidFill>
                  <a:srgbClr val="E2E8F0"/>
                </a:solidFill>
                <a:latin typeface="Menlo"/>
              </a:rPr>
              <a:t>        net = build_model()</a:t>
            </a:r>
          </a:p>
          <a:p>
            <a:pPr algn="l">
              <a:lnSpc>
                <a:spcPct val="128000"/>
              </a:lnSpc>
            </a:pPr>
            <a:r>
              <a:rPr sz="1100" b="0" i="0">
                <a:solidFill>
                  <a:srgbClr val="E2E8F0"/>
                </a:solidFill>
                <a:latin typeface="Menlo"/>
              </a:rPr>
              <a:t>        opt = make_opt(name, net, lr)</a:t>
            </a:r>
          </a:p>
          <a:p>
            <a:pPr algn="l">
              <a:lnSpc>
                <a:spcPct val="128000"/>
              </a:lnSpc>
            </a:pPr>
            <a:r>
              <a:rPr sz="1100" b="0" i="0">
                <a:solidFill>
                  <a:srgbClr val="E2E8F0"/>
                </a:solidFill>
                <a:latin typeface="Menlo"/>
              </a:rPr>
              <a:t>        hist = train(net, opt, epochs=10)</a:t>
            </a:r>
          </a:p>
          <a:p>
            <a:pPr algn="l">
              <a:lnSpc>
                <a:spcPct val="128000"/>
              </a:lnSpc>
            </a:pPr>
            <a:r>
              <a:rPr sz="1100" b="0" i="0">
                <a:solidFill>
                  <a:srgbClr val="E2E8F0"/>
                </a:solidFill>
                <a:latin typeface="Menlo"/>
              </a:rPr>
              <a:t>        results.append({"optimizer": name,</a:t>
            </a:r>
          </a:p>
          <a:p>
            <a:pPr algn="l">
              <a:lnSpc>
                <a:spcPct val="128000"/>
              </a:lnSpc>
            </a:pPr>
            <a:r>
              <a:rPr sz="1100" b="0" i="0">
                <a:solidFill>
                  <a:srgbClr val="E2E8F0"/>
                </a:solidFill>
                <a:latin typeface="Menlo"/>
              </a:rPr>
              <a:t>                        "lr": lr,</a:t>
            </a:r>
          </a:p>
          <a:p>
            <a:pPr algn="l">
              <a:lnSpc>
                <a:spcPct val="128000"/>
              </a:lnSpc>
            </a:pPr>
            <a:r>
              <a:rPr sz="1100" b="0" i="0">
                <a:solidFill>
                  <a:srgbClr val="E2E8F0"/>
                </a:solidFill>
                <a:latin typeface="Menlo"/>
              </a:rPr>
              <a:t>                        "val_loss": min(hist["vl"]),</a:t>
            </a:r>
          </a:p>
          <a:p>
            <a:pPr algn="l">
              <a:lnSpc>
                <a:spcPct val="128000"/>
              </a:lnSpc>
            </a:pPr>
            <a:r>
              <a:rPr sz="1100" b="0" i="0">
                <a:solidFill>
                  <a:srgbClr val="E2E8F0"/>
                </a:solidFill>
                <a:latin typeface="Menlo"/>
              </a:rPr>
              <a:t>                        "val_acc": max(hist["va"])})</a:t>
            </a:r>
          </a:p>
          <a:p>
            <a:pPr algn="l">
              <a:lnSpc>
                <a:spcPct val="128000"/>
              </a:lnSpc>
            </a:pPr>
            <a:r>
              <a:rPr sz="1100" b="0" i="0">
                <a:solidFill>
                  <a:srgbClr val="E2E8F0"/>
                </a:solidFill>
                <a:latin typeface="Menlo"/>
              </a:rPr>
              <a:t/>
            </a:r>
          </a:p>
          <a:p>
            <a:pPr algn="l">
              <a:lnSpc>
                <a:spcPct val="128000"/>
              </a:lnSpc>
            </a:pPr>
            <a:r>
              <a:rPr sz="1100" b="0" i="0">
                <a:solidFill>
                  <a:srgbClr val="E2E8F0"/>
                </a:solidFill>
                <a:latin typeface="Menlo"/>
              </a:rPr>
              <a:t>plot_curves(results)         # loss / acc curves</a:t>
            </a:r>
          </a:p>
          <a:p>
            <a:pPr algn="l">
              <a:lnSpc>
                <a:spcPct val="128000"/>
              </a:lnSpc>
            </a:pPr>
            <a:r>
              <a:rPr sz="1100" b="0" i="0">
                <a:solidFill>
                  <a:srgbClr val="E2E8F0"/>
                </a:solidFill>
                <a:latin typeface="Menlo"/>
              </a:rPr>
              <a:t>write_table(results)         # the 3x3 table</a:t>
            </a:r>
          </a:p>
          <a:p>
            <a:pPr algn="l">
              <a:lnSpc>
                <a:spcPct val="128000"/>
              </a:lnSpc>
            </a:pPr>
            <a:r>
              <a:rPr sz="1100" b="0" i="0">
                <a:solidFill>
                  <a:srgbClr val="E2E8F0"/>
                </a:solidFill>
                <a:latin typeface="Menlo"/>
              </a:rPr>
              <a:t># then: state the best combo AND why it wins</a:t>
            </a:r>
          </a:p>
        </p:txBody>
      </p:sp>
      <p:sp>
        <p:nvSpPr>
          <p:cNvPr id="13" name="Rectangle 12"/>
          <p:cNvSpPr/>
          <p:nvPr/>
        </p:nvSpPr>
        <p:spPr>
          <a:xfrm>
            <a:off x="6207659" y="1278000"/>
            <a:ext cx="5185259" cy="4031999"/>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07659" y="1278000"/>
            <a:ext cx="5185259" cy="306000"/>
          </a:xfrm>
          <a:prstGeom prst="rect">
            <a:avLst/>
          </a:prstGeom>
          <a:solidFill>
            <a:srgbClr val="1B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69659" y="1364400"/>
            <a:ext cx="4105259" cy="162000"/>
          </a:xfrm>
          <a:prstGeom prst="rect">
            <a:avLst/>
          </a:prstGeom>
          <a:noFill/>
        </p:spPr>
        <p:txBody>
          <a:bodyPr wrap="square" anchor="t" lIns="0" rIns="0" tIns="0" bIns="0">
            <a:spAutoFit/>
          </a:bodyPr>
          <a:lstStyle/>
          <a:p>
            <a:pPr algn="l">
              <a:lnSpc>
                <a:spcPct val="125000"/>
              </a:lnSpc>
            </a:pPr>
            <a:r>
              <a:rPr sz="1150" b="1" i="0">
                <a:solidFill>
                  <a:srgbClr val="93C5FD"/>
                </a:solidFill>
                <a:latin typeface="Source Han Sans SC"/>
              </a:rPr>
              <a:t>Debug order when the loss will not fall</a:t>
            </a:r>
          </a:p>
        </p:txBody>
      </p:sp>
      <p:sp>
        <p:nvSpPr>
          <p:cNvPr id="16" name="TextBox 15"/>
          <p:cNvSpPr txBox="1"/>
          <p:nvPr/>
        </p:nvSpPr>
        <p:spPr>
          <a:xfrm>
            <a:off x="6405659" y="1691999"/>
            <a:ext cx="4789259" cy="3546000"/>
          </a:xfrm>
          <a:prstGeom prst="rect">
            <a:avLst/>
          </a:prstGeom>
          <a:noFill/>
        </p:spPr>
        <p:txBody>
          <a:bodyPr wrap="square" anchor="t" lIns="0" rIns="0" tIns="0" bIns="0">
            <a:spAutoFit/>
          </a:bodyPr>
          <a:lstStyle/>
          <a:p>
            <a:pPr algn="l">
              <a:lnSpc>
                <a:spcPct val="128000"/>
              </a:lnSpc>
            </a:pPr>
            <a:r>
              <a:rPr sz="1000" b="0" i="0">
                <a:solidFill>
                  <a:srgbClr val="E2E8F0"/>
                </a:solidFill>
                <a:latin typeface="Menlo"/>
              </a:rPr>
              <a:t>def diagnose(hist):</a:t>
            </a:r>
          </a:p>
          <a:p>
            <a:pPr algn="l">
              <a:lnSpc>
                <a:spcPct val="128000"/>
              </a:lnSpc>
            </a:pPr>
            <a:r>
              <a:rPr sz="1000" b="0" i="0">
                <a:solidFill>
                  <a:srgbClr val="E2E8F0"/>
                </a:solidFill>
                <a:latin typeface="Menlo"/>
              </a:rPr>
              <a:t>    first, last = hist[0], hist[-1]</a:t>
            </a:r>
          </a:p>
          <a:p>
            <a:pPr algn="l">
              <a:lnSpc>
                <a:spcPct val="128000"/>
              </a:lnSpc>
            </a:pPr>
            <a:r>
              <a:rPr sz="1000" b="0" i="0">
                <a:solidFill>
                  <a:srgbClr val="E2E8F0"/>
                </a:solidFill>
                <a:latin typeface="Menlo"/>
              </a:rPr>
              <a:t>    if math.isnan(last["train_loss"]):</a:t>
            </a:r>
          </a:p>
          <a:p>
            <a:pPr algn="l">
              <a:lnSpc>
                <a:spcPct val="128000"/>
              </a:lnSpc>
            </a:pPr>
            <a:r>
              <a:rPr sz="1000" b="0" i="0">
                <a:solidFill>
                  <a:srgbClr val="E2E8F0"/>
                </a:solidFill>
                <a:latin typeface="Menlo"/>
              </a:rPr>
              <a:t>        return "nan -&gt; learning rate too large"</a:t>
            </a:r>
          </a:p>
          <a:p>
            <a:pPr algn="l">
              <a:lnSpc>
                <a:spcPct val="128000"/>
              </a:lnSpc>
            </a:pPr>
            <a:r>
              <a:rPr sz="1000" b="0" i="0">
                <a:solidFill>
                  <a:srgbClr val="E2E8F0"/>
                </a:solidFill>
                <a:latin typeface="Menlo"/>
              </a:rPr>
              <a:t>    if last["train_loss"] &gt; first["train_loss"]:</a:t>
            </a:r>
          </a:p>
          <a:p>
            <a:pPr algn="l">
              <a:lnSpc>
                <a:spcPct val="128000"/>
              </a:lnSpc>
            </a:pPr>
            <a:r>
              <a:rPr sz="1000" b="0" i="0">
                <a:solidFill>
                  <a:srgbClr val="E2E8F0"/>
                </a:solidFill>
                <a:latin typeface="Menlo"/>
              </a:rPr>
              <a:t>        return "rising -&gt; lower the learning rate"</a:t>
            </a:r>
          </a:p>
          <a:p>
            <a:pPr algn="l">
              <a:lnSpc>
                <a:spcPct val="128000"/>
              </a:lnSpc>
            </a:pPr>
            <a:r>
              <a:rPr sz="1000" b="0" i="0">
                <a:solidFill>
                  <a:srgbClr val="E2E8F0"/>
                </a:solidFill>
                <a:latin typeface="Menlo"/>
              </a:rPr>
              <a:t>    if abs(last["train_loss"]</a:t>
            </a:r>
          </a:p>
          <a:p>
            <a:pPr algn="l">
              <a:lnSpc>
                <a:spcPct val="128000"/>
              </a:lnSpc>
            </a:pPr>
            <a:r>
              <a:rPr sz="1000" b="0" i="0">
                <a:solidFill>
                  <a:srgbClr val="E2E8F0"/>
                </a:solidFill>
                <a:latin typeface="Menlo"/>
              </a:rPr>
              <a:t>           - first["train_loss"]) &lt; 0.05:</a:t>
            </a:r>
          </a:p>
          <a:p>
            <a:pPr algn="l">
              <a:lnSpc>
                <a:spcPct val="128000"/>
              </a:lnSpc>
            </a:pPr>
            <a:r>
              <a:rPr sz="1000" b="0" i="0">
                <a:solidFill>
                  <a:srgbClr val="E2E8F0"/>
                </a:solidFill>
                <a:latin typeface="Menlo"/>
              </a:rPr>
              <a:t>        return "flat -&gt; learning rate too small"</a:t>
            </a:r>
          </a:p>
          <a:p>
            <a:pPr algn="l">
              <a:lnSpc>
                <a:spcPct val="128000"/>
              </a:lnSpc>
            </a:pPr>
            <a:r>
              <a:rPr sz="1000" b="0" i="0">
                <a:solidFill>
                  <a:srgbClr val="E2E8F0"/>
                </a:solidFill>
                <a:latin typeface="Menlo"/>
              </a:rPr>
              <a:t>    return "falling -&gt; now check the val curve"</a:t>
            </a:r>
          </a:p>
        </p:txBody>
      </p:sp>
      <p:sp>
        <p:nvSpPr>
          <p:cNvPr id="17" name="TextBox 16"/>
          <p:cNvSpPr txBox="1"/>
          <p:nvPr/>
        </p:nvSpPr>
        <p:spPr>
          <a:xfrm>
            <a:off x="799200" y="5490000"/>
            <a:ext cx="10593719" cy="612000"/>
          </a:xfrm>
          <a:prstGeom prst="rect">
            <a:avLst/>
          </a:prstGeom>
          <a:noFill/>
        </p:spPr>
        <p:txBody>
          <a:bodyPr wrap="square" anchor="t" lIns="0" rIns="0" tIns="0" bIns="0">
            <a:spAutoFit/>
          </a:bodyPr>
          <a:lstStyle/>
          <a:p>
            <a:pPr algn="l">
              <a:lnSpc>
                <a:spcPct val="135000"/>
              </a:lnSpc>
            </a:pPr>
            <a:r>
              <a:rPr sz="1200" b="0" i="0">
                <a:solidFill>
                  <a:srgbClr val="1F2937"/>
                </a:solidFill>
                <a:latin typeface="Source Han Sans SC"/>
              </a:rPr>
              <a:t>The left script is correct when the same code produces all nine results while only the optimizer and the learning rate change. The right-hand order is exactly what your "training does not converge" log should record: learning rate first, then data, then 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AI Assistance · Professional Rigour · Debugging Hints</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27 / 31</a:t>
            </a:r>
          </a:p>
        </p:txBody>
      </p:sp>
      <p:sp>
        <p:nvSpPr>
          <p:cNvPr id="9" name="Rectangle 8"/>
          <p:cNvSpPr/>
          <p:nvPr/>
        </p:nvSpPr>
        <p:spPr>
          <a:xfrm>
            <a:off x="799200" y="1296000"/>
            <a:ext cx="3387239" cy="237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96000"/>
            <a:ext cx="32400" cy="2376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2400"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AI Assistance</a:t>
            </a:r>
          </a:p>
        </p:txBody>
      </p:sp>
      <p:sp>
        <p:nvSpPr>
          <p:cNvPr id="12" name="TextBox 11"/>
          <p:cNvSpPr txBox="1"/>
          <p:nvPr/>
        </p:nvSpPr>
        <p:spPr>
          <a:xfrm>
            <a:off x="1022400"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propose, then verify</a:t>
            </a:r>
          </a:p>
        </p:txBody>
      </p:sp>
      <p:sp>
        <p:nvSpPr>
          <p:cNvPr id="13" name="TextBox 12"/>
          <p:cNvSpPr txBox="1"/>
          <p:nvPr/>
        </p:nvSpPr>
        <p:spPr>
          <a:xfrm>
            <a:off x="1022400" y="1915200"/>
            <a:ext cx="294083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Ask AI: 3 optimizer x lr combos</a:t>
            </a:r>
          </a:p>
          <a:p>
            <a:pPr algn="l">
              <a:lnSpc>
                <a:spcPct val="140000"/>
              </a:lnSpc>
              <a:spcAft>
                <a:spcPts val="400"/>
              </a:spcAft>
            </a:pPr>
            <a:r>
              <a:rPr sz="1200" b="0" i="0">
                <a:solidFill>
                  <a:srgbClr val="1F2937"/>
                </a:solidFill>
                <a:latin typeface="Source Han Sans SC"/>
              </a:rPr>
              <a:t>• Verify each one with your own run</a:t>
            </a:r>
          </a:p>
          <a:p>
            <a:pPr algn="l">
              <a:lnSpc>
                <a:spcPct val="140000"/>
              </a:lnSpc>
              <a:spcAft>
                <a:spcPts val="400"/>
              </a:spcAft>
            </a:pPr>
            <a:r>
              <a:rPr sz="1200" b="0" i="0">
                <a:solidFill>
                  <a:srgbClr val="1F2937"/>
                </a:solidFill>
                <a:latin typeface="Source Han Sans SC"/>
              </a:rPr>
              <a:t>• Log where the AI had no basis</a:t>
            </a:r>
          </a:p>
        </p:txBody>
      </p:sp>
      <p:sp>
        <p:nvSpPr>
          <p:cNvPr id="14" name="Rectangle 13"/>
          <p:cNvSpPr/>
          <p:nvPr/>
        </p:nvSpPr>
        <p:spPr>
          <a:xfrm>
            <a:off x="4402440" y="1296000"/>
            <a:ext cx="3387239" cy="2376000"/>
          </a:xfrm>
          <a:prstGeom prst="rect">
            <a:avLst/>
          </a:prstGeom>
          <a:solidFill>
            <a:srgbClr val="ECFDF5"/>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02440" y="1296000"/>
            <a:ext cx="32400" cy="2376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2563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Professional Rigour</a:t>
            </a:r>
          </a:p>
        </p:txBody>
      </p:sp>
      <p:sp>
        <p:nvSpPr>
          <p:cNvPr id="17" name="TextBox 16"/>
          <p:cNvSpPr txBox="1"/>
          <p:nvPr/>
        </p:nvSpPr>
        <p:spPr>
          <a:xfrm>
            <a:off x="462563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rigour, not luck</a:t>
            </a:r>
          </a:p>
        </p:txBody>
      </p:sp>
      <p:sp>
        <p:nvSpPr>
          <p:cNvPr id="18" name="TextBox 17"/>
          <p:cNvSpPr txBox="1"/>
          <p:nvPr/>
        </p:nvSpPr>
        <p:spPr>
          <a:xfrm>
            <a:off x="4625639" y="1915200"/>
            <a:ext cx="294083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Tuning is experimental design, not luck</a:t>
            </a:r>
          </a:p>
          <a:p>
            <a:pPr algn="l">
              <a:lnSpc>
                <a:spcPct val="140000"/>
              </a:lnSpc>
              <a:spcAft>
                <a:spcPts val="400"/>
              </a:spcAft>
            </a:pPr>
            <a:r>
              <a:rPr sz="1200" b="0" i="0">
                <a:solidFill>
                  <a:srgbClr val="1F2937"/>
                </a:solidFill>
                <a:latin typeface="Source Han Sans SC"/>
              </a:rPr>
              <a:t>• Change one variable at a time</a:t>
            </a:r>
          </a:p>
          <a:p>
            <a:pPr algn="l">
              <a:lnSpc>
                <a:spcPct val="140000"/>
              </a:lnSpc>
              <a:spcAft>
                <a:spcPts val="400"/>
              </a:spcAft>
            </a:pPr>
            <a:r>
              <a:rPr sz="1200" b="0" i="0">
                <a:solidFill>
                  <a:srgbClr val="1F2937"/>
                </a:solidFill>
                <a:latin typeface="Source Han Sans SC"/>
              </a:rPr>
              <a:t>• Odd results: lr, then data, then code</a:t>
            </a:r>
          </a:p>
        </p:txBody>
      </p:sp>
      <p:sp>
        <p:nvSpPr>
          <p:cNvPr id="19" name="Rectangle 18"/>
          <p:cNvSpPr/>
          <p:nvPr/>
        </p:nvSpPr>
        <p:spPr>
          <a:xfrm>
            <a:off x="8005679" y="1296000"/>
            <a:ext cx="3387239" cy="2376000"/>
          </a:xfrm>
          <a:prstGeom prst="rect">
            <a:avLst/>
          </a:prstGeom>
          <a:solidFill>
            <a:srgbClr val="FFFBE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05679" y="1296000"/>
            <a:ext cx="32400" cy="23760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8879" y="1483200"/>
            <a:ext cx="2940839" cy="223200"/>
          </a:xfrm>
          <a:prstGeom prst="rect">
            <a:avLst/>
          </a:prstGeom>
          <a:noFill/>
        </p:spPr>
        <p:txBody>
          <a:bodyPr wrap="square" anchor="t" lIns="0" rIns="0" tIns="0" bIns="0">
            <a:spAutoFit/>
          </a:bodyPr>
          <a:lstStyle/>
          <a:p>
            <a:pPr algn="l">
              <a:lnSpc>
                <a:spcPct val="125000"/>
              </a:lnSpc>
            </a:pPr>
            <a:r>
              <a:rPr sz="1550" b="1" i="0">
                <a:solidFill>
                  <a:srgbClr val="0E3F8C"/>
                </a:solidFill>
                <a:latin typeface="Source Han Sans SC"/>
              </a:rPr>
              <a:t>Debugging Hints</a:t>
            </a:r>
          </a:p>
        </p:txBody>
      </p:sp>
      <p:sp>
        <p:nvSpPr>
          <p:cNvPr id="22" name="TextBox 21"/>
          <p:cNvSpPr txBox="1"/>
          <p:nvPr/>
        </p:nvSpPr>
        <p:spPr>
          <a:xfrm>
            <a:off x="8228879" y="1713600"/>
            <a:ext cx="2940839" cy="151200"/>
          </a:xfrm>
          <a:prstGeom prst="rect">
            <a:avLst/>
          </a:prstGeom>
          <a:noFill/>
        </p:spPr>
        <p:txBody>
          <a:bodyPr wrap="square" anchor="t" lIns="0" rIns="0" tIns="0" bIns="0">
            <a:spAutoFit/>
          </a:bodyPr>
          <a:lstStyle/>
          <a:p>
            <a:pPr algn="l">
              <a:lnSpc>
                <a:spcPct val="125000"/>
              </a:lnSpc>
            </a:pPr>
            <a:r>
              <a:rPr sz="1100" b="1" i="0">
                <a:solidFill>
                  <a:srgbClr val="3D7BD9"/>
                </a:solidFill>
                <a:latin typeface="Source Han Sans SC"/>
              </a:rPr>
              <a:t>check in this order</a:t>
            </a:r>
          </a:p>
        </p:txBody>
      </p:sp>
      <p:sp>
        <p:nvSpPr>
          <p:cNvPr id="23" name="TextBox 22"/>
          <p:cNvSpPr txBox="1"/>
          <p:nvPr/>
        </p:nvSpPr>
        <p:spPr>
          <a:xfrm>
            <a:off x="8228879" y="1915200"/>
            <a:ext cx="2940839" cy="1612799"/>
          </a:xfrm>
          <a:prstGeom prst="rect">
            <a:avLst/>
          </a:prstGeom>
          <a:noFill/>
        </p:spPr>
        <p:txBody>
          <a:bodyPr wrap="square" anchor="t" lIns="0" rIns="0" tIns="0" bIns="0">
            <a:spAutoFit/>
          </a:bodyPr>
          <a:lstStyle/>
          <a:p>
            <a:pPr algn="l">
              <a:lnSpc>
                <a:spcPct val="140000"/>
              </a:lnSpc>
              <a:spcAft>
                <a:spcPts val="400"/>
              </a:spcAft>
            </a:pPr>
            <a:r>
              <a:rPr sz="1200" b="0" i="0">
                <a:solidFill>
                  <a:srgbClr val="1F2937"/>
                </a:solidFill>
                <a:latin typeface="Source Han Sans SC"/>
              </a:rPr>
              <a:t>• nan / inf -&gt; lr too large, divide by 10</a:t>
            </a:r>
          </a:p>
          <a:p>
            <a:pPr algn="l">
              <a:lnSpc>
                <a:spcPct val="140000"/>
              </a:lnSpc>
              <a:spcAft>
                <a:spcPts val="400"/>
              </a:spcAft>
            </a:pPr>
            <a:r>
              <a:rPr sz="1200" b="0" i="0">
                <a:solidFill>
                  <a:srgbClr val="1F2937"/>
                </a:solidFill>
                <a:latin typeface="Source Han Sans SC"/>
              </a:rPr>
              <a:t>• Barely moving -&gt; lr too small</a:t>
            </a:r>
          </a:p>
          <a:p>
            <a:pPr algn="l">
              <a:lnSpc>
                <a:spcPct val="140000"/>
              </a:lnSpc>
              <a:spcAft>
                <a:spcPts val="400"/>
              </a:spcAft>
            </a:pPr>
            <a:r>
              <a:rPr sz="1200" b="0" i="0">
                <a:solidFill>
                  <a:srgbClr val="1F2937"/>
                </a:solidFill>
                <a:latin typeface="Source Han Sans SC"/>
              </a:rPr>
              <a:t>• Accuracy stalls -&gt; an extra activation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Lab 4 Submission Checklist</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28 / 31</a:t>
            </a:r>
          </a:p>
        </p:txBody>
      </p:sp>
      <p:sp>
        <p:nvSpPr>
          <p:cNvPr id="9" name="Rectangle 8"/>
          <p:cNvSpPr/>
          <p:nvPr/>
        </p:nvSpPr>
        <p:spPr>
          <a:xfrm>
            <a:off x="799200" y="1278000"/>
            <a:ext cx="10593719" cy="774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278000"/>
            <a:ext cx="32400" cy="77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979200" y="1465200"/>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79200" y="1537199"/>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13" name="TextBox 12"/>
          <p:cNvSpPr txBox="1"/>
          <p:nvPr/>
        </p:nvSpPr>
        <p:spPr>
          <a:xfrm>
            <a:off x="2023200" y="13931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Training script with a reproducible command</a:t>
            </a:r>
          </a:p>
        </p:txBody>
      </p:sp>
      <p:sp>
        <p:nvSpPr>
          <p:cNvPr id="14" name="TextBox 13"/>
          <p:cNvSpPr txBox="1"/>
          <p:nvPr/>
        </p:nvSpPr>
        <p:spPr>
          <a:xfrm>
            <a:off x="2023200" y="1620000"/>
            <a:ext cx="9153719" cy="377999"/>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One script produces all nine runs, and the README gives a command you can paste and run.</a:t>
            </a:r>
          </a:p>
        </p:txBody>
      </p:sp>
      <p:sp>
        <p:nvSpPr>
          <p:cNvPr id="15" name="Rectangle 14"/>
          <p:cNvSpPr/>
          <p:nvPr/>
        </p:nvSpPr>
        <p:spPr>
          <a:xfrm>
            <a:off x="799200" y="2203199"/>
            <a:ext cx="10593719" cy="774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799200" y="2203199"/>
            <a:ext cx="32400" cy="77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79200" y="23903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79200" y="2462399"/>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19" name="TextBox 18"/>
          <p:cNvSpPr txBox="1"/>
          <p:nvPr/>
        </p:nvSpPr>
        <p:spPr>
          <a:xfrm>
            <a:off x="2023200" y="23184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The 3 x 3 hyper-parameter table</a:t>
            </a:r>
          </a:p>
        </p:txBody>
      </p:sp>
      <p:sp>
        <p:nvSpPr>
          <p:cNvPr id="20" name="TextBox 19"/>
          <p:cNvSpPr txBox="1"/>
          <p:nvPr/>
        </p:nvSpPr>
        <p:spPr>
          <a:xfrm>
            <a:off x="2023200" y="2545200"/>
            <a:ext cx="9153719" cy="377999"/>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Nine rows: optimizer, lr, minimum val loss, maximum val accuracy, converged or not.</a:t>
            </a:r>
          </a:p>
        </p:txBody>
      </p:sp>
      <p:sp>
        <p:nvSpPr>
          <p:cNvPr id="21" name="Rectangle 20"/>
          <p:cNvSpPr/>
          <p:nvPr/>
        </p:nvSpPr>
        <p:spPr>
          <a:xfrm>
            <a:off x="799200" y="3128400"/>
            <a:ext cx="10593719" cy="774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99200" y="3128400"/>
            <a:ext cx="32400" cy="77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79200" y="33155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79200" y="33876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25" name="TextBox 24"/>
          <p:cNvSpPr txBox="1"/>
          <p:nvPr/>
        </p:nvSpPr>
        <p:spPr>
          <a:xfrm>
            <a:off x="2023200" y="3243600"/>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Loss / accuracy curves</a:t>
            </a:r>
          </a:p>
        </p:txBody>
      </p:sp>
      <p:sp>
        <p:nvSpPr>
          <p:cNvPr id="26" name="TextBox 25"/>
          <p:cNvSpPr txBox="1"/>
          <p:nvPr/>
        </p:nvSpPr>
        <p:spPr>
          <a:xfrm>
            <a:off x="2023200" y="3470399"/>
            <a:ext cx="9153719" cy="378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At least one chart with three or more curves on shared axes, labelled with optimizer and lr.</a:t>
            </a:r>
          </a:p>
        </p:txBody>
      </p:sp>
      <p:sp>
        <p:nvSpPr>
          <p:cNvPr id="27" name="Rectangle 26"/>
          <p:cNvSpPr/>
          <p:nvPr/>
        </p:nvSpPr>
        <p:spPr>
          <a:xfrm>
            <a:off x="799200" y="4053599"/>
            <a:ext cx="10593719" cy="774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799200" y="4053599"/>
            <a:ext cx="32400" cy="77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79200" y="4240799"/>
            <a:ext cx="900000" cy="324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79200" y="4312799"/>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MUST</a:t>
            </a:r>
          </a:p>
        </p:txBody>
      </p:sp>
      <p:sp>
        <p:nvSpPr>
          <p:cNvPr id="31" name="TextBox 30"/>
          <p:cNvSpPr txBox="1"/>
          <p:nvPr/>
        </p:nvSpPr>
        <p:spPr>
          <a:xfrm>
            <a:off x="2023200" y="41687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One "does not converge" debugging log</a:t>
            </a:r>
          </a:p>
        </p:txBody>
      </p:sp>
      <p:sp>
        <p:nvSpPr>
          <p:cNvPr id="32" name="TextBox 31"/>
          <p:cNvSpPr txBox="1"/>
          <p:nvPr/>
        </p:nvSpPr>
        <p:spPr>
          <a:xfrm>
            <a:off x="2023200" y="4395599"/>
            <a:ext cx="9153719" cy="378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Symptom, hypothesis, how you tested it, conclusion — lr first, then data, then code.</a:t>
            </a:r>
          </a:p>
        </p:txBody>
      </p:sp>
      <p:sp>
        <p:nvSpPr>
          <p:cNvPr id="33" name="Rectangle 32"/>
          <p:cNvSpPr/>
          <p:nvPr/>
        </p:nvSpPr>
        <p:spPr>
          <a:xfrm>
            <a:off x="799200" y="4978799"/>
            <a:ext cx="10593719" cy="774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99200" y="4978799"/>
            <a:ext cx="32400" cy="77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979200" y="5165999"/>
            <a:ext cx="900000" cy="324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9200" y="5238000"/>
            <a:ext cx="900000" cy="180000"/>
          </a:xfrm>
          <a:prstGeom prst="rect">
            <a:avLst/>
          </a:prstGeom>
          <a:noFill/>
        </p:spPr>
        <p:txBody>
          <a:bodyPr wrap="square" anchor="t" lIns="0" rIns="0" tIns="0" bIns="0">
            <a:spAutoFit/>
          </a:bodyPr>
          <a:lstStyle/>
          <a:p>
            <a:pPr algn="ctr">
              <a:lnSpc>
                <a:spcPct val="125000"/>
              </a:lnSpc>
            </a:pPr>
            <a:r>
              <a:rPr sz="1150" b="1" i="0">
                <a:solidFill>
                  <a:srgbClr val="FFFFFF"/>
                </a:solidFill>
                <a:latin typeface="Source Han Sans SC"/>
              </a:rPr>
              <a:t>BONUS</a:t>
            </a:r>
          </a:p>
        </p:txBody>
      </p:sp>
      <p:sp>
        <p:nvSpPr>
          <p:cNvPr id="37" name="TextBox 36"/>
          <p:cNvSpPr txBox="1"/>
          <p:nvPr/>
        </p:nvSpPr>
        <p:spPr>
          <a:xfrm>
            <a:off x="2023200" y="5093999"/>
            <a:ext cx="9153719" cy="198000"/>
          </a:xfrm>
          <a:prstGeom prst="rect">
            <a:avLst/>
          </a:prstGeom>
          <a:noFill/>
        </p:spPr>
        <p:txBody>
          <a:bodyPr wrap="square" anchor="t" lIns="0" rIns="0" tIns="0" bIns="0">
            <a:spAutoFit/>
          </a:bodyPr>
          <a:lstStyle/>
          <a:p>
            <a:pPr algn="l">
              <a:lnSpc>
                <a:spcPct val="125000"/>
              </a:lnSpc>
            </a:pPr>
            <a:r>
              <a:rPr sz="1400" b="1" i="0">
                <a:solidFill>
                  <a:srgbClr val="0E3F8C"/>
                </a:solidFill>
                <a:latin typeface="Source Han Sans SC"/>
              </a:rPr>
              <a:t>AI collaboration trace (stating where AI was wrong)</a:t>
            </a:r>
          </a:p>
        </p:txBody>
      </p:sp>
      <p:sp>
        <p:nvSpPr>
          <p:cNvPr id="38" name="TextBox 37"/>
          <p:cNvSpPr txBox="1"/>
          <p:nvPr/>
        </p:nvSpPr>
        <p:spPr>
          <a:xfrm>
            <a:off x="2023200" y="5320799"/>
            <a:ext cx="9153719" cy="378000"/>
          </a:xfrm>
          <a:prstGeom prst="rect">
            <a:avLst/>
          </a:prstGeom>
          <a:noFill/>
        </p:spPr>
        <p:txBody>
          <a:bodyPr wrap="square" anchor="t" lIns="0" rIns="0" tIns="0" bIns="0">
            <a:spAutoFit/>
          </a:bodyPr>
          <a:lstStyle/>
          <a:p>
            <a:pPr algn="l">
              <a:lnSpc>
                <a:spcPct val="130000"/>
              </a:lnSpc>
            </a:pPr>
            <a:r>
              <a:rPr sz="1150" b="0" i="0">
                <a:solidFill>
                  <a:srgbClr val="6B7280"/>
                </a:solidFill>
                <a:latin typeface="Source Han Sans SC"/>
              </a:rPr>
              <a:t>Record one hyper-parameter suggestion from AI and the controlled run that confirmed or refuted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Quick Check</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29 / 31</a:t>
            </a:r>
          </a:p>
        </p:txBody>
      </p:sp>
      <p:sp>
        <p:nvSpPr>
          <p:cNvPr id="9" name="Rectangle 8"/>
          <p:cNvSpPr/>
          <p:nvPr/>
        </p:nvSpPr>
        <p:spPr>
          <a:xfrm>
            <a:off x="799200" y="1134000"/>
            <a:ext cx="5197859" cy="159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997200" y="1296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97200" y="1342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Loss</a:t>
            </a:r>
          </a:p>
        </p:txBody>
      </p:sp>
      <p:sp>
        <p:nvSpPr>
          <p:cNvPr id="12" name="TextBox 11"/>
          <p:cNvSpPr txBox="1"/>
          <p:nvPr/>
        </p:nvSpPr>
        <p:spPr>
          <a:xfrm>
            <a:off x="2005200" y="1296000"/>
            <a:ext cx="3793859" cy="595679"/>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A 10-class image classification task: which loss?</a:t>
            </a:r>
          </a:p>
        </p:txBody>
      </p:sp>
      <p:sp>
        <p:nvSpPr>
          <p:cNvPr id="13" name="TextBox 12"/>
          <p:cNvSpPr txBox="1"/>
          <p:nvPr/>
        </p:nvSpPr>
        <p:spPr>
          <a:xfrm>
            <a:off x="997200" y="1908000"/>
            <a:ext cx="4801859" cy="750000"/>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nn.MSELoss</a:t>
            </a:r>
          </a:p>
          <a:p>
            <a:pPr algn="l">
              <a:lnSpc>
                <a:spcPct val="134000"/>
              </a:lnSpc>
              <a:spcAft>
                <a:spcPts val="300"/>
              </a:spcAft>
            </a:pPr>
            <a:r>
              <a:rPr sz="1150" b="0" i="0">
                <a:solidFill>
                  <a:srgbClr val="1F2937"/>
                </a:solidFill>
                <a:latin typeface="Source Han Sans SC"/>
              </a:rPr>
              <a:t>B. nn.CrossEntropyLoss (softmax inside)</a:t>
            </a:r>
          </a:p>
          <a:p>
            <a:pPr algn="l">
              <a:lnSpc>
                <a:spcPct val="134000"/>
              </a:lnSpc>
              <a:spcAft>
                <a:spcPts val="300"/>
              </a:spcAft>
            </a:pPr>
            <a:r>
              <a:rPr sz="1150" b="0" i="0">
                <a:solidFill>
                  <a:srgbClr val="1F2937"/>
                </a:solidFill>
                <a:latin typeface="Source Han Sans SC"/>
              </a:rPr>
              <a:t>C. nn.BCEWithLogitsLoss</a:t>
            </a:r>
          </a:p>
        </p:txBody>
      </p:sp>
      <p:sp>
        <p:nvSpPr>
          <p:cNvPr id="14" name="Rectangle 13"/>
          <p:cNvSpPr/>
          <p:nvPr/>
        </p:nvSpPr>
        <p:spPr>
          <a:xfrm>
            <a:off x="6195059" y="1134000"/>
            <a:ext cx="5197859" cy="159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393059" y="1296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93059" y="1342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Pitfall</a:t>
            </a:r>
          </a:p>
        </p:txBody>
      </p:sp>
      <p:sp>
        <p:nvSpPr>
          <p:cNvPr id="17" name="TextBox 16"/>
          <p:cNvSpPr txBox="1"/>
          <p:nvPr/>
        </p:nvSpPr>
        <p:spPr>
          <a:xfrm>
            <a:off x="7401059" y="1296000"/>
            <a:ext cx="3793859" cy="595679"/>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Softmax the logits, then feed CrossEntropyLoss. What happens?</a:t>
            </a:r>
          </a:p>
        </p:txBody>
      </p:sp>
      <p:sp>
        <p:nvSpPr>
          <p:cNvPr id="18" name="TextBox 17"/>
          <p:cNvSpPr txBox="1"/>
          <p:nvPr/>
        </p:nvSpPr>
        <p:spPr>
          <a:xfrm>
            <a:off x="6393059" y="1908000"/>
            <a:ext cx="4801859" cy="750000"/>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No effect at all</a:t>
            </a:r>
          </a:p>
          <a:p>
            <a:pPr algn="l">
              <a:lnSpc>
                <a:spcPct val="134000"/>
              </a:lnSpc>
              <a:spcAft>
                <a:spcPts val="300"/>
              </a:spcAft>
            </a:pPr>
            <a:r>
              <a:rPr sz="1150" b="0" i="0">
                <a:solidFill>
                  <a:srgbClr val="1F2937"/>
                </a:solidFill>
                <a:latin typeface="Source Han Sans SC"/>
              </a:rPr>
              <a:t>B. Softmax twice: probabilities squeezed, gradients shrink</a:t>
            </a:r>
          </a:p>
          <a:p>
            <a:pPr algn="l">
              <a:lnSpc>
                <a:spcPct val="134000"/>
              </a:lnSpc>
              <a:spcAft>
                <a:spcPts val="300"/>
              </a:spcAft>
            </a:pPr>
            <a:r>
              <a:rPr sz="1150" b="0" i="0">
                <a:solidFill>
                  <a:srgbClr val="1F2937"/>
                </a:solidFill>
                <a:latin typeface="Source Han Sans SC"/>
              </a:rPr>
              <a:t>C. It raises an error immediately</a:t>
            </a:r>
          </a:p>
        </p:txBody>
      </p:sp>
      <p:sp>
        <p:nvSpPr>
          <p:cNvPr id="19" name="Rectangle 18"/>
          <p:cNvSpPr/>
          <p:nvPr/>
        </p:nvSpPr>
        <p:spPr>
          <a:xfrm>
            <a:off x="799200" y="2928000"/>
            <a:ext cx="5197859" cy="159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97200" y="3089999"/>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97200" y="3136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Optimizer</a:t>
            </a:r>
          </a:p>
        </p:txBody>
      </p:sp>
      <p:sp>
        <p:nvSpPr>
          <p:cNvPr id="22" name="TextBox 21"/>
          <p:cNvSpPr txBox="1"/>
          <p:nvPr/>
        </p:nvSpPr>
        <p:spPr>
          <a:xfrm>
            <a:off x="2005200" y="3089999"/>
            <a:ext cx="3793859" cy="351839"/>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Which statement is correct?</a:t>
            </a:r>
          </a:p>
        </p:txBody>
      </p:sp>
      <p:sp>
        <p:nvSpPr>
          <p:cNvPr id="23" name="TextBox 22"/>
          <p:cNvSpPr txBox="1"/>
          <p:nvPr/>
        </p:nvSpPr>
        <p:spPr>
          <a:xfrm>
            <a:off x="997200" y="3702000"/>
            <a:ext cx="4801859" cy="749999"/>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Adam needs no learning rate</a:t>
            </a:r>
          </a:p>
          <a:p>
            <a:pPr algn="l">
              <a:lnSpc>
                <a:spcPct val="134000"/>
              </a:lnSpc>
              <a:spcAft>
                <a:spcPts val="300"/>
              </a:spcAft>
            </a:pPr>
            <a:r>
              <a:rPr sz="1150" b="0" i="0">
                <a:solidFill>
                  <a:srgbClr val="1F2937"/>
                </a:solidFill>
                <a:latin typeface="Source Han Sans SC"/>
              </a:rPr>
              <a:t>B. Momentum accumulates past gradients into inertia</a:t>
            </a:r>
          </a:p>
          <a:p>
            <a:pPr algn="l">
              <a:lnSpc>
                <a:spcPct val="134000"/>
              </a:lnSpc>
              <a:spcAft>
                <a:spcPts val="300"/>
              </a:spcAft>
            </a:pPr>
            <a:r>
              <a:rPr sz="1150" b="0" i="0">
                <a:solidFill>
                  <a:srgbClr val="1F2937"/>
                </a:solidFill>
                <a:latin typeface="Source Han Sans SC"/>
              </a:rPr>
              <a:t>C. SGD always converges faster than Adam</a:t>
            </a:r>
          </a:p>
        </p:txBody>
      </p:sp>
      <p:sp>
        <p:nvSpPr>
          <p:cNvPr id="24" name="Rectangle 23"/>
          <p:cNvSpPr/>
          <p:nvPr/>
        </p:nvSpPr>
        <p:spPr>
          <a:xfrm>
            <a:off x="6195059" y="2928000"/>
            <a:ext cx="5197859" cy="159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393059" y="3089999"/>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93059" y="3136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Learning rate</a:t>
            </a:r>
          </a:p>
        </p:txBody>
      </p:sp>
      <p:sp>
        <p:nvSpPr>
          <p:cNvPr id="27" name="TextBox 26"/>
          <p:cNvSpPr txBox="1"/>
          <p:nvPr/>
        </p:nvSpPr>
        <p:spPr>
          <a:xfrm>
            <a:off x="7401059" y="3089999"/>
            <a:ext cx="3793859" cy="595679"/>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The loss becomes nan in epoch 1. What do you check first?</a:t>
            </a:r>
          </a:p>
        </p:txBody>
      </p:sp>
      <p:sp>
        <p:nvSpPr>
          <p:cNvPr id="28" name="TextBox 27"/>
          <p:cNvSpPr txBox="1"/>
          <p:nvPr/>
        </p:nvSpPr>
        <p:spPr>
          <a:xfrm>
            <a:off x="6393059" y="3702000"/>
            <a:ext cx="4801859" cy="749999"/>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Switch to a deeper model</a:t>
            </a:r>
          </a:p>
          <a:p>
            <a:pPr algn="l">
              <a:lnSpc>
                <a:spcPct val="134000"/>
              </a:lnSpc>
              <a:spcAft>
                <a:spcPts val="300"/>
              </a:spcAft>
            </a:pPr>
            <a:r>
              <a:rPr sz="1150" b="0" i="0">
                <a:solidFill>
                  <a:srgbClr val="1F2937"/>
                </a:solidFill>
                <a:latin typeface="Source Han Sans SC"/>
              </a:rPr>
              <a:t>B. Whether the learning rate is too large</a:t>
            </a:r>
          </a:p>
          <a:p>
            <a:pPr algn="l">
              <a:lnSpc>
                <a:spcPct val="134000"/>
              </a:lnSpc>
              <a:spcAft>
                <a:spcPts val="300"/>
              </a:spcAft>
            </a:pPr>
            <a:r>
              <a:rPr sz="1150" b="0" i="0">
                <a:solidFill>
                  <a:srgbClr val="1F2937"/>
                </a:solidFill>
                <a:latin typeface="Source Han Sans SC"/>
              </a:rPr>
              <a:t>C. Add more epochs</a:t>
            </a:r>
          </a:p>
        </p:txBody>
      </p:sp>
      <p:sp>
        <p:nvSpPr>
          <p:cNvPr id="29" name="Rectangle 28"/>
          <p:cNvSpPr/>
          <p:nvPr/>
        </p:nvSpPr>
        <p:spPr>
          <a:xfrm>
            <a:off x="799200" y="4722000"/>
            <a:ext cx="5197859" cy="159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97200" y="4884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97200" y="4930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Five steps</a:t>
            </a:r>
          </a:p>
        </p:txBody>
      </p:sp>
      <p:sp>
        <p:nvSpPr>
          <p:cNvPr id="32" name="TextBox 31"/>
          <p:cNvSpPr txBox="1"/>
          <p:nvPr/>
        </p:nvSpPr>
        <p:spPr>
          <a:xfrm>
            <a:off x="2005200" y="4884000"/>
            <a:ext cx="3793859" cy="595679"/>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What is the correct order of the five steps?</a:t>
            </a:r>
          </a:p>
        </p:txBody>
      </p:sp>
      <p:sp>
        <p:nvSpPr>
          <p:cNvPr id="33" name="TextBox 32"/>
          <p:cNvSpPr txBox="1"/>
          <p:nvPr/>
        </p:nvSpPr>
        <p:spPr>
          <a:xfrm>
            <a:off x="997200" y="5496000"/>
            <a:ext cx="4801859" cy="749999"/>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forward → zero → loss → backward → step</a:t>
            </a:r>
          </a:p>
          <a:p>
            <a:pPr algn="l">
              <a:lnSpc>
                <a:spcPct val="134000"/>
              </a:lnSpc>
              <a:spcAft>
                <a:spcPts val="300"/>
              </a:spcAft>
            </a:pPr>
            <a:r>
              <a:rPr sz="1150" b="0" i="0">
                <a:solidFill>
                  <a:srgbClr val="1F2937"/>
                </a:solidFill>
                <a:latin typeface="Source Han Sans SC"/>
              </a:rPr>
              <a:t>B. zero → forward → loss → backward → step</a:t>
            </a:r>
          </a:p>
          <a:p>
            <a:pPr algn="l">
              <a:lnSpc>
                <a:spcPct val="134000"/>
              </a:lnSpc>
              <a:spcAft>
                <a:spcPts val="300"/>
              </a:spcAft>
            </a:pPr>
            <a:r>
              <a:rPr sz="1150" b="0" i="0">
                <a:solidFill>
                  <a:srgbClr val="1F2937"/>
                </a:solidFill>
                <a:latin typeface="Source Han Sans SC"/>
              </a:rPr>
              <a:t>C. zero → loss → forward → step → backward</a:t>
            </a:r>
          </a:p>
        </p:txBody>
      </p:sp>
      <p:sp>
        <p:nvSpPr>
          <p:cNvPr id="34" name="Rectangle 33"/>
          <p:cNvSpPr/>
          <p:nvPr/>
        </p:nvSpPr>
        <p:spPr>
          <a:xfrm>
            <a:off x="6195059" y="4722000"/>
            <a:ext cx="5197859" cy="1596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393059" y="4884000"/>
            <a:ext cx="900000" cy="2232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93059" y="4930800"/>
            <a:ext cx="900000" cy="151200"/>
          </a:xfrm>
          <a:prstGeom prst="rect">
            <a:avLst/>
          </a:prstGeom>
          <a:noFill/>
        </p:spPr>
        <p:txBody>
          <a:bodyPr wrap="square" anchor="t" lIns="0" rIns="0" tIns="0" bIns="0">
            <a:spAutoFit/>
          </a:bodyPr>
          <a:lstStyle/>
          <a:p>
            <a:pPr algn="ctr">
              <a:lnSpc>
                <a:spcPct val="125000"/>
              </a:lnSpc>
            </a:pPr>
            <a:r>
              <a:rPr sz="1050" b="1" i="0">
                <a:solidFill>
                  <a:srgbClr val="FFFFFF"/>
                </a:solidFill>
                <a:latin typeface="Source Han Sans SC"/>
              </a:rPr>
              <a:t>Batch size</a:t>
            </a:r>
          </a:p>
        </p:txBody>
      </p:sp>
      <p:sp>
        <p:nvSpPr>
          <p:cNvPr id="37" name="TextBox 36"/>
          <p:cNvSpPr txBox="1"/>
          <p:nvPr/>
        </p:nvSpPr>
        <p:spPr>
          <a:xfrm>
            <a:off x="7401059" y="4884000"/>
            <a:ext cx="3793859" cy="595679"/>
          </a:xfrm>
          <a:prstGeom prst="rect">
            <a:avLst/>
          </a:prstGeom>
          <a:noFill/>
        </p:spPr>
        <p:txBody>
          <a:bodyPr wrap="square" anchor="t" lIns="0" rIns="0" tIns="0" bIns="0">
            <a:spAutoFit/>
          </a:bodyPr>
          <a:lstStyle/>
          <a:p>
            <a:pPr algn="l">
              <a:lnSpc>
                <a:spcPct val="128000"/>
              </a:lnSpc>
            </a:pPr>
            <a:r>
              <a:rPr sz="1250" b="1" i="0">
                <a:solidFill>
                  <a:srgbClr val="0E3F8C"/>
                </a:solidFill>
                <a:latin typeface="Source Han Sans SC"/>
              </a:rPr>
              <a:t>Raising the batch size from 64 to 512 usually requires what?</a:t>
            </a:r>
          </a:p>
        </p:txBody>
      </p:sp>
      <p:sp>
        <p:nvSpPr>
          <p:cNvPr id="38" name="TextBox 37"/>
          <p:cNvSpPr txBox="1"/>
          <p:nvPr/>
        </p:nvSpPr>
        <p:spPr>
          <a:xfrm>
            <a:off x="6393059" y="5496000"/>
            <a:ext cx="4801859" cy="749999"/>
          </a:xfrm>
          <a:prstGeom prst="rect">
            <a:avLst/>
          </a:prstGeom>
          <a:noFill/>
        </p:spPr>
        <p:txBody>
          <a:bodyPr wrap="square" anchor="t" lIns="0" rIns="0" tIns="0" bIns="0">
            <a:spAutoFit/>
          </a:bodyPr>
          <a:lstStyle/>
          <a:p>
            <a:pPr algn="l">
              <a:lnSpc>
                <a:spcPct val="134000"/>
              </a:lnSpc>
              <a:spcAft>
                <a:spcPts val="300"/>
              </a:spcAft>
            </a:pPr>
            <a:r>
              <a:rPr sz="1150" b="0" i="0">
                <a:solidFill>
                  <a:srgbClr val="1F2937"/>
                </a:solidFill>
                <a:latin typeface="Source Han Sans SC"/>
              </a:rPr>
              <a:t>A. Scale the learning rate up and check that VRAM fits</a:t>
            </a:r>
          </a:p>
          <a:p>
            <a:pPr algn="l">
              <a:lnSpc>
                <a:spcPct val="134000"/>
              </a:lnSpc>
              <a:spcAft>
                <a:spcPts val="300"/>
              </a:spcAft>
            </a:pPr>
            <a:r>
              <a:rPr sz="1150" b="0" i="0">
                <a:solidFill>
                  <a:srgbClr val="1F2937"/>
                </a:solidFill>
                <a:latin typeface="Source Han Sans SC"/>
              </a:rPr>
              <a:t>B. Scale the learning rate down</a:t>
            </a:r>
          </a:p>
          <a:p>
            <a:pPr algn="l">
              <a:lnSpc>
                <a:spcPct val="134000"/>
              </a:lnSpc>
              <a:spcAft>
                <a:spcPts val="300"/>
              </a:spcAft>
            </a:pPr>
            <a:r>
              <a:rPr sz="1150" b="0" i="0">
                <a:solidFill>
                  <a:srgbClr val="1F2937"/>
                </a:solidFill>
                <a:latin typeface="Source Han Sans SC"/>
              </a:rPr>
              <a:t>C. Unrelated to the lr; it only affects speed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76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763200"/>
            <a:ext cx="12192119" cy="1440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99200" y="255600"/>
            <a:ext cx="7713719" cy="259200"/>
          </a:xfrm>
          <a:prstGeom prst="rect">
            <a:avLst/>
          </a:prstGeom>
          <a:noFill/>
        </p:spPr>
        <p:txBody>
          <a:bodyPr wrap="square" anchor="t" lIns="0" rIns="0" tIns="0" bIns="0">
            <a:spAutoFit/>
          </a:bodyPr>
          <a:lstStyle/>
          <a:p>
            <a:pPr algn="l">
              <a:lnSpc>
                <a:spcPct val="125000"/>
              </a:lnSpc>
            </a:pPr>
            <a:r>
              <a:rPr sz="1900" b="1" i="0">
                <a:solidFill>
                  <a:srgbClr val="0E3F8C"/>
                </a:solidFill>
                <a:latin typeface="Source Han Sans SC"/>
              </a:rPr>
              <a:t>Week 5 Summary</a:t>
            </a:r>
          </a:p>
        </p:txBody>
      </p:sp>
      <p:sp>
        <p:nvSpPr>
          <p:cNvPr id="6" name="TextBox 5"/>
          <p:cNvSpPr txBox="1"/>
          <p:nvPr/>
        </p:nvSpPr>
        <p:spPr>
          <a:xfrm>
            <a:off x="8656919" y="295200"/>
            <a:ext cx="2736000" cy="180000"/>
          </a:xfrm>
          <a:prstGeom prst="rect">
            <a:avLst/>
          </a:prstGeom>
          <a:noFill/>
        </p:spPr>
        <p:txBody>
          <a:bodyPr wrap="square" anchor="t" lIns="0" rIns="0" tIns="0" bIns="0">
            <a:spAutoFit/>
          </a:bodyPr>
          <a:lstStyle/>
          <a:p>
            <a:pPr algn="r">
              <a:lnSpc>
                <a:spcPct val="125000"/>
              </a:lnSpc>
            </a:pPr>
            <a:r>
              <a:rPr sz="1100" b="0" i="0">
                <a:solidFill>
                  <a:srgbClr val="6B7280"/>
                </a:solidFill>
                <a:latin typeface="Source Han Sans SC"/>
              </a:rPr>
              <a:t>Module 2 · Week 5</a:t>
            </a:r>
          </a:p>
        </p:txBody>
      </p:sp>
      <p:sp>
        <p:nvSpPr>
          <p:cNvPr id="7" name="TextBox 6"/>
          <p:cNvSpPr txBox="1"/>
          <p:nvPr/>
        </p:nvSpPr>
        <p:spPr>
          <a:xfrm>
            <a:off x="799200" y="6494400"/>
            <a:ext cx="432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a:t>
            </a:r>
          </a:p>
        </p:txBody>
      </p:sp>
      <p:sp>
        <p:nvSpPr>
          <p:cNvPr id="8" name="TextBox 7"/>
          <p:cNvSpPr txBox="1"/>
          <p:nvPr/>
        </p:nvSpPr>
        <p:spPr>
          <a:xfrm>
            <a:off x="10312920" y="6494400"/>
            <a:ext cx="1080000" cy="162000"/>
          </a:xfrm>
          <a:prstGeom prst="rect">
            <a:avLst/>
          </a:prstGeom>
          <a:noFill/>
        </p:spPr>
        <p:txBody>
          <a:bodyPr wrap="square" anchor="t" lIns="0" rIns="0" tIns="0" bIns="0">
            <a:spAutoFit/>
          </a:bodyPr>
          <a:lstStyle/>
          <a:p>
            <a:pPr algn="r">
              <a:lnSpc>
                <a:spcPct val="125000"/>
              </a:lnSpc>
            </a:pPr>
            <a:r>
              <a:rPr sz="1000" b="0" i="0">
                <a:solidFill>
                  <a:srgbClr val="6B7280"/>
                </a:solidFill>
                <a:latin typeface="Source Han Sans SC"/>
              </a:rPr>
              <a:t>30 / 31</a:t>
            </a:r>
          </a:p>
        </p:txBody>
      </p:sp>
      <p:sp>
        <p:nvSpPr>
          <p:cNvPr id="9" name="Rectangle 8"/>
          <p:cNvSpPr/>
          <p:nvPr/>
        </p:nvSpPr>
        <p:spPr>
          <a:xfrm>
            <a:off x="799200" y="11520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9200" y="11520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99200" y="13500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1</a:t>
            </a:r>
          </a:p>
        </p:txBody>
      </p:sp>
      <p:sp>
        <p:nvSpPr>
          <p:cNvPr id="12" name="TextBox 11"/>
          <p:cNvSpPr txBox="1"/>
          <p:nvPr/>
        </p:nvSpPr>
        <p:spPr>
          <a:xfrm>
            <a:off x="1429200" y="12780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Pick the loss by task: CrossEntropyLoss for multi-class, BCEWithLogitsLoss for binary, MSELoss for regression; a "WithLogits" loss already contains the activation, so do not add another.</a:t>
            </a:r>
          </a:p>
        </p:txBody>
      </p:sp>
      <p:sp>
        <p:nvSpPr>
          <p:cNvPr id="13" name="Rectangle 12"/>
          <p:cNvSpPr/>
          <p:nvPr/>
        </p:nvSpPr>
        <p:spPr>
          <a:xfrm>
            <a:off x="799200" y="19692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9200" y="19692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9200" y="21672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2</a:t>
            </a:r>
          </a:p>
        </p:txBody>
      </p:sp>
      <p:sp>
        <p:nvSpPr>
          <p:cNvPr id="16" name="TextBox 15"/>
          <p:cNvSpPr txBox="1"/>
          <p:nvPr/>
        </p:nvSpPr>
        <p:spPr>
          <a:xfrm>
            <a:off x="1429200" y="2095199"/>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The optimizer decides how you walk: SGD uses the current gradient, momentum adds inertia, Adam adapts per parameter; Adam converges faster but costs more VRAM.</a:t>
            </a:r>
          </a:p>
        </p:txBody>
      </p:sp>
      <p:sp>
        <p:nvSpPr>
          <p:cNvPr id="17" name="Rectangle 16"/>
          <p:cNvSpPr/>
          <p:nvPr/>
        </p:nvSpPr>
        <p:spPr>
          <a:xfrm>
            <a:off x="799200" y="27864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99200" y="27864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9200" y="29844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3</a:t>
            </a:r>
          </a:p>
        </p:txBody>
      </p:sp>
      <p:sp>
        <p:nvSpPr>
          <p:cNvPr id="20" name="TextBox 19"/>
          <p:cNvSpPr txBox="1"/>
          <p:nvPr/>
        </p:nvSpPr>
        <p:spPr>
          <a:xfrm>
            <a:off x="1429200" y="29124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The learning rate is the first hyper-parameter: too large oscillates or explodes, too small barely moves; on a broken loss check it before reaching for warmup and decay.</a:t>
            </a:r>
          </a:p>
        </p:txBody>
      </p:sp>
      <p:sp>
        <p:nvSpPr>
          <p:cNvPr id="21" name="Rectangle 20"/>
          <p:cNvSpPr/>
          <p:nvPr/>
        </p:nvSpPr>
        <p:spPr>
          <a:xfrm>
            <a:off x="799200" y="36036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99200" y="36036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99200" y="38016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4</a:t>
            </a:r>
          </a:p>
        </p:txBody>
      </p:sp>
      <p:sp>
        <p:nvSpPr>
          <p:cNvPr id="24" name="TextBox 23"/>
          <p:cNvSpPr txBox="1"/>
          <p:nvPr/>
        </p:nvSpPr>
        <p:spPr>
          <a:xfrm>
            <a:off x="1429200" y="37296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The five-step loop: zero grads, forward, loss, backward, step. The order is not interchangeable and step 1 is the one most often dropped.</a:t>
            </a:r>
          </a:p>
        </p:txBody>
      </p:sp>
      <p:sp>
        <p:nvSpPr>
          <p:cNvPr id="25" name="Rectangle 24"/>
          <p:cNvSpPr/>
          <p:nvPr/>
        </p:nvSpPr>
        <p:spPr>
          <a:xfrm>
            <a:off x="799200" y="4420800"/>
            <a:ext cx="6696000" cy="666000"/>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99200" y="4420800"/>
            <a:ext cx="475200" cy="66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99200" y="4618800"/>
            <a:ext cx="475200" cy="251999"/>
          </a:xfrm>
          <a:prstGeom prst="rect">
            <a:avLst/>
          </a:prstGeom>
          <a:noFill/>
        </p:spPr>
        <p:txBody>
          <a:bodyPr wrap="square" anchor="t" lIns="0" rIns="0" tIns="0" bIns="0">
            <a:spAutoFit/>
          </a:bodyPr>
          <a:lstStyle/>
          <a:p>
            <a:pPr algn="ctr">
              <a:lnSpc>
                <a:spcPct val="125000"/>
              </a:lnSpc>
            </a:pPr>
            <a:r>
              <a:rPr sz="1900" b="1" i="0">
                <a:solidFill>
                  <a:srgbClr val="FFFFFF"/>
                </a:solidFill>
                <a:latin typeface="Source Han Sans SC"/>
              </a:rPr>
              <a:t>5</a:t>
            </a:r>
          </a:p>
        </p:txBody>
      </p:sp>
      <p:sp>
        <p:nvSpPr>
          <p:cNvPr id="28" name="TextBox 27"/>
          <p:cNvSpPr txBox="1"/>
          <p:nvPr/>
        </p:nvSpPr>
        <p:spPr>
          <a:xfrm>
            <a:off x="1429200" y="4546800"/>
            <a:ext cx="5832000" cy="414000"/>
          </a:xfrm>
          <a:prstGeom prst="rect">
            <a:avLst/>
          </a:prstGeom>
          <a:noFill/>
        </p:spPr>
        <p:txBody>
          <a:bodyPr wrap="square" anchor="ctr" lIns="0" rIns="0" tIns="0" bIns="0">
            <a:spAutoFit/>
          </a:bodyPr>
          <a:lstStyle/>
          <a:p>
            <a:pPr algn="l">
              <a:lnSpc>
                <a:spcPct val="135000"/>
              </a:lnSpc>
            </a:pPr>
            <a:r>
              <a:rPr sz="1300" b="0" i="0">
                <a:solidFill>
                  <a:srgbClr val="1F2937"/>
                </a:solidFill>
                <a:latin typeface="Source Han Sans SC"/>
              </a:rPr>
              <a:t>Experiments must leave evidence: log train/val loss and accuracy per epoch, change one variable at a time, and justify the winning combo with comparison data.</a:t>
            </a:r>
          </a:p>
        </p:txBody>
      </p:sp>
      <p:sp>
        <p:nvSpPr>
          <p:cNvPr id="29" name="Rectangle 28"/>
          <p:cNvSpPr/>
          <p:nvPr/>
        </p:nvSpPr>
        <p:spPr>
          <a:xfrm>
            <a:off x="7801200" y="1152000"/>
            <a:ext cx="3591719" cy="486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017200" y="1281599"/>
            <a:ext cx="3159719" cy="216000"/>
          </a:xfrm>
          <a:prstGeom prst="rect">
            <a:avLst/>
          </a:prstGeom>
          <a:noFill/>
        </p:spPr>
        <p:txBody>
          <a:bodyPr wrap="square" anchor="t" lIns="0" rIns="0" tIns="0" bIns="0">
            <a:spAutoFit/>
          </a:bodyPr>
          <a:lstStyle/>
          <a:p>
            <a:pPr algn="l">
              <a:lnSpc>
                <a:spcPct val="125000"/>
              </a:lnSpc>
            </a:pPr>
            <a:r>
              <a:rPr sz="1400" b="1" i="0">
                <a:solidFill>
                  <a:srgbClr val="FFFFFF"/>
                </a:solidFill>
                <a:latin typeface="Source Han Sans SC"/>
              </a:rPr>
              <a:t>After Class</a:t>
            </a:r>
          </a:p>
        </p:txBody>
      </p:sp>
      <p:sp>
        <p:nvSpPr>
          <p:cNvPr id="31" name="Rectangle 30"/>
          <p:cNvSpPr/>
          <p:nvPr/>
        </p:nvSpPr>
        <p:spPr>
          <a:xfrm>
            <a:off x="7801200" y="1818000"/>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17200" y="1969200"/>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Finish the Lab 4 deliverables</a:t>
            </a:r>
          </a:p>
        </p:txBody>
      </p:sp>
      <p:sp>
        <p:nvSpPr>
          <p:cNvPr id="33" name="TextBox 32"/>
          <p:cNvSpPr txBox="1"/>
          <p:nvPr/>
        </p:nvSpPr>
        <p:spPr>
          <a:xfrm>
            <a:off x="8017200" y="2221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Training script, the 3x3 hyper-parameter table, loss/accuracy curves, and one "does not converge" debugging log.</a:t>
            </a:r>
          </a:p>
        </p:txBody>
      </p:sp>
      <p:sp>
        <p:nvSpPr>
          <p:cNvPr id="34" name="Rectangle 33"/>
          <p:cNvSpPr/>
          <p:nvPr/>
        </p:nvSpPr>
        <p:spPr>
          <a:xfrm>
            <a:off x="7801200" y="2880000"/>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17200" y="3031200"/>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Write one AI collaboration trace</a:t>
            </a:r>
          </a:p>
        </p:txBody>
      </p:sp>
      <p:sp>
        <p:nvSpPr>
          <p:cNvPr id="36" name="TextBox 35"/>
          <p:cNvSpPr txBox="1"/>
          <p:nvPr/>
        </p:nvSpPr>
        <p:spPr>
          <a:xfrm>
            <a:off x="8017200" y="3283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Record one hyper-parameter suggestion from AI, what your run showed, and which part of it had no basis.</a:t>
            </a:r>
          </a:p>
        </p:txBody>
      </p:sp>
      <p:sp>
        <p:nvSpPr>
          <p:cNvPr id="37" name="Rectangle 36"/>
          <p:cNvSpPr/>
          <p:nvPr/>
        </p:nvSpPr>
        <p:spPr>
          <a:xfrm>
            <a:off x="7801200" y="3941999"/>
            <a:ext cx="3591719" cy="936000"/>
          </a:xfrm>
          <a:prstGeom prst="rect">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017200" y="4093199"/>
            <a:ext cx="3159719" cy="216000"/>
          </a:xfrm>
          <a:prstGeom prst="rect">
            <a:avLst/>
          </a:prstGeom>
          <a:noFill/>
        </p:spPr>
        <p:txBody>
          <a:bodyPr wrap="square" anchor="t" lIns="0" rIns="0" tIns="0" bIns="0">
            <a:spAutoFit/>
          </a:bodyPr>
          <a:lstStyle/>
          <a:p>
            <a:pPr algn="l">
              <a:lnSpc>
                <a:spcPct val="125000"/>
              </a:lnSpc>
            </a:pPr>
            <a:r>
              <a:rPr sz="1350" b="1" i="0">
                <a:solidFill>
                  <a:srgbClr val="0E3F8C"/>
                </a:solidFill>
                <a:latin typeface="Source Han Sans SC"/>
              </a:rPr>
              <a:t>Preview W6: regularisation and generalisation</a:t>
            </a:r>
          </a:p>
        </p:txBody>
      </p:sp>
      <p:sp>
        <p:nvSpPr>
          <p:cNvPr id="39" name="TextBox 38"/>
          <p:cNvSpPr txBox="1"/>
          <p:nvPr/>
        </p:nvSpPr>
        <p:spPr>
          <a:xfrm>
            <a:off x="8017200" y="4345200"/>
            <a:ext cx="3159719" cy="468000"/>
          </a:xfrm>
          <a:prstGeom prst="rect">
            <a:avLst/>
          </a:prstGeom>
          <a:noFill/>
        </p:spPr>
        <p:txBody>
          <a:bodyPr wrap="square" anchor="t" lIns="0" rIns="0" tIns="0" bIns="0">
            <a:spAutoFit/>
          </a:bodyPr>
          <a:lstStyle/>
          <a:p>
            <a:pPr algn="l">
              <a:lnSpc>
                <a:spcPct val="135000"/>
              </a:lnSpc>
            </a:pPr>
            <a:r>
              <a:rPr sz="1150" b="0" i="0">
                <a:solidFill>
                  <a:srgbClr val="6B7280"/>
                </a:solidFill>
                <a:latin typeface="Source Han Sans SC"/>
              </a:rPr>
              <a:t>Dropout, weight decay and early stopping — making this week's training loop steadier and less prone to overfitting.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119" cy="93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732919" y="381600"/>
            <a:ext cx="6667200" cy="5648400"/>
          </a:xfrm>
          <a:prstGeom prst="rect">
            <a:avLst/>
          </a:prstGeom>
          <a:noFill/>
        </p:spPr>
        <p:txBody>
          <a:bodyPr wrap="square" anchor="t" lIns="0" rIns="0" tIns="0" bIns="0">
            <a:spAutoFit/>
          </a:bodyPr>
          <a:lstStyle/>
          <a:p>
            <a:pPr algn="r">
              <a:lnSpc>
                <a:spcPct val="125000"/>
              </a:lnSpc>
            </a:pPr>
            <a:r>
              <a:rPr sz="17000" b="1" i="0">
                <a:solidFill>
                  <a:srgbClr val="F0F5FC"/>
                </a:solidFill>
                <a:latin typeface="Source Han Sans SC"/>
              </a:rPr>
              <a:t>05</a:t>
            </a:r>
          </a:p>
        </p:txBody>
      </p:sp>
      <p:sp>
        <p:nvSpPr>
          <p:cNvPr id="5" name="Rectangle 4"/>
          <p:cNvSpPr/>
          <p:nvPr/>
        </p:nvSpPr>
        <p:spPr>
          <a:xfrm>
            <a:off x="856800" y="936000"/>
            <a:ext cx="417600" cy="4176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1029600"/>
            <a:ext cx="306000" cy="230400"/>
          </a:xfrm>
          <a:prstGeom prst="rect">
            <a:avLst/>
          </a:prstGeom>
          <a:noFill/>
        </p:spPr>
        <p:txBody>
          <a:bodyPr wrap="square" anchor="t" lIns="0" rIns="0" tIns="0" bIns="0">
            <a:spAutoFit/>
          </a:bodyPr>
          <a:lstStyle/>
          <a:p>
            <a:pPr algn="l">
              <a:lnSpc>
                <a:spcPct val="125000"/>
              </a:lnSpc>
            </a:pPr>
            <a:r>
              <a:rPr sz="1100" b="1" i="0">
                <a:solidFill>
                  <a:srgbClr val="FFFFFF"/>
                </a:solidFill>
                <a:latin typeface="Source Han Sans SC"/>
              </a:rPr>
              <a:t>W5</a:t>
            </a:r>
          </a:p>
        </p:txBody>
      </p:sp>
      <p:sp>
        <p:nvSpPr>
          <p:cNvPr id="7" name="Rectangle 6"/>
          <p:cNvSpPr/>
          <p:nvPr/>
        </p:nvSpPr>
        <p:spPr>
          <a:xfrm>
            <a:off x="799200" y="1584000"/>
            <a:ext cx="608400" cy="396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9200" y="1908000"/>
            <a:ext cx="8640000" cy="1980000"/>
          </a:xfrm>
          <a:prstGeom prst="rect">
            <a:avLst/>
          </a:prstGeom>
          <a:noFill/>
        </p:spPr>
        <p:txBody>
          <a:bodyPr wrap="square" anchor="t" lIns="0" rIns="0" tIns="0" bIns="0">
            <a:spAutoFit/>
          </a:bodyPr>
          <a:lstStyle/>
          <a:p>
            <a:pPr algn="l">
              <a:lnSpc>
                <a:spcPct val="130000"/>
              </a:lnSpc>
            </a:pPr>
            <a:r>
              <a:rPr sz="2700" b="1" i="0">
                <a:solidFill>
                  <a:srgbClr val="0E3F8C"/>
                </a:solidFill>
                <a:latin typeface="Source Han Sans SC"/>
              </a:rPr>
              <a:t>"Tuning is not luck;
it is experimental design."</a:t>
            </a:r>
          </a:p>
        </p:txBody>
      </p:sp>
      <p:sp>
        <p:nvSpPr>
          <p:cNvPr id="9" name="TextBox 8"/>
          <p:cNvSpPr txBox="1"/>
          <p:nvPr/>
        </p:nvSpPr>
        <p:spPr>
          <a:xfrm>
            <a:off x="799200" y="3384000"/>
            <a:ext cx="8640000" cy="432000"/>
          </a:xfrm>
          <a:prstGeom prst="rect">
            <a:avLst/>
          </a:prstGeom>
          <a:noFill/>
        </p:spPr>
        <p:txBody>
          <a:bodyPr wrap="square" anchor="t" lIns="0" rIns="0" tIns="0" bIns="0">
            <a:spAutoFit/>
          </a:bodyPr>
          <a:lstStyle/>
          <a:p>
            <a:pPr algn="l">
              <a:lnSpc>
                <a:spcPct val="125000"/>
              </a:lnSpc>
            </a:pPr>
            <a:r>
              <a:rPr sz="1350" b="0" i="0">
                <a:solidFill>
                  <a:srgbClr val="6B7280"/>
                </a:solidFill>
                <a:latin typeface="Source Han Sans SC"/>
              </a:rPr>
              <a:t>This week you deliver: a working training loop + a 3x3 comparison table + one debugging log.</a:t>
            </a:r>
          </a:p>
        </p:txBody>
      </p:sp>
      <p:sp>
        <p:nvSpPr>
          <p:cNvPr id="10" name="TextBox 9"/>
          <p:cNvSpPr txBox="1"/>
          <p:nvPr/>
        </p:nvSpPr>
        <p:spPr>
          <a:xfrm>
            <a:off x="799200" y="4176000"/>
            <a:ext cx="7920000" cy="324000"/>
          </a:xfrm>
          <a:prstGeom prst="rect">
            <a:avLst/>
          </a:prstGeom>
          <a:noFill/>
        </p:spPr>
        <p:txBody>
          <a:bodyPr wrap="square" anchor="t" lIns="0" rIns="0" tIns="0" bIns="0">
            <a:spAutoFit/>
          </a:bodyPr>
          <a:lstStyle/>
          <a:p>
            <a:pPr algn="l">
              <a:lnSpc>
                <a:spcPct val="125000"/>
              </a:lnSpc>
            </a:pPr>
            <a:r>
              <a:rPr sz="2200" b="1" i="0">
                <a:solidFill>
                  <a:srgbClr val="1F2937"/>
                </a:solidFill>
                <a:latin typeface="Source Han Sans SC"/>
              </a:rPr>
              <a:t>Thank you</a:t>
            </a:r>
          </a:p>
        </p:txBody>
      </p:sp>
      <p:sp>
        <p:nvSpPr>
          <p:cNvPr id="11" name="Rectangle 10"/>
          <p:cNvSpPr/>
          <p:nvPr/>
        </p:nvSpPr>
        <p:spPr>
          <a:xfrm>
            <a:off x="799200" y="4788000"/>
            <a:ext cx="10593719" cy="720000"/>
          </a:xfrm>
          <a:prstGeom prst="rect">
            <a:avLst/>
          </a:prstGeom>
          <a:solidFill>
            <a:srgbClr val="F0F5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200" y="4903200"/>
            <a:ext cx="10089720" cy="180000"/>
          </a:xfrm>
          <a:prstGeom prst="rect">
            <a:avLst/>
          </a:prstGeom>
          <a:noFill/>
        </p:spPr>
        <p:txBody>
          <a:bodyPr wrap="square" anchor="t" lIns="0" rIns="0" tIns="0" bIns="0">
            <a:spAutoFit/>
          </a:bodyPr>
          <a:lstStyle/>
          <a:p>
            <a:pPr algn="l">
              <a:lnSpc>
                <a:spcPct val="125000"/>
              </a:lnSpc>
            </a:pPr>
            <a:r>
              <a:rPr sz="1100" b="1" i="0">
                <a:solidFill>
                  <a:srgbClr val="1E4FA8"/>
                </a:solidFill>
                <a:latin typeface="Source Han Sans SC"/>
              </a:rPr>
              <a:t>Next week</a:t>
            </a:r>
          </a:p>
        </p:txBody>
      </p:sp>
      <p:sp>
        <p:nvSpPr>
          <p:cNvPr id="13" name="TextBox 12"/>
          <p:cNvSpPr txBox="1"/>
          <p:nvPr/>
        </p:nvSpPr>
        <p:spPr>
          <a:xfrm>
            <a:off x="1051200" y="5094000"/>
            <a:ext cx="10089720" cy="324000"/>
          </a:xfrm>
          <a:prstGeom prst="rect">
            <a:avLst/>
          </a:prstGeom>
          <a:noFill/>
        </p:spPr>
        <p:txBody>
          <a:bodyPr wrap="square" anchor="t" lIns="0" rIns="0" tIns="0" bIns="0">
            <a:spAutoFit/>
          </a:bodyPr>
          <a:lstStyle/>
          <a:p>
            <a:pPr algn="l">
              <a:lnSpc>
                <a:spcPct val="125000"/>
              </a:lnSpc>
            </a:pPr>
            <a:r>
              <a:rPr sz="1400" b="0" i="0">
                <a:solidFill>
                  <a:srgbClr val="0E3F8C"/>
                </a:solidFill>
                <a:latin typeface="Source Han Sans SC"/>
              </a:rPr>
              <a:t>W6 · Regularisation and generalisation: Dropout, weight decay and early stopping — keeping this week's model steady on data it has never seen.</a:t>
            </a:r>
          </a:p>
        </p:txBody>
      </p:sp>
      <p:sp>
        <p:nvSpPr>
          <p:cNvPr id="14" name="TextBox 13"/>
          <p:cNvSpPr txBox="1"/>
          <p:nvPr/>
        </p:nvSpPr>
        <p:spPr>
          <a:xfrm>
            <a:off x="799200" y="6494400"/>
            <a:ext cx="7200000" cy="162000"/>
          </a:xfrm>
          <a:prstGeom prst="rect">
            <a:avLst/>
          </a:prstGeom>
          <a:noFill/>
        </p:spPr>
        <p:txBody>
          <a:bodyPr wrap="square" anchor="t" lIns="0" rIns="0" tIns="0" bIns="0">
            <a:spAutoFit/>
          </a:bodyPr>
          <a:lstStyle/>
          <a:p>
            <a:pPr algn="l">
              <a:lnSpc>
                <a:spcPct val="125000"/>
              </a:lnSpc>
            </a:pPr>
            <a:r>
              <a:rPr sz="1000" b="0" i="0">
                <a:solidFill>
                  <a:srgbClr val="6B7280"/>
                </a:solidFill>
                <a:latin typeface="Source Han Sans SC"/>
              </a:rPr>
              <a:t>AI Application Development · Week 5 Lecture · 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