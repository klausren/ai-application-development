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= 1e-1（过大）</c:v>
                </c:pt>
              </c:strCache>
            </c:strRef>
          </c:tx>
          <c:spPr>
            <a:ln w="31750">
              <a:solidFill>
                <a:srgbClr val="B91C1C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2.3</c:v>
                </c:pt>
                <c:pt idx="1">
                  <c:v>2.58</c:v>
                </c:pt>
                <c:pt idx="2">
                  <c:v>2.09</c:v>
                </c:pt>
                <c:pt idx="3">
                  <c:v>2.64</c:v>
                </c:pt>
                <c:pt idx="4">
                  <c:v>2.04</c:v>
                </c:pt>
                <c:pt idx="5">
                  <c:v>2.71</c:v>
                </c:pt>
                <c:pt idx="6">
                  <c:v>2.16</c:v>
                </c:pt>
                <c:pt idx="7">
                  <c:v>2.56</c:v>
                </c:pt>
                <c:pt idx="8">
                  <c:v>2.22</c:v>
                </c:pt>
                <c:pt idx="9">
                  <c:v>2.67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lr = 1e-3（合适）</c:v>
                </c:pt>
              </c:strCache>
            </c:strRef>
          </c:tx>
          <c:spPr>
            <a:ln w="22225">
              <a:solidFill>
                <a:srgbClr val="059669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2.3</c:v>
                </c:pt>
                <c:pt idx="1">
                  <c:v>1.62</c:v>
                </c:pt>
                <c:pt idx="2">
                  <c:v>1.05</c:v>
                </c:pt>
                <c:pt idx="3">
                  <c:v>0.72</c:v>
                </c:pt>
                <c:pt idx="4">
                  <c:v>0.51</c:v>
                </c:pt>
                <c:pt idx="5">
                  <c:v>0.38</c:v>
                </c:pt>
                <c:pt idx="6">
                  <c:v>0.3</c:v>
                </c:pt>
                <c:pt idx="7">
                  <c:v>0.25</c:v>
                </c:pt>
                <c:pt idx="8">
                  <c:v>0.22</c:v>
                </c:pt>
                <c:pt idx="9">
                  <c:v>0.2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lr = 1e-5（过小）</c:v>
                </c:pt>
              </c:strCache>
            </c:strRef>
          </c:tx>
          <c:spPr>
            <a:ln w="22225">
              <a:solidFill>
                <a:srgbClr val="6B7280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2.3</c:v>
                </c:pt>
                <c:pt idx="1">
                  <c:v>2.28</c:v>
                </c:pt>
                <c:pt idx="2">
                  <c:v>2.26</c:v>
                </c:pt>
                <c:pt idx="3">
                  <c:v>2.24</c:v>
                </c:pt>
                <c:pt idx="4">
                  <c:v>2.22</c:v>
                </c:pt>
                <c:pt idx="5">
                  <c:v>2.2</c:v>
                </c:pt>
                <c:pt idx="6">
                  <c:v>2.18</c:v>
                </c:pt>
                <c:pt idx="7">
                  <c:v>2.16</c:v>
                </c:pt>
                <c:pt idx="8">
                  <c:v>2.14</c:v>
                </c:pt>
                <c:pt idx="9">
                  <c:v>2.12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 Epoch →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.8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训练损失 Train loss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SGD · lr=1e-1（发散）</c:v>
                </c:pt>
              </c:strCache>
            </c:strRef>
          </c:tx>
          <c:spPr>
            <a:ln w="22225">
              <a:solidFill>
                <a:srgbClr val="B91C1C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2.3</c:v>
                </c:pt>
                <c:pt idx="1">
                  <c:v>2.48</c:v>
                </c:pt>
                <c:pt idx="2">
                  <c:v>2.36</c:v>
                </c:pt>
                <c:pt idx="3">
                  <c:v>2.55</c:v>
                </c:pt>
                <c:pt idx="4">
                  <c:v>2.3</c:v>
                </c:pt>
                <c:pt idx="5">
                  <c:v>2.6</c:v>
                </c:pt>
                <c:pt idx="6">
                  <c:v>2.34</c:v>
                </c:pt>
                <c:pt idx="7">
                  <c:v>2.52</c:v>
                </c:pt>
                <c:pt idx="8">
                  <c:v>2.31</c:v>
                </c:pt>
                <c:pt idx="9">
                  <c:v>2.58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SGD · lr=1e-3（过慢）</c:v>
                </c:pt>
              </c:strCache>
            </c:strRef>
          </c:tx>
          <c:spPr>
            <a:ln w="22225">
              <a:solidFill>
                <a:srgbClr val="6B7280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2.3</c:v>
                </c:pt>
                <c:pt idx="1">
                  <c:v>2.21</c:v>
                </c:pt>
                <c:pt idx="2">
                  <c:v>2.12</c:v>
                </c:pt>
                <c:pt idx="3">
                  <c:v>2.03</c:v>
                </c:pt>
                <c:pt idx="4">
                  <c:v>1.94</c:v>
                </c:pt>
                <c:pt idx="5">
                  <c:v>1.86</c:v>
                </c:pt>
                <c:pt idx="6">
                  <c:v>1.78</c:v>
                </c:pt>
                <c:pt idx="7">
                  <c:v>1.7</c:v>
                </c:pt>
                <c:pt idx="8">
                  <c:v>1.63</c:v>
                </c:pt>
                <c:pt idx="9">
                  <c:v>1.56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Momentum · lr=1e-3（良好）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2.3</c:v>
                </c:pt>
                <c:pt idx="1">
                  <c:v>1.7</c:v>
                </c:pt>
                <c:pt idx="2">
                  <c:v>1.15</c:v>
                </c:pt>
                <c:pt idx="3">
                  <c:v>0.8</c:v>
                </c:pt>
                <c:pt idx="4">
                  <c:v>0.58</c:v>
                </c:pt>
                <c:pt idx="5">
                  <c:v>0.44</c:v>
                </c:pt>
                <c:pt idx="6">
                  <c:v>0.35</c:v>
                </c:pt>
                <c:pt idx="7">
                  <c:v>0.29</c:v>
                </c:pt>
                <c:pt idx="8">
                  <c:v>0.25</c:v>
                </c:pt>
                <c:pt idx="9">
                  <c:v>0.22</c:v>
                </c:pt>
              </c:numCache>
            </c:numRef>
          </c:val>
          <c:smooth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Adam · lr=1e-3（最优）</c:v>
                </c:pt>
              </c:strCache>
            </c:strRef>
          </c:tx>
          <c:spPr>
            <a:ln w="31750">
              <a:solidFill>
                <a:srgbClr val="059669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2.3</c:v>
                </c:pt>
                <c:pt idx="1">
                  <c:v>1.35</c:v>
                </c:pt>
                <c:pt idx="2">
                  <c:v>0.78</c:v>
                </c:pt>
                <c:pt idx="3">
                  <c:v>0.48</c:v>
                </c:pt>
                <c:pt idx="4">
                  <c:v>0.33</c:v>
                </c:pt>
                <c:pt idx="5">
                  <c:v>0.24</c:v>
                </c:pt>
                <c:pt idx="6">
                  <c:v>0.19</c:v>
                </c:pt>
                <c:pt idx="7">
                  <c:v>0.16</c:v>
                </c:pt>
                <c:pt idx="8">
                  <c:v>0.14</c:v>
                </c:pt>
                <c:pt idx="9">
                  <c:v>0.13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 Epoch →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.8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验证损失 Val loss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训练循环、损失函数与优化器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Training Loop, Loss and Optimizer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5 · 损失函数选择 · 优化器差异 · 学习率 · 训练循环五步法 · 日志与可视化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模块二 · W5–8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4875" y="5295600"/>
            <a:ext cx="280871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7675" y="5364000"/>
            <a:ext cx="246311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26788" y="5295600"/>
            <a:ext cx="337045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588" y="5364000"/>
            <a:ext cx="302485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PyTorch · 优化器 · 学习率 · 训练日志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20444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3244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损失函数决定模型在优化什么，
优化器决定它怎么走，
学习率决定它一步走多大。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80 min · 小测与小结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损失函数：我们在优化什么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任务类型决定损失 · 三种常用损失 · 一个常见坑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优化器：参数怎么更新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Optimizer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SGD · Momentum · Adam · 三者的差别与代价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学习率：最重要的超参数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Learning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过大 / 过小的症状 · 衰减策略 · 损失曲线诊断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训练循环五步法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Training loop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清零 → 前向 → 计算损失 → 反向 → 更新 · 日志与批大小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实验 4 优化器 × 学习率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3 种优化器 × 3 组学习率 · 损失/准确率曲线 · 最优组合与理由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损失函数：我们在优化什么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训练不是「让模型变好」这么模糊，而是「把某个数字变小」。
损失函数就是你选择的那个数字——选错了，模型会把力气用在你不在乎的地方。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任务定损失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分类 / 二分类 / 回归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激活已内置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别再手动 softmax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数值要稳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logits 版本更安全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三类任务，三种损失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多分类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nn.CrossEntropyLoss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输入 (N, C) 原始 logits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标签是类别下标（long）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softmax 已内置，别再手动做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例：10 类图像分类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二分类 / 多标签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nn.BCEWithLogitsLoss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输入 logits，形状 (N,) 或 (N, 1)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标签必须是 float（0.0 / 1.0）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sigmoid 已内置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多标签时各类独立判断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回归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nn.MSELoss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预测连续数值：房价、温度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不用任何激活函数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对大误差惩罚很重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有离群点改 L1 / SmoothL1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常用损失函数对照表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9" cy="34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8000"/>
                <a:gridCol w="2376000"/>
                <a:gridCol w="2304000"/>
                <a:gridCol w="2015999"/>
                <a:gridCol w="2160000"/>
              </a:tblGrid>
              <a:tr h="576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任务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损失函数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输入是什么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输出层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注意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多分类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CrossEntropyLoss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原始 logits (N, 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无（内含 softmax）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再手动 softmax 就是做两次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二分类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BCEWithLogitsLoss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原始 logits (N, 1)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无（内含 sigmoid）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标签必须转成 float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多标签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BCEWithLogitsLoss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原始 logits (N, 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各类独立，可同时为正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回归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MSELoss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连续预测值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对离群点极敏感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不平衡分类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CrossEntropyLoss(weight=)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logits + 类别权重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权重按类频率倒数设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752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一句话记法：分类用交叉熵、回归用均方误差；带 Logits 字样的损失已经把激活函数包在里面了，这就是为什么不要自己再加一层。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三种损失的写法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选择损失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torch, torch.nn as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1) 多分类：softmax 已在损失内部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criterion = nn.CrossEntropyLoss()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2) 二分类 / 多标签：sigmoid 已在内部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criterion = nn.BCEWithLogitsLoss()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3) 回归：不用任何激活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criterion = nn.MSELoss()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铁律：永远传原始 logits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常见坑：softmax 做了两次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常见坑：softmax 被做了两次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logits = model(x)            # 原始 logits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probs = torch.softmax(logits, 1)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loss = nn.CrossEntropyLoss()(probs, y)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概率被再次归一化并压扁，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梯度变小，损失下降缓慢、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准确率上不去。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正确做法：直接传 logits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loss = nn.CrossEntropyLoss()(logits, 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左边是「怎么选」，右边是「怎么错」。两次 softmax 不会报错，只会让你的准确率莫名其妙地低——这类静默错误比崩溃更难查。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正确用法 vs 常见坑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正确用法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损失函数吃原始 logits，不吃概率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激活函数交给损失内部处理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二分类用 BCEWithLogitsLoss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标签类型：交叉熵用 long，BCE 用 float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不平衡时用 weight= 传类别权重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常见坑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先 softmax 再喂交叉熵 = 做了两次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用 BCEWithLogitsLoss 时又手动 sigmoid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标签忘了转 long / float，直接报错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把 MSELoss 用在分类任务上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损失一路下降但准确率不动（正是坑 1）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记住这条判据：损失在下降、指标却不动，第一反应就去看损失函数前面的那一行有没有多做一次激活。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优化器：参数怎么更新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Optimizer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损失函数告诉你「错了多少」，优化器决定「往哪走、走多远」。
同一套模型、同一份数据，换一个优化器，收敛速度可以差一个数量级。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SGD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只看当前这一步的梯度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Momentum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累积历史方向形成惯性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Adam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每个参数一个自适应步长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三种优化器：三代思路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592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592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SGD 随机梯度下降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batch, one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直接用当前批次的梯度更新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只多了学习率一个超参数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对学习率极敏感，1e-1 就会炸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泛化常略好，但调参成本高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592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592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SGD + Momentum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add inertia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把历史梯度按动量累加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沿一致的下降方向越走越快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能穿过小的鞍点与噪声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惯例：momentum = 0.9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592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592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Adam 自适应矩估计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adaptive per-parameter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同时估计梯度的一阶与二阶矩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每个参数有各自的步长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对学习率更宽容，1e-3 通常可跑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代价：多存两份状态，更吃显存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优化器对照表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3024000"/>
                <a:gridCol w="2088000"/>
                <a:gridCol w="1512000"/>
                <a:gridCol w="2160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优化器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更新规则（直觉）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主要超参数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收敛速度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典型场景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沿当前梯度方向走一步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需要精细调参的经典基线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SGD + Momentum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累积过去梯度，形成惯性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lr, momentum=0.9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中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计算机视觉的常用默认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Adam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每参数自适应步长 + 动量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lr, betas, 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默认首选、快速原型、稀疏梯度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AdamW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同 Adam，但权重衰减解耦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lr, weight_decay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快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Transformer 类模型的标配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注意第二列的措辞——「沿当前梯度走一步」和「每参数自适应步长」，这个差别就是后面 3×3 实验中收敛速度差异的根源。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构造三种优化器并做对照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同一套权重，三种优化器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torch import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model = nn.Sequential(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nn.Linear(784, 128),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nn.ReLU(),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nn.Linear(128, 10))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params = model.parameters()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opt_sgd = torch.optim.SGD(params, lr=1e-1)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opt_mom = torch.optim.SGD(params, lr=1e-1,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         momentum=0.9)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opt_adam = torch.optim.Adam(params, lr=1e-3)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学习率扫描 1e-1 / 1e-3 / 1e-5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学习率扫描：1e-1 / 1e-3 / 1e-5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lr in [1e-1, 1e-3, 1e-5]: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net = build_model()      # 重新初始化权重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opt = make_opt("adam", net, lr)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hist = train(net, opt, epochs=10)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log.append({"optim": "adam",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"lr": lr,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"val_loss": min(hist["val_loss"])})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1e-1 ：损失爆炸 / 震荡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1e-3 ：平稳收敛 —— 从这里开始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1e-5 ：同样的 epoch 还远未收敛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对照实验的纪律：每次运行都要重新初始化权重，否则第 2 组吃的是第 1 组已经训练过的权重，比较结果无效。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SGD 与 Adam：两种性格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SGD + Momentum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每步只用一个批次的梯度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动量让方向更稳、更快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对学习率极其敏感，1e-1 直接爆炸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最终泛化常略好，但需要调参功夫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计算机视觉里的经典默认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Adam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每个参数一个自适应步长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对学习率更宽容，1e-3 通常能跑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前期收敛快，适合快速拿到基线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多存两份状态，显存占用更高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Transformer 类模型的首选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选择策略：先用 Adam(lr=1e-3) 拿到一个能跑通的基线，再用 SGD+momentum 精调。但「哪个更好」这个结论，必须来自你自己跑出来的对照实验，而不是这一页。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学习率：最重要的超参数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Learning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学习率决定每一步走多远。它大到一定程度会让损失爆炸，小到一定程度会让训练看起来「没在学」。
看到异常损失，第一个要查的就是它。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过大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震荡、爆炸、出现 nan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过小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损失几乎不动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先查它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异常损失的第一嫌疑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学习率：症状与策略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过大：跳过了谷底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lr=1e-1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损失上下震荡，根本不下降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很快出现 nan 或 inf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处置：先把学习率除以 10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现象：准确率停在随机水平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过小：在原地磨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lr=1e-5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10 个 epoch 损失变化不到 0.05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看起来在训练，其实几乎没动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处置：升 10 倍再试一次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别用「加 epoch」掩盖它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策略：三段式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warmup + decay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Warmup：前几个 epoch 从小到大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中期：StepLR 每 N 轮衰减一次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后期：CosineAnnealing 平滑退火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PyTorch 里用 lr_scheduler 实现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学习率诊断：同一模型、同一数据，只改 lr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24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红线上下震荡、始终不降 → 学习率过大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灰线几乎水平 → 学习率过小（不是模型不行）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绿线单调平稳下降 → 这才是可以继续加 epoch 的状态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实验 4 要求你亲手跑出这三条线，而不是照抄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训练循环五步法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Training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再复杂的训练脚本，内核都是这五步。把它背下来，你就能读懂任何一份 PyTorch 代码。
这一部分的目标不是「看懂」，而是「默写出来」。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顺序不能错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尤其是第 1 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先默写再对照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先合上讲义写一遍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留下日志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每个 epoch 一行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训练循环五步法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015999"/>
            <a:ext cx="1600343" cy="36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214000"/>
            <a:ext cx="446400" cy="4464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清零梯度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zero_grad()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清掉上一批的旧梯度，
否则会累加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3052800"/>
            <a:ext cx="306000" cy="23040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015999"/>
            <a:ext cx="1600343" cy="3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214000"/>
            <a:ext cx="446400" cy="4464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前向传播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logits = model(x)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把本批数据喂进模型，
得到预测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3052800"/>
            <a:ext cx="306000" cy="230400"/>
          </a:xfrm>
          <a:prstGeom prst="rightArrow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015999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21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计算损失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criterion(logits, 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用选定的损失函数
给预测打分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3052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015999"/>
            <a:ext cx="1600343" cy="3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214000"/>
            <a:ext cx="446400" cy="446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反向传播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loss.backward()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求每个参数对损失的
梯度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3052800"/>
            <a:ext cx="306000" cy="230400"/>
          </a:xfrm>
          <a:prstGeom prst="rightArrow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015999"/>
            <a:ext cx="1600343" cy="3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214000"/>
            <a:ext cx="446400" cy="446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更新参数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optimizer.step()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优化器按梯度
走一步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62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课堂做法：先合上讲义，把五步默写在自己的本子上，写清每一步的括号与顺序，再对照这一页。第 1 步最常被漏掉——漏掉它，梯度会跨批次累加，损失曲线会变得毫无规律。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完整训练循环与训练日志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五步法：完整循环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epoch in range(epochs):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model.train()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for x, y in train_loader: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opt.zero_grad()       # 1 清零旧梯度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logits = model(x)     # 2 前向传播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loss = crit(logits, y)  # 3 计算损失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loss.backward()       # 4 反向传播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opt.step()            # 5 更新参数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五步的顺序不可交换：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 必须在 4 之前，否则梯度跨批次累加。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训练日志：每轮一行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history = []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epoch in range(epochs):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tr = train_epoch(model, loader, opt, crit)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va, acc = evaluate(model, val_loader, crit)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history.append({          # 每个 epoch 一行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"epoch": epoch,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"train_loss": round(tr, 4),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"val_loss": round(va, 4),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"val_acc": round(acc, 4)})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print(history[-1])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训练损失降、验证损失升 -&gt; 过拟合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两条都平着不动 -&gt; 学习率太小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日志不是形式主义：没有 train/val 两条曲线，你就无法判断是过拟合、学习率太小，还是数据有问题——只能靠猜。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批大小与显存的关系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9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000"/>
                <a:gridCol w="2232000"/>
                <a:gridCol w="3096000"/>
                <a:gridCol w="3311999"/>
              </a:tblGrid>
              <a:tr h="576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批大小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显存占用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梯度稳定性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常见取舍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8 – 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噪声大，偶尔有益于泛化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显存小或数据集小；需更小的学习率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64 – 256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中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较稳定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最常用的默认区间，先从这里开始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512 以上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很稳定，但泛化可能变差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需配合更大学习率与 warmup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1（单样本）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最低，但速度极慢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噪声极大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仅用于教学演示或显存极限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17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一条经验公式：显存 ≈ 批大小 × 单样本开销 + 模型参数 + 优化器状态（Adam 的优化器状态约为参数量的 2 倍，这就是 Adam 比 SGD 更吃显存的原因）。批大小翻倍时，学习率通常也同步放大。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实验 4 优化器 × 学习率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Hands-on: a 3 x 3 controlled 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80 分钟，亲手做一次真正的对照实验：3 种优化器 × 3 组学习率 = 9 次运行，
然后回答一个必须用数据支撑的问题——哪一个组合最好，为什么。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9 次运行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一次只改一个变量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画出曲线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损失 + 准确率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给出理由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最优组合必须有论证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4 的四个任务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· 3 × 3 网格实验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9 runs, one variable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 种优化器：SGD / SGD+momentum / Adam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 组学习率：1e-1 / 1e-3 / 1e-5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同一网络、同一划分、同一随机种子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每次重新初始化权重，记录 train/val 指标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绘制损失与准确率曲线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loss and accuracy, every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每个组合一条曲线，图例标注优化器与 lr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损失曲线看收敛速度与稳定性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准确率曲线看最终质量与是否震荡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至少画一张 3 条曲线同坐标系的对比图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887999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887999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4075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给出最优组合并论证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4305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data, not preference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507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明确写出最优组合（优化器 + 学习率）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用验证指标支撑：最低损失、最高准确率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解释它为什么胜出：自适应步长？动量？步长刚好？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指出失败组合及其直接现象（爆炸 / 不动）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887999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887999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4075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 · 记录一次不收敛的排查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4305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hypothesis → test → 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507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选一个失败组合，按「先查学习率」的顺序排查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再查数据（标签、归一化、划分）与代码（五步顺序）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记录每一步的假设、验证方式与结论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交付：脚本 + 对照表 + 曲线图 + 排查记录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3 种优化器 × 3 组学习率：验证损失曲线示意图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1e-1 下无论哪个优化器都不收敛 → 学习率是主导变量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同样 lr=1e-3，Adam 明显快于 SGD → 自适应步长的作用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Momentum 位于两者之间 → 动量只加速，不改变步长尺度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图中数值仅作示意；以你自己跑出的 9 组实测为准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超参数对照表（9 组，学生填写）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00"/>
                <a:gridCol w="2088000"/>
                <a:gridCol w="1296000"/>
                <a:gridCol w="1944000"/>
                <a:gridCol w="1872000"/>
                <a:gridCol w="2232000"/>
              </a:tblGrid>
              <a:tr h="39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组合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优化器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学习率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最低验证损失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最高验证准确率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是否收敛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2.31（发散）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SGD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1.56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0.62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太慢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Momentum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2.44（震荡）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Momentum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Momentum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2.19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0.24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太慢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Adam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2.51（爆炸）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Adam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0.97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是（最优）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Adam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太慢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525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表里的数值是示意，你的任务是用自己跑出来的 9 组数据替换它。表填完，最优组合与理由自然就浮出来了——这就是「调参不是碰运气」的意思。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实验脚本骨架与不收敛排查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3 × 3 网格，结果落表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results = []                 # 每次运行一行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name in ["sgd", "momentum", "adam"]: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for lr in [1e-1, 1e-3, 1e-5]: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net = build_model()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 = make_opt(name, net, lr)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hist = train(net, opt, epochs=10)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results.append({"optimizer": name,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       "lr": lr,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       "val_loss": min(hist["vl"]),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       "val_acc": max(hist["va"])})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plot_curves(results)         # 损失 / 准确率曲线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write_table(results)         # 3x3 对照表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然后：写出最优组合并解释它为什么胜出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不收敛时的排查顺序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diagnose(hist):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first, last = hist[0], hist[-1]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math.isnan(last["train_loss"]):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return "损失是 nan -&gt; 学习率太大"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last["train_loss"] &gt; first["train_loss"]: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return "损失在升 -&gt; 降低学习率"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abs(last["train_loss"]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- first["train_loss"]) &lt; 0.05: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return "几乎不动 -&gt; 学习率太小"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"正在下降 -&gt; 再看验证曲线"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左侧脚本的正确性标准：同一份代码可以跑出 9 组结果，且每组只改动优化器与学习率两个变量。右侧的顺序就是「训练不收敛」排查记录里应该写的顺序：先查学习率，再查数据，最后查代码。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赋能 · 课程思政 · 排查提示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AI 赋能：让 AI 提方案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propose, then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让 AI 给出 3 组优化器与学习率组合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逐组用自己的对照实验验证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记下 AI 哪些说法缺乏依据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课程思政：精益求精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rigour, not luck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调参是实验设计，不是碰运气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一次只改一个变量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异常先查学习率，再查数据与代码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排查提示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check in this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损失为 nan / inf：学习率太大，先除以 10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损失几乎不动：学习率太小或层被冻结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损失降但准确率不动：多做了一次激活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4 提交清单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训练脚本（含可复现命令）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同一份脚本可以跑出全部 9 组结果；README 里给出可直接粘贴的运行命令。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3 × 3 超参数对照表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9 组各一行：优化器、学习率、最低验证损失、最高验证准确率、是否收敛。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损失 / 准确率曲线图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至少一张 3 条以上曲线同坐标系的对比图，图例写清优化器与学习率。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一次「训练不收敛」的排查记录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写明现象、假设、验证方式与结论；顺序是先查学习率，再查数据与代码。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加分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AI 协同记录（写清 AI 错在哪）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记录 AI 给出的一条超参数建议，以及你的对照实验证明它是否成立。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34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损失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10 类图像分类任务，应该用哪个损失函数？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908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nn.MSELoss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nn.CrossEntropyLoss（内含 softmax）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nn.BCEWithLogitsLoss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34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常见坑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先 torch.softmax(logits) 再喂 CrossEntropyLoss，会发生什么？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908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完全没有影响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等于做了两次 softmax，概率被压扁、梯度变小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程序立刻报错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2928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3089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313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优化器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3089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下面哪个说法是正确的？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3702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Adam 不需要设置学习率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Momentum 累积历史梯度方向，形成惯性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SGD 一定比 Adam 收敛快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2928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3089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313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学习率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3089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训练损失在第一轮就变成 nan，第一步应该查什么？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3702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换一个更深的模型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学习率是不是太大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增加训练轮次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200" y="4722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7200" y="4884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200" y="493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五步法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5200" y="4884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训练循环五步的正确顺序是？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200" y="5496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前向 → 清零 → 损失 → 反向 → 更新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清零 → 前向 → 损失 → 反向 → 更新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清零 → 损失 → 前向 → 更新 → 反向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5059" y="4722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93059" y="4884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3059" y="493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批大小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1059" y="4884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把批大小从 64 增加到 512，通常需要同时做什么？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3059" y="5496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同步放大学习率，并注意显存是否够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同步缩小学习率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与学习率无关，只影响速度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损失函数按任务选：多分类 CrossEntropyLoss、二分类 BCEWithLogitsLoss、回归 MSELoss；带 Logits 字样的损失已内含激活，不要再手动加一层。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优化器决定怎么走：SGD 只看当前梯度、Momentum 累积惯性、Adam 每参数自适应步长；Adam 收敛更快但更吃显存。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学习率是最重要的超参数：过大震荡爆炸，过小几乎不动；异常损失先查学习率，再考虑 warmup 与衰减策略。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训练循环五步法：清零梯度 → 前向 → 计算损失 → 反向 → 更新参数。顺序不可交换，第 1 步最常被漏掉。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实验要留证据：每个 epoch 记录 train/val 损失与准确率，一次只改一个变量，最优组合必须用对照数据论证。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完成实验 4 交付物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训练脚本、3×3 超参数对照表、损失/准确率曲线图、一次「训练不收敛」的排查记录。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写一条 AI 协同记录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记录 AI 给的一条超参数建议，写明你的验证结果，以及它的哪一部分缺乏依据。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预习 W6：正则化与泛化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Dropout、权重衰减与早停——让本周的训练循环更稳、更不容易过拟合。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W5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「调参不是碰运气，
是有依据的实验设计。」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本周交付：能跑通的训练循环 + 一张 3×3 对照表 + 一份不收敛的排查记录。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W6 · 正则化与泛化：Dropout、权重衰减与早停 —— 让本周训练好的模型，在没见过的数据上一样稳。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 Lecture ·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