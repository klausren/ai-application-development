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 = 1e-1（过大）</c:v>
                </c:pt>
              </c:strCache>
            </c:strRef>
          </c:tx>
          <c:spPr>
            <a:ln w="31750">
              <a:solidFill>
                <a:srgbClr val="B91C1C"/>
              </a:solidFill>
            </a:ln>
          </c:spP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2.3</c:v>
                </c:pt>
                <c:pt idx="1">
                  <c:v>2.58</c:v>
                </c:pt>
                <c:pt idx="2">
                  <c:v>2.09</c:v>
                </c:pt>
                <c:pt idx="3">
                  <c:v>2.64</c:v>
                </c:pt>
                <c:pt idx="4">
                  <c:v>2.04</c:v>
                </c:pt>
                <c:pt idx="5">
                  <c:v>2.71</c:v>
                </c:pt>
                <c:pt idx="6">
                  <c:v>2.16</c:v>
                </c:pt>
                <c:pt idx="7">
                  <c:v>2.56</c:v>
                </c:pt>
                <c:pt idx="8">
                  <c:v>2.22</c:v>
                </c:pt>
                <c:pt idx="9">
                  <c:v>2.67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lr = 1e-3（合适）</c:v>
                </c:pt>
              </c:strCache>
            </c:strRef>
          </c:tx>
          <c:spPr>
            <a:ln w="22225">
              <a:solidFill>
                <a:srgbClr val="059669"/>
              </a:solidFill>
            </a:ln>
          </c:spP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2.3</c:v>
                </c:pt>
                <c:pt idx="1">
                  <c:v>1.62</c:v>
                </c:pt>
                <c:pt idx="2">
                  <c:v>1.05</c:v>
                </c:pt>
                <c:pt idx="3">
                  <c:v>0.72</c:v>
                </c:pt>
                <c:pt idx="4">
                  <c:v>0.51</c:v>
                </c:pt>
                <c:pt idx="5">
                  <c:v>0.38</c:v>
                </c:pt>
                <c:pt idx="6">
                  <c:v>0.3</c:v>
                </c:pt>
                <c:pt idx="7">
                  <c:v>0.25</c:v>
                </c:pt>
                <c:pt idx="8">
                  <c:v>0.22</c:v>
                </c:pt>
                <c:pt idx="9">
                  <c:v>0.2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lr = 1e-5（过小）</c:v>
                </c:pt>
              </c:strCache>
            </c:strRef>
          </c:tx>
          <c:spPr>
            <a:ln w="22225">
              <a:solidFill>
                <a:srgbClr val="6B7280"/>
              </a:solidFill>
            </a:ln>
          </c:spP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2.3</c:v>
                </c:pt>
                <c:pt idx="1">
                  <c:v>2.28</c:v>
                </c:pt>
                <c:pt idx="2">
                  <c:v>2.26</c:v>
                </c:pt>
                <c:pt idx="3">
                  <c:v>2.24</c:v>
                </c:pt>
                <c:pt idx="4">
                  <c:v>2.22</c:v>
                </c:pt>
                <c:pt idx="5">
                  <c:v>2.2</c:v>
                </c:pt>
                <c:pt idx="6">
                  <c:v>2.18</c:v>
                </c:pt>
                <c:pt idx="7">
                  <c:v>2.16</c:v>
                </c:pt>
                <c:pt idx="8">
                  <c:v>2.14</c:v>
                </c:pt>
                <c:pt idx="9">
                  <c:v>2.12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训练轮次 Epoch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.8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训练损失 Train loss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Source Han Sans S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SGD · lr=1e-1（发散）</c:v>
                </c:pt>
              </c:strCache>
            </c:strRef>
          </c:tx>
          <c:spPr>
            <a:ln w="22225">
              <a:solidFill>
                <a:srgbClr val="B91C1C"/>
              </a:solidFill>
            </a:ln>
          </c:spP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2.3</c:v>
                </c:pt>
                <c:pt idx="1">
                  <c:v>2.48</c:v>
                </c:pt>
                <c:pt idx="2">
                  <c:v>2.36</c:v>
                </c:pt>
                <c:pt idx="3">
                  <c:v>2.55</c:v>
                </c:pt>
                <c:pt idx="4">
                  <c:v>2.3</c:v>
                </c:pt>
                <c:pt idx="5">
                  <c:v>2.6</c:v>
                </c:pt>
                <c:pt idx="6">
                  <c:v>2.34</c:v>
                </c:pt>
                <c:pt idx="7">
                  <c:v>2.52</c:v>
                </c:pt>
                <c:pt idx="8">
                  <c:v>2.31</c:v>
                </c:pt>
                <c:pt idx="9">
                  <c:v>2.58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SGD · lr=1e-3（过慢）</c:v>
                </c:pt>
              </c:strCache>
            </c:strRef>
          </c:tx>
          <c:spPr>
            <a:ln w="22225">
              <a:solidFill>
                <a:srgbClr val="6B7280"/>
              </a:solidFill>
            </a:ln>
          </c:spP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2.3</c:v>
                </c:pt>
                <c:pt idx="1">
                  <c:v>2.21</c:v>
                </c:pt>
                <c:pt idx="2">
                  <c:v>2.12</c:v>
                </c:pt>
                <c:pt idx="3">
                  <c:v>2.03</c:v>
                </c:pt>
                <c:pt idx="4">
                  <c:v>1.94</c:v>
                </c:pt>
                <c:pt idx="5">
                  <c:v>1.86</c:v>
                </c:pt>
                <c:pt idx="6">
                  <c:v>1.78</c:v>
                </c:pt>
                <c:pt idx="7">
                  <c:v>1.7</c:v>
                </c:pt>
                <c:pt idx="8">
                  <c:v>1.63</c:v>
                </c:pt>
                <c:pt idx="9">
                  <c:v>1.56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Momentum · lr=1e-3（良好）</c:v>
                </c:pt>
              </c:strCache>
            </c:strRef>
          </c:tx>
          <c:spPr>
            <a:ln w="22225">
              <a:solidFill>
                <a:srgbClr val="D97706"/>
              </a:solidFill>
            </a:ln>
          </c:spP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2.3</c:v>
                </c:pt>
                <c:pt idx="1">
                  <c:v>1.7</c:v>
                </c:pt>
                <c:pt idx="2">
                  <c:v>1.15</c:v>
                </c:pt>
                <c:pt idx="3">
                  <c:v>0.8</c:v>
                </c:pt>
                <c:pt idx="4">
                  <c:v>0.58</c:v>
                </c:pt>
                <c:pt idx="5">
                  <c:v>0.44</c:v>
                </c:pt>
                <c:pt idx="6">
                  <c:v>0.35</c:v>
                </c:pt>
                <c:pt idx="7">
                  <c:v>0.29</c:v>
                </c:pt>
                <c:pt idx="8">
                  <c:v>0.25</c:v>
                </c:pt>
                <c:pt idx="9">
                  <c:v>0.22</c:v>
                </c:pt>
              </c:numCache>
            </c:numRef>
          </c:val>
          <c:smooth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Adam · lr=1e-3（最优）</c:v>
                </c:pt>
              </c:strCache>
            </c:strRef>
          </c:tx>
          <c:spPr>
            <a:ln w="31750">
              <a:solidFill>
                <a:srgbClr val="059669"/>
              </a:solidFill>
            </a:ln>
          </c:spP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2.3</c:v>
                </c:pt>
                <c:pt idx="1">
                  <c:v>1.35</c:v>
                </c:pt>
                <c:pt idx="2">
                  <c:v>0.78</c:v>
                </c:pt>
                <c:pt idx="3">
                  <c:v>0.48</c:v>
                </c:pt>
                <c:pt idx="4">
                  <c:v>0.33</c:v>
                </c:pt>
                <c:pt idx="5">
                  <c:v>0.24</c:v>
                </c:pt>
                <c:pt idx="6">
                  <c:v>0.19</c:v>
                </c:pt>
                <c:pt idx="7">
                  <c:v>0.16</c:v>
                </c:pt>
                <c:pt idx="8">
                  <c:v>0.14</c:v>
                </c:pt>
                <c:pt idx="9">
                  <c:v>0.13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训练轮次 Epoch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.8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验证损失 Val loss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Source Han Sans S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33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200"/>
            <a:ext cx="12192119" cy="576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59" y="856800"/>
            <a:ext cx="529685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9000" b="1" i="0">
                <a:solidFill>
                  <a:srgbClr val="F0F5FC"/>
                </a:solidFill>
                <a:latin typeface="Source Han Sans S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8568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52015CC3BV · 本科 · 来华项目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2672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609200"/>
            <a:ext cx="1059371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>
                <a:solidFill>
                  <a:srgbClr val="0E3F8C"/>
                </a:solidFill>
                <a:latin typeface="Source Han Sans SC"/>
              </a:rPr>
              <a:t>训练循环、损失函数与优化器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232000"/>
            <a:ext cx="10593719" cy="9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1F2937"/>
                </a:solidFill>
                <a:latin typeface="Source Han Sans SC"/>
              </a:rPr>
              <a:t>Training Loop, Loss and Optimizer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3344399"/>
            <a:ext cx="1059371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7280"/>
                </a:solidFill>
                <a:latin typeface="Source Han Sans SC"/>
              </a:rPr>
              <a:t>Week 5 · 损失函数选择 · 优化器差异 · 学习率 · 训练循环五步法 · 日志与可视化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5295600"/>
            <a:ext cx="1872475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364000"/>
            <a:ext cx="1526875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模块二 · W5–8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94875" y="5295600"/>
            <a:ext cx="2808713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7675" y="5364000"/>
            <a:ext cx="2463113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180 min · 授课 + 实验 + 小测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26788" y="5295600"/>
            <a:ext cx="3370455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588" y="5364000"/>
            <a:ext cx="3024855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PyTorch · 优化器 · 学习率 · 训练日志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20444" y="5295600"/>
            <a:ext cx="1872475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3244" y="5364000"/>
            <a:ext cx="1526875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留学生班 · 英文授课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5868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" y="5961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2000" y="5983200"/>
            <a:ext cx="5760000" cy="20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Lecturer: ____________  ·  School of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02 / 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044000"/>
            <a:ext cx="2858400" cy="49536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600" y="2163600"/>
            <a:ext cx="2361600" cy="49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E3F8C"/>
                </a:solidFill>
                <a:latin typeface="Source Han Sans SC"/>
              </a:rPr>
              <a:t>5 部分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600" y="2628000"/>
            <a:ext cx="2361600" cy="2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6B7280"/>
                </a:solidFill>
                <a:latin typeface="Source Han Sans SC"/>
              </a:rPr>
              <a:t>本周结构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7600" y="2991600"/>
            <a:ext cx="2361600" cy="1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7600" y="3160800"/>
            <a:ext cx="2361600" cy="89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损失函数决定模型在优化什么，
优化器决定它怎么走，
学习率决定它一步走多大。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7600" y="4208400"/>
            <a:ext cx="2361600" cy="68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0800" y="4305600"/>
            <a:ext cx="2095200" cy="49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理论约 90 min · Lab 80 min · 小测与小结 10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24000" y="16488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99600" y="17712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99600" y="18720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7200" y="17892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损失函数：我们在优化什么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7200" y="20771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Loss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7200" y="22680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任务类型决定损失 · 三种常用损失 · 一个常见坑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048400" y="19332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24000" y="24012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99600" y="25236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99600" y="26244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7200" y="25416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优化器：参数怎么更新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7200" y="28296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Optimizer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7200" y="30204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SGD · Momentum · Adam · 三者的差别与代价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1048400" y="26856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24000" y="31536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99600" y="32760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99600" y="33767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7200" y="32940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学习率：最重要的超参数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7200" y="35819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Learning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7200" y="37728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过大 / 过小的症状 · 衰减策略 · 损失曲线诊断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048400" y="34380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24000" y="39060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99600" y="40284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99600" y="41291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7200" y="40464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训练循环五步法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7200" y="433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Training loop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7200" y="45252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清零 → 前向 → 计算损失 → 反向 → 更新 · 日志与批大小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1048400" y="41904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24000" y="46584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999600" y="47808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99600" y="48816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7200" y="47988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Lab · 实验 4 优化器 × 学习率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87200" y="50868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Hands-On Lab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7200" y="52776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3 种优化器 × 3 组学习率 · 损失/准确率曲线 · 最优组合与理由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048400" y="49428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损失函数：我们在优化什么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829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训练不是「让模型变好」这么模糊，而是「把某个数字变小」。
损失函数就是你选择的那个数字——选错了，模型会把力气用在你不在乎的地方。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任务定损失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分类 / 二分类 / 回归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激活已内置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别再手动 softmax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数值要稳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logits 版本更安全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03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三类任务，三种损失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04 / 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3387239" cy="23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230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多分类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nn.CrossEntropyLoss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294083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输入 (N, C) 原始 logits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标签是类别下标（long）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softmax 已内置，别再手动做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例：10 类图像分类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96000"/>
            <a:ext cx="3387239" cy="2304000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2400" cy="2304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二分类 / 多标签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nn.BCEWithLogitsLoss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915200"/>
            <a:ext cx="294083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输入 logits，形状 (N,) 或 (N, 1)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标签必须是 float（0.0 / 1.0）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sigmoid 已内置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多标签时各类独立判断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5679" y="1296000"/>
            <a:ext cx="3387239" cy="2304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2400" cy="2304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回归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nn.MSELoss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915200"/>
            <a:ext cx="294083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预测连续数值：房价、温度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不用任何激活函数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对大误差惩罚很重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有离群点改 L1 / SmoothL1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常用损失函数对照表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05 / 31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99200" y="1152000"/>
          <a:ext cx="10583999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000"/>
                <a:gridCol w="2376000"/>
                <a:gridCol w="2304000"/>
                <a:gridCol w="2015999"/>
                <a:gridCol w="2160000"/>
              </a:tblGrid>
              <a:tr h="576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任务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损失函数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输入是什么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输出层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注意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多分类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CrossEntropyLoss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原始 logits (N, 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无（内含 softmax）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再手动 softmax 就是做两次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二分类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BCEWithLogitsLoss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原始 logits (N, 1)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无（内含 sigmoid）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标签必须转成 float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多标签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BCEWithLogitsLoss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原始 logits (N, 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各类独立，可同时为正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回归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MSELoss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连续预测值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无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对离群点极敏感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不平衡分类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CrossEntropyLoss(weight=)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logits + 类别权重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权重按类频率倒数设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9200" y="4752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一句话记法：分类用交叉熵、回归用均方误差；带 Logits 字样的损失已经把激活函数包在里面了，这就是为什么不要自己再加一层。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三种损失的写法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06 / 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5185259" cy="4031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选择损失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91999"/>
            <a:ext cx="4789259" cy="354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import torch, torch.nn as nn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1) 多分类：softmax 已在损失内部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criterion = nn.CrossEntropyLoss()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2) 二分类 / 多标签：sigmoid 已在内部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criterion = nn.BCEWithLogitsLoss()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3) 回归：不用任何激活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criterion = nn.MSELoss()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铁律：永远传原始 logits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7659" y="1278000"/>
            <a:ext cx="5185259" cy="4031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7659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9659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常见坑：softmax 做了两次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5659" y="1691999"/>
            <a:ext cx="4789259" cy="354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常见坑：softmax 被做了两次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logits = model(x)            # 原始 logits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probs = torch.softmax(logits, 1)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loss = nn.CrossEntropyLoss()(probs, y)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概率被再次归一化并压扁，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梯度变小，损失下降缓慢、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准确率上不去。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正确做法：直接传 logits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loss = nn.CrossEntropyLoss()(logits, 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490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左边是「怎么选」，右边是「怎么错」。两次 softmax 不会报错，只会让你的准确率莫名其妙地低——这类静默错误比崩溃更难查。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正确用法 vs 常见坑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07 / 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70000"/>
            <a:ext cx="5143859" cy="4104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5143859" cy="540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5200" y="1321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正确用法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200" y="1890000"/>
            <a:ext cx="4711859" cy="32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损失函数吃原始 logits，不吃概率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激活函数交给损失内部处理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二分类用 BCEWithLogitsLoss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标签类型：交叉熵用 long，BCE 用 float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不平衡时用 weight= 传类别权重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9059" y="1170000"/>
            <a:ext cx="5143859" cy="4104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9059" y="1170000"/>
            <a:ext cx="5143859" cy="54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5059" y="1321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常见坑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5059" y="1890000"/>
            <a:ext cx="4711859" cy="32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先 softmax 再喂交叉熵 = 做了两次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用 BCEWithLogitsLoss 时又手动 sigmoid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标签忘了转 long / float，直接报错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把 MSELoss 用在分类任务上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损失一路下降但准确率不动（正是坑 1）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454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记住这条判据：损失在下降、指标却不动，第一反应就去看损失函数前面的那一行有没有多做一次激活。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优化器：参数怎么更新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Optimizer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829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损失函数告诉你「错了多少」，优化器决定「往哪走、走多远」。
同一套模型、同一份数据，换一个优化器，收敛速度可以差一个数量级。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SGD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只看当前这一步的梯度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Momentum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累积历史方向形成惯性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Adam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每个参数一个自适应步长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08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三种优化器：三代思路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09 / 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3387239" cy="25920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259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SGD 随机梯度下降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one batch, one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294083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直接用当前批次的梯度更新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只多了学习率一个超参数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对学习率极敏感，1e-1 就会炸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泛化常略好，但调参成本高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96000"/>
            <a:ext cx="3387239" cy="2592000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2400" cy="2592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SGD + Momentum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add inertia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915200"/>
            <a:ext cx="294083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把历史梯度按动量累加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沿一致的下降方向越走越快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能穿过小的鞍点与噪声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惯例：momentum = 0.9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5679" y="1296000"/>
            <a:ext cx="3387239" cy="2592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2400" cy="2592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Adam 自适应矩估计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adaptive per-parameter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915200"/>
            <a:ext cx="294083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同时估计梯度的一阶与二阶矩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每个参数有各自的步长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对学习率更宽容，1e-3 通常可跑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代价：多存两份状态，更吃显存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优化器对照表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10 / 31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99200" y="1152000"/>
          <a:ext cx="10584000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3024000"/>
                <a:gridCol w="2088000"/>
                <a:gridCol w="1512000"/>
                <a:gridCol w="2160000"/>
              </a:tblGrid>
              <a:tr h="6048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优化器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更新规则（直觉）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主要超参数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收敛速度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典型场景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6048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SGD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沿当前梯度方向走一步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需要精细调参的经典基线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48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SGD + Momentum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累积过去梯度，形成惯性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lr, momentum=0.9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中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计算机视觉的常用默认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6048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Adam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每参数自适应步长 + 动量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lr, betas, 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默认首选、快速原型、稀疏梯度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48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AdamW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同 Adam，但权重衰减解耦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lr, weight_decay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快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Transformer 类模型的标配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9200" y="4320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注意第二列的措辞——「沿当前梯度走一步」和「每参数自适应步长」，这个差别就是后面 3×3 实验中收敛速度差异的根源。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构造三种优化器并做对照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11 / 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5185259" cy="4031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同一套权重，三种优化器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91999"/>
            <a:ext cx="4789259" cy="354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import torch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from torch import nn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model = nn.Sequential(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nn.Linear(784, 128),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nn.ReLU(),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nn.Linear(128, 10))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params = model.parameters()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opt_sgd = torch.optim.SGD(params, lr=1e-1)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opt_mom = torch.optim.SGD(params, lr=1e-1,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                  momentum=0.9)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opt_adam = torch.optim.Adam(params, lr=1e-3)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7659" y="1278000"/>
            <a:ext cx="5185259" cy="4031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7659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9659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学习率扫描 1e-1 / 1e-3 / 1e-5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5659" y="1691999"/>
            <a:ext cx="4789259" cy="354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学习率扫描：1e-1 / 1e-3 / 1e-5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for lr in [1e-1, 1e-3, 1e-5]: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net = build_model()      # 重新初始化权重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opt = make_opt("adam", net, lr)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hist = train(net, opt, epochs=10)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log.append({"optim": "adam",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        "lr": lr,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        "val_loss": min(hist["val_loss"])})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1e-1 ：损失爆炸 / 震荡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1e-3 ：平稳收敛 —— 从这里开始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1e-5 ：同样的 epoch 还远未收敛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490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对照实验的纪律：每次运行都要重新初始化权重，否则第 2 组吃的是第 1 组已经训练过的权重，比较结果无效。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SGD 与 Adam：两种性格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12 / 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70000"/>
            <a:ext cx="5143859" cy="41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5143859" cy="54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5200" y="1321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SGD + Momentum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200" y="1890000"/>
            <a:ext cx="4711859" cy="32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每步只用一个批次的梯度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动量让方向更稳、更快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对学习率极其敏感，1e-1 直接爆炸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最终泛化常略好，但需要调参功夫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计算机视觉里的经典默认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9059" y="1170000"/>
            <a:ext cx="5143859" cy="4104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9059" y="1170000"/>
            <a:ext cx="5143859" cy="540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5059" y="1321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Adam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5059" y="1890000"/>
            <a:ext cx="4711859" cy="32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每个参数一个自适应步长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对学习率更宽容，1e-3 通常能跑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前期收敛快，适合快速拿到基线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多存两份状态，显存占用更高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Transformer 类模型的首选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454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选择策略：先用 Adam(lr=1e-3) 拿到一个能跑通的基线，再用 SGD+momentum 精调。但「哪个更好」这个结论，必须来自你自己跑出来的对照实验，而不是这一页。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同一片损失地形上，SGD 与 Adam 走出的两条路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同一起点、同一片地形，各自用自己扫描出的学习率上限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13 /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200" y="1512000"/>
            <a:ext cx="7056000" cy="3348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51875" y="2788288"/>
            <a:ext cx="1659740" cy="683823"/>
          </a:xfrm>
          <a:prstGeom prst="ellipse">
            <a:avLst/>
          </a:prstGeom>
          <a:noFill/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22005" y="2446376"/>
            <a:ext cx="3319480" cy="1367647"/>
          </a:xfrm>
          <a:prstGeom prst="ellipse">
            <a:avLst/>
          </a:prstGeom>
          <a:noFill/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92135" y="2104464"/>
            <a:ext cx="4979220" cy="2051470"/>
          </a:xfrm>
          <a:prstGeom prst="ellipse">
            <a:avLst/>
          </a:prstGeom>
          <a:noFill/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177200" y="3130200"/>
            <a:ext cx="6390000" cy="0"/>
          </a:xfrm>
          <a:prstGeom prst="line">
            <a:avLst/>
          </a:prstGeom>
          <a:ln w="1143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081745" y="1735199"/>
            <a:ext cx="0" cy="2790001"/>
          </a:xfrm>
          <a:prstGeom prst="line">
            <a:avLst/>
          </a:prstGeom>
          <a:ln w="1143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27745" y="3076200"/>
            <a:ext cx="108000" cy="108000"/>
          </a:xfrm>
          <a:prstGeom prst="ellipse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000" y="3029400"/>
            <a:ext cx="486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w2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7200" y="4575600"/>
            <a:ext cx="7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w1</a:t>
            </a:r>
          </a:p>
        </p:txBody>
      </p:sp>
      <p:sp>
        <p:nvSpPr>
          <p:cNvPr id="19" name="Freeform 18"/>
          <p:cNvSpPr/>
          <p:nvPr/>
        </p:nvSpPr>
        <p:spPr>
          <a:xfrm>
            <a:off x="4003979" y="2145494"/>
            <a:ext cx="3231272" cy="1593271"/>
          </a:xfrm>
          <a:custGeom>
            <a:avLst/>
            <a:gdLst/>
            <a:ahLst/>
            <a:cxnLst/>
            <a:rect l="l" t="t" r="r" b="b"/>
            <a:pathLst>
              <a:path w="3231272" h="1593271">
                <a:moveTo>
                  <a:pt x="3231272" y="0"/>
                </a:moveTo>
                <a:lnTo>
                  <a:pt x="2998909" y="574411"/>
                </a:lnTo>
                <a:lnTo>
                  <a:pt x="2767178" y="1094138"/>
                </a:lnTo>
                <a:lnTo>
                  <a:pt x="2536581" y="1456307"/>
                </a:lnTo>
                <a:lnTo>
                  <a:pt x="2307684" y="1593271"/>
                </a:lnTo>
                <a:lnTo>
                  <a:pt x="2081127" y="1551328"/>
                </a:lnTo>
                <a:lnTo>
                  <a:pt x="1857626" y="1399644"/>
                </a:lnTo>
                <a:lnTo>
                  <a:pt x="1637979" y="1191534"/>
                </a:lnTo>
                <a:lnTo>
                  <a:pt x="1423064" y="970702"/>
                </a:lnTo>
                <a:lnTo>
                  <a:pt x="1213840" y="777282"/>
                </a:lnTo>
                <a:lnTo>
                  <a:pt x="1011338" y="644279"/>
                </a:lnTo>
                <a:lnTo>
                  <a:pt x="816653" y="588571"/>
                </a:lnTo>
                <a:lnTo>
                  <a:pt x="630918" y="608302"/>
                </a:lnTo>
                <a:lnTo>
                  <a:pt x="455285" y="688876"/>
                </a:lnTo>
                <a:lnTo>
                  <a:pt x="290886" y="809641"/>
                </a:lnTo>
                <a:lnTo>
                  <a:pt x="138799" y="947405"/>
                </a:lnTo>
                <a:lnTo>
                  <a:pt x="0" y="1078459"/>
                </a:lnTo>
              </a:path>
            </a:pathLst>
          </a:custGeom>
          <a:noFill/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4003979" y="2145494"/>
            <a:ext cx="3231272" cy="1593271"/>
          </a:xfrm>
          <a:custGeom>
            <a:avLst/>
            <a:gdLst/>
            <a:ahLst/>
            <a:cxnLst/>
            <a:rect l="l" t="t" r="r" b="b"/>
            <a:pathLst>
              <a:path w="3231272" h="1593271">
                <a:moveTo>
                  <a:pt x="3231272" y="0"/>
                </a:moveTo>
                <a:lnTo>
                  <a:pt x="2998909" y="574411"/>
                </a:lnTo>
                <a:lnTo>
                  <a:pt x="2767178" y="1094138"/>
                </a:lnTo>
                <a:lnTo>
                  <a:pt x="2536581" y="1456307"/>
                </a:lnTo>
                <a:lnTo>
                  <a:pt x="2307684" y="1593271"/>
                </a:lnTo>
                <a:lnTo>
                  <a:pt x="2081127" y="1551328"/>
                </a:lnTo>
                <a:lnTo>
                  <a:pt x="1857626" y="1399644"/>
                </a:lnTo>
                <a:lnTo>
                  <a:pt x="1637979" y="1191534"/>
                </a:lnTo>
                <a:lnTo>
                  <a:pt x="1423064" y="970702"/>
                </a:lnTo>
                <a:lnTo>
                  <a:pt x="1213840" y="777282"/>
                </a:lnTo>
                <a:lnTo>
                  <a:pt x="1011338" y="644279"/>
                </a:lnTo>
                <a:lnTo>
                  <a:pt x="816653" y="588571"/>
                </a:lnTo>
                <a:lnTo>
                  <a:pt x="630918" y="608302"/>
                </a:lnTo>
                <a:lnTo>
                  <a:pt x="455285" y="688876"/>
                </a:lnTo>
                <a:lnTo>
                  <a:pt x="290886" y="809641"/>
                </a:lnTo>
                <a:lnTo>
                  <a:pt x="138799" y="947405"/>
                </a:lnTo>
                <a:lnTo>
                  <a:pt x="0" y="1078459"/>
                </a:lnTo>
              </a:path>
            </a:pathLst>
          </a:custGeom>
          <a:noFill/>
          <a:ln w="2794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66888" y="2683905"/>
            <a:ext cx="72000" cy="7200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35157" y="3203632"/>
            <a:ext cx="72000" cy="7200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04560" y="3565801"/>
            <a:ext cx="72000" cy="7200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75663" y="3702765"/>
            <a:ext cx="72000" cy="7200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049106" y="3660822"/>
            <a:ext cx="72000" cy="7200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25605" y="3509138"/>
            <a:ext cx="72000" cy="7200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05958" y="3301028"/>
            <a:ext cx="72000" cy="7200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91043" y="3080196"/>
            <a:ext cx="72000" cy="7200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81819" y="2886776"/>
            <a:ext cx="72000" cy="7200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979317" y="2753773"/>
            <a:ext cx="72000" cy="7200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84632" y="2698065"/>
            <a:ext cx="72000" cy="7200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98897" y="2717796"/>
            <a:ext cx="72000" cy="7200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423264" y="2798370"/>
            <a:ext cx="72000" cy="7200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258865" y="2919135"/>
            <a:ext cx="72000" cy="7200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106778" y="3056899"/>
            <a:ext cx="72000" cy="72000"/>
          </a:xfrm>
          <a:prstGeom prst="ellips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16200000">
            <a:off x="3931979" y="3151953"/>
            <a:ext cx="144000" cy="144000"/>
          </a:xfrm>
          <a:prstGeom prst="triangle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5616786" y="2145494"/>
            <a:ext cx="1618465" cy="1559774"/>
          </a:xfrm>
          <a:custGeom>
            <a:avLst/>
            <a:gdLst/>
            <a:ahLst/>
            <a:cxnLst/>
            <a:rect l="l" t="t" r="r" b="b"/>
            <a:pathLst>
              <a:path w="1618465" h="1559774">
                <a:moveTo>
                  <a:pt x="1618465" y="0"/>
                </a:moveTo>
                <a:lnTo>
                  <a:pt x="1479711" y="1559774"/>
                </a:lnTo>
                <a:lnTo>
                  <a:pt x="1347062" y="648866"/>
                </a:lnTo>
                <a:lnTo>
                  <a:pt x="1220250" y="1180836"/>
                </a:lnTo>
                <a:lnTo>
                  <a:pt x="1099017" y="870165"/>
                </a:lnTo>
                <a:lnTo>
                  <a:pt x="983118" y="1051597"/>
                </a:lnTo>
                <a:lnTo>
                  <a:pt x="872319" y="945641"/>
                </a:lnTo>
                <a:lnTo>
                  <a:pt x="766395" y="1007519"/>
                </a:lnTo>
                <a:lnTo>
                  <a:pt x="665132" y="971382"/>
                </a:lnTo>
                <a:lnTo>
                  <a:pt x="568325" y="992486"/>
                </a:lnTo>
                <a:lnTo>
                  <a:pt x="475776" y="980162"/>
                </a:lnTo>
                <a:lnTo>
                  <a:pt x="387300" y="987359"/>
                </a:lnTo>
                <a:lnTo>
                  <a:pt x="302717" y="983156"/>
                </a:lnTo>
                <a:lnTo>
                  <a:pt x="221856" y="985611"/>
                </a:lnTo>
                <a:lnTo>
                  <a:pt x="144553" y="984177"/>
                </a:lnTo>
                <a:lnTo>
                  <a:pt x="70650" y="985014"/>
                </a:lnTo>
                <a:lnTo>
                  <a:pt x="0" y="984525"/>
                </a:lnTo>
              </a:path>
            </a:pathLst>
          </a:custGeom>
          <a:noFill/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5616786" y="2145494"/>
            <a:ext cx="1618465" cy="1559774"/>
          </a:xfrm>
          <a:custGeom>
            <a:avLst/>
            <a:gdLst/>
            <a:ahLst/>
            <a:cxnLst/>
            <a:rect l="l" t="t" r="r" b="b"/>
            <a:pathLst>
              <a:path w="1618465" h="1559774">
                <a:moveTo>
                  <a:pt x="1618465" y="0"/>
                </a:moveTo>
                <a:lnTo>
                  <a:pt x="1479711" y="1559774"/>
                </a:lnTo>
                <a:lnTo>
                  <a:pt x="1347062" y="648866"/>
                </a:lnTo>
                <a:lnTo>
                  <a:pt x="1220250" y="1180836"/>
                </a:lnTo>
                <a:lnTo>
                  <a:pt x="1099017" y="870165"/>
                </a:lnTo>
                <a:lnTo>
                  <a:pt x="983118" y="1051597"/>
                </a:lnTo>
                <a:lnTo>
                  <a:pt x="872319" y="945641"/>
                </a:lnTo>
                <a:lnTo>
                  <a:pt x="766395" y="1007519"/>
                </a:lnTo>
                <a:lnTo>
                  <a:pt x="665132" y="971382"/>
                </a:lnTo>
                <a:lnTo>
                  <a:pt x="568325" y="992486"/>
                </a:lnTo>
                <a:lnTo>
                  <a:pt x="475776" y="980162"/>
                </a:lnTo>
                <a:lnTo>
                  <a:pt x="387300" y="987359"/>
                </a:lnTo>
                <a:lnTo>
                  <a:pt x="302717" y="983156"/>
                </a:lnTo>
                <a:lnTo>
                  <a:pt x="221856" y="985611"/>
                </a:lnTo>
                <a:lnTo>
                  <a:pt x="144553" y="984177"/>
                </a:lnTo>
                <a:lnTo>
                  <a:pt x="70650" y="985014"/>
                </a:lnTo>
                <a:lnTo>
                  <a:pt x="0" y="984525"/>
                </a:lnTo>
              </a:path>
            </a:pathLst>
          </a:custGeom>
          <a:noFill/>
          <a:ln w="279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060497" y="3669268"/>
            <a:ext cx="72000" cy="720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927848" y="2758360"/>
            <a:ext cx="72000" cy="720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01036" y="3290330"/>
            <a:ext cx="72000" cy="720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679803" y="2979659"/>
            <a:ext cx="72000" cy="720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563904" y="3161091"/>
            <a:ext cx="72000" cy="720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53105" y="3055135"/>
            <a:ext cx="72000" cy="720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47181" y="3117013"/>
            <a:ext cx="72000" cy="720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45918" y="3080876"/>
            <a:ext cx="72000" cy="720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49111" y="3101980"/>
            <a:ext cx="72000" cy="720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056562" y="3089656"/>
            <a:ext cx="72000" cy="720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968086" y="3096853"/>
            <a:ext cx="72000" cy="720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883503" y="3092650"/>
            <a:ext cx="72000" cy="720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802642" y="3095105"/>
            <a:ext cx="72000" cy="720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725339" y="3093671"/>
            <a:ext cx="72000" cy="720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651436" y="3094508"/>
            <a:ext cx="72000" cy="720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 rot="16200000">
            <a:off x="5544786" y="3058019"/>
            <a:ext cx="144000" cy="144000"/>
          </a:xfrm>
          <a:prstGeom prst="triangl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45251" y="2055494"/>
            <a:ext cx="180000" cy="180000"/>
          </a:xfrm>
          <a:prstGeom prst="ellipse">
            <a:avLst/>
          </a:prstGeom>
          <a:noFill/>
          <a:ln w="22225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251" y="2091494"/>
            <a:ext cx="108000" cy="108000"/>
          </a:xfrm>
          <a:prstGeom prst="ellipse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31251" y="1814294"/>
            <a:ext cx="100799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0E3F8C"/>
                </a:solidFill>
                <a:latin typeface="Source Han Sans SC"/>
              </a:rPr>
              <a:t>start (1.90, 0.24)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43200" y="1512000"/>
            <a:ext cx="3249719" cy="993073"/>
          </a:xfrm>
          <a:prstGeom prst="roundRect">
            <a:avLst>
              <a:gd name="adj" fmla="val 3500"/>
            </a:avLst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43200" y="1512000"/>
            <a:ext cx="50400" cy="993073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16000" y="1627200"/>
            <a:ext cx="2907719" cy="3651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SGD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16000" y="1934774"/>
            <a:ext cx="2907719" cy="635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lr = 0.022，只有 Adam 的 1/6 · w2 每一步都变号，16 步里变了 16 次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43200" y="2627473"/>
            <a:ext cx="3249719" cy="993073"/>
          </a:xfrm>
          <a:prstGeom prst="roundRect">
            <a:avLst>
              <a:gd name="adj" fmla="val 3500"/>
            </a:avLst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143200" y="2627473"/>
            <a:ext cx="50400" cy="993073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16000" y="2742673"/>
            <a:ext cx="2907719" cy="3651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Adam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16000" y="3050248"/>
            <a:ext cx="2907719" cy="635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lr = 0.14 · w2 只变号 3 次就沉下去，16 步后基本贴到谷底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9200" y="5695200"/>
            <a:ext cx="1059371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B7280"/>
                </a:solidFill>
                <a:latin typeface="Source Han Sans SC"/>
              </a:rPr>
              <a:t>损失 f(w1, w2) = w1² + 36w2²，等高线是一条约 1:6 的窄谷。两个学习率都是各自扫描出来的上限：SGD 一超过 0.028 就被陡壁弹飞，只能压到 0.022，代价是沿谷底几乎走不动——「对学习率更宽容」在这里是看得见的。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学习率：最重要的超参数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Learning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829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学习率决定每一步走多远。它大到一定程度会让损失爆炸，小到一定程度会让训练看起来「没在学」。
看到异常损失，第一个要查的就是它。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过大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震荡、爆炸、出现 nan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过小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损失几乎不动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先查它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异常损失的第一嫌疑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14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学习率：症状与策略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15 / 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3387239" cy="2304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2304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过大：跳过了谷底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lr=1e-1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294083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损失上下震荡，根本不下降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很快出现 nan 或 inf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处置：先把学习率除以 10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现象：准确率停在随机水平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96000"/>
            <a:ext cx="3387239" cy="2304000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2400" cy="2304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过小：在原地磨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lr=1e-5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915200"/>
            <a:ext cx="294083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10 个 epoch 损失变化不到 0.05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看起来在训练，其实几乎没动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处置：升 10 倍再试一次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别用「加 epoch」掩盖它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5679" y="1296000"/>
            <a:ext cx="3387239" cy="2304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2400" cy="2304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策略：三段式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warmup + decay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915200"/>
            <a:ext cx="2940839" cy="1540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Warmup：前几个 epoch 从小到大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中期：StepLR 每 N 轮衰减一次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后期：CosineAnnealing 平滑退火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PyTorch 里用 lr_scheduler 实现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080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梯度下降：一步走多大，决定它落在哪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518400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同一段损失曲线，同一个起点，只改学习率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16 / 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200" y="1188000"/>
            <a:ext cx="3327240" cy="4320000"/>
          </a:xfrm>
          <a:prstGeom prst="roundRect">
            <a:avLst>
              <a:gd name="adj" fmla="val 3500"/>
            </a:avLst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200" y="1389600"/>
            <a:ext cx="2787240" cy="3937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太小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200" y="1718549"/>
            <a:ext cx="2787240" cy="3270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lr = 0.06  ·  8 steps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84400" y="4662000"/>
            <a:ext cx="2506439" cy="0"/>
          </a:xfrm>
          <a:prstGeom prst="line">
            <a:avLst/>
          </a:prstGeom>
          <a:ln w="1778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84400" y="2351624"/>
            <a:ext cx="0" cy="2310376"/>
          </a:xfrm>
          <a:prstGeom prst="line">
            <a:avLst/>
          </a:prstGeom>
          <a:ln w="1778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3651240" y="4590000"/>
            <a:ext cx="144000" cy="144000"/>
          </a:xfrm>
          <a:prstGeom prst="triangl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112400" y="2240024"/>
            <a:ext cx="144000" cy="144000"/>
          </a:xfrm>
          <a:prstGeom prst="triangl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84400" y="2279624"/>
            <a:ext cx="2571239" cy="2382376"/>
          </a:xfrm>
          <a:custGeom>
            <a:avLst/>
            <a:gdLst/>
            <a:ahLst/>
            <a:cxnLst/>
            <a:rect l="l" t="t" r="r" b="b"/>
            <a:pathLst>
              <a:path w="2571239" h="2382376">
                <a:moveTo>
                  <a:pt x="0" y="0"/>
                </a:moveTo>
                <a:lnTo>
                  <a:pt x="21427" y="78750"/>
                </a:lnTo>
                <a:lnTo>
                  <a:pt x="42854" y="156178"/>
                </a:lnTo>
                <a:lnTo>
                  <a:pt x="64281" y="232281"/>
                </a:lnTo>
                <a:lnTo>
                  <a:pt x="85708" y="307061"/>
                </a:lnTo>
                <a:lnTo>
                  <a:pt x="107135" y="380518"/>
                </a:lnTo>
                <a:lnTo>
                  <a:pt x="128562" y="452651"/>
                </a:lnTo>
                <a:lnTo>
                  <a:pt x="149989" y="523461"/>
                </a:lnTo>
                <a:lnTo>
                  <a:pt x="171416" y="592947"/>
                </a:lnTo>
                <a:lnTo>
                  <a:pt x="192843" y="661109"/>
                </a:lnTo>
                <a:lnTo>
                  <a:pt x="214270" y="727948"/>
                </a:lnTo>
                <a:lnTo>
                  <a:pt x="235697" y="793463"/>
                </a:lnTo>
                <a:lnTo>
                  <a:pt x="257124" y="857655"/>
                </a:lnTo>
                <a:lnTo>
                  <a:pt x="278551" y="920523"/>
                </a:lnTo>
                <a:lnTo>
                  <a:pt x="299978" y="982068"/>
                </a:lnTo>
                <a:lnTo>
                  <a:pt x="321405" y="1042289"/>
                </a:lnTo>
                <a:lnTo>
                  <a:pt x="342832" y="1101187"/>
                </a:lnTo>
                <a:lnTo>
                  <a:pt x="364259" y="1158761"/>
                </a:lnTo>
                <a:lnTo>
                  <a:pt x="385686" y="1215011"/>
                </a:lnTo>
                <a:lnTo>
                  <a:pt x="407113" y="1269938"/>
                </a:lnTo>
                <a:lnTo>
                  <a:pt x="428540" y="1323542"/>
                </a:lnTo>
                <a:lnTo>
                  <a:pt x="449966" y="1375822"/>
                </a:lnTo>
                <a:lnTo>
                  <a:pt x="471394" y="1426778"/>
                </a:lnTo>
                <a:lnTo>
                  <a:pt x="492821" y="1476411"/>
                </a:lnTo>
                <a:lnTo>
                  <a:pt x="514247" y="1524720"/>
                </a:lnTo>
                <a:lnTo>
                  <a:pt x="535675" y="1571706"/>
                </a:lnTo>
                <a:lnTo>
                  <a:pt x="557102" y="1617368"/>
                </a:lnTo>
                <a:lnTo>
                  <a:pt x="578529" y="1661707"/>
                </a:lnTo>
                <a:lnTo>
                  <a:pt x="599955" y="1704722"/>
                </a:lnTo>
                <a:lnTo>
                  <a:pt x="621383" y="1746414"/>
                </a:lnTo>
                <a:lnTo>
                  <a:pt x="642810" y="1786782"/>
                </a:lnTo>
                <a:lnTo>
                  <a:pt x="664237" y="1825826"/>
                </a:lnTo>
                <a:lnTo>
                  <a:pt x="685663" y="1863547"/>
                </a:lnTo>
                <a:lnTo>
                  <a:pt x="707091" y="1899944"/>
                </a:lnTo>
                <a:lnTo>
                  <a:pt x="728518" y="1935018"/>
                </a:lnTo>
                <a:lnTo>
                  <a:pt x="749945" y="1968769"/>
                </a:lnTo>
                <a:lnTo>
                  <a:pt x="771372" y="2001195"/>
                </a:lnTo>
                <a:lnTo>
                  <a:pt x="792799" y="2032299"/>
                </a:lnTo>
                <a:lnTo>
                  <a:pt x="814225" y="2062078"/>
                </a:lnTo>
                <a:lnTo>
                  <a:pt x="835653" y="2090534"/>
                </a:lnTo>
                <a:lnTo>
                  <a:pt x="857080" y="2117667"/>
                </a:lnTo>
                <a:lnTo>
                  <a:pt x="878506" y="2143476"/>
                </a:lnTo>
                <a:lnTo>
                  <a:pt x="899934" y="2167962"/>
                </a:lnTo>
                <a:lnTo>
                  <a:pt x="921361" y="2191124"/>
                </a:lnTo>
                <a:lnTo>
                  <a:pt x="942788" y="2212962"/>
                </a:lnTo>
                <a:lnTo>
                  <a:pt x="964215" y="2233477"/>
                </a:lnTo>
                <a:lnTo>
                  <a:pt x="985641" y="2252668"/>
                </a:lnTo>
                <a:lnTo>
                  <a:pt x="1007069" y="2270536"/>
                </a:lnTo>
                <a:lnTo>
                  <a:pt x="1028496" y="2287080"/>
                </a:lnTo>
                <a:lnTo>
                  <a:pt x="1049923" y="2302301"/>
                </a:lnTo>
                <a:lnTo>
                  <a:pt x="1071350" y="2316198"/>
                </a:lnTo>
                <a:lnTo>
                  <a:pt x="1092777" y="2328772"/>
                </a:lnTo>
                <a:lnTo>
                  <a:pt x="1114204" y="2340022"/>
                </a:lnTo>
                <a:lnTo>
                  <a:pt x="1135631" y="2349949"/>
                </a:lnTo>
                <a:lnTo>
                  <a:pt x="1157058" y="2358552"/>
                </a:lnTo>
                <a:lnTo>
                  <a:pt x="1178485" y="2365831"/>
                </a:lnTo>
                <a:lnTo>
                  <a:pt x="1199912" y="2371787"/>
                </a:lnTo>
                <a:lnTo>
                  <a:pt x="1221339" y="2376420"/>
                </a:lnTo>
                <a:lnTo>
                  <a:pt x="1242766" y="2379728"/>
                </a:lnTo>
                <a:lnTo>
                  <a:pt x="1264193" y="2381714"/>
                </a:lnTo>
                <a:lnTo>
                  <a:pt x="1285620" y="2382376"/>
                </a:lnTo>
                <a:lnTo>
                  <a:pt x="1307047" y="2381714"/>
                </a:lnTo>
                <a:lnTo>
                  <a:pt x="1328474" y="2379728"/>
                </a:lnTo>
                <a:lnTo>
                  <a:pt x="1349901" y="2376420"/>
                </a:lnTo>
                <a:lnTo>
                  <a:pt x="1371328" y="2371787"/>
                </a:lnTo>
                <a:lnTo>
                  <a:pt x="1392755" y="2365831"/>
                </a:lnTo>
                <a:lnTo>
                  <a:pt x="1414182" y="2358552"/>
                </a:lnTo>
                <a:lnTo>
                  <a:pt x="1435609" y="2349949"/>
                </a:lnTo>
                <a:lnTo>
                  <a:pt x="1457036" y="2340022"/>
                </a:lnTo>
                <a:lnTo>
                  <a:pt x="1478463" y="2328772"/>
                </a:lnTo>
                <a:lnTo>
                  <a:pt x="1499890" y="2316198"/>
                </a:lnTo>
                <a:lnTo>
                  <a:pt x="1521317" y="2302301"/>
                </a:lnTo>
                <a:lnTo>
                  <a:pt x="1542744" y="2287080"/>
                </a:lnTo>
                <a:lnTo>
                  <a:pt x="1564171" y="2270536"/>
                </a:lnTo>
                <a:lnTo>
                  <a:pt x="1585598" y="2252668"/>
                </a:lnTo>
                <a:lnTo>
                  <a:pt x="1607025" y="2233477"/>
                </a:lnTo>
                <a:lnTo>
                  <a:pt x="1628451" y="2212962"/>
                </a:lnTo>
                <a:lnTo>
                  <a:pt x="1649879" y="2191124"/>
                </a:lnTo>
                <a:lnTo>
                  <a:pt x="1671306" y="2167962"/>
                </a:lnTo>
                <a:lnTo>
                  <a:pt x="1692733" y="2143476"/>
                </a:lnTo>
                <a:lnTo>
                  <a:pt x="1714160" y="2117667"/>
                </a:lnTo>
                <a:lnTo>
                  <a:pt x="1735587" y="2090534"/>
                </a:lnTo>
                <a:lnTo>
                  <a:pt x="1757013" y="2062078"/>
                </a:lnTo>
                <a:lnTo>
                  <a:pt x="1778441" y="2032299"/>
                </a:lnTo>
                <a:lnTo>
                  <a:pt x="1799868" y="2001195"/>
                </a:lnTo>
                <a:lnTo>
                  <a:pt x="1821295" y="1968769"/>
                </a:lnTo>
                <a:lnTo>
                  <a:pt x="1842722" y="1935018"/>
                </a:lnTo>
                <a:lnTo>
                  <a:pt x="1864148" y="1899944"/>
                </a:lnTo>
                <a:lnTo>
                  <a:pt x="1885576" y="1863547"/>
                </a:lnTo>
                <a:lnTo>
                  <a:pt x="1907003" y="1825826"/>
                </a:lnTo>
                <a:lnTo>
                  <a:pt x="1928430" y="1786782"/>
                </a:lnTo>
                <a:lnTo>
                  <a:pt x="1949857" y="1746414"/>
                </a:lnTo>
                <a:lnTo>
                  <a:pt x="1971284" y="1704722"/>
                </a:lnTo>
                <a:lnTo>
                  <a:pt x="1992710" y="1661707"/>
                </a:lnTo>
                <a:lnTo>
                  <a:pt x="2014138" y="1617368"/>
                </a:lnTo>
                <a:lnTo>
                  <a:pt x="2035564" y="1571706"/>
                </a:lnTo>
                <a:lnTo>
                  <a:pt x="2056992" y="1524720"/>
                </a:lnTo>
                <a:lnTo>
                  <a:pt x="2078419" y="1476411"/>
                </a:lnTo>
                <a:lnTo>
                  <a:pt x="2099846" y="1426778"/>
                </a:lnTo>
                <a:lnTo>
                  <a:pt x="2121273" y="1375822"/>
                </a:lnTo>
                <a:lnTo>
                  <a:pt x="2142700" y="1323542"/>
                </a:lnTo>
                <a:lnTo>
                  <a:pt x="2164127" y="1269938"/>
                </a:lnTo>
                <a:lnTo>
                  <a:pt x="2185554" y="1215011"/>
                </a:lnTo>
                <a:lnTo>
                  <a:pt x="2206981" y="1158761"/>
                </a:lnTo>
                <a:lnTo>
                  <a:pt x="2228408" y="1101187"/>
                </a:lnTo>
                <a:lnTo>
                  <a:pt x="2249835" y="1042289"/>
                </a:lnTo>
                <a:lnTo>
                  <a:pt x="2271261" y="982068"/>
                </a:lnTo>
                <a:lnTo>
                  <a:pt x="2292689" y="920523"/>
                </a:lnTo>
                <a:lnTo>
                  <a:pt x="2314116" y="857655"/>
                </a:lnTo>
                <a:lnTo>
                  <a:pt x="2335542" y="793463"/>
                </a:lnTo>
                <a:lnTo>
                  <a:pt x="2356969" y="727948"/>
                </a:lnTo>
                <a:lnTo>
                  <a:pt x="2378397" y="661109"/>
                </a:lnTo>
                <a:lnTo>
                  <a:pt x="2399823" y="592947"/>
                </a:lnTo>
                <a:lnTo>
                  <a:pt x="2421251" y="523461"/>
                </a:lnTo>
                <a:lnTo>
                  <a:pt x="2442678" y="452651"/>
                </a:lnTo>
                <a:lnTo>
                  <a:pt x="2464105" y="380518"/>
                </a:lnTo>
                <a:lnTo>
                  <a:pt x="2485532" y="307061"/>
                </a:lnTo>
                <a:lnTo>
                  <a:pt x="2506959" y="232281"/>
                </a:lnTo>
                <a:lnTo>
                  <a:pt x="2528386" y="156178"/>
                </a:lnTo>
                <a:lnTo>
                  <a:pt x="2549813" y="78750"/>
                </a:lnTo>
                <a:lnTo>
                  <a:pt x="2571239" y="0"/>
                </a:lnTo>
              </a:path>
            </a:pathLst>
          </a:custGeom>
          <a:noFill/>
          <a:ln w="279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2470020" y="2358824"/>
            <a:ext cx="0" cy="2303176"/>
          </a:xfrm>
          <a:prstGeom prst="line">
            <a:avLst/>
          </a:prstGeom>
          <a:ln w="13970">
            <a:solidFill>
              <a:srgbClr val="E5E7E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294616" y="2811371"/>
            <a:ext cx="122400" cy="12240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355816" y="2872571"/>
            <a:ext cx="133704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89520" y="2872571"/>
            <a:ext cx="0" cy="403695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428320" y="3215066"/>
            <a:ext cx="122400" cy="12240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489520" y="3276266"/>
            <a:ext cx="117660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07180" y="3276266"/>
            <a:ext cx="0" cy="312621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545980" y="3527687"/>
            <a:ext cx="122400" cy="12240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607180" y="3588887"/>
            <a:ext cx="103541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710721" y="3588887"/>
            <a:ext cx="0" cy="242094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649521" y="3769781"/>
            <a:ext cx="122400" cy="12240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1710721" y="3830981"/>
            <a:ext cx="91116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01837" y="3830981"/>
            <a:ext cx="0" cy="187478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740637" y="3957259"/>
            <a:ext cx="122400" cy="12240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1801837" y="4018459"/>
            <a:ext cx="80181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82018" y="4018459"/>
            <a:ext cx="0" cy="145183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820818" y="4102442"/>
            <a:ext cx="122400" cy="12240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1882018" y="4163642"/>
            <a:ext cx="70561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952579" y="4163642"/>
            <a:ext cx="0" cy="112429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891379" y="4214871"/>
            <a:ext cx="122400" cy="12240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1952579" y="4276071"/>
            <a:ext cx="62093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014672" y="4276071"/>
            <a:ext cx="0" cy="87066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1953472" y="4301937"/>
            <a:ext cx="122400" cy="12240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2014672" y="4363137"/>
            <a:ext cx="54641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069313" y="4363137"/>
            <a:ext cx="0" cy="67423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2008113" y="4369360"/>
            <a:ext cx="122400" cy="12240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262216" y="2778971"/>
            <a:ext cx="187200" cy="187200"/>
          </a:xfrm>
          <a:prstGeom prst="ellipse">
            <a:avLst/>
          </a:prstGeom>
          <a:noFill/>
          <a:ln w="20320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91016" y="2807771"/>
            <a:ext cx="129600" cy="129600"/>
          </a:xfrm>
          <a:prstGeom prst="ellipse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34000" y="2114024"/>
            <a:ext cx="151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loss L(w)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4000" y="4719600"/>
            <a:ext cx="108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w -&gt;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78020" y="4719600"/>
            <a:ext cx="7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w*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9200" y="5076000"/>
            <a:ext cx="2787240" cy="3270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6B7280"/>
                </a:solidFill>
                <a:latin typeface="Source Han Sans SC"/>
              </a:rPr>
              <a:t>走了 8 步，还没到 w*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432440" y="1188000"/>
            <a:ext cx="3327240" cy="4320000"/>
          </a:xfrm>
          <a:prstGeom prst="roundRect">
            <a:avLst>
              <a:gd name="adj" fmla="val 3500"/>
            </a:avLst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02440" y="1389600"/>
            <a:ext cx="2787240" cy="3937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刚好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2440" y="1718549"/>
            <a:ext cx="2787240" cy="3270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lr = 0.45  ·  3 steps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817640" y="4662000"/>
            <a:ext cx="2506440" cy="0"/>
          </a:xfrm>
          <a:prstGeom prst="line">
            <a:avLst/>
          </a:prstGeom>
          <a:ln w="1778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817640" y="2351624"/>
            <a:ext cx="0" cy="2310376"/>
          </a:xfrm>
          <a:prstGeom prst="line">
            <a:avLst/>
          </a:prstGeom>
          <a:ln w="1778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sosceles Triangle 54"/>
          <p:cNvSpPr/>
          <p:nvPr/>
        </p:nvSpPr>
        <p:spPr>
          <a:xfrm rot="5400000">
            <a:off x="7284480" y="4590000"/>
            <a:ext cx="144000" cy="144000"/>
          </a:xfrm>
          <a:prstGeom prst="triangl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4745640" y="2240024"/>
            <a:ext cx="144000" cy="144000"/>
          </a:xfrm>
          <a:prstGeom prst="triangl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817640" y="2279624"/>
            <a:ext cx="2571240" cy="2382376"/>
          </a:xfrm>
          <a:custGeom>
            <a:avLst/>
            <a:gdLst/>
            <a:ahLst/>
            <a:cxnLst/>
            <a:rect l="l" t="t" r="r" b="b"/>
            <a:pathLst>
              <a:path w="2571240" h="2382376">
                <a:moveTo>
                  <a:pt x="0" y="0"/>
                </a:moveTo>
                <a:lnTo>
                  <a:pt x="21427" y="78750"/>
                </a:lnTo>
                <a:lnTo>
                  <a:pt x="42854" y="156178"/>
                </a:lnTo>
                <a:lnTo>
                  <a:pt x="64281" y="232281"/>
                </a:lnTo>
                <a:lnTo>
                  <a:pt x="85708" y="307061"/>
                </a:lnTo>
                <a:lnTo>
                  <a:pt x="107135" y="380518"/>
                </a:lnTo>
                <a:lnTo>
                  <a:pt x="128562" y="452651"/>
                </a:lnTo>
                <a:lnTo>
                  <a:pt x="149989" y="523461"/>
                </a:lnTo>
                <a:lnTo>
                  <a:pt x="171416" y="592947"/>
                </a:lnTo>
                <a:lnTo>
                  <a:pt x="192843" y="661109"/>
                </a:lnTo>
                <a:lnTo>
                  <a:pt x="214270" y="727948"/>
                </a:lnTo>
                <a:lnTo>
                  <a:pt x="235697" y="793463"/>
                </a:lnTo>
                <a:lnTo>
                  <a:pt x="257124" y="857655"/>
                </a:lnTo>
                <a:lnTo>
                  <a:pt x="278551" y="920523"/>
                </a:lnTo>
                <a:lnTo>
                  <a:pt x="299978" y="982068"/>
                </a:lnTo>
                <a:lnTo>
                  <a:pt x="321405" y="1042289"/>
                </a:lnTo>
                <a:lnTo>
                  <a:pt x="342832" y="1101187"/>
                </a:lnTo>
                <a:lnTo>
                  <a:pt x="364259" y="1158761"/>
                </a:lnTo>
                <a:lnTo>
                  <a:pt x="385686" y="1215011"/>
                </a:lnTo>
                <a:lnTo>
                  <a:pt x="407113" y="1269938"/>
                </a:lnTo>
                <a:lnTo>
                  <a:pt x="428540" y="1323542"/>
                </a:lnTo>
                <a:lnTo>
                  <a:pt x="449967" y="1375822"/>
                </a:lnTo>
                <a:lnTo>
                  <a:pt x="471394" y="1426778"/>
                </a:lnTo>
                <a:lnTo>
                  <a:pt x="492821" y="1476411"/>
                </a:lnTo>
                <a:lnTo>
                  <a:pt x="514248" y="1524720"/>
                </a:lnTo>
                <a:lnTo>
                  <a:pt x="535675" y="1571706"/>
                </a:lnTo>
                <a:lnTo>
                  <a:pt x="557102" y="1617368"/>
                </a:lnTo>
                <a:lnTo>
                  <a:pt x="578529" y="1661707"/>
                </a:lnTo>
                <a:lnTo>
                  <a:pt x="599956" y="1704722"/>
                </a:lnTo>
                <a:lnTo>
                  <a:pt x="621383" y="1746414"/>
                </a:lnTo>
                <a:lnTo>
                  <a:pt x="642810" y="1786782"/>
                </a:lnTo>
                <a:lnTo>
                  <a:pt x="664237" y="1825826"/>
                </a:lnTo>
                <a:lnTo>
                  <a:pt x="685664" y="1863547"/>
                </a:lnTo>
                <a:lnTo>
                  <a:pt x="707091" y="1899944"/>
                </a:lnTo>
                <a:lnTo>
                  <a:pt x="728518" y="1935018"/>
                </a:lnTo>
                <a:lnTo>
                  <a:pt x="749945" y="1968769"/>
                </a:lnTo>
                <a:lnTo>
                  <a:pt x="771372" y="2001195"/>
                </a:lnTo>
                <a:lnTo>
                  <a:pt x="792799" y="2032299"/>
                </a:lnTo>
                <a:lnTo>
                  <a:pt x="814226" y="2062078"/>
                </a:lnTo>
                <a:lnTo>
                  <a:pt x="835653" y="2090534"/>
                </a:lnTo>
                <a:lnTo>
                  <a:pt x="857080" y="2117667"/>
                </a:lnTo>
                <a:lnTo>
                  <a:pt x="878507" y="2143476"/>
                </a:lnTo>
                <a:lnTo>
                  <a:pt x="899934" y="2167962"/>
                </a:lnTo>
                <a:lnTo>
                  <a:pt x="921361" y="2191124"/>
                </a:lnTo>
                <a:lnTo>
                  <a:pt x="942788" y="2212962"/>
                </a:lnTo>
                <a:lnTo>
                  <a:pt x="964215" y="2233477"/>
                </a:lnTo>
                <a:lnTo>
                  <a:pt x="985642" y="2252668"/>
                </a:lnTo>
                <a:lnTo>
                  <a:pt x="1007069" y="2270536"/>
                </a:lnTo>
                <a:lnTo>
                  <a:pt x="1028496" y="2287080"/>
                </a:lnTo>
                <a:lnTo>
                  <a:pt x="1049923" y="2302301"/>
                </a:lnTo>
                <a:lnTo>
                  <a:pt x="1071350" y="2316198"/>
                </a:lnTo>
                <a:lnTo>
                  <a:pt x="1092777" y="2328772"/>
                </a:lnTo>
                <a:lnTo>
                  <a:pt x="1114204" y="2340022"/>
                </a:lnTo>
                <a:lnTo>
                  <a:pt x="1135631" y="2349949"/>
                </a:lnTo>
                <a:lnTo>
                  <a:pt x="1157057" y="2358552"/>
                </a:lnTo>
                <a:lnTo>
                  <a:pt x="1178484" y="2365831"/>
                </a:lnTo>
                <a:lnTo>
                  <a:pt x="1199912" y="2371787"/>
                </a:lnTo>
                <a:lnTo>
                  <a:pt x="1221339" y="2376420"/>
                </a:lnTo>
                <a:lnTo>
                  <a:pt x="1242766" y="2379728"/>
                </a:lnTo>
                <a:lnTo>
                  <a:pt x="1264193" y="2381714"/>
                </a:lnTo>
                <a:lnTo>
                  <a:pt x="1285619" y="2382376"/>
                </a:lnTo>
                <a:lnTo>
                  <a:pt x="1307047" y="2381714"/>
                </a:lnTo>
                <a:lnTo>
                  <a:pt x="1328474" y="2379728"/>
                </a:lnTo>
                <a:lnTo>
                  <a:pt x="1349901" y="2376420"/>
                </a:lnTo>
                <a:lnTo>
                  <a:pt x="1371328" y="2371787"/>
                </a:lnTo>
                <a:lnTo>
                  <a:pt x="1392754" y="2365831"/>
                </a:lnTo>
                <a:lnTo>
                  <a:pt x="1414182" y="2358552"/>
                </a:lnTo>
                <a:lnTo>
                  <a:pt x="1435609" y="2349949"/>
                </a:lnTo>
                <a:lnTo>
                  <a:pt x="1457036" y="2340022"/>
                </a:lnTo>
                <a:lnTo>
                  <a:pt x="1478463" y="2328772"/>
                </a:lnTo>
                <a:lnTo>
                  <a:pt x="1499890" y="2316198"/>
                </a:lnTo>
                <a:lnTo>
                  <a:pt x="1521317" y="2302301"/>
                </a:lnTo>
                <a:lnTo>
                  <a:pt x="1542744" y="2287080"/>
                </a:lnTo>
                <a:lnTo>
                  <a:pt x="1564171" y="2270536"/>
                </a:lnTo>
                <a:lnTo>
                  <a:pt x="1585598" y="2252668"/>
                </a:lnTo>
                <a:lnTo>
                  <a:pt x="1607025" y="2233477"/>
                </a:lnTo>
                <a:lnTo>
                  <a:pt x="1628451" y="2212962"/>
                </a:lnTo>
                <a:lnTo>
                  <a:pt x="1649879" y="2191124"/>
                </a:lnTo>
                <a:lnTo>
                  <a:pt x="1671306" y="2167962"/>
                </a:lnTo>
                <a:lnTo>
                  <a:pt x="1692733" y="2143476"/>
                </a:lnTo>
                <a:lnTo>
                  <a:pt x="1714160" y="2117667"/>
                </a:lnTo>
                <a:lnTo>
                  <a:pt x="1735587" y="2090534"/>
                </a:lnTo>
                <a:lnTo>
                  <a:pt x="1757013" y="2062078"/>
                </a:lnTo>
                <a:lnTo>
                  <a:pt x="1778441" y="2032299"/>
                </a:lnTo>
                <a:lnTo>
                  <a:pt x="1799868" y="2001195"/>
                </a:lnTo>
                <a:lnTo>
                  <a:pt x="1821295" y="1968769"/>
                </a:lnTo>
                <a:lnTo>
                  <a:pt x="1842722" y="1935018"/>
                </a:lnTo>
                <a:lnTo>
                  <a:pt x="1864148" y="1899944"/>
                </a:lnTo>
                <a:lnTo>
                  <a:pt x="1885576" y="1863547"/>
                </a:lnTo>
                <a:lnTo>
                  <a:pt x="1907003" y="1825826"/>
                </a:lnTo>
                <a:lnTo>
                  <a:pt x="1928430" y="1786782"/>
                </a:lnTo>
                <a:lnTo>
                  <a:pt x="1949857" y="1746414"/>
                </a:lnTo>
                <a:lnTo>
                  <a:pt x="1971283" y="1704722"/>
                </a:lnTo>
                <a:lnTo>
                  <a:pt x="1992711" y="1661707"/>
                </a:lnTo>
                <a:lnTo>
                  <a:pt x="2014138" y="1617368"/>
                </a:lnTo>
                <a:lnTo>
                  <a:pt x="2035565" y="1571706"/>
                </a:lnTo>
                <a:lnTo>
                  <a:pt x="2056992" y="1524720"/>
                </a:lnTo>
                <a:lnTo>
                  <a:pt x="2078419" y="1476411"/>
                </a:lnTo>
                <a:lnTo>
                  <a:pt x="2099846" y="1426778"/>
                </a:lnTo>
                <a:lnTo>
                  <a:pt x="2121273" y="1375822"/>
                </a:lnTo>
                <a:lnTo>
                  <a:pt x="2142700" y="1323542"/>
                </a:lnTo>
                <a:lnTo>
                  <a:pt x="2164127" y="1269938"/>
                </a:lnTo>
                <a:lnTo>
                  <a:pt x="2185554" y="1215011"/>
                </a:lnTo>
                <a:lnTo>
                  <a:pt x="2206981" y="1158761"/>
                </a:lnTo>
                <a:lnTo>
                  <a:pt x="2228408" y="1101187"/>
                </a:lnTo>
                <a:lnTo>
                  <a:pt x="2249835" y="1042289"/>
                </a:lnTo>
                <a:lnTo>
                  <a:pt x="2271262" y="982068"/>
                </a:lnTo>
                <a:lnTo>
                  <a:pt x="2292689" y="920523"/>
                </a:lnTo>
                <a:lnTo>
                  <a:pt x="2314116" y="857655"/>
                </a:lnTo>
                <a:lnTo>
                  <a:pt x="2335542" y="793463"/>
                </a:lnTo>
                <a:lnTo>
                  <a:pt x="2356970" y="727948"/>
                </a:lnTo>
                <a:lnTo>
                  <a:pt x="2378397" y="661109"/>
                </a:lnTo>
                <a:lnTo>
                  <a:pt x="2399824" y="592947"/>
                </a:lnTo>
                <a:lnTo>
                  <a:pt x="2421251" y="523461"/>
                </a:lnTo>
                <a:lnTo>
                  <a:pt x="2442677" y="452651"/>
                </a:lnTo>
                <a:lnTo>
                  <a:pt x="2464105" y="380518"/>
                </a:lnTo>
                <a:lnTo>
                  <a:pt x="2485532" y="307061"/>
                </a:lnTo>
                <a:lnTo>
                  <a:pt x="2506959" y="232281"/>
                </a:lnTo>
                <a:lnTo>
                  <a:pt x="2528386" y="156178"/>
                </a:lnTo>
                <a:lnTo>
                  <a:pt x="2549813" y="78750"/>
                </a:lnTo>
                <a:lnTo>
                  <a:pt x="2571240" y="0"/>
                </a:lnTo>
              </a:path>
            </a:pathLst>
          </a:custGeom>
          <a:noFill/>
          <a:ln w="279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V="1">
            <a:off x="6103259" y="2358824"/>
            <a:ext cx="0" cy="2303176"/>
          </a:xfrm>
          <a:prstGeom prst="line">
            <a:avLst/>
          </a:prstGeom>
          <a:ln w="13970">
            <a:solidFill>
              <a:srgbClr val="E5E7E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927856" y="2811371"/>
            <a:ext cx="122400" cy="12240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4989056" y="2872571"/>
            <a:ext cx="1002783" cy="0"/>
          </a:xfrm>
          <a:prstGeom prst="line">
            <a:avLst/>
          </a:prstGeom>
          <a:ln w="19050">
            <a:solidFill>
              <a:srgbClr val="0596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991839" y="2872571"/>
            <a:ext cx="0" cy="1771534"/>
          </a:xfrm>
          <a:prstGeom prst="line">
            <a:avLst/>
          </a:prstGeom>
          <a:ln w="19050">
            <a:solidFill>
              <a:srgbClr val="0596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930639" y="4582905"/>
            <a:ext cx="122400" cy="12240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5991839" y="4644105"/>
            <a:ext cx="100278" cy="0"/>
          </a:xfrm>
          <a:prstGeom prst="line">
            <a:avLst/>
          </a:prstGeom>
          <a:ln w="19050">
            <a:solidFill>
              <a:srgbClr val="0596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092117" y="4644105"/>
            <a:ext cx="0" cy="17716"/>
          </a:xfrm>
          <a:prstGeom prst="line">
            <a:avLst/>
          </a:prstGeom>
          <a:ln w="19050">
            <a:solidFill>
              <a:srgbClr val="0596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6030917" y="4600621"/>
            <a:ext cx="122400" cy="12240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6092117" y="4661821"/>
            <a:ext cx="10028" cy="0"/>
          </a:xfrm>
          <a:prstGeom prst="line">
            <a:avLst/>
          </a:prstGeom>
          <a:ln w="19050">
            <a:solidFill>
              <a:srgbClr val="0596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6102145" y="4661821"/>
            <a:ext cx="0" cy="177"/>
          </a:xfrm>
          <a:prstGeom prst="line">
            <a:avLst/>
          </a:prstGeom>
          <a:ln w="19050">
            <a:solidFill>
              <a:srgbClr val="0596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6040945" y="4600798"/>
            <a:ext cx="122400" cy="12240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895456" y="2778971"/>
            <a:ext cx="187200" cy="187200"/>
          </a:xfrm>
          <a:prstGeom prst="ellipse">
            <a:avLst/>
          </a:prstGeom>
          <a:noFill/>
          <a:ln w="20320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924256" y="2807771"/>
            <a:ext cx="129600" cy="129600"/>
          </a:xfrm>
          <a:prstGeom prst="ellipse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67240" y="2114024"/>
            <a:ext cx="151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loss L(w)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67240" y="4719600"/>
            <a:ext cx="108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w -&gt;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11260" y="4719600"/>
            <a:ext cx="7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w*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02440" y="5076000"/>
            <a:ext cx="2787240" cy="3270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059669"/>
                </a:solidFill>
                <a:latin typeface="Source Han Sans SC"/>
              </a:rPr>
              <a:t>3 步落到最低点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065679" y="1188000"/>
            <a:ext cx="3327240" cy="4320000"/>
          </a:xfrm>
          <a:prstGeom prst="roundRect">
            <a:avLst>
              <a:gd name="adj" fmla="val 3500"/>
            </a:avLst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35679" y="1389600"/>
            <a:ext cx="2787240" cy="3937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太大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35679" y="1718549"/>
            <a:ext cx="2787240" cy="3270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lr = 1.15  ·  diverges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450880" y="4662000"/>
            <a:ext cx="2506440" cy="0"/>
          </a:xfrm>
          <a:prstGeom prst="line">
            <a:avLst/>
          </a:prstGeom>
          <a:ln w="1778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450880" y="2351624"/>
            <a:ext cx="0" cy="2310376"/>
          </a:xfrm>
          <a:prstGeom prst="line">
            <a:avLst/>
          </a:prstGeom>
          <a:ln w="1778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Isosceles Triangle 79"/>
          <p:cNvSpPr/>
          <p:nvPr/>
        </p:nvSpPr>
        <p:spPr>
          <a:xfrm rot="5400000">
            <a:off x="10917720" y="4590000"/>
            <a:ext cx="144000" cy="144000"/>
          </a:xfrm>
          <a:prstGeom prst="triangl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Isosceles Triangle 80"/>
          <p:cNvSpPr/>
          <p:nvPr/>
        </p:nvSpPr>
        <p:spPr>
          <a:xfrm>
            <a:off x="8378879" y="2240024"/>
            <a:ext cx="144000" cy="144000"/>
          </a:xfrm>
          <a:prstGeom prst="triangl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8450880" y="2279624"/>
            <a:ext cx="2571239" cy="2382376"/>
          </a:xfrm>
          <a:custGeom>
            <a:avLst/>
            <a:gdLst/>
            <a:ahLst/>
            <a:cxnLst/>
            <a:rect l="l" t="t" r="r" b="b"/>
            <a:pathLst>
              <a:path w="2571239" h="2382376">
                <a:moveTo>
                  <a:pt x="0" y="0"/>
                </a:moveTo>
                <a:lnTo>
                  <a:pt x="21426" y="78750"/>
                </a:lnTo>
                <a:lnTo>
                  <a:pt x="42853" y="156178"/>
                </a:lnTo>
                <a:lnTo>
                  <a:pt x="64281" y="232281"/>
                </a:lnTo>
                <a:lnTo>
                  <a:pt x="85708" y="307061"/>
                </a:lnTo>
                <a:lnTo>
                  <a:pt x="107135" y="380518"/>
                </a:lnTo>
                <a:lnTo>
                  <a:pt x="128561" y="452651"/>
                </a:lnTo>
                <a:lnTo>
                  <a:pt x="149988" y="523461"/>
                </a:lnTo>
                <a:lnTo>
                  <a:pt x="171415" y="592947"/>
                </a:lnTo>
                <a:lnTo>
                  <a:pt x="192843" y="661109"/>
                </a:lnTo>
                <a:lnTo>
                  <a:pt x="214270" y="727948"/>
                </a:lnTo>
                <a:lnTo>
                  <a:pt x="235696" y="793463"/>
                </a:lnTo>
                <a:lnTo>
                  <a:pt x="257123" y="857655"/>
                </a:lnTo>
                <a:lnTo>
                  <a:pt x="278550" y="920523"/>
                </a:lnTo>
                <a:lnTo>
                  <a:pt x="299978" y="982068"/>
                </a:lnTo>
                <a:lnTo>
                  <a:pt x="321405" y="1042289"/>
                </a:lnTo>
                <a:lnTo>
                  <a:pt x="342832" y="1101187"/>
                </a:lnTo>
                <a:lnTo>
                  <a:pt x="364258" y="1158761"/>
                </a:lnTo>
                <a:lnTo>
                  <a:pt x="385685" y="1215011"/>
                </a:lnTo>
                <a:lnTo>
                  <a:pt x="407112" y="1269938"/>
                </a:lnTo>
                <a:lnTo>
                  <a:pt x="428540" y="1323542"/>
                </a:lnTo>
                <a:lnTo>
                  <a:pt x="449967" y="1375822"/>
                </a:lnTo>
                <a:lnTo>
                  <a:pt x="471393" y="1426778"/>
                </a:lnTo>
                <a:lnTo>
                  <a:pt x="492820" y="1476411"/>
                </a:lnTo>
                <a:lnTo>
                  <a:pt x="514247" y="1524720"/>
                </a:lnTo>
                <a:lnTo>
                  <a:pt x="535675" y="1571706"/>
                </a:lnTo>
                <a:lnTo>
                  <a:pt x="557102" y="1617368"/>
                </a:lnTo>
                <a:lnTo>
                  <a:pt x="578529" y="1661707"/>
                </a:lnTo>
                <a:lnTo>
                  <a:pt x="599955" y="1704722"/>
                </a:lnTo>
                <a:lnTo>
                  <a:pt x="621382" y="1746414"/>
                </a:lnTo>
                <a:lnTo>
                  <a:pt x="642810" y="1786782"/>
                </a:lnTo>
                <a:lnTo>
                  <a:pt x="664237" y="1825826"/>
                </a:lnTo>
                <a:lnTo>
                  <a:pt x="685664" y="1863547"/>
                </a:lnTo>
                <a:lnTo>
                  <a:pt x="707090" y="1899944"/>
                </a:lnTo>
                <a:lnTo>
                  <a:pt x="728517" y="1935018"/>
                </a:lnTo>
                <a:lnTo>
                  <a:pt x="749945" y="1968769"/>
                </a:lnTo>
                <a:lnTo>
                  <a:pt x="771372" y="2001195"/>
                </a:lnTo>
                <a:lnTo>
                  <a:pt x="792799" y="2032299"/>
                </a:lnTo>
                <a:lnTo>
                  <a:pt x="814226" y="2062078"/>
                </a:lnTo>
                <a:lnTo>
                  <a:pt x="835652" y="2090534"/>
                </a:lnTo>
                <a:lnTo>
                  <a:pt x="857079" y="2117667"/>
                </a:lnTo>
                <a:lnTo>
                  <a:pt x="878506" y="2143476"/>
                </a:lnTo>
                <a:lnTo>
                  <a:pt x="899934" y="2167962"/>
                </a:lnTo>
                <a:lnTo>
                  <a:pt x="921361" y="2191124"/>
                </a:lnTo>
                <a:lnTo>
                  <a:pt x="942787" y="2212962"/>
                </a:lnTo>
                <a:lnTo>
                  <a:pt x="964214" y="2233477"/>
                </a:lnTo>
                <a:lnTo>
                  <a:pt x="985641" y="2252668"/>
                </a:lnTo>
                <a:lnTo>
                  <a:pt x="1007069" y="2270536"/>
                </a:lnTo>
                <a:lnTo>
                  <a:pt x="1028496" y="2287080"/>
                </a:lnTo>
                <a:lnTo>
                  <a:pt x="1049923" y="2302301"/>
                </a:lnTo>
                <a:lnTo>
                  <a:pt x="1071349" y="2316198"/>
                </a:lnTo>
                <a:lnTo>
                  <a:pt x="1092776" y="2328772"/>
                </a:lnTo>
                <a:lnTo>
                  <a:pt x="1114204" y="2340022"/>
                </a:lnTo>
                <a:lnTo>
                  <a:pt x="1135631" y="2349949"/>
                </a:lnTo>
                <a:lnTo>
                  <a:pt x="1157058" y="2358552"/>
                </a:lnTo>
                <a:lnTo>
                  <a:pt x="1178484" y="2365831"/>
                </a:lnTo>
                <a:lnTo>
                  <a:pt x="1199911" y="2371787"/>
                </a:lnTo>
                <a:lnTo>
                  <a:pt x="1221339" y="2376420"/>
                </a:lnTo>
                <a:lnTo>
                  <a:pt x="1242766" y="2379728"/>
                </a:lnTo>
                <a:lnTo>
                  <a:pt x="1264193" y="2381714"/>
                </a:lnTo>
                <a:lnTo>
                  <a:pt x="1285619" y="2382376"/>
                </a:lnTo>
                <a:lnTo>
                  <a:pt x="1307046" y="2381714"/>
                </a:lnTo>
                <a:lnTo>
                  <a:pt x="1328474" y="2379728"/>
                </a:lnTo>
                <a:lnTo>
                  <a:pt x="1349901" y="2376420"/>
                </a:lnTo>
                <a:lnTo>
                  <a:pt x="1371328" y="2371787"/>
                </a:lnTo>
                <a:lnTo>
                  <a:pt x="1392755" y="2365831"/>
                </a:lnTo>
                <a:lnTo>
                  <a:pt x="1414181" y="2358552"/>
                </a:lnTo>
                <a:lnTo>
                  <a:pt x="1435608" y="2349949"/>
                </a:lnTo>
                <a:lnTo>
                  <a:pt x="1457035" y="2340022"/>
                </a:lnTo>
                <a:lnTo>
                  <a:pt x="1478463" y="2328772"/>
                </a:lnTo>
                <a:lnTo>
                  <a:pt x="1499890" y="2316198"/>
                </a:lnTo>
                <a:lnTo>
                  <a:pt x="1521316" y="2302301"/>
                </a:lnTo>
                <a:lnTo>
                  <a:pt x="1542743" y="2287080"/>
                </a:lnTo>
                <a:lnTo>
                  <a:pt x="1564170" y="2270536"/>
                </a:lnTo>
                <a:lnTo>
                  <a:pt x="1585598" y="2252668"/>
                </a:lnTo>
                <a:lnTo>
                  <a:pt x="1607025" y="2233477"/>
                </a:lnTo>
                <a:lnTo>
                  <a:pt x="1628452" y="2212962"/>
                </a:lnTo>
                <a:lnTo>
                  <a:pt x="1649878" y="2191124"/>
                </a:lnTo>
                <a:lnTo>
                  <a:pt x="1671305" y="2167962"/>
                </a:lnTo>
                <a:lnTo>
                  <a:pt x="1692733" y="2143476"/>
                </a:lnTo>
                <a:lnTo>
                  <a:pt x="1714159" y="2117667"/>
                </a:lnTo>
                <a:lnTo>
                  <a:pt x="1735587" y="2090534"/>
                </a:lnTo>
                <a:lnTo>
                  <a:pt x="1757013" y="2062078"/>
                </a:lnTo>
                <a:lnTo>
                  <a:pt x="1778440" y="2032299"/>
                </a:lnTo>
                <a:lnTo>
                  <a:pt x="1799868" y="2001195"/>
                </a:lnTo>
                <a:lnTo>
                  <a:pt x="1821295" y="1968769"/>
                </a:lnTo>
                <a:lnTo>
                  <a:pt x="1842722" y="1935018"/>
                </a:lnTo>
                <a:lnTo>
                  <a:pt x="1864149" y="1899944"/>
                </a:lnTo>
                <a:lnTo>
                  <a:pt x="1885575" y="1863547"/>
                </a:lnTo>
                <a:lnTo>
                  <a:pt x="1907003" y="1825826"/>
                </a:lnTo>
                <a:lnTo>
                  <a:pt x="1928429" y="1786782"/>
                </a:lnTo>
                <a:lnTo>
                  <a:pt x="1949857" y="1746414"/>
                </a:lnTo>
                <a:lnTo>
                  <a:pt x="1971284" y="1704722"/>
                </a:lnTo>
                <a:lnTo>
                  <a:pt x="1992710" y="1661707"/>
                </a:lnTo>
                <a:lnTo>
                  <a:pt x="2014137" y="1617368"/>
                </a:lnTo>
                <a:lnTo>
                  <a:pt x="2035564" y="1571706"/>
                </a:lnTo>
                <a:lnTo>
                  <a:pt x="2056992" y="1524720"/>
                </a:lnTo>
                <a:lnTo>
                  <a:pt x="2078418" y="1476411"/>
                </a:lnTo>
                <a:lnTo>
                  <a:pt x="2099846" y="1426778"/>
                </a:lnTo>
                <a:lnTo>
                  <a:pt x="2121272" y="1375822"/>
                </a:lnTo>
                <a:lnTo>
                  <a:pt x="2142699" y="1323542"/>
                </a:lnTo>
                <a:lnTo>
                  <a:pt x="2164127" y="1269938"/>
                </a:lnTo>
                <a:lnTo>
                  <a:pt x="2185554" y="1215011"/>
                </a:lnTo>
                <a:lnTo>
                  <a:pt x="2206981" y="1158761"/>
                </a:lnTo>
                <a:lnTo>
                  <a:pt x="2228407" y="1101187"/>
                </a:lnTo>
                <a:lnTo>
                  <a:pt x="2249834" y="1042289"/>
                </a:lnTo>
                <a:lnTo>
                  <a:pt x="2271261" y="982068"/>
                </a:lnTo>
                <a:lnTo>
                  <a:pt x="2292688" y="920523"/>
                </a:lnTo>
                <a:lnTo>
                  <a:pt x="2314116" y="857655"/>
                </a:lnTo>
                <a:lnTo>
                  <a:pt x="2335542" y="793463"/>
                </a:lnTo>
                <a:lnTo>
                  <a:pt x="2356969" y="727948"/>
                </a:lnTo>
                <a:lnTo>
                  <a:pt x="2378396" y="661109"/>
                </a:lnTo>
                <a:lnTo>
                  <a:pt x="2399823" y="592947"/>
                </a:lnTo>
                <a:lnTo>
                  <a:pt x="2421251" y="523461"/>
                </a:lnTo>
                <a:lnTo>
                  <a:pt x="2442678" y="452651"/>
                </a:lnTo>
                <a:lnTo>
                  <a:pt x="2464104" y="380518"/>
                </a:lnTo>
                <a:lnTo>
                  <a:pt x="2485531" y="307061"/>
                </a:lnTo>
                <a:lnTo>
                  <a:pt x="2506958" y="232281"/>
                </a:lnTo>
                <a:lnTo>
                  <a:pt x="2528386" y="156178"/>
                </a:lnTo>
                <a:lnTo>
                  <a:pt x="2549813" y="78750"/>
                </a:lnTo>
                <a:lnTo>
                  <a:pt x="2571239" y="0"/>
                </a:lnTo>
              </a:path>
            </a:pathLst>
          </a:custGeom>
          <a:noFill/>
          <a:ln w="279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9736499" y="2358824"/>
            <a:ext cx="0" cy="2303176"/>
          </a:xfrm>
          <a:prstGeom prst="line">
            <a:avLst/>
          </a:prstGeom>
          <a:ln w="13970">
            <a:solidFill>
              <a:srgbClr val="E5E7E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8903927" y="3743144"/>
            <a:ext cx="122400" cy="12240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8965127" y="3804344"/>
            <a:ext cx="1774156" cy="0"/>
          </a:xfrm>
          <a:prstGeom prst="line">
            <a:avLst/>
          </a:prstGeom>
          <a:ln w="1905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739283" y="3212562"/>
            <a:ext cx="0" cy="591782"/>
          </a:xfrm>
          <a:prstGeom prst="line">
            <a:avLst/>
          </a:prstGeom>
          <a:ln w="19050">
            <a:solidFill>
              <a:srgbClr val="B91C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10678083" y="3151362"/>
            <a:ext cx="122400" cy="12240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871527" y="3710744"/>
            <a:ext cx="187200" cy="187200"/>
          </a:xfrm>
          <a:prstGeom prst="ellipse">
            <a:avLst/>
          </a:prstGeom>
          <a:noFill/>
          <a:ln w="20320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900327" y="3739544"/>
            <a:ext cx="129600" cy="129600"/>
          </a:xfrm>
          <a:prstGeom prst="ellipse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400479" y="2114024"/>
            <a:ext cx="151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loss L(w)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00479" y="4719600"/>
            <a:ext cx="108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w -&gt;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44500" y="4719600"/>
            <a:ext cx="7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w*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35679" y="5076000"/>
            <a:ext cx="2787240" cy="3270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B91C1C"/>
                </a:solidFill>
                <a:latin typeface="Source Han Sans SC"/>
              </a:rPr>
              <a:t>每走一步，离谷底更远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99200" y="5695200"/>
            <a:ext cx="1059371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B7280"/>
                </a:solidFill>
                <a:latin typeface="Source Han Sans SC"/>
              </a:rPr>
              <a:t>损失 L(w) = (w − 3)²，梯度下降 w ← w − lr·2(w − 3)。三张图的曲线与起点完全一样，唯一变化的是每一步的步长。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学习率诊断：同一模型、同一数据，只改 lr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17 / 31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99200" y="1152000"/>
          <a:ext cx="6840000" cy="424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63199" y="1259999"/>
            <a:ext cx="342972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红线上下震荡、始终不降 → 学习率过大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灰线几乎水平 → 学习率过小（不是模型不行）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绿线单调平稳下降 → 这才是可以继续加 epoch 的状态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实验 4 要求你亲手跑出这三条线，而不是照抄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训练循环五步法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Training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829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再复杂的训练脚本，内核都是这五步。把它背下来，你就能读懂任何一份 PyTorch 代码。
这一部分的目标不是「看懂」，而是「默写出来」。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顺序不能错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尤其是第 1 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先默写再对照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先合上讲义写一遍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留下日志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每个 epoch 一行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18 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训练循环五步法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19 / 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2015999"/>
            <a:ext cx="1600343" cy="23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2015999"/>
            <a:ext cx="1600343" cy="36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6172" y="2214000"/>
            <a:ext cx="446400" cy="4464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6172" y="2296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2754000"/>
            <a:ext cx="1204343" cy="29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清零梯度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200" y="2980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zero_grad()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7200" y="3168000"/>
            <a:ext cx="1204343" cy="107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清掉上一批的旧梯度，
否则会累加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417544" y="3052800"/>
            <a:ext cx="306000" cy="2304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1544" y="2015999"/>
            <a:ext cx="1600343" cy="23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1544" y="2015999"/>
            <a:ext cx="1600343" cy="36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8516" y="2214000"/>
            <a:ext cx="446400" cy="4464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8516" y="2296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9544" y="2754000"/>
            <a:ext cx="1204343" cy="29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前向传播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39544" y="2980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logits = model(x)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9544" y="3168000"/>
            <a:ext cx="1204343" cy="107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把本批数据喂进模型，
得到预测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359888" y="3052800"/>
            <a:ext cx="306000" cy="230400"/>
          </a:xfrm>
          <a:prstGeom prst="rightArrow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83888" y="2015999"/>
            <a:ext cx="1600343" cy="23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83888" y="2015999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60860" y="2214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60860" y="2296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81888" y="2754000"/>
            <a:ext cx="1204343" cy="29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计算损失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81888" y="2980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criterion(logits, 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1888" y="3168000"/>
            <a:ext cx="1204343" cy="107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用选定的损失函数
给预测打分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302232" y="3052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26231" y="2015999"/>
            <a:ext cx="1600343" cy="23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26231" y="2015999"/>
            <a:ext cx="1600343" cy="36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203203" y="2214000"/>
            <a:ext cx="446400" cy="446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03203" y="2296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24232" y="2754000"/>
            <a:ext cx="1204343" cy="29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反向传播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24232" y="2980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loss.backward()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24232" y="3168000"/>
            <a:ext cx="1204343" cy="107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求每个参数对损失的
梯度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244575" y="3052800"/>
            <a:ext cx="306000" cy="230400"/>
          </a:xfrm>
          <a:prstGeom prst="rightArrow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68575" y="2015999"/>
            <a:ext cx="1600343" cy="230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68575" y="2015999"/>
            <a:ext cx="1600343" cy="36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5547" y="2214000"/>
            <a:ext cx="446400" cy="446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5547" y="2296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66576" y="2754000"/>
            <a:ext cx="1204343" cy="29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更新参数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66576" y="2980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optimizer.step()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66576" y="3168000"/>
            <a:ext cx="1204343" cy="107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优化器按梯度
走一步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9200" y="4626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课堂做法：先合上讲义，把五步默写在自己的本子上，写清每一步的括号与顺序，再对照这一页。第 1 步最常被漏掉——漏掉它，梯度会跨批次累加，损失曲线会变得毫无规律。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完整训练循环与训练日志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20 / 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5185259" cy="4031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五步法：完整循环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91999"/>
            <a:ext cx="4789259" cy="354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for epoch in range(epochs):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model.train()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for x, y in train_loader: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opt.zero_grad()       # 1 清零旧梯度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logits = model(x)     # 2 前向传播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loss = crit(logits, y)  # 3 计算损失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loss.backward()       # 4 反向传播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opt.step()            # 5 更新参数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五步的顺序不可交换：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1 必须在 4 之前，否则梯度跨批次累加。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7659" y="1278000"/>
            <a:ext cx="5185259" cy="4031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7659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9659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训练日志：每轮一行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5659" y="1691999"/>
            <a:ext cx="4789259" cy="354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history = []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for epoch in range(epochs):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tr = train_epoch(model, loader, opt, crit)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va, acc = evaluate(model, val_loader, crit)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history.append({          # 每个 epoch 一行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"epoch": epoch,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"train_loss": round(tr, 4),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"val_loss": round(va, 4),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"val_acc": round(acc, 4)})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print(history[-1])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训练损失降、验证损失升 -&gt; 过拟合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两条都平着不动 -&gt; 学习率太小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490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日志不是形式主义：没有 train/val 两条曲线，你就无法判断是过拟合、学习率太小，还是数据有问题——只能靠猜。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批大小与显存的关系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21 / 31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99200" y="1152000"/>
          <a:ext cx="10583999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000"/>
                <a:gridCol w="2232000"/>
                <a:gridCol w="3096000"/>
                <a:gridCol w="3311999"/>
              </a:tblGrid>
              <a:tr h="576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批大小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显存占用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梯度稳定性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常见取舍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8 – 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噪声大，偶尔有益于泛化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显存小或数据集小；需更小的学习率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64 – 256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中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较稳定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最常用的默认区间，先从这里开始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512 以上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很稳定，但泛化可能变差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需配合更大学习率与 warmup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1（单样本）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最低，但速度极慢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噪声极大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仅用于教学演示或显存极限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9200" y="4176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一条经验公式：显存 ≈ 批大小 × 单样本开销 + 模型参数 + 优化器状态（Adam 的优化器状态约为参数量的 2 倍，这就是 Adam 比 SGD 更吃显存的原因）。批大小翻倍时，学习率通常也同步放大。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Lab · 实验 4 优化器 × 学习率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Hands-on: a 3 x 3 controlled experiment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829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80 分钟，亲手做一次真正的对照实验：3 种优化器 × 3 组学习率 = 9 次运行，
然后回答一个必须用数据支撑的问题——哪一个组合最好，为什么。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9 次运行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一次只改一个变量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画出曲线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损失 + 准确率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给出理由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最优组合必须有论证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22 /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实验 4 的四个任务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23 / 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5188859" cy="237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237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A · 3 × 3 网格实验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9 runs, one variable at a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4742459" cy="1612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3 种优化器：SGD / SGD+momentum / Adam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3 组学习率：1e-1 / 1e-3 / 1e-5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同一网络、同一划分、同一随机种子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每次重新初始化权重，记录 train/val 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4059" y="1296000"/>
            <a:ext cx="5188859" cy="237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4059" y="1296000"/>
            <a:ext cx="32400" cy="237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7259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B · 绘制损失与准确率曲线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7259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loss and accuracy, every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7259" y="1915200"/>
            <a:ext cx="4742459" cy="1612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每个组合一条曲线，图例标注优化器与 lr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损失曲线看收敛速度与稳定性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准确率曲线看最终质量与是否震荡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至少画一张 3 条曲线同坐标系的对比图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3887999"/>
            <a:ext cx="5188859" cy="237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200" y="3887999"/>
            <a:ext cx="32400" cy="237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2400" y="4075199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C · 给出最优组合并论证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2400" y="4305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data, not preference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400" y="4507200"/>
            <a:ext cx="4742459" cy="1612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明确写出最优组合（优化器 + 学习率）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用验证指标支撑：最低损失、最高准确率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解释它为什么胜出：自适应步长？动量？步长刚好？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指出失败组合及其直接现象（爆炸 / 不动）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4059" y="3887999"/>
            <a:ext cx="5188859" cy="237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059" y="3887999"/>
            <a:ext cx="32400" cy="237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7259" y="4075199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D · 记录一次不收敛的排查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7259" y="4305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hypothesis → test → conclusion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7259" y="4507200"/>
            <a:ext cx="4742459" cy="1612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选一个失败组合，按「先查学习率」的顺序排查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再查数据（标签、归一化、划分）与代码（五步顺序）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记录每一步的假设、验证方式与结论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交付：脚本 + 对照表 + 曲线图 + 排查记录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3 种优化器 × 3 组学习率：验证损失曲线示意图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24 / 31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99200" y="1152000"/>
          <a:ext cx="6840000" cy="432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63199" y="1259999"/>
            <a:ext cx="342972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1e-1 下无论哪个优化器都不收敛 → 学习率是主导变量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同样 lr=1e-3，Adam 明显快于 SGD → 自适应步长的作用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Momentum 位于两者之间 → 动量只加速，不改变步长尺度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图中数值仅作示意；以你自己跑出的 9 组实测为准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超参数对照表（9 组，学生填写）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25 / 31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99200" y="1152000"/>
          <a:ext cx="105840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00"/>
                <a:gridCol w="2088000"/>
                <a:gridCol w="1296000"/>
                <a:gridCol w="1944000"/>
                <a:gridCol w="1872000"/>
                <a:gridCol w="2232000"/>
              </a:tblGrid>
              <a:tr h="396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ource Han Sans SC"/>
                        </a:rPr>
                        <a:t>组合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ource Han Sans SC"/>
                        </a:rPr>
                        <a:t>优化器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ource Han Sans SC"/>
                        </a:rPr>
                        <a:t>学习率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ource Han Sans SC"/>
                        </a:rPr>
                        <a:t>最低验证损失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ource Han Sans SC"/>
                        </a:rPr>
                        <a:t>最高验证准确率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ource Han Sans SC"/>
                        </a:rPr>
                        <a:t>是否收敛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Source Han Sans S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SGD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1e-1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2.31（发散）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Source Han Sans SC"/>
                        </a:rPr>
                        <a:t>2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SGD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1e-3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1.56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0.62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太慢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Source Han Sans SC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SGD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1e-5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2.28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Source Han Sans SC"/>
                        </a:rPr>
                        <a:t>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Momentum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1e-1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2.44（震荡）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0.10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否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Source Han Sans SC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Momentum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1e-3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Source Han Sans SC"/>
                        </a:rPr>
                        <a:t>6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Momentum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1e-5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2.19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0.24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太慢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Source Han Sans SC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Adam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1e-1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2.51（爆炸）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Source Han Sans SC"/>
                        </a:rPr>
                        <a:t>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Adam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1e-3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0.13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0.97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是（最优）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Source Han Sans SC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Adam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1e-5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1.98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0.45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Source Han Sans SC"/>
                        </a:rPr>
                        <a:t>太慢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9200" y="5256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表里的数值是示意，你的任务是用自己跑出来的 9 组数据替换它。表填完，最优组合与理由自然就浮出来了——这就是「调参不是碰运气」的意思。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实验脚本骨架与不收敛排查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26 / 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5185259" cy="4031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3 × 3 网格，结果落表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91999"/>
            <a:ext cx="4789259" cy="354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results = []                 # 每次运行一行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for name in ["sgd", "momentum", "adam"]: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for lr in [1e-1, 1e-3, 1e-5]: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net = build_model()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opt = make_opt(name, net, lr)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hist = train(net, opt, epochs=10)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results.append({"optimizer": name,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                "lr": lr,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                "val_loss": min(hist["vl"]),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                "val_acc": max(hist["va"])})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plot_curves(results)         # 损失 / 准确率曲线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write_table(results)         # 3x3 对照表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然后：写出最优组合并解释它为什么胜出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7659" y="1278000"/>
            <a:ext cx="5185259" cy="4031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7659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9659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不收敛时的排查顺序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5659" y="1691999"/>
            <a:ext cx="4789259" cy="354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def diagnose(hist):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first, last = hist[0], hist[-1]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if math.isnan(last["train_loss"]):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return "损失是 nan -&gt; 学习率太大"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if last["train_loss"] &gt; first["train_loss"]: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return "损失在升 -&gt; 降低学习率"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if abs(last["train_loss"]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   - first["train_loss"]) &lt; 0.05: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return "几乎不动 -&gt; 学习率太小"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return "正在下降 -&gt; 再看验证曲线"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490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左侧脚本的正确性标准：同一份代码可以跑出 9 组结果，且每组只改动优化器与学习率两个变量。右侧的顺序就是「训练不收敛」排查记录里应该写的顺序：先查学习率，再查数据，最后查代码。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AI 赋能 · 课程思政 · 排查提示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27 / 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3387239" cy="237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2376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AI 赋能：让 AI 提方案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propose, then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2940839" cy="1612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让 AI 给出 3 组优化器与学习率组合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逐组用自己的对照实验验证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记下 AI 哪些说法缺乏依据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96000"/>
            <a:ext cx="3387239" cy="2376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2400" cy="2376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课程思政：精益求精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rigour, not luck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915200"/>
            <a:ext cx="2940839" cy="1612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调参是实验设计，不是碰运气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一次只改一个变量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异常先查学习率，再查数据与代码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5679" y="1296000"/>
            <a:ext cx="3387239" cy="2376000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2400" cy="2376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排查提示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check in this order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915200"/>
            <a:ext cx="2940839" cy="1612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损失为 nan / inf：学习率太大，先除以 10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损失几乎不动：学习率太小或层被冻结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损失降但准确率不动：多做了一次激活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实验 4 提交清单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28 / 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9200" y="1465200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9200" y="15371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3200" y="13931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训练脚本（含可复现命令）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00" y="16200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同一份脚本可以跑出全部 9 组结果；README 里给出可直接粘贴的运行命令。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200" y="22031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200" y="22031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9200" y="23903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9200" y="24623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3200" y="23184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3 × 3 超参数对照表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3200" y="25452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9 组各一行：优化器、学习率、最低验证损失、最高验证准确率、是否收敛。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200" y="31284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200" y="31284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9200" y="33155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200" y="33876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3200" y="32436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损失 / 准确率曲线图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3200" y="3470399"/>
            <a:ext cx="9153719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至少一张 3 条以上曲线同坐标系的对比图，图例写清优化器与学习率。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9200" y="40535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9200" y="40535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9200" y="42407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9200" y="43127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必交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3200" y="41687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一次「训练不收敛」的排查记录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3200" y="4395599"/>
            <a:ext cx="9153719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写明现象、假设、验证方式与结论；顺序是先查学习率，再查数据与代码。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200" y="49787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9200" y="4978799"/>
            <a:ext cx="32400" cy="774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9200" y="5165999"/>
            <a:ext cx="900000" cy="324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9200" y="52380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加分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23200" y="50939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AI 协同记录（写清 AI 错在哪）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3200" y="5320799"/>
            <a:ext cx="9153719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记录 AI 给出的一条超参数建议，以及你的对照实验证明它是否成立。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随堂小测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29 / 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34000"/>
            <a:ext cx="5197859" cy="159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7200" y="1296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7200" y="1342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损失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5200" y="1296000"/>
            <a:ext cx="3793859" cy="35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10 类图像分类任务，应该用哪个损失函数？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908000"/>
            <a:ext cx="4801859" cy="7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nn.MSELoss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nn.CrossEntropyLoss（内含 softmax）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nn.BCEWithLogitsLoss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5059" y="1134000"/>
            <a:ext cx="5197859" cy="159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93059" y="1296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59" y="1342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常见坑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1059" y="1296000"/>
            <a:ext cx="3793859" cy="595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先 torch.softmax(logits) 再喂 CrossEntropyLoss，会发生什么？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3059" y="1908000"/>
            <a:ext cx="4801859" cy="7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完全没有影响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等于做了两次 softmax，概率被压扁、梯度变小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程序立刻报错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2928000"/>
            <a:ext cx="5197859" cy="159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7200" y="3089999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7200" y="3136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优化器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05200" y="3089999"/>
            <a:ext cx="3793859" cy="35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下面哪个说法是正确的？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7200" y="3702000"/>
            <a:ext cx="4801859" cy="74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Adam 不需要设置学习率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Momentum 累积历史梯度方向，形成惯性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SGD 一定比 Adam 收敛快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5059" y="2928000"/>
            <a:ext cx="5197859" cy="159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93059" y="3089999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3059" y="3136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学习率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1059" y="3089999"/>
            <a:ext cx="3793859" cy="35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训练损失在第一轮就变成 nan，第一步应该查什么？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3059" y="3702000"/>
            <a:ext cx="4801859" cy="74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换一个更深的模型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学习率是不是太大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增加训练轮次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9200" y="4722000"/>
            <a:ext cx="5197859" cy="159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7200" y="4884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7200" y="4930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五步法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05200" y="4884000"/>
            <a:ext cx="3793859" cy="35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训练循环五步的正确顺序是？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7200" y="5496000"/>
            <a:ext cx="4801859" cy="74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前向 → 清零 → 损失 → 反向 → 更新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清零 → 前向 → 损失 → 反向 → 更新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清零 → 损失 → 前向 → 更新 → 反向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5059" y="4722000"/>
            <a:ext cx="5197859" cy="159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93059" y="4884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93059" y="4930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批大小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1059" y="4884000"/>
            <a:ext cx="3793859" cy="35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把批大小从 64 增加到 512，通常需要同时做什么？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3059" y="5496000"/>
            <a:ext cx="4801859" cy="74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同步放大学习率，并注意显存是否够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同步缩小学习率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与学习率无关，只影响速度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47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本周小结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模块二 ·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30 / 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520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1520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200" y="13500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9200" y="12780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损失函数按任务选：多分类 CrossEntropyLoss、二分类 BCEWithLogitsLoss、回归 MSELoss；带 Logits 字样的损失已内含激活，不要再手动加一层。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9200" y="19692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9200" y="19692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200" y="21672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9200" y="2095199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优化器决定怎么走：SGD 只看当前梯度、Momentum 累积惯性、Adam 每参数自适应步长；Adam 收敛更快但更吃显存。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200" y="27864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200" y="27864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9200" y="29844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9200" y="29124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学习率是最重要的超参数：过大震荡爆炸，过小几乎不动；异常损失先查学习率，再考虑 warmup 与衰减策略。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200" y="36036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200" y="36036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200" y="38016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9200" y="37296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训练循环五步法：清零梯度 → 前向 → 计算损失 → 反向 → 更新参数。顺序不可交换，第 1 步最常被漏掉。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9200" y="44208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9200" y="44208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200" y="46188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9200" y="45468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实验要留证据：每个 epoch 记录 train/val 损失与准确率，一次只改一个变量，最优组合必须用对照数据论证。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01200" y="1152000"/>
            <a:ext cx="3591719" cy="48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7200" y="1281599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Source Han Sans SC"/>
              </a:rPr>
              <a:t>课后待办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01200" y="1818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7200" y="1969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完成实验 4 交付物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7200" y="2221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训练脚本、3×3 超参数对照表、损失/准确率曲线图、一次「训练不收敛」的排查记录。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01200" y="2880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7200" y="3031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写一条 AI 协同记录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7200" y="3283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记录 AI 给的一条超参数建议，写明你的验证结果，以及它的哪一部分缺乏依据。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01200" y="3941999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17200" y="4093199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预习 W6：正则化与泛化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7200" y="4345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Dropout、权重衰减与早停——让本周的训练循环更稳、更不容易过拟合。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936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9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W5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5840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908000"/>
            <a:ext cx="8640000" cy="19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0E3F8C"/>
                </a:solidFill>
                <a:latin typeface="Source Han Sans SC"/>
              </a:rPr>
              <a:t>「调参不是碰运气，
是有依据的实验设计。」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3384000"/>
            <a:ext cx="86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280"/>
                </a:solidFill>
                <a:latin typeface="Source Han Sans SC"/>
              </a:rPr>
              <a:t>本周交付：能跑通的训练循环 + 一张 3×3 对照表 + 一份不收敛的排查记录。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4176000"/>
            <a:ext cx="792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1F2937"/>
                </a:solidFill>
                <a:latin typeface="Source Han Sans SC"/>
              </a:rPr>
              <a:t>谢谢大家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4788000"/>
            <a:ext cx="10593719" cy="7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200" y="4903200"/>
            <a:ext cx="1008972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E4FA8"/>
                </a:solidFill>
                <a:latin typeface="Source Han Sans SC"/>
              </a:rPr>
              <a:t>下周预告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200" y="5094000"/>
            <a:ext cx="1008972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E3F8C"/>
                </a:solidFill>
                <a:latin typeface="Source Han Sans SC"/>
              </a:rPr>
              <a:t>W6 · 正则化与泛化：Dropout、权重衰减与早停 —— 让本周训练好的模型，在没见过的数据上一样稳。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" y="6494400"/>
            <a:ext cx="720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5 Lecture · 31 /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