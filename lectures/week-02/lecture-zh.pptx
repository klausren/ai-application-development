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正确：每步清零梯度</c:v>
                </c:pt>
              </c:strCache>
            </c:strRef>
          </c:tx>
          <c:spPr>
            <a:ln w="31750">
              <a:solidFill>
                <a:srgbClr val="1E4FA8"/>
              </a:solidFill>
            </a:ln>
          </c:spPr>
          <c:marker>
            <c:spPr>
              <a:noFill/>
            </c:spPr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  <c:pt idx="6">
                  <c:v>120</c:v>
                </c:pt>
                <c:pt idx="7">
                  <c:v>140</c:v>
                </c:pt>
                <c:pt idx="8">
                  <c:v>160</c:v>
                </c:pt>
                <c:pt idx="9">
                  <c:v>180</c:v>
                </c:pt>
                <c:pt idx="10">
                  <c:v>200</c:v>
                </c:pt>
              </c:numCache>
            </c:num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13.0</c:v>
                </c:pt>
                <c:pt idx="1">
                  <c:v>0.92</c:v>
                </c:pt>
                <c:pt idx="2">
                  <c:v>0.14</c:v>
                </c:pt>
                <c:pt idx="3">
                  <c:v>0.05</c:v>
                </c:pt>
                <c:pt idx="4">
                  <c:v>0.028</c:v>
                </c:pt>
                <c:pt idx="5">
                  <c:v>0.019</c:v>
                </c:pt>
                <c:pt idx="6">
                  <c:v>0.014</c:v>
                </c:pt>
                <c:pt idx="7">
                  <c:v>0.012</c:v>
                </c:pt>
                <c:pt idx="8">
                  <c:v>0.011</c:v>
                </c:pt>
                <c:pt idx="9">
                  <c:v>0.01</c:v>
                </c:pt>
                <c:pt idx="10">
                  <c:v>0.01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忘了清零：梯度累加</c:v>
                </c:pt>
              </c:strCache>
            </c:strRef>
          </c:tx>
          <c:spPr>
            <a:ln w="22225">
              <a:solidFill>
                <a:srgbClr val="D97706"/>
              </a:solidFill>
            </a:ln>
          </c:spPr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  <c:pt idx="6">
                  <c:v>120</c:v>
                </c:pt>
                <c:pt idx="7">
                  <c:v>140</c:v>
                </c:pt>
                <c:pt idx="8">
                  <c:v>160</c:v>
                </c:pt>
                <c:pt idx="9">
                  <c:v>180</c:v>
                </c:pt>
                <c:pt idx="10">
                  <c:v>200</c:v>
                </c:pt>
              </c:numCache>
            </c:num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13.0</c:v>
                </c:pt>
                <c:pt idx="1">
                  <c:v>8.9</c:v>
                </c:pt>
                <c:pt idx="2">
                  <c:v>4.2</c:v>
                </c:pt>
                <c:pt idx="3">
                  <c:v>7.8</c:v>
                </c:pt>
                <c:pt idx="4">
                  <c:v>3.6</c:v>
                </c:pt>
                <c:pt idx="5">
                  <c:v>9.1</c:v>
                </c:pt>
                <c:pt idx="6">
                  <c:v>2.9</c:v>
                </c:pt>
                <c:pt idx="7">
                  <c:v>11.4</c:v>
                </c:pt>
                <c:pt idx="8">
                  <c:v>5.8</c:v>
                </c:pt>
                <c:pt idx="9">
                  <c:v>14.2</c:v>
                </c:pt>
                <c:pt idx="10">
                  <c:v>6.1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学习率 1.0 过大</c:v>
                </c:pt>
              </c:strCache>
            </c:strRef>
          </c:tx>
          <c:spPr>
            <a:ln w="22225">
              <a:solidFill>
                <a:srgbClr val="B91C1C"/>
              </a:solidFill>
            </a:ln>
          </c:spPr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  <c:pt idx="6">
                  <c:v>120</c:v>
                </c:pt>
                <c:pt idx="7">
                  <c:v>140</c:v>
                </c:pt>
                <c:pt idx="8">
                  <c:v>160</c:v>
                </c:pt>
                <c:pt idx="9">
                  <c:v>180</c:v>
                </c:pt>
                <c:pt idx="10">
                  <c:v>200</c:v>
                </c:pt>
              </c:numCache>
            </c:num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13.0</c:v>
                </c:pt>
                <c:pt idx="1">
                  <c:v>16.8</c:v>
                </c:pt>
                <c:pt idx="2">
                  <c:v>24.5</c:v>
                </c:pt>
                <c:pt idx="3">
                  <c:v>38.2</c:v>
                </c:pt>
                <c:pt idx="4">
                  <c:v>52.6</c:v>
                </c:pt>
                <c:pt idx="5">
                  <c:v>41.3</c:v>
                </c:pt>
                <c:pt idx="6">
                  <c:v>57.8</c:v>
                </c:pt>
                <c:pt idx="7">
                  <c:v>44.2</c:v>
                </c:pt>
                <c:pt idx="8">
                  <c:v>59.4</c:v>
                </c:pt>
                <c:pt idx="9">
                  <c:v>46.8</c:v>
                </c:pt>
                <c:pt idx="10">
                  <c:v>61.2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训练步数 step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5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MSE 损失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33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200"/>
            <a:ext cx="12192119" cy="576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59" y="856800"/>
            <a:ext cx="529685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0" b="1" i="0">
                <a:solidFill>
                  <a:srgbClr val="F0F5FC"/>
                </a:solidFill>
                <a:latin typeface="Source Han Sans S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8568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52015CC3BV · 本科 · 来华项目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2672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609200"/>
            <a:ext cx="1059371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>
                <a:solidFill>
                  <a:srgbClr val="0E3F8C"/>
                </a:solidFill>
                <a:latin typeface="Source Han Sans SC"/>
              </a:rPr>
              <a:t>PyTorch 基础：张量与自动求导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232000"/>
            <a:ext cx="10593719" cy="9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1F2937"/>
                </a:solidFill>
                <a:latin typeface="Source Han Sans SC"/>
              </a:rPr>
              <a:t>PyTorch Fundamentals: Tensors and Autograd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3344399"/>
            <a:ext cx="1059371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280"/>
                </a:solidFill>
                <a:latin typeface="Source Han Sans SC"/>
              </a:rPr>
              <a:t>Week 2 · 张量创建与属性 · 形状变换与广播 · 计算图与 autograd · 手写梯度下降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5295600"/>
            <a:ext cx="1984823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364000"/>
            <a:ext cx="1639223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模块一 · W1–4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07223" y="5295600"/>
            <a:ext cx="2977235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0023" y="5364000"/>
            <a:ext cx="2631636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180 min · 授课 + 实验 + 小测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7659" y="5295600"/>
            <a:ext cx="3572683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0459" y="5364000"/>
            <a:ext cx="3227083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torch.Tensor · autograd · 广播 · 梯度下降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03543" y="5295600"/>
            <a:ext cx="1389376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76343" y="5364000"/>
            <a:ext cx="1043776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CU(2)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5868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" y="5961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2000" y="5983200"/>
            <a:ext cx="57600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Lecturer: ____________  ·  School of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02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044000"/>
            <a:ext cx="2858400" cy="49536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600" y="2163600"/>
            <a:ext cx="2361600" cy="38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E3F8C"/>
                </a:solidFill>
                <a:latin typeface="Source Han Sans SC"/>
              </a:rPr>
              <a:t>5 部分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600" y="2628000"/>
            <a:ext cx="2361600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6B7280"/>
                </a:solidFill>
                <a:latin typeface="Source Han Sans SC"/>
              </a:rPr>
              <a:t>本周结构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7600" y="2991600"/>
            <a:ext cx="2361600" cy="1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600" y="3160800"/>
            <a:ext cx="2361600" cy="89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张量是这门课唯一的数据容器，autograd 是唯一要理解的引擎。
今天用这两样东西，把一条直线学出来。
A tensor is the container; autograd is the engine.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7600" y="4208400"/>
            <a:ext cx="2361600" cy="68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0800" y="4305600"/>
            <a:ext cx="2095200" cy="49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理论约 90 min · Lab 约 75 min · 小测与小结 15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24000" y="16488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99600" y="17712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9600" y="18720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7200" y="17892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张量：深度学习的通用容器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7200" y="20771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The Container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7200" y="22680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张量创建 · 五个关键属性 · 与 NumPy 的关系 · GPU 张量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048400" y="19332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24000" y="24012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99600" y="25236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99600" y="26244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7200" y="25416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形状变换与广播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7200" y="28296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Shapes &amp; Broadcasting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7200" y="30204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view/reshape · unsqueeze/permute · 广播规则 · 现场制造错误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1048400" y="26856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24000" y="31536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99600" y="32760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99600" y="33767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7200" y="32940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计算图与自动求导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7200" y="35819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Graphs &amp; Autograd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7200" y="37728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计算图 · requires_grad · backward 与 grad · 梯度排查清单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048400" y="34380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24000" y="39060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99600" y="40284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99600" y="41291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7200" y="40464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用张量实现梯度下降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7200" y="433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Gradient Descent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7200" y="45252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手写训练循环 · 损失曲线 · 参数收敛验证 · 学习率三档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1048400" y="41904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24000" y="46584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99600" y="47808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99600" y="48816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7200" y="47988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Lab · 实验 1 线性回归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7200" y="50868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Hands-On Lab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7200" y="52776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不用 nn.Module · 用张量与 autograd · 记录损失曲线 · 验证收敛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048400" y="49428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张量：深度学习的通用容器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The Container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模型、数据、梯度、损失——在 PyTorch 里它们全都是张量。
这一部分之后，你拿到一个张量就应该能立刻报出四件事：形状、类型、设备、要不要算梯度。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它是容器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数据、参数、梯度都装在里面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它有属性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shape · dtype · device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它认设备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CPU 与 GPU 不能混算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张量是什么，以及为什么不用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04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60000"/>
            <a:ext cx="5185259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60000"/>
            <a:ext cx="32400" cy="230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47199"/>
            <a:ext cx="47388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张量就是 n 维数组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677600"/>
            <a:ext cx="47388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container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879200"/>
            <a:ext cx="4738859" cy="154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0 维是标量、1 维是向量、2 维是矩阵、3 维以上是张量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形状用 torch.Size 描述，例如 (100, 1)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本课程里：输入、参数、梯度、损失都是张量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659" y="1260000"/>
            <a:ext cx="5185259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659" y="1260000"/>
            <a:ext cx="32400" cy="230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0859" y="1447199"/>
            <a:ext cx="47388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为什么不用 Python 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0859" y="1677600"/>
            <a:ext cx="47388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speed and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0859" y="1879200"/>
            <a:ext cx="4738859" cy="154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list 的循环由解释器逐元素执行，慢一到两个数量级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list 不记录形状、不做广播，出错只能靠你自己查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list 上不了 GPU，也接不上自动求导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3787200"/>
            <a:ext cx="5185259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200" y="3787200"/>
            <a:ext cx="32400" cy="230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2400" y="3974399"/>
            <a:ext cx="47388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和 NumPy 的关系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2400" y="4204800"/>
            <a:ext cx="47388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same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400" y="4406400"/>
            <a:ext cx="473885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torch.from_numpy(x) 与数组共享内存，改一个另一个也变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.numpy() 可以把张量交回给 matplotlib 画图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区别只有两条：能上 GPU、能求导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7659" y="3787200"/>
            <a:ext cx="5185259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7659" y="3787200"/>
            <a:ext cx="32400" cy="230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0859" y="3974399"/>
            <a:ext cx="47388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GPU 张量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0859" y="4204800"/>
            <a:ext cx="47388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device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0859" y="4406400"/>
            <a:ext cx="473885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x.to("cuda") 把数据搬进显存，结果也留在那里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两个张量必须在同一设备上才能运算，否则直接报错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只用 CPU 也可以，但报告里必须写明设备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张量的五个关键属性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看错其中任何一个，程序都不会报错，只会算错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05 / 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84000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2376000"/>
                <a:gridCol w="3096000"/>
                <a:gridCol w="3240000"/>
              </a:tblGrid>
              <a:tr h="504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属性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在看什么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典型值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什么时候会咬你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shape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每一维的大小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torch.Size([100, 1])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形状错了不报错，广播会替你「猜」一个结果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dtype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元素类型与精度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float32 / int64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int64 张量不能设 requires_grad，除法还会取整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device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数据在 CPU 还是 GPU 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cpu / cuda:0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把 cpu 与 cuda 张量混算，直接 RuntimeError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requires_grad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这个张量要不要参与求导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True / False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参数忘了设 True，.grad 永远是 None，训练静默失败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grad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累计起来的梯度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与自身 shape 相同的张量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它是累加的：不看零，得到的是一串错数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320000"/>
            <a:ext cx="105937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养成一个习惯：任何一次形状报错、或者结果看着不对劲，先 print(x.shape, x.dtype, x.device)。九成的张量 bug 在这一行里就现形了。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创建张量与检查属性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先看得见，再算得对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06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1059371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78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364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create_tensors.py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691999"/>
            <a:ext cx="1019771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import torch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t = torch.tensor([[1., 2.], [3., 4.]])   # 从 Python 数据构造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z = torch.zeros(2, 3)                    # 全 0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o = torch.ones(2, 3)                     # 全 1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r = torch.randn(2, 3)                    # 标准正态随机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a = torch.arange(0, 6)                   # 0..5，形状 (6,)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l = torch.linspace(0, 1, 5)              # [0,1] 上等距 5 点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print(t.shape, t.dtype, t.device)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torch.Size([2, 2]) torch.float32 cpu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print(a.shape)                           # (6,)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print(a.reshape(2, 3).shape)             # (2, 3)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print(round(r.mean().item(), 2))         # 约 0.0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print(round(r.std().item(), 2))          # 约 1.0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dtype 决定精度，device 决定在哪算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print(torch.zeros(3, dtype=torch.float64).dtype)  # float64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print(torch.zeros(3).to("cuda").device)          # 需要 GPU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5526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注意 torch.arange(0, 6) 默认是 int64 —— 它不能设 requires_grad。要参与训练就直接写 torch.arange(6.)，一个点号就把它变成 float32。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形状变换与广播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Shapes &amp; Broadcasting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本周唯一一个「不报错但结果错」的区域就在这一节。
广播是 PyTorch 最方便也最危险的设计：它替你补维度，却不告诉你补了什么。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变换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view / reshape / unsqueeze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广播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从最右一维开始对齐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制造错误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先看报错，再谈规则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形状变换的三组动作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08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60000"/>
            <a:ext cx="3387239" cy="2448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60000"/>
            <a:ext cx="32400" cy="244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47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改形状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677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view / reshape / 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879200"/>
            <a:ext cx="2940839" cy="168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view：共享内存，要求张量连续，不连续会报错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reshape：能共享就共享，不能就复制，日常首选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-1 表示「这一维你来算」，其余维必须能整除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60000"/>
            <a:ext cx="3387239" cy="2448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60000"/>
            <a:ext cx="32400" cy="244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47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增维与删维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677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unsqueeze / squeeze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879200"/>
            <a:ext cx="2940839" cy="168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unsqueeze(1) 把 (6,) 变成 (6,1)，补维最常用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squeeze(0) 删掉大小为 1 的维，非 1 的维删不掉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补维写清楚，后面所有广播就都可预测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60000"/>
            <a:ext cx="3387239" cy="2448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60000"/>
            <a:ext cx="32400" cy="244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47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换轴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677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transpose / permute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879200"/>
            <a:ext cx="2940839" cy="168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transpose 只换两个轴；permute 一次给出全部轴的顺序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换轴之后张量通常不连续，view 会直接失败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要还原连续：加 .contiguous()，或者改用 reshape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形状变换与广播：制造错误，再修复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这一页的每一行都建议你亲手敲一遍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09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形状变换：view 与 reshape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691999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x = torch.arange(6.)        # (6,)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a = x.view(2, 3)            # (2,3)，与 x 共享内存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x[0] = 99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print(a[0, 0])              # 99 -&gt; 视图不是副本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t = a.t()                   # (3,2)，转置后不连续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t.view(6)                   # 报错：非连续不能用 view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t.reshape(6)                # OK：reshape 会复制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-1 自动推断那一维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print(x.reshape(2, -1).shape)     # (2, 3)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print(x.unsqueeze(1).shape)       # (6, 1)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unsqueeze(1) 是补维最常用的写法：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(6,) -&gt; (6,1)，正好对上 MSE 的广播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659" y="1278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659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659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广播：静默错误 vs 报错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659" y="1691999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w = torch.randn(3)         # (3,)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X = torch.randn(4, 3)      # (4,3)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print((X + w).shape)       # (4,3) 尾部对齐，符合直觉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v = torch.randn(3, 1)      # (3,1)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print((v + w).shape)       # (3,3) 静默变大！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修复：把意图写进形状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w2 = w.reshape(-1, 1)      # (3,1)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print((v + w2).shape)      # (3,1)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print(torch.broadcast_shapes((3,1), (3,)))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-&gt; (3,3)：规则说合法，但不是你要的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报错型：都不是 1 且不相等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print((torch.randn(4,3) + torch.randn(4,2)).shape)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RuntimeError: (4,3) vs (4,2) &lt;- 这才是好错误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5526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左栏最后两行是本周最常用的一句：unsqueeze(1) 把 (6,) 变成 (6,1)。右栏第 6 行则是本周最危险的错误：它不报错，只是把 (3,1) 和 (3,) 悄悄变成 (3,3)。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七种写法：哪些会静默出错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会报错的是好错误；不报错却算错的是坏错误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10 / 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84000" cy="33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000"/>
                <a:gridCol w="2376000"/>
                <a:gridCol w="1584000"/>
                <a:gridCol w="3456000"/>
              </a:tblGrid>
              <a:tr h="423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写法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形状变化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报错吗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说明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23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X (4,3) + w (3,)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(4,3) + (3,) → (4,3)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不报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从最右对齐，w 被复制到每一行，符合直觉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3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v (3,1) + w (3,)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(3,1) + (3,) → (3,3)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不报，静默错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(3,1) 沿列复制、(3,) 沿行复制，结果凭空多出一维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23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v + w.reshape(-1,1)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(3,1) + (3,1) → (3,1)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不报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把意图写进形状，代码自己解释自己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3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X (100,1) @ w (1,1)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(100,1)，内维相等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不报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矩阵乘法不广播，内维必须严格相等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23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X (100,1) @ w (3,)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内维 1 与 3 不相等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报错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RuntimeError: mat1 and mat2 shapes cannot be multiplied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3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a (2,3).t().view(6)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转置后内存不连续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报错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RuntimeError: view size is not compatible... 改用 reshape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23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x (4,6).reshape(-1,3)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(4,6) → (8,3)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不报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-1 自动推断；其余维必须能整除，否则报错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680000"/>
            <a:ext cx="105937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第二行是本课程出现频率最高的错误，也是最危险的一种：它不报错。所以每次写完与形状有关的代码，都要 print 一次结果的 shape —— 这不是调试，这是习惯。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广播规则、四个高频错误、五条修复手法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先读报错，再学规则；先写形状，再写代码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11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3327240" cy="41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70000"/>
            <a:ext cx="3327240" cy="54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200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广播的三条规则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200" y="1890000"/>
            <a:ext cx="289524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从最右一维开始，逐维向左比较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两维相等 → 直接对齐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其中一维是 1 → 沿这一维复制扩展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都不是 1 且不相等 → 报错（这是好事）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结论：广播只保证「合法」，不保证「符合你的意图」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2440" y="1170000"/>
            <a:ext cx="3327240" cy="4104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2440" y="1170000"/>
            <a:ext cx="3327240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8440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四个高频形状错误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440" y="1890000"/>
            <a:ext cx="289524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(3,) 与 (3,1) 混用 → 静默得到 (3,3)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该做外积的地方忘了补维，结果变成了逐元素相乘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对转置后的张量用 view → 非连续报错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更新参数时形状不一致 → 广播后 w 悄悄变成 (n,n)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只看 loss 不看 shape：loss 算得出来，结果却是错的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679" y="1170000"/>
            <a:ext cx="3327240" cy="4104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679" y="1170000"/>
            <a:ext cx="3327240" cy="54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1679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修复与自查五条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1679" y="1890000"/>
            <a:ext cx="289524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写形状相关代码前，先把每一行的 shape 写在注释里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加断言：assert y_hat.shape == y.shape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把目标统一成 reshape(-1, 1)，别让 (n,) 参战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非连续张量用 reshape，或 .contiguous().view(...)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训练开始前，打印一次数据与参数的形状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5454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课堂演示方式：先故意写错，把报错信息一字一句读出来，再动手修。看清一次报错，胜过背十条规则。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计算图与自动求导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Graphs &amp; Autograd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autograd 只做一件事：把前向的每一步记下来，反向时按链式法则逐段求导。
你不需要自己推导，但你必须知道「谁在图上、谁不在」。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计算图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前向的副产品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开关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requires_grad 决定谁被求导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读梯度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只有叶子张量有 .grad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autograd 的三个概念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13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60000"/>
            <a:ext cx="3387239" cy="2448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60000"/>
            <a:ext cx="32400" cy="244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47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计算图：前向的副产品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677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what got recorded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879200"/>
            <a:ext cx="2940839" cy="168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每个涉及梯度的运算都会记下自己是怎么算出来的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非叶子张量带 grad_fn；叶子张量的 .grad 被填充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反向传播用完即释放，想再传要设 retain_graph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60000"/>
            <a:ext cx="3387239" cy="2448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60000"/>
            <a:ext cx="32400" cy="244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47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requires_grad：谁要梯度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677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switch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879200"/>
            <a:ext cx="2940839" cy="168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只有浮点张量能设 requires_grad=True，int 张量不行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数据 X、y 不需要；参数 w、b 必须设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凡是依赖它的结果，都自动带上 requires_grad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60000"/>
            <a:ext cx="3387239" cy="2448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60000"/>
            <a:ext cx="32400" cy="244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47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backward 与 grad：读梯度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677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879200"/>
            <a:ext cx="2940839" cy="168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loss.backward() 从一个标量出发，沿图回传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只有叶子张量的 .grad 会被填充，形状与它相同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.grad 是累加的：不清零，上一步的梯度会叠上来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autograd 最小示例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八行代码里藏着本周一半的坑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14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1059371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78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364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autograd_basics.py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691999"/>
            <a:ext cx="1019771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import torch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x = torch.tensor(3.0, requires_grad=True)   # 叶子张量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y = x ** 2 + 2 * x + 1                      # 前向 + 建图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print(y.requires_grad, y.grad_fn)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True &lt;AddBackward0&gt; &lt;- 非叶子记录了它怎么算出来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y.backward()                                # 反向：沿图回传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print(x.grad)                               # tensor(8.) = 2*3 + 2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x.grad = None                               # 梯度默认累加，先清零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z = (x ** 2).sum(); z.backward()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print(x.grad)                               # tensor(6.) = 2*3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with torch.no_grad():                       # 推理：不建图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print((x * 2).requires_grad)            # False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print((x * 3).detach().requires_grad)       # False：从图上摘下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5526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把 x.grad = None 那一行注释掉再跑一次：x.grad 会变成 8 + 6 = 14。这就是「梯度累加」的全部真相，也是实验里损失震荡的直接原因。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一次参数更新的五个动作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15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2232000"/>
            <a:ext cx="1600343" cy="176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2232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6172" y="2430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6172" y="2512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2970000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前向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200" y="3196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Forward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200" y="3384000"/>
            <a:ext cx="1204343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用当前参数算出预测
 y_hat = X @ w + b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417544" y="2998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1544" y="2232000"/>
            <a:ext cx="1600343" cy="176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1544" y="2232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8516" y="2430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8516" y="2512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9544" y="2970000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建图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9544" y="3196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Build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9544" y="3384000"/>
            <a:ext cx="1204343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每一步运算被记进
计算图（自动发生）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359888" y="2998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83888" y="2232000"/>
            <a:ext cx="1600343" cy="176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83888" y="2232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60860" y="2430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60860" y="2512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1888" y="2970000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求损失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1888" y="3196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Scalar loss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1888" y="3384000"/>
            <a:ext cx="1204343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把误差压成一个标量：
 loss = MSE(y_hat, y)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302232" y="2998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26231" y="2232000"/>
            <a:ext cx="1600343" cy="176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26231" y="2232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03203" y="2430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03203" y="2512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24232" y="2970000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反向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24232" y="3196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Backward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24232" y="3384000"/>
            <a:ext cx="1204343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loss.backward() 沿图回传，
填满每个叶子的 .grad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244575" y="2998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68575" y="2232000"/>
            <a:ext cx="1600343" cy="176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68575" y="2232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5547" y="2430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5547" y="2512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66576" y="2970000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更新与清零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66576" y="3196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Update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66576" y="3384000"/>
            <a:ext cx="1204343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在 no_grad 里手改参数，
然后立刻清零梯度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9200" y="4302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第 5 步的两个动作顺序不能颠倒：更新 → 清零。更新必须写在 with torch.no_grad(): 里面，否则 PyTorch 会把「更新」这一步也记进计算图，越训越慢。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梯度不对？按这张表逐条排查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五个症状，五种原因，五条修复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16 / 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84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/>
                <a:gridCol w="3024000"/>
                <a:gridCol w="2376000"/>
                <a:gridCol w="2520000"/>
              </a:tblGrid>
              <a:tr h="5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症状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最可能的原因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一句话诊断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修复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损失不下降，来回震荡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每步没有清零，梯度被累加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print(w.grad) 看相邻两步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更新后立刻 w.grad.zero_()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w.grad 一直是 None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它不是叶子，或者 requires_grad=False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print(w.is_leaf, w.requires_grad)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只对叶子张量设 requires_grad=True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更新时报 in-place operation 错误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更新被写进了计算图，或对中间张量做原地运算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看报错是否指向 -= 那一行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用 with torch.no_grad(): 包住更新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损失越跑越大，甚至变成 nan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学习率过大，或梯度未清零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打印 history 的最后五个值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把 lr 减半再减半，并确认清零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w 的形状莫名变大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广播把 (n,) 与 (n,1) 扩成了 (n,n)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print(w.shape) 对比初始化时的形状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数据与目标统一 reshape(-1,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536000"/>
            <a:ext cx="105937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第 1 条和第 3 条是本课程最常出现的两个训练 bug，全都与 autograd 的行为直接相关，而不是与模型有关。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用张量实现梯度下降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Gradient Descent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把前三部分拼起来：张量装数据，形状对齐，autograd 给梯度，我们自己写下降那一步。
下面这段代码就是实验 1 的全部骨架。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损失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MSE 把误差变成一个数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w -= lr * w.grad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复现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固定种子，别人能跑出同一条曲线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手写线性回归：只有张量和 autograd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这段循环里不许出现 nn.Linear，也不许出现 torch.optim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18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1059371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78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364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gd_by_hand.py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691999"/>
            <a:ext cx="1019771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import torch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torch.manual_seed(42)                  # 固定种子：结果可复现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X = torch.randn(100, 1)                # (100, 1)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y = 3.0 * X + 2.0 + 0.1 * torch.randn(100, 1)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w = torch.zeros(1, 1, requires_grad=True)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b = torch.zeros(1, requires_grad=True)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lr, history = 0.1, []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for step in range(200):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y_hat = X @ w + b                  # 前向：(100,1)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loss = ((y_hat - y) ** 2).mean()   # MSE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loss.backward()                    # 反向：填 w.grad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with torch.no_grad():              # 更新不能建图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w -= lr * w.grad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b -= lr * b.grad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w.grad.zero_(); b.grad.zero_()     # 不清零 -&gt; 梯度累加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history.append(loss.item())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print(round(w.item(), 3), round(b.item(), 3))   # 2.987 2.013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5526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三件事必须同时发生在循环里：loss.backward()、装在 with torch.no_grad(): 里的更新、以及 w.grad.zero_()。少任何一件，训练都不会按你预期收敛。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三条损失曲线，一次看清三个坑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19 / 30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99200" y="1152000"/>
          <a:ext cx="6840000" cy="432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63199" y="1259999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蓝线在 40 步左右就贴到底部，之后几乎没有收益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橙线在 3 到 14 之间来回跳：不是学不会，而是梯度被累加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红线整体往上走：学习率太大，每一步都跨过谷底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拿到任何损失曲线，先问一句：它有没有单调下降的趋势？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200" y="5633999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B7280"/>
                </a:solidFill>
                <a:latin typeface="Source Han Sans SC"/>
              </a:rPr>
              <a:t>实验 1 要交的是这三条里最上面那一条：你自己跑出来的、贴着底部的曲线。另外两条是你要在报告里解释的对照。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收敛到哪里才算对：三个数不能混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真值、闭式解、训练解——它们本来就不完全相等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20 / 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84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000"/>
                <a:gridCol w="2304000"/>
                <a:gridCol w="2448000"/>
                <a:gridCol w="2448000"/>
                <a:gridCol w="1800000"/>
              </a:tblGrid>
              <a:tr h="594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参数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数据生成真值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闭式最小二乘解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梯度下降 200 步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相对误差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59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w（斜率）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3.000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2.991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2.987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b（截距）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2.000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2.014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2.013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0.05%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9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训练集 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0.0100（噪声方差）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0.0098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0.0099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不在同一量纲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3671999"/>
            <a:ext cx="105937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三个数各有各的含义：真值是「我造数据时用的」，闭式解是「在这批样本上最优的」，训练解是「200 步之后我拿到的」。报告里必须写清楚你在跟哪一个比，否则「误差」这个词没有意义。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学习率三档：太小、合适、太大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21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60000"/>
            <a:ext cx="3387239" cy="24480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60000"/>
            <a:ext cx="32400" cy="244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47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太小 lr = 0.001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677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looks like it failed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879200"/>
            <a:ext cx="2940839" cy="168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损失缓慢下降，曲线几乎是一条平线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200 步远没走到谷底，很容易被误判成「模型不行」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对策：先试 0.1，再上下各试一个数量级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60000"/>
            <a:ext cx="3387239" cy="2448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60000"/>
            <a:ext cx="32400" cy="244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47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合适 lr = 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677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default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879200"/>
            <a:ext cx="2940839" cy="168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损失在几十步内快速下降，之后平稳贴底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这就是实验 1 的默认设置，也是三条曲线的对照基准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判断标准：先有一段明显下降，然后是一段平台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60000"/>
            <a:ext cx="3387239" cy="2448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60000"/>
            <a:ext cx="32400" cy="2448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47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太大 lr = 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677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divergence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879200"/>
            <a:ext cx="2940839" cy="168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损失不降反升，继续下去会出现 nan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每一步都跨过谷底，落到对面更远的地方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对策：减半，再减半；不要指望它自己扛住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Lab · 实验 1 线性回归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Tensors and Autograd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不使用 nn.Module、不使用任何优化器——只用张量和 autograd，把一条直线学出来。
四个任务：造数据 → 训练 → 记录损失曲线 → 验证参数收敛。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造数据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固定种子 + 基线损失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训练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手写循环，不用优化器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曲线 + 参数收敛对比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实验 1 的四个任务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23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518885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194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A · 造数据与基线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474245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固定种子生成 y = 3x + 2 + 噪声，n = 100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先算 w = b = 0 时的基线损失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产出：一个「不训练就不行」的数字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059" y="1296000"/>
            <a:ext cx="518885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4059" y="1296000"/>
            <a:ext cx="32400" cy="194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7259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B · 只用张量训练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7259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7259" y="1915200"/>
            <a:ext cx="474245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w、b 用 zeros(..., requires_grad=True) 初始化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循环内：前向 → MSE → 反向 → 更新 → 清零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禁止使用 nn.Linear 与任何 torch.optim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3456000"/>
            <a:ext cx="518885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200" y="3456000"/>
            <a:ext cx="32400" cy="194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2400" y="3643199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C · 记录损失曲线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2400" y="387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400" y="4075200"/>
            <a:ext cx="474245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每个 step 记录 loss.item()，训练后画曲线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在图上标出「损失不再明显下降」的位置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产出：loss.png 加一句话的收敛说明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4059" y="3456000"/>
            <a:ext cx="518885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059" y="3456000"/>
            <a:ext cx="32400" cy="194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7259" y="3643199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D · 验证参数收敛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7259" y="387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7259" y="4075200"/>
            <a:ext cx="474245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与真值 3、2 以及闭式最小二乘解同时对比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写出相对误差，并解释三者为何不等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产出：一张参数收敛对比表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实验 1 脚本骨架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可以直接改成你的报告主体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24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06000"/>
            <a:ext cx="10593719" cy="4392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06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292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lab1_linear_regression.py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620000"/>
            <a:ext cx="10197719" cy="38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import torch, matplotlib.pyplot as plt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torch.manual_seed(42)                 # 固定种子：报告的硬要求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lr = 0.1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X = torch.randn(100, 1)               # (100, 1)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y = 3.0 * X + 2.0 + 0.1 * torch.randn(100, 1)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w = torch.zeros(1, 1, requires_grad=True)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b = torch.zeros(1, requires_grad=True)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hist = []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for s in range(200):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loss = ((X @ w + b - y) ** 2).mean()   # MSE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loss.backward()                        # 反向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with torch.no_grad():                  # 更新不建图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w -= lr * w.grad; b -= lr * b.grad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w.grad.zero_(); b.grad.zero_()         # 必做：清零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hist.append(loss.item())               # 每步记损失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print("trained:", round(w.item(), 3), round(b.item(), 3))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print("truth  :", 3.0, 2.0)             # 与真值对比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plt.plot(hist); plt.yscale("log")         # 后期下降看得清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plt.savefig("loss.png")                  # 提交：损失曲线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5777999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把 lr 分别改成 0.001、0.1、1.0 各跑一次，三条曲线画在同一张图上 —— 这就是作业里要求的对照实验。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实验 1 提交清单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25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32400" cy="737999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9200" y="1465200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200" y="15371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3200" y="13931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损失曲线图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620000"/>
            <a:ext cx="9153719" cy="34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三条学习率曲线叠在同一张图上，并标出各自的收敛点与结论。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200" y="2167200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200" y="2167200"/>
            <a:ext cx="32400" cy="737999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9200" y="23543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200" y="24263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3200" y="2282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参数收敛对比表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509200"/>
            <a:ext cx="9153719" cy="34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训练得到的 w、b 与真值、闭式最小二乘解并排，给出相对误差并说明三者为何不相等。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056399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056399"/>
            <a:ext cx="32400" cy="737999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9200" y="32435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200" y="33155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3200" y="31715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形状变换踩坑记录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398399"/>
            <a:ext cx="9153719" cy="34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至少两条：写下错误写法、完整报错信息、以及你最终如何修复。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200" y="3945599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9200" y="3945599"/>
            <a:ext cx="32400" cy="737999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9200" y="41327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200" y="42048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3200" y="40608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可复现命令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4287599"/>
            <a:ext cx="9153719" cy="34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README 里一行命令、固定种子、环境版本齐全，别人能跑出同一条曲线。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200" y="4834800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200" y="4834800"/>
            <a:ext cx="32400" cy="737999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9200" y="5022000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9200" y="50940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23200" y="49500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AI 协同记录至少 1 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3200" y="5176800"/>
            <a:ext cx="9153719" cy="34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AI 生成的代码中你发现了什么问题、如何修正，附上修改前后的对照。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AI 生成代码：骨架可用，错误要你自己找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用 AI 生成 → 逐行解释 → 找出形状与广播错误 → 形成对照记录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26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3327240" cy="41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70000"/>
            <a:ext cx="3327240" cy="54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200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AI 给的那一版（看起来对）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200" y="1890000"/>
            <a:ext cx="289524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数据生成、前向、MSE、backward 的骨架基本正确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循环结构合理，超参数也放在显眼的位置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问题在于它是「看起来对」，不是「验证过对」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直接提交它，等于把调试责任交给一个不会替你答辩的人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2440" y="1170000"/>
            <a:ext cx="3327240" cy="4104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2440" y="1170000"/>
            <a:ext cx="3327240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8440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逐行检查后找出的四个问题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440" y="1890000"/>
            <a:ext cx="289524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没有 w.grad.zero_()：梯度累加，损失在 3 到 14 之间震荡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y 用 (n,) 而不是 (n,1)：广播成 (n,n)，MSE 量级完全错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更新没有放进 with torch.no_grad(): 更新被记进图，显存缓慢增长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没有固定种子：每次跑出来的曲线都不同，无法做对照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679" y="1170000"/>
            <a:ext cx="3327240" cy="4104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679" y="1170000"/>
            <a:ext cx="3327240" cy="54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1679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逐行解释时必须回答的四个问题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1679" y="1890000"/>
            <a:ext cx="289524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这一行输入和输出的 shape 分别是什么？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它的梯度会被累加吗？谁负责清零？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它在计算图里吗？为什么在、为什么不在？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把 (3,) 换成 (3,1)，这一行的结果会变成什么？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解释不出来的一行，就不要留在提交里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5454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协同记录要写的不是「AI 帮了我」，而是「AI 在这里错了，我是这样发现的」。第二个错误（(n,) 的广播）不会报错，只能靠形状检查发现。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课程思政 · 严谨求实：为什么必须固定随机种子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27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60000"/>
            <a:ext cx="3387239" cy="2448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60000"/>
            <a:ext cx="32400" cy="244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47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随机是训练的一部分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677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so pin it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879200"/>
            <a:ext cx="2940839" cy="168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初始化、噪声、打乱顺序都是随机的，它们都会改变结果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不固定种子，你的实验就无法被任何人复核 —— 包括三天后的你自己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torch.manual_seed(42) 一行，换来的是「可验证」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60000"/>
            <a:ext cx="3387239" cy="2448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60000"/>
            <a:ext cx="32400" cy="244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47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科学结论要求可复现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677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not a nice-to-have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879200"/>
            <a:ext cx="2940839" cy="168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一次跑出来的好结果不是结论，能被重复出来的才是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报告三件套：种子、环境版本、一行可运行的命令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换设备出现微小差异很正常，如实写明即可，不要悄悄取最好那次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60000"/>
            <a:ext cx="3387239" cy="24480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60000"/>
            <a:ext cx="32400" cy="244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47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把错误留在记录里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677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failures are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879200"/>
            <a:ext cx="2940839" cy="168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形状报错和调试过程是能力证据，不是需要藏起来的扣分项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只贴成功结果的报告，反而无法说明你是否真的动过手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严谨求实的底线：不编造输出，不美化曲线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随堂小测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28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16000"/>
            <a:ext cx="5197859" cy="149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7200" y="1278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7200" y="1324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形状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5200" y="1278000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X 的形状是 (100, 1)，w 的形状是 (1, 1)，X @ w 的结果形状是？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890000"/>
            <a:ext cx="4801859" cy="6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(100, 1)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(100, 100)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(1, 1)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报错，矩阵乘法需要广播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5059" y="1116000"/>
            <a:ext cx="5197859" cy="149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93059" y="1278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59" y="1324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广播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1059" y="1278000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形状 (3, 1) 的张量与形状 (3,) 的张量相加，结果的形状是？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59" y="1890000"/>
            <a:ext cx="4801859" cy="6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(3,)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(3, 1)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(3, 3)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报错，因为维度数不同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2808000"/>
            <a:ext cx="5197859" cy="149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7200" y="2970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7200" y="3016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求导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5200" y="2970000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x = torch.tensor(2.0, requires_grad=True); y = x ** 3; y.backward() 之后 x.grad 是？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7200" y="3582000"/>
            <a:ext cx="4801859" cy="6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6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8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12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None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5059" y="2808000"/>
            <a:ext cx="5197859" cy="149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93059" y="2970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3059" y="3016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排查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1059" y="2970000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训练中损失始终来回震荡、不下降，最先应该检查什么？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3059" y="3582000"/>
            <a:ext cx="4801859" cy="6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换一个更大的模型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每一步是否清零了梯度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把数据全部归一化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换成 GPU 训练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本周小结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29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520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520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200" y="13500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9200" y="12780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张量是唯一的数据容器：拿到它先报出四项 —— shape、dtype、device、requires_grad。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200" y="19692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200" y="19692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200" y="21672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9200" y="2095199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形状变换优先 reshape，补维用 unsqueeze(1)；view 只在连续张量上安全，非连续请用 contiguous 或 reshape。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200" y="27864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200" y="27864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200" y="29844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9200" y="29124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广播从最右一维对齐、遇 1 就复制：(3,) 与 (3,1) 相加会静默得到 (3,3) —— 这是本周最危险的错误。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6036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6036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200" y="38016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9200" y="37296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autograd 只有两条规则：只有叶子张量的 .grad 被填充，而且 .grad 是累加的。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9200" y="44208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200" y="44208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200" y="46188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9200" y="45468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参数更新四件套：backward → no_grad 里更新 → 立刻清零梯度 → 记录损失。顺序不能乱。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01200" y="1152000"/>
            <a:ext cx="3591719" cy="48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7200" y="1281599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Source Han Sans SC"/>
              </a:rPr>
              <a:t>课后待办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01200" y="1818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7200" y="1969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完成实验 1 报告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7200" y="2221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损失曲线（三种学习率）、参数收敛对比、形状变换踩坑记录、可复现命令。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01200" y="2880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7200" y="3031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提交至少 1 条 AI 协同记录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7200" y="3283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AI 生成的代码中你发现了什么问题、如何修正，附修改前后的对照。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936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9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W2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5840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908000"/>
            <a:ext cx="8640000" cy="19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 i="0">
                <a:solidFill>
                  <a:srgbClr val="0E3F8C"/>
                </a:solidFill>
                <a:latin typeface="Source Han Sans SC"/>
              </a:rPr>
              <a:t>「模型不会自己变好，
是你每一步都在正确地改它。」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3384000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280"/>
                </a:solidFill>
                <a:latin typeface="Source Han Sans SC"/>
              </a:rPr>
              <a:t>本周交付：一条手写的训练循环 + 一张能解释的损失曲线 + 一份形状踩坑记录。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4176000"/>
            <a:ext cx="792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F2937"/>
                </a:solidFill>
                <a:latin typeface="Source Han Sans SC"/>
              </a:rPr>
              <a:t>谢谢大家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4788000"/>
            <a:ext cx="10593719" cy="7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200" y="4903200"/>
            <a:ext cx="100897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下周预告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200" y="5094000"/>
            <a:ext cx="1008972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E3F8C"/>
                </a:solidFill>
                <a:latin typeface="Source Han Sans SC"/>
              </a:rPr>
              <a:t>W3 · 机器学习基础与 scikit-learn 工作流 —— 同一条直线，换一批工具，看框架替你做了什么、又替你藏了什么。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6494400"/>
            <a:ext cx="720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2 Lecture · 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