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19.svg" ContentType="image/svg+xml"/>
  <Override PartName="/ppt/slides/media/image2.svg" ContentType="image/svg+xml"/>
  <Override PartName="/ppt/slides/media/image20.svg" ContentType="image/svg+xml"/>
  <Override PartName="/ppt/slides/media/image21.svg" ContentType="image/svg+xml"/>
  <Override PartName="/ppt/slides/media/image22.svg" ContentType="image/svg+xml"/>
  <Override PartName="/ppt/slides/media/image23.svg" ContentType="image/svg+xml"/>
  <Override PartName="/ppt/slides/media/image24.svg" ContentType="image/svg+xml"/>
  <Override PartName="/ppt/slides/media/image25.svg" ContentType="image/svg+xml"/>
  <Override PartName="/ppt/slides/media/image26.svg" ContentType="image/svg+xml"/>
  <Override PartName="/ppt/slides/media/image27.svg" ContentType="image/svg+xml"/>
  <Override PartName="/ppt/slides/media/image28.svg" ContentType="image/svg+xml"/>
  <Override PartName="/ppt/slides/media/image29.svg" ContentType="image/svg+xml"/>
  <Override PartName="/ppt/slides/media/image3.svg" ContentType="image/svg+xml"/>
  <Override PartName="/ppt/slides/media/image30.svg" ContentType="image/svg+xml"/>
  <Override PartName="/ppt/slides/media/image31.svg" ContentType="image/svg+xml"/>
  <Override PartName="/ppt/slides/media/image32.svg" ContentType="image/svg+xml"/>
  <Override PartName="/ppt/slides/media/image33.svg" ContentType="image/svg+xml"/>
  <Override PartName="/ppt/slides/media/image34.svg" ContentType="image/svg+xml"/>
  <Override PartName="/ppt/slides/media/image35.svg" ContentType="image/svg+xml"/>
  <Override PartName="/ppt/slides/media/image36.svg" ContentType="image/svg+xml"/>
  <Override PartName="/ppt/slides/media/image37.svg" ContentType="image/svg+xml"/>
  <Override PartName="/ppt/slides/media/image38.svg" ContentType="image/svg+xml"/>
  <Override PartName="/ppt/slides/media/image39.svg" ContentType="image/svg+xml"/>
  <Override PartName="/ppt/slides/media/image4.svg" ContentType="image/svg+xml"/>
  <Override PartName="/ppt/slides/media/image40.svg" ContentType="image/svg+xml"/>
  <Override PartName="/ppt/slides/media/image41.svg" ContentType="image/svg+xml"/>
  <Override PartName="/ppt/slides/media/image42.svg" ContentType="image/svg+xml"/>
  <Override PartName="/ppt/slides/media/image43.svg" ContentType="image/svg+xml"/>
  <Override PartName="/ppt/slides/media/image44.svg" ContentType="image/svg+xml"/>
  <Override PartName="/ppt/slides/media/image45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tableStyles" Target="tableStyles.xml"/><Relationship Id="rId3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../media/image11.png" /></Relationships>
</file>

<file path=ppt/slides/_rels/slide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32.svg" /><Relationship Id="rId3" Type="http://schemas.openxmlformats.org/officeDocument/2006/relationships/image" Target="../media/image4.png" /><Relationship Id="rId4" Type="http://schemas.openxmlformats.org/officeDocument/2006/relationships/image" Target="../media/image32.png" /></Relationships>
</file>

<file path=ppt/slides/_rels/slide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3.svg" /><Relationship Id="rId2" Type="http://schemas.openxmlformats.org/officeDocument/2006/relationships/image" Target="media/image34.svg" /><Relationship Id="rId3" Type="http://schemas.openxmlformats.org/officeDocument/2006/relationships/image" Target="media/image35.svg" /><Relationship Id="rId4" Type="http://schemas.openxmlformats.org/officeDocument/2006/relationships/image" Target="media/image36.svg" /><Relationship Id="rId5" Type="http://schemas.openxmlformats.org/officeDocument/2006/relationships/image" Target="media/image37.svg" /><Relationship Id="rId6" Type="http://schemas.openxmlformats.org/officeDocument/2006/relationships/image" Target="media/image38.svg" /><Relationship Id="rId7" Type="http://schemas.openxmlformats.org/officeDocument/2006/relationships/image" Target="../media/image33.png" /><Relationship Id="rId8" Type="http://schemas.openxmlformats.org/officeDocument/2006/relationships/image" Target="../media/image34.png" /><Relationship Id="rId9" Type="http://schemas.openxmlformats.org/officeDocument/2006/relationships/image" Target="../media/image35.png" /><Relationship Id="rId10" Type="http://schemas.openxmlformats.org/officeDocument/2006/relationships/image" Target="../media/image36.png" /><Relationship Id="rId11" Type="http://schemas.openxmlformats.org/officeDocument/2006/relationships/image" Target="../media/image37.png" /><Relationship Id="rId12" Type="http://schemas.openxmlformats.org/officeDocument/2006/relationships/image" Target="../media/image38.png" /></Relationships>
</file>

<file path=ppt/slides/_rels/slide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9.svg" /><Relationship Id="rId2" Type="http://schemas.openxmlformats.org/officeDocument/2006/relationships/image" Target="media/image40.svg" /><Relationship Id="rId3" Type="http://schemas.openxmlformats.org/officeDocument/2006/relationships/image" Target="media/image41.svg" /><Relationship Id="rId4" Type="http://schemas.openxmlformats.org/officeDocument/2006/relationships/image" Target="../media/image39.png" /><Relationship Id="rId5" Type="http://schemas.openxmlformats.org/officeDocument/2006/relationships/image" Target="../media/image40.png" /><Relationship Id="rId6" Type="http://schemas.openxmlformats.org/officeDocument/2006/relationships/image" Target="../media/image41.png" /></Relationships>
</file>

<file path=ppt/slides/_rels/slide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2.svg" /><Relationship Id="rId2" Type="http://schemas.openxmlformats.org/officeDocument/2006/relationships/image" Target="media/image43.svg" /><Relationship Id="rId3" Type="http://schemas.openxmlformats.org/officeDocument/2006/relationships/image" Target="media/image44.svg" /><Relationship Id="rId4" Type="http://schemas.openxmlformats.org/officeDocument/2006/relationships/image" Target="../media/image42.png" /><Relationship Id="rId5" Type="http://schemas.openxmlformats.org/officeDocument/2006/relationships/image" Target="../media/image43.png" /><Relationship Id="rId6" Type="http://schemas.openxmlformats.org/officeDocument/2006/relationships/image" Target="../media/image44.png" /></Relationships>
</file>

<file path=ppt/slides/_rels/slide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5.svg" /><Relationship Id="rId2" Type="http://schemas.openxmlformats.org/officeDocument/2006/relationships/image" Target="../media/image45.png" /></Relationships>
</file>

<file path=ppt/slides/_rels/slide1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3" Type="http://schemas.openxmlformats.org/officeDocument/2006/relationships/image" Target="media/image3.svg" /><Relationship Id="rId4" Type="http://schemas.openxmlformats.org/officeDocument/2006/relationships/image" Target="../media/image1.png" /><Relationship Id="rId5" Type="http://schemas.openxmlformats.org/officeDocument/2006/relationships/image" Target="../media/image2.png" /><Relationship Id="rId6" Type="http://schemas.openxmlformats.org/officeDocument/2006/relationships/image" Target="../media/image3.png" /></Relationships>
</file>

<file path=ppt/slides/_rels/slide1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5.svg" /><Relationship Id="rId3" Type="http://schemas.openxmlformats.org/officeDocument/2006/relationships/image" Target="../media/image4.png" /><Relationship Id="rId4" Type="http://schemas.openxmlformats.org/officeDocument/2006/relationships/image" Target="../media/image5.png" /></Relationships>
</file>

<file path=ppt/slides/_rels/slide1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Relationship Id="rId2" Type="http://schemas.openxmlformats.org/officeDocument/2006/relationships/image" Target="../media/image6.png" /></Relationships>
</file>

<file path=ppt/slides/_rels/slide1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Relationship Id="rId2" Type="http://schemas.openxmlformats.org/officeDocument/2006/relationships/image" Target="media/image8.svg" /><Relationship Id="rId3" Type="http://schemas.openxmlformats.org/officeDocument/2006/relationships/image" Target="media/image9.svg" /><Relationship Id="rId4" Type="http://schemas.openxmlformats.org/officeDocument/2006/relationships/image" Target="media/image10.svg" /><Relationship Id="rId5" Type="http://schemas.openxmlformats.org/officeDocument/2006/relationships/image" Target="../media/image7.png" /><Relationship Id="rId6" Type="http://schemas.openxmlformats.org/officeDocument/2006/relationships/image" Target="../media/image8.png" /><Relationship Id="rId7" Type="http://schemas.openxmlformats.org/officeDocument/2006/relationships/image" Target="../media/image9.png" /><Relationship Id="rId8" Type="http://schemas.openxmlformats.org/officeDocument/2006/relationships/image" Target="../media/image10.png" /></Relationships>
</file>

<file path=ppt/slides/_rels/slide1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Relationship Id="rId2" Type="http://schemas.openxmlformats.org/officeDocument/2006/relationships/image" Target="../media/image6.png" /></Relationships>
</file>

<file path=ppt/slides/_rels/slide2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Relationship Id="rId2" Type="http://schemas.openxmlformats.org/officeDocument/2006/relationships/image" Target="media/image13.svg" /><Relationship Id="rId3" Type="http://schemas.openxmlformats.org/officeDocument/2006/relationships/image" Target="media/image14.svg" /><Relationship Id="rId4" Type="http://schemas.openxmlformats.org/officeDocument/2006/relationships/image" Target="media/image15.svg" /><Relationship Id="rId5" Type="http://schemas.openxmlformats.org/officeDocument/2006/relationships/image" Target="media/image16.svg" /><Relationship Id="rId6" Type="http://schemas.openxmlformats.org/officeDocument/2006/relationships/image" Target="../media/image12.png" /><Relationship Id="rId7" Type="http://schemas.openxmlformats.org/officeDocument/2006/relationships/image" Target="../media/image13.png" /><Relationship Id="rId8" Type="http://schemas.openxmlformats.org/officeDocument/2006/relationships/image" Target="../media/image14.png" /><Relationship Id="rId9" Type="http://schemas.openxmlformats.org/officeDocument/2006/relationships/image" Target="../media/image15.png" /><Relationship Id="rId10" Type="http://schemas.openxmlformats.org/officeDocument/2006/relationships/image" Target="../media/image16.png" /></Relationships>
</file>

<file path=ppt/slides/_rels/slide2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7.svg" /><Relationship Id="rId2" Type="http://schemas.openxmlformats.org/officeDocument/2006/relationships/image" Target="media/image13.svg" /><Relationship Id="rId3" Type="http://schemas.openxmlformats.org/officeDocument/2006/relationships/image" Target="media/image18.svg" /><Relationship Id="rId4" Type="http://schemas.openxmlformats.org/officeDocument/2006/relationships/image" Target="../media/image17.png" /><Relationship Id="rId5" Type="http://schemas.openxmlformats.org/officeDocument/2006/relationships/image" Target="../media/image13.png" /><Relationship Id="rId6" Type="http://schemas.openxmlformats.org/officeDocument/2006/relationships/image" Target="../media/image18.png" /></Relationships>
</file>

<file path=ppt/slides/_rels/slide2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svg" /><Relationship Id="rId2" Type="http://schemas.openxmlformats.org/officeDocument/2006/relationships/image" Target="media/image20.svg" /><Relationship Id="rId3" Type="http://schemas.openxmlformats.org/officeDocument/2006/relationships/image" Target="media/image21.svg" /><Relationship Id="rId4" Type="http://schemas.openxmlformats.org/officeDocument/2006/relationships/image" Target="media/image22.svg" /><Relationship Id="rId5" Type="http://schemas.openxmlformats.org/officeDocument/2006/relationships/image" Target="media/image23.svg" /><Relationship Id="rId6" Type="http://schemas.openxmlformats.org/officeDocument/2006/relationships/image" Target="media/image6.svg" /><Relationship Id="rId7" Type="http://schemas.openxmlformats.org/officeDocument/2006/relationships/image" Target="../media/image19.png" /><Relationship Id="rId8" Type="http://schemas.openxmlformats.org/officeDocument/2006/relationships/image" Target="../media/image20.png" /><Relationship Id="rId9" Type="http://schemas.openxmlformats.org/officeDocument/2006/relationships/image" Target="../media/image21.png" /><Relationship Id="rId10" Type="http://schemas.openxmlformats.org/officeDocument/2006/relationships/image" Target="../media/image22.png" /><Relationship Id="rId11" Type="http://schemas.openxmlformats.org/officeDocument/2006/relationships/image" Target="../media/image23.png" /><Relationship Id="rId12" Type="http://schemas.openxmlformats.org/officeDocument/2006/relationships/image" Target="../media/image6.png" /></Relationships>
</file>

<file path=ppt/slides/_rels/slide2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4.svg" /><Relationship Id="rId2" Type="http://schemas.openxmlformats.org/officeDocument/2006/relationships/image" Target="media/image25.svg" /><Relationship Id="rId3" Type="http://schemas.openxmlformats.org/officeDocument/2006/relationships/image" Target="media/image26.svg" /><Relationship Id="rId4" Type="http://schemas.openxmlformats.org/officeDocument/2006/relationships/image" Target="../media/image24.png" /><Relationship Id="rId5" Type="http://schemas.openxmlformats.org/officeDocument/2006/relationships/image" Target="../media/image25.png" /><Relationship Id="rId6" Type="http://schemas.openxmlformats.org/officeDocument/2006/relationships/image" Target="../media/image26.png" /></Relationships>
</file>

<file path=ppt/slides/_rels/slide2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7.svg" /><Relationship Id="rId2" Type="http://schemas.openxmlformats.org/officeDocument/2006/relationships/image" Target="media/image4.svg" /><Relationship Id="rId3" Type="http://schemas.openxmlformats.org/officeDocument/2006/relationships/image" Target="media/image28.svg" /><Relationship Id="rId4" Type="http://schemas.openxmlformats.org/officeDocument/2006/relationships/image" Target="media/image29.svg" /><Relationship Id="rId5" Type="http://schemas.openxmlformats.org/officeDocument/2006/relationships/image" Target="media/image30.svg" /><Relationship Id="rId6" Type="http://schemas.openxmlformats.org/officeDocument/2006/relationships/image" Target="../media/image27.png" /><Relationship Id="rId7" Type="http://schemas.openxmlformats.org/officeDocument/2006/relationships/image" Target="../media/image4.png" /><Relationship Id="rId8" Type="http://schemas.openxmlformats.org/officeDocument/2006/relationships/image" Target="../media/image28.png" /><Relationship Id="rId9" Type="http://schemas.openxmlformats.org/officeDocument/2006/relationships/image" Target="../media/image29.png" /><Relationship Id="rId10" Type="http://schemas.openxmlformats.org/officeDocument/2006/relationships/image" Target="../media/image30.png" /></Relationships>
</file>

<file path=ppt/slides/_rels/slide3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27.svg" /><Relationship Id="rId3" Type="http://schemas.openxmlformats.org/officeDocument/2006/relationships/image" Target="media/image30.svg" /><Relationship Id="rId4" Type="http://schemas.openxmlformats.org/officeDocument/2006/relationships/image" Target="media/image31.svg" /><Relationship Id="rId5" Type="http://schemas.openxmlformats.org/officeDocument/2006/relationships/image" Target="../media/image4.png" /><Relationship Id="rId6" Type="http://schemas.openxmlformats.org/officeDocument/2006/relationships/image" Target="../media/image27.png" /><Relationship Id="rId7" Type="http://schemas.openxmlformats.org/officeDocument/2006/relationships/image" Target="../media/image30.png" /><Relationship Id="rId8" Type="http://schemas.openxmlformats.org/officeDocument/2006/relationships/image" Target="../media/image31.png" /></Relationships>
</file>

<file path=ppt/slides/_rels/slide3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02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Data Handling Fundamentals for AI&#10;      &lt;/Text&gt;&#10;      &lt;Text style={{ fontSize: 74, fontWeight: 'bold', color: '#0E3F8C', lineHeight: 1.15, marginTop: 10 }}&gt;AI 数据处理基础&lt;/Text&gt;&#10;      &lt;Text style={{ fontSize: 25, color: '#1A2230', marginTop: 16 }}&gt;&#10;        Week 2 · 数据、工具与探索分析&#10;        &lt;span style={{ color: '#8B97A8' }}&gt;NumPy · Pandas · Visualization · EDA&lt;/span&gt;&#10;      &lt;/Text&gt;&#10;    &lt;/Box&gt;&#10;    &lt;Box&gt;&#10;      &lt;Box style={{ flexDirection: 'row', gap: 14, flexWrap: 'wrap' }}&gt;&#10;        {['Module 1 · W2–4', '180 min · Lecture + Lab + Quiz', 'Python · NumPy · Pandas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2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Source Han Sans SC"/>
                <a:ea typeface="Source Han Sans SC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Data Handling Fundamentals for AI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5550" b="1">
                <a:solidFill>
                  <a:srgbClr val="0E3F8C"/>
                </a:solidFill>
                <a:latin typeface="Source Han Sans SC"/>
                <a:ea typeface="Source Han Sans SC"/>
              </a:rPr>
              <a:t>数据处理基础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Source Han Sans SC"/>
                <a:ea typeface="Source Han Sans SC"/>
              </a:rPr>
              <a:t>Week 2 · </a:t>
            </a:r>
            <a:r>
              <a:rPr lang="zh-CN" sz="1875">
                <a:solidFill>
                  <a:srgbClr val="1A2230"/>
                </a:solidFill>
                <a:latin typeface="Source Han Sans SC"/>
                <a:ea typeface="Source Han Sans SC"/>
              </a:rPr>
              <a:t>数据、工具与探索分析</a:t>
            </a:r>
            <a:r>
              <a:rPr lang="en-US" sz="1875">
                <a:solidFill>
                  <a:srgbClr val="8B97A8"/>
                </a:solidFill>
                <a:latin typeface="Source Han Sans SC"/>
                <a:ea typeface="Source Han Sans SC"/>
              </a:rPr>
              <a:t>NumPy · Pandas · Visualization · EDA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6287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285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Module 1 · W2–4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562225" y="5295900"/>
            <a:ext cx="26193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733675" y="5362575"/>
            <a:ext cx="2276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180 min · Lecture + Lab + Quiz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314950" y="5295900"/>
            <a:ext cx="22574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486400" y="53625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Python · NumPy · Pandas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70572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87717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57250" y="5962650"/>
            <a:ext cx="304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39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 · 目录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28 }}&gt;&#10;    &lt;Box style={{ width: 300, background: '#F0F5FC', borderRadius: 14, padding: '30px 26px', justifyContent: 'center', border: '1px solid #D6DCE5' }}&gt;&#10;      &lt;Text style={{ fontSize: 34, color: '#0E3F8C', fontWeight: 'bold' }}&gt;5 部分&lt;/Text&gt;&#10;      &lt;Text style={{ fontSize: 16, color: '#4A5568', marginTop: 8 }}&gt;Part&lt;/Text&gt;&#10;      &lt;Box style={{ width: '100%', height: 2, background: '#D6DCE5', marginTop: 18 }} /&gt;&#10;      &lt;Text style={{ fontSize: 16, color: '#1A2230', lineHeight: 1.7, marginTop: 16 }}&gt;&#10;        模型之前，先过&lt;b&gt;数据关&lt;/b&gt;——&#10;        &lt;br /&gt;&#10;        本周是动手处理数据的第一课。&#10;        &lt;span style={{ color: '#8B97A8', fontSize: 14 }}&gt;Before models, master data.&lt;/span&gt;&#10;      &lt;/Text&gt;&#10;      &lt;Box style={{ background: '#0E3F8C', borderRadius: 10, padding: '10px 14px', marginTop: 16 }}&gt;&#10;        &lt;Text style={{ fontSize: 13.5, color: '#FFFFFF', lineHeight: 1.6 }}&gt;理论约 90 min · Lab 约 75 min · 小测与小结 15 min&lt;/Text&gt;&#10;      &lt;/Box&gt;&#10;    &lt;/Box&gt;&#10;    &lt;Box style={{ flex: 1, justifyContent: 'center', gap: 0 }}&gt;&#10;      {[&#10;        { n: '01', zh: '数据为王', en: 'Why Data', d: '角色 · 类型与来源 · 质量六维度 · 坏数据案例' },&#10;        { n: '02', zh: 'NumPy 与 Pandas', en: 'Core Tools', d: '数组 vs 表格 · 向量化 · 索引切片 · 实战速查' },&#10;        { n: '03', zh: '可视化与 EDA', en: 'Visualization &amp; EDA', d: '图表选型 · 探索五步法 · Titanic 走查' },&#10;        { n: '04', zh: '数据清洗', en: 'Data Cleaning', d: '六步流程 · 缺失值决策 · 异常值三法 · GIGO' },&#10;        { n: '05', zh: 'Lab · Titanic 实战', en: 'Hands-On Lab', d: '热身 → 探索 → 可视化 → 清洗 → 交付 · 含小测' },&#10;      ].map((it, i) =&gt; (&#10;        &lt;Box key={i} style={{ flexDirection: 'row', alignItems: 'center', gap: 20, padding: '13px 8px', borderBottom: i &lt; 4 ? '1px solid #E5E7EB' : 'none' }}&gt;&#10;          &lt;Box style={{ width: 52, height: 52, borderRadius: 12, background: i === 4 ? '#0E3F8C' : '#1E4FA8', justifyContent: 'center', alignItems: 'center' }}&gt;&#10;            &lt;Text style={{ fontSize: 20, color: '#FFFFFF', fontWeight: 'bold' }}&gt;{it.n}&lt;/Text&gt;&#10;          &lt;/Box&gt;&#10;          &lt;Box style={{ flex: 1 }}&gt;&#10;            &lt;Box style={{ flexDirection: 'row', alignItems: 'baseline', gap: 12 }}&gt;&#10;              &lt;Text style={{ fontSize: 24, color: '#1A2230', fontWeight: 'bold' }}&gt;{it.zh}&lt;/Text&gt;&#10;              &lt;Text style={{ fontSize: 17, color: '#8B97A8', fontWeight: '600' }}&gt;{it.en}&lt;/Text&gt;&#10;            &lt;/Box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Contents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目录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436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1047750" y="216217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2550" b="1">
                <a:solidFill>
                  <a:srgbClr val="0E3F8C"/>
                </a:solidFill>
                <a:latin typeface="Source Han Sans SC"/>
                <a:ea typeface="Source Han Sans SC"/>
              </a:rPr>
              <a:t>部分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47750" y="262890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SC"/>
                <a:ea typeface="Source Han Sans SC"/>
              </a:rPr>
              <a:t>Part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1047750" y="299085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047750" y="3162300"/>
            <a:ext cx="23622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模型之前，先过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数据关</a:t>
            </a:r>
            <a:r>
              <a:rPr sz="1200">
                <a:solidFill>
                  <a:srgbClr val="1A2230"/>
                </a:solidFill>
                <a:latin typeface="Source Han Sans SC"/>
                <a:ea typeface="Source Han Sans SC"/>
              </a:rPr>
              <a:t>——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本周是动手处理数据的第一课。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Before models, master data.</a:t>
            </a:r>
            <a:endParaRPr/>
          </a:p>
        </p:txBody>
      </p:sp>
      <p:sp>
        <p:nvSpPr>
          <p:cNvPr id="441" name=""/>
          <p:cNvSpPr/>
          <p:nvPr/>
        </p:nvSpPr>
        <p:spPr>
          <a:xfrm rot="0" flipH="0" flipV="0">
            <a:off x="1047750" y="4210050"/>
            <a:ext cx="2362200" cy="685800"/>
          </a:xfrm>
          <a:prstGeom prst="roundRect">
            <a:avLst>
              <a:gd name="adj" fmla="val 1388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81100" y="4305300"/>
            <a:ext cx="2095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理论约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90 min · Lab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约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75 min ·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小测与小结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15 min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44" name=""/>
          <p:cNvSpPr/>
          <p:nvPr/>
        </p:nvSpPr>
        <p:spPr>
          <a:xfrm rot="0" flipH="0" flipV="0">
            <a:off x="4000500" y="17716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152900" y="1905000"/>
            <a:ext cx="20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4686300" y="179070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数据为王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5715000" y="1790700"/>
            <a:ext cx="752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Why Data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4686300" y="20859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角色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类型与来源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质量六维度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坏数据案例</a:t>
            </a:r>
            <a:endParaRPr/>
          </a:p>
        </p:txBody>
      </p:sp>
      <p:pic>
        <p:nvPicPr>
          <p:cNvPr id="44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50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4000500" y="252412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4133850" y="2657475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4686300" y="2543175"/>
            <a:ext cx="1962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 Pandas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6762750" y="2543175"/>
            <a:ext cx="847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Core Tools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4686300" y="283845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vs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表格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向量化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索引切片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实战速查</a:t>
            </a:r>
            <a:endParaRPr/>
          </a:p>
        </p:txBody>
      </p:sp>
      <p:pic>
        <p:nvPicPr>
          <p:cNvPr id="45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57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4000500" y="327660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4133850" y="3409950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4686300" y="3295650"/>
            <a:ext cx="145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可视化与</a:t>
            </a: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 EDA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257925" y="3295650"/>
            <a:ext cx="1543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Visualization &amp; EDA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4686300" y="359092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图表选型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探索五步法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Titanic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走查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64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4000500" y="402907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4133850" y="4162425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4686300" y="404812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数据清洗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5715000" y="4048125"/>
            <a:ext cx="1095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Data Cleaning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686300" y="434340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六步流程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缺失值决策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异常值三法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GIGO</a:t>
            </a:r>
            <a:endParaRPr/>
          </a:p>
        </p:txBody>
      </p:sp>
      <p:pic>
        <p:nvPicPr>
          <p:cNvPr id="47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71" name=""/>
          <p:cNvSpPr/>
          <p:nvPr/>
        </p:nvSpPr>
        <p:spPr>
          <a:xfrm rot="0" flipH="0" flipV="0">
            <a:off x="4000500" y="47815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133850" y="4914900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4686300" y="4800600"/>
            <a:ext cx="195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Lab · Titanic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实战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753225" y="4800600"/>
            <a:ext cx="1152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Hands-On Lab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4686300" y="50958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热身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探索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可视化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清洗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交付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含小测</a:t>
            </a:r>
            <a:endParaRPr/>
          </a:p>
        </p:txBody>
      </p:sp>
      <p:pic>
        <p:nvPicPr>
          <p:cNvPr id="47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48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数据为王&lt;/Text&gt;&#10;        &lt;Text style={{ fontSize: 26, color: '#8B97A8', fontWeight: '600', marginTop: 6 }}&gt;Why Data Matters&lt;/Text&gt;&#10;      &lt;/Box&gt;&#10;    &lt;/Box&gt;&#10;    &lt;Box style={{ flexDirection: 'row', gap: 24 }}&gt;&#10;      {[&#10;        { t: '数据是燃料', e: 'Data is Fuel' },&#10;        { t: '质量六维度', e: '6 Quality Dimensions' },&#10;        { t: '缺陷会放大', e: 'Flaws Amplify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85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1181100" y="1314450"/>
            <a:ext cx="6000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133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数据为王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133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Why Data Matters</a:t>
            </a:r>
            <a:endParaRPr/>
          </a:p>
        </p:txBody>
      </p:sp>
      <p:sp>
        <p:nvSpPr>
          <p:cNvPr id="85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数据是燃料</a:t>
            </a:r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Data is Fuel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质量六维度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 Quality Dimensions</a:t>
            </a:r>
            <a:endParaRPr/>
          </a:p>
        </p:txBody>
      </p:sp>
      <p:sp>
        <p:nvSpPr>
          <p:cNvPr id="86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缺陷会放大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Flaws Amplify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5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上周回顾与本周地图 · Review &amp;amp; Roadmap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, gap: 12 }}&gt;&#10;      &lt;Text style={{ fontSize: 18, color: '#8B97A8', fontWeight: '600' }}&gt;Week 1 · 你应该还记得&lt;/Text&gt;&#10;      {[&#10;        { t: 'AI ⊃ ML ⊃ DL ⊃ GenAI', d: '判断三连问：学数据？神经网络？生成内容？' },&#10;        { t: 'AI 项目生命周期六阶段', d: '问题定义 → 数据 → 建模 → 评估 → 部署 → 监控' },&#10;        { t: '80% 法则', d: '大部分工作量在数据与工程，不在训练模型' },&#10;        { t: '环境就绪', d: 'conda ai-app 环境 · Jupyter/Colab · Git 推送' },&#10;        { t: '第一个 ML 程序', d: 'Iris 分类：fit → predict → evaluate' },&#10;      ].map((r, i) =&gt; (&#10;        &lt;Box key={i} style={{ flexDirection: 'row', gap: 12, alignItems: 'flex-start', background: '#F7F9FC', border: '1px solid #E5E7EB', borderRadius: 10, padding: '11px 16px' }}&gt;&#10;          &lt;FAIcon name='check-circle' style={{ fill: '#1E4FA8', width: 20, height: 20, marginTop: 2 }} /&gt;&#10;          &lt;Box style={{ flex: 1 }}&gt;&#10;            &lt;Text style={{ fontSize: 16, color: '#1A2230', fontWeight: 'bold' }}&gt;{r.t}&lt;/Text&gt;&#10;            &lt;Text style={{ fontSize: 13.5, color: '#4A5568', marginTop: 1 }}&gt;{r.d}&lt;/Text&gt;&#10;          &lt;/Box&gt;&#10;        &lt;/Box&gt;&#10;      ))}&#10;    &lt;/Box&gt;&#10;    &lt;Box style={{ width: 480, gap: 14, flexShrink: 0 }}&gt;&#10;      &lt;Text style={{ fontSize: 18, color: '#8B97A8', fontWeight: '600' }}&gt;Module 1 · 四周走位&lt;/Text&gt;&#10;      &lt;Box style={{ background: '#F0F5FC', border: '1px solid #D6DCE5', borderRadius: 14, padding: '20px 22px', gap: 10 }}&gt;&#10;        {[&#10;          { w: 'W1', t: '导论与环境', s: 'done' },&#10;          { w: 'W2', t: '数据处理基础（今天）', s: 'now' },&#10;          { w: 'W3', t: '机器学习与 scikit-learn', s: 'next' },&#10;          { w: 'W4', t: '模型评估与调优', s: 'next' },&#10;        ].map((r, i) =&gt; (&#10;          &lt;Box key={i} style={{ flexDirection: 'row', alignItems: 'center', gap: 12 }}&gt;&#10;            &lt;Box style={{ width: 44, height: 30, borderRadius: 8, background: r.s === 'now' ? '#0E3F8C' : r.s === 'done' ? '#1E4FA8' : '#E8EFF8', justifyContent: 'center', alignItems: 'center', flexShrink: 0 }}&gt;&#10;              &lt;Text style={{ fontSize: 13.5, color: r.s === 'next' ? '#1E4FA8' : '#FFFFFF', fontWeight: 'bold' }}&gt;{r.w}&lt;/Text&gt;&#10;            &lt;/Box&gt;&#10;            &lt;Text style={{ fontSize: 15, color: r.s === 'now' ? '#0E3F8C' : '#4A5568', fontWeight: r.s === 'now' ? 'bold' : '400' }}&gt;{r.t}&lt;/Text&gt;&#10;            {r.s === 'done' &amp;&amp; &lt;FAIcon name='check' style={{ fill: '#1E4FA8', width: 15, height: 15 }} /&gt;}&#10;            {r.s === 'now' &amp;&amp; &lt;Box style={{ background: '#0E3F8C', borderRadius: 10, padding: '2px 10px' }}&gt;&lt;Text style={{ fontSize: 12, color: '#FFFFFF', fontWeight: 'bold' }}&gt;NOW&lt;/Text&gt;&lt;/Box&gt;}&#10;          &lt;/Box&gt;&#10;        ))}&#10;      &lt;/Box&gt;&#10;      &lt;Box style={{ background: '#0E3F8C', borderRadius: 14, padding: '18px 22px' }}&gt;&#10;        &lt;Text style={{ fontSize: 17, color: '#FFFFFF', fontWeight: 'bold' }}&gt;今天三件事&lt;/Text&gt;&#10;        {['会用 NumPy / Pandas 操作数据', '会画图、会做 EDA 五步侦察', '会清洗缺失、异常与重复'].map((t, i) =&gt; (&#10;          &lt;Box key={i} style={{ flexDirection: 'row', gap: 10, alignItems: 'center', marginTop: 10 }}&gt;&#10;            &lt;Box style={{ width: 24, height: 24, borderRadius: 7, background: 'rgba(255,255,255,0.18)', justifyContent: 'center', alignItems: 'center' }}&gt;&#10;              &lt;Text style={{ fontSize: 13, color: '#FFC107', fontWeight: 'bold' }}&gt;{i + 1}&lt;/Text&gt;&#10;            &lt;/Box&gt;&#10;            &lt;Text style={{ fontSize: 15, color: 'rgba(255,255,255,0.92)'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上周回顾与本周地图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Review &amp; Roadmap</a:t>
            </a:r>
            <a:endParaRPr/>
          </a:p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800100" y="1681762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Week 1 ·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你应该还记得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800100" y="20056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64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129437"/>
            <a:ext cx="190500" cy="190500"/>
          </a:xfrm>
          <a:prstGeom prst="rect">
            <a:avLst/>
          </a:prstGeom>
          <a:ln/>
        </p:spPr>
      </p:pic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1257300" y="21103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AI ⊃ ML ⊃ DL ⊃ GenAI</a:t>
            </a:r>
            <a:endParaRPr/>
          </a:p>
        </p:txBody>
      </p:sp>
      <p:sp>
        <p:nvSpPr>
          <p:cNvPr id="966" name="" descr="{&quot;isTemplate&quot;:true,&quot;type&quot;:&quot;text&quot;}"/>
          <p:cNvSpPr txBox="1"/>
          <p:nvPr/>
        </p:nvSpPr>
        <p:spPr>
          <a:xfrm rot="0" flipH="0" flipV="0">
            <a:off x="1257300" y="23104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判断三连问：学数据？神经网络？生成内容？</a:t>
            </a:r>
            <a:endParaRPr/>
          </a:p>
        </p:txBody>
      </p:sp>
      <p:sp>
        <p:nvSpPr>
          <p:cNvPr id="967" name=""/>
          <p:cNvSpPr/>
          <p:nvPr/>
        </p:nvSpPr>
        <p:spPr>
          <a:xfrm rot="0" flipH="0" flipV="0">
            <a:off x="800100" y="26914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68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815237"/>
            <a:ext cx="190500" cy="190500"/>
          </a:xfrm>
          <a:prstGeom prst="rect">
            <a:avLst/>
          </a:prstGeom>
          <a:ln/>
        </p:spPr>
      </p:pic>
      <p:sp>
        <p:nvSpPr>
          <p:cNvPr id="969" name="" descr="{&quot;isTemplate&quot;:true,&quot;type&quot;:&quot;text&quot;}"/>
          <p:cNvSpPr txBox="1"/>
          <p:nvPr/>
        </p:nvSpPr>
        <p:spPr>
          <a:xfrm rot="0" flipH="0" flipV="0">
            <a:off x="1257300" y="27961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项目生命周期六阶段</a:t>
            </a:r>
            <a:endParaRPr/>
          </a:p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1257300" y="29962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问题定义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建模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评估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部署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监控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800100" y="33772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72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3501037"/>
            <a:ext cx="190500" cy="190500"/>
          </a:xfrm>
          <a:prstGeom prst="rect">
            <a:avLst/>
          </a:prstGeom>
          <a:ln/>
        </p:spPr>
      </p:pic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1257300" y="34819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80%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974" name="" descr="{&quot;isTemplate&quot;:true,&quot;type&quot;:&quot;text&quot;}"/>
          <p:cNvSpPr txBox="1"/>
          <p:nvPr/>
        </p:nvSpPr>
        <p:spPr>
          <a:xfrm rot="0" flipH="0" flipV="0">
            <a:off x="1257300" y="36820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大部分工作量在数据与工程，不在训练模型</a:t>
            </a:r>
            <a:endParaRPr/>
          </a:p>
        </p:txBody>
      </p:sp>
      <p:sp>
        <p:nvSpPr>
          <p:cNvPr id="975" name=""/>
          <p:cNvSpPr/>
          <p:nvPr/>
        </p:nvSpPr>
        <p:spPr>
          <a:xfrm rot="0" flipH="0" flipV="0">
            <a:off x="800100" y="40630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76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186837"/>
            <a:ext cx="190500" cy="190500"/>
          </a:xfrm>
          <a:prstGeom prst="rect">
            <a:avLst/>
          </a:prstGeom>
          <a:ln/>
        </p:spPr>
      </p:pic>
      <p:sp>
        <p:nvSpPr>
          <p:cNvPr id="977" name="" descr="{&quot;isTemplate&quot;:true,&quot;type&quot;:&quot;text&quot;}"/>
          <p:cNvSpPr txBox="1"/>
          <p:nvPr/>
        </p:nvSpPr>
        <p:spPr>
          <a:xfrm rot="0" flipH="0" flipV="0">
            <a:off x="1257300" y="41677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环境就绪</a:t>
            </a:r>
            <a:endParaRPr/>
          </a:p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1257300" y="43678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conda ai-app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环境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Jupyter/Colab · Git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979" name=""/>
          <p:cNvSpPr/>
          <p:nvPr/>
        </p:nvSpPr>
        <p:spPr>
          <a:xfrm rot="0" flipH="0" flipV="0">
            <a:off x="800100" y="47488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80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872637"/>
            <a:ext cx="190500" cy="190500"/>
          </a:xfrm>
          <a:prstGeom prst="rect">
            <a:avLst/>
          </a:prstGeom>
          <a:ln/>
        </p:spPr>
      </p:pic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1257300" y="48535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第一个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ML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程序</a:t>
            </a:r>
            <a:endParaRPr/>
          </a:p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1257300" y="50536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Iris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分类：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fit → predict → evaluate</a:t>
            </a:r>
            <a:endParaRPr/>
          </a:p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6819900" y="1681762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Module 1 ·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四周走位</a:t>
            </a:r>
            <a:endParaRPr/>
          </a:p>
        </p:txBody>
      </p:sp>
      <p:sp>
        <p:nvSpPr>
          <p:cNvPr id="984" name=""/>
          <p:cNvSpPr/>
          <p:nvPr/>
        </p:nvSpPr>
        <p:spPr>
          <a:xfrm rot="0" flipH="0" flipV="0">
            <a:off x="6819900" y="2024662"/>
            <a:ext cx="4572000" cy="1809750"/>
          </a:xfrm>
          <a:prstGeom prst="roundRect">
            <a:avLst>
              <a:gd name="adj" fmla="val 736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85" name=""/>
          <p:cNvSpPr/>
          <p:nvPr/>
        </p:nvSpPr>
        <p:spPr>
          <a:xfrm rot="0" flipH="0" flipV="0">
            <a:off x="7029450" y="2215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7153275" y="2281837"/>
            <a:ext cx="180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7562850" y="2272312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导论与环境</a:t>
            </a:r>
            <a:endParaRPr/>
          </a:p>
        </p:txBody>
      </p:sp>
      <p:pic>
        <p:nvPicPr>
          <p:cNvPr id="988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391525" y="2291362"/>
            <a:ext cx="142875" cy="142875"/>
          </a:xfrm>
          <a:prstGeom prst="rect">
            <a:avLst/>
          </a:prstGeom>
          <a:ln/>
        </p:spPr>
      </p:pic>
      <p:sp>
        <p:nvSpPr>
          <p:cNvPr id="989" name=""/>
          <p:cNvSpPr/>
          <p:nvPr/>
        </p:nvSpPr>
        <p:spPr>
          <a:xfrm rot="0" flipH="0" flipV="0">
            <a:off x="7029450" y="2596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7143750" y="2662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7562850" y="2653312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数据处理基础（今天）</a:t>
            </a:r>
            <a:endParaRPr/>
          </a:p>
        </p:txBody>
      </p:sp>
      <p:sp>
        <p:nvSpPr>
          <p:cNvPr id="992" name=""/>
          <p:cNvSpPr/>
          <p:nvPr/>
        </p:nvSpPr>
        <p:spPr>
          <a:xfrm rot="0" flipH="0" flipV="0">
            <a:off x="9105900" y="2653312"/>
            <a:ext cx="476250" cy="180975"/>
          </a:xfrm>
          <a:prstGeom prst="roundRect">
            <a:avLst>
              <a:gd name="adj" fmla="val 5263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3" name="" descr="{&quot;isTemplate&quot;:true,&quot;type&quot;:&quot;text&quot;}"/>
          <p:cNvSpPr txBox="1"/>
          <p:nvPr/>
        </p:nvSpPr>
        <p:spPr>
          <a:xfrm rot="0" flipH="0" flipV="0">
            <a:off x="9201150" y="2672362"/>
            <a:ext cx="28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NOW</a:t>
            </a:r>
            <a:endParaRPr/>
          </a:p>
        </p:txBody>
      </p:sp>
      <p:sp>
        <p:nvSpPr>
          <p:cNvPr id="994" name=""/>
          <p:cNvSpPr/>
          <p:nvPr/>
        </p:nvSpPr>
        <p:spPr>
          <a:xfrm rot="0" flipH="0" flipV="0">
            <a:off x="7029450" y="2977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7143750" y="3043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W3</a:t>
            </a:r>
            <a:endParaRPr/>
          </a:p>
        </p:txBody>
      </p:sp>
      <p:sp>
        <p:nvSpPr>
          <p:cNvPr id="996" name="" descr="{&quot;isTemplate&quot;:true,&quot;type&quot;:&quot;text&quot;}"/>
          <p:cNvSpPr txBox="1"/>
          <p:nvPr/>
        </p:nvSpPr>
        <p:spPr>
          <a:xfrm rot="0" flipH="0" flipV="0">
            <a:off x="7562850" y="3034312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机器学习与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scikit-learn</a:t>
            </a:r>
            <a:endParaRPr/>
          </a:p>
        </p:txBody>
      </p:sp>
      <p:sp>
        <p:nvSpPr>
          <p:cNvPr id="997" name=""/>
          <p:cNvSpPr/>
          <p:nvPr/>
        </p:nvSpPr>
        <p:spPr>
          <a:xfrm rot="0" flipH="0" flipV="0">
            <a:off x="7029450" y="3358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7143750" y="3424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W4</a:t>
            </a:r>
            <a:endParaRPr/>
          </a:p>
        </p:txBody>
      </p:sp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7562850" y="3415312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模型评估与调优</a:t>
            </a:r>
            <a:endParaRPr/>
          </a:p>
        </p:txBody>
      </p:sp>
      <p:sp>
        <p:nvSpPr>
          <p:cNvPr id="1000" name=""/>
          <p:cNvSpPr/>
          <p:nvPr/>
        </p:nvSpPr>
        <p:spPr>
          <a:xfrm rot="0" flipH="0" flipV="0">
            <a:off x="6819900" y="3967762"/>
            <a:ext cx="4572000" cy="1514475"/>
          </a:xfrm>
          <a:prstGeom prst="roundRect">
            <a:avLst>
              <a:gd name="adj" fmla="val 88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7029450" y="4139212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今天三件事</a:t>
            </a:r>
            <a:endParaRPr/>
          </a:p>
        </p:txBody>
      </p:sp>
      <p:sp>
        <p:nvSpPr>
          <p:cNvPr id="1002" name=""/>
          <p:cNvSpPr/>
          <p:nvPr/>
        </p:nvSpPr>
        <p:spPr>
          <a:xfrm rot="0" flipH="0" flipV="0">
            <a:off x="7029450" y="44344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3" name="" descr="{&quot;isTemplate&quot;:true,&quot;type&quot;:&quot;text&quot;}"/>
          <p:cNvSpPr txBox="1"/>
          <p:nvPr/>
        </p:nvSpPr>
        <p:spPr>
          <a:xfrm rot="0" flipH="0" flipV="0">
            <a:off x="7115175" y="4472587"/>
            <a:ext cx="57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7353300" y="4463062"/>
            <a:ext cx="2076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会用</a:t>
            </a:r>
            <a:r>
              <a:rPr lang="en-US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NumPy / Pandas </a:t>
            </a: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操作数据</a:t>
            </a:r>
            <a:endParaRPr/>
          </a:p>
        </p:txBody>
      </p:sp>
      <p:sp>
        <p:nvSpPr>
          <p:cNvPr id="1005" name=""/>
          <p:cNvSpPr/>
          <p:nvPr/>
        </p:nvSpPr>
        <p:spPr>
          <a:xfrm rot="0" flipH="0" flipV="0">
            <a:off x="7029450" y="475833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7105650" y="479643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7353300" y="4786912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会画图、会做</a:t>
            </a:r>
            <a:r>
              <a:rPr lang="en-US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EDA </a:t>
            </a: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五步侦察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7029450" y="50821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7105650" y="51202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7353300" y="5110762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会清洗缺失、异常与重复</a:t>
            </a:r>
            <a:endParaRPr/>
          </a:p>
        </p:txBody>
      </p:sp>
      <p:sp>
        <p:nvSpPr>
          <p:cNvPr id="101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012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数据的角色与质量 · The Role &amp;amp; Quality of Data&lt;/Text&gt;&#10;    &lt;Text style={{ fontSize: 15, color: 'rgba(255,255,255,0.85)' }}&gt;Module 1 · Week 2&lt;/Text&gt;&#10;  &lt;/Box&gt;&#10;  &lt;Box style={{ position: 'absolute', top: 100, left: 0, width: '100%', height: 540, padding: '6px 84px', flexDirection: 'row', gap: 26 }}&gt;&#10;    &lt;Box style={{ flex: 1, gap: 14, justifyContent: 'center' }}&gt;&#10;      &lt;Text style={{ fontSize: 18, color: '#8B97A8', fontWeight: '600', marginBottom: 2 }}&gt;模型从数据中学到一切 · Models learn everything from data&lt;/Text&gt;&#10;      &lt;Box style={{ background: '#F7F9FC', border: '1px solid #E5E7EB', borderLeft: '5px solid #1E4FA8', borderRadius: 10, padding: '16px 20px' }}&gt;&#10;        &lt;Text style={{ fontSize: 17, color: '#1A2230', lineHeight: 1.65 }}&gt;&#10;          没有&lt;span style={{ fontWeight: 'bold', color: '#0E3F8C' }}&gt;好数据&lt;/span&gt;，再先进的算法也只能学到&lt;span style={{ fontWeight: 'bold', color: '#0E3F8C' }}&gt;偏差与噪声&lt;/span&gt;。&#10;          数据决定了模型能力的&lt;span style={{ fontWeight: 'bold', color: '#0E3F8C' }}&gt;上限&lt;/span&gt;，算法只是逼近这个上限。&#10;        &lt;/Text&gt;&#10;        &lt;Text style={{ fontSize: 13.5, color: '#8B97A8', marginTop: 8 }}&gt;Data sets the ceiling; algorithms only approach it.&lt;/Text&gt;&#10;      &lt;/Box&gt;&#10;      &lt;Box style={{ background: '#F0F5FC', border: '1px solid #D6DCE5', borderRadius: 10, padding: '14px 20px' }}&gt;&#10;        &lt;Text style={{ fontSize: 15, color: '#1A2230', lineHeight: 1.6 }}&gt;&#10;          &lt;span style={{ fontWeight: 'bold', color: '#1E4FA8' }}&gt;AI 项目的数据工作流：&lt;/span&gt;&#10;          原始数据 &lt;FAIcon name='arrow-right' style={{ fill: '#8B97A8', width: 13, height: 13 }} /&gt; 清洗 &lt;FAIcon name='arrow-right' style={{ fill: '#8B97A8', width: 13, height: 13 }} /&gt; 特征 &lt;FAIcon name='arrow-right' style={{ fill: '#8B97A8', width: 13, height: 13 }} /&gt; 训练 &lt;FAIcon name='arrow-right' style={{ fill: '#8B97A8', width: 13, height: 13 }} /&gt; 评估 &lt;FAIcon name='arrow-right' style={{ fill: '#8B97A8', width: 13, height: 13 }} /&gt; 部署——每一步都可能引入缺陷。&#10;        &lt;/Text&gt;&#10;      &lt;/Box&gt;&#10;      &lt;Box style={{ borderLeft: '4px solid #0E3F8C', paddingLeft: 14 }}&gt;&#10;        &lt;Text style={{ fontSize: 15.5, color: '#1A2230', lineHeight: 1.6 }}&gt;&#10;          &lt;span style={{ fontWeight: 'bold', color: '#0E3F8C' }}&gt;判断：&lt;/span&gt;数据缺陷不会消失，只会被模型&lt;span style={{ fontWeight: 'bold', color: '#0E3F8C' }}&gt;放大并固化&lt;/span&gt;到预测结果里。&#10;        &lt;/Text&gt;&#10;      &lt;/Box&gt;&#10;    &lt;/Box&gt;&#10;    &lt;Box style={{ flex: 1.1, justifyContent: 'center' }}&gt;&#10;      &lt;Text style={{ fontSize: 19, color: '#0E3F8C', fontWeight: 'bold', marginBottom: 12 }}&gt;数据质量六维度 · 6 Dimensions&lt;/Text&gt;&#10;      &lt;Box style={{ flexDirection: 'row', flexWrap: 'wrap', gap: 12 }}&gt;&#10;        {[&#10;          { i: 'bullseye', t: '准确性', e: 'Accuracy', d: '值与真实世界一致', c: '#1E4FA8' },&#10;          { i: 'puzzle-piece', t: '完整性', e: 'Completeness', d: '无系统性缺失', c: '#3D7BD9' },&#10;          { i: 'equals', t: '一致性', e: 'Consistency', d: '跨源口径统一', c: '#1E4FA8' },&#10;          { i: 'clock', t: '时效性', e: 'Timeliness', d: '反映当前状态', c: '#0E3F8C' },&#10;          { i: 'link', t: '相关性', e: 'Relevance', d: '特征与目标有关', c: '#3D7BD9' },&#10;          { i: 'database', t: '代表性量', e: 'Volume &amp; Bias', d: '数量够、分布无偏', c: '#1E4FA8' },&#10;        ].map((d, i) =&gt; (&#10;          &lt;Box key={i} style={{ width: '47%', background: '#F7F9FC', border: '1px solid #E5E7EB', borderRadius: 10, padding: '13px 15px' }}&gt;&#10;            &lt;Box style={{ flexDirection: 'row', alignItems: 'center', gap: 10 }}&gt;&#10;              &lt;Box style={{ width: 34, height: 34, borderRadius: 9, background: '#E8EFF8', justifyContent: 'center', alignItems: 'center', flexShrink: 0 }}&gt;&#10;                &lt;FAIcon name={d.i} style={{ fill: d.c, width: 17, height: 17 }} /&gt;&#10;              &lt;/Box&gt;&#10;              &lt;Box&gt;&#10;                &lt;Text style={{ fontSize: 17, color: '#1A2230', fontWeight: 'bold' }}&gt;{d.t}&lt;/Text&gt;&#10;                &lt;Text style={{ fontSize: 12.5, color: '#8B97A8' }}&gt;{d.e}&lt;/Text&gt;&#10;              &lt;/Box&gt;&#10;            &lt;/Box&gt;&#10;            &lt;Text style={{ fontSize: 13.5, color: '#4A5568', marginTop: 8 }}&gt;{d.d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1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1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19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数据的角色与质量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Role &amp; Quality of Data</a:t>
            </a:r>
            <a:endParaRPr/>
          </a:p>
        </p:txBody>
      </p:sp>
      <p:sp>
        <p:nvSpPr>
          <p:cNvPr id="1017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800100" y="2066925"/>
            <a:ext cx="4924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模型从数据中学到一切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Models learn everything from data</a:t>
            </a:r>
            <a:endParaRPr/>
          </a:p>
        </p:txBody>
      </p:sp>
      <p:sp>
        <p:nvSpPr>
          <p:cNvPr id="1019" name=""/>
          <p:cNvSpPr/>
          <p:nvPr/>
        </p:nvSpPr>
        <p:spPr>
          <a:xfrm rot="0" flipH="0" flipV="0">
            <a:off x="847725" y="2428875"/>
            <a:ext cx="4924425" cy="1190625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20" name=""/>
          <p:cNvSpPr/>
          <p:nvPr/>
        </p:nvSpPr>
        <p:spPr>
          <a:xfrm rot="0" flipH="0" flipV="0">
            <a:off x="847725" y="2428875"/>
            <a:ext cx="4924425" cy="1190625"/>
          </a:xfrm>
          <a:custGeom>
            <a:pathLst>
              <a:path w="517" h="125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0"/>
                </a:lnTo>
                <a:cubicBezTo>
                  <a:pt x="5" y="122"/>
                  <a:pt x="7" y="124"/>
                  <a:pt x="9" y="125"/>
                </a:cubicBezTo>
                <a:cubicBezTo>
                  <a:pt x="4" y="124"/>
                  <a:pt x="0" y="120"/>
                  <a:pt x="0" y="11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038225" y="2581275"/>
            <a:ext cx="44958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没有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好数据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，再先进的算法也只能学到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偏差与噪声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127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数据决定了模型能力的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上限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，算法只是逼近这个上限。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1038225" y="330517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Data sets the ceiling; algorithms only approach it.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800100" y="3752850"/>
            <a:ext cx="492442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990600" y="3886200"/>
            <a:ext cx="45434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AI </a:t>
            </a: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项目的数据工作流：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原始数据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清洗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特征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训练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评估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部署——每一步都可能引入缺陷。</a:t>
            </a:r>
            <a:endParaRPr/>
          </a:p>
        </p:txBody>
      </p:sp>
      <p:sp>
        <p:nvSpPr>
          <p:cNvPr id="1025" name=""/>
          <p:cNvSpPr/>
          <p:nvPr/>
        </p:nvSpPr>
        <p:spPr>
          <a:xfrm rot="0" flipH="0" flipV="0">
            <a:off x="800100" y="4705350"/>
            <a:ext cx="4962525" cy="285750"/>
          </a:xfrm>
          <a:custGeom>
            <a:pathLst>
              <a:path w="521" h="30">
                <a:moveTo>
                  <a:pt x="0" y="0"/>
                </a:moveTo>
                <a:lnTo>
                  <a:pt x="4" y="0"/>
                </a:lnTo>
                <a:lnTo>
                  <a:pt x="4" y="30"/>
                </a:lnTo>
                <a:lnTo>
                  <a:pt x="0" y="3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971550" y="4705350"/>
            <a:ext cx="4752975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数据缺陷不会消失，只会被模型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放大并固化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到预测结果里。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5972175" y="2000250"/>
            <a:ext cx="541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Source Han Sans SC"/>
                <a:ea typeface="Source Han Sans SC"/>
              </a:rPr>
              <a:t>数据质量六维度</a:t>
            </a:r>
            <a:r>
              <a:rPr lang="en-US" sz="1425" b="1">
                <a:solidFill>
                  <a:srgbClr val="0E3F8C"/>
                </a:solidFill>
                <a:latin typeface="Source Han Sans SC"/>
                <a:ea typeface="Source Han Sans SC"/>
              </a:rPr>
              <a:t> · 6 Dimensions</a:t>
            </a:r>
            <a:endParaRPr/>
          </a:p>
        </p:txBody>
      </p:sp>
      <p:sp>
        <p:nvSpPr>
          <p:cNvPr id="1028" name=""/>
          <p:cNvSpPr/>
          <p:nvPr/>
        </p:nvSpPr>
        <p:spPr>
          <a:xfrm rot="0" flipH="0" flipV="0">
            <a:off x="5972175" y="2333625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9" name=""/>
          <p:cNvSpPr/>
          <p:nvPr/>
        </p:nvSpPr>
        <p:spPr>
          <a:xfrm rot="0" flipH="0" flipV="0">
            <a:off x="6115050" y="24669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0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00775" y="2552700"/>
            <a:ext cx="161925" cy="161925"/>
          </a:xfrm>
          <a:prstGeom prst="rect">
            <a:avLst/>
          </a:prstGeom>
          <a:ln/>
        </p:spPr>
      </p:pic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6534150" y="2457450"/>
            <a:ext cx="514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准确性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6534150" y="2657475"/>
            <a:ext cx="514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Accuracy</a:t>
            </a:r>
            <a:endParaRPr/>
          </a:p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6115050" y="287655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值与真实世界一致</a:t>
            </a:r>
            <a:endParaRPr/>
          </a:p>
        </p:txBody>
      </p:sp>
      <p:sp>
        <p:nvSpPr>
          <p:cNvPr id="1034" name=""/>
          <p:cNvSpPr/>
          <p:nvPr/>
        </p:nvSpPr>
        <p:spPr>
          <a:xfrm rot="0" flipH="0" flipV="0">
            <a:off x="8629650" y="2333625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35" name=""/>
          <p:cNvSpPr/>
          <p:nvPr/>
        </p:nvSpPr>
        <p:spPr>
          <a:xfrm rot="0" flipH="0" flipV="0">
            <a:off x="8772525" y="24669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6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552700"/>
            <a:ext cx="161925" cy="161925"/>
          </a:xfrm>
          <a:prstGeom prst="rect">
            <a:avLst/>
          </a:prstGeom>
          <a:ln/>
        </p:spPr>
      </p:pic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9191625" y="2457450"/>
            <a:ext cx="79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完整性</a:t>
            </a:r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9191625" y="2657475"/>
            <a:ext cx="790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Completeness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8772525" y="287655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无系统性缺失</a:t>
            </a:r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5972175" y="3276600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1" name=""/>
          <p:cNvSpPr/>
          <p:nvPr/>
        </p:nvSpPr>
        <p:spPr>
          <a:xfrm rot="0" flipH="0" flipV="0">
            <a:off x="6115050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2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00775" y="3495675"/>
            <a:ext cx="161925" cy="161925"/>
          </a:xfrm>
          <a:prstGeom prst="rect">
            <a:avLst/>
          </a:prstGeom>
          <a:ln/>
        </p:spPr>
      </p:pic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6534150" y="3400425"/>
            <a:ext cx="676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一致性</a:t>
            </a:r>
            <a:endParaRPr/>
          </a:p>
        </p:txBody>
      </p:sp>
      <p:sp>
        <p:nvSpPr>
          <p:cNvPr id="1044" name="" descr="{&quot;isTemplate&quot;:true,&quot;type&quot;:&quot;text&quot;}"/>
          <p:cNvSpPr txBox="1"/>
          <p:nvPr/>
        </p:nvSpPr>
        <p:spPr>
          <a:xfrm rot="0" flipH="0" flipV="0">
            <a:off x="6534150" y="3600450"/>
            <a:ext cx="676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Consistency</a:t>
            </a:r>
            <a:endParaRPr/>
          </a:p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6115050" y="38195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跨源口径统一</a:t>
            </a:r>
            <a:endParaRPr/>
          </a:p>
        </p:txBody>
      </p:sp>
      <p:sp>
        <p:nvSpPr>
          <p:cNvPr id="1046" name=""/>
          <p:cNvSpPr/>
          <p:nvPr/>
        </p:nvSpPr>
        <p:spPr>
          <a:xfrm rot="0" flipH="0" flipV="0">
            <a:off x="8629650" y="3276600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7" name=""/>
          <p:cNvSpPr/>
          <p:nvPr/>
        </p:nvSpPr>
        <p:spPr>
          <a:xfrm rot="0" flipH="0" flipV="0">
            <a:off x="8772525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8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858250" y="3495675"/>
            <a:ext cx="161925" cy="161925"/>
          </a:xfrm>
          <a:prstGeom prst="rect">
            <a:avLst/>
          </a:prstGeom>
          <a:ln/>
        </p:spPr>
      </p:pic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9191625" y="3400425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时效性</a:t>
            </a:r>
            <a:endParaRPr/>
          </a:p>
        </p:txBody>
      </p:sp>
      <p:sp>
        <p:nvSpPr>
          <p:cNvPr id="1050" name="" descr="{&quot;isTemplate&quot;:true,&quot;type&quot;:&quot;text&quot;}"/>
          <p:cNvSpPr txBox="1"/>
          <p:nvPr/>
        </p:nvSpPr>
        <p:spPr>
          <a:xfrm rot="0" flipH="0" flipV="0">
            <a:off x="9191625" y="3600450"/>
            <a:ext cx="590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Timeliness</a:t>
            </a:r>
            <a:endParaRPr/>
          </a:p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8772525" y="38195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反映当前状态</a:t>
            </a:r>
            <a:endParaRPr/>
          </a:p>
        </p:txBody>
      </p:sp>
      <p:sp>
        <p:nvSpPr>
          <p:cNvPr id="1052" name=""/>
          <p:cNvSpPr/>
          <p:nvPr/>
        </p:nvSpPr>
        <p:spPr>
          <a:xfrm rot="0" flipH="0" flipV="0">
            <a:off x="5972175" y="4219575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3" name=""/>
          <p:cNvSpPr/>
          <p:nvPr/>
        </p:nvSpPr>
        <p:spPr>
          <a:xfrm rot="0" flipH="0" flipV="0">
            <a:off x="6115050" y="43529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4" name="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00775" y="4438650"/>
            <a:ext cx="161925" cy="161925"/>
          </a:xfrm>
          <a:prstGeom prst="rect">
            <a:avLst/>
          </a:prstGeom>
          <a:ln/>
        </p:spPr>
      </p:pic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6534150" y="4343400"/>
            <a:ext cx="571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相关性</a:t>
            </a:r>
            <a:endParaRPr/>
          </a:p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6534150" y="4543425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Relevance</a:t>
            </a:r>
            <a:endParaRPr/>
          </a:p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6115050" y="476250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特征与目标有关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8629650" y="4219575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8772525" y="43529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60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858250" y="4438650"/>
            <a:ext cx="161925" cy="161925"/>
          </a:xfrm>
          <a:prstGeom prst="rect">
            <a:avLst/>
          </a:prstGeom>
          <a:ln/>
        </p:spPr>
      </p:pic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9191625" y="4343400"/>
            <a:ext cx="81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代表性量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9191625" y="4543425"/>
            <a:ext cx="819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Volume &amp; Bias</a:t>
            </a:r>
            <a:endParaRPr/>
          </a:p>
        </p:txBody>
      </p:sp>
      <p:sp>
        <p:nvSpPr>
          <p:cNvPr id="1063" name="" descr="{&quot;isTemplate&quot;:true,&quot;type&quot;:&quot;text&quot;}"/>
          <p:cNvSpPr txBox="1"/>
          <p:nvPr/>
        </p:nvSpPr>
        <p:spPr>
          <a:xfrm rot="0" flipH="0" flipV="0">
            <a:off x="8772525" y="476250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数量够、分布无偏</a:t>
            </a:r>
            <a:endParaRPr/>
          </a:p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6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数据类型与来源 · Data Types &amp;amp; Source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t: '结构化数据', e: 'Structured', i: 'table',&#10;          d: '行列分明的表格：每列类型固定，可直接进 DataFrame。',&#10;          ex: '数据库表 · CSV · Excel 报表',&#10;          c: '#1E4FA8',&#10;        },&#10;        {&#10;          t: '半结构化数据', e: 'Semi-structured', i: 'code',&#10;          d: '有标签无固定表结构，需解析后转表格。',&#10;          ex: 'JSON API 返回 · 日志文件 · XML',&#10;          c: '#3D7BD9',&#10;        },&#10;        {&#10;          t: '非结构化数据', e: 'Unstructured', i: 'image',&#10;          d: '自由格式内容，本课程 M2/M3 的主战场。',&#10;          ex: '图片 · 文本 · 音频 · 视频',&#10;          c: '#0E3F8C',&#10;        },&#10;      ].map((k, i) =&gt; (&#10;        &lt;Box key={i} style={{ flex: 1, background: '#F7F9FC', border: '1px solid #E5E7EB', borderTop: '4px solid ' + k.c, borderRadius: 12, padding: '18px 20px', justifyContent: 'space-between' }}&gt;&#10;          &lt;Box&gt;&#10;            &lt;Box style={{ flexDirection: 'row', alignItems: 'center', gap: 12 }}&gt;&#10;              &lt;Box style={{ width: 40, height: 40, borderRadius: 10, background: '#E8EFF8', justifyContent: 'center', alignItems: 'center' }}&gt;&#10;                &lt;FAIcon name={k.i} style={{ fill: k.c, width: 20, height: 20 }} /&gt;&#10;              &lt;/Box&gt;&#10;              &lt;Box&gt;&#10;                &lt;Text style={{ fontSize: 19, color: '#1A2230', fontWeight: 'bold' }}&gt;{k.t}&lt;/Text&gt;&#10;                &lt;Text style={{ fontSize: 13, color: '#8B97A8' }}&gt;{k.e}&lt;/Text&gt;&#10;              &lt;/Box&gt;&#10;            &lt;/Box&gt;&#10;            &lt;Text style={{ fontSize: 14.5, color: '#4A5568', lineHeight: 1.6, marginTop: 12 }}&gt;{k.d}&lt;/Text&gt;&#10;          &lt;/Box&gt;&#10;          &lt;Box style={{ background: '#F0F5FC', borderRadius: 8, padding: '10px 14px' }}&gt;&#10;            &lt;Text style={{ fontSize: 13, color: '#8B97A8', marginBottom: 3 }}&gt;典型例子 · Examples&lt;/Text&gt;&#10;            &lt;Text style={{ fontSize: 14.5, color: k.c, fontWeight: '600' }}&gt;{k.ex}&lt;/Text&gt;&#10;          &lt;/Box&gt;&#10;        &lt;/Box&gt;&#10;      ))}&#10;    &lt;/Box&gt;&#10;    &lt;Box style={{ flexDirection: 'row', gap: 20, marginTop: 16 }}&gt;&#10;      &lt;Box style={{ flex: 1, background: '#F0F5FC', border: '1px solid #D6DCE5', borderRadius: 10, padding: '13px 20px' }}&gt;&#10;        &lt;Text style={{ fontSize: 15, color: '#1A2230', lineHeight: 1.6 }}&gt;&#10;          &lt;span style={{ fontWeight: 'bold', color: '#1E4FA8' }}&gt;数据从哪来：&lt;/span&gt;&#10;          内部业务数据库 / 开放数据集（Kaggle · UCI · 政府开放数据）/ 爬虫与日志 / 传感器与用户行为埋点。&#10;        &lt;/Text&gt;&#10;      &lt;/Box&gt;&#10;      &lt;Box style={{ flex: 1, borderLeft: '4px solid #0E3F8C', paddingLeft: 14, justifyContent: 'center' }}&gt;&#10;        &lt;Text style={{ fontSize: 15, color: '#1A2230', lineHeight: 1.6 }}&gt;&#10;          &lt;span style={{ fontWeight: 'bold', color: '#0E3F8C' }}&gt;注意：&lt;/span&gt;来源决定质量上限——&#10;          脏的业务库再怎么清洗也补不回采集时就丢失的字段。&#10;          &lt;span style={{ fontSize: 13, color: '#8B97A8' }}&gt;Sources set the ceiling of quality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6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52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数据类型与来源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Data Types &amp; Sources</a:t>
            </a:r>
            <a:endParaRPr/>
          </a:p>
        </p:txBody>
      </p:sp>
      <p:sp>
        <p:nvSpPr>
          <p:cNvPr id="107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071" name=""/>
          <p:cNvSpPr/>
          <p:nvPr/>
        </p:nvSpPr>
        <p:spPr>
          <a:xfrm rot="0" flipH="0" flipV="0">
            <a:off x="800100" y="2055263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2" name=""/>
          <p:cNvSpPr/>
          <p:nvPr/>
        </p:nvSpPr>
        <p:spPr>
          <a:xfrm rot="0" flipH="0" flipV="0">
            <a:off x="800100" y="2055263"/>
            <a:ext cx="3400425" cy="2139074"/>
          </a:xfrm>
          <a:custGeom>
            <a:pathLst>
              <a:path w="357" h="41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3" name=""/>
          <p:cNvSpPr/>
          <p:nvPr/>
        </p:nvSpPr>
        <p:spPr>
          <a:xfrm rot="0" flipH="0" flipV="0">
            <a:off x="990600" y="2226713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74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2321963"/>
            <a:ext cx="190500" cy="190500"/>
          </a:xfrm>
          <a:prstGeom prst="rect">
            <a:avLst/>
          </a:prstGeom>
          <a:ln/>
        </p:spPr>
      </p:pic>
      <p:sp>
        <p:nvSpPr>
          <p:cNvPr id="1075" name="" descr="{&quot;isTemplate&quot;:true,&quot;type&quot;:&quot;text&quot;}"/>
          <p:cNvSpPr txBox="1"/>
          <p:nvPr/>
        </p:nvSpPr>
        <p:spPr>
          <a:xfrm rot="0" flipH="0" flipV="0">
            <a:off x="1485900" y="2236238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结构化数据</a:t>
            </a:r>
            <a:endParaRPr/>
          </a:p>
        </p:txBody>
      </p:sp>
      <p:sp>
        <p:nvSpPr>
          <p:cNvPr id="1076" name="" descr="{&quot;isTemplate&quot;:true,&quot;type&quot;:&quot;text&quot;}"/>
          <p:cNvSpPr txBox="1"/>
          <p:nvPr/>
        </p:nvSpPr>
        <p:spPr>
          <a:xfrm rot="0" flipH="0" flipV="0">
            <a:off x="1485900" y="2455313"/>
            <a:ext cx="904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Structured</a:t>
            </a:r>
            <a:endParaRPr/>
          </a:p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990600" y="2722013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行列分明的表格：每列类型固定，可直接进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DataFrame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1078" name=""/>
          <p:cNvSpPr/>
          <p:nvPr/>
        </p:nvSpPr>
        <p:spPr>
          <a:xfrm rot="0" flipH="0" flipV="0">
            <a:off x="990600" y="3471412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1123950" y="3566662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123950" y="3747637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数据库表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· CSV · Excel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报表</a:t>
            </a:r>
            <a:endParaRPr/>
          </a:p>
        </p:txBody>
      </p:sp>
      <p:sp>
        <p:nvSpPr>
          <p:cNvPr id="1081" name=""/>
          <p:cNvSpPr/>
          <p:nvPr/>
        </p:nvSpPr>
        <p:spPr>
          <a:xfrm rot="0" flipH="0" flipV="0">
            <a:off x="4391025" y="2055263"/>
            <a:ext cx="3409950" cy="2139074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4391025" y="2055263"/>
            <a:ext cx="3409950" cy="2139074"/>
          </a:xfrm>
          <a:custGeom>
            <a:pathLst>
              <a:path w="358" h="41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3" name=""/>
          <p:cNvSpPr/>
          <p:nvPr/>
        </p:nvSpPr>
        <p:spPr>
          <a:xfrm rot="0" flipH="0" flipV="0">
            <a:off x="4581525" y="2226713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84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76775" y="2321963"/>
            <a:ext cx="190500" cy="190500"/>
          </a:xfrm>
          <a:prstGeom prst="rect">
            <a:avLst/>
          </a:prstGeom>
          <a:ln/>
        </p:spPr>
      </p:pic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5076825" y="2236238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半结构化数据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5076825" y="2455313"/>
            <a:ext cx="1085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Semi-structured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4581525" y="2722013"/>
            <a:ext cx="30289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有标签无固定表结构，需解析后转表格。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4581525" y="3471412"/>
            <a:ext cx="3028950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4714875" y="3566662"/>
            <a:ext cx="2762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4714875" y="3747637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JSON API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返回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日志文件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· XML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7991475" y="2055263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2" name=""/>
          <p:cNvSpPr/>
          <p:nvPr/>
        </p:nvSpPr>
        <p:spPr>
          <a:xfrm rot="0" flipH="0" flipV="0">
            <a:off x="7991475" y="2055263"/>
            <a:ext cx="3400425" cy="2139074"/>
          </a:xfrm>
          <a:custGeom>
            <a:pathLst>
              <a:path w="357" h="41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93" name=""/>
          <p:cNvSpPr/>
          <p:nvPr/>
        </p:nvSpPr>
        <p:spPr>
          <a:xfrm rot="0" flipH="0" flipV="0">
            <a:off x="8181975" y="2226713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94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77225" y="2321963"/>
            <a:ext cx="190500" cy="190500"/>
          </a:xfrm>
          <a:prstGeom prst="rect">
            <a:avLst/>
          </a:prstGeom>
          <a:ln/>
        </p:spPr>
      </p:pic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8677275" y="2236238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非结构化数据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8677275" y="2455313"/>
            <a:ext cx="1085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Unstructured</a:t>
            </a:r>
            <a:endParaRPr/>
          </a:p>
        </p:txBody>
      </p:sp>
      <p:sp>
        <p:nvSpPr>
          <p:cNvPr id="1097" name="" descr="{&quot;isTemplate&quot;:true,&quot;type&quot;:&quot;text&quot;}"/>
          <p:cNvSpPr txBox="1"/>
          <p:nvPr/>
        </p:nvSpPr>
        <p:spPr>
          <a:xfrm rot="0" flipH="0" flipV="0">
            <a:off x="8181975" y="2722013"/>
            <a:ext cx="3019425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自由格式内容，本课程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M2/M3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的主战场。</a:t>
            </a:r>
            <a:endParaRPr/>
          </a:p>
        </p:txBody>
      </p:sp>
      <p:sp>
        <p:nvSpPr>
          <p:cNvPr id="1098" name=""/>
          <p:cNvSpPr/>
          <p:nvPr/>
        </p:nvSpPr>
        <p:spPr>
          <a:xfrm rot="0" flipH="0" flipV="0">
            <a:off x="8181975" y="3471412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99" name="" descr="{&quot;isTemplate&quot;:true,&quot;type&quot;:&quot;text&quot;}"/>
          <p:cNvSpPr txBox="1"/>
          <p:nvPr/>
        </p:nvSpPr>
        <p:spPr>
          <a:xfrm rot="0" flipH="0" flipV="0">
            <a:off x="8315325" y="3566662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8315325" y="3747637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图片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文本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音频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视频</a:t>
            </a:r>
            <a:endParaRPr/>
          </a:p>
        </p:txBody>
      </p:sp>
      <p:sp>
        <p:nvSpPr>
          <p:cNvPr id="1101" name=""/>
          <p:cNvSpPr/>
          <p:nvPr/>
        </p:nvSpPr>
        <p:spPr>
          <a:xfrm rot="0" flipH="0" flipV="0">
            <a:off x="800100" y="4308637"/>
            <a:ext cx="5200650" cy="800100"/>
          </a:xfrm>
          <a:prstGeom prst="roundRect">
            <a:avLst>
              <a:gd name="adj" fmla="val 1190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990600" y="4432462"/>
            <a:ext cx="48196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数据从哪来：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内部业务数据库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开放数据集（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Kaggle · UCI ·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政府开放数据）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爬虫与日志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传感器与用户行为埋点。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6191250" y="4308637"/>
            <a:ext cx="5238750" cy="800100"/>
          </a:xfrm>
          <a:custGeom>
            <a:pathLst>
              <a:path w="550" h="84">
                <a:moveTo>
                  <a:pt x="0" y="0"/>
                </a:moveTo>
                <a:lnTo>
                  <a:pt x="4" y="0"/>
                </a:lnTo>
                <a:lnTo>
                  <a:pt x="4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6362700" y="4432462"/>
            <a:ext cx="5029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注意：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来源决定质量上限——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脏的业务库再怎么清洗也补不回采集时就丢失的字段。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/>
            </a:r>
            <a:endParaRPr/>
          </a:p>
        </p:txBody>
      </p:sp>
      <p:sp>
        <p:nvSpPr>
          <p:cNvPr id="110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坏数据的代价 · When Data Goes Wrong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30 }}&gt;&#10;    &lt;Box style={{ flex: 1.15, gap: 12 }}&gt;&#10;      &lt;Text style={{ fontSize: 18, color: '#0E3F8C', fontWeight: 'bold' }}&gt;真实案例：AI 招聘工具的偏见&lt;/Text&gt;&#10;      &lt;Box style={{ background: '#F0F5FC', border: '1px solid #D6DCE5', borderRadius: 12, padding: '18px 22px', gap: 10 }}&gt;&#10;        {[&#10;          { n: '背景', d: '用历史 10 年的简历数据训练模型，自动给新简历打分。' },&#10;          { n: '问题', d: '历史录用数据本身偏向某一群体——模型把这个偏差完整学走。' },&#10;          { n: '后果', d: '模型学会主动调低含特定关键词的简历评分，项目最终被叫停。' },&#10;          { n: '教训', d: '数据反映的是「过去怎么做的」，不等于「应该怎么做」。' },&#10;        ].map((r, i) =&gt; (&#10;          &lt;Box key={i} style={{ flexDirection: 'row', gap: 12, alignItems: 'flex-start' }}&gt;&#10;            &lt;Box style={{ width: 52, height: 24, borderRadius: 7, background: i === 3 ? '#0E3F8C' : '#E8EFF8', justifyContent: 'center', alignItems: 'center', flexShrink: 0, marginTop: 1 }}&gt;&#10;              &lt;Text style={{ fontSize: 12.5, color: i === 3 ? '#FFFFFF' : '#1E4FA8', fontWeight: 'bold' }}&gt;{r.n}&lt;/Text&gt;&#10;            &lt;/Box&gt;&#10;            &lt;Text style={{ fontSize: 15, color: '#1A2230', lineHeight: 1.55, flex: 1 }}&gt;{r.d}&lt;/Text&gt;&#10;          &lt;/Box&gt;&#10;        ))}&#10;      &lt;/Box&gt;&#10;      &lt;Box style={{ borderLeft: '4px solid #0E3F8C', paddingLeft: 14 }}&gt;&#10;        &lt;Text style={{ fontSize: 15.5, color: '#1A2230', lineHeight: 1.6 }}&gt;&#10;          &lt;span style={{ fontWeight: 'bold', color: '#0E3F8C' }}&gt;判断：&lt;/span&gt;数据缺陷不是「统计噪声」，而是会被模型&lt;span style={{ fontWeight: 'bold', color: '#0E3F8C' }}&gt;系统性放大&lt;/span&gt;的结构性问题。&#10;        &lt;/Text&gt;&#10;      &lt;/Box&gt;&#10;    &lt;/Box&gt;&#10;    &lt;Box style={{ width: 470, gap: 12, flexShrink: 0, justifyContent: 'center' }}&gt;&#10;      &lt;Text style={{ fontSize: 18, color: '#0E3F8C', fontWeight: 'bold' }}&gt;课堂快问 · 用六维度诊断&lt;/Text&gt;&#10;      {[&#10;        { q: '用户手机号一栏 40% 是空的', a: '完整性 Completeness', c: '#3D7BD9' },&#10;        { q: '两个系统里同一客户的年龄不同', a: '一致性 Consistency', c: '#1E4FA8' },&#10;        { q: '用 2015 年的房价预测 2026 年市场', a: '时效性 Timeliness', c: '#0E3F8C' },&#10;        { q: '只收集了白天的交通流量就建模全天', a: '代表性 Representation', c: '#3D7BD9' },&#10;      ].map((r, i) =&gt; (&#10;        &lt;Box key={i} style={{ background: '#F7F9FC', border: '1px solid #E5E7EB', borderRadius: 10, padding: '12px 16px' }}&gt;&#10;          &lt;Text style={{ fontSize: 15, color: '#1A2230' }}&gt;「{r.q}」属于哪个维度？&lt;/Text&gt;&#10;          &lt;Box style={{ flexDirection: 'row', alignItems: 'center', gap: 8, marginTop: 6 }}&gt;&#10;            &lt;FAIcon name='tag' style={{ fill: r.c, width: 13, height: 13 }} /&gt;&#10;            &lt;Text style={{ fontSize: 14, color: r.c, fontWeight: '600' }}&gt;{r.a}&lt;/Text&gt;&#10;          &lt;/Box&gt;&#10;        &lt;/Box&gt;&#10;      ))}&#10;      &lt;Text style={{ fontSize: 13, color: '#8B97A8' }}&gt;先举手投票，再逐一讲解 · Vote first, then reveal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05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坏数据的代价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When Data Goes Wrong</a:t>
            </a:r>
            <a:endParaRPr/>
          </a:p>
        </p:txBody>
      </p:sp>
      <p:sp>
        <p:nvSpPr>
          <p:cNvPr id="111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112" name="" descr="{&quot;isTemplate&quot;:true,&quot;type&quot;:&quot;text&quot;}"/>
          <p:cNvSpPr txBox="1"/>
          <p:nvPr/>
        </p:nvSpPr>
        <p:spPr>
          <a:xfrm rot="0" flipH="0" flipV="0">
            <a:off x="800100" y="1519837"/>
            <a:ext cx="5829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真实案例：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招聘工具的偏见</a:t>
            </a:r>
            <a:endParaRPr/>
          </a:p>
        </p:txBody>
      </p:sp>
      <p:sp>
        <p:nvSpPr>
          <p:cNvPr id="1113" name=""/>
          <p:cNvSpPr/>
          <p:nvPr/>
        </p:nvSpPr>
        <p:spPr>
          <a:xfrm rot="0" flipH="0" flipV="0">
            <a:off x="800100" y="1843687"/>
            <a:ext cx="5829300" cy="1695450"/>
          </a:xfrm>
          <a:prstGeom prst="roundRect">
            <a:avLst>
              <a:gd name="adj" fmla="val 674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14" name=""/>
          <p:cNvSpPr/>
          <p:nvPr/>
        </p:nvSpPr>
        <p:spPr>
          <a:xfrm rot="0" flipH="0" flipV="0">
            <a:off x="1009650" y="202466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143000" y="207228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背景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1619250" y="201513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用历史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10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年的简历数据训练模型，自动给新简历打分。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1009650" y="238661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8" name="" descr="{&quot;isTemplate&quot;:true,&quot;type&quot;:&quot;text&quot;}"/>
          <p:cNvSpPr txBox="1"/>
          <p:nvPr/>
        </p:nvSpPr>
        <p:spPr>
          <a:xfrm rot="0" flipH="0" flipV="0">
            <a:off x="1143000" y="243423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问题</a:t>
            </a:r>
            <a:endParaRPr/>
          </a:p>
        </p:txBody>
      </p:sp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1619250" y="237708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历史录用数据本身偏向某一群体——模型把这个偏差完整学走。</a:t>
            </a:r>
            <a:endParaRPr/>
          </a:p>
        </p:txBody>
      </p:sp>
      <p:sp>
        <p:nvSpPr>
          <p:cNvPr id="1120" name=""/>
          <p:cNvSpPr/>
          <p:nvPr/>
        </p:nvSpPr>
        <p:spPr>
          <a:xfrm rot="0" flipH="0" flipV="0">
            <a:off x="1009650" y="274856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43000" y="279618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后果</a:t>
            </a:r>
            <a:endParaRPr/>
          </a:p>
        </p:txBody>
      </p:sp>
      <p:sp>
        <p:nvSpPr>
          <p:cNvPr id="1122" name="" descr="{&quot;isTemplate&quot;:true,&quot;type&quot;:&quot;text&quot;}"/>
          <p:cNvSpPr txBox="1"/>
          <p:nvPr/>
        </p:nvSpPr>
        <p:spPr>
          <a:xfrm rot="0" flipH="0" flipV="0">
            <a:off x="1619250" y="273903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模型学会主动调低含特定关键词的简历评分，项目最终被叫停。</a:t>
            </a:r>
            <a:endParaRPr/>
          </a:p>
        </p:txBody>
      </p:sp>
      <p:sp>
        <p:nvSpPr>
          <p:cNvPr id="1123" name=""/>
          <p:cNvSpPr/>
          <p:nvPr/>
        </p:nvSpPr>
        <p:spPr>
          <a:xfrm rot="0" flipH="0" flipV="0">
            <a:off x="1009650" y="311051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1143000" y="315813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Source Han Sans SC"/>
                <a:ea typeface="Source Han Sans SC"/>
              </a:rPr>
              <a:t>教训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1619250" y="310098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数据反映的是「过去怎么做的」，不等于「应该怎么做」。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00100" y="3653437"/>
            <a:ext cx="5867400" cy="285750"/>
          </a:xfrm>
          <a:custGeom>
            <a:pathLst>
              <a:path w="616" h="30">
                <a:moveTo>
                  <a:pt x="0" y="0"/>
                </a:moveTo>
                <a:lnTo>
                  <a:pt x="4" y="0"/>
                </a:lnTo>
                <a:lnTo>
                  <a:pt x="4" y="30"/>
                </a:lnTo>
                <a:lnTo>
                  <a:pt x="0" y="3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7" name="" descr="{&quot;isTemplate&quot;:true,&quot;type&quot;:&quot;text&quot;}"/>
          <p:cNvSpPr txBox="1"/>
          <p:nvPr/>
        </p:nvSpPr>
        <p:spPr>
          <a:xfrm rot="0" flipH="0" flipV="0">
            <a:off x="971550" y="3653437"/>
            <a:ext cx="5657850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数据缺陷不是「统计噪声」，而是会被模型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系统性放大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的结构性问题。</a:t>
            </a:r>
            <a:endParaRPr/>
          </a:p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6915150" y="2234212"/>
            <a:ext cx="447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课堂快问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用六维度诊断</a:t>
            </a:r>
            <a:endParaRPr/>
          </a:p>
        </p:txBody>
      </p:sp>
      <p:sp>
        <p:nvSpPr>
          <p:cNvPr id="1129" name=""/>
          <p:cNvSpPr/>
          <p:nvPr/>
        </p:nvSpPr>
        <p:spPr>
          <a:xfrm rot="0" flipH="0" flipV="0">
            <a:off x="6915150" y="2558062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7067550" y="2672362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用户手机号一栏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40%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是空的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1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2920012"/>
            <a:ext cx="123825" cy="123825"/>
          </a:xfrm>
          <a:prstGeom prst="rect">
            <a:avLst/>
          </a:prstGeom>
          <a:ln/>
        </p:spPr>
      </p:pic>
      <p:sp>
        <p:nvSpPr>
          <p:cNvPr id="1132" name="" descr="{&quot;isTemplate&quot;:true,&quot;type&quot;:&quot;text&quot;}"/>
          <p:cNvSpPr txBox="1"/>
          <p:nvPr/>
        </p:nvSpPr>
        <p:spPr>
          <a:xfrm rot="0" flipH="0" flipV="0">
            <a:off x="7267575" y="2900962"/>
            <a:ext cx="1352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3D7BD9"/>
                </a:solidFill>
                <a:latin typeface="Source Han Sans SC"/>
                <a:ea typeface="Source Han Sans SC"/>
              </a:rPr>
              <a:t>完整性</a:t>
            </a:r>
            <a:r>
              <a:rPr lang="en-US" sz="1050" b="1">
                <a:solidFill>
                  <a:srgbClr val="3D7BD9"/>
                </a:solidFill>
                <a:latin typeface="Source Han Sans SC"/>
                <a:ea typeface="Source Han Sans SC"/>
              </a:rPr>
              <a:t> Completeness</a:t>
            </a:r>
            <a:endParaRPr/>
          </a:p>
        </p:txBody>
      </p:sp>
      <p:sp>
        <p:nvSpPr>
          <p:cNvPr id="1133" name=""/>
          <p:cNvSpPr/>
          <p:nvPr/>
        </p:nvSpPr>
        <p:spPr>
          <a:xfrm rot="0" flipH="0" flipV="0">
            <a:off x="6915150" y="3291487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7067550" y="3405787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两个系统里同一客户的年龄不同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5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67550" y="3653437"/>
            <a:ext cx="123825" cy="123825"/>
          </a:xfrm>
          <a:prstGeom prst="rect">
            <a:avLst/>
          </a:prstGeom>
          <a:ln/>
        </p:spPr>
      </p:pic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7267575" y="3634387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一致性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 Consistency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6915150" y="4024912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7067550" y="4139212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2015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年的房价预测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2026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年市场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67550" y="4386862"/>
            <a:ext cx="123825" cy="123825"/>
          </a:xfrm>
          <a:prstGeom prst="rect">
            <a:avLst/>
          </a:prstGeom>
          <a:ln/>
        </p:spPr>
      </p:pic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7267575" y="4367812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时效性</a:t>
            </a:r>
            <a:r>
              <a:rPr lang="en-US" sz="1050" b="1">
                <a:solidFill>
                  <a:srgbClr val="0E3F8C"/>
                </a:solidFill>
                <a:latin typeface="Source Han Sans SC"/>
                <a:ea typeface="Source Han Sans SC"/>
              </a:rPr>
              <a:t> Timeliness</a:t>
            </a:r>
            <a:endParaRPr/>
          </a:p>
        </p:txBody>
      </p:sp>
      <p:sp>
        <p:nvSpPr>
          <p:cNvPr id="1141" name=""/>
          <p:cNvSpPr/>
          <p:nvPr/>
        </p:nvSpPr>
        <p:spPr>
          <a:xfrm rot="0" flipH="0" flipV="0">
            <a:off x="6915150" y="4758337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7067550" y="4872637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只收集了白天的交通流量就建模全天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43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5120287"/>
            <a:ext cx="123825" cy="123825"/>
          </a:xfrm>
          <a:prstGeom prst="rect">
            <a:avLst/>
          </a:prstGeom>
          <a:ln/>
        </p:spPr>
      </p:pic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7267575" y="5101237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3D7BD9"/>
                </a:solidFill>
                <a:latin typeface="Source Han Sans SC"/>
                <a:ea typeface="Source Han Sans SC"/>
              </a:rPr>
              <a:t>代表性</a:t>
            </a:r>
            <a:r>
              <a:rPr lang="en-US" sz="1050" b="1">
                <a:solidFill>
                  <a:srgbClr val="3D7BD9"/>
                </a:solidFill>
                <a:latin typeface="Source Han Sans SC"/>
                <a:ea typeface="Source Han Sans SC"/>
              </a:rPr>
              <a:t> Representation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6915150" y="5491762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先举手投票，再逐一讲解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Vote first, then reveal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07 / 32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148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NumPy 与 Pandas&lt;/Text&gt;&#10;        &lt;Text style={{ fontSize: 26, color: '#8B97A8', fontWeight: '600', marginTop: 6 }}&gt;The Two Core Tools&lt;/Text&gt;&#10;      &lt;/Box&gt;&#10;    &lt;/Box&gt;&#10;    &lt;Box style={{ flexDirection: 'row', gap: 24 }}&gt;&#10;      {[&#10;        { t: '数组运算', e: 'NumPy Arrays' },&#10;        { t: '表格操作', e: 'Pandas DataFrames' },&#10;        { t: '向量化提速', e: 'Vectorization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15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5909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 Pandas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5909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The Two Core Tools</a:t>
            </a:r>
            <a:endParaRPr/>
          </a:p>
        </p:txBody>
      </p:sp>
      <p:sp>
        <p:nvSpPr>
          <p:cNvPr id="115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数组运算</a:t>
            </a:r>
            <a:endParaRPr/>
          </a:p>
        </p:txBody>
      </p:sp>
      <p:sp>
        <p:nvSpPr>
          <p:cNvPr id="115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NumPy Arrays</a:t>
            </a:r>
            <a:endParaRPr/>
          </a:p>
        </p:txBody>
      </p:sp>
      <p:sp>
        <p:nvSpPr>
          <p:cNvPr id="116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6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表格操作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Pandas DataFrames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6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向量化提速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Vectorization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× Pandas · 分工与配合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40, alignItems: 'center' }}&gt;&#10;    &lt;Box style={{ flex: 1, height: 500, position: 'relative' }}&gt;&#10;      &lt;svg width={560} height={500} viewBox='0 0 560 500'&gt;&#10;        &lt;rect x='0' y='0' width='560' height='230' rx='20' fill='#F0F5FC' stroke='#1E4FA8' strokeWidth='2.5' /&gt;&#10;        &lt;text x='30' y='46' fill='#1E4FA8' fontSize='26' fontWeight='bold' fontFamily='Inter, sans-serif'&gt;NumPy&lt;/text&gt;&#10;        &lt;text x='30' y='70' fill='#8B97A8' fontSize='14' fontFamily='Inter, sans-serif'&gt;ndarray · homogeneous array&lt;/text&gt;&#10;        &lt;rect x='30' y='90' width='480' height='110' rx='10' fill='#FFFFFF' stroke='#D6DCE5' strokeWidth='1.5' /&gt;&#10;        &lt;rect x='44' y='104' width='50' height='13' rx='3' fill='#3D7BD9' opacity='0.75' /&gt;&#10;        &lt;rect x='102' y='104' width='50' height='13' rx='3' fill='#1E4FA8' opacity='0.75' /&gt;&#10;        &lt;rect x='160' y='104' width='50' height='13' rx='3' fill='#3D7BD9' opacity='0.75' /&gt;&#10;        &lt;rect x='218' y='104' width='50' height='13' rx='3' fill='#1E4FA8' opacity='0.75' /&gt;&#10;        &lt;rect x='276' y='104' width='50' height='13' rx='3' fill='#3D7BD9' opacity='0.75' /&gt;&#10;        &lt;rect x='334' y='104' width='50' height='13' rx='3' fill='#1E4FA8' opacity='0.75' /&gt;&#10;        &lt;rect x='392' y='104' width='50' height='13' rx='3' fill='#3D7BD9' opacity='0.75' /&gt;&#10;        &lt;rect x='450' y='104' width='50' height='13' rx='3' fill='#1E4FA8' opacity='0.75' /&gt;&#10;        &lt;rect x='44' y='123' width='50' height='13' rx='3' fill='#1E4FA8' opacity='0.75' /&gt;&#10;        &lt;rect x='102' y='123' width='50' height='13' rx='3' fill='#3D7BD9' opacity='0.75' /&gt;&#10;        &lt;rect x='160' y='123' width='50' height='13' rx='3' fill='#1E4FA8' opacity='0.75' /&gt;&#10;        &lt;rect x='218' y='123' width='50' height='13' rx='3' fill='#3D7BD9' opacity='0.75' /&gt;&#10;        &lt;rect x='276' y='123' width='50' height='13' rx='3' fill='#1E4FA8' opacity='0.75' /&gt;&#10;        &lt;rect x='334' y='123' width='50' height='13' rx='3' fill='#3D7BD9' opacity='0.75' /&gt;&#10;        &lt;rect x='392' y='123' width='50' height='13' rx='3' fill='#1E4FA8' opacity='0.75' /&gt;&#10;        &lt;rect x='450' y='123' width='50' height='13' rx='3' fill='#3D7BD9' opacity='0.75' /&gt;&#10;        &lt;rect x='44' y='142' width='50' height='13' rx='3' fill='#3D7BD9' opacity='0.75' /&gt;&#10;        &lt;rect x='102' y='142' width='50' height='13' rx='3' fill='#1E4FA8' opacity='0.75' /&gt;&#10;        &lt;rect x='160' y='142' width='50' height='13' rx='3' fill='#3D7BD9' opacity='0.75' /&gt;&#10;        &lt;rect x='218' y='142' width='50' height='13' rx='3' fill='#1E4FA8' opacity='0.75' /&gt;&#10;        &lt;rect x='276' y='142' width='50' height='13' rx='3' fill='#3D7BD9' opacity='0.75' /&gt;&#10;        &lt;rect x='334' y='142' width='50' height='13' rx='3' fill='#1E4FA8' opacity='0.75' /&gt;&#10;        &lt;rect x='392' y='142' width='50' height='13' rx='3' fill='#3D7BD9' opacity='0.75' /&gt;&#10;        &lt;rect x='450' y='142' width='50' height='13' rx='3' fill='#1E4FA8' opacity='0.75' /&gt;&#10;        &lt;rect x='44' y='161' width='50' height='13' rx='3' fill='#1E4FA8' opacity='0.75' /&gt;&#10;        &lt;rect x='102' y='161' width='50' height='13' rx='3' fill='#3D7BD9' opacity='0.75' /&gt;&#10;        &lt;rect x='160' y='161' width='50' height='13' rx='3' fill='#1E4FA8' opacity='0.75' /&gt;&#10;        &lt;rect x='218' y='161' width='50' height='13' rx='3' fill='#3D7BD9' opacity='0.75' /&gt;&#10;        &lt;rect x='276' y='161' width='50' height='13' rx='3' fill='#1E4FA8' opacity='0.75' /&gt;&#10;        &lt;rect x='334' y='161' width='50' height='13' rx='3' fill='#3D7BD9' opacity='0.75' /&gt;&#10;        &lt;rect x='392' y='161' width='50' height='13' rx='3' fill='#1E4FA8' opacity='0.75' /&gt;&#10;        &lt;rect x='450' y='161' width='50' height='13' rx='3' fill='#3D7BD9' opacity='0.75' /&gt;&#10;        &lt;rect x='44' y='180' width='50' height='13' rx='3' fill='#3D7BD9' opacity='0.75' /&gt;&#10;        &lt;rect x='102' y='180' width='50' height='13' rx='3' fill='#1E4FA8' opacity='0.75' /&gt;&#10;        &lt;rect x='160' y='180' width='50' height='13' rx='3' fill='#3D7BD9' opacity='0.75' /&gt;&#10;        &lt;rect x='218' y='180' width='50' height='13' rx='3' fill='#1E4FA8' opacity='0.75' /&gt;&#10;        &lt;rect x='276' y='180' width='50' height='13' rx='3' fill='#3D7BD9' opacity='0.75' /&gt;&#10;        &lt;rect x='334' y='180' width='50' height='13' rx='3' fill='#1E4FA8' opacity='0.75' /&gt;&#10;        &lt;rect x='392' y='180' width='50' height='13' rx='3' fill='#3D7BD9' opacity='0.75' /&gt;&#10;        &lt;rect x='450' y='180' width='50' height='13' rx='3' fill='#1E4FA8' opacity='0.75' /&gt;&#10;        &lt;text x='30' y='226' fill='#4A5568' fontSize='14'&gt;同构数组 · 向量化运算 · 数值计算引擎&lt;/text&gt;&#10;&#10;        &lt;rect x='0' y='260' width='560' height='220' rx='20' fill='#E8EFF8' stroke='#0E3F8C' strokeWidth='2.5' /&gt;&#10;        &lt;text x='30' y='306' fill='#0E3F8C' fontSize='26' fontWeight='bold' fontFamily='Inter, sans-serif'&gt;Pandas&lt;/text&gt;&#10;        &lt;text x='30' y='330' fill='#8B97A8' fontSize='14' fontFamily='Inter, sans-serif'&gt;DataFrame · labeled table&lt;/text&gt;&#10;        &lt;rect x='30' y='344' width='480' height='96' rx='10' fill='#FFFFFF' stroke='#D6DCE5' strokeWidth='1.5' /&gt;&#10;        &lt;rect x='38' y='352' width='464' height='18' rx='4' fill='#0E3F8C' opacity='0.85' /&gt;&#10;        &lt;rect x='38' y='375' width='464' height='12' rx='3' fill='#3D7BD9' opacity='0.55' /&gt;&#10;        &lt;rect x='38' y='391' width='380' height='12' rx='3' fill='#8B97A8' opacity='0.55' /&gt;&#10;        &lt;rect x='38' y='407' width='464' height='12' rx='3' fill='#3D7BD9' opacity='0.55' /&gt;&#10;        &lt;rect x='38' y='423' width='380' height='12' rx='3' fill='#8B97A8' opacity='0.55' /&gt;&#10;        &lt;text x='30' y='462' fill='#4A5568' fontSize='14'&gt;异构表格 · 标签索引 · 结构化数据操作&lt;/text&gt;&#10;&#10;        &lt;path d='M 280 230 L 280 260' stroke='#1E4FA8' strokeWidth='3' /&gt;&#10;        &lt;path d='M 272 252 L 280 262 L 288 252' stroke='#1E4FA8' strokeWidth='3' fill='none' /&gt;&#10;      &lt;/svg&gt;&#10;    &lt;/Box&gt;&#10;    &lt;Box style={{ flex: 1, gap: 16 }}&gt;&#10;      &lt;Text style={{ fontSize: 30, color: '#0E3F8C', fontWeight: 'bold' }}&gt;Pandas 建在 NumPy 之上&lt;/Text&gt;&#10;      &lt;Text style={{ fontSize: 17, color: '#4A5568', lineHeight: 1.6 }}&gt;&#10;        &lt;span style={{ fontWeight: 'bold', color: '#1A2230' }}&gt;NumPy&lt;/span&gt; 管「数字网格」——所有元素同类型，为速度而生；&#10;        &lt;span style={{ fontWeight: 'bold', color: '#1A2230' }}&gt;Pandas&lt;/span&gt; 管「真实表格」——每列可以是不同类型，带行/列标签。&#10;        &lt;br /&gt;&#10;        &lt;span style={{ color: '#8B97A8', fontSize: 15 }}&gt;Pandas is the high-level table API on top of NumPy arrays.&lt;/span&gt;&#10;      &lt;/Text&gt;&#10;      &lt;Box style={{ background: '#F7F9FC', border: '1px solid #E5E7EB', borderRadius: 12, padding: '18px 22px' }}&gt;&#10;        &lt;Text style={{ fontSize: 17, color: '#0E3F8C', fontWeight: 'bold', marginBottom: 10 }}&gt;怎么选 · When to Use Which&lt;/Text&gt;&#10;        {[&#10;          { q: '数值矩阵 / 图像张量 / 数学运算', a: '→ NumPy', c: '#3D7BD9' },&#10;          { q: 'CSV / 数据库表 / 混合类型列', a: '→ Pandas', c: '#0E3F8C' },&#10;          { q: '表格里取一列做数学运算', a: '→ 两者协作', c: '#1E4FA8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r.c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例：图像像素 = &lt;span style={{ fontWeight: 'bold', color: '#3D7BD9' }}&gt;NumPy&lt;/span&gt;；Titanic 乘客表 = &lt;span style={{ fontWeight: 'bold', color: '#0E3F8C' }}&gt;Pandas&lt;/span&gt;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7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09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 × Pandas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分工与配合</a:t>
            </a:r>
            <a:endParaRPr/>
          </a:p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6286500" y="1724025"/>
            <a:ext cx="5105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Source Han Sans SC"/>
                <a:ea typeface="Source Han Sans SC"/>
              </a:rPr>
              <a:t>Pandas </a:t>
            </a: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建在</a:t>
            </a:r>
            <a:r>
              <a:rPr lang="en-US" sz="2250" b="1">
                <a:solidFill>
                  <a:srgbClr val="0E3F8C"/>
                </a:solidFill>
                <a:latin typeface="Source Han Sans SC"/>
                <a:ea typeface="Source Han Sans SC"/>
              </a:rPr>
              <a:t> NumPy </a:t>
            </a: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之上</a:t>
            </a:r>
            <a:endParaRPr/>
          </a:p>
        </p:txBody>
      </p:sp>
      <p:sp>
        <p:nvSpPr>
          <p:cNvPr id="1174" name="" descr="{&quot;isTemplate&quot;:true,&quot;type&quot;:&quot;text&quot;}"/>
          <p:cNvSpPr txBox="1"/>
          <p:nvPr/>
        </p:nvSpPr>
        <p:spPr>
          <a:xfrm rot="0" flipH="0" flipV="0">
            <a:off x="6286500" y="2219325"/>
            <a:ext cx="51054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管「数字网格」——所有元素同类型，为速度而生；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Pandas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管「真实表格」——每列可以是不同类型，带行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列标签。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Pandas is the high-level table API on top of NumPy arrays.</a:t>
            </a:r>
            <a:endParaRPr/>
          </a:p>
        </p:txBody>
      </p:sp>
      <p:sp>
        <p:nvSpPr>
          <p:cNvPr id="1175" name=""/>
          <p:cNvSpPr/>
          <p:nvPr/>
        </p:nvSpPr>
        <p:spPr>
          <a:xfrm rot="0" flipH="0" flipV="0">
            <a:off x="6286500" y="3276600"/>
            <a:ext cx="51054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76" name="" descr="{&quot;isTemplate&quot;:true,&quot;type&quot;:&quot;text&quot;}"/>
          <p:cNvSpPr txBox="1"/>
          <p:nvPr/>
        </p:nvSpPr>
        <p:spPr>
          <a:xfrm rot="0" flipH="0" flipV="0">
            <a:off x="6496050" y="344805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怎么选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When to Use Which</a:t>
            </a:r>
            <a:endParaRPr/>
          </a:p>
        </p:txBody>
      </p:sp>
      <p:sp>
        <p:nvSpPr>
          <p:cNvPr id="1177" name=""/>
          <p:cNvSpPr/>
          <p:nvPr/>
        </p:nvSpPr>
        <p:spPr>
          <a:xfrm rot="0" flipH="0" flipV="0">
            <a:off x="6496050" y="37433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6591300" y="3790950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179" name="" descr="{&quot;isTemplate&quot;:true,&quot;type&quot;:&quot;text&quot;}"/>
          <p:cNvSpPr txBox="1"/>
          <p:nvPr/>
        </p:nvSpPr>
        <p:spPr>
          <a:xfrm rot="0" flipH="0" flipV="0">
            <a:off x="6858000" y="3771900"/>
            <a:ext cx="3533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数值矩阵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图像张量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数学运算</a:t>
            </a:r>
            <a:endParaRPr/>
          </a:p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10506075" y="3781425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NumPy</a:t>
            </a:r>
            <a:endParaRPr/>
          </a:p>
        </p:txBody>
      </p:sp>
      <p:sp>
        <p:nvSpPr>
          <p:cNvPr id="1181" name=""/>
          <p:cNvSpPr/>
          <p:nvPr/>
        </p:nvSpPr>
        <p:spPr>
          <a:xfrm rot="0" flipH="0" flipV="0">
            <a:off x="6496050" y="40671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6581775" y="41148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6858000" y="4095750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CSV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数据库表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混合类型列</a:t>
            </a:r>
            <a:endParaRPr/>
          </a:p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10487025" y="41052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→ Pandas</a:t>
            </a:r>
            <a:endParaRPr/>
          </a:p>
        </p:txBody>
      </p:sp>
      <p:sp>
        <p:nvSpPr>
          <p:cNvPr id="1185" name=""/>
          <p:cNvSpPr/>
          <p:nvPr/>
        </p:nvSpPr>
        <p:spPr>
          <a:xfrm rot="0" flipH="0" flipV="0">
            <a:off x="6496050" y="43910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86" name="" descr="{&quot;isTemplate&quot;:true,&quot;type&quot;:&quot;text&quot;}"/>
          <p:cNvSpPr txBox="1"/>
          <p:nvPr/>
        </p:nvSpPr>
        <p:spPr>
          <a:xfrm rot="0" flipH="0" flipV="0">
            <a:off x="6581775" y="44386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187" name="" descr="{&quot;isTemplate&quot;:true,&quot;type&quot;:&quot;text&quot;}"/>
          <p:cNvSpPr txBox="1"/>
          <p:nvPr/>
        </p:nvSpPr>
        <p:spPr>
          <a:xfrm rot="0" flipH="0" flipV="0">
            <a:off x="6858000" y="4419600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表格里取一列做数学运算</a:t>
            </a:r>
            <a:endParaRPr/>
          </a:p>
        </p:txBody>
      </p:sp>
      <p:sp>
        <p:nvSpPr>
          <p:cNvPr id="1188" name="" descr="{&quot;isTemplate&quot;:true,&quot;type&quot;:&quot;text&quot;}"/>
          <p:cNvSpPr txBox="1"/>
          <p:nvPr/>
        </p:nvSpPr>
        <p:spPr>
          <a:xfrm rot="0" flipH="0" flipV="0">
            <a:off x="10420350" y="4429125"/>
            <a:ext cx="76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→ </a:t>
            </a: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两者协作</a:t>
            </a:r>
            <a:endParaRPr/>
          </a:p>
        </p:txBody>
      </p:sp>
      <p:sp>
        <p:nvSpPr>
          <p:cNvPr id="1189" name=""/>
          <p:cNvSpPr/>
          <p:nvPr/>
        </p:nvSpPr>
        <p:spPr>
          <a:xfrm rot="0" flipH="0" flipV="0">
            <a:off x="6286500" y="5038725"/>
            <a:ext cx="5143500" cy="295275"/>
          </a:xfrm>
          <a:custGeom>
            <a:pathLst>
              <a:path w="540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0" name="" descr="{&quot;isTemplate&quot;:true,&quot;type&quot;:&quot;text&quot;}"/>
          <p:cNvSpPr txBox="1"/>
          <p:nvPr/>
        </p:nvSpPr>
        <p:spPr>
          <a:xfrm rot="0" flipH="0" flipV="0">
            <a:off x="6457950" y="5038725"/>
            <a:ext cx="49339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例：图像像素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en-US" sz="1200" b="1">
                <a:solidFill>
                  <a:srgbClr val="3D7BD9"/>
                </a:solidFill>
                <a:latin typeface="Source Han Sans SC"/>
                <a:ea typeface="Source Han Sans SC"/>
              </a:rPr>
              <a:t>NumPy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；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Titanic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乘客表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Pandas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pic>
        <p:nvPicPr>
          <p:cNvPr id="119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19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9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：向量化运算 · Vectorization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4, flexShrink: 0 }}&gt;&#10;      &lt;Text style={{ fontSize: 16, color: '#8B97A8', fontWeight: '600' }}&gt;两种写法 · Two Ways&lt;/Text&gt;&#10;      &lt;Box style={{ background: '#1A2230', borderRadius: 12, padding: '18px 22px' }}&gt;&#10;        &lt;Text style={{ fontSize: 14, color: '#8B97A8', marginBottom: 8 }}&gt;# Python 循环 · slow loop&lt;/Text&gt;&#10;        &lt;Text style={{ fontSize: 15.5, color: '#FBD5A9', lineHeight: 1.75, fontFamily: 'Consolas, Menlo, monospace' }}&gt;&#10;          result = []{'\n'}&#10;          for x in data:{'\n'}&#10;          &amp;nbsp;&amp;nbsp;&amp;nbsp;&amp;nbsp;result.append(x * 2 + 1)&#10;        &lt;/Text&gt;&#10;        &lt;Box style={{ height: 1, background: 'rgba(255,255,255,0.15)', margin: '12px 0' }} /&gt;&#10;        &lt;Text style={{ fontSize: 14, color: '#8B97A8', marginBottom: 8 }}&gt;# NumPy 向量化 · fast vectorized&lt;/Text&gt;&#10;        &lt;Text style={{ fontSize: 15.5, color: '#A8D8B9', lineHeight: 1.75, fontFamily: 'Consolas, Menlo, monospace' }}&gt;&#10;          result = data * 2 + 1{'\n'}&#10;          # 一行，快 10–100×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广播 Broadcasting：&lt;/span&gt;形状不同的数组自动对齐运算，&lt;span style={{ fontFamily: 'Consolas, Menlo, monospace' }}&gt;(100,1) + (1,3) → (100,3)&lt;/span&gt;，无需复制数据。&#10;        &lt;/Text&gt;&#10;      &lt;/Box&gt;&#10;    &lt;/Box&gt;&#10;    &lt;Box style={{ flex: 1, gap: 14, justifyContent: 'center' }}&gt;&#10;      &lt;Text style={{ fontSize: 26, color: '#0E3F8C', fontWeight: 'bold' }}&gt;为什么向量化快？&lt;/Text&gt;&#10;      {[&#10;        { i: 'microchip', t: 'C 层执行', d: '循环在编译后的 C 代码里跑，绕过 Python 解释器的逐行开销。' },&#10;        { i: 'memory', t: '连续内存', d: 'ndarray 一整块连续内存，CPU 缓存命中率远高于 Python 列表。' },&#10;        { i: 'bolt', t: 'SIMD 并行', d: '一条指令处理多个数据，硬件级并行白拿的性能。' },&#10;      ].map((k, i) =&gt; (&#10;        &lt;Box key={i} style={{ flexDirection: 'row', gap: 14, background: '#F7F9FC', border: '1px solid #E5E7EB', borderRadius: 10, padding: '14px 18px', alignItems: 'flex-start' }}&gt;&#10;          &lt;Box style={{ width: 40, height: 40, borderRadius: 10, background: '#E8EFF8', justifyContent: 'center', alignItems: 'center', flexShrink: 0 }}&gt;&#10;            &lt;FAIcon name={k.i} style={{ fill: '#1E4FA8', width: 20, height: 20 }} /&gt;&#10;          &lt;/Box&gt;&#10;          &lt;Box&gt;&#10;            &lt;Text style={{ fontSize: 17, color: '#1A2230', fontWeight: 'bold' }}&gt;{k.t}&lt;/Text&gt;&#10;            &lt;Text style={{ fontSize: 14.5, color: '#4A5568', lineHeight: 1.55, marginTop: 2 }}&gt;{k.d}&lt;/Text&gt;&#10;          &lt;/Box&gt;&#10;        &lt;/Box&gt;&#10;      ))}&#10;      &lt;Box style={{ borderLeft: '4px solid #0E3F8C', paddingLeft: 14 }}&gt;&#10;        &lt;Text style={{ fontSize: 16, color: '#1A2230', lineHeight: 1.6 }}&gt;&#10;          &lt;span style={{ fontWeight: 'bold', color: '#0E3F8C' }}&gt;判断：&lt;/span&gt;「能向量化就不用 for 循环」是 AI 工程代码的&lt;span style={{ fontWeight: 'bold', color: '#0E3F8C' }}&gt;第一习惯&lt;/span&gt;——W5 之后所有张量运算都建立在这上面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33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：向量化运算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Vectorization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44840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两种写法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Two Ways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772250"/>
            <a:ext cx="5334000" cy="2619375"/>
          </a:xfrm>
          <a:prstGeom prst="roundRect">
            <a:avLst>
              <a:gd name="adj" fmla="val 4364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09650" y="194370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Python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循环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slow loop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218182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result = []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for x in data: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    result.append(x * 2 + 1)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09650" y="322957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335340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NumPy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向量化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fast vectorized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3591525"/>
            <a:ext cx="4914900" cy="6286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result = data * 2 + 1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# </a:t>
            </a:r>
            <a:r>
              <a:rPr lang="zh-CN" sz="1163">
                <a:solidFill>
                  <a:srgbClr val="A8D8B9"/>
                </a:solidFill>
                <a:latin typeface="Consolas"/>
                <a:ea typeface="Consolas"/>
              </a:rPr>
              <a:t>一行，快</a:t>
            </a: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 10–100×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00100" y="452497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463927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广播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Broadcasting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：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形状不同的数组自动对齐运算，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(100,1) + (1,3) → (100,3)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，无需复制数据。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419850" y="2058000"/>
            <a:ext cx="4972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E3F8C"/>
                </a:solidFill>
                <a:latin typeface="Source Han Sans SC"/>
                <a:ea typeface="Source Han Sans SC"/>
              </a:rPr>
              <a:t>为什么向量化快？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19850" y="249615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591300" y="26295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86550" y="2724750"/>
            <a:ext cx="190500" cy="1905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105650" y="2629500"/>
            <a:ext cx="390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C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层执行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105650" y="2848575"/>
            <a:ext cx="39052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循环在编译后的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C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代码里跑，绕过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Python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解释器的逐行开销。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419850" y="337245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591300" y="35058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86550" y="3601050"/>
            <a:ext cx="190500" cy="19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05650" y="3505800"/>
            <a:ext cx="4019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连续内存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105650" y="3724875"/>
            <a:ext cx="4019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ndarray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一整块连续内存，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CPU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缓存命中率远高于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Python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列表。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419850" y="424875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6591300" y="43821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86550" y="4477350"/>
            <a:ext cx="190500" cy="190500"/>
          </a:xfrm>
          <a:prstGeom prst="rect">
            <a:avLst/>
          </a:prstGeom>
          <a:ln/>
        </p:spPr>
      </p:pic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105650" y="4382100"/>
            <a:ext cx="3038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SIMD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并行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05650" y="4601175"/>
            <a:ext cx="303847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一条指令处理多个数据，硬件级并行白拿的性能。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419850" y="5125050"/>
            <a:ext cx="5010150" cy="590550"/>
          </a:xfrm>
          <a:custGeom>
            <a:pathLst>
              <a:path w="52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591300" y="5125050"/>
            <a:ext cx="4800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「能向量化就不用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循环」是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工程代码的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第一习惯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——W5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之后所有张量运算都建立在这上面。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进阶：索引、切片与广播 · Indexing &amp;amp; Broadcasting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2, flexShrink: 0 }}&gt;&#10;      &lt;Box style={{ background: '#1A2230', borderRadius: 12, padding: '16px 22px' }}&gt;&#10;        &lt;Text style={{ fontSize: 14, color: '#8B97A8', marginBottom: 6 }}&gt;# 索引与切片 · index &amp;amp; slice&lt;/Text&gt;&#10;        &lt;Text style={{ fontSize: 15, color: '#A8D8B9', lineHeight: 1.8, fontFamily: 'Consolas, Menlo, monospace' }}&gt;&#10;          a = np.arange(12).reshape(3, 4){'\n'}&#10;          a[0, 1]&amp;nbsp;&amp;nbsp;&amp;nbsp;&amp;nbsp;&amp;nbsp;&amp;nbsp;&amp;nbsp;# 第 0 行第 1 列 → 1{'\n'}&#10;          a[:, 2]&amp;nbsp;&amp;nbsp;&amp;nbsp;&amp;nbsp;&amp;nbsp;&amp;nbsp;# 第 2 列（所有行）{'\n'}&#10;          a[1:, ::-1]&amp;nbsp;&amp;nbsp;# 第 1 行起、列倒序&#10;        &lt;/Text&gt;&#10;        &lt;Box style={{ height: 1, background: 'rgba(255,255,255,0.15)', margin: '10px 0' }} /&gt;&#10;        &lt;Text style={{ fontSize: 14, color: '#8B97A8', marginBottom: 6 }}&gt;# 常用聚合 · aggregate&lt;/Text&gt;&#10;        &lt;Text style={{ fontSize: 15, color: '#A8D8B9', lineHeight: 1.8, fontFamily: 'Consolas, Menlo, monospace' }}&gt;&#10;          a.sum(axis=0)&amp;nbsp;&amp;nbsp;# 按列求和{'\n'}&#10;          a.mean(axis=1)&amp;nbsp;# 按行求均值{'\n'}&#10;          a.argmax()&amp;nbsp;&amp;nbsp;&amp;nbsp;&amp;nbsp;# 最大值位置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切片是视图不是拷贝：&lt;/span&gt;&#10;          &lt;span style={{ fontFamily: 'Consolas, Menlo, monospace' }}&gt;b = a[:, 0]&lt;/span&gt; 改 b 也会改 a——要独立副本用 &lt;span style={{ fontFamily: 'Consolas, Menlo, monospace' }}&gt;.copy()&lt;/span&gt;。&#10;        &lt;/Text&gt;&#10;      &lt;/Box&gt;&#10;    &lt;/Box&gt;&#10;    &lt;Box style={{ flex: 1, gap: 12, justifyContent: 'center' }}&gt;&#10;      &lt;Text style={{ fontSize: 20, color: '#0E3F8C', fontWeight: 'bold' }}&gt;广播规则 · Broadcasting Rules&lt;/Text&gt;&#10;      &lt;Text style={{ fontSize: 15, color: '#4A5568', lineHeight: 1.6 }}&gt;从&lt;span style={{ fontWeight: 'bold', color: '#1A2230' }}&gt;末尾维度&lt;/span&gt;逐个对齐：相等，或其中一个是 1，就能广播扩展。&lt;/Text&gt;&#10;      &lt;Box style={{ background: '#F7F9FC', border: '1px solid #E5E7EB', borderRadius: 12, padding: '16px 20px', gap: 8 }}&gt;&#10;        {[&#10;          { s: '(3, 4) + (4,)', ok: true, d: '末维 4 = 4 ✓ → 自动按行扩展' },&#10;          { s: '(3, 4) + (3,)', ok: false, d: '末维 4 ≠ 3 ✗ → 报错 Shape Error' },&#10;          { s: '(3, 1) + (1, 4)', ok: true, d: '各有一个 1 ✓ → 结果 (3, 4)' },&#10;        ].map((r, i) =&gt; (&#10;          &lt;Box key={i} style={{ flexDirection: 'row', alignItems: 'center', gap: 12 }}&gt;&#10;            &lt;Text style={{ fontSize: 15.5, color: r.ok ? '#0E3F8C' : '#8B97A8', fontFamily: 'Consolas, Menlo, monospace', fontWeight: 'bold', width: 190 }}&gt;{r.s}&lt;/Text&gt;&#10;            &lt;FAIcon name={r.ok ? 'check-circle' : 'times-circle'} style={{ fill: r.ok ? '#1E4FA8' : '#B0B8C4', width: 18, height: 18 }} /&gt;&#10;            &lt;Text style={{ fontSize: 14, color: '#4A5568', flex: 1 }}&gt;{r.d}&lt;/Text&gt;&#10;          &lt;/Box&gt;&#10;        ))}&#10;      &lt;/Box&gt;&#10;      &lt;Box style={{ borderLeft: '4px solid #0E3F8C', paddingLeft: 14 }}&gt;&#10;        &lt;Text style={{ fontSize: 15, color: '#1A2230', lineHeight: 1.6 }}&gt;&#10;          &lt;span style={{ fontWeight: 'bold', color: '#0E3F8C' }}&gt;为什么现在学：&lt;/span&gt;W5 的神经网络里，权重矩阵的每次更新都是「切片 + 广播」——这两页是张量运算的地基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791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进阶：索引、切片与广播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Indexing &amp; Broadcasting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00100" y="1719862"/>
            <a:ext cx="5334000" cy="3114675"/>
          </a:xfrm>
          <a:prstGeom prst="roundRect">
            <a:avLst>
              <a:gd name="adj" fmla="val 367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9650" y="187226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索引与切片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index &amp; slice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09650" y="2091337"/>
            <a:ext cx="4914900" cy="12382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 = np.arange(12).reshape(3, 4)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a[0, 1]   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0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行第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1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列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→ 1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a[:, 2]  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2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列（所有行）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a[1:, ::-1]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1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行起、列倒序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1009650" y="3424837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09650" y="352961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常用聚合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aggregate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09650" y="3748687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a.sum(axis=0)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按列求和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a.mean(axis=1)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按行求均值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a.argmax()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最大值位置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00100" y="4948837"/>
            <a:ext cx="5334000" cy="495300"/>
          </a:xfrm>
          <a:prstGeom prst="roundRect">
            <a:avLst>
              <a:gd name="adj" fmla="val 1923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71550" y="5063137"/>
            <a:ext cx="49911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切片是视图不是拷贝：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b = a[:, 0]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b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也会改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a——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要独立副本用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.copy()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419850" y="2958112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广播规则</a:t>
            </a: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 · Broadcasting Rules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19850" y="3301012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从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末尾维度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逐个对齐：相等，或其中一个是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1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，就能广播扩展。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19850" y="3691537"/>
            <a:ext cx="4972050" cy="1000125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10350" y="3843937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4) + (4,)</a:t>
            </a:r>
            <a:endParaRPr/>
          </a:p>
        </p:txBody>
      </p:sp>
      <p:pic>
        <p:nvPicPr>
          <p:cNvPr id="73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853462"/>
            <a:ext cx="171450" cy="17145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20150" y="3853462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末维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4 = 4 ✓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自动按行扩展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10350" y="410111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8B97A8"/>
                </a:solidFill>
                <a:latin typeface="Consolas"/>
                <a:ea typeface="Consolas"/>
              </a:rPr>
              <a:t>(3, 4) + (3,)</a:t>
            </a:r>
            <a:endParaRPr/>
          </a:p>
        </p:txBody>
      </p:sp>
      <p:pic>
        <p:nvPicPr>
          <p:cNvPr id="76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534400" y="4110637"/>
            <a:ext cx="171450" cy="171450"/>
          </a:xfrm>
          <a:prstGeom prst="rect">
            <a:avLst/>
          </a:prstGeom>
          <a:ln/>
        </p:spPr>
      </p:pic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20150" y="4110637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末维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4 ≠ 3 ✗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报错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Shape Error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610350" y="4358287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1) + (1, 4)</a:t>
            </a:r>
            <a:endParaRPr/>
          </a:p>
        </p:txBody>
      </p:sp>
      <p:pic>
        <p:nvPicPr>
          <p:cNvPr id="79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4367812"/>
            <a:ext cx="171450" cy="17145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0150" y="4367812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各有一个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 ✓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结果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(3, 4)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19850" y="4805962"/>
            <a:ext cx="5010150" cy="552450"/>
          </a:xfrm>
          <a:custGeom>
            <a:pathLst>
              <a:path w="526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591300" y="4805962"/>
            <a:ext cx="4800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为什么现在学：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W5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的神经网络里，权重矩阵的每次更新都是「切片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广播」——这两页是张量运算的地基。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：操作链 · The Manipulation Chain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加载', e: 'Load', d: 'read_csv / read_sql', c: '#3D7BD9' },&#10;        { n: '2', t: '检查', e: 'Inspect', d: 'head / info / describe', c: '#1E4FA8' },&#10;        { n: '3', t: '选取', e: 'Select', d: 'loc / iloc / 条件筛选', c: '#3D7BD9' },&#10;        { n: '4', t: '变换', e: 'Transform', d: '赋值 / apply / 分组', c: '#1E4FA8' },&#10;        { n: '5', t: '聚合', e: 'Aggregate', d: 'groupby / pivot_table', c: '#0E3F8C' },&#10;      ].map((s, i) =&gt; (&#10;        &lt;Box key={i} style={{ flex: 1, position: 'relative' }}&gt;&#10;          &lt;Box style={{ background: '#F7F9FC', border: '1px solid #D6DCE5', borderTop: '4px solid ' + s.c, borderRadius: 12, padding: '16px 16px', height: 190, justifyContent: 'space-between' }}&gt;&#10;            &lt;Box style={{ width: 38, height: 38, borderRadius: 10, background: s.c, justifyContent: 'center', alignItems: 'center' }}&gt;&#10;              &lt;Text style={{ fontSize: 18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, fontFamily: 'Consolas, Menlo, monospace' }}&gt;{s.d}&lt;/Text&gt;&#10;            &lt;/Box&gt;&#10;          &lt;/Box&gt;&#10;          {i &lt; 4 &amp;&amp; (&#10;            &lt;Box style={{ position: 'absolute', right: -13, top: 82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20, marginTop: 24, alignItems: 'stretch' }}&gt;&#10;      &lt;Box style={{ width: 460, background: '#1A2230', borderRadius: 12, padding: '16px 22px', flexShrink: 0 }}&gt;&#10;        &lt;Text style={{ fontSize: 14, color: '#8B97A8', marginBottom: 6 }}&gt;# Titanic: 一条链回答一个问题&lt;/Text&gt;&#10;        &lt;Text style={{ fontSize: 15, color: '#A8D8B9', lineHeight: 1.8, fontFamily: 'Consolas, Menlo, monospace' }}&gt;&#10;          (df[df.age &amp;gt; 18]{'\n'}&#10;          &amp;nbsp;&amp;nbsp;.groupby('sex')['survived']{'\n'}&#10;          &amp;nbsp;&amp;nbsp;.mean())&#10;        &lt;/Text&gt;&#10;      &lt;/Box&gt;&#10;      &lt;Box style={{ flex: 1, justifyContent: 'center' }}&gt;&#10;        &lt;Text style={{ fontSize: 16, color: '#1A2230', lineHeight: 1.7 }}&gt;&#10;          &lt;span style={{ fontWeight: 'bold', color: '#0E3F8C' }}&gt;判断：&lt;/span&gt;一个 &lt;span style={{ fontFamily: 'Consolas, Menlo, monospace' }}&gt;DataFrame&lt;/span&gt; 从头贯穿到尾——&#10;          AI 项目里 80% 的数据准备工作，就是这五步的&lt;span style={{ fontWeight: 'bold', color: '#0E3F8C' }}&gt;排列组合&lt;/span&gt;。&#10;          &lt;br /&gt;&#10;          &lt;span style={{ fontSize: 13.5, color: '#8B97A8' }}&gt;One DataFrame flows through the whole pipeline — 80% of data prep is this chain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91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Pandas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：操作链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Manipulation Chain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3819525"/>
            <a:ext cx="4381500" cy="1457325"/>
          </a:xfrm>
          <a:prstGeom prst="roundRect">
            <a:avLst>
              <a:gd name="adj" fmla="val 784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09650" y="3971925"/>
            <a:ext cx="396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Titanic: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一条链回答一个问题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09650" y="4191000"/>
            <a:ext cx="39624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(df[df.age &gt; 18]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.groupby('sex')['survived']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.mean())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72100" y="4105275"/>
            <a:ext cx="60198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一个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DataFrame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从头贯穿到尾——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项目里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80%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的数据准备工作，就是这五步的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排列组合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One DataFrame flows through the whole pipeline — 80% of data prep is this chain.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80010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80010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95250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95375" y="2047875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52500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加载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52500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Load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95250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read_csv / read_sql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4322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4322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309562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22897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095625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检查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095625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Inspect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309562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head / info / describe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5086350" y="1819275"/>
            <a:ext cx="2019300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086350" y="1819275"/>
            <a:ext cx="2019300" cy="1771650"/>
          </a:xfrm>
          <a:custGeom>
            <a:pathLst>
              <a:path w="212" h="18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52387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3721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238750" y="282892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选取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5238750" y="3067050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Select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238750" y="3276600"/>
            <a:ext cx="1714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loc / iloc / </a:t>
            </a: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条件筛选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21995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721995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73723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5057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7372350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变换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7372350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Transform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737235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赋值</a:t>
            </a: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 / apply / </a:t>
            </a: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分组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936307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936307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951547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64882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9515475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聚合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515475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Aggregate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951547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groupby / pivot_table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12 / 32</a:t>
            </a:r>
            <a:endParaRPr/>
          </a:p>
        </p:txBody>
      </p:sp>
      <p:pic>
        <p:nvPicPr>
          <p:cNvPr id="13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762250" y="2562225"/>
            <a:ext cx="190500" cy="190500"/>
          </a:xfrm>
          <a:prstGeom prst="rect">
            <a:avLst/>
          </a:prstGeom>
          <a:ln/>
        </p:spPr>
      </p:pic>
      <p:pic>
        <p:nvPicPr>
          <p:cNvPr id="13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05375" y="2562225"/>
            <a:ext cx="190500" cy="190500"/>
          </a:xfrm>
          <a:prstGeom prst="rect">
            <a:avLst/>
          </a:prstGeom>
          <a:ln/>
        </p:spPr>
      </p:pic>
      <p:pic>
        <p:nvPicPr>
          <p:cNvPr id="13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38975" y="2562225"/>
            <a:ext cx="190500" cy="190500"/>
          </a:xfrm>
          <a:prstGeom prst="rect">
            <a:avLst/>
          </a:prstGeom>
          <a:ln/>
        </p:spPr>
      </p:pic>
      <p:pic>
        <p:nvPicPr>
          <p:cNvPr id="13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82100" y="2562225"/>
            <a:ext cx="190500" cy="1905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3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 实战速查 · Cheat Sheet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&lt;Box style={{ flex: 1, gap: 10 }}&gt;&#10;        &lt;Text style={{ fontSize: 16, color: '#0E3F8C', fontWeight: 'bold' }}&gt;① 选取 · Select&lt;/Text&gt;&#10;        {[&#10;          { c: &quot;df.loc[df['age'] &gt; 30, 'fare']&quot;, d: '条件 + 按标签取列' },&#10;          { c: 'df.iloc[0:5, [0, 3]]', d: '按位置取前 5 行' },&#10;          { c: &quot;df[df['sex'].isin(['male'])]&quot;, d: '多值过滤' },&#10;        ].map((r, i) =&gt; (&#10;          &lt;Box key={i} style={{ background: '#F7F9FC', border: '1px solid #E5E7EB', borderLeft: '3px solid #3D7BD9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② 变换 · Transform&lt;/Text&gt;&#10;        {[&#10;          { c: &quot;df['fare'] = df['fare'].fillna(0)&quot;, d: '新列 = 旧列变换（可链式）' },&#10;          { c: &quot;df['is_child'] = df['age'] &lt; 12&quot;, d: '布尔列一步生成' },&#10;          { c: &quot;df['name'].str.lower()&quot;, d: '文本列批量处理' },&#10;        ].map((r, i) =&gt; (&#10;          &lt;Box key={i} style={{ background: '#F7F9FC', border: '1px solid #E5E7EB', borderLeft: '3px solid #1E4FA8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③ 聚合与合并 · Group &amp;amp; Merge&lt;/Text&gt;&#10;        {[&#10;          { c: &quot;df.groupby('class')['fare'].agg(['mean', 'count'])&quot;, d: '多指标聚合' },&#10;          { c: &quot;pd.merge(df1, df2, on='id', how='left')&quot;, d: '左连接保主表' },&#10;          { c: &quot;pd.pivot_table(df, index='sex', values='survived')&quot;, d: '透视表一 行代码' },&#10;        ].map((r, i) =&gt; (&#10;          &lt;Box key={i} style={{ background: '#F7F9FC', border: '1px solid #E5E7EB', borderLeft: '3px solid #0E3F8C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&lt;/Box&gt;&#10;    &lt;Box style={{ flexDirection: 'row', gap: 16, marginTop: 14 }}&gt;&#10;      &lt;Box style={{ flex: 1.2, background: '#1A2230', borderRadius: 10, padding: '13px 20px' }}&gt;&#10;        &lt;Text style={{ fontSize: 13.5, color: '#8B97A8' }}&gt;# 经典陷阱：链式索引 · chained indexing&lt;/Text&gt;&#10;        &lt;Text style={{ fontSize: 14, color: '#FBD5A9', lineHeight: 1.7, fontFamily: 'Consolas, Menlo, monospace' }}&gt;&#10;          df[df['age'] &amp;gt; 30]['fare'] = 0&amp;nbsp;&amp;nbsp;&lt;span style={{ color: '#A8D8B9' }}&gt;# ✗ 可能不生效&lt;/span&gt;&#10;        &lt;/Text&gt;&#10;        &lt;Text style={{ fontSize: 14, color: '#A8D8B9', lineHeight: 1.7, fontFamily: 'Consolas, Menlo, monospace' }}&gt;&#10;          df.loc[df['age'] &amp;gt; 30, 'fare'] = 0&amp;nbsp;&amp;nbsp;&lt;span style={{ color: '#A8D8B9' }}&gt;# ✓ 正确写法&lt;/span&gt;&#10;        &lt;/Text&gt;&#10;      &lt;/Box&gt;&#10;      &lt;Box style={{ flex: 1, borderLeft: '4px solid #0E3F8C', paddingLeft: 14, justifyContent: 'center' }}&gt;&#10;        &lt;Text style={{ fontSize: 15, color: '#1A2230', lineHeight: 1.6 }}&gt;&#10;          这 9 行代码覆盖 Lab 中 &lt;span style={{ fontWeight: 'bold', color: '#0E3F8C' }}&gt;90% 的操作&lt;/span&gt;——建议截图贴在桌边。&#10;          &lt;span style={{ fontSize: 13, color: '#8B97A8' }}&gt;Print this and keep it next to your keyboard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3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Pandas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实战速查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Cheat Sheet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①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选取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Select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828675" y="137160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828675" y="137160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" y="146685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df.loc[df['age'] &gt; 30, 'fare']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62025" y="16573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条件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+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按标签取列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828675" y="19907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828675" y="19907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" y="20859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df.iloc[0:5, [0, 3]]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62025" y="22764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按位置取前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5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828675" y="260985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828675" y="260985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62025" y="270510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df[df['sex'].isin(['male'])]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62025" y="28956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多值过滤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391025" y="1085850"/>
            <a:ext cx="3409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②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变换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Transform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4419600" y="137160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4419600" y="137160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552950" y="146685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df['fare'] = df['fare'].fillna(0)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552950" y="165735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新列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=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旧列变换（可链式）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419600" y="1990725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4419600" y="1990725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52950" y="2085975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df['is_child'] = df['age'] &lt; 12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552950" y="2276475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布尔列一步生成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4419600" y="260985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4419600" y="260985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552950" y="270510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df['name'].str.lower()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552950" y="289560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文本列批量处理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972425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③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聚合与合并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Group &amp; Merge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8001000" y="137160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8001000" y="137160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134350" y="146685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df.groupby('class')['fare'].agg(['mean', 'count'])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134350" y="18097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多指标聚合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8001000" y="21431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2" name=""/>
          <p:cNvSpPr/>
          <p:nvPr/>
        </p:nvSpPr>
        <p:spPr>
          <a:xfrm rot="0" flipH="0" flipV="0">
            <a:off x="8001000" y="21431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34350" y="22383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pd.merge(df1, df2, on='id', how='left')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134350" y="24288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左连接保主表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8001000" y="276225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8001000" y="276225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134350" y="285750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pd.pivot_table(df, index='sex', values='survived')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134350" y="32004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透视表一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行代码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800100" y="5000625"/>
            <a:ext cx="5695950" cy="962025"/>
          </a:xfrm>
          <a:prstGeom prst="roundRect">
            <a:avLst>
              <a:gd name="adj" fmla="val 990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5314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经典陷阱：链式索引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· chained indexing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BD5A9"/>
                </a:solidFill>
                <a:latin typeface="Consolas"/>
                <a:ea typeface="Consolas"/>
              </a:rPr>
              <a:t>df[df['age'] &gt; 30]['fare']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✗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可能不生效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90600" y="5562600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df.loc[df['age'] &gt; 30, 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✓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正确写法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648450" y="5000625"/>
            <a:ext cx="4781550" cy="962025"/>
          </a:xfrm>
          <a:custGeom>
            <a:pathLst>
              <a:path w="50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819900" y="5229225"/>
            <a:ext cx="4572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这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9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行代码覆盖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中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90%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的操作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——建议截图贴在桌边。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Print this and keep it next to your keyboard.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13 / 32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87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可视化与 EDA&lt;/Text&gt;&#10;        &lt;Text style={{ fontSize: 26, color: '#8B97A8', fontWeight: '600', marginTop: 6 }}&gt;Visualization &amp;amp; Exploratory Analysis&lt;/Text&gt;&#10;      &lt;/Box&gt;&#10;    &lt;/Box&gt;&#10;    &lt;Box style={{ flexDirection: 'row', gap: 24 }}&gt;&#10;      {[&#10;        { t: '图要对题', e: 'Right Chart' },&#10;        { t: '探索五步', e: 'EDA 5 Steps' },&#10;        { t: '先看后建', e: 'Look Before Modeling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2576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可视化与</a:t>
            </a: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 EDA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257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Visualization &amp; Exploratory Analysis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图要对题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Right Chart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探索五步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EDA 5 Steps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先看后建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Look Before Modeling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四类图，四个问题 · Chart Types × Question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q: '分布是什么样？', qt: 'Distribution', t: '直方图', e: 'Histogram',&#10;          d: '一个变量的取值形状：偏态、多峰、截断。', tool: 'df[col].plot.hist()',&#10;          bars: [22, 48, 72, 95, 80, 55, 38, 20, 10, 5],&#10;        },&#10;        {&#10;          q: '两个变量什么关系？', qt: 'Relationship', t: '散点图', e: 'Scatter Plot',&#10;          d: '相关性、非线性、聚类分组一目了然。', tool: 'df.plot.scatter(x,y)',&#10;          dots: [[15, 70], [30, 60], [45, 55], [60, 45], [75, 38], [90, 25], [105, 22], [120, 12]],&#10;        },&#10;        {&#10;          q: '组间谁大谁小？', qt: 'Comparison', t: '条形图', e: 'Bar Chart',&#10;          d: '类别变量的聚合值对比，误差线可加。', tool: 'df.groupby().mean().plot.bar()',&#10;          bars: [45, 68, 82, 59],&#10;        },&#10;        {&#10;          q: '哪些特征相关？', qt: 'Correlation', t: '热力图', e: 'Heatmap',&#10;          d: '多变量两两相关性矩阵，特征筛选入口。', tool: 'sns.heatmap(df.corr())',&#10;          heat: true,&#10;        },&#10;      ].map((c, i) =&gt; (&#10;        &lt;Box key={i} style={{ flex: 1, background: '#F7F9FC', border: '1px solid #E5E7EB', borderTop: '4px solid ' + ['#3D7BD9', '#1E4FA8', '#3D7BD9', '#0E3F8C'][i], borderRadius: 12, padding: '16px 18px', justifyContent: 'space-between' }}&gt;&#10;          &lt;Box&gt;&#10;            &lt;Text style={{ fontSize: 14, color: '#8B97A8', fontWeight: '600' }}&gt;{c.qt}&lt;/Text&gt;&#10;            &lt;Text style={{ fontSize: 18, color: '#1A2230', fontWeight: 'bold', marginTop: 2 }}&gt;{c.q}&lt;/Text&gt;&#10;            &lt;Box style={{ flexDirection: 'row', alignItems: 'baseline', gap: 8, marginTop: 2 }}&gt;&#10;              &lt;Text style={{ fontSize: 16, color: '#1E4FA8', fontWeight: 'bold' }}&gt;{c.t}&lt;/Text&gt;&#10;              &lt;Text style={{ fontSize: 12.5, color: '#8B97A8' }}&gt;{c.e}&lt;/Text&gt;&#10;            &lt;/Box&gt;&#10;          &lt;/Box&gt;&#10;          &lt;Box style={{ height: 110, justifyContent: 'center', alignItems: 'center' }}&gt;&#10;            {c.bars &amp;&amp; !c.heat &amp;&amp; (&#10;              &lt;svg width={220} height={100} viewBox='0 0 220 100'&gt;&#10;                {c.bars.map((h, bi) =&gt; (&#10;                  &lt;rect key={bi} x={bi * 22 + 2} y={90 - h * 0.85} width='16' height={h * 0.85} rx='2' fill={i === 2 ? '#1E4FA8' : '#3D7BD9'} opacity='0.85' /&gt;&#10;                ))}&#10;              &lt;/svg&gt;&#10;            )}&#10;            {c.dots &amp;&amp; (&#10;              &lt;svg width={220} height={100} viewBox='0 0 220 100'&gt;&#10;                {c.dots.map((p, di) =&gt; (&#10;                  &lt;circle key={di} cx={p[0] + 10} cy={p[1]} r='6' fill='#1E4FA8' opacity='0.8' /&gt;&#10;                ))}&#10;              &lt;/svg&gt;&#10;            )}&#10;            {c.heat &amp;&amp; (&#10;              &lt;svg width={220} height={100} viewBox='0 0 220 100'&gt;&#10;                {[&#10;                  ['#0E3F8C', '#1E4FA8', '#3D7BD9', '#8B97A8'],&#10;                  ['#1E4FA8', '#0E3F8C', '#3D7BD9', '#B0C4E8'],&#10;                  ['#3D7BD9', '#3D7BD9', '#0E3F8C', '#1E4FA8'],&#10;                  ['#8B97A8', '#B0C4E8', '#1E4FA8', '#0E3F8C'],&#10;                ].map((row, ri) =&gt;&#10;                  row.map((col, ci) =&gt; (&#10;                    &lt;rect key={`${ri}-${ci}`} x={ci * 52 + 6} y={ri * 22 + 4} width='48' height='18' rx='3' fill={col} opacity='0.9' /&gt;&#10;                  ))&#10;                )}&#10;              &lt;/svg&gt;&#10;            )}&#10;          &lt;/Box&gt;&#10;          &lt;Box&gt;&#10;            &lt;Text style={{ fontSize: 13.5, color: '#4A5568', lineHeight: 1.5 }}&gt;{c.d}&lt;/Text&gt;&#10;            &lt;Text style={{ fontSize: 12, color: '#1E4FA8', fontFamily: 'Consolas, Menlo, monospace', marginTop: 6 }}&gt;{c.tool}&lt;/Text&gt;&#10;          &lt;/Box&gt;&#10;        &lt;/Box&gt;&#10;      ))}&#10;    &lt;/Box&gt;&#10;    &lt;Box style={{ background: '#F0F5FC', border: '1px solid #D6DCE5', borderRadius: 10, padding: '13px 20px', marginTop: 16 }}&gt;&#10;      &lt;Text style={{ fontSize: 16, color: '#1A2230', lineHeight: 1.6 }}&gt;&#10;        &lt;span style={{ fontWeight: 'bold', color: '#0E3F8C' }}&gt;判断：&lt;/span&gt;先想清楚要回答什么&lt;span style={{ fontWeight: 'bold', color: '#0E3F8C' }}&gt;问题&lt;/span&gt;，再选图——&#10;        反过来「先画图再找解释」是数据造假的起点。&#10;        &lt;span style={{ fontSize: 13, color: '#8B97A8' }}&gt;Let the question pick the chart, not the other way aroun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410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四类图，四个问题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Chart Types × Questions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800100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800100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971550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Distribution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971550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分布是什么样？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71550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直方图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504950" y="2026688"/>
            <a:ext cx="571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Histogram</a:t>
            </a:r>
            <a:endParaRPr/>
          </a:p>
        </p:txBody>
      </p:sp>
      <p:pic>
        <p:nvPicPr>
          <p:cNvPr id="218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09650" y="2433188"/>
            <a:ext cx="2095500" cy="95250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971550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一个变量的取值形状：偏态、多峰、截断。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71550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df[col].plot.hist()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495675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3495675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667125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Relationship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667125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两个变量什么关系？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667125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散点图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200525" y="2026688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Scatter Plot</a:t>
            </a:r>
            <a:endParaRPr/>
          </a:p>
        </p:txBody>
      </p:sp>
      <p:pic>
        <p:nvPicPr>
          <p:cNvPr id="227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05225" y="2433188"/>
            <a:ext cx="2095500" cy="952500"/>
          </a:xfrm>
          <a:prstGeom prst="rect">
            <a:avLst/>
          </a:prstGeom>
          <a:ln/>
        </p:spPr>
      </p:pic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667125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相关性、非线性、聚类分组一目了然。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667125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df.plot.scatter(x,y)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6191250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6191250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362700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Comparison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362700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组间谁大谁小？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362700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条形图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896100" y="2026688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Bar Chart</a:t>
            </a:r>
            <a:endParaRPr/>
          </a:p>
        </p:txBody>
      </p:sp>
      <p:pic>
        <p:nvPicPr>
          <p:cNvPr id="236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00800" y="2433188"/>
            <a:ext cx="2095500" cy="952500"/>
          </a:xfrm>
          <a:prstGeom prst="rect">
            <a:avLst/>
          </a:prstGeom>
          <a:ln/>
        </p:spPr>
      </p:pic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362700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类别变量的聚合值对比，误差线可加。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362700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df.groupby().mean().plot.bar()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8886825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8886825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9058275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Correlation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058275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哪些特征相关？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9058275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热力图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9591675" y="2026688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Heatmap</a:t>
            </a:r>
            <a:endParaRPr/>
          </a:p>
        </p:txBody>
      </p:sp>
      <p:pic>
        <p:nvPicPr>
          <p:cNvPr id="245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096375" y="2433188"/>
            <a:ext cx="2095500" cy="952500"/>
          </a:xfrm>
          <a:prstGeom prst="rect">
            <a:avLst/>
          </a:prstGeom>
          <a:ln/>
        </p:spPr>
      </p:pic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9058275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多变量两两相关性矩阵，特征筛选入口。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058275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sns.heatmap(df.corr())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800100" y="5156362"/>
            <a:ext cx="10591800" cy="542925"/>
          </a:xfrm>
          <a:prstGeom prst="roundRect">
            <a:avLst>
              <a:gd name="adj" fmla="val 175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990600" y="5280187"/>
            <a:ext cx="102108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先想清楚要回答什么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问题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，再选图——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反过来「先画图再找解释」是数据造假的起点。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Let the question pick the chart, not the other way around.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5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五步法 · The 5-Step EDA Routine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.2, gap: 11, justifyContent: 'center' }}&gt;&#10;      {[&#10;        { n: '1', t: '概览全局', e: 'Overview', d: 'shape / info / describe —— 有多少行列？什么类型？有没有缺失？' },&#10;        { n: '2', t: '单变量', e: 'Univariate', d: '直方图 / value_counts —— 每个变量自己的分布与异常值。' },&#10;        { n: '3', t: '双变量', e: 'Bivariate', d: '散点 / 分组聚合 —— 特征与目标之间有什么关系？' },&#10;        { n: '4', t: '异常与缺失', e: 'Anomalies', d: '极端值、缺失模式 —— 是录入错误还是真实现象？' },&#10;        { n: '5', t: '形成假设', e: 'Hypotheses', d: '写下猜想 —— 哪些特征可能有预测力？需要什么变换？' },&#10;      ].map((s, i) =&gt; (&#10;        &lt;Box key={i} style={{ flexDirection: 'row', gap: 14, alignItems: 'flex-start', background: '#F7F9FC', border: '1px solid #E5E7EB', borderLeft: '4px solid ' + ['#3D7BD9', '#1E4FA8', '#1E4FA8', '#3D7BD9', '#0E3F8C'][i], borderRadius: 10, padding: '12px 16px' }}&gt;&#10;          &lt;Box style={{ width: 30, height: 30, borderRadius: 9, background: '#E8EFF8', justifyContent: 'center', alignItems: 'center', flexShrink: 0 }}&gt;&#10;            &lt;Text style={{ fontSize: 15, color: '#1E4FA8', fontWeight: 'bold' }}&gt;{s.n}&lt;/Text&gt;&#10;          &lt;/Box&gt;&#10;          &lt;Box style={{ flex: 1 }}&gt;&#10;            &lt;Box style={{ flexDirection: 'row', alignItems: 'baseline', gap: 8 }}&gt;&#10;              &lt;Text style={{ fontSize: 17.5, color: '#1A2230', fontWeight: 'bold' }}&gt;{s.t}&lt;/Text&gt;&#10;              &lt;Text style={{ fontSize: 13, color: '#8B97A8' }}&gt;{s.e}&lt;/Text&gt;&#10;            &lt;/Box&gt;&#10;            &lt;Text style={{ fontSize: 14.5, color: '#4A5568', lineHeight: 1.5, marginTop: 2 }}&gt;{s.d}&lt;/Text&gt;&#10;          &lt;/Box&gt;&#10;        &lt;/Box&gt;&#10;      ))}&#10;    &lt;/Box&gt;&#10;    &lt;Box style={{ width: 360, gap: 14, justifyContent: 'center', flexShrink: 0 }}&gt;&#10;      &lt;Box style={{ background: '#F0F5FC', border: '1px solid #D6DCE5', borderRadius: 14, padding: '22px 24px' }}&gt;&#10;        &lt;Text style={{ fontSize: 20, color: '#0E3F8C', fontWeight: 'bold' }}&gt;EDA 是建模的侦察&lt;/Text&gt;&#10;        &lt;Text style={{ fontSize: 15, color: '#4A5568', lineHeight: 1.65, marginTop: 10 }}&gt;&#10;          不做 EDA 就直接训练模型 = &lt;span style={{ fontWeight: 'bold', color: '#0E3F8C' }}&gt;盲打&lt;/span&gt;：&#10;          你不知道数据有没有毒、特征该不该变换、评估结果可不可信。&#10;        &lt;/Text&gt;&#10;        &lt;Text style={{ fontSize: 13, color: '#8B97A8', marginTop: 10 }}&gt;EDA is reconnaissance before modeling — not optional.&lt;/Text&gt;&#10;      &lt;/Box&gt;&#10;      &lt;Box style={{ background: '#1A2230', borderRadius: 14, padding: '20px 24px' }}&gt;&#10;        &lt;Text style={{ fontSize: 14, color: '#8B97A8', marginBottom: 8 }}&gt;# 概览只要三行&lt;/Text&gt;&#10;        &lt;Text style={{ fontSize: 15, color: '#A8D8B9', lineHeight: 1.85, fontFamily: 'Consolas, Menlo, monospace' }}&gt;&#10;          df.shape{'\n'}&#10;          df.info(){'\n'}&#10;          df.describe()&#10;        &lt;/Text&gt;&#10;      &lt;/Box&gt;&#10;      &lt;Box style={{ borderLeft: '4px solid #0E3F8C', paddingLeft: 14 }}&gt;&#10;        &lt;Text style={{ fontSize: 15, color: '#1A2230', lineHeight: 1.6 }}&gt;&#10;          实操铁律：&lt;span style={{ fontWeight: 'bold', color: '#0E3F8C' }}&gt;每个发现都写进 notebook&lt;/span&gt;，未来的你（和队友）会感谢现在的你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57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EDA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五步法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5-Step EDA Routine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838200" y="15525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838200" y="15525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990600" y="1666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104900" y="17240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409700" y="166687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概览全局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2152650" y="1666875"/>
            <a:ext cx="523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Overview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409700" y="18859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shape / info / describe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有多少行列？什么类型？有没有缺失？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838200" y="236220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838200" y="236220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990600" y="24765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095375" y="25336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409700" y="2476500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单变量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990725" y="2476500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Univariate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409700" y="269557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直方图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/ value_counts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每个变量自己的分布与异常值。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838200" y="317182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2" name=""/>
          <p:cNvSpPr/>
          <p:nvPr/>
        </p:nvSpPr>
        <p:spPr>
          <a:xfrm rot="0" flipH="0" flipV="0">
            <a:off x="838200" y="317182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990600" y="32861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5375" y="33432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409700" y="3286125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双变量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990725" y="3286125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Bivariate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409700" y="350520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散点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分组聚合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特征与目标之间有什么关系？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8200" y="398145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838200" y="398145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990600" y="40957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095375" y="41529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409700" y="4095750"/>
            <a:ext cx="838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异常与缺失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2324100" y="4095750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Anomalies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409700" y="431482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极端值、缺失模式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是录入错误还是真实现象？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838200" y="47910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838200" y="47910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990600" y="4905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95375" y="49625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409700" y="490537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形成假设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152650" y="4905375"/>
            <a:ext cx="676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Hypotheses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409700" y="51244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写下猜想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哪些特征可能有预测力？需要什么变换？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962900" y="1333500"/>
            <a:ext cx="3429000" cy="2000250"/>
          </a:xfrm>
          <a:prstGeom prst="roundRect">
            <a:avLst>
              <a:gd name="adj" fmla="val 6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191500" y="1543050"/>
            <a:ext cx="297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EDA </a:t>
            </a: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是建模的侦察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8191500" y="1866900"/>
            <a:ext cx="29718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不做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就直接训练模型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盲打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：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你不知道数据有没有毒、特征该不该变换、评估结果可不可信。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191500" y="2819400"/>
            <a:ext cx="29718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EDA is reconnaissance before modeling — not optional.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7962900" y="3467100"/>
            <a:ext cx="3429000" cy="1571625"/>
          </a:xfrm>
          <a:prstGeom prst="roundRect">
            <a:avLst>
              <a:gd name="adj" fmla="val 8485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8191500" y="365760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概览只要三行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8191500" y="3895725"/>
            <a:ext cx="2971800" cy="9525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df.shape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df.info()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df.describe()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962900" y="5172075"/>
            <a:ext cx="3467100" cy="552450"/>
          </a:xfrm>
          <a:custGeom>
            <a:pathLst>
              <a:path w="364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134350" y="5172075"/>
            <a:ext cx="32575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实操铁律：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每个发现都写进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 notebook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，未来的你（和队友）会感谢现在的你。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30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走查：Titanic · A Full Walkthrough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4, flex: 1 }}&gt;&#10;      {[&#10;        {&#10;          n: '1', t: '概览', d: 'df.shape → (891, 12)', f: '发现：age 缺 177 个，cabin 缺 687 个，embarked 缺 2 个。', c: '#3D7BD9',&#10;        },&#10;        {&#10;          n: '2', t: '单变量', d: 'df[&quot;age&quot;].plot.hist()', f: '发现：年龄右偏，集中在 20–40；票价严重长尾（最高 512）。', c: '#1E4FA8',&#10;        },&#10;        {&#10;          n: '3', t: '双变量', d: 'df.groupby(&quot;sex&quot;)[&quot;survived&quot;].mean()', f: '发现：女性生还率 74% vs 男性 19%——性别是强特征。', c: '#0E3F8C',&#10;        },&#10;        {&#10;          n: '4', t: '异常缺失', d: 'df[&quot;fare&quot;].describe()', f: '发现：票价 0 元的票有 15 张——是员工票还是录入错误？', c: '#1E4FA8',&#10;        },&#10;        {&#10;          n: '5', t: '假设', d: '写在 notebook 里', f: '假设：性别 + 舱位 + 年龄组合可预测生还；cabin 缺失太多应考虑删列。', c: '#3D7BD9',&#10;        },&#10;      ].map((s, i) =&gt; (&#10;        &lt;Box key={i} style={{ flex: 1, background: '#F7F9FC', border: '1px solid #E5E7EB', borderTop: '4px solid ' + s.c, borderRadius: 12, padding: '14px 14px', justifyContent: 'space-between' }}&gt;&#10;          &lt;Box&gt;&#10;            &lt;Box style={{ width: 30, height: 30, borderRadius: 9, background: s.c, justifyContent: 'center', alignItems: 'center' }}&gt;&#10;              &lt;Text style={{ fontSize: 15, color: '#FFFFFF', fontWeight: 'bold' }}&gt;{s.n}&lt;/Text&gt;&#10;            &lt;/Box&gt;&#10;            &lt;Text style={{ fontSize: 18, color: '#1A2230', fontWeight: 'bold', marginTop: 8 }}&gt;{s.t}&lt;/Text&gt;&#10;            &lt;Text style={{ fontSize: 12.5, color: '#1E4FA8', fontFamily: 'Consolas, Menlo, monospace', marginTop: 3 }}&gt;{s.d}&lt;/Text&gt;&#10;          &lt;/Box&gt;&#10;          &lt;Box style={{ background: '#F0F5FC', borderRadius: 8, padding: '9px 11px' }}&gt;&#10;            &lt;Text style={{ fontSize: 13, color: '#4A5568', lineHeight: 1.5 }}&gt;{s.f}&lt;/Text&gt;&#10;          &lt;/Box&gt;&#10;        &lt;/Box&gt;&#10;      ))}&#10;    &lt;/Box&gt;&#10;    &lt;Box style={{ flexDirection: 'row', gap: 14, marginTop: 14, alignItems: 'stretch' }}&gt;&#10;      &lt;Box style={{ flex: 1, background: '#F0F5FC', border: '1px solid #D6DCE5', borderRadius: 10, padding: '13px 20px' }}&gt;&#10;        &lt;Text style={{ fontSize: 15.5, color: '#1A2230', lineHeight: 1.6 }}&gt;&#10;          &lt;span style={{ fontWeight: 'bold', color: '#0E3F8C' }}&gt;同一份数据，5 步就能得出可行动的结论&lt;/span&gt;——这就是 EDA 的价值：还没建模，特征清单已经成形。&#10;        &lt;/Text&gt;&#10;      &lt;/Box&gt;&#10;      &lt;Box style={{ width: 380, borderLeft: '4px solid #0E3F8C', paddingLeft: 14, justifyContent: 'center' }}&gt;&#10;        &lt;Text style={{ fontSize: 14.5, color: '#1A2230', lineHeight: 1.55 }}&gt;&#10;          今天 Lab 就走这五步。&lt;span style={{ fontWeight: 'bold', color: '#0E3F8C' }}&gt;你的发现不必和这里一样&lt;/span&gt;——数据一样，视角可以不同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4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EDA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走查：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Titanic · A Full Walkthrough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800100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800100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933450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47750" y="23267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33450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概览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933450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df.shape → (891, 12)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33450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38225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age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177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cabin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687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embarked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个。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2943225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943225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8" name=""/>
          <p:cNvSpPr/>
          <p:nvPr/>
        </p:nvSpPr>
        <p:spPr>
          <a:xfrm rot="0" flipH="0" flipV="0">
            <a:off x="3076575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181350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076575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单变量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3076575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df["age"].plot.hist()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3076575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181350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发现：年龄右偏，集中在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20–40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；票价严重长尾（最高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512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）。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5086350" y="2136225"/>
            <a:ext cx="2019300" cy="2262900"/>
          </a:xfrm>
          <a:prstGeom prst="roundRect">
            <a:avLst>
              <a:gd name="adj" fmla="val 566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5086350" y="2136225"/>
            <a:ext cx="2019300" cy="2262900"/>
          </a:xfrm>
          <a:custGeom>
            <a:pathLst>
              <a:path w="212" h="442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6" name=""/>
          <p:cNvSpPr/>
          <p:nvPr/>
        </p:nvSpPr>
        <p:spPr>
          <a:xfrm rot="0" flipH="0" flipV="0">
            <a:off x="5219700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5324475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5219700" y="2631525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双变量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219700" y="2869650"/>
            <a:ext cx="17526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df.groupby("sex")["survived"].mean()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5219700" y="3371400"/>
            <a:ext cx="1752600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324475" y="3457125"/>
            <a:ext cx="15430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发现：女性生还率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74% vs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男性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19%——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性别是强特征。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7239000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7239000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7372350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477125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7372350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异常缺失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7372350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df["fare"].describe()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7372350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77125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发现：票价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元的票有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15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张——是员工票还是录入错误？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9382125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9382125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9515475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9620250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515475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假设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9515475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E4FA8"/>
                </a:solidFill>
                <a:latin typeface="Consolas"/>
                <a:ea typeface="Consolas"/>
              </a:rPr>
              <a:t>写在</a:t>
            </a: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 notebook </a:t>
            </a:r>
            <a:r>
              <a:rPr lang="zh-CN" sz="938">
                <a:solidFill>
                  <a:srgbClr val="1E4FA8"/>
                </a:solidFill>
                <a:latin typeface="Consolas"/>
                <a:ea typeface="Consolas"/>
              </a:rPr>
              <a:t>里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9515475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9620250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假设：性别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舱位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年龄组合可预测生还；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cabin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缺失太多应考虑删列。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00100" y="4494375"/>
            <a:ext cx="6838950" cy="533400"/>
          </a:xfrm>
          <a:prstGeom prst="roundRect">
            <a:avLst>
              <a:gd name="adj" fmla="val 1785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990600" y="4618200"/>
            <a:ext cx="6457950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同一份数据，</a:t>
            </a:r>
            <a:r>
              <a:rPr lang="en-US" sz="1163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步就能得出可行动的结论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——这就是</a:t>
            </a:r>
            <a:r>
              <a:rPr lang="en-US" sz="1163">
                <a:solidFill>
                  <a:srgbClr val="1A2230"/>
                </a:solidFill>
                <a:latin typeface="Source Han Sans SC"/>
                <a:ea typeface="Source Han Sans SC"/>
              </a:rPr>
              <a:t> EDA 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的价值：还没建模，特征清单已经成形。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7772400" y="4494375"/>
            <a:ext cx="3619500" cy="533400"/>
          </a:xfrm>
          <a:custGeom>
            <a:pathLst>
              <a:path w="380" h="56">
                <a:moveTo>
                  <a:pt x="0" y="0"/>
                </a:moveTo>
                <a:lnTo>
                  <a:pt x="4" y="0"/>
                </a:lnTo>
                <a:lnTo>
                  <a:pt x="4" y="56"/>
                </a:lnTo>
                <a:lnTo>
                  <a:pt x="0" y="5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943850" y="4503900"/>
            <a:ext cx="3448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今天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就走这五步。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你的发现不必和这里一样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——数据一样，视角可以不同。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0944225" y="649605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54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数据清洗&lt;/Text&gt;&#10;        &lt;Text style={{ fontSize: 26, color: '#8B97A8', fontWeight: '600', marginTop: 6 }}&gt;Data Cleaning&lt;/Text&gt;&#10;      &lt;/Box&gt;&#10;    &lt;/Box&gt;&#10;    &lt;Box style={{ flexDirection: 'row', gap: 24 }}&gt;&#10;      {[&#10;        { t: '六步流程', e: '6-Step Workflow' },&#10;        { t: '每步留痕', e: 'Document Everything' },&#10;        { t: 'GIGO 法则', e: 'Garbage In, Garbage Out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1676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数据清洗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1676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Data Cleaning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3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六步流程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6-Step Workflow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7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每步留痕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Document Everything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GIGO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Garbage In, Garbage Out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4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清洗六步 · The 6-Step Cleaning Workflow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审查', e: 'Audit', d: '空格 / 大小写 / 单位混乱' },&#10;        { n: '2', t: '缺失值', e: 'Missing', d: '删除 / 填充 / 标记' },&#10;        { n: '3', t: '异常值', e: 'Outliers', d: 'IQR / 领域规则判断' },&#10;        { n: '4', t: '重复', e: 'Duplicates', d: 'duplicated → drop' },&#10;        { n: '5', t: '类型', e: 'Types', d: '日期 / 分类 / 数值转换' },&#10;        { n: '6', t: '验证', e: 'Validate', d: '重跑 EDA 复查结果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Lab 2 就走这一遍&lt;/Text&gt;&#10;      &lt;/Box&gt;&#10;      &lt;Text style={{ fontSize: 16, color: '#1A2230', lineHeight: 1.6, flex: 1 }}&gt;&#10;        Titanic 数据的缺失年龄、异常票价、重复行——今天 Lab 全部要亲手处理。&#10;        &lt;span style={{ fontWeight: 'bold', color: '#0E3F8C' }}&gt;每一步在 notebook 里留一个 Markdown 说明&lt;/span&gt;，说明「做了什么、为什么」。&#10;        &lt;span style={{ fontSize: 13, color: '#8B97A8' }}&gt;Every cleaning step needs a documented reason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81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清洗六步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6-Step Cleaning Workflow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800100" y="4429125"/>
            <a:ext cx="1905000" cy="40005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71550" y="4543425"/>
            <a:ext cx="1562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Lab 2 </a:t>
            </a: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就走这一遍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2819400" y="4333875"/>
            <a:ext cx="8572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Titanic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数据的缺失年龄、异常票价、重复行——今天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全部要亲手处理。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每一步在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notebook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里留一个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说明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，说明「做了什么、为什么」。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Every cleaning step needs a documented reason.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80010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80010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93345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1085850" y="2400300"/>
            <a:ext cx="76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33450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审查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933450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Audit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933450" y="344805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空格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大小写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单位混乱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258127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258127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27146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4797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2714625" y="320992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缺失值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2714625" y="344805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Missing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2714625" y="38100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删除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填充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标记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437197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437197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8" name=""/>
          <p:cNvSpPr/>
          <p:nvPr/>
        </p:nvSpPr>
        <p:spPr>
          <a:xfrm rot="0" flipH="0" flipV="0">
            <a:off x="45053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463867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4505325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异常值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4505325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Outliers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450532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IQR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领域规则判断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615315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615315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628650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419850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286500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重复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286500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Duplicates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6286500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duplicated → drop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793432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1" name=""/>
          <p:cNvSpPr/>
          <p:nvPr/>
        </p:nvSpPr>
        <p:spPr>
          <a:xfrm rot="0" flipH="0" flipV="0">
            <a:off x="793432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80676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20102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067675" y="320992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类型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067675" y="344805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Types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8067675" y="38100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日期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数值转换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972502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8" name=""/>
          <p:cNvSpPr/>
          <p:nvPr/>
        </p:nvSpPr>
        <p:spPr>
          <a:xfrm rot="0" flipH="0" flipV="0">
            <a:off x="972502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98583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999172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9858375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验证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9858375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Validate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985837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重跑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复查结果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19 / 32</a:t>
            </a:r>
            <a:endParaRPr/>
          </a:p>
        </p:txBody>
      </p:sp>
      <p:pic>
        <p:nvPicPr>
          <p:cNvPr id="42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2981325"/>
            <a:ext cx="190500" cy="190500"/>
          </a:xfrm>
          <a:prstGeom prst="rect">
            <a:avLst/>
          </a:prstGeom>
          <a:ln/>
        </p:spPr>
      </p:pic>
      <p:pic>
        <p:nvPicPr>
          <p:cNvPr id="427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2981325"/>
            <a:ext cx="190500" cy="190500"/>
          </a:xfrm>
          <a:prstGeom prst="rect">
            <a:avLst/>
          </a:prstGeom>
          <a:ln/>
        </p:spPr>
      </p:pic>
      <p:pic>
        <p:nvPicPr>
          <p:cNvPr id="428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2981325"/>
            <a:ext cx="190500" cy="190500"/>
          </a:xfrm>
          <a:prstGeom prst="rect">
            <a:avLst/>
          </a:prstGeom>
          <a:ln/>
        </p:spPr>
      </p:pic>
      <p:pic>
        <p:nvPicPr>
          <p:cNvPr id="42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2981325"/>
            <a:ext cx="190500" cy="190500"/>
          </a:xfrm>
          <a:prstGeom prst="rect">
            <a:avLst/>
          </a:prstGeom>
          <a:ln/>
        </p:spPr>
      </p:pic>
      <p:pic>
        <p:nvPicPr>
          <p:cNvPr id="43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298132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79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缺失值处理决策 · Missing Values: A Decision Guide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8 }}&gt;&#10;    &lt;Box style={{ width: 520, flexShrink: 0, justifyContent: 'center' }}&gt;&#10;      &lt;Text style={{ fontSize: 17, color: '#0E3F8C', fontWeight: 'bold', marginBottom: 10 }}&gt;决策路径 · Decision Path&lt;/Text&gt;&#10;      &lt;svg width={520} height={400} viewBox='0 0 520 400'&gt;&#10;        &lt;rect x='150' y='6' width='220' height='40' rx='10' fill='#0E3F8C' /&gt;&#10;        &lt;text x='260' y='32' fill='#FFFFFF' fontSize='16' fontWeight='bold' textAnchor='middle' fontFamily='Source Han Sans SC, sans-serif'&gt;缺失比例是多少？&lt;/text&gt;&#10;        &lt;path d='M 180 46 L 100 84' stroke='#1E4FA8' strokeWidth='2.5' fill='none' /&gt;&#10;        &lt;path d='M 260 46 L 260 84' stroke='#1E4FA8' strokeWidth='2.5' fill='none' /&gt;&#10;        &lt;path d='M 340 46 L 420 84' stroke='#1E4FA8' strokeWidth='2.5' fill='none' /&gt;&#10;        &lt;rect x='16' y='86' width='168' height='72' rx='10' fill='#F0F5FC' stroke='#3D7BD9' strokeWidth='2' /&gt;&#10;        &lt;text x='100' y='112' fill='#3D7BD9' fontSize='14' fontWeight='bold' textAnchor='middle' fontFamily='Source Han Sans SC, sans-serif'&gt;&amp;lt; 5%&lt;/text&gt;&#10;        &lt;text x='100' y='134' fill='#4A5568' fontSize='13' textAnchor='middle' fontFamily='Source Han Sans SC, sans-serif'&gt;dropna() 删行&lt;/text&gt;&#10;        &lt;text x='100' y='150' fill='#8B97A8' fontSize='11.5' textAnchor='middle' fontFamily='Source Han Sans SC, sans-serif'&gt;信息损失可忽略&lt;/text&gt;&#10;        &lt;rect x='176' y='86' width='168' height='72' rx='10' fill='#E8EFF8' stroke='#1E4FA8' strokeWidth='2' /&gt;&#10;        &lt;text x='260' y='112' fill='#1E4FA8' fontSize='14' fontWeight='bold' textAnchor='middle' fontFamily='Source Han Sans SC, sans-serif'&gt;5% – 30%&lt;/text&gt;&#10;        &lt;text x='260' y='134' fill='#4A5568' fontSize='13' textAnchor='middle' fontFamily='Source Han Sans SC, sans-serif'&gt;fillna() 填充&lt;/text&gt;&#10;        &lt;text x='260' y='150' fill='#8B97A8' fontSize='11.5' textAnchor='middle' fontFamily='Source Han Sans SC, sans-serif'&gt;右栏选策略&lt;/text&gt;&#10;        &lt;rect x='336' y='86' width='168' height='72' rx='10' fill='#F7F9FC' stroke='#8B97A8' strokeWidth='2' /&gt;&#10;        &lt;text x='420' y='112' fill='#4A5568' fontSize='14' fontWeight='bold' textAnchor='middle' fontFamily='Source Han Sans SC, sans-serif'&gt;&amp;gt; 30%&lt;/text&gt;&#10;        &lt;text x='420' y='134' fill='#4A5568' fontSize='13' textAnchor='middle' fontFamily='Source Han Sans SC, sans-serif'&gt;考虑删列 / 仅标记&lt;/text&gt;&#10;        &lt;text x='420' y='150' fill='#8B97A8' fontSize='11.5' textAnchor='middle' fontFamily='Source Han Sans SC, sans-serif'&gt;如 Titanic 的 cabin&lt;/text&gt;&#10;        &lt;path d='M 260 158 L 260 186' stroke='#1E4FA8' strokeWidth='2.5' fill='none' /&gt;&#10;        &lt;path d='M 253 179 L 260 190 L 267 179' stroke='#1E4FA8' strokeWidth='2.5' fill='none' /&gt;&#10;        &lt;rect x='110' y='192' width='300' height='56' rx='10' fill='#0E3F8C' /&gt;&#10;        &lt;text x='260' y='215' fill='#FFFFFF' fontSize='14.5' fontWeight='bold' textAnchor='middle' fontFamily='Source Han Sans SC, sans-serif'&gt;先问：为什么缺？&lt;/text&gt;&#10;        &lt;text x='260' y='236' fill='rgba(255,255,255,0.85)' fontSize='12' textAnchor='middle' fontFamily='Source Han Sans SC, sans-serif'&gt;随机缺失 → 填充可行；系统性缺失 → 填充会引入偏差&lt;/text&gt;&#10;        &lt;path d='M 260 248 L 260 276' stroke='#1E4FA8' strokeWidth='2.5' fill='none' /&gt;&#10;        &lt;rect x='40' y='278' width='440' height='104' rx='12' fill='#F0F5FC' stroke='#D6DCE5' strokeWidth='1.5' /&gt;&#10;        &lt;text x='64' y='306' fill='#0E3F8C' fontSize='14' fontWeight='bold' fontFamily='Source Han Sans SC, sans-serif'&gt;铁律：每次处理都留痕&lt;/text&gt;&#10;        &lt;text x='64' y='330' fill='#4A5568' fontSize='13' fontFamily='Source Han Sans SC, sans-serif'&gt;在 notebook 写 Markdown：缺多少、为什么这么填、影响哪些行&lt;/text&gt;&#10;        &lt;text x='64' y='354' fill='#8B97A8' fontSize='12' fontFamily='Source Han Sans SC, sans-serif'&gt;df['age'].isna().sum() → 177 → fillna(median) → 记录&lt;/text&gt;&#10;      &lt;/svg&gt;&#10;    &lt;/Box&gt;&#10;    &lt;Box style={{ flex: 1, gap: 12, justifyContent: 'center' }}&gt;&#10;      &lt;Text style={{ fontSize: 17, color: '#0E3F8C', fontWeight: 'bold' }}&gt;填充策略怎么选 · Imputation&lt;/Text&gt;&#10;      {[&#10;        { t: '数值列 · 近似正态', c: '均值 mean', d: '如温度、分数', i: 'chart-line' },&#10;        { t: '数值列 · 偏态 / 有异常', c: '中位数 median', d: '如收入、票价（Titanic age）', i: 'chart-area' },&#10;        { t: '类别列', c: '众数 或 &quot;Unknown&quot;', d: '如 embarked 缺 2 个 → 众数', i: 'tags' },&#10;        { t: '时间序列', c: '前向 / 后向填充', d: '传感器断点补上一位读数', i: 'clock' },&#10;      ].map((r, i) =&gt; (&#10;        &lt;Box key={i} style={{ flexDirection: 'row', gap: 12, alignItems: 'center', background: '#F7F9FC', border: '1px solid #E5E7EB', borderRadius: 10, padding: '11px 16px' }}&gt;&#10;          &lt;Box style={{ width: 36, height: 36, borderRadius: 9, background: '#E8EFF8', justifyContent: 'center', alignItems: 'center', flexShrink: 0 }}&gt;&#10;            &lt;FAIcon name={r.i} style={{ fill: '#1E4FA8', width: 17, height: 17 }} /&gt;&#10;          &lt;/Box&gt;&#10;          &lt;Box style={{ flex: 1 }}&gt;&#10;            &lt;Text style={{ fontSize: 15, color: '#1A2230', fontWeight: 'bold' }}&gt;{r.t}&lt;/Text&gt;&#10;            &lt;Text style={{ fontSize: 13, color: '#4A5568', marginTop: 1 }}&gt;{r.d}&lt;/Text&gt;&#10;          &lt;/Box&gt;&#10;          &lt;Box style={{ background: '#F0F5FC', borderRadius: 8, padding: '5px 12px' }}&gt;&#10;            &lt;Text style={{ fontSize: 13.5, color: '#0E3F8C', fontWeight: '600', fontFamily: 'Consolas, Menlo, monospace' }}&gt;{r.c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缺失值处理决策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Missing Values: A Decision Guide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00100" y="147637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决策路径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Decision Path</a:t>
            </a:r>
            <a:endParaRPr/>
          </a:p>
        </p:txBody>
      </p:sp>
      <p:pic>
        <p:nvPicPr>
          <p:cNvPr id="485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71650"/>
            <a:ext cx="4953000" cy="3810000"/>
          </a:xfrm>
          <a:prstGeom prst="rect">
            <a:avLst/>
          </a:prstGeom>
          <a:ln/>
        </p:spPr>
      </p:pic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6019800" y="2095500"/>
            <a:ext cx="5372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填充策略怎么选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Imputation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6019800" y="24098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6172200" y="25146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9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67450" y="2609850"/>
            <a:ext cx="161925" cy="161925"/>
          </a:xfrm>
          <a:prstGeom prst="rect">
            <a:avLst/>
          </a:prstGeom>
          <a:ln/>
        </p:spPr>
      </p:pic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629400" y="2524125"/>
            <a:ext cx="3619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数值列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近似正态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6629400" y="27051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如温度、分数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10363200" y="2562225"/>
            <a:ext cx="87630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10477500" y="2609850"/>
            <a:ext cx="647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均值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mean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6019800" y="30765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6172200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6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67450" y="3276600"/>
            <a:ext cx="161925" cy="161925"/>
          </a:xfrm>
          <a:prstGeom prst="rect">
            <a:avLst/>
          </a:prstGeom>
          <a:ln/>
        </p:spPr>
      </p:pic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6629400" y="3190875"/>
            <a:ext cx="3333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数值列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偏态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有异常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3333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如收入、票价（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Titanic age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499" name=""/>
          <p:cNvSpPr/>
          <p:nvPr/>
        </p:nvSpPr>
        <p:spPr>
          <a:xfrm rot="0" flipH="0" flipV="0">
            <a:off x="10077450" y="3228975"/>
            <a:ext cx="11620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0191750" y="3276600"/>
            <a:ext cx="933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中位数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median</a:t>
            </a:r>
            <a:endParaRPr/>
          </a:p>
        </p:txBody>
      </p:sp>
      <p:sp>
        <p:nvSpPr>
          <p:cNvPr id="501" name=""/>
          <p:cNvSpPr/>
          <p:nvPr/>
        </p:nvSpPr>
        <p:spPr>
          <a:xfrm rot="0" flipH="0" flipV="0">
            <a:off x="6019800" y="37433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6172200" y="38481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67450" y="3943350"/>
            <a:ext cx="161925" cy="161925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6629400" y="3857625"/>
            <a:ext cx="3028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类别列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6629400" y="4038600"/>
            <a:ext cx="3028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embarked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众数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9772650" y="3895725"/>
            <a:ext cx="14668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9886950" y="39433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众数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</a:t>
            </a: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或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"Unknown"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6019800" y="44100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6172200" y="45148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67450" y="4610100"/>
            <a:ext cx="161925" cy="161925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6629400" y="4524375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时间序列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6629400" y="4705350"/>
            <a:ext cx="3257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传感器断点补上一位读数</a:t>
            </a:r>
            <a:endParaRPr/>
          </a:p>
        </p:txBody>
      </p:sp>
      <p:sp>
        <p:nvSpPr>
          <p:cNvPr id="513" name=""/>
          <p:cNvSpPr/>
          <p:nvPr/>
        </p:nvSpPr>
        <p:spPr>
          <a:xfrm rot="0" flipH="0" flipV="0">
            <a:off x="10001250" y="4562475"/>
            <a:ext cx="12382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0115550" y="4610100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前向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/ </a:t>
            </a: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后向填充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异常值检测三法 · Three Ways to Spot Outlier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t: 'IQR 法', e: 'Interquartile Range', i: 'ruler-horizontal',&#10;          d: '低于 Q1−1.5·IQR 或高于 Q3+1.5·IQR 判为异常。不假设分布，偏态数据首选。',&#10;          c: '#3D7BD9',&#10;        },&#10;        {&#10;          t: 'Z-score 法', e: 'Standard Deviations', i: 'chart-line',&#10;          d: '|z| &amp;gt; 3 判为异常。只适合近似正态的数据；长尾分布会误伤大量正常值。',&#10;          c: '#1E4FA8',&#10;        },&#10;        {&#10;          t: '领域规则', e: 'Domain Rules', i: 'clipboard-check',&#10;          d: '用业务知识写死边界：年龄 ∈ [0, 120]、票价 ≥ 0、血压 ∈ [40, 300]。',&#10;          c: '#0E3F8C',&#10;        },&#10;      ].map((k, i) =&gt; (&#10;        &lt;Box key={i} style={{ flex: 1, background: '#F7F9FC', border: '1px solid #E5E7EB', borderTop: '4px solid ' + k.c, borderRadius: 12, padding: '16px 18px', justifyContent: 'space-between' }}&gt;&#10;          &lt;Box&gt;&#10;            &lt;Box style={{ flexDirection: 'row', alignItems: 'center', gap: 10 }}&gt;&#10;              &lt;Box style={{ width: 38, height: 38, borderRadius: 10, background: '#E8EFF8', justifyContent: 'center', alignItems: 'center' }}&gt;&#10;                &lt;FAIcon name={k.i} style={{ fill: k.c, width: 19, height: 19 }} /&gt;&#10;              &lt;/Box&gt;&#10;              &lt;Box&gt;&#10;                &lt;Text style={{ fontSize: 18, color: '#1A2230', fontWeight: 'bold' }}&gt;{k.t}&lt;/Text&gt;&#10;                &lt;Text style={{ fontSize: 12, color: '#8B97A8' }}&gt;{k.e}&lt;/Text&gt;&#10;              &lt;/Box&gt;&#10;            &lt;/Box&gt;&#10;            &lt;Text style={{ fontSize: 14, color: '#4A5568', lineHeight: 1.6, marginTop: 10 }}&gt;{k.d}&lt;/Text&gt;&#10;          &lt;/Box&gt;&#10;          &lt;Text style={{ fontSize: 12, color: k.c, fontFamily: 'Consolas, Menlo, monospace' }}&gt;&#10;            {i === 0 ? 'q1, q3 = s.quantile([.25,.75])' : i === 1 ? 'z = (s - s.mean()) / s.std()' : &quot;df = df[df['age'].between(0, 120)]&quot;}&#10;          &lt;/Text&gt;&#10;        &lt;/Box&gt;&#10;      ))}&#10;    &lt;/Box&gt;&#10;    &lt;Box style={{ flexDirection: 'row', gap: 16, marginTop: 16, alignItems: 'stretch' }}&gt;&#10;      &lt;Box style={{ flex: 1.1, background: '#F0F5FC', border: '1px solid #D6DCE5', borderRadius: 10, padding: '13px 20px' }}&gt;&#10;        &lt;Text style={{ fontSize: 15, color: '#1A2230', lineHeight: 1.65 }}&gt;&#10;          &lt;span style={{ fontWeight: 'bold', color: '#1E4FA8' }}&gt;检出来之后怎么办？&lt;/span&gt;&#10;          三选一：&lt;span style={{ fontWeight: 'bold', color: '#0E3F8C' }}&gt;删除&lt;/span&gt;（确认是错误）·&#10;          &lt;span style={{ fontWeight: 'bold', color: '#0E3F8C' }}&gt;截断&lt;/span&gt;（winsorize 到上下界）·&#10;          &lt;span style={{ fontWeight: 'bold', color: '#0E3F8C' }}&gt;保留&lt;/span&gt;（异常本身就是要预测的现象，如欺诈交易）。&#10;        &lt;/Text&gt;&#10;      &lt;/Box&gt;&#10;      &lt;Box style={{ flex: 1, borderLeft: '4px solid #0E3F8C', paddingLeft: 14, justifyContent: 'center' }}&gt;&#10;        &lt;Text style={{ fontSize: 14.5, color: '#1A2230', lineHeight: 1.6 }}&gt;&#10;          &lt;span style={{ fontWeight: 'bold', color: '#0E3F8C' }}&gt;先判断，再动手：&lt;/span&gt;一个值是「错误」还是「极端但真实」——删除真实的极端值，可能删掉最有价值的样本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4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异常值检测三法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Three Ways to Spot Outliers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800100" y="2283862"/>
            <a:ext cx="3419475" cy="1662824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3" name=""/>
          <p:cNvSpPr/>
          <p:nvPr/>
        </p:nvSpPr>
        <p:spPr>
          <a:xfrm rot="0" flipH="0" flipV="0">
            <a:off x="800100" y="2283862"/>
            <a:ext cx="3419475" cy="1662824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971550" y="2436262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5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531512"/>
            <a:ext cx="180975" cy="180975"/>
          </a:xfrm>
          <a:prstGeom prst="rect">
            <a:avLst/>
          </a:prstGeom>
          <a:ln/>
        </p:spPr>
      </p:pic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1428750" y="2445787"/>
            <a:ext cx="1009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IQR </a:t>
            </a: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法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428750" y="2655337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Interquartile Range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971550" y="2893462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低于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Q1−1.5·IQR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或高于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Q3+1.5·IQR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判为异常。不假设分布，偏态数据首选。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971550" y="3623812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3D7BD9"/>
                </a:solidFill>
                <a:latin typeface="Consolas"/>
                <a:ea typeface="Consolas"/>
              </a:rPr>
              <a:t>q1, q3 = s.quantile([.25,.75])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4391025" y="2283862"/>
            <a:ext cx="3409950" cy="1662824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4391025" y="2283862"/>
            <a:ext cx="3409950" cy="1662824"/>
          </a:xfrm>
          <a:custGeom>
            <a:pathLst>
              <a:path w="358" h="410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4562475" y="2436262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3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57725" y="2531512"/>
            <a:ext cx="180975" cy="180975"/>
          </a:xfrm>
          <a:prstGeom prst="rect">
            <a:avLst/>
          </a:prstGeom>
          <a:ln/>
        </p:spPr>
      </p:pic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5019675" y="2445787"/>
            <a:ext cx="1076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Z-score </a:t>
            </a: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法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5019675" y="2655337"/>
            <a:ext cx="1076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Standard Deviations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562475" y="2893462"/>
            <a:ext cx="3067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|z| &amp;gt; 3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判为异常。只适合近似正态的数据；长尾分布会误伤大量正常值。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4562475" y="3623812"/>
            <a:ext cx="3067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z = (s - s.mean()) / s.std()</a:t>
            </a:r>
            <a:endParaRPr/>
          </a:p>
        </p:txBody>
      </p:sp>
      <p:sp>
        <p:nvSpPr>
          <p:cNvPr id="538" name=""/>
          <p:cNvSpPr/>
          <p:nvPr/>
        </p:nvSpPr>
        <p:spPr>
          <a:xfrm rot="0" flipH="0" flipV="0">
            <a:off x="7972425" y="2283862"/>
            <a:ext cx="3419475" cy="1662824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9" name=""/>
          <p:cNvSpPr/>
          <p:nvPr/>
        </p:nvSpPr>
        <p:spPr>
          <a:xfrm rot="0" flipH="0" flipV="0">
            <a:off x="7972425" y="2283862"/>
            <a:ext cx="3419475" cy="1662824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0" name=""/>
          <p:cNvSpPr/>
          <p:nvPr/>
        </p:nvSpPr>
        <p:spPr>
          <a:xfrm rot="0" flipH="0" flipV="0">
            <a:off x="8143875" y="2436262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1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39125" y="2531512"/>
            <a:ext cx="180975" cy="180975"/>
          </a:xfrm>
          <a:prstGeom prst="rect">
            <a:avLst/>
          </a:prstGeom>
          <a:ln/>
        </p:spPr>
      </p:pic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8601075" y="2445787"/>
            <a:ext cx="733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领域规则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8601075" y="2655337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Domain Rules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8143875" y="2893462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用业务知识写死边界：年龄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∈ [0, 120]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、票价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≥ 0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、血压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∈ [40, 300]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8143875" y="3623812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E3F8C"/>
                </a:solidFill>
                <a:latin typeface="Consolas"/>
                <a:ea typeface="Consolas"/>
              </a:rPr>
              <a:t>df = df[df['age'].between(0, 120)]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800100" y="4060987"/>
            <a:ext cx="54673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990600" y="4184812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检出来之后怎么办？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三选一：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删除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（确认是错误）·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截断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winsorize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到上下界）·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保留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（异常本身就是要预测的现象，如欺诈交易）。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6419850" y="4060987"/>
            <a:ext cx="5010150" cy="819150"/>
          </a:xfrm>
          <a:custGeom>
            <a:pathLst>
              <a:path w="526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6591300" y="4203862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先判断，再动手：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一个值是「错误」还是「极端但真实」——删除真实的极端值，可能删掉最有价值的样本。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552" name="" descr="&lt;Slide style={{ width: '1280px', height: '720px', background: '#0E3F8C', padding: '0px', fontFamily: 'Source Han Sans SC, PingFang SC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110, color: '#FFFFFF', fontWeight: 'bold', lineHeight: 1.0 }}&gt;GIGO&lt;/Text&gt;&#10;      &lt;Text style={{ fontSize: 20, color: 'rgba(255,255,255,0.75)', marginTop: 12, textAlign: 'right' }}&gt;Garbage In,&lt;/Text&gt;&#10;      &lt;Text style={{ fontSize: 20, color: 'rgba(255,255,255,0.75)', textAlign: 'right' }}&gt;Garbage Out&lt;/Text&gt;&#10;    &lt;/Box&gt;&#10;    &lt;Box style={{ flex: 1, gap: 18 }}&gt;&#10;      &lt;Text style={{ fontSize: 30, color: '#FFFFFF', fontWeight: 'bold' }}&gt;垃圾进，垃圾出&lt;/Text&gt;&#10;      &lt;Text style={{ fontSize: 18, color: 'rgba(255,255,255,0.92)', lineHeight: 1.7 }}&gt;&#10;        模型没有「常识」来纠正输入的错误——它只会忠实地把数据里的&lt;Text as='span' style={{ fontWeight: 'bold' }}&gt;偏差、缺失和噪声&lt;/Text&gt;学进去，再放大到每一次预测里。&#10;        &lt;br /&gt;&#10;        &lt;span style={{ fontSize: 14, color: 'rgba(255,255,255,0.7)' }}&gt;Models faithfully learn — and amplify — every flaw in the data.&lt;/span&gt;&#10;      &lt;/Text&gt;&#10;      &lt;Box style={{ flexDirection: 'row', gap: 12, marginTop: 8 }}&gt;&#10;        &lt;Box style={{ flex: 1, background: 'rgba(255,255,255,0.12)', borderRadius: 10, padding: '14px 18px' }}&gt;&#10;          &lt;Text style={{ fontSize: 15, color: '#FFC107', fontWeight: 'bold' }}&gt;坏数据 → 好算法&lt;/Text&gt;&#10;          &lt;Text style={{ fontSize: 14, color: 'rgba(255,255,255,0.85)', lineHeight: 1.55, marginTop: 4 }}&gt;换十个模型也救不回来，指标会一直「莫名」上不去。&lt;/Text&gt;&#10;        &lt;/Box&gt;&#10;        &lt;Box style={{ flex: 1, background: 'rgba(255,255,255,0.12)', borderRadius: 10, padding: '14px 18px' }}&gt;&#10;          &lt;Text style={{ fontSize: 15, color: '#FFC107', fontWeight: 'bold' }}&gt;好数据 → 简单模型&lt;/Text&gt;&#10;          &lt;Text style={{ fontSize: 14, color: 'rgba(255,255,255,0.85)', lineHeight: 1.55, marginTop: 4 }}&gt;清洗好的数据上，逻辑回归也常常打赢深度网络。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数据质量是模型上限&lt;/span&gt;，&#10;          算法只是逼近这个上限的速度——所以本周的清洗功夫，比下周的任何调参技巧都值钱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2&lt;/Text&gt;&#10;    &lt;Text style={{ fontSize: 14, color: 'rgba(255,255,255,0.9)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800100" y="2609850"/>
            <a:ext cx="26670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FFFFFF"/>
                </a:solidFill>
                <a:latin typeface="Source Han Sans SC"/>
                <a:ea typeface="Source Han Sans SC"/>
              </a:rPr>
              <a:t>GIGO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2438400" y="3981450"/>
            <a:ext cx="10287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Garbage In,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2324100" y="4210050"/>
            <a:ext cx="11430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Garbage Out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4038600" y="2009775"/>
            <a:ext cx="7353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Source Han Sans SC"/>
                <a:ea typeface="Source Han Sans SC"/>
              </a:rPr>
              <a:t>垃圾进，垃圾出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4038600" y="2524125"/>
            <a:ext cx="73533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模型没有「常识」来纠正输入的错误——它只会忠实地把数据里的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偏差、缺失和噪声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学进去，再放大到每一次预测里。</a:t>
            </a:r>
            <a:endParaRPr/>
          </a:p>
          <a:p>
            <a:pPr>
              <a:lnSpc>
                <a:spcPct val="170000"/>
              </a:lnSpc>
            </a:pPr>
            <a:r>
              <a:rPr lang="en-US" sz="1050">
                <a:solidFill>
                  <a:srgbClr val="FFFFFF">
                    <a:alpha val="70000"/>
                  </a:srgbClr>
                </a:solidFill>
                <a:latin typeface="Source Han Sans SC"/>
                <a:ea typeface="Source Han Sans SC"/>
              </a:rPr>
              <a:t>Models faithfully learn — and amplify — every flaw in the data.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038600" y="3743325"/>
            <a:ext cx="3619500" cy="733425"/>
          </a:xfrm>
          <a:prstGeom prst="roundRect">
            <a:avLst>
              <a:gd name="adj" fmla="val 1298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4210050" y="3876675"/>
            <a:ext cx="327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坏数据</a:t>
            </a:r>
            <a:r>
              <a:rPr lang="en-US" sz="1125" b="1">
                <a:solidFill>
                  <a:srgbClr val="FFC107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好算法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4210050" y="408622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换十个模型也救不回来，指标会一直「莫名」上不去。</a:t>
            </a:r>
            <a:endParaRPr/>
          </a:p>
        </p:txBody>
      </p:sp>
      <p:sp>
        <p:nvSpPr>
          <p:cNvPr id="564" name=""/>
          <p:cNvSpPr/>
          <p:nvPr/>
        </p:nvSpPr>
        <p:spPr>
          <a:xfrm rot="0" flipH="0" flipV="0">
            <a:off x="7772400" y="3743325"/>
            <a:ext cx="3619500" cy="733425"/>
          </a:xfrm>
          <a:prstGeom prst="roundRect">
            <a:avLst>
              <a:gd name="adj" fmla="val 1298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7943850" y="3876675"/>
            <a:ext cx="327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好数据</a:t>
            </a:r>
            <a:r>
              <a:rPr lang="en-US" sz="1125" b="1">
                <a:solidFill>
                  <a:srgbClr val="FFC107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简单模型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7943850" y="408622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清洗好的数据上，逻辑回归也常常打赢深度网络。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4038600" y="4705350"/>
            <a:ext cx="7353300" cy="1009650"/>
          </a:xfrm>
          <a:prstGeom prst="roundRect">
            <a:avLst>
              <a:gd name="adj" fmla="val 1132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4248150" y="4876800"/>
            <a:ext cx="69342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 b="1">
                <a:solidFill>
                  <a:srgbClr val="FFC107"/>
                </a:solidFill>
                <a:latin typeface="Source Han Sans SC"/>
                <a:ea typeface="Source Han Sans SC"/>
              </a:rPr>
              <a:t>数据质量是模型上限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，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算法只是逼近这个上限的速度——所以本周的清洗功夫，比下周的任何调参技巧都值钱。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571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 · Titanic 数据实战&lt;/Text&gt;&#10;        &lt;Text style={{ fontSize: 26, color: '#8B97A8', fontWeight: '600', marginTop: 6 }}&gt;Hands-On: The Titanic Dataset&lt;/Text&gt;&#10;      &lt;/Box&gt;&#10;    &lt;/Box&gt;&#10;    &lt;Box style={{ flexDirection: 'row', gap: 24 }}&gt;&#10;      {[&#10;        { t: '四段任务', e: '4 Missions · 75 min' },&#10;        { t: '每步留痕', e: 'Document Every Step' },&#10;        { t: '课末小测', e: 'Quiz at the End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410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Lab · Titanic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数据实战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4100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Hands-On: The Titanic Dataset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四段任务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4 Missions · 75 min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每步留痕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Document Every Step</a:t>
            </a:r>
            <a:endParaRPr/>
          </a:p>
        </p:txBody>
      </p:sp>
      <p:sp>
        <p:nvSpPr>
          <p:cNvPr id="58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课末小测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Quiz at the End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总览 · 75 分钟四段任务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2, alignItems: 'stretch' }}&gt;&#10;      {[&#10;        { n: 'A', t: 'NumPy 热身', m: '10 min', d: '创建 · 切片 · 广播小练', c: '#3D7BD9', i: 'calculator' },&#10;        { n: 'B', t: 'Pandas 探索', m: '25 min', d: '加载 titanic.csv 走 EDA 五步', c: '#1E4FA8', i: 'search' },&#10;        { n: 'C', t: '可视化', m: '20 min', d: '三张图回答三个问题', c: '#0E3F8C', i: 'chart-bar' },&#10;        { n: 'D', t: '清洗实战', m: '15 min', d: '缺失 · 异常 · 重复全处理', c: '#1E4FA8', i: 'broom' },&#10;        { n: 'E', t: '收尾提交', m: '5 min', d: '核对清单 · Git 推送', c: '#3D7BD9', i: 'upload' },&#10;      ].map((s, i) =&gt; (&#10;        &lt;Box key={i} style={{ flex: 1, position: 'relative' }}&gt;&#10;          &lt;Box style={{ background: '#F7F9FC', border: '1px solid #D6DCE5', borderTop: '4px solid ' + s.c, borderRadius: 12, padding: '14px 12px', height: 200, justifyContent: 'space-between' }}&gt;&#10;            &lt;Box style={{ flexDirection: 'row', alignItems: 'center', justifyContent: 'space-between' }}&gt;&#10;              &lt;Box style={{ width: 34, height: 34, borderRadius: 9, background: s.c, justifyContent: 'center', alignItems: 'center' }}&gt;&#10;                &lt;Text style={{ fontSize: 16, color: '#FFFFFF', fontWeight: 'bold' }}&gt;{s.n}&lt;/Text&gt;&#10;              &lt;/Box&gt;&#10;              &lt;Box style={{ background: '#F0F5FC', borderRadius: 8, padding: '3px 9px' }}&gt;&#10;                &lt;Text style={{ fontSize: 12.5, color: s.c, fontWeight: 'bold' }}&gt;{s.m}&lt;/Text&gt;&#10;              &lt;/Box&gt;&#10;            &lt;/Box&gt;&#10;            &lt;Box&gt;&#10;              &lt;FAIcon name={s.i} style={{ fill: s.c, width: 24, height: 24 }} /&gt;&#10;              &lt;Text style={{ fontSize: 17, color: '#1A2230', fontWeight: 'bold', marginTop: 6 }}&gt;{s.t}&lt;/Text&gt;&#10;              &lt;Text style={{ fontSize: 12.5, color: '#4A5568', marginTop: 3, lineHeight: 1.45 }}&gt;{s.d}&lt;/Text&gt;&#10;            &lt;/Box&gt;&#10;          &lt;/Box&gt;&#10;          {i &lt; 4 &amp;&amp; (&#10;            &lt;Box style={{ position: 'absolute', right: -12, top: 88, zIndex: 2 }}&gt;&#10;              &lt;FAIcon name='arrow-right' style={{ fill: '#3D7BD9', width: 17, height: 17 }} /&gt;&#10;            &lt;/Box&gt;&#10;          )}&#10;        &lt;/Box&gt;&#10;      ))}&#10;    &lt;/Box&gt;&#10;    &lt;Box style={{ flexDirection: 'row', gap: 16, marginTop: 18, flex: 1 }}&gt;&#10;      &lt;Box style={{ flex: 1, background: '#F0F5FC', border: '1px solid #D6DCE5', borderRadius: 12, padding: '16px 22px' }}&gt;&#10;        &lt;Text style={{ fontSize: 16, color: '#0E3F8C', fontWeight: 'bold', marginBottom: 8 }}&gt;环境与数据 · Environment&lt;/Text&gt;&#10;        &lt;Text style={{ fontSize: 14, color: '#4A5568', lineHeight: 1.75 }}&gt;&#10;          conda activate &lt;span style={{ fontFamily: 'Consolas, Menlo, monospace', color: '#1E4FA8' }}&gt;ai-app&lt;/span&gt;（上周已建）·&#10;          数据 titanic.csv 已放课程平台 · 新建 notebook &lt;span style={{ fontFamily: 'Consolas, Menlo, monospace', color: '#1E4FA8' }}&gt;lab02_eda.ipynb&lt;/span&gt;&#10;        &lt;/Text&gt;&#10;      &lt;/Box&gt;&#10;      &lt;Box style={{ flex: 1, background: '#0E3F8C', borderRadius: 12, padding: '16px 22px' }}&gt;&#10;        &lt;Text style={{ fontSize: 16, color: '#FFFFFF', fontWeight: 'bold', marginBottom: 8 }}&gt;规则 · Lab Rules&lt;/Text&gt;&#10;        {['卡住先看报错最后一行，再问邻座，再举手', '每个任务一个 Markdown 小标题', '结果不唯一——推理过程比答案值钱'].map((t, i) =&gt; (&#10;          &lt;Box key={i} style={{ flexDirection: 'row', gap: 8, alignItems: 'flex-start', marginBottom: 5 }}&gt;&#10;            &lt;Text style={{ fontSize: 13, color: '#FFC107', fontWeight: 'bold', marginTop: 1 }}&gt;{i + 1}.&lt;/Text&gt;&#10;            &lt;Text style={{ fontSize: 13.5, color: 'rgba(255,255,255,0.92)', lineHeight: 1.5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76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总览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75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分钟四段任务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8001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10096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环境与数据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Environment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09650" y="4279913"/>
            <a:ext cx="48006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conda activate </a:t>
            </a:r>
            <a:r>
              <a:rPr lang="en-US" sz="1050">
                <a:solidFill>
                  <a:srgbClr val="1E4FA8"/>
                </a:solidFill>
                <a:latin typeface="Source Han Sans SC"/>
                <a:ea typeface="Source Han Sans SC"/>
              </a:rPr>
              <a:t>ai-app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（上周已建）·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titanic.csv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已放课程平台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新建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notebook </a:t>
            </a:r>
            <a:r>
              <a:rPr lang="en-US" sz="1050">
                <a:solidFill>
                  <a:srgbClr val="1E4FA8"/>
                </a:solidFill>
                <a:latin typeface="Source Han Sans SC"/>
                <a:ea typeface="Source Han Sans SC"/>
              </a:rPr>
              <a:t>lab02_eda.ipynb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1722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63817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SC"/>
                <a:ea typeface="Source Han Sans SC"/>
              </a:rPr>
              <a:t>规则</a:t>
            </a: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 · Lab Rules</a:t>
            </a:r>
            <a:endParaRPr/>
          </a:p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6381750" y="4289438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1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6543675" y="4279913"/>
            <a:ext cx="24479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卡住先看报错最后一行，再问邻座，再举手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6381750" y="4575188"/>
            <a:ext cx="114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2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6572250" y="4565663"/>
            <a:ext cx="18669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每个任务一个</a:t>
            </a:r>
            <a:r>
              <a:rPr lang="en-US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小标题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6381750" y="4860938"/>
            <a:ext cx="114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3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6572250" y="4851413"/>
            <a:ext cx="20574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结果不唯一——推理过程比答案值钱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80010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80010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09" name=""/>
          <p:cNvSpPr/>
          <p:nvPr/>
        </p:nvSpPr>
        <p:spPr>
          <a:xfrm rot="0" flipH="0" flipV="0">
            <a:off x="91440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1028700" y="2022488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A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2171700" y="2022488"/>
            <a:ext cx="54292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2257425" y="2051063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Source Han Sans SC"/>
                <a:ea typeface="Source Han Sans SC"/>
              </a:rPr>
              <a:t>10 min</a:t>
            </a:r>
            <a:endParaRPr/>
          </a:p>
        </p:txBody>
      </p:sp>
      <p:pic>
        <p:nvPicPr>
          <p:cNvPr id="613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2832113"/>
            <a:ext cx="228600" cy="228600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1440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热身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91440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切片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广播小练</a:t>
            </a:r>
            <a:endParaRPr/>
          </a:p>
        </p:txBody>
      </p:sp>
      <p:sp>
        <p:nvSpPr>
          <p:cNvPr id="616" name=""/>
          <p:cNvSpPr/>
          <p:nvPr/>
        </p:nvSpPr>
        <p:spPr>
          <a:xfrm rot="0" flipH="0" flipV="0">
            <a:off x="294322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7" name=""/>
          <p:cNvSpPr/>
          <p:nvPr/>
        </p:nvSpPr>
        <p:spPr>
          <a:xfrm rot="0" flipH="0" flipV="0">
            <a:off x="294322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8" name=""/>
          <p:cNvSpPr/>
          <p:nvPr/>
        </p:nvSpPr>
        <p:spPr>
          <a:xfrm rot="0" flipH="0" flipV="0">
            <a:off x="305752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3162300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B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4295775" y="2022488"/>
            <a:ext cx="5619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4381500" y="2051063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25 min</a:t>
            </a:r>
            <a:endParaRPr/>
          </a:p>
        </p:txBody>
      </p:sp>
      <p:pic>
        <p:nvPicPr>
          <p:cNvPr id="622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057525" y="2832113"/>
            <a:ext cx="228600" cy="228600"/>
          </a:xfrm>
          <a:prstGeom prst="rect">
            <a:avLst/>
          </a:prstGeom>
          <a:ln/>
        </p:spPr>
      </p:pic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057525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Pandas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探索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057525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加载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titanic.csv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走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五步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5086350" y="1822463"/>
            <a:ext cx="2019300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26" name=""/>
          <p:cNvSpPr/>
          <p:nvPr/>
        </p:nvSpPr>
        <p:spPr>
          <a:xfrm rot="0" flipH="0" flipV="0">
            <a:off x="5086350" y="1822463"/>
            <a:ext cx="2019300" cy="1866900"/>
          </a:xfrm>
          <a:custGeom>
            <a:pathLst>
              <a:path w="212" h="19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/>
          <p:cNvSpPr/>
          <p:nvPr/>
        </p:nvSpPr>
        <p:spPr>
          <a:xfrm rot="0" flipH="0" flipV="0">
            <a:off x="52006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53054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C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6429375" y="2022488"/>
            <a:ext cx="5619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6515100" y="2051063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E3F8C"/>
                </a:solidFill>
                <a:latin typeface="Source Han Sans SC"/>
                <a:ea typeface="Source Han Sans SC"/>
              </a:rPr>
              <a:t>20 min</a:t>
            </a:r>
            <a:endParaRPr/>
          </a:p>
        </p:txBody>
      </p:sp>
      <p:pic>
        <p:nvPicPr>
          <p:cNvPr id="631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200650" y="2832113"/>
            <a:ext cx="228600" cy="228600"/>
          </a:xfrm>
          <a:prstGeom prst="rect">
            <a:avLst/>
          </a:prstGeom>
          <a:ln/>
        </p:spPr>
      </p:pic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5200650" y="3117863"/>
            <a:ext cx="1790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可视化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5200650" y="3346463"/>
            <a:ext cx="179070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三张图回答三个问题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21995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721995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/>
          <p:cNvSpPr/>
          <p:nvPr/>
        </p:nvSpPr>
        <p:spPr>
          <a:xfrm rot="0" flipH="0" flipV="0">
            <a:off x="73342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74390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D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8591550" y="2022488"/>
            <a:ext cx="54292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8677275" y="2051063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15 min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334250" y="2832113"/>
            <a:ext cx="228600" cy="228600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733425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清洗实战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733425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缺失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异常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重复全处理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936307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936307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5" name=""/>
          <p:cNvSpPr/>
          <p:nvPr/>
        </p:nvSpPr>
        <p:spPr>
          <a:xfrm rot="0" flipH="0" flipV="0">
            <a:off x="947737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9591675" y="2022488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E</a:t>
            </a:r>
            <a:endParaRPr/>
          </a:p>
        </p:txBody>
      </p:sp>
      <p:sp>
        <p:nvSpPr>
          <p:cNvPr id="647" name=""/>
          <p:cNvSpPr/>
          <p:nvPr/>
        </p:nvSpPr>
        <p:spPr>
          <a:xfrm rot="0" flipH="0" flipV="0">
            <a:off x="10782300" y="2022488"/>
            <a:ext cx="49530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10868025" y="2051063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Source Han Sans SC"/>
                <a:ea typeface="Source Han Sans SC"/>
              </a:rPr>
              <a:t>5 min</a:t>
            </a:r>
            <a:endParaRPr/>
          </a:p>
        </p:txBody>
      </p:sp>
      <p:pic>
        <p:nvPicPr>
          <p:cNvPr id="649" name="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477375" y="2832113"/>
            <a:ext cx="228600" cy="22860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9477375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收尾提交</a:t>
            </a:r>
            <a:endParaRPr/>
          </a:p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9477375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核对清单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Git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24 / 32</a:t>
            </a:r>
            <a:endParaRPr/>
          </a:p>
        </p:txBody>
      </p:sp>
      <p:pic>
        <p:nvPicPr>
          <p:cNvPr id="654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2781300" y="2622563"/>
            <a:ext cx="161925" cy="161925"/>
          </a:xfrm>
          <a:prstGeom prst="rect">
            <a:avLst/>
          </a:prstGeom>
          <a:ln/>
        </p:spPr>
      </p:pic>
      <p:pic>
        <p:nvPicPr>
          <p:cNvPr id="655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924425" y="2622563"/>
            <a:ext cx="161925" cy="161925"/>
          </a:xfrm>
          <a:prstGeom prst="rect">
            <a:avLst/>
          </a:prstGeom>
          <a:ln/>
        </p:spPr>
      </p:pic>
      <p:pic>
        <p:nvPicPr>
          <p:cNvPr id="656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58025" y="2622563"/>
            <a:ext cx="161925" cy="161925"/>
          </a:xfrm>
          <a:prstGeom prst="rect">
            <a:avLst/>
          </a:prstGeom>
          <a:ln/>
        </p:spPr>
      </p:pic>
      <p:pic>
        <p:nvPicPr>
          <p:cNvPr id="657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201150" y="2622563"/>
            <a:ext cx="161925" cy="161925"/>
          </a:xfrm>
          <a:prstGeom prst="rect">
            <a:avLst/>
          </a:prstGeom>
          <a:ln/>
        </p:spPr>
      </p:pic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65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A · NumPy 热身（10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2 }}&gt;&#10;      {[&#10;        {&#10;          n: '任务 1', t: '创建与查看', d: '创建 4×4 的 0–15 矩阵，打印 shape、dtype、总和。',&#10;          c: &quot;a = np.arange(16).reshape(4, 4)\nprint(a.shape, a.dtype, a.sum())&quot;,&#10;        },&#10;        {&#10;          n: '任务 2', t: '切片练习', d: '取第 2 行、第 3 列、右下角 2×2 子块（注意是视图！）。',&#10;          c: &quot;row2 = a[1]\ncol3 = a[:, 2]\nblock = a[2:, 2:]&quot;,&#10;        },&#10;        {&#10;          n: '任务 3', t: '广播运算', d: '让矩阵每一行分别加上 [0, 1, 2, 3]——一行代码完成。',&#10;          c: &quot;b = a + np.array([0, 1, 2, 3])&quot;,&#10;        },&#10;      ].map((r, i) =&gt; (&#10;        &lt;Box key={i} style={{ background: '#F7F9FC', border: '1px solid #E5E7EB', borderLeft: '4px solid ' + ['#3D7BD9', '#1E4FA8', '#0E3F8C'][i], borderRadius: 10, padding: '13px 17px' }}&gt;&#10;          &lt;Box style={{ flexDirection: 'row', alignItems: 'baseline', gap: 10 }}&gt;&#10;            &lt;Text style={{ fontSize: 13, color: '#8B97A8', fontWeight: '600' }}&gt;{r.n}&lt;/Text&gt;&#10;            &lt;Text style={{ fontSize: 17, color: '#1A2230', fontWeight: 'bold' }}&gt;{r.t}&lt;/Text&gt;&#10;          &lt;/Box&gt;&#10;          &lt;Text style={{ fontSize: 13.5, color: '#4A5568', marginTop: 3, lineHeight: 1.5 }}&gt;{r.d}&lt;/Text&gt;&#10;        &lt;/Box&gt;&#10;      ))}&#10;      &lt;Box style={{ borderLeft: '4px solid #0E3F8C', paddingLeft: 14 }}&gt;&#10;        &lt;Text style={{ fontSize: 14.5, color: '#1A2230', lineHeight: 1.55 }}&gt;&#10;          &lt;span style={{ fontWeight: 'bold', color: '#0E3F8C' }}&gt;检查点：&lt;/span&gt;三个任务全绿（无报错 + 结果符合预期）再进入 Lab B。&#10;        &lt;/Text&gt;&#10;      &lt;/Box&gt;&#10;    &lt;/Box&gt;&#10;    &lt;Box style={{ width: 470, flexShrink: 0 }}&gt;&#10;      &lt;Box style={{ background: '#1A2230', borderRadius: 12, padding: '18px 22px', height: 440 }}&gt;&#10;        &lt;Text style={{ fontSize: 14, color: '#8B97A8', marginBottom: 8 }}&gt;# 参考答案骨架 · skeleton（先自己写，卡住再看）&lt;/Text&gt;&#10;        &lt;Text style={{ fontSize: 14.5, color: '#A8D8B9', lineHeight: 1.9, fontFamily: 'Consolas, Menlo, monospace' }}&gt;&#10;          import numpy as np{'\n\n'}&#10;          a = np.arange(16).reshape(4, 4){'\n'}&#10;          print(a.shape, a.dtype){'\n'}&#10;          print(a.sum()){'\n\n'}&#10;          row2 = a[1]&amp;nbsp;&amp;nbsp;&amp;nbsp;&amp;nbsp;&amp;nbsp;&amp;nbsp;# 第 2 行{'\n'}&#10;          block = a[2:, 2:]&amp;nbsp;# 右下 2x2{'\n\n'}&#10;          b = a + np.array([0, 1, 2, 3]){'\n'}&#10;          # b 的第 i 行 = a 的第 i 行 + i{'\n'}&#10;          # 这就是广播：(..,4) + (4,)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95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A · NumPy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热身（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10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38200" y="148650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4" name=""/>
          <p:cNvSpPr/>
          <p:nvPr/>
        </p:nvSpPr>
        <p:spPr>
          <a:xfrm rot="0" flipH="0" flipV="0">
            <a:off x="838200" y="148650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1000125" y="1610325"/>
            <a:ext cx="34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1</a:t>
            </a:r>
            <a:endParaRPr/>
          </a:p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1438275" y="1610325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创建与查看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1000125" y="183892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4×4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0–15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矩阵，打印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shape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dtype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、总和。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838200" y="2315175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9" name=""/>
          <p:cNvSpPr/>
          <p:nvPr/>
        </p:nvSpPr>
        <p:spPr>
          <a:xfrm rot="0" flipH="0" flipV="0">
            <a:off x="838200" y="2315175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1000125" y="2439000"/>
            <a:ext cx="37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2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1466850" y="24390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切片练习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000125" y="2667600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取第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行、第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列、右下角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2×2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子块（注意是视图！）。</a:t>
            </a:r>
            <a:endParaRPr/>
          </a:p>
        </p:txBody>
      </p:sp>
      <p:sp>
        <p:nvSpPr>
          <p:cNvPr id="673" name=""/>
          <p:cNvSpPr/>
          <p:nvPr/>
        </p:nvSpPr>
        <p:spPr>
          <a:xfrm rot="0" flipH="0" flipV="0">
            <a:off x="838200" y="314385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4" name=""/>
          <p:cNvSpPr/>
          <p:nvPr/>
        </p:nvSpPr>
        <p:spPr>
          <a:xfrm rot="0" flipH="0" flipV="0">
            <a:off x="838200" y="314385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1000125" y="3267675"/>
            <a:ext cx="37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3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466850" y="326767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广播运算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1000125" y="349627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让矩阵每一行分别加上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[0, 1, 2, 3]——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一行代码完成。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800100" y="397252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971550" y="397252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检查点：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三个任务全绿（无报错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结果符合预期）再进入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Lab B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6915150" y="1486500"/>
            <a:ext cx="4476750" cy="4191000"/>
          </a:xfrm>
          <a:prstGeom prst="roundRect">
            <a:avLst>
              <a:gd name="adj" fmla="val 2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124700" y="165795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参考答案骨架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skeleton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（先自己写，卡住再看）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7124700" y="1896075"/>
            <a:ext cx="4057650" cy="37814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numpy as np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a = np.arange(16).reshape(4, 4)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print(a.shape, a.dtype)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print(a.sum())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row2 = a[1]    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2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block = a[2:, 2:]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右下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2x2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 = a + np.array([0, 1, 2, 3])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b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的第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i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= a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的第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i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+ i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这就是广播：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(..,4) + (4,)</a:t>
            </a:r>
            <a:endParaRPr/>
          </a:p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6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B · Pandas 探索（25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width: 470, flexShrink: 0 }}&gt;&#10;      &lt;Box style={{ background: '#1A2230', borderRadius: 12, padding: '16px 22px' }}&gt;&#10;        &lt;Text style={{ fontSize: 14, color: '#8B97A8', marginBottom: 6 }}&gt;# 起点 · your starting point&lt;/Text&gt;&#10;        &lt;Text style={{ fontSize: 14.5, color: '#A8D8B9', lineHeight: 1.9, fontFamily: 'Consolas, Menlo, monospace' }}&gt;&#10;          import pandas as pd{'\n\n'}&#10;          df = pd.read_csv('titanic.csv'){'\n'}&#10;          df.shape&amp;nbsp;&amp;nbsp;&amp;nbsp;# (891, 12){'\n'}&#10;          df.head()&amp;nbsp;&amp;nbsp;# 先看 5 行{'\n'}&#10;          df.info()&amp;nbsp;&amp;nbsp;# 类型 + 缺失{'\n'}&#10;          df.describe()&amp;nbsp;# 数值列统计&#10;        &lt;/Text&gt;&#10;      &lt;/Box&gt;&#10;      &lt;Box style={{ background: '#F0F5FC', border: '1px solid #D6DCE5', borderRadius: 10, padding: '13px 18px', marginTop: 12 }}&gt;&#10;        &lt;Text style={{ fontSize: 14, color: '#4A5568', lineHeight: 1.6 }}&gt;&#10;          &lt;span style={{ fontWeight: 'bold', color: '#1E4FA8' }}&gt;提示：&lt;/span&gt;info() 输出里 non-null 计数不等于 891 的列，就是有缺失的列——先把它们记在 Markdown 里。&#10;        &lt;/Text&gt;&#10;      &lt;/Box&gt;&#10;    &lt;/Box&gt;&#10;    &lt;Box style={{ flex: 1, gap: 11, justifyContent: 'center' }}&gt;&#10;      &lt;Text style={{ fontSize: 17, color: '#0E3F8C', fontWeight: 'bold' }}&gt;用代码回答四个问题 · Answer with Code&lt;/Text&gt;&#10;      {[&#10;        { q: 'Q1 · 哪几列有缺失？各缺多少？', h: &quot;df.isna().sum()&quot; },&#10;        { q: 'Q2 · 三个舱位的票价均值分别是多少？', h: &quot;df.groupby('class')['fare'].mean()&quot; },&#10;        { q: 'Q3 · 30 岁以上的男性乘客生还率是多少？', h: &quot;df[(df['age']&gt;30) &amp; (df['sex']=='male')]['survived'].mean()&quot; },&#10;        { q: 'Q4 · 女性生还率是男性的几倍？', h: &quot;df.groupby('sex')['survived'].mean()&quot; },&#10;      ].map((r, i) =&gt; (&#10;        &lt;Box key={i} style={{ background: '#F7F9FC', border: '1px solid #E5E7EB', borderLeft: '4px solid ' + ['#3D7BD9', '#1E4FA8', '#0E3F8C', '#1E4FA8'][i], borderRadius: 10, padding: '12px 16px' }}&gt;&#10;          &lt;Text style={{ fontSize: 15.5, color: '#1A2230', fontWeight: '600' }}&gt;{r.q}&lt;/Text&gt;&#10;          &lt;Text style={{ fontSize: 12.5, color: '#8B97A8', fontFamily: 'Consolas, Menlo, monospace', marginTop: 5 }}&gt;提示：{r.h}&lt;/Text&gt;&#10;        &lt;/Box&gt;&#10;      ))}&#10;      &lt;Box style={{ borderLeft: '4px solid #0E3F8C', paddingLeft: 14 }}&gt;&#10;        &lt;Text style={{ fontSize: 14.5, color: '#1A2230', lineHeight: 1.55 }}&gt;&#10;          每个答案下面写一句&lt;span style={{ fontWeight: 'bold', color: '#0E3F8C' }}&gt;「我发现……」&lt;/span&gt;——这就是 EDA 第 5 步的假设素材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B · Pandas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探索（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25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800100" y="1515075"/>
            <a:ext cx="4476750" cy="2733675"/>
          </a:xfrm>
          <a:prstGeom prst="roundRect">
            <a:avLst>
              <a:gd name="adj" fmla="val 418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1009650" y="1667475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起点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your starting point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1009650" y="1886550"/>
            <a:ext cx="4057650" cy="2209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pandas as pd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 = pd.read_csv('titanic.csv')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df.shape   # (891, 12)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df.head()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先看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5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df.info()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类型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+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缺失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df.describe()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数值列统计</a:t>
            </a:r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800100" y="4363050"/>
            <a:ext cx="44767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71550" y="4486875"/>
            <a:ext cx="4133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提示：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info()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输出里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non-null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计数不等于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891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的列，就是有缺失的列——先把它们记在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里。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5524500" y="2267550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用代码回答四个问题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Answer with Code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5562600" y="257235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7" name=""/>
          <p:cNvSpPr/>
          <p:nvPr/>
        </p:nvSpPr>
        <p:spPr>
          <a:xfrm rot="0" flipH="0" flipV="0">
            <a:off x="5562600" y="257235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15000" y="268665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Q1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哪几列有缺失？各缺多少？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5715000" y="291525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df.isna().sum()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5562600" y="327720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5562600" y="327720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715000" y="339150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Q2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三个舱位的票价均值分别是多少？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5715000" y="362010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df.groupby('class')['fare'].mean()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5562600" y="398205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5" name=""/>
          <p:cNvSpPr/>
          <p:nvPr/>
        </p:nvSpPr>
        <p:spPr>
          <a:xfrm rot="0" flipH="0" flipV="0">
            <a:off x="5562600" y="398205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5715000" y="409635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Q3 · 30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岁以上的男性乘客生还率是多少？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5715000" y="432495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df[(df['age']&gt;30) &amp; (df['sex']=='male')]['survived'].mean()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5562600" y="468690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9" name=""/>
          <p:cNvSpPr/>
          <p:nvPr/>
        </p:nvSpPr>
        <p:spPr>
          <a:xfrm rot="0" flipH="0" flipV="0">
            <a:off x="5562600" y="468690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15000" y="480120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Q4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女性生还率是男性的几倍？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5715000" y="502980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df.groupby('sex')['survived'].mean()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5524500" y="5391750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5695950" y="5391750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每个答案下面写一句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「我发现……」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——这就是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EDA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第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5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步的假设素材。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C · 三张图，三个问题（20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n: '图 1', q: '乘客年龄分布什么样？', t: '直方图', c: 'df[&quot;age&quot;].plot.hist(bins=30)',&#10;          r: '右偏？集中在哪段？有没有可疑的 0 岁？', col: '#3D7BD9',&#10;          bars: [30, 55, 82, 95, 88, 70, 52, 40, 28, 18, 12, 8],&#10;        },&#10;        {&#10;          n: '图 2', q: '各舱位生还率谁高？', t: '条形图', c: &quot;df.groupby('class')['survived'].mean().plot.bar()&quot;,&#10;          r: '一/二/三等舱的生还率单调递减吗？', col: '#1E4FA8',&#10;          bars: [62, 47, 24],&#10;        },&#10;        {&#10;          n: '图 3', q: '年龄与票价什么关系？', t: '散点图', c: &quot;df.plot.scatter(x='age', y='fare')&quot;,&#10;          r: '有没有天花板（512 的票）？低价票聚集在哪？', col: '#0E3F8C',&#10;          dots: true,&#10;        },&#10;      ].map((k, i) =&gt; (&#10;        &lt;Box key={i} style={{ flex: 1, background: '#F7F9FC', border: '1px solid #E5E7EB', borderTop: '4px solid ' + k.col, borderRadius: 12, padding: '15px 17px', justifyContent: 'space-between' }}&gt;&#10;          &lt;Box&gt;&#10;            &lt;Text style={{ fontSize: 13, color: '#8B97A8', fontWeight: '600' }}&gt;{k.n} · {k.t}&lt;/Text&gt;&#10;            &lt;Text style={{ fontSize: 17, color: '#1A2230', fontWeight: 'bold', marginTop: 2 }}&gt;{k.q}&lt;/Text&gt;&#10;          &lt;/Box&gt;&#10;          &lt;Box style={{ height: 100, justifyContent: 'center', alignItems: 'center' }}&gt;&#10;            {k.bars &amp;&amp; (&#10;              &lt;svg width={230} height={96} viewBox='0 0 230 96'&gt;&#10;                {k.bars.map((h, bi) =&gt; (&#10;                  &lt;rect key={bi} x={bi * (k.bars.length === 3 ? 74 : 19) + 8} y={88 - h * 0.8} width={k.bars.length === 3 ? 56 : 14} height={h * 0.8} rx='3' fill={k.col} opacity='0.85' /&gt;&#10;                ))}&#10;              &lt;/svg&gt;&#10;            )}&#10;            {k.dots &amp;&amp; (&#10;              &lt;svg width={230} height={96} viewBox='0 0 230 96'&gt;&#10;                {[[14, 78], [30, 82], [48, 70], [62, 66], [80, 74], [96, 60], [112, 64], [128, 50], [146, 44], [162, 40], [178, 52], [196, 34], [210, 30], [90, 8], [150, 10]].map((p, di) =&gt; (&#10;                  &lt;circle key={di} cx={p[0]} cy={p[1]} r='5.5' fill={k.col} opacity='0.75' /&gt;&#10;                ))}&#10;              &lt;/svg&gt;&#10;            )}&#10;          &lt;/Box&gt;&#10;          &lt;Box&gt;&#10;            &lt;Text style={{ fontSize: 12.5, color: '#1E4FA8', fontFamily: 'Consolas, Menlo, monospace' }}&gt;{k.c}&lt;/Text&gt;&#10;            &lt;Text style={{ fontSize: 13, color: '#4A5568', lineHeight: 1.5, marginTop: 5 }}&gt;观察点：{k.r}&lt;/Text&gt;&#10;          &lt;/Box&gt;&#10;        &lt;/Box&gt;&#10;      ))}&#10;    &lt;/Box&gt;&#10;    &lt;Box style={{ flexDirection: 'row', gap: 16, marginTop: 14 }}&gt;&#10;      &lt;Box style={{ flex: 1, background: '#F0F5FC', border: '1px solid #D6DCE5', borderRadius: 10, padding: '12px 20px' }}&gt;&#10;        &lt;Text style={{ fontSize: 14.5, color: '#1A2230', lineHeight: 1.6 }}&gt;&#10;          &lt;span style={{ fontWeight: 'bold', color: '#1E4FA8' }}&gt;要求：&lt;/span&gt;每张图配 1–2 句 Markdown 解读——&lt;span style={{ fontWeight: 'bold', color: '#0E3F8C' }}&gt;没有解读的图等于没画&lt;/span&gt;。&#10;          &lt;span style={{ fontSize: 12.5, color: '#8B97A8' }}&gt;A chart without a caption is not analysis.&lt;/span&gt;&#10;        &lt;/Text&gt;&#10;      &lt;/Box&gt;&#10;      &lt;Box style={{ width: 420, borderLeft: '4px solid #0E3F8C', paddingLeft: 14, justifyContent: 'center' }}&gt;&#10;        &lt;Text style={{ fontSize: 14.5, color: '#1A2230', lineHeight: 1.6 }}&gt;&#10;          提速 30 秒：图想不出怎么解读，就回到 Q1–Q4 的答案里找线索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619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C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三张图，三个问题（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20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21" name=""/>
          <p:cNvSpPr/>
          <p:nvPr/>
        </p:nvSpPr>
        <p:spPr>
          <a:xfrm rot="0" flipH="0" flipV="0">
            <a:off x="800100" y="1517100"/>
            <a:ext cx="3419475" cy="331064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2" name=""/>
          <p:cNvSpPr/>
          <p:nvPr/>
        </p:nvSpPr>
        <p:spPr>
          <a:xfrm rot="0" flipH="0" flipV="0">
            <a:off x="800100" y="1517100"/>
            <a:ext cx="3419475" cy="3310649"/>
          </a:xfrm>
          <a:custGeom>
            <a:pathLst>
              <a:path w="359" h="42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962025" y="165997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1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直方图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962025" y="183142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乘客年龄分布什么样？</a:t>
            </a:r>
            <a:endParaRPr/>
          </a:p>
        </p:txBody>
      </p:sp>
      <p:pic>
        <p:nvPicPr>
          <p:cNvPr id="725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19225" y="2323650"/>
            <a:ext cx="2190750" cy="914400"/>
          </a:xfrm>
          <a:prstGeom prst="rect">
            <a:avLst/>
          </a:prstGeom>
          <a:ln/>
        </p:spPr>
      </p:pic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962025" y="422865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df["age"].plot.hist(bins=30)</a:t>
            </a:r>
            <a:endParaRPr/>
          </a:p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962025" y="441915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右偏？集中在哪段？有没有可疑的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岁？</a:t>
            </a:r>
            <a:endParaRPr/>
          </a:p>
        </p:txBody>
      </p:sp>
      <p:sp>
        <p:nvSpPr>
          <p:cNvPr id="728" name=""/>
          <p:cNvSpPr/>
          <p:nvPr/>
        </p:nvSpPr>
        <p:spPr>
          <a:xfrm rot="0" flipH="0" flipV="0">
            <a:off x="4391025" y="1517100"/>
            <a:ext cx="3409950" cy="3310649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9" name=""/>
          <p:cNvSpPr/>
          <p:nvPr/>
        </p:nvSpPr>
        <p:spPr>
          <a:xfrm rot="0" flipH="0" flipV="0">
            <a:off x="4391025" y="1517100"/>
            <a:ext cx="3409950" cy="3310649"/>
          </a:xfrm>
          <a:custGeom>
            <a:pathLst>
              <a:path w="358" h="42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4552950" y="1659975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2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条形图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4552950" y="183142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各舱位生还率谁高？</a:t>
            </a:r>
            <a:endParaRPr/>
          </a:p>
        </p:txBody>
      </p:sp>
      <p:pic>
        <p:nvPicPr>
          <p:cNvPr id="732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00625" y="2247449"/>
            <a:ext cx="2190750" cy="914400"/>
          </a:xfrm>
          <a:prstGeom prst="rect">
            <a:avLst/>
          </a:prstGeom>
          <a:ln/>
        </p:spPr>
      </p:pic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4552950" y="4085775"/>
            <a:ext cx="30861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df.groupby('class')['survived'].mean().plot.bar()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4552950" y="4419150"/>
            <a:ext cx="30861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一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三等舱的生还率单调递减吗？</a:t>
            </a:r>
            <a:endParaRPr/>
          </a:p>
        </p:txBody>
      </p:sp>
      <p:sp>
        <p:nvSpPr>
          <p:cNvPr id="735" name=""/>
          <p:cNvSpPr/>
          <p:nvPr/>
        </p:nvSpPr>
        <p:spPr>
          <a:xfrm rot="0" flipH="0" flipV="0">
            <a:off x="7972425" y="1517100"/>
            <a:ext cx="3419475" cy="331064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6" name=""/>
          <p:cNvSpPr/>
          <p:nvPr/>
        </p:nvSpPr>
        <p:spPr>
          <a:xfrm rot="0" flipH="0" flipV="0">
            <a:off x="7972425" y="1517100"/>
            <a:ext cx="3419475" cy="3310649"/>
          </a:xfrm>
          <a:custGeom>
            <a:pathLst>
              <a:path w="359" h="42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8134350" y="165997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3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散点图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8134350" y="183142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年龄与票价什么关系？</a:t>
            </a:r>
            <a:endParaRPr/>
          </a:p>
        </p:txBody>
      </p:sp>
      <p:pic>
        <p:nvPicPr>
          <p:cNvPr id="73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91550" y="2323650"/>
            <a:ext cx="2190750" cy="914400"/>
          </a:xfrm>
          <a:prstGeom prst="rect">
            <a:avLst/>
          </a:prstGeom>
          <a:ln/>
        </p:spPr>
      </p:pic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8134350" y="422865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df.plot.scatter(x='age', y='fare')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8134350" y="441915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有没有天花板（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512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的票）？低价票聚集在哪？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800100" y="4923000"/>
            <a:ext cx="64389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990600" y="5037299"/>
            <a:ext cx="60579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要求：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每张图配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1–2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句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解读——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没有解读的图等于没画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 chart without a caption is not analysis.</a:t>
            </a:r>
            <a:endParaRPr/>
          </a:p>
        </p:txBody>
      </p:sp>
      <p:sp>
        <p:nvSpPr>
          <p:cNvPr id="744" name=""/>
          <p:cNvSpPr/>
          <p:nvPr/>
        </p:nvSpPr>
        <p:spPr>
          <a:xfrm rot="0" flipH="0" flipV="0">
            <a:off x="7391400" y="4923000"/>
            <a:ext cx="4000500" cy="723900"/>
          </a:xfrm>
          <a:custGeom>
            <a:pathLst>
              <a:path w="420" h="76">
                <a:moveTo>
                  <a:pt x="0" y="0"/>
                </a:moveTo>
                <a:lnTo>
                  <a:pt x="4" y="0"/>
                </a:lnTo>
                <a:lnTo>
                  <a:pt x="4" y="76"/>
                </a:lnTo>
                <a:lnTo>
                  <a:pt x="0" y="7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7562850" y="5018249"/>
            <a:ext cx="38290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提速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30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秒：图想不出怎么解读，就回到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Q1–Q4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的答案里找线索。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74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D · 清洗实战（15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0 }}&gt;&#10;      &lt;Text style={{ fontSize: 16.5, color: '#0E3F8C', fontWeight: 'bold' }}&gt;清洗清单 · 按顺序执行&lt;/Text&gt;&#10;      {[&#10;        { n: '1', t: 'age 缺失 177 个', d: '偏态分布 → 用中位数填充，并加一列 age_missing 标记。', c: '#3D7BD9' },&#10;        { n: '2', t: 'embarked 缺 2 个', d: '类别列且缺失极少 → 众数填充。', c: '#1E4FA8' },&#10;        { n: '3', t: 'fare 异常（0 元与 512 元）', d: 'IQR 上下界截断，别删除——0 元票可能有故事。', c: '#0E3F8C' },&#10;        { n: '4', t: '重复行检查', d: 'df.duplicated().sum()，有则 drop_duplicates()。', c: '#1E4FA8' },&#10;        { n: '5', t: '清洗后复检', d: '重跑 df.info() + describe()，对比清洗前后的变化。', c: '#3D7BD9' },&#10;      ].map((r, i) =&gt; (&#10;        &lt;Box key={i} style={{ flexDirection: 'row', gap: 12, alignItems: 'flex-start', background: '#F7F9FC', border: '1px solid #E5E7EB', borderLeft: '4px solid ' + r.c, borderRadius: 10, padding: '10px 15px' }}&gt;&#10;          &lt;Box style={{ width: 26, height: 26, borderRadius: 8, background: '#E8EFF8', justifyContent: 'center', alignItems: 'center', flexShrink: 0 }}&gt;&#10;            &lt;Text style={{ fontSize: 13.5, color: '#1E4FA8', fontWeight: 'bold' }}&gt;{r.n}&lt;/Text&gt;&#10;          &lt;/Box&gt;&#10;          &lt;Box style={{ flex: 1 }}&gt;&#10;            &lt;Text style={{ fontSize: 15.5, color: '#1A2230', fontWeight: 'bold' }}&gt;{r.t}&lt;/Text&gt;&#10;            &lt;Text style={{ fontSize: 13.5, color: '#4A5568', marginTop: 1, lineHeight: 1.5 }}&gt;{r.d}&lt;/Text&gt;&#10;          &lt;/Box&gt;&#10;        &lt;/Box&gt;&#10;      ))}&#10;    &lt;/Box&gt;&#10;    &lt;Box style={{ width: 490, flexShrink: 0 }}&gt;&#10;      &lt;Box style={{ background: '#1A2230', borderRadius: 12, padding: '16px 22px', height: 400 }}&gt;&#10;        &lt;Text style={{ fontSize: 14, color: '#8B97A8', marginBottom: 8 }}&gt;# 参考骨架 · skeleton&lt;/Text&gt;&#10;        &lt;Text style={{ fontSize: 14, color: '#A8D8B9', lineHeight: 1.95, fontFamily: 'Consolas, Menlo, monospace' }}&gt;&#10;          # 1. age：中位数填充 + 标记{'\n'}&#10;          med = df['age'].median(){'\n'}&#10;          df['age_missing'] = df['age'].isna(){'\n'}&#10;          df['age'] = df['age'].fillna(med){'\n\n'}&#10;          # 2. embarked：众数填充{'\n'}&#10;          mode = df['embarked'].mode()[0]{'\n'}&#10;          df['embarked'] = df['embarked'].fillna(mode){'\n\n'}&#10;          # 3. fare：IQR 截断{'\n'}&#10;          q1, q3 = df['fare'].quantile([.25, .75]){'\n'}&#10;          iqr = q3 - q1{'\n'}&#10;          df['fare'] = df['fare'].clip(q1 - 1.5*iqr,{'\n'}&#10;          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 q3 + 1.5*iqr)&#10;        &lt;/Text&gt;&#10;      &lt;/Box&gt;&#10;      &lt;Box style={{ borderLeft: '4px solid #0E3F8C', paddingLeft: 14, marginTop: 12 }}&gt;&#10;        &lt;Text style={{ fontSize: 14, color: '#1A2230', lineHeight: 1.55 }}&gt;&#10;          每一步前写一行 &lt;span style={{ color: '#0E3F8C', fontFamily: 'Consolas, Menlo, monospace' }}&gt;## 为什么这么做&lt;/span&gt;——评分就看这个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74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D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清洗实战（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15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67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清洗清单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按顺序执行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838200" y="13716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5" name=""/>
          <p:cNvSpPr/>
          <p:nvPr/>
        </p:nvSpPr>
        <p:spPr>
          <a:xfrm rot="0" flipH="0" flipV="0">
            <a:off x="838200" y="13716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6" name=""/>
          <p:cNvSpPr/>
          <p:nvPr/>
        </p:nvSpPr>
        <p:spPr>
          <a:xfrm rot="0" flipH="0" flipV="0">
            <a:off x="981075" y="14668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76325" y="1514475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1343025" y="14668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age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缺失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177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个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1343025" y="16573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偏态分布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用中位数填充，并加一列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age_missing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标记。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38200" y="208597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838200" y="208597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981075" y="2181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1066800" y="22288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1343025" y="218122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embarked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缺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2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个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1343025" y="237172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类别列且缺失极少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众数填充。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838200" y="280035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838200" y="280035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8" name=""/>
          <p:cNvSpPr/>
          <p:nvPr/>
        </p:nvSpPr>
        <p:spPr>
          <a:xfrm rot="0" flipH="0" flipV="0">
            <a:off x="981075" y="28956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1066800" y="294322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1343025" y="289560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fare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异常（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0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元与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512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元）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343025" y="308610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IQR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上下界截断，别删除——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0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元票可能有故事。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838200" y="351472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3" name=""/>
          <p:cNvSpPr/>
          <p:nvPr/>
        </p:nvSpPr>
        <p:spPr>
          <a:xfrm rot="0" flipH="0" flipV="0">
            <a:off x="838200" y="351472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981075" y="36099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343025" y="360997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重复行检查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343025" y="380047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df.duplicated().sum()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，有则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drop_duplicates()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778" name=""/>
          <p:cNvSpPr/>
          <p:nvPr/>
        </p:nvSpPr>
        <p:spPr>
          <a:xfrm rot="0" flipH="0" flipV="0">
            <a:off x="838200" y="42291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9" name=""/>
          <p:cNvSpPr/>
          <p:nvPr/>
        </p:nvSpPr>
        <p:spPr>
          <a:xfrm rot="0" flipH="0" flipV="0">
            <a:off x="838200" y="42291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981075" y="43243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1066800" y="437197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343025" y="43243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清洗后复检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343025" y="45148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重跑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df.info() + describe()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，对比清洗前后的变化。</a:t>
            </a:r>
            <a:endParaRPr/>
          </a:p>
        </p:txBody>
      </p:sp>
      <p:sp>
        <p:nvSpPr>
          <p:cNvPr id="784" name=""/>
          <p:cNvSpPr/>
          <p:nvPr/>
        </p:nvSpPr>
        <p:spPr>
          <a:xfrm rot="0" flipH="0" flipV="0">
            <a:off x="6724650" y="1085850"/>
            <a:ext cx="4667250" cy="3810000"/>
          </a:xfrm>
          <a:prstGeom prst="roundRect">
            <a:avLst>
              <a:gd name="adj" fmla="val 30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6934200" y="1238250"/>
            <a:ext cx="424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参考骨架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skeleton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6934200" y="1476375"/>
            <a:ext cx="4248150" cy="4371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1. age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：中位数填充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 +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标记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med = df['age'].median()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df['age_missing'] = df['age'].isna()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df['age'] = df['age'].fillna(med)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2. embarked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：众数填充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 = df['embarked'].mode()[0]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df['embarked'] = df['embarked'].fillna(mode)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3. fare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截断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q1, q3 = df['fare'].quantile([.25, .75])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= q3 - q1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df['fare'] = df['fare'].clip(q1 - 1.5*iqr,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                               q3 + 1.5*iqr)</a:t>
            </a:r>
            <a:endParaRPr/>
          </a:p>
        </p:txBody>
      </p:sp>
      <p:sp>
        <p:nvSpPr>
          <p:cNvPr id="787" name=""/>
          <p:cNvSpPr/>
          <p:nvPr/>
        </p:nvSpPr>
        <p:spPr>
          <a:xfrm rot="0" flipH="0" flipV="0">
            <a:off x="6724650" y="5010150"/>
            <a:ext cx="4705350" cy="257175"/>
          </a:xfrm>
          <a:custGeom>
            <a:pathLst>
              <a:path w="494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6896100" y="5010150"/>
            <a:ext cx="4495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1A2230"/>
                </a:solidFill>
                <a:latin typeface="Source Han Sans SC"/>
                <a:ea typeface="Source Han Sans SC"/>
              </a:rPr>
              <a:t>每一步前写一行</a:t>
            </a:r>
            <a:r>
              <a:rPr lang="en-US" sz="105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050">
                <a:solidFill>
                  <a:srgbClr val="0E3F8C"/>
                </a:solidFill>
                <a:latin typeface="Source Han Sans SC"/>
                <a:ea typeface="Source Han Sans SC"/>
              </a:rPr>
              <a:t>## </a:t>
            </a:r>
            <a:r>
              <a:rPr lang="zh-CN" sz="1050">
                <a:solidFill>
                  <a:srgbClr val="0E3F8C"/>
                </a:solidFill>
                <a:latin typeface="Source Han Sans SC"/>
                <a:ea typeface="Source Han Sans SC"/>
              </a:rPr>
              <a:t>为什么这么做</a:t>
            </a:r>
            <a:r>
              <a:rPr lang="zh-CN" sz="1050">
                <a:solidFill>
                  <a:srgbClr val="1A2230"/>
                </a:solidFill>
                <a:latin typeface="Source Han Sans SC"/>
                <a:ea typeface="Source Han Sans SC"/>
              </a:rPr>
              <a:t>——评分就看这个。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交付要求与评分 · Deliverables &amp;amp; Rubric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, gap: 12 }}&gt;&#10;      &lt;Text style={{ fontSize: 16.5, color: '#0E3F8C', fontWeight: 'bold' }}&gt;交付清单 · What to Submit&lt;/Text&gt;&#10;      {[&#10;        { i: 'file-code', t: 'lab02_eda.ipynb', d: '从加载到清洗的完整 notebook，含 Markdown 留痕' },&#10;        { i: 'chart-bar', t: '三张图 + 解读', d: '直方图 / 条形图 / 散点图，每图 1–2 句解读' },&#10;        { i: 'lightbulb', t: '假设清单（≥3 条）', d: '「我认为……因为图表显示……」格式' },&#10;        { i: 'upload', t: 'Git 推送', d: 'commit 信息规范：feat: complete lab02 EDA' },&#10;      ].map((r, i) =&gt; (&#10;        &lt;Box key={i} style={{ flexDirection: 'row', gap: 12, alignItems: 'center', background: '#F7F9FC', border: '1px solid #E5E7EB', borderRadius: 10, padding: '12px 16px' }}&gt;&#10;          &lt;Box style={{ width: 38, height: 38, borderRadius: 10, background: '#E8EFF8', justifyContent: 'center', alignItems: 'center', flexShrink: 0 }}&gt;&#10;            &lt;FAIcon name={r.i} style={{ fill: '#1E4FA8', width: 19, height: 19 }} /&gt;&#10;          &lt;/Box&gt;&#10;          &lt;Box style={{ flex: 1 }}&gt;&#10;            &lt;Text style={{ fontSize: 16, color: '#1A2230', fontWeight: 'bold' }}&gt;{r.t}&lt;/Text&gt;&#10;            &lt;Text style={{ fontSize: 13, color: '#4A5568', marginTop: 1 }}&gt;{r.d}&lt;/Text&gt;&#10;          &lt;/Box&gt;&#10;          &lt;FAIcon name='check-circle' style={{ fill: '#1E4FA8', width: 20, height: 20 }} /&gt;&#10;        &lt;/Box&gt;&#10;      ))}&#10;      &lt;Box style={{ background: '#0E3F8C', borderRadius: 10, padding: '11px 18px' }}&gt;&#10;        &lt;Text style={{ fontSize: 14.5, color: '#FFFFFF' }}&gt;截止：下周一 23:59 · 提交到课程平台 + GitHub 仓库链接&lt;/Text&gt;&#10;      &lt;/Box&gt;&#10;    &lt;/Box&gt;&#10;    &lt;Box style={{ width: 500, flexShrink: 0 }}&gt;&#10;      &lt;Text style={{ fontSize: 16.5, color: '#0E3F8C', fontWeight: 'bold', marginBottom: 10 }}&gt;评分标准 · Rubric（100 分）&lt;/Text&gt;&#10;      {[&#10;        { t: '代码可运行、逻辑清晰', w: 30, c: '#3D7BD9' },&#10;        { t: 'EDA 五步完整、发现记录在案', w: 30, c: '#1E4FA8' },&#10;        { t: '清洗决策合理且留痕（为什么）', w: 20, c: '#0E3F8C' },&#10;        { t: '三张图选型正确 + 解读到位', w: 10, c: '#1E4FA8' },&#10;        { t: '假设清单质量（可检验、有依据）', w: 10, c: '#3D7BD9' },&#10;      ].map((r, i) =&gt; (&#10;        &lt;Box key={i} style={{ marginBottom: 10 }}&gt;&#10;          &lt;Box style={{ flexDirection: 'row', justifyContent: 'space-between', marginBottom: 4 }}&gt;&#10;            &lt;Text style={{ fontSize: 14.5, color: '#1A2230' }}&gt;{r.t}&lt;/Text&gt;&#10;            &lt;Text style={{ fontSize: 14.5, color: r.c, fontWeight: 'bold' }}&gt;{r.w} 分&lt;/Text&gt;&#10;          &lt;/Box&gt;&#10;          &lt;Box style={{ height: 8, background: '#F0F5FC', borderRadius: 4, overflow: 'hidden' }}&gt;&#10;            &lt;Box style={{ width: r.w + '%', height: '100%', background: r.c, borderRadius: 4 }} /&gt;&#10;          &lt;/Box&gt;&#10;        &lt;/Box&gt;&#10;      ))}&#10;      &lt;Box style={{ background: '#F0F5FC', border: '1px solid #D6DCE5', borderRadius: 10, padding: '12px 18px', marginTop: 6 }}&gt;&#10;        &lt;Text style={{ fontSize: 13.5, color: '#4A5568', lineHeight: 1.6 }}&gt;&#10;          本 Lab 计入「实验参与 20%」。课末随堂小测另计 Lab 成绩的 10%。&#10;          &lt;span style={{ color: '#8B97A8' }}&gt;Late policy: 每迟 24h 扣 10%。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766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交付要求与评分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Deliverables &amp; Rubric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交付清单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What to Submit</a:t>
            </a:r>
            <a:endParaRPr/>
          </a:p>
        </p:txBody>
      </p:sp>
      <p:sp>
        <p:nvSpPr>
          <p:cNvPr id="797" name=""/>
          <p:cNvSpPr/>
          <p:nvPr/>
        </p:nvSpPr>
        <p:spPr>
          <a:xfrm rot="0" flipH="0" flipV="0">
            <a:off x="800100" y="14097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8" name=""/>
          <p:cNvSpPr/>
          <p:nvPr/>
        </p:nvSpPr>
        <p:spPr>
          <a:xfrm rot="0" flipH="0" flipV="0">
            <a:off x="952500" y="1524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47750" y="1619250"/>
            <a:ext cx="180975" cy="180975"/>
          </a:xfrm>
          <a:prstGeom prst="rect">
            <a:avLst/>
          </a:prstGeom>
          <a:ln/>
        </p:spPr>
      </p:pic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1428750" y="15335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lab02_eda.ipynb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428750" y="17335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从加载到清洗的完整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notebook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，含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留痕</a:t>
            </a:r>
            <a:endParaRPr/>
          </a:p>
        </p:txBody>
      </p:sp>
      <p:pic>
        <p:nvPicPr>
          <p:cNvPr id="802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1609725"/>
            <a:ext cx="190500" cy="190500"/>
          </a:xfrm>
          <a:prstGeom prst="rect">
            <a:avLst/>
          </a:prstGeom>
          <a:ln/>
        </p:spPr>
      </p:pic>
      <p:sp>
        <p:nvSpPr>
          <p:cNvPr id="803" name=""/>
          <p:cNvSpPr/>
          <p:nvPr/>
        </p:nvSpPr>
        <p:spPr>
          <a:xfrm rot="0" flipH="0" flipV="0">
            <a:off x="800100" y="21145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9525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5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47750" y="2324100"/>
            <a:ext cx="180975" cy="180975"/>
          </a:xfrm>
          <a:prstGeom prst="rect">
            <a:avLst/>
          </a:prstGeom>
          <a:ln/>
        </p:spPr>
      </p:pic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1428750" y="22383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三张图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解读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428750" y="24384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直方图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条形图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散点图，每图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1–2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句解读</a:t>
            </a:r>
            <a:endParaRPr/>
          </a:p>
        </p:txBody>
      </p:sp>
      <p:pic>
        <p:nvPicPr>
          <p:cNvPr id="808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2314575"/>
            <a:ext cx="190500" cy="190500"/>
          </a:xfrm>
          <a:prstGeom prst="rect">
            <a:avLst/>
          </a:prstGeom>
          <a:ln/>
        </p:spPr>
      </p:pic>
      <p:sp>
        <p:nvSpPr>
          <p:cNvPr id="809" name=""/>
          <p:cNvSpPr/>
          <p:nvPr/>
        </p:nvSpPr>
        <p:spPr>
          <a:xfrm rot="0" flipH="0" flipV="0">
            <a:off x="800100" y="28194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0" name=""/>
          <p:cNvSpPr/>
          <p:nvPr/>
        </p:nvSpPr>
        <p:spPr>
          <a:xfrm rot="0" flipH="0" flipV="0">
            <a:off x="9525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1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47750" y="3028950"/>
            <a:ext cx="180975" cy="180975"/>
          </a:xfrm>
          <a:prstGeom prst="rect">
            <a:avLst/>
          </a:prstGeom>
          <a:ln/>
        </p:spPr>
      </p:pic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1428750" y="29432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假设清单（≥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3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条）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1428750" y="31432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「我认为……因为图表显示……」格式</a:t>
            </a:r>
            <a:endParaRPr/>
          </a:p>
        </p:txBody>
      </p:sp>
      <p:pic>
        <p:nvPicPr>
          <p:cNvPr id="814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019425"/>
            <a:ext cx="190500" cy="190500"/>
          </a:xfrm>
          <a:prstGeom prst="rect">
            <a:avLst/>
          </a:prstGeom>
          <a:ln/>
        </p:spPr>
      </p:pic>
      <p:sp>
        <p:nvSpPr>
          <p:cNvPr id="815" name=""/>
          <p:cNvSpPr/>
          <p:nvPr/>
        </p:nvSpPr>
        <p:spPr>
          <a:xfrm rot="0" flipH="0" flipV="0">
            <a:off x="800100" y="35242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6" name=""/>
          <p:cNvSpPr/>
          <p:nvPr/>
        </p:nvSpPr>
        <p:spPr>
          <a:xfrm rot="0" flipH="0" flipV="0">
            <a:off x="952500" y="36385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7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47750" y="3733800"/>
            <a:ext cx="180975" cy="180975"/>
          </a:xfrm>
          <a:prstGeom prst="rect">
            <a:avLst/>
          </a:prstGeom>
          <a:ln/>
        </p:spPr>
      </p:pic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1428750" y="36480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428750" y="38481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commit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信息规范：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feat: complete lab02 EDA</a:t>
            </a:r>
            <a:endParaRPr/>
          </a:p>
        </p:txBody>
      </p:sp>
      <p:pic>
        <p:nvPicPr>
          <p:cNvPr id="820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724275"/>
            <a:ext cx="190500" cy="190500"/>
          </a:xfrm>
          <a:prstGeom prst="rect">
            <a:avLst/>
          </a:prstGeom>
          <a:ln/>
        </p:spPr>
      </p:pic>
      <p:sp>
        <p:nvSpPr>
          <p:cNvPr id="821" name=""/>
          <p:cNvSpPr/>
          <p:nvPr/>
        </p:nvSpPr>
        <p:spPr>
          <a:xfrm rot="0" flipH="0" flipV="0">
            <a:off x="800100" y="4229100"/>
            <a:ext cx="55816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971550" y="4333875"/>
            <a:ext cx="523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截止：下周一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23:59 ·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提交到课程平台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+ GitHub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仓库链接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6629400" y="11049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评分标准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Rubric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（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100 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分）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629400" y="1390650"/>
            <a:ext cx="138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代码可运行、逻辑清晰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1039475" y="1390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30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6629400" y="1600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7" name=""/>
          <p:cNvSpPr/>
          <p:nvPr/>
        </p:nvSpPr>
        <p:spPr>
          <a:xfrm rot="0" flipH="0" flipV="0">
            <a:off x="6629400" y="1600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6629400" y="1771650"/>
            <a:ext cx="1847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EDA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五步完整、发现记录在案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1039475" y="1771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30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629400" y="1981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6629400" y="1981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6629400" y="21526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清洗决策合理且留痕（为什么）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1039475" y="2152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20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6629400" y="2362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5" name=""/>
          <p:cNvSpPr/>
          <p:nvPr/>
        </p:nvSpPr>
        <p:spPr>
          <a:xfrm rot="0" flipH="0" flipV="0">
            <a:off x="6629400" y="2362200"/>
            <a:ext cx="952500" cy="762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6629400" y="25336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三张图选型正确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解读到位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068050" y="2533650"/>
            <a:ext cx="32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10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6629400" y="2743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6629400" y="2743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6629400" y="2914650"/>
            <a:ext cx="2076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假设清单质量（可检验、有依据）</a:t>
            </a:r>
            <a:endParaRPr/>
          </a:p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11068050" y="2914650"/>
            <a:ext cx="32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10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6629400" y="3124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3" name=""/>
          <p:cNvSpPr/>
          <p:nvPr/>
        </p:nvSpPr>
        <p:spPr>
          <a:xfrm rot="0" flipH="0" flipV="0">
            <a:off x="6629400" y="3124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6629400" y="3352800"/>
            <a:ext cx="47625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6800850" y="3467100"/>
            <a:ext cx="4419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Lab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计入「实验参与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20%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」。课末随堂小测另计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Lab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成绩的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Late policy: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每迟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24h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扣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10%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86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随堂小测 · Quick Quiz（举手投票）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8, flex: 1 }}&gt;&#10;      &lt;Box style={{ flex: 1, background: '#F7F9FC', border: '1px solid #E5E7EB', borderTop: '4px solid #3D7BD9', borderRadius: 12, padding: '18px 20px', justifyContent: 'space-between' }}&gt;&#10;        &lt;Box&gt;&#10;          &lt;Text style={{ fontSize: 14, color: '#8B97A8', fontWeight: '600' }}&gt;Q1 · 单选&lt;/Text&gt;&#10;          &lt;Text style={{ fontSize: 17, color: '#1A2230', fontWeight: 'bold', marginTop: 6, lineHeight: 1.5 }}&gt;NumPy 向量化比 for 循环快 10–100 倍，主要原因是？&lt;/Text&gt;&#10;        &lt;/Box&gt;&#10;        {['A. Python 3 本身变快了', 'B. 循环在 C 层执行 + 连续内存 + SIMD', 'C. NumPy 偷偷调用了 GPU'].map((o, i) =&gt; (&#10;          &lt;Box key={i} style={{ background: i === 1 ? '#E8EFF8' : '#FFFFFF', border: '1px solid ' + (i === 1 ? '#1E4FA8' : '#E5E7EB'), borderRadius: 8, padding: '9px 14px' }}&gt;&#10;            &lt;Text style={{ fontSize: 14.5, color: i === 1 ? '#0E3F8C' : '#4A5568', fontWeight: i === 1 ? 'bold' : '400' }}&gt;{o}&lt;/Text&gt;&#10;          &lt;/Box&gt;&#10;        ))}&#10;      &lt;/Box&gt;&#10;      &lt;Box style={{ flex: 1, background: '#F7F9FC', border: '1px solid #E5E7EB', borderTop: '4px solid #1E4FA8', borderRadius: 12, padding: '18px 20px', justifyContent: 'space-between' }}&gt;&#10;        &lt;Box&gt;&#10;          &lt;Text style={{ fontSize: 14, color: '#8B97A8', fontWeight: '600' }}&gt;Q2 · 单选&lt;/Text&gt;&#10;          &lt;Text style={{ fontSize: 17, color: '#1A2230', fontWeight: 'bold', marginTop: 6, lineHeight: 1.5 }}&gt;age 列缺失约 20%，分布右偏。最合理的初步处理是？&lt;/Text&gt;&#10;        &lt;/Box&gt;&#10;        {['A. 直接删掉整列', 'B. 全部填 0', 'C. 用中位数填充，并保留缺失标记列'].map((o, i) =&gt; (&#10;          &lt;Box key={i} style={{ background: i === 2 ? '#E8EFF8' : '#FFFFFF', border: '1px solid ' + (i === 2 ? '#1E4FA8' : '#E5E7EB'), borderRadius: 8, padding: '9px 14px' }}&gt;&#10;            &lt;Text style={{ fontSize: 14.5, color: i === 2 ? '#0E3F8C' : '#4A5568', fontWeight: i === 2 ? 'bold' : '400' }}&gt;{o}&lt;/Text&gt;&#10;          &lt;/Box&gt;&#10;        ))}&#10;      &lt;/Box&gt;&#10;      &lt;Box style={{ flex: 1, background: '#F7F9FC', border: '1px solid #E5E7EB', borderTop: '4px solid #0E3F8C', borderRadius: 12, padding: '18px 20px', justifyContent: 'space-between' }}&gt;&#10;        &lt;Box&gt;&#10;          &lt;Text style={{ fontSize: 14, color: '#8B97A8', fontWeight: '600' }}&gt;Q3 · 判断&lt;/Text&gt;&#10;          &lt;Text style={{ fontSize: 17, color: '#1A2230', fontWeight: 'bold', marginTop: 6, lineHeight: 1.5 }}&gt;「散点图适合展示单个变量的分布形状。」&lt;/Text&gt;&#10;        &lt;/Box&gt;&#10;        &lt;Box style={{ background: '#F0F5FC', borderRadius: 10, padding: '14px 16px' }}&gt;&#10;          &lt;Text style={{ fontSize: 15, color: '#4A5568', lineHeight: 1.6 }}&gt;&#10;            ✗ 错——那是&lt;span style={{ fontWeight: 'bold', color: '#0E3F8C' }}&gt;直方图&lt;/span&gt;的职责；&#10;            散点图回答的是&lt;span style={{ fontWeight: 'bold', color: '#0E3F8C' }}&gt;两个变量之间的关系&lt;/span&gt;。&#10;          &lt;/Text&gt;&#10;        &lt;/Box&gt;&#10;        &lt;Text style={{ fontSize: 13, color: '#8B97A8' }}&gt;图表选型口诀：先问题，后图表&lt;/Text&gt;&#10;      &lt;/Box&gt;&#10;    &lt;/Box&gt;&#10;    &lt;Box style={{ flexDirection: 'row', gap: 16, marginTop: 14, alignItems: 'center' }}&gt;&#10;      &lt;Box style={{ width: 170, background: '#0E3F8C', borderRadius: 10, padding: '11px 16px', flexShrink: 0 }}&gt;&#10;        &lt;Text style={{ fontSize: 14.5, color: '#FFFFFF', fontWeight: 'bold' }}&gt;规则：先投票再讲评&lt;/Text&gt;&#10;      &lt;/Box&gt;&#10;      &lt;Text style={{ fontSize: 14.5, color: '#1A2230', lineHeight: 1.6, flex: 1 }}&gt;&#10;        每题先全班举手投票（A / B / C），再公布答案并请一位同学说出理由。3 题全对的同学期末「实验参与」加 0.5 分。&#10;        &lt;span style={{ fontSize: 12.5, color: '#8B97A8' }}&gt;Vote first, reveal second — explain the wh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438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随堂小测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Quick Quiz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（举手投票）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873" name=""/>
          <p:cNvSpPr/>
          <p:nvPr/>
        </p:nvSpPr>
        <p:spPr>
          <a:xfrm rot="0" flipH="0" flipV="0">
            <a:off x="800100" y="1421850"/>
            <a:ext cx="3419475" cy="37297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74" name=""/>
          <p:cNvSpPr/>
          <p:nvPr/>
        </p:nvSpPr>
        <p:spPr>
          <a:xfrm rot="0" flipH="0" flipV="0">
            <a:off x="800100" y="1421850"/>
            <a:ext cx="3419475" cy="3729750"/>
          </a:xfrm>
          <a:custGeom>
            <a:pathLst>
              <a:path w="359" h="44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75" name="" descr="{&quot;isTemplate&quot;:true,&quot;type&quot;:&quot;text&quot;}"/>
          <p:cNvSpPr txBox="1"/>
          <p:nvPr/>
        </p:nvSpPr>
        <p:spPr>
          <a:xfrm rot="0" flipH="0" flipV="0">
            <a:off x="990600" y="159330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Q1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单选</a:t>
            </a:r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990600" y="181237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向量化比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循环快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10–100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倍，主要原因是？</a:t>
            </a:r>
            <a:endParaRPr/>
          </a:p>
        </p:txBody>
      </p:sp>
      <p:sp>
        <p:nvSpPr>
          <p:cNvPr id="877" name=""/>
          <p:cNvSpPr/>
          <p:nvPr/>
        </p:nvSpPr>
        <p:spPr>
          <a:xfrm rot="0" flipH="0" flipV="0">
            <a:off x="990600" y="261892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1123950" y="270465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A. Python 3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本身变快了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990600" y="3619050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1123950" y="3704774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B.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循环在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C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层执行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+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连续内存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+ SIMD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990600" y="4628700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1123950" y="4714425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C. NumPy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偷偷调用了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GPU</a:t>
            </a:r>
            <a:endParaRPr/>
          </a:p>
        </p:txBody>
      </p:sp>
      <p:sp>
        <p:nvSpPr>
          <p:cNvPr id="883" name=""/>
          <p:cNvSpPr/>
          <p:nvPr/>
        </p:nvSpPr>
        <p:spPr>
          <a:xfrm rot="0" flipH="0" flipV="0">
            <a:off x="4391025" y="1421850"/>
            <a:ext cx="3409950" cy="37297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4" name=""/>
          <p:cNvSpPr/>
          <p:nvPr/>
        </p:nvSpPr>
        <p:spPr>
          <a:xfrm rot="0" flipH="0" flipV="0">
            <a:off x="4391025" y="1421850"/>
            <a:ext cx="3409950" cy="3729750"/>
          </a:xfrm>
          <a:custGeom>
            <a:pathLst>
              <a:path w="358" h="44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4581525" y="1593300"/>
            <a:ext cx="3028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Q2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单选</a:t>
            </a:r>
            <a:endParaRPr/>
          </a:p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4581525" y="1812375"/>
            <a:ext cx="3028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age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列缺失约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20%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，分布右偏。最合理的初步处理是？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4581525" y="2618925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4714875" y="27046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A.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直接删掉整列</a:t>
            </a:r>
            <a:endParaRPr/>
          </a:p>
        </p:txBody>
      </p:sp>
      <p:sp>
        <p:nvSpPr>
          <p:cNvPr id="889" name=""/>
          <p:cNvSpPr/>
          <p:nvPr/>
        </p:nvSpPr>
        <p:spPr>
          <a:xfrm rot="0" flipH="0" flipV="0">
            <a:off x="4581525" y="361905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4714875" y="3704774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B.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全部填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0</a:t>
            </a:r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4581525" y="462870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4714875" y="471442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C.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用中位数填充，并保留缺失标记列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7972425" y="1421850"/>
            <a:ext cx="3419475" cy="37297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4" name=""/>
          <p:cNvSpPr/>
          <p:nvPr/>
        </p:nvSpPr>
        <p:spPr>
          <a:xfrm rot="0" flipH="0" flipV="0">
            <a:off x="7972425" y="1421850"/>
            <a:ext cx="3419475" cy="3729750"/>
          </a:xfrm>
          <a:custGeom>
            <a:pathLst>
              <a:path w="359" h="44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8162925" y="159330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Q3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判断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8162925" y="181237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「散点图适合展示单个变量的分布形状。」</a:t>
            </a:r>
            <a:endParaRPr/>
          </a:p>
        </p:txBody>
      </p:sp>
      <p:sp>
        <p:nvSpPr>
          <p:cNvPr id="897" name=""/>
          <p:cNvSpPr/>
          <p:nvPr/>
        </p:nvSpPr>
        <p:spPr>
          <a:xfrm rot="0" flipH="0" flipV="0">
            <a:off x="8162925" y="2980875"/>
            <a:ext cx="303847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8315325" y="3114225"/>
            <a:ext cx="2733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✗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错——那是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直方图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的职责；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散点图回答的是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两个变量之间的关系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8162925" y="4819200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图表选型口诀：先问题，后图表</a:t>
            </a:r>
            <a:endParaRPr/>
          </a:p>
        </p:txBody>
      </p:sp>
      <p:sp>
        <p:nvSpPr>
          <p:cNvPr id="900" name=""/>
          <p:cNvSpPr/>
          <p:nvPr/>
        </p:nvSpPr>
        <p:spPr>
          <a:xfrm rot="0" flipH="0" flipV="0">
            <a:off x="800100" y="5304000"/>
            <a:ext cx="16192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952500" y="5408775"/>
            <a:ext cx="1314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FFFFFF"/>
                </a:solidFill>
                <a:latin typeface="Source Han Sans SC"/>
                <a:ea typeface="Source Han Sans SC"/>
              </a:rPr>
              <a:t>规则：先投票再讲评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2571750" y="5246850"/>
            <a:ext cx="88201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每题先全班举手投票（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A / B / C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），再公布答案并请一位同学说出理由。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3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题全对的同学期末「实验参与」加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0.5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分。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Vote first, reveal second — explain the why.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0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本课小结 · Summary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个核心要点 · 5 Key Takeaways&lt;/Text&gt;&#10;      {[&#10;        '数据质量六维度决定模型上限，缺陷会被模型系统性放大',&#10;        'NumPy 管数组运算，Pandas 管表格操作——后者建在前者之上',&#10;        '向量化替代 for 循环：快 10–100×，AI 代码第一习惯',&#10;        '四类图回答四个问题：分布 / 关系 / 比较 / 相关——先问题后图表',&#10;        'EDA 五步 + 清洗六步：先侦察再动手，每一步都留痕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课后两件事 · TODO&lt;/Text&gt;&#10;      &lt;Box style={{ width: '100%', height: 2, background: '#D6DCE5', marginTop: 12, marginBottom: 14 }} /&gt;&#10;      {[&#10;        { i: 'file-code', t: '完成 Lab 交付', d: 'notebook + 3 图 + 假设清单 · 下周一 23:59' },&#10;        { i: 'upload', t: 'Git 推送', d: 'commit: feat: complete lab02 EDA' },&#10;        { i: 'book-open', t: '预习 Chapter 3 开头', d: 'scikit-learn 安装与第一个模型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下周：Machine Learning with scikit-learn——用今天洗干净的数据训练第一个完整模型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本课小结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Summary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5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个核心要点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5 Key Takeaways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2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数据质量六维度决定模型上限，缺陷会被模型系统性放大</a:t>
            </a:r>
            <a:endParaRPr/>
          </a:p>
        </p:txBody>
      </p:sp>
      <p:sp>
        <p:nvSpPr>
          <p:cNvPr id="91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5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管数组运算，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Pandas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管表格操作——后者建在前者之上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8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向量化替代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循环：快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10–100×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代码第一习惯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21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四类图回答四个问题：分布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关系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比较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相关——先问题后图表</a:t>
            </a:r>
            <a:endParaRPr/>
          </a:p>
        </p:txBody>
      </p:sp>
      <p:sp>
        <p:nvSpPr>
          <p:cNvPr id="92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24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EDA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五步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清洗六步：先侦察再动手，每一步都留痕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8382000" y="2047875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课后两件事</a:t>
            </a: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 · TODO</a:t>
            </a:r>
            <a:endParaRPr/>
          </a:p>
        </p:txBody>
      </p:sp>
      <p:sp>
        <p:nvSpPr>
          <p:cNvPr id="928" name=""/>
          <p:cNvSpPr/>
          <p:nvPr/>
        </p:nvSpPr>
        <p:spPr>
          <a:xfrm rot="0" flipH="0" flipV="0">
            <a:off x="8382000" y="2419350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929" name=""/>
          <p:cNvSpPr/>
          <p:nvPr/>
        </p:nvSpPr>
        <p:spPr>
          <a:xfrm rot="0" flipH="0" flipV="0">
            <a:off x="8382000" y="25717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0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667000"/>
            <a:ext cx="180975" cy="180975"/>
          </a:xfrm>
          <a:prstGeom prst="rect">
            <a:avLst/>
          </a:prstGeom>
          <a:ln/>
        </p:spPr>
      </p:pic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8858250" y="258127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完成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交付</a:t>
            </a:r>
            <a:endParaRPr/>
          </a:p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8858250" y="2771775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notebook + 3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假设清单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下周一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23:59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8382000" y="30575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4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152775"/>
            <a:ext cx="180975" cy="180975"/>
          </a:xfrm>
          <a:prstGeom prst="rect">
            <a:avLst/>
          </a:prstGeom>
          <a:ln/>
        </p:spPr>
      </p:pic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8858250" y="3067050"/>
            <a:ext cx="1990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8858250" y="3257550"/>
            <a:ext cx="1990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commit: feat: complete lab02 EDA</a:t>
            </a:r>
            <a:endParaRPr/>
          </a:p>
        </p:txBody>
      </p:sp>
      <p:sp>
        <p:nvSpPr>
          <p:cNvPr id="937" name=""/>
          <p:cNvSpPr/>
          <p:nvPr/>
        </p:nvSpPr>
        <p:spPr>
          <a:xfrm rot="0" flipH="0" flipV="0">
            <a:off x="8382000" y="35433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8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638550"/>
            <a:ext cx="180975" cy="180975"/>
          </a:xfrm>
          <a:prstGeom prst="rect">
            <a:avLst/>
          </a:prstGeom>
          <a:ln/>
        </p:spPr>
      </p:pic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8858250" y="3552825"/>
            <a:ext cx="1695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预习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Chapter 3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开头</a:t>
            </a:r>
            <a:endParaRPr/>
          </a:p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8858250" y="3743325"/>
            <a:ext cx="1695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scikit-learn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安装与第一个模型</a:t>
            </a:r>
            <a:endParaRPr/>
          </a:p>
        </p:txBody>
      </p:sp>
      <p:sp>
        <p:nvSpPr>
          <p:cNvPr id="941" name=""/>
          <p:cNvSpPr/>
          <p:nvPr/>
        </p:nvSpPr>
        <p:spPr>
          <a:xfrm rot="0" flipH="0" flipV="0">
            <a:off x="8382000" y="4067175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8534400" y="4162425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下周：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Machine Learning with scikit-learn——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用今天洗干净的数据训练第一个完整模型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945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02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2&lt;/Text&gt;&#10;      &lt;/Box&gt;&#10;      &lt;Text style={{ fontSize: 38, color: '#1A2230', fontWeight: 'bold', textAlign: 'center', lineHeight: 1.4 }}&gt;&#10;        &quot;模型的上限，在你写第一行代码之前，&lt;br /&gt;就已经由数据决定了。&quot;&#10;      &lt;/Text&gt;&#10;      &lt;Text style={{ fontSize: 20, fontStyle: 'italic', color: '#8B97A8', marginTop: 14, textAlign: 'center' }}&gt;&#10;        The quality of your data caps your model before you write a single line of code.&#10;      &lt;/Text&gt;&#10;    &lt;/Box&gt;&#10;    &lt;Box style={{ alignItems: 'center', gap: 8 }}&gt;&#10;      &lt;Text style={{ fontSize: 18, color: '#0E3F8C', fontWeight: 'bold' }}&gt;Thank you · 谢谢&lt;/Text&gt;&#10;      &lt;Text style={{ fontSize: 15, color: '#8B97A8' }}&gt;&#10;        Next week: Machine Learning with scikit-learn · 机器学习与 scikit-learn（第一个完整模型）&#10;      &lt;/Text&gt;&#10;      &lt;Text style={{ fontSize: 13, color: '#B0B8C4', marginTop: 6 }}&gt;AI Application Development · Week 2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95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5829300" y="1333500"/>
            <a:ext cx="533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2933700" y="2190750"/>
            <a:ext cx="6334125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模型的上限，在你写第一行代码之前，</a:t>
            </a:r>
            <a:endParaRPr/>
          </a:p>
          <a:p>
            <a:pPr algn="ctr">
              <a:lnSpc>
                <a:spcPct val="140000"/>
              </a:lnSpc>
            </a:pP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就已经由数据决定了。</a:t>
            </a: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endParaRPr/>
          </a:p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2562225" y="3543300"/>
            <a:ext cx="707707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 i="1">
                <a:solidFill>
                  <a:srgbClr val="8B97A8"/>
                </a:solidFill>
                <a:latin typeface="Source Han Sans SC"/>
                <a:ea typeface="Source Han Sans SC"/>
              </a:rPr>
              <a:t>The quality of your data caps your model before you write a single line of code.</a:t>
            </a:r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5400675" y="4972050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Thank you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谢谢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3057525" y="5257800"/>
            <a:ext cx="6076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Next week: Machine Learning with scikit-learn ·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机器学习与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 scikit-learn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（第一个完整模型）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4486275" y="5562600"/>
            <a:ext cx="3228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Source Han Sans SC"/>
                <a:ea typeface="Source Han Sans SC"/>
              </a:rPr>
              <a:t>AI Application Development · Week 2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2026-08-24T14:10:22Z</dcterms:created>
  <dcterms:modified xsi:type="dcterms:W3CDTF">2026-08-24T14:10:22Z</dcterms:modified>
</cp:coreProperties>
</file>