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11.svg" ContentType="image/svg+xml"/>
  <Override PartName="/ppt/slides/media/image12.svg" ContentType="image/svg+xml"/>
  <Override PartName="/ppt/slides/media/image13.svg" ContentType="image/svg+xml"/>
  <Override PartName="/ppt/slides/media/image14.svg" ContentType="image/svg+xml"/>
  <Override PartName="/ppt/slides/media/image15.svg" ContentType="image/svg+xml"/>
  <Override PartName="/ppt/slides/media/image16.svg" ContentType="image/svg+xml"/>
  <Override PartName="/ppt/slides/media/image17.svg" ContentType="image/svg+xml"/>
  <Override PartName="/ppt/slides/media/image18.svg" ContentType="image/svg+xml"/>
  <Override PartName="/ppt/slides/media/image19.svg" ContentType="image/svg+xml"/>
  <Override PartName="/ppt/slides/media/image2.svg" ContentType="image/svg+xml"/>
  <Override PartName="/ppt/slides/media/image20.svg" ContentType="image/svg+xml"/>
  <Override PartName="/ppt/slides/media/image21.svg" ContentType="image/svg+xml"/>
  <Override PartName="/ppt/slides/media/image22.svg" ContentType="image/svg+xml"/>
  <Override PartName="/ppt/slides/media/image23.svg" ContentType="image/svg+xml"/>
  <Override PartName="/ppt/slides/media/image24.svg" ContentType="image/svg+xml"/>
  <Override PartName="/ppt/slides/media/image25.svg" ContentType="image/svg+xml"/>
  <Override PartName="/ppt/slides/media/image26.svg" ContentType="image/svg+xml"/>
  <Override PartName="/ppt/slides/media/image27.svg" ContentType="image/svg+xml"/>
  <Override PartName="/ppt/slides/media/image28.svg" ContentType="image/svg+xml"/>
  <Override PartName="/ppt/slides/media/image29.svg" ContentType="image/svg+xml"/>
  <Override PartName="/ppt/slides/media/image3.svg" ContentType="image/svg+xml"/>
  <Override PartName="/ppt/slides/media/image30.svg" ContentType="image/svg+xml"/>
  <Override PartName="/ppt/slides/media/image31.svg" ContentType="image/svg+xml"/>
  <Override PartName="/ppt/slides/media/image32.svg" ContentType="image/svg+xml"/>
  <Override PartName="/ppt/slides/media/image33.svg" ContentType="image/svg+xml"/>
  <Override PartName="/ppt/slides/media/image34.svg" ContentType="image/svg+xml"/>
  <Override PartName="/ppt/slides/media/image35.svg" ContentType="image/svg+xml"/>
  <Override PartName="/ppt/slides/media/image36.svg" ContentType="image/svg+xml"/>
  <Override PartName="/ppt/slides/media/image37.svg" ContentType="image/svg+xml"/>
  <Override PartName="/ppt/slides/media/image38.svg" ContentType="image/svg+xml"/>
  <Override PartName="/ppt/slides/media/image39.svg" ContentType="image/svg+xml"/>
  <Override PartName="/ppt/slides/media/image4.svg" ContentType="image/svg+xml"/>
  <Override PartName="/ppt/slides/media/image40.svg" ContentType="image/svg+xml"/>
  <Override PartName="/ppt/slides/media/image41.svg" ContentType="image/svg+xml"/>
  <Override PartName="/ppt/slides/media/image42.svg" ContentType="image/svg+xml"/>
  <Override PartName="/ppt/slides/media/image43.svg" ContentType="image/svg+xml"/>
  <Override PartName="/ppt/slides/media/image44.svg" ContentType="image/svg+xml"/>
  <Override PartName="/ppt/slides/media/image45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>
  <p:sldMasterIdLst>
    <p:sldMasterId id="2147483648" r:id="rId0"/>
  </p:sldMasterIdLst>
  <p:notesMasterIdLst>
    <p:notesMasterId r:id="rId3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tableStyles" Target="tableStyles.xml"/><Relationship Id="rId3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1.svg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2" Type="http://schemas.openxmlformats.org/officeDocument/2006/relationships/image" Target="media/image32.svg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3.svg"/><Relationship Id="rId2" Type="http://schemas.openxmlformats.org/officeDocument/2006/relationships/image" Target="media/image34.svg"/><Relationship Id="rId3" Type="http://schemas.openxmlformats.org/officeDocument/2006/relationships/image" Target="media/image35.svg"/><Relationship Id="rId4" Type="http://schemas.openxmlformats.org/officeDocument/2006/relationships/image" Target="media/image36.svg"/><Relationship Id="rId5" Type="http://schemas.openxmlformats.org/officeDocument/2006/relationships/image" Target="media/image37.svg"/><Relationship Id="rId6" Type="http://schemas.openxmlformats.org/officeDocument/2006/relationships/image" Target="media/image38.svg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9.svg"/><Relationship Id="rId2" Type="http://schemas.openxmlformats.org/officeDocument/2006/relationships/image" Target="media/image40.svg"/><Relationship Id="rId3" Type="http://schemas.openxmlformats.org/officeDocument/2006/relationships/image" Target="media/image41.svg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2.svg"/><Relationship Id="rId2" Type="http://schemas.openxmlformats.org/officeDocument/2006/relationships/image" Target="media/image43.svg"/><Relationship Id="rId3" Type="http://schemas.openxmlformats.org/officeDocument/2006/relationships/image" Target="media/image44.svg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5.svg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svg"/><Relationship Id="rId2" Type="http://schemas.openxmlformats.org/officeDocument/2006/relationships/image" Target="media/image2.svg"/><Relationship Id="rId3" Type="http://schemas.openxmlformats.org/officeDocument/2006/relationships/image" Target="media/image3.svg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2" Type="http://schemas.openxmlformats.org/officeDocument/2006/relationships/image" Target="media/image5.svg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/Relationships>
</file>

<file path=ppt/slides/_rels/slide1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7.svg"/><Relationship Id="rId2" Type="http://schemas.openxmlformats.org/officeDocument/2006/relationships/image" Target="media/image8.svg"/><Relationship Id="rId3" Type="http://schemas.openxmlformats.org/officeDocument/2006/relationships/image" Target="media/image9.svg"/><Relationship Id="rId4" Type="http://schemas.openxmlformats.org/officeDocument/2006/relationships/image" Target="media/image10.svg"/></Relationships>
</file>

<file path=ppt/slides/_rels/slide1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/Relationships>
</file>

<file path=ppt/slides/_rels/slide2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2.svg"/><Relationship Id="rId2" Type="http://schemas.openxmlformats.org/officeDocument/2006/relationships/image" Target="media/image13.svg"/><Relationship Id="rId3" Type="http://schemas.openxmlformats.org/officeDocument/2006/relationships/image" Target="media/image14.svg"/><Relationship Id="rId4" Type="http://schemas.openxmlformats.org/officeDocument/2006/relationships/image" Target="media/image15.svg"/><Relationship Id="rId5" Type="http://schemas.openxmlformats.org/officeDocument/2006/relationships/image" Target="media/image16.svg"/></Relationships>
</file>

<file path=ppt/slides/_rels/slide2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7.svg"/><Relationship Id="rId2" Type="http://schemas.openxmlformats.org/officeDocument/2006/relationships/image" Target="media/image13.svg"/><Relationship Id="rId3" Type="http://schemas.openxmlformats.org/officeDocument/2006/relationships/image" Target="media/image18.svg"/></Relationships>
</file>

<file path=ppt/slides/_rels/slide2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9.svg"/><Relationship Id="rId2" Type="http://schemas.openxmlformats.org/officeDocument/2006/relationships/image" Target="media/image20.svg"/><Relationship Id="rId3" Type="http://schemas.openxmlformats.org/officeDocument/2006/relationships/image" Target="media/image21.svg"/><Relationship Id="rId4" Type="http://schemas.openxmlformats.org/officeDocument/2006/relationships/image" Target="media/image22.svg"/><Relationship Id="rId5" Type="http://schemas.openxmlformats.org/officeDocument/2006/relationships/image" Target="media/image23.svg"/><Relationship Id="rId6" Type="http://schemas.openxmlformats.org/officeDocument/2006/relationships/image" Target="media/image6.svg"/></Relationships>
</file>

<file path=ppt/slides/_rels/slide2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4.svg"/><Relationship Id="rId2" Type="http://schemas.openxmlformats.org/officeDocument/2006/relationships/image" Target="media/image25.svg"/><Relationship Id="rId3" Type="http://schemas.openxmlformats.org/officeDocument/2006/relationships/image" Target="media/image26.svg"/></Relationships>
</file>

<file path=ppt/slides/_rels/slide2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7.svg"/><Relationship Id="rId2" Type="http://schemas.openxmlformats.org/officeDocument/2006/relationships/image" Target="media/image4.svg"/><Relationship Id="rId3" Type="http://schemas.openxmlformats.org/officeDocument/2006/relationships/image" Target="media/image28.svg"/><Relationship Id="rId4" Type="http://schemas.openxmlformats.org/officeDocument/2006/relationships/image" Target="media/image29.svg"/><Relationship Id="rId5" Type="http://schemas.openxmlformats.org/officeDocument/2006/relationships/image" Target="media/image30.svg"/></Relationships>
</file>

<file path=ppt/slides/_rels/slide3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2" Type="http://schemas.openxmlformats.org/officeDocument/2006/relationships/image" Target="media/image27.svg"/><Relationship Id="rId3" Type="http://schemas.openxmlformats.org/officeDocument/2006/relationships/image" Target="media/image30.svg"/><Relationship Id="rId4" Type="http://schemas.openxmlformats.org/officeDocument/2006/relationships/image" Target="media/image31.svg"/></Relationships>
</file>

<file path=ppt/slides/_rels/slide3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 descr="&lt;Slide style={{ width: '1280px', height: '720px', background: '#FFFFFF', padding: '0px', position: 'relative', overflow: 'hidden', fontFamily: 'Source Han Sans SC, PingFang SC, sans-serif' }}&gt;&#10;  &lt;Box style={{ position: 'absolute', top: 0, left: 0, width: '100%', height: 14, background: '#1E4FA8' }} /&gt;&#10;  &lt;Box style={{ position: 'absolute', top: 14, left: 0, width: '100%', height: 6, background: '#3D7BD9' }} /&gt;&#10;  &lt;Box style={{ position: 'absolute', right: 0, top: 90, opacity: 0.07, width: 640, height: 420, overflow: 'hidden' }}&gt;&#10;    &lt;Text style={{ fontSize: 400, fontWeight: 'bold', color: '#1E4FA8', lineHeight: 1, textAlign: 'right' }}&gt;02&lt;/Text&gt;&#10;  &lt;/Box&gt;&#10;  &lt;Box style={{ position: 'relative', width: '100%', height: '100%', padding: '90px 84px 60px', justifyContent: 'space-between' }}&gt;&#10;    &lt;Box&gt;&#10;      &lt;Text style={{ fontSize: 19, color: '#8B97A8', fontWeight: '600', letterSpacing: 3 }}&gt;SE 4XXX · UNDERGRADUATE COURSE&lt;/Text&gt;&#10;      &lt;Box style={{ width: 64, height: 4, background: '#1E4FA8', marginTop: 20 }} /&gt;&#10;      &lt;Text style={{ fontSize: 44, fontStyle: 'italic', color: '#4A5568', fontFamily: 'Georgia, Times, serif', marginTop: 32, letterSpacing: 0.5 }}&gt;&#10;        Data Handling Fundamentals for AI&#10;      &lt;/Text&gt;&#10;      &lt;Text style={{ fontSize: 74, fontWeight: 'bold', color: '#0E3F8C', lineHeight: 1.15, marginTop: 10 }}&gt;AI 数据处理基础&lt;/Text&gt;&#10;      &lt;Text style={{ fontSize: 25, color: '#1A2230', marginTop: 16 }}&gt;&#10;        Week 2 · 数据、工具与探索分析&#10;        &lt;span style={{ color: '#8B97A8' }}&gt;NumPy · Pandas · Visualization · EDA&lt;/span&gt;&#10;      &lt;/Text&gt;&#10;    &lt;/Box&gt;&#10;    &lt;Box&gt;&#10;      &lt;Box style={{ flexDirection: 'row', gap: 14, flexWrap: 'wrap' }}&gt;&#10;        {['Module 1 · W2–4', '180 min · Lecture + Lab + Quiz', 'Python · NumPy · Pandas', 'International Students'].map((t, i) =&gt; (&#10;          &lt;Box key={i} style={{ background: '#F0F5FC', border: '1px solid #D6DCE5', borderRadius: 22, padding: '7px 18px' }}&gt;&#10;            &lt;Text style={{ fontSize: 16, color: '#1E4FA8', fontWeight: '600' }}&gt;{t}&lt;/Text&gt;&#10;          &lt;/Box&gt;&#10;        ))}&#10;      &lt;/Box&gt;&#10;      &lt;Box style={{ flexDirection: 'row', alignItems: 'center', marginTop: 26, gap: 12 }}&gt;&#10;        &lt;Box style={{ width: 44, height: 44, borderRadius: 10, background: '#0E3F8C', justifyContent: 'center', alignItems: 'center' }}&gt;&#10;          &lt;Text style={{ fontSize: 20, color: '#FFFFFF', fontWeight: 'bold' }}&gt;W2&lt;/Text&gt;&#10;        &lt;/Box&gt;&#10;        &lt;Text style={{ fontSize: 17, color: '#4A5568' }}&gt;&#10;          Lecturer: ____________&amp;nbsp;&amp;nbsp;·&amp;nbsp;&amp;nbsp;School of Software Engineering&#10;        &lt;/Text&gt;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333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" name=""/>
          <p:cNvSpPr/>
          <p:nvPr/>
        </p:nvSpPr>
        <p:spPr>
          <a:xfrm rot="0" flipH="0" flipV="0">
            <a:off x="0" y="133350"/>
            <a:ext cx="12192000" cy="571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0" y="857250"/>
            <a:ext cx="6096000" cy="45720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30000" b="1">
                <a:solidFill>
                  <a:srgbClr val="1E4FA8">
                    <a:alpha val="7000"/>
                  </a:srgbClr>
                </a:solidFill>
                <a:latin typeface="Source Han Sans SC"/>
                <a:ea typeface="Source Han Sans SC"/>
              </a:rPr>
              <a:t>02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800100" y="857250"/>
            <a:ext cx="105918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 spc="225">
                <a:solidFill>
                  <a:srgbClr val="8B97A8"/>
                </a:solidFill>
                <a:latin typeface="Source Han Sans SC"/>
                <a:ea typeface="Source Han Sans SC"/>
              </a:rPr>
              <a:t>SE 4XXX · UNDERGRADUATE COURSE</a:t>
            </a:r>
            <a:endParaRPr/>
          </a:p>
        </p:txBody>
      </p:sp>
      <p:sp>
        <p:nvSpPr>
          <p:cNvPr id="7" name=""/>
          <p:cNvSpPr/>
          <p:nvPr/>
        </p:nvSpPr>
        <p:spPr>
          <a:xfrm rot="0" flipH="0" flipV="0">
            <a:off x="800100" y="1266825"/>
            <a:ext cx="609600" cy="381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800100" y="1609725"/>
            <a:ext cx="105918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i="1" spc="38">
                <a:solidFill>
                  <a:srgbClr val="4A5568"/>
                </a:solidFill>
                <a:latin typeface="Georgia"/>
                <a:ea typeface="Georgia"/>
              </a:rPr>
              <a:t>Data Handling Fundamentals for AI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800100" y="2209800"/>
            <a:ext cx="10591800" cy="98107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5550" b="1">
                <a:solidFill>
                  <a:srgbClr val="0E3F8C"/>
                </a:solidFill>
                <a:latin typeface="Source Han Sans SC"/>
                <a:ea typeface="Source Han Sans SC"/>
              </a:rPr>
              <a:t>AI </a:t>
            </a:r>
            <a:r>
              <a:rPr lang="zh-CN" sz="5550" b="1">
                <a:solidFill>
                  <a:srgbClr val="0E3F8C"/>
                </a:solidFill>
                <a:latin typeface="Source Han Sans SC"/>
                <a:ea typeface="Source Han Sans SC"/>
              </a:rPr>
              <a:t>数据处理基础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800100" y="3343275"/>
            <a:ext cx="1059180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>
                <a:solidFill>
                  <a:srgbClr val="1A2230"/>
                </a:solidFill>
                <a:latin typeface="Source Han Sans SC"/>
                <a:ea typeface="Source Han Sans SC"/>
              </a:rPr>
              <a:t>Week 2 · </a:t>
            </a:r>
            <a:r>
              <a:rPr lang="zh-CN" sz="1875">
                <a:solidFill>
                  <a:srgbClr val="1A2230"/>
                </a:solidFill>
                <a:latin typeface="Source Han Sans SC"/>
                <a:ea typeface="Source Han Sans SC"/>
              </a:rPr>
              <a:t>数据、工具与探索分析</a:t>
            </a:r>
            <a:r>
              <a:rPr lang="en-US" sz="1875">
                <a:solidFill>
                  <a:srgbClr val="8B97A8"/>
                </a:solidFill>
                <a:latin typeface="Source Han Sans SC"/>
                <a:ea typeface="Source Han Sans SC"/>
              </a:rPr>
              <a:t>NumPy · Pandas · Visualization · EDA</a:t>
            </a:r>
            <a:endParaRPr/>
          </a:p>
        </p:txBody>
      </p:sp>
      <p:sp>
        <p:nvSpPr>
          <p:cNvPr id="11" name=""/>
          <p:cNvSpPr/>
          <p:nvPr/>
        </p:nvSpPr>
        <p:spPr>
          <a:xfrm rot="0" flipH="0" flipV="0">
            <a:off x="800100" y="5295900"/>
            <a:ext cx="1628775" cy="323850"/>
          </a:xfrm>
          <a:prstGeom prst="roundRect">
            <a:avLst>
              <a:gd name="adj" fmla="val 6470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971550" y="5362575"/>
            <a:ext cx="12858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Source Han Sans SC"/>
                <a:ea typeface="Source Han Sans SC"/>
              </a:rPr>
              <a:t>Module 1 · W2–4</a:t>
            </a:r>
            <a:endParaRPr/>
          </a:p>
        </p:txBody>
      </p:sp>
      <p:sp>
        <p:nvSpPr>
          <p:cNvPr id="13" name=""/>
          <p:cNvSpPr/>
          <p:nvPr/>
        </p:nvSpPr>
        <p:spPr>
          <a:xfrm rot="0" flipH="0" flipV="0">
            <a:off x="2562225" y="5295900"/>
            <a:ext cx="2619375" cy="323850"/>
          </a:xfrm>
          <a:prstGeom prst="roundRect">
            <a:avLst>
              <a:gd name="adj" fmla="val 6470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2733675" y="5362575"/>
            <a:ext cx="22764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Source Han Sans SC"/>
                <a:ea typeface="Source Han Sans SC"/>
              </a:rPr>
              <a:t>180 min · Lecture + Lab + Quiz</a:t>
            </a:r>
            <a:endParaRPr/>
          </a:p>
        </p:txBody>
      </p:sp>
      <p:sp>
        <p:nvSpPr>
          <p:cNvPr id="15" name=""/>
          <p:cNvSpPr/>
          <p:nvPr/>
        </p:nvSpPr>
        <p:spPr>
          <a:xfrm rot="0" flipH="0" flipV="0">
            <a:off x="5314950" y="5295900"/>
            <a:ext cx="2257425" cy="323850"/>
          </a:xfrm>
          <a:prstGeom prst="roundRect">
            <a:avLst>
              <a:gd name="adj" fmla="val 6470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5486400" y="5362575"/>
            <a:ext cx="19145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Source Han Sans SC"/>
                <a:ea typeface="Source Han Sans SC"/>
              </a:rPr>
              <a:t>Python · NumPy · Pandas</a:t>
            </a:r>
            <a:endParaRPr/>
          </a:p>
        </p:txBody>
      </p:sp>
      <p:sp>
        <p:nvSpPr>
          <p:cNvPr id="17" name=""/>
          <p:cNvSpPr/>
          <p:nvPr/>
        </p:nvSpPr>
        <p:spPr>
          <a:xfrm rot="0" flipH="0" flipV="0">
            <a:off x="7705725" y="5295900"/>
            <a:ext cx="1952625" cy="323850"/>
          </a:xfrm>
          <a:prstGeom prst="roundRect">
            <a:avLst>
              <a:gd name="adj" fmla="val 6470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877175" y="5362575"/>
            <a:ext cx="1609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Source Han Sans SC"/>
                <a:ea typeface="Source Han Sans SC"/>
              </a:rPr>
              <a:t>International Students</a:t>
            </a:r>
            <a:endParaRPr/>
          </a:p>
        </p:txBody>
      </p:sp>
      <p:sp>
        <p:nvSpPr>
          <p:cNvPr id="19" name=""/>
          <p:cNvSpPr/>
          <p:nvPr/>
        </p:nvSpPr>
        <p:spPr>
          <a:xfrm rot="0" flipH="0" flipV="0">
            <a:off x="800100" y="586740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857250" y="5962650"/>
            <a:ext cx="304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Source Han Sans SC"/>
                <a:ea typeface="Source Han Sans SC"/>
              </a:rPr>
              <a:t>W2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1333500" y="5981700"/>
            <a:ext cx="43910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Source Han Sans SC"/>
                <a:ea typeface="Source Han Sans SC"/>
              </a:rPr>
              <a:t>Lecturer: ____________  ·  School of Software Engineering</a:t>
            </a:r>
            <a:endParaRPr/>
          </a:p>
        </p:txBody>
      </p:sp>
    </p:spTree>
  </p:cSld>
</p:sld>
</file>

<file path=ppt/slides/slide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31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Contents · 目录&lt;/Text&gt;&#10;    &lt;Text style={{ fontSize: 15, color: 'rgba(255,255,255,0.85)' }}&gt;Module 1 · Week 2&lt;/Text&gt;&#10;  &lt;/Box&gt;&#10;  &lt;Box style={{ position: 'absolute', top: 100, left: 0, width: '100%', height: 540, padding: '10px 84px', flexDirection: 'row', gap: 28 }}&gt;&#10;    &lt;Box style={{ width: 300, background: '#F0F5FC', borderRadius: 14, padding: '30px 26px', justifyContent: 'center', border: '1px solid #D6DCE5' }}&gt;&#10;      &lt;Text style={{ fontSize: 34, color: '#0E3F8C', fontWeight: 'bold' }}&gt;5 部分&lt;/Text&gt;&#10;      &lt;Text style={{ fontSize: 16, color: '#4A5568', marginTop: 8 }}&gt;Part&lt;/Text&gt;&#10;      &lt;Box style={{ width: '100%', height: 2, background: '#D6DCE5', marginTop: 18 }} /&gt;&#10;      &lt;Text style={{ fontSize: 16, color: '#1A2230', lineHeight: 1.7, marginTop: 16 }}&gt;&#10;        模型之前，先过&lt;b&gt;数据关&lt;/b&gt;——&#10;        &lt;br /&gt;&#10;        本周是动手处理数据的第一课。&#10;        &lt;span style={{ color: '#8B97A8', fontSize: 14 }}&gt;Before models, master data.&lt;/span&gt;&#10;      &lt;/Text&gt;&#10;      &lt;Box style={{ background: '#0E3F8C', borderRadius: 10, padding: '10px 14px', marginTop: 16 }}&gt;&#10;        &lt;Text style={{ fontSize: 13.5, color: '#FFFFFF', lineHeight: 1.6 }}&gt;理论约 90 min · Lab 约 75 min · 小测与小结 15 min&lt;/Text&gt;&#10;      &lt;/Box&gt;&#10;    &lt;/Box&gt;&#10;    &lt;Box style={{ flex: 1, justifyContent: 'center', gap: 0 }}&gt;&#10;      {[&#10;        { n: '01', zh: '数据为王', en: 'Why Data', d: '角色 · 类型与来源 · 质量六维度 · 坏数据案例' },&#10;        { n: '02', zh: 'NumPy 与 Pandas', en: 'Core Tools', d: '数组 vs 表格 · 向量化 · 索引切片 · 实战速查' },&#10;        { n: '03', zh: '可视化与 EDA', en: 'Visualization &amp; EDA', d: '图表选型 · 探索五步法 · Titanic 走查' },&#10;        { n: '04', zh: '数据清洗', en: 'Data Cleaning', d: '六步流程 · 缺失值决策 · 异常值三法 · GIGO' },&#10;        { n: '05', zh: 'Lab · Titanic 实战', en: 'Hands-On Lab', d: '热身 → 探索 → 可视化 → 清洗 → 交付 · 含小测' },&#10;      ].map((it, i) =&gt; (&#10;        &lt;Box key={i} style={{ flexDirection: 'row', alignItems: 'center', gap: 20, padding: '13px 8px', borderBottom: i &lt; 4 ? '1px solid #E5E7EB' : 'none' }}&gt;&#10;          &lt;Box style={{ width: 52, height: 52, borderRadius: 12, background: i === 4 ? '#0E3F8C' : '#1E4FA8', justifyContent: 'center', alignItems: 'center' }}&gt;&#10;            &lt;Text style={{ fontSize: 20, color: '#FFFFFF', fontWeight: 'bold' }}&gt;{it.n}&lt;/Text&gt;&#10;          &lt;/Box&gt;&#10;          &lt;Box style={{ flex: 1 }}&gt;&#10;            &lt;Box style={{ flexDirection: 'row', alignItems: 'baseline', gap: 12 }}&gt;&#10;              &lt;Text style={{ fontSize: 24, color: '#1A2230', fontWeight: 'bold' }}&gt;{it.zh}&lt;/Text&gt;&#10;              &lt;Text style={{ fontSize: 17, color: '#8B97A8', fontWeight: '600' }}&gt;{it.en}&lt;/Text&gt;&#10;            &lt;/Box&gt;&#10;            &lt;Text style={{ fontSize: 14, color: '#4A5568', marginTop: 2 }}&gt;{it.d}&lt;/Text&gt;&#10;          &lt;/Box&gt;&#10;          &lt;FAIcon name='chevron-right' style={{ fill: '#8B97A8', width: 20, height: 20 }} /&gt;&#10;        &lt;/Box&gt;&#10;      ))}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02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3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34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15716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Contents ·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目录</a:t>
            </a:r>
            <a:endParaRPr/>
          </a:p>
        </p:txBody>
      </p:sp>
      <p:sp>
        <p:nvSpPr>
          <p:cNvPr id="435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436" name=""/>
          <p:cNvSpPr/>
          <p:nvPr/>
        </p:nvSpPr>
        <p:spPr>
          <a:xfrm rot="0" flipH="0" flipV="0">
            <a:off x="800100" y="1047750"/>
            <a:ext cx="2857500" cy="4953000"/>
          </a:xfrm>
          <a:prstGeom prst="roundRect">
            <a:avLst>
              <a:gd name="adj" fmla="val 4667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37" name="" descr="{&quot;isTemplate&quot;:true,&quot;type&quot;:&quot;text&quot;}"/>
          <p:cNvSpPr txBox="1"/>
          <p:nvPr/>
        </p:nvSpPr>
        <p:spPr>
          <a:xfrm rot="0" flipH="0" flipV="0">
            <a:off x="1047750" y="2162175"/>
            <a:ext cx="2362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Source Han Sans SC"/>
                <a:ea typeface="Source Han Sans SC"/>
              </a:rPr>
              <a:t>5 </a:t>
            </a:r>
            <a:r>
              <a:rPr lang="zh-CN" sz="2550" b="1">
                <a:solidFill>
                  <a:srgbClr val="0E3F8C"/>
                </a:solidFill>
                <a:latin typeface="Source Han Sans SC"/>
                <a:ea typeface="Source Han Sans SC"/>
              </a:rPr>
              <a:t>部分</a:t>
            </a:r>
            <a:endParaRPr/>
          </a:p>
        </p:txBody>
      </p:sp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1047750" y="2628900"/>
            <a:ext cx="2362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Source Han Sans SC"/>
                <a:ea typeface="Source Han Sans SC"/>
              </a:rPr>
              <a:t>Part</a:t>
            </a:r>
            <a:endParaRPr/>
          </a:p>
        </p:txBody>
      </p:sp>
      <p:sp>
        <p:nvSpPr>
          <p:cNvPr id="439" name=""/>
          <p:cNvSpPr/>
          <p:nvPr/>
        </p:nvSpPr>
        <p:spPr>
          <a:xfrm rot="0" flipH="0" flipV="0">
            <a:off x="1047750" y="2990850"/>
            <a:ext cx="2362200" cy="19050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440" name="" descr="{&quot;isTemplate&quot;:true,&quot;type&quot;:&quot;text&quot;}"/>
          <p:cNvSpPr txBox="1"/>
          <p:nvPr/>
        </p:nvSpPr>
        <p:spPr>
          <a:xfrm rot="0" flipH="0" flipV="0">
            <a:off x="1047750" y="3162300"/>
            <a:ext cx="2362200" cy="895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模型之前，先过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数据关</a:t>
            </a:r>
            <a:r>
              <a:rPr sz="1200">
                <a:solidFill>
                  <a:srgbClr val="1A2230"/>
                </a:solidFill>
                <a:latin typeface="Source Han Sans SC"/>
                <a:ea typeface="Source Han Sans SC"/>
              </a:rPr>
              <a:t>——</a:t>
            </a:r>
            <a:endParaRPr/>
          </a:p>
          <a:p>
            <a:pPr>
              <a:lnSpc>
                <a:spcPct val="170000"/>
              </a:lnSpc>
            </a:pP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本周是动手处理数据的第一课。</a:t>
            </a: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Before models, master data.</a:t>
            </a:r>
            <a:endParaRPr/>
          </a:p>
        </p:txBody>
      </p:sp>
      <p:sp>
        <p:nvSpPr>
          <p:cNvPr id="441" name=""/>
          <p:cNvSpPr/>
          <p:nvPr/>
        </p:nvSpPr>
        <p:spPr>
          <a:xfrm rot="0" flipH="0" flipV="0">
            <a:off x="1047750" y="4210050"/>
            <a:ext cx="2362200" cy="685800"/>
          </a:xfrm>
          <a:prstGeom prst="roundRect">
            <a:avLst>
              <a:gd name="adj" fmla="val 1388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42" name="" descr="{&quot;isTemplate&quot;:true,&quot;type&quot;:&quot;text&quot;}"/>
          <p:cNvSpPr txBox="1"/>
          <p:nvPr/>
        </p:nvSpPr>
        <p:spPr>
          <a:xfrm rot="0" flipH="0" flipV="0">
            <a:off x="1181100" y="4305300"/>
            <a:ext cx="209550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13">
                <a:solidFill>
                  <a:srgbClr val="FFFFFF"/>
                </a:solidFill>
                <a:latin typeface="Source Han Sans SC"/>
                <a:ea typeface="Source Han Sans SC"/>
              </a:rPr>
              <a:t>理论约</a:t>
            </a:r>
            <a:r>
              <a:rPr lang="en-US" sz="1013">
                <a:solidFill>
                  <a:srgbClr val="FFFFFF"/>
                </a:solidFill>
                <a:latin typeface="Source Han Sans SC"/>
                <a:ea typeface="Source Han Sans SC"/>
              </a:rPr>
              <a:t> 90 min · Lab </a:t>
            </a:r>
            <a:r>
              <a:rPr lang="zh-CN" sz="1013">
                <a:solidFill>
                  <a:srgbClr val="FFFFFF"/>
                </a:solidFill>
                <a:latin typeface="Source Han Sans SC"/>
                <a:ea typeface="Source Han Sans SC"/>
              </a:rPr>
              <a:t>约</a:t>
            </a:r>
            <a:r>
              <a:rPr lang="en-US" sz="1013">
                <a:solidFill>
                  <a:srgbClr val="FFFFFF"/>
                </a:solidFill>
                <a:latin typeface="Source Han Sans SC"/>
                <a:ea typeface="Source Han Sans SC"/>
              </a:rPr>
              <a:t> 75 min · </a:t>
            </a:r>
            <a:r>
              <a:rPr lang="zh-CN" sz="1013">
                <a:solidFill>
                  <a:srgbClr val="FFFFFF"/>
                </a:solidFill>
                <a:latin typeface="Source Han Sans SC"/>
                <a:ea typeface="Source Han Sans SC"/>
              </a:rPr>
              <a:t>小测与小结</a:t>
            </a:r>
            <a:r>
              <a:rPr lang="en-US" sz="1013">
                <a:solidFill>
                  <a:srgbClr val="FFFFFF"/>
                </a:solidFill>
                <a:latin typeface="Source Han Sans SC"/>
                <a:ea typeface="Source Han Sans SC"/>
              </a:rPr>
              <a:t> 15 min</a:t>
            </a:r>
            <a:endParaRPr/>
          </a:p>
        </p:txBody>
      </p:sp>
      <p:sp>
        <p:nvSpPr>
          <p:cNvPr id="443" name=""/>
          <p:cNvSpPr/>
          <p:nvPr/>
        </p:nvSpPr>
        <p:spPr>
          <a:xfrm rot="0" flipH="0" flipV="0">
            <a:off x="3924300" y="1647825"/>
            <a:ext cx="7467600" cy="762000"/>
          </a:xfrm>
          <a:custGeom>
            <a:pathLst>
              <a:path w="784" h="80">
                <a:moveTo>
                  <a:pt x="0" y="79"/>
                </a:moveTo>
                <a:lnTo>
                  <a:pt x="784" y="79"/>
                </a:lnTo>
                <a:lnTo>
                  <a:pt x="784" y="80"/>
                </a:lnTo>
                <a:lnTo>
                  <a:pt x="0" y="80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44" name=""/>
          <p:cNvSpPr/>
          <p:nvPr/>
        </p:nvSpPr>
        <p:spPr>
          <a:xfrm rot="0" flipH="0" flipV="0">
            <a:off x="4000500" y="1771650"/>
            <a:ext cx="495300" cy="495300"/>
          </a:xfrm>
          <a:prstGeom prst="roundRect">
            <a:avLst>
              <a:gd name="adj" fmla="val 2307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5" name="" descr="{&quot;isTemplate&quot;:true,&quot;type&quot;:&quot;text&quot;}"/>
          <p:cNvSpPr txBox="1"/>
          <p:nvPr/>
        </p:nvSpPr>
        <p:spPr>
          <a:xfrm rot="0" flipH="0" flipV="0">
            <a:off x="4152900" y="1905000"/>
            <a:ext cx="200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Source Han Sans SC"/>
                <a:ea typeface="Source Han Sans SC"/>
              </a:rPr>
              <a:t>01</a:t>
            </a:r>
            <a:endParaRPr/>
          </a:p>
        </p:txBody>
      </p:sp>
      <p:sp>
        <p:nvSpPr>
          <p:cNvPr id="446" name="" descr="{&quot;isTemplate&quot;:true,&quot;type&quot;:&quot;text&quot;}"/>
          <p:cNvSpPr txBox="1"/>
          <p:nvPr/>
        </p:nvSpPr>
        <p:spPr>
          <a:xfrm rot="0" flipH="0" flipV="0">
            <a:off x="4686300" y="1790700"/>
            <a:ext cx="914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Source Han Sans SC"/>
                <a:ea typeface="Source Han Sans SC"/>
              </a:rPr>
              <a:t>数据为王</a:t>
            </a:r>
            <a:endParaRPr/>
          </a:p>
        </p:txBody>
      </p:sp>
      <p:sp>
        <p:nvSpPr>
          <p:cNvPr id="447" name="" descr="{&quot;isTemplate&quot;:true,&quot;type&quot;:&quot;text&quot;}"/>
          <p:cNvSpPr txBox="1"/>
          <p:nvPr/>
        </p:nvSpPr>
        <p:spPr>
          <a:xfrm rot="0" flipH="0" flipV="0">
            <a:off x="5715000" y="1790700"/>
            <a:ext cx="7524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8B97A8"/>
                </a:solidFill>
                <a:latin typeface="Source Han Sans SC"/>
                <a:ea typeface="Source Han Sans SC"/>
              </a:rPr>
              <a:t>Why Data</a:t>
            </a:r>
            <a:endParaRPr/>
          </a:p>
        </p:txBody>
      </p:sp>
      <p:sp>
        <p:nvSpPr>
          <p:cNvPr id="448" name="" descr="{&quot;isTemplate&quot;:true,&quot;type&quot;:&quot;text&quot;}"/>
          <p:cNvSpPr txBox="1"/>
          <p:nvPr/>
        </p:nvSpPr>
        <p:spPr>
          <a:xfrm rot="0" flipH="0" flipV="0">
            <a:off x="4686300" y="2085975"/>
            <a:ext cx="6248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角色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类型与来源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质量六维度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坏数据案例</a:t>
            </a:r>
            <a:endParaRPr/>
          </a:p>
        </p:txBody>
      </p:sp>
      <p:pic>
        <p:nvPicPr>
          <p:cNvPr id="44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1924050"/>
            <a:ext cx="190500" cy="190500"/>
          </a:xfrm>
          <a:prstGeom prst="rect">
            <a:avLst/>
          </a:prstGeom>
          <a:ln/>
        </p:spPr>
      </p:pic>
      <p:sp>
        <p:nvSpPr>
          <p:cNvPr id="450" name=""/>
          <p:cNvSpPr/>
          <p:nvPr/>
        </p:nvSpPr>
        <p:spPr>
          <a:xfrm rot="0" flipH="0" flipV="0">
            <a:off x="3924300" y="2400300"/>
            <a:ext cx="7467600" cy="762000"/>
          </a:xfrm>
          <a:custGeom>
            <a:pathLst>
              <a:path w="784" h="80">
                <a:moveTo>
                  <a:pt x="0" y="79"/>
                </a:moveTo>
                <a:lnTo>
                  <a:pt x="784" y="79"/>
                </a:lnTo>
                <a:lnTo>
                  <a:pt x="784" y="80"/>
                </a:lnTo>
                <a:lnTo>
                  <a:pt x="0" y="80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51" name=""/>
          <p:cNvSpPr/>
          <p:nvPr/>
        </p:nvSpPr>
        <p:spPr>
          <a:xfrm rot="0" flipH="0" flipV="0">
            <a:off x="4000500" y="2524125"/>
            <a:ext cx="495300" cy="495300"/>
          </a:xfrm>
          <a:prstGeom prst="roundRect">
            <a:avLst>
              <a:gd name="adj" fmla="val 2307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2" name="" descr="{&quot;isTemplate&quot;:true,&quot;type&quot;:&quot;text&quot;}"/>
          <p:cNvSpPr txBox="1"/>
          <p:nvPr/>
        </p:nvSpPr>
        <p:spPr>
          <a:xfrm rot="0" flipH="0" flipV="0">
            <a:off x="4133850" y="2657475"/>
            <a:ext cx="2286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Source Han Sans SC"/>
                <a:ea typeface="Source Han Sans SC"/>
              </a:rPr>
              <a:t>02</a:t>
            </a:r>
            <a:endParaRPr/>
          </a:p>
        </p:txBody>
      </p:sp>
      <p:sp>
        <p:nvSpPr>
          <p:cNvPr id="453" name="" descr="{&quot;isTemplate&quot;:true,&quot;type&quot;:&quot;text&quot;}"/>
          <p:cNvSpPr txBox="1"/>
          <p:nvPr/>
        </p:nvSpPr>
        <p:spPr>
          <a:xfrm rot="0" flipH="0" flipV="0">
            <a:off x="4686300" y="2543175"/>
            <a:ext cx="19621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Source Han Sans SC"/>
                <a:ea typeface="Source Han Sans SC"/>
              </a:rPr>
              <a:t>NumPy </a:t>
            </a:r>
            <a:r>
              <a:rPr lang="zh-CN" sz="1800" b="1">
                <a:solidFill>
                  <a:srgbClr val="1A2230"/>
                </a:solidFill>
                <a:latin typeface="Source Han Sans SC"/>
                <a:ea typeface="Source Han Sans SC"/>
              </a:rPr>
              <a:t>与</a:t>
            </a:r>
            <a:r>
              <a:rPr lang="en-US" sz="1800" b="1">
                <a:solidFill>
                  <a:srgbClr val="1A2230"/>
                </a:solidFill>
                <a:latin typeface="Source Han Sans SC"/>
                <a:ea typeface="Source Han Sans SC"/>
              </a:rPr>
              <a:t> Pandas</a:t>
            </a:r>
            <a:endParaRPr/>
          </a:p>
        </p:txBody>
      </p:sp>
      <p:sp>
        <p:nvSpPr>
          <p:cNvPr id="454" name="" descr="{&quot;isTemplate&quot;:true,&quot;type&quot;:&quot;text&quot;}"/>
          <p:cNvSpPr txBox="1"/>
          <p:nvPr/>
        </p:nvSpPr>
        <p:spPr>
          <a:xfrm rot="0" flipH="0" flipV="0">
            <a:off x="6762750" y="2543175"/>
            <a:ext cx="8477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8B97A8"/>
                </a:solidFill>
                <a:latin typeface="Source Han Sans SC"/>
                <a:ea typeface="Source Han Sans SC"/>
              </a:rPr>
              <a:t>Core Tools</a:t>
            </a:r>
            <a:endParaRPr/>
          </a:p>
        </p:txBody>
      </p:sp>
      <p:sp>
        <p:nvSpPr>
          <p:cNvPr id="455" name="" descr="{&quot;isTemplate&quot;:true,&quot;type&quot;:&quot;text&quot;}"/>
          <p:cNvSpPr txBox="1"/>
          <p:nvPr/>
        </p:nvSpPr>
        <p:spPr>
          <a:xfrm rot="0" flipH="0" flipV="0">
            <a:off x="4686300" y="2838450"/>
            <a:ext cx="6248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数组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vs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表格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向量化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索引切片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实战速查</a:t>
            </a:r>
            <a:endParaRPr/>
          </a:p>
        </p:txBody>
      </p:sp>
      <p:pic>
        <p:nvPicPr>
          <p:cNvPr id="45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2676525"/>
            <a:ext cx="190500" cy="190500"/>
          </a:xfrm>
          <a:prstGeom prst="rect">
            <a:avLst/>
          </a:prstGeom>
          <a:ln/>
        </p:spPr>
      </p:pic>
      <p:sp>
        <p:nvSpPr>
          <p:cNvPr id="457" name=""/>
          <p:cNvSpPr/>
          <p:nvPr/>
        </p:nvSpPr>
        <p:spPr>
          <a:xfrm rot="0" flipH="0" flipV="0">
            <a:off x="3924300" y="3152775"/>
            <a:ext cx="7467600" cy="762000"/>
          </a:xfrm>
          <a:custGeom>
            <a:pathLst>
              <a:path w="784" h="80">
                <a:moveTo>
                  <a:pt x="0" y="79"/>
                </a:moveTo>
                <a:lnTo>
                  <a:pt x="784" y="79"/>
                </a:lnTo>
                <a:lnTo>
                  <a:pt x="784" y="80"/>
                </a:lnTo>
                <a:lnTo>
                  <a:pt x="0" y="80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58" name=""/>
          <p:cNvSpPr/>
          <p:nvPr/>
        </p:nvSpPr>
        <p:spPr>
          <a:xfrm rot="0" flipH="0" flipV="0">
            <a:off x="4000500" y="3276600"/>
            <a:ext cx="495300" cy="495300"/>
          </a:xfrm>
          <a:prstGeom prst="roundRect">
            <a:avLst>
              <a:gd name="adj" fmla="val 2307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9" name="" descr="{&quot;isTemplate&quot;:true,&quot;type&quot;:&quot;text&quot;}"/>
          <p:cNvSpPr txBox="1"/>
          <p:nvPr/>
        </p:nvSpPr>
        <p:spPr>
          <a:xfrm rot="0" flipH="0" flipV="0">
            <a:off x="4133850" y="3409950"/>
            <a:ext cx="2286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Source Han Sans SC"/>
                <a:ea typeface="Source Han Sans SC"/>
              </a:rPr>
              <a:t>03</a:t>
            </a:r>
            <a:endParaRPr/>
          </a:p>
        </p:txBody>
      </p:sp>
      <p:sp>
        <p:nvSpPr>
          <p:cNvPr id="460" name="" descr="{&quot;isTemplate&quot;:true,&quot;type&quot;:&quot;text&quot;}"/>
          <p:cNvSpPr txBox="1"/>
          <p:nvPr/>
        </p:nvSpPr>
        <p:spPr>
          <a:xfrm rot="0" flipH="0" flipV="0">
            <a:off x="4686300" y="3295650"/>
            <a:ext cx="14573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Source Han Sans SC"/>
                <a:ea typeface="Source Han Sans SC"/>
              </a:rPr>
              <a:t>可视化与</a:t>
            </a:r>
            <a:r>
              <a:rPr lang="en-US" sz="1800" b="1">
                <a:solidFill>
                  <a:srgbClr val="1A2230"/>
                </a:solidFill>
                <a:latin typeface="Source Han Sans SC"/>
                <a:ea typeface="Source Han Sans SC"/>
              </a:rPr>
              <a:t> EDA</a:t>
            </a:r>
            <a:endParaRPr/>
          </a:p>
        </p:txBody>
      </p:sp>
      <p:sp>
        <p:nvSpPr>
          <p:cNvPr id="461" name="" descr="{&quot;isTemplate&quot;:true,&quot;type&quot;:&quot;text&quot;}"/>
          <p:cNvSpPr txBox="1"/>
          <p:nvPr/>
        </p:nvSpPr>
        <p:spPr>
          <a:xfrm rot="0" flipH="0" flipV="0">
            <a:off x="6257925" y="3295650"/>
            <a:ext cx="15430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8B97A8"/>
                </a:solidFill>
                <a:latin typeface="Source Han Sans SC"/>
                <a:ea typeface="Source Han Sans SC"/>
              </a:rPr>
              <a:t>Visualization &amp; EDA</a:t>
            </a:r>
            <a:endParaRPr/>
          </a:p>
        </p:txBody>
      </p:sp>
      <p:sp>
        <p:nvSpPr>
          <p:cNvPr id="462" name="" descr="{&quot;isTemplate&quot;:true,&quot;type&quot;:&quot;text&quot;}"/>
          <p:cNvSpPr txBox="1"/>
          <p:nvPr/>
        </p:nvSpPr>
        <p:spPr>
          <a:xfrm rot="0" flipH="0" flipV="0">
            <a:off x="4686300" y="3590925"/>
            <a:ext cx="6248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图表选型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探索五步法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Titanic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走查</a:t>
            </a:r>
            <a:endParaRPr/>
          </a:p>
        </p:txBody>
      </p:sp>
      <p:pic>
        <p:nvPicPr>
          <p:cNvPr id="46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3429000"/>
            <a:ext cx="190500" cy="190500"/>
          </a:xfrm>
          <a:prstGeom prst="rect">
            <a:avLst/>
          </a:prstGeom>
          <a:ln/>
        </p:spPr>
      </p:pic>
      <p:sp>
        <p:nvSpPr>
          <p:cNvPr id="464" name=""/>
          <p:cNvSpPr/>
          <p:nvPr/>
        </p:nvSpPr>
        <p:spPr>
          <a:xfrm rot="0" flipH="0" flipV="0">
            <a:off x="3924300" y="3905250"/>
            <a:ext cx="7467600" cy="762000"/>
          </a:xfrm>
          <a:custGeom>
            <a:pathLst>
              <a:path w="784" h="80">
                <a:moveTo>
                  <a:pt x="0" y="79"/>
                </a:moveTo>
                <a:lnTo>
                  <a:pt x="784" y="79"/>
                </a:lnTo>
                <a:lnTo>
                  <a:pt x="784" y="80"/>
                </a:lnTo>
                <a:lnTo>
                  <a:pt x="0" y="80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65" name=""/>
          <p:cNvSpPr/>
          <p:nvPr/>
        </p:nvSpPr>
        <p:spPr>
          <a:xfrm rot="0" flipH="0" flipV="0">
            <a:off x="4000500" y="4029075"/>
            <a:ext cx="495300" cy="495300"/>
          </a:xfrm>
          <a:prstGeom prst="roundRect">
            <a:avLst>
              <a:gd name="adj" fmla="val 2307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66" name="" descr="{&quot;isTemplate&quot;:true,&quot;type&quot;:&quot;text&quot;}"/>
          <p:cNvSpPr txBox="1"/>
          <p:nvPr/>
        </p:nvSpPr>
        <p:spPr>
          <a:xfrm rot="0" flipH="0" flipV="0">
            <a:off x="4133850" y="4162425"/>
            <a:ext cx="2286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Source Han Sans SC"/>
                <a:ea typeface="Source Han Sans SC"/>
              </a:rPr>
              <a:t>04</a:t>
            </a:r>
            <a:endParaRPr/>
          </a:p>
        </p:txBody>
      </p:sp>
      <p:sp>
        <p:nvSpPr>
          <p:cNvPr id="467" name="" descr="{&quot;isTemplate&quot;:true,&quot;type&quot;:&quot;text&quot;}"/>
          <p:cNvSpPr txBox="1"/>
          <p:nvPr/>
        </p:nvSpPr>
        <p:spPr>
          <a:xfrm rot="0" flipH="0" flipV="0">
            <a:off x="4686300" y="4048125"/>
            <a:ext cx="914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Source Han Sans SC"/>
                <a:ea typeface="Source Han Sans SC"/>
              </a:rPr>
              <a:t>数据清洗</a:t>
            </a:r>
            <a:endParaRPr/>
          </a:p>
        </p:txBody>
      </p:sp>
      <p:sp>
        <p:nvSpPr>
          <p:cNvPr id="468" name="" descr="{&quot;isTemplate&quot;:true,&quot;type&quot;:&quot;text&quot;}"/>
          <p:cNvSpPr txBox="1"/>
          <p:nvPr/>
        </p:nvSpPr>
        <p:spPr>
          <a:xfrm rot="0" flipH="0" flipV="0">
            <a:off x="5715000" y="4048125"/>
            <a:ext cx="10953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8B97A8"/>
                </a:solidFill>
                <a:latin typeface="Source Han Sans SC"/>
                <a:ea typeface="Source Han Sans SC"/>
              </a:rPr>
              <a:t>Data Cleaning</a:t>
            </a:r>
            <a:endParaRPr/>
          </a:p>
        </p:txBody>
      </p:sp>
      <p:sp>
        <p:nvSpPr>
          <p:cNvPr id="469" name="" descr="{&quot;isTemplate&quot;:true,&quot;type&quot;:&quot;text&quot;}"/>
          <p:cNvSpPr txBox="1"/>
          <p:nvPr/>
        </p:nvSpPr>
        <p:spPr>
          <a:xfrm rot="0" flipH="0" flipV="0">
            <a:off x="4686300" y="4343400"/>
            <a:ext cx="6248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六步流程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缺失值决策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异常值三法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GIGO</a:t>
            </a:r>
            <a:endParaRPr/>
          </a:p>
        </p:txBody>
      </p:sp>
      <p:pic>
        <p:nvPicPr>
          <p:cNvPr id="47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4181475"/>
            <a:ext cx="190500" cy="190500"/>
          </a:xfrm>
          <a:prstGeom prst="rect">
            <a:avLst/>
          </a:prstGeom>
          <a:ln/>
        </p:spPr>
      </p:pic>
      <p:sp>
        <p:nvSpPr>
          <p:cNvPr id="471" name=""/>
          <p:cNvSpPr/>
          <p:nvPr/>
        </p:nvSpPr>
        <p:spPr>
          <a:xfrm rot="0" flipH="0" flipV="0">
            <a:off x="4000500" y="4781550"/>
            <a:ext cx="495300" cy="495300"/>
          </a:xfrm>
          <a:prstGeom prst="roundRect">
            <a:avLst>
              <a:gd name="adj" fmla="val 2307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72" name="" descr="{&quot;isTemplate&quot;:true,&quot;type&quot;:&quot;text&quot;}"/>
          <p:cNvSpPr txBox="1"/>
          <p:nvPr/>
        </p:nvSpPr>
        <p:spPr>
          <a:xfrm rot="0" flipH="0" flipV="0">
            <a:off x="4133850" y="4914900"/>
            <a:ext cx="2286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Source Han Sans SC"/>
                <a:ea typeface="Source Han Sans SC"/>
              </a:rPr>
              <a:t>05</a:t>
            </a:r>
            <a:endParaRPr/>
          </a:p>
        </p:txBody>
      </p:sp>
      <p:sp>
        <p:nvSpPr>
          <p:cNvPr id="473" name="" descr="{&quot;isTemplate&quot;:true,&quot;type&quot;:&quot;text&quot;}"/>
          <p:cNvSpPr txBox="1"/>
          <p:nvPr/>
        </p:nvSpPr>
        <p:spPr>
          <a:xfrm rot="0" flipH="0" flipV="0">
            <a:off x="4686300" y="4800600"/>
            <a:ext cx="19526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Source Han Sans SC"/>
                <a:ea typeface="Source Han Sans SC"/>
              </a:rPr>
              <a:t>Lab · Titanic </a:t>
            </a:r>
            <a:r>
              <a:rPr lang="zh-CN" sz="1800" b="1">
                <a:solidFill>
                  <a:srgbClr val="1A2230"/>
                </a:solidFill>
                <a:latin typeface="Source Han Sans SC"/>
                <a:ea typeface="Source Han Sans SC"/>
              </a:rPr>
              <a:t>实战</a:t>
            </a:r>
            <a:endParaRPr/>
          </a:p>
        </p:txBody>
      </p:sp>
      <p:sp>
        <p:nvSpPr>
          <p:cNvPr id="474" name="" descr="{&quot;isTemplate&quot;:true,&quot;type&quot;:&quot;text&quot;}"/>
          <p:cNvSpPr txBox="1"/>
          <p:nvPr/>
        </p:nvSpPr>
        <p:spPr>
          <a:xfrm rot="0" flipH="0" flipV="0">
            <a:off x="6753225" y="4800600"/>
            <a:ext cx="11525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8B97A8"/>
                </a:solidFill>
                <a:latin typeface="Source Han Sans SC"/>
                <a:ea typeface="Source Han Sans SC"/>
              </a:rPr>
              <a:t>Hands-On Lab</a:t>
            </a:r>
            <a:endParaRPr/>
          </a:p>
        </p:txBody>
      </p:sp>
      <p:sp>
        <p:nvSpPr>
          <p:cNvPr id="475" name="" descr="{&quot;isTemplate&quot;:true,&quot;type&quot;:&quot;text&quot;}"/>
          <p:cNvSpPr txBox="1"/>
          <p:nvPr/>
        </p:nvSpPr>
        <p:spPr>
          <a:xfrm rot="0" flipH="0" flipV="0">
            <a:off x="4686300" y="5095875"/>
            <a:ext cx="6248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热身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→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探索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→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可视化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→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清洗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→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交付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含小测</a:t>
            </a:r>
            <a:endParaRPr/>
          </a:p>
        </p:txBody>
      </p:sp>
      <p:pic>
        <p:nvPicPr>
          <p:cNvPr id="47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4933950"/>
            <a:ext cx="190500" cy="190500"/>
          </a:xfrm>
          <a:prstGeom prst="rect">
            <a:avLst/>
          </a:prstGeom>
          <a:ln/>
        </p:spPr>
      </p:pic>
      <p:sp>
        <p:nvSpPr>
          <p:cNvPr id="477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478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02 / 32</a:t>
            </a:r>
            <a:endParaRPr/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848" name="" descr="&lt;Slide style={{ width: '1280px', height: '720px', background: '#F7F9FC', padding: '0px', position: 'relative', overflow: 'hidden', fontFamily: 'Source Han Sans SC, PingFang SC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1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1&lt;/Text&gt;&#10;      &lt;/Box&gt;&#10;      &lt;Box style={{ paddingTop: 6 }}&gt;&#10;        &lt;Text style={{ fontSize: 44, color: '#1A2230', fontWeight: 'bold' }}&gt;数据为王&lt;/Text&gt;&#10;        &lt;Text style={{ fontSize: 26, color: '#8B97A8', fontWeight: '600', marginTop: 6 }}&gt;Why Data Matters&lt;/Text&gt;&#10;      &lt;/Box&gt;&#10;    &lt;/Box&gt;&#10;    &lt;Box style={{ flexDirection: 'row', gap: 24 }}&gt;&#10;      {[&#10;        { t: '数据是燃料', e: 'Data is Fuel' },&#10;        { t: '质量六维度', e: '6 Quality Dimensions' },&#10;        { t: '缺陷会放大', e: 'Flaws Amplify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50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51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Source Han Sans SC"/>
                <a:ea typeface="Source Han Sans SC"/>
              </a:rPr>
              <a:t>01</a:t>
            </a:r>
            <a:endParaRPr/>
          </a:p>
        </p:txBody>
      </p:sp>
      <p:sp>
        <p:nvSpPr>
          <p:cNvPr id="852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53" name="" descr="{&quot;isTemplate&quot;:true,&quot;type&quot;:&quot;text&quot;}"/>
          <p:cNvSpPr txBox="1"/>
          <p:nvPr/>
        </p:nvSpPr>
        <p:spPr>
          <a:xfrm rot="0" flipH="0" flipV="0">
            <a:off x="1181100" y="1314450"/>
            <a:ext cx="60007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Source Han Sans SC"/>
                <a:ea typeface="Source Han Sans SC"/>
              </a:rPr>
              <a:t>01</a:t>
            </a:r>
            <a:endParaRPr/>
          </a:p>
        </p:txBody>
      </p:sp>
      <p:sp>
        <p:nvSpPr>
          <p:cNvPr id="854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21336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1A2230"/>
                </a:solidFill>
                <a:latin typeface="Source Han Sans SC"/>
                <a:ea typeface="Source Han Sans SC"/>
              </a:rPr>
              <a:t>数据为王</a:t>
            </a:r>
            <a:endParaRPr/>
          </a:p>
        </p:txBody>
      </p:sp>
      <p:sp>
        <p:nvSpPr>
          <p:cNvPr id="855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2133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Source Han Sans SC"/>
                <a:ea typeface="Source Han Sans SC"/>
              </a:rPr>
              <a:t>Why Data Matters</a:t>
            </a:r>
            <a:endParaRPr/>
          </a:p>
        </p:txBody>
      </p:sp>
      <p:sp>
        <p:nvSpPr>
          <p:cNvPr id="856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57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58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数据是燃料</a:t>
            </a:r>
            <a:endParaRPr/>
          </a:p>
        </p:txBody>
      </p:sp>
      <p:sp>
        <p:nvSpPr>
          <p:cNvPr id="859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Data is Fuel</a:t>
            </a:r>
            <a:endParaRPr/>
          </a:p>
        </p:txBody>
      </p:sp>
      <p:sp>
        <p:nvSpPr>
          <p:cNvPr id="860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61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62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质量六维度</a:t>
            </a:r>
            <a:endParaRPr/>
          </a:p>
        </p:txBody>
      </p:sp>
      <p:sp>
        <p:nvSpPr>
          <p:cNvPr id="863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6 Quality Dimensions</a:t>
            </a:r>
            <a:endParaRPr/>
          </a:p>
        </p:txBody>
      </p:sp>
      <p:sp>
        <p:nvSpPr>
          <p:cNvPr id="864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65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66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缺陷会放大</a:t>
            </a:r>
            <a:endParaRPr/>
          </a:p>
        </p:txBody>
      </p:sp>
      <p:sp>
        <p:nvSpPr>
          <p:cNvPr id="867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Flaws Amplify</a:t>
            </a:r>
            <a:endParaRPr/>
          </a:p>
        </p:txBody>
      </p:sp>
    </p:spTree>
  </p:cSld>
</p:sld>
</file>

<file path=ppt/slides/slide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957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上周回顾与本周地图 · Review &amp;amp; Roadmap&lt;/Text&gt;&#10;    &lt;Text style={{ fontSize: 15, color: 'rgba(255,255,255,0.85)' }}&gt;Module 1 · Week 2&lt;/Text&gt;&#10;  &lt;/Box&gt;&#10;  &lt;Box style={{ position: 'absolute', top: 100, left: 0, width: '100%', height: 540, padding: '16px 84px', flexDirection: 'row', gap: 28 }}&gt;&#10;    &lt;Box style={{ flex: 1, gap: 12 }}&gt;&#10;      &lt;Text style={{ fontSize: 18, color: '#8B97A8', fontWeight: '600' }}&gt;Week 1 · 你应该还记得&lt;/Text&gt;&#10;      {[&#10;        { t: 'AI ⊃ ML ⊃ DL ⊃ GenAI', d: '判断三连问：学数据？神经网络？生成内容？' },&#10;        { t: 'AI 项目生命周期六阶段', d: '问题定义 → 数据 → 建模 → 评估 → 部署 → 监控' },&#10;        { t: '80% 法则', d: '大部分工作量在数据与工程，不在训练模型' },&#10;        { t: '环境就绪', d: 'conda ai-app 环境 · Jupyter/Colab · Git 推送' },&#10;        { t: '第一个 ML 程序', d: 'Iris 分类：fit → predict → evaluate' },&#10;      ].map((r, i) =&gt; (&#10;        &lt;Box key={i} style={{ flexDirection: 'row', gap: 12, alignItems: 'flex-start', background: '#F7F9FC', border: '1px solid #E5E7EB', borderRadius: 10, padding: '11px 16px' }}&gt;&#10;          &lt;FAIcon name='check-circle' style={{ fill: '#1E4FA8', width: 20, height: 20, marginTop: 2 }} /&gt;&#10;          &lt;Box style={{ flex: 1 }}&gt;&#10;            &lt;Text style={{ fontSize: 16, color: '#1A2230', fontWeight: 'bold' }}&gt;{r.t}&lt;/Text&gt;&#10;            &lt;Text style={{ fontSize: 13.5, color: '#4A5568', marginTop: 1 }}&gt;{r.d}&lt;/Text&gt;&#10;          &lt;/Box&gt;&#10;        &lt;/Box&gt;&#10;      ))}&#10;    &lt;/Box&gt;&#10;    &lt;Box style={{ width: 480, gap: 14, flexShrink: 0 }}&gt;&#10;      &lt;Text style={{ fontSize: 18, color: '#8B97A8', fontWeight: '600' }}&gt;Module 1 · 四周走位&lt;/Text&gt;&#10;      &lt;Box style={{ background: '#F0F5FC', border: '1px solid #D6DCE5', borderRadius: 14, padding: '20px 22px', gap: 10 }}&gt;&#10;        {[&#10;          { w: 'W1', t: '导论与环境', s: 'done' },&#10;          { w: 'W2', t: '数据处理基础（今天）', s: 'now' },&#10;          { w: 'W3', t: '机器学习与 scikit-learn', s: 'next' },&#10;          { w: 'W4', t: '模型评估与调优', s: 'next' },&#10;        ].map((r, i) =&gt; (&#10;          &lt;Box key={i} style={{ flexDirection: 'row', alignItems: 'center', gap: 12 }}&gt;&#10;            &lt;Box style={{ width: 44, height: 30, borderRadius: 8, background: r.s === 'now' ? '#0E3F8C' : r.s === 'done' ? '#1E4FA8' : '#E8EFF8', justifyContent: 'center', alignItems: 'center', flexShrink: 0 }}&gt;&#10;              &lt;Text style={{ fontSize: 13.5, color: r.s === 'next' ? '#1E4FA8' : '#FFFFFF', fontWeight: 'bold' }}&gt;{r.w}&lt;/Text&gt;&#10;            &lt;/Box&gt;&#10;            &lt;Text style={{ fontSize: 15, color: r.s === 'now' ? '#0E3F8C' : '#4A5568', fontWeight: r.s === 'now' ? 'bold' : '400' }}&gt;{r.t}&lt;/Text&gt;&#10;            {r.s === 'done' &amp;&amp; &lt;FAIcon name='check' style={{ fill: '#1E4FA8', width: 15, height: 15 }} /&gt;}&#10;            {r.s === 'now' &amp;&amp; &lt;Box style={{ background: '#0E3F8C', borderRadius: 10, padding: '2px 10px' }}&gt;&lt;Text style={{ fontSize: 12, color: '#FFFFFF', fontWeight: 'bold' }}&gt;NOW&lt;/Text&gt;&lt;/Box&gt;}&#10;          &lt;/Box&gt;&#10;        ))}&#10;      &lt;/Box&gt;&#10;      &lt;Box style={{ background: '#0E3F8C', borderRadius: 14, padding: '18px 22px' }}&gt;&#10;        &lt;Text style={{ fontSize: 17, color: '#FFFFFF', fontWeight: 'bold' }}&gt;今天三件事&lt;/Text&gt;&#10;        {['会用 NumPy / Pandas 操作数据', '会画图、会做 EDA 五步侦察', '会清洗缺失、异常与重复'].map((t, i) =&gt; (&#10;          &lt;Box key={i} style={{ flexDirection: 'row', gap: 10, alignItems: 'center', marginTop: 10 }}&gt;&#10;            &lt;Box style={{ width: 24, height: 24, borderRadius: 7, background: 'rgba(255,255,255,0.18)', justifyContent: 'center', alignItems: 'center' }}&gt;&#10;              &lt;Text style={{ fontSize: 13, color: '#FFC107', fontWeight: 'bold' }}&gt;{i + 1}&lt;/Text&gt;&#10;            &lt;/Box&gt;&#10;            &lt;Text style={{ fontSize: 15, color: 'rgba(255,255,255,0.92)' }}&gt;{t}&lt;/Text&gt;&#10;          &lt;/Box&gt;&#10;        ))}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04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59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60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40957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上周回顾与本周地图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Review &amp; Roadmap</a:t>
            </a:r>
            <a:endParaRPr/>
          </a:p>
        </p:txBody>
      </p:sp>
      <p:sp>
        <p:nvSpPr>
          <p:cNvPr id="961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962" name="" descr="{&quot;isTemplate&quot;:true,&quot;type&quot;:&quot;text&quot;}"/>
          <p:cNvSpPr txBox="1"/>
          <p:nvPr/>
        </p:nvSpPr>
        <p:spPr>
          <a:xfrm rot="0" flipH="0" flipV="0">
            <a:off x="800100" y="1681762"/>
            <a:ext cx="5753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8B97A8"/>
                </a:solidFill>
                <a:latin typeface="Source Han Sans SC"/>
                <a:ea typeface="Source Han Sans SC"/>
              </a:rPr>
              <a:t>Week 1 · </a:t>
            </a:r>
            <a:r>
              <a:rPr lang="zh-CN" sz="1350" b="1">
                <a:solidFill>
                  <a:srgbClr val="8B97A8"/>
                </a:solidFill>
                <a:latin typeface="Source Han Sans SC"/>
                <a:ea typeface="Source Han Sans SC"/>
              </a:rPr>
              <a:t>你应该还记得</a:t>
            </a:r>
            <a:endParaRPr/>
          </a:p>
        </p:txBody>
      </p:sp>
      <p:sp>
        <p:nvSpPr>
          <p:cNvPr id="963" name=""/>
          <p:cNvSpPr/>
          <p:nvPr/>
        </p:nvSpPr>
        <p:spPr>
          <a:xfrm rot="0" flipH="0" flipV="0">
            <a:off x="800100" y="2005612"/>
            <a:ext cx="57531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6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52500" y="2129437"/>
            <a:ext cx="190500" cy="190500"/>
          </a:xfrm>
          <a:prstGeom prst="rect">
            <a:avLst/>
          </a:prstGeom>
          <a:ln/>
        </p:spPr>
      </p:pic>
      <p:sp>
        <p:nvSpPr>
          <p:cNvPr id="965" name="" descr="{&quot;isTemplate&quot;:true,&quot;type&quot;:&quot;text&quot;}"/>
          <p:cNvSpPr txBox="1"/>
          <p:nvPr/>
        </p:nvSpPr>
        <p:spPr>
          <a:xfrm rot="0" flipH="0" flipV="0">
            <a:off x="1257300" y="2110387"/>
            <a:ext cx="5143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AI ⊃ ML ⊃ DL ⊃ GenAI</a:t>
            </a:r>
            <a:endParaRPr/>
          </a:p>
        </p:txBody>
      </p:sp>
      <p:sp>
        <p:nvSpPr>
          <p:cNvPr id="966" name="" descr="{&quot;isTemplate&quot;:true,&quot;type&quot;:&quot;text&quot;}"/>
          <p:cNvSpPr txBox="1"/>
          <p:nvPr/>
        </p:nvSpPr>
        <p:spPr>
          <a:xfrm rot="0" flipH="0" flipV="0">
            <a:off x="1257300" y="2310412"/>
            <a:ext cx="5143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判断三连问：学数据？神经网络？生成内容？</a:t>
            </a:r>
            <a:endParaRPr/>
          </a:p>
        </p:txBody>
      </p:sp>
      <p:sp>
        <p:nvSpPr>
          <p:cNvPr id="967" name=""/>
          <p:cNvSpPr/>
          <p:nvPr/>
        </p:nvSpPr>
        <p:spPr>
          <a:xfrm rot="0" flipH="0" flipV="0">
            <a:off x="800100" y="2691412"/>
            <a:ext cx="57531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6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52500" y="2815237"/>
            <a:ext cx="190500" cy="190500"/>
          </a:xfrm>
          <a:prstGeom prst="rect">
            <a:avLst/>
          </a:prstGeom>
          <a:ln/>
        </p:spPr>
      </p:pic>
      <p:sp>
        <p:nvSpPr>
          <p:cNvPr id="969" name="" descr="{&quot;isTemplate&quot;:true,&quot;type&quot;:&quot;text&quot;}"/>
          <p:cNvSpPr txBox="1"/>
          <p:nvPr/>
        </p:nvSpPr>
        <p:spPr>
          <a:xfrm rot="0" flipH="0" flipV="0">
            <a:off x="1257300" y="2796187"/>
            <a:ext cx="5143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AI </a:t>
            </a: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项目生命周期六阶段</a:t>
            </a:r>
            <a:endParaRPr/>
          </a:p>
        </p:txBody>
      </p:sp>
      <p:sp>
        <p:nvSpPr>
          <p:cNvPr id="970" name="" descr="{&quot;isTemplate&quot;:true,&quot;type&quot;:&quot;text&quot;}"/>
          <p:cNvSpPr txBox="1"/>
          <p:nvPr/>
        </p:nvSpPr>
        <p:spPr>
          <a:xfrm rot="0" flipH="0" flipV="0">
            <a:off x="1257300" y="2996212"/>
            <a:ext cx="5143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问题定义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→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数据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→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建模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→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评估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→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部署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→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监控</a:t>
            </a:r>
            <a:endParaRPr/>
          </a:p>
        </p:txBody>
      </p:sp>
      <p:sp>
        <p:nvSpPr>
          <p:cNvPr id="971" name=""/>
          <p:cNvSpPr/>
          <p:nvPr/>
        </p:nvSpPr>
        <p:spPr>
          <a:xfrm rot="0" flipH="0" flipV="0">
            <a:off x="800100" y="3377212"/>
            <a:ext cx="57531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7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52500" y="3501037"/>
            <a:ext cx="190500" cy="190500"/>
          </a:xfrm>
          <a:prstGeom prst="rect">
            <a:avLst/>
          </a:prstGeom>
          <a:ln/>
        </p:spPr>
      </p:pic>
      <p:sp>
        <p:nvSpPr>
          <p:cNvPr id="973" name="" descr="{&quot;isTemplate&quot;:true,&quot;type&quot;:&quot;text&quot;}"/>
          <p:cNvSpPr txBox="1"/>
          <p:nvPr/>
        </p:nvSpPr>
        <p:spPr>
          <a:xfrm rot="0" flipH="0" flipV="0">
            <a:off x="1257300" y="3481987"/>
            <a:ext cx="5143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80% </a:t>
            </a: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法则</a:t>
            </a:r>
            <a:endParaRPr/>
          </a:p>
        </p:txBody>
      </p:sp>
      <p:sp>
        <p:nvSpPr>
          <p:cNvPr id="974" name="" descr="{&quot;isTemplate&quot;:true,&quot;type&quot;:&quot;text&quot;}"/>
          <p:cNvSpPr txBox="1"/>
          <p:nvPr/>
        </p:nvSpPr>
        <p:spPr>
          <a:xfrm rot="0" flipH="0" flipV="0">
            <a:off x="1257300" y="3682012"/>
            <a:ext cx="5143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大部分工作量在数据与工程，不在训练模型</a:t>
            </a:r>
            <a:endParaRPr/>
          </a:p>
        </p:txBody>
      </p:sp>
      <p:sp>
        <p:nvSpPr>
          <p:cNvPr id="975" name=""/>
          <p:cNvSpPr/>
          <p:nvPr/>
        </p:nvSpPr>
        <p:spPr>
          <a:xfrm rot="0" flipH="0" flipV="0">
            <a:off x="800100" y="4063012"/>
            <a:ext cx="57531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7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52500" y="4186837"/>
            <a:ext cx="190500" cy="190500"/>
          </a:xfrm>
          <a:prstGeom prst="rect">
            <a:avLst/>
          </a:prstGeom>
          <a:ln/>
        </p:spPr>
      </p:pic>
      <p:sp>
        <p:nvSpPr>
          <p:cNvPr id="977" name="" descr="{&quot;isTemplate&quot;:true,&quot;type&quot;:&quot;text&quot;}"/>
          <p:cNvSpPr txBox="1"/>
          <p:nvPr/>
        </p:nvSpPr>
        <p:spPr>
          <a:xfrm rot="0" flipH="0" flipV="0">
            <a:off x="1257300" y="4167787"/>
            <a:ext cx="5143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环境就绪</a:t>
            </a:r>
            <a:endParaRPr/>
          </a:p>
        </p:txBody>
      </p:sp>
      <p:sp>
        <p:nvSpPr>
          <p:cNvPr id="978" name="" descr="{&quot;isTemplate&quot;:true,&quot;type&quot;:&quot;text&quot;}"/>
          <p:cNvSpPr txBox="1"/>
          <p:nvPr/>
        </p:nvSpPr>
        <p:spPr>
          <a:xfrm rot="0" flipH="0" flipV="0">
            <a:off x="1257300" y="4367812"/>
            <a:ext cx="5143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conda ai-app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环境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· Jupyter/Colab · Git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推送</a:t>
            </a:r>
            <a:endParaRPr/>
          </a:p>
        </p:txBody>
      </p:sp>
      <p:sp>
        <p:nvSpPr>
          <p:cNvPr id="979" name=""/>
          <p:cNvSpPr/>
          <p:nvPr/>
        </p:nvSpPr>
        <p:spPr>
          <a:xfrm rot="0" flipH="0" flipV="0">
            <a:off x="800100" y="4748812"/>
            <a:ext cx="57531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52500" y="4872637"/>
            <a:ext cx="190500" cy="190500"/>
          </a:xfrm>
          <a:prstGeom prst="rect">
            <a:avLst/>
          </a:prstGeom>
          <a:ln/>
        </p:spPr>
      </p:pic>
      <p:sp>
        <p:nvSpPr>
          <p:cNvPr id="981" name="" descr="{&quot;isTemplate&quot;:true,&quot;type&quot;:&quot;text&quot;}"/>
          <p:cNvSpPr txBox="1"/>
          <p:nvPr/>
        </p:nvSpPr>
        <p:spPr>
          <a:xfrm rot="0" flipH="0" flipV="0">
            <a:off x="1257300" y="4853587"/>
            <a:ext cx="5143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第一个</a:t>
            </a: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 ML </a:t>
            </a: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程序</a:t>
            </a:r>
            <a:endParaRPr/>
          </a:p>
        </p:txBody>
      </p:sp>
      <p:sp>
        <p:nvSpPr>
          <p:cNvPr id="982" name="" descr="{&quot;isTemplate&quot;:true,&quot;type&quot;:&quot;text&quot;}"/>
          <p:cNvSpPr txBox="1"/>
          <p:nvPr/>
        </p:nvSpPr>
        <p:spPr>
          <a:xfrm rot="0" flipH="0" flipV="0">
            <a:off x="1257300" y="5053612"/>
            <a:ext cx="5143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Iris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分类：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fit → predict → evaluate</a:t>
            </a:r>
            <a:endParaRPr/>
          </a:p>
        </p:txBody>
      </p:sp>
      <p:sp>
        <p:nvSpPr>
          <p:cNvPr id="983" name="" descr="{&quot;isTemplate&quot;:true,&quot;type&quot;:&quot;text&quot;}"/>
          <p:cNvSpPr txBox="1"/>
          <p:nvPr/>
        </p:nvSpPr>
        <p:spPr>
          <a:xfrm rot="0" flipH="0" flipV="0">
            <a:off x="6819900" y="1681762"/>
            <a:ext cx="4572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8B97A8"/>
                </a:solidFill>
                <a:latin typeface="Source Han Sans SC"/>
                <a:ea typeface="Source Han Sans SC"/>
              </a:rPr>
              <a:t>Module 1 · </a:t>
            </a:r>
            <a:r>
              <a:rPr lang="zh-CN" sz="1350" b="1">
                <a:solidFill>
                  <a:srgbClr val="8B97A8"/>
                </a:solidFill>
                <a:latin typeface="Source Han Sans SC"/>
                <a:ea typeface="Source Han Sans SC"/>
              </a:rPr>
              <a:t>四周走位</a:t>
            </a:r>
            <a:endParaRPr/>
          </a:p>
        </p:txBody>
      </p:sp>
      <p:sp>
        <p:nvSpPr>
          <p:cNvPr id="984" name=""/>
          <p:cNvSpPr/>
          <p:nvPr/>
        </p:nvSpPr>
        <p:spPr>
          <a:xfrm rot="0" flipH="0" flipV="0">
            <a:off x="6819900" y="2024662"/>
            <a:ext cx="4572000" cy="1809750"/>
          </a:xfrm>
          <a:prstGeom prst="roundRect">
            <a:avLst>
              <a:gd name="adj" fmla="val 736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85" name=""/>
          <p:cNvSpPr/>
          <p:nvPr/>
        </p:nvSpPr>
        <p:spPr>
          <a:xfrm rot="0" flipH="0" flipV="0">
            <a:off x="7029450" y="2215162"/>
            <a:ext cx="419100" cy="285750"/>
          </a:xfrm>
          <a:prstGeom prst="roundRect">
            <a:avLst>
              <a:gd name="adj" fmla="val 2666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86" name="" descr="{&quot;isTemplate&quot;:true,&quot;type&quot;:&quot;text&quot;}"/>
          <p:cNvSpPr txBox="1"/>
          <p:nvPr/>
        </p:nvSpPr>
        <p:spPr>
          <a:xfrm rot="0" flipH="0" flipV="0">
            <a:off x="7153275" y="2281837"/>
            <a:ext cx="1809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FFFFFF"/>
                </a:solidFill>
                <a:latin typeface="Source Han Sans SC"/>
                <a:ea typeface="Source Han Sans SC"/>
              </a:rPr>
              <a:t>W1</a:t>
            </a:r>
            <a:endParaRPr/>
          </a:p>
        </p:txBody>
      </p:sp>
      <p:sp>
        <p:nvSpPr>
          <p:cNvPr id="987" name="" descr="{&quot;isTemplate&quot;:true,&quot;type&quot;:&quot;text&quot;}"/>
          <p:cNvSpPr txBox="1"/>
          <p:nvPr/>
        </p:nvSpPr>
        <p:spPr>
          <a:xfrm rot="0" flipH="0" flipV="0">
            <a:off x="7562850" y="2272312"/>
            <a:ext cx="714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导论与环境</a:t>
            </a:r>
            <a:endParaRPr/>
          </a:p>
        </p:txBody>
      </p:sp>
      <p:pic>
        <p:nvPicPr>
          <p:cNvPr id="98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391525" y="2291362"/>
            <a:ext cx="142875" cy="142875"/>
          </a:xfrm>
          <a:prstGeom prst="rect">
            <a:avLst/>
          </a:prstGeom>
          <a:ln/>
        </p:spPr>
      </p:pic>
      <p:sp>
        <p:nvSpPr>
          <p:cNvPr id="989" name=""/>
          <p:cNvSpPr/>
          <p:nvPr/>
        </p:nvSpPr>
        <p:spPr>
          <a:xfrm rot="0" flipH="0" flipV="0">
            <a:off x="7029450" y="2596162"/>
            <a:ext cx="419100" cy="285750"/>
          </a:xfrm>
          <a:prstGeom prst="roundRect">
            <a:avLst>
              <a:gd name="adj" fmla="val 2666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90" name="" descr="{&quot;isTemplate&quot;:true,&quot;type&quot;:&quot;text&quot;}"/>
          <p:cNvSpPr txBox="1"/>
          <p:nvPr/>
        </p:nvSpPr>
        <p:spPr>
          <a:xfrm rot="0" flipH="0" flipV="0">
            <a:off x="7143750" y="2662837"/>
            <a:ext cx="200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FFFFFF"/>
                </a:solidFill>
                <a:latin typeface="Source Han Sans SC"/>
                <a:ea typeface="Source Han Sans SC"/>
              </a:rPr>
              <a:t>W2</a:t>
            </a:r>
            <a:endParaRPr/>
          </a:p>
        </p:txBody>
      </p:sp>
      <p:sp>
        <p:nvSpPr>
          <p:cNvPr id="991" name="" descr="{&quot;isTemplate&quot;:true,&quot;type&quot;:&quot;text&quot;}"/>
          <p:cNvSpPr txBox="1"/>
          <p:nvPr/>
        </p:nvSpPr>
        <p:spPr>
          <a:xfrm rot="0" flipH="0" flipV="0">
            <a:off x="7562850" y="2653312"/>
            <a:ext cx="1428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E3F8C"/>
                </a:solidFill>
                <a:latin typeface="Source Han Sans SC"/>
                <a:ea typeface="Source Han Sans SC"/>
              </a:rPr>
              <a:t>数据处理基础（今天）</a:t>
            </a:r>
            <a:endParaRPr/>
          </a:p>
        </p:txBody>
      </p:sp>
      <p:sp>
        <p:nvSpPr>
          <p:cNvPr id="992" name=""/>
          <p:cNvSpPr/>
          <p:nvPr/>
        </p:nvSpPr>
        <p:spPr>
          <a:xfrm rot="0" flipH="0" flipV="0">
            <a:off x="9105900" y="2653312"/>
            <a:ext cx="476250" cy="180975"/>
          </a:xfrm>
          <a:prstGeom prst="roundRect">
            <a:avLst>
              <a:gd name="adj" fmla="val 52632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93" name="" descr="{&quot;isTemplate&quot;:true,&quot;type&quot;:&quot;text&quot;}"/>
          <p:cNvSpPr txBox="1"/>
          <p:nvPr/>
        </p:nvSpPr>
        <p:spPr>
          <a:xfrm rot="0" flipH="0" flipV="0">
            <a:off x="9201150" y="2672362"/>
            <a:ext cx="285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Source Han Sans SC"/>
                <a:ea typeface="Source Han Sans SC"/>
              </a:rPr>
              <a:t>NOW</a:t>
            </a:r>
            <a:endParaRPr/>
          </a:p>
        </p:txBody>
      </p:sp>
      <p:sp>
        <p:nvSpPr>
          <p:cNvPr id="994" name=""/>
          <p:cNvSpPr/>
          <p:nvPr/>
        </p:nvSpPr>
        <p:spPr>
          <a:xfrm rot="0" flipH="0" flipV="0">
            <a:off x="7029450" y="2977162"/>
            <a:ext cx="419100" cy="285750"/>
          </a:xfrm>
          <a:prstGeom prst="roundRect">
            <a:avLst>
              <a:gd name="adj" fmla="val 2666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995" name="" descr="{&quot;isTemplate&quot;:true,&quot;type&quot;:&quot;text&quot;}"/>
          <p:cNvSpPr txBox="1"/>
          <p:nvPr/>
        </p:nvSpPr>
        <p:spPr>
          <a:xfrm rot="0" flipH="0" flipV="0">
            <a:off x="7143750" y="3043837"/>
            <a:ext cx="200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Source Han Sans SC"/>
                <a:ea typeface="Source Han Sans SC"/>
              </a:rPr>
              <a:t>W3</a:t>
            </a:r>
            <a:endParaRPr/>
          </a:p>
        </p:txBody>
      </p:sp>
      <p:sp>
        <p:nvSpPr>
          <p:cNvPr id="996" name="" descr="{&quot;isTemplate&quot;:true,&quot;type&quot;:&quot;text&quot;}"/>
          <p:cNvSpPr txBox="1"/>
          <p:nvPr/>
        </p:nvSpPr>
        <p:spPr>
          <a:xfrm rot="0" flipH="0" flipV="0">
            <a:off x="7562850" y="3034312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机器学习与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 scikit-learn</a:t>
            </a:r>
            <a:endParaRPr/>
          </a:p>
        </p:txBody>
      </p:sp>
      <p:sp>
        <p:nvSpPr>
          <p:cNvPr id="997" name=""/>
          <p:cNvSpPr/>
          <p:nvPr/>
        </p:nvSpPr>
        <p:spPr>
          <a:xfrm rot="0" flipH="0" flipV="0">
            <a:off x="7029450" y="3358162"/>
            <a:ext cx="419100" cy="285750"/>
          </a:xfrm>
          <a:prstGeom prst="roundRect">
            <a:avLst>
              <a:gd name="adj" fmla="val 2666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998" name="" descr="{&quot;isTemplate&quot;:true,&quot;type&quot;:&quot;text&quot;}"/>
          <p:cNvSpPr txBox="1"/>
          <p:nvPr/>
        </p:nvSpPr>
        <p:spPr>
          <a:xfrm rot="0" flipH="0" flipV="0">
            <a:off x="7143750" y="3424837"/>
            <a:ext cx="200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Source Han Sans SC"/>
                <a:ea typeface="Source Han Sans SC"/>
              </a:rPr>
              <a:t>W4</a:t>
            </a:r>
            <a:endParaRPr/>
          </a:p>
        </p:txBody>
      </p:sp>
      <p:sp>
        <p:nvSpPr>
          <p:cNvPr id="999" name="" descr="{&quot;isTemplate&quot;:true,&quot;type&quot;:&quot;text&quot;}"/>
          <p:cNvSpPr txBox="1"/>
          <p:nvPr/>
        </p:nvSpPr>
        <p:spPr>
          <a:xfrm rot="0" flipH="0" flipV="0">
            <a:off x="7562850" y="3415312"/>
            <a:ext cx="1000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模型评估与调优</a:t>
            </a:r>
            <a:endParaRPr/>
          </a:p>
        </p:txBody>
      </p:sp>
      <p:sp>
        <p:nvSpPr>
          <p:cNvPr id="1000" name=""/>
          <p:cNvSpPr/>
          <p:nvPr/>
        </p:nvSpPr>
        <p:spPr>
          <a:xfrm rot="0" flipH="0" flipV="0">
            <a:off x="6819900" y="3967762"/>
            <a:ext cx="4572000" cy="1514475"/>
          </a:xfrm>
          <a:prstGeom prst="roundRect">
            <a:avLst>
              <a:gd name="adj" fmla="val 880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01" name="" descr="{&quot;isTemplate&quot;:true,&quot;type&quot;:&quot;text&quot;}"/>
          <p:cNvSpPr txBox="1"/>
          <p:nvPr/>
        </p:nvSpPr>
        <p:spPr>
          <a:xfrm rot="0" flipH="0" flipV="0">
            <a:off x="7029450" y="4139212"/>
            <a:ext cx="4152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Source Han Sans SC"/>
                <a:ea typeface="Source Han Sans SC"/>
              </a:rPr>
              <a:t>今天三件事</a:t>
            </a:r>
            <a:endParaRPr/>
          </a:p>
        </p:txBody>
      </p:sp>
      <p:sp>
        <p:nvSpPr>
          <p:cNvPr id="1002" name=""/>
          <p:cNvSpPr/>
          <p:nvPr/>
        </p:nvSpPr>
        <p:spPr>
          <a:xfrm rot="0" flipH="0" flipV="0">
            <a:off x="7029450" y="4434487"/>
            <a:ext cx="228600" cy="228600"/>
          </a:xfrm>
          <a:prstGeom prst="roundRect">
            <a:avLst>
              <a:gd name="adj" fmla="val 29167"/>
            </a:avLst>
          </a:prstGeom>
          <a:solidFill>
            <a:srgbClr val="FFFFFF">
              <a:alpha val="18000"/>
            </a:srgbClr>
          </a:solidFill>
          <a:ln/>
        </p:spPr>
        <p:txBody>
          <a:bodyPr/>
          <a:p/>
        </p:txBody>
      </p:sp>
      <p:sp>
        <p:nvSpPr>
          <p:cNvPr id="1003" name="" descr="{&quot;isTemplate&quot;:true,&quot;type&quot;:&quot;text&quot;}"/>
          <p:cNvSpPr txBox="1"/>
          <p:nvPr/>
        </p:nvSpPr>
        <p:spPr>
          <a:xfrm rot="0" flipH="0" flipV="0">
            <a:off x="7115175" y="4472587"/>
            <a:ext cx="571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C107"/>
                </a:solidFill>
                <a:latin typeface="Source Han Sans SC"/>
                <a:ea typeface="Source Han Sans SC"/>
              </a:rPr>
              <a:t>1</a:t>
            </a:r>
            <a:endParaRPr/>
          </a:p>
        </p:txBody>
      </p:sp>
      <p:sp>
        <p:nvSpPr>
          <p:cNvPr id="1004" name="" descr="{&quot;isTemplate&quot;:true,&quot;type&quot;:&quot;text&quot;}"/>
          <p:cNvSpPr txBox="1"/>
          <p:nvPr/>
        </p:nvSpPr>
        <p:spPr>
          <a:xfrm rot="0" flipH="0" flipV="0">
            <a:off x="7353300" y="4463062"/>
            <a:ext cx="2076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会用</a:t>
            </a:r>
            <a:r>
              <a:rPr lang="en-US" sz="1125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 NumPy / Pandas </a:t>
            </a:r>
            <a:r>
              <a:rPr lang="zh-CN" sz="1125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操作数据</a:t>
            </a:r>
            <a:endParaRPr/>
          </a:p>
        </p:txBody>
      </p:sp>
      <p:sp>
        <p:nvSpPr>
          <p:cNvPr id="1005" name=""/>
          <p:cNvSpPr/>
          <p:nvPr/>
        </p:nvSpPr>
        <p:spPr>
          <a:xfrm rot="0" flipH="0" flipV="0">
            <a:off x="7029450" y="4758337"/>
            <a:ext cx="228600" cy="228600"/>
          </a:xfrm>
          <a:prstGeom prst="roundRect">
            <a:avLst>
              <a:gd name="adj" fmla="val 29167"/>
            </a:avLst>
          </a:prstGeom>
          <a:solidFill>
            <a:srgbClr val="FFFFFF">
              <a:alpha val="18000"/>
            </a:srgbClr>
          </a:solidFill>
          <a:ln/>
        </p:spPr>
        <p:txBody>
          <a:bodyPr/>
          <a:p/>
        </p:txBody>
      </p:sp>
      <p:sp>
        <p:nvSpPr>
          <p:cNvPr id="1006" name="" descr="{&quot;isTemplate&quot;:true,&quot;type&quot;:&quot;text&quot;}"/>
          <p:cNvSpPr txBox="1"/>
          <p:nvPr/>
        </p:nvSpPr>
        <p:spPr>
          <a:xfrm rot="0" flipH="0" flipV="0">
            <a:off x="7105650" y="4796437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C107"/>
                </a:solidFill>
                <a:latin typeface="Source Han Sans SC"/>
                <a:ea typeface="Source Han Sans SC"/>
              </a:rPr>
              <a:t>2</a:t>
            </a:r>
            <a:endParaRPr/>
          </a:p>
        </p:txBody>
      </p:sp>
      <p:sp>
        <p:nvSpPr>
          <p:cNvPr id="1007" name="" descr="{&quot;isTemplate&quot;:true,&quot;type&quot;:&quot;text&quot;}"/>
          <p:cNvSpPr txBox="1"/>
          <p:nvPr/>
        </p:nvSpPr>
        <p:spPr>
          <a:xfrm rot="0" flipH="0" flipV="0">
            <a:off x="7353300" y="4786912"/>
            <a:ext cx="1809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会画图、会做</a:t>
            </a:r>
            <a:r>
              <a:rPr lang="en-US" sz="1125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 EDA </a:t>
            </a:r>
            <a:r>
              <a:rPr lang="zh-CN" sz="1125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五步侦察</a:t>
            </a:r>
            <a:endParaRPr/>
          </a:p>
        </p:txBody>
      </p:sp>
      <p:sp>
        <p:nvSpPr>
          <p:cNvPr id="1008" name=""/>
          <p:cNvSpPr/>
          <p:nvPr/>
        </p:nvSpPr>
        <p:spPr>
          <a:xfrm rot="0" flipH="0" flipV="0">
            <a:off x="7029450" y="5082187"/>
            <a:ext cx="228600" cy="228600"/>
          </a:xfrm>
          <a:prstGeom prst="roundRect">
            <a:avLst>
              <a:gd name="adj" fmla="val 29167"/>
            </a:avLst>
          </a:prstGeom>
          <a:solidFill>
            <a:srgbClr val="FFFFFF">
              <a:alpha val="18000"/>
            </a:srgbClr>
          </a:solidFill>
          <a:ln/>
        </p:spPr>
        <p:txBody>
          <a:bodyPr/>
          <a:p/>
        </p:txBody>
      </p:sp>
      <p:sp>
        <p:nvSpPr>
          <p:cNvPr id="1009" name="" descr="{&quot;isTemplate&quot;:true,&quot;type&quot;:&quot;text&quot;}"/>
          <p:cNvSpPr txBox="1"/>
          <p:nvPr/>
        </p:nvSpPr>
        <p:spPr>
          <a:xfrm rot="0" flipH="0" flipV="0">
            <a:off x="7105650" y="5120287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C107"/>
                </a:solidFill>
                <a:latin typeface="Source Han Sans SC"/>
                <a:ea typeface="Source Han Sans SC"/>
              </a:rPr>
              <a:t>3</a:t>
            </a:r>
            <a:endParaRPr/>
          </a:p>
        </p:txBody>
      </p:sp>
      <p:sp>
        <p:nvSpPr>
          <p:cNvPr id="1010" name="" descr="{&quot;isTemplate&quot;:true,&quot;type&quot;:&quot;text&quot;}"/>
          <p:cNvSpPr txBox="1"/>
          <p:nvPr/>
        </p:nvSpPr>
        <p:spPr>
          <a:xfrm rot="0" flipH="0" flipV="0">
            <a:off x="7353300" y="5110762"/>
            <a:ext cx="1571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会清洗缺失、异常与重复</a:t>
            </a:r>
            <a:endParaRPr/>
          </a:p>
        </p:txBody>
      </p:sp>
      <p:sp>
        <p:nvSpPr>
          <p:cNvPr id="1011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1012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04 / 32</a:t>
            </a:r>
            <a:endParaRPr/>
          </a:p>
        </p:txBody>
      </p:sp>
    </p:spTree>
  </p:cSld>
</p:sld>
</file>

<file path=ppt/slides/slide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013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数据的角色与质量 · The Role &amp;amp; Quality of Data&lt;/Text&gt;&#10;    &lt;Text style={{ fontSize: 15, color: 'rgba(255,255,255,0.85)' }}&gt;Module 1 · Week 2&lt;/Text&gt;&#10;  &lt;/Box&gt;&#10;  &lt;Box style={{ position: 'absolute', top: 100, left: 0, width: '100%', height: 540, padding: '6px 84px', flexDirection: 'row', gap: 26 }}&gt;&#10;    &lt;Box style={{ flex: 1, gap: 14, justifyContent: 'center' }}&gt;&#10;      &lt;Text style={{ fontSize: 18, color: '#8B97A8', fontWeight: '600', marginBottom: 2 }}&gt;模型从数据中学到一切 · Models learn everything from data&lt;/Text&gt;&#10;      &lt;Box style={{ background: '#F7F9FC', border: '1px solid #E5E7EB', borderLeft: '5px solid #1E4FA8', borderRadius: 10, padding: '16px 20px' }}&gt;&#10;        &lt;Text style={{ fontSize: 17, color: '#1A2230', lineHeight: 1.65 }}&gt;&#10;          没有&lt;span style={{ fontWeight: 'bold', color: '#0E3F8C' }}&gt;好数据&lt;/span&gt;，再先进的算法也只能学到&lt;span style={{ fontWeight: 'bold', color: '#0E3F8C' }}&gt;偏差与噪声&lt;/span&gt;。&#10;          数据决定了模型能力的&lt;span style={{ fontWeight: 'bold', color: '#0E3F8C' }}&gt;上限&lt;/span&gt;，算法只是逼近这个上限。&#10;        &lt;/Text&gt;&#10;        &lt;Text style={{ fontSize: 13.5, color: '#8B97A8', marginTop: 8 }}&gt;Data sets the ceiling; algorithms only approach it.&lt;/Text&gt;&#10;      &lt;/Box&gt;&#10;      &lt;Box style={{ background: '#F0F5FC', border: '1px solid #D6DCE5', borderRadius: 10, padding: '14px 20px' }}&gt;&#10;        &lt;Text style={{ fontSize: 15, color: '#1A2230', lineHeight: 1.6 }}&gt;&#10;          &lt;span style={{ fontWeight: 'bold', color: '#1E4FA8' }}&gt;AI 项目的数据工作流：&lt;/span&gt;&#10;          原始数据 &lt;FAIcon name='arrow-right' style={{ fill: '#8B97A8', width: 13, height: 13 }} /&gt; 清洗 &lt;FAIcon name='arrow-right' style={{ fill: '#8B97A8', width: 13, height: 13 }} /&gt; 特征 &lt;FAIcon name='arrow-right' style={{ fill: '#8B97A8', width: 13, height: 13 }} /&gt; 训练 &lt;FAIcon name='arrow-right' style={{ fill: '#8B97A8', width: 13, height: 13 }} /&gt; 评估 &lt;FAIcon name='arrow-right' style={{ fill: '#8B97A8', width: 13, height: 13 }} /&gt; 部署——每一步都可能引入缺陷。&#10;        &lt;/Text&gt;&#10;      &lt;/Box&gt;&#10;      &lt;Box style={{ borderLeft: '4px solid #0E3F8C', paddingLeft: 14 }}&gt;&#10;        &lt;Text style={{ fontSize: 15.5, color: '#1A2230', lineHeight: 1.6 }}&gt;&#10;          &lt;span style={{ fontWeight: 'bold', color: '#0E3F8C' }}&gt;判断：&lt;/span&gt;数据缺陷不会消失，只会被模型&lt;span style={{ fontWeight: 'bold', color: '#0E3F8C' }}&gt;放大并固化&lt;/span&gt;到预测结果里。&#10;        &lt;/Text&gt;&#10;      &lt;/Box&gt;&#10;    &lt;/Box&gt;&#10;    &lt;Box style={{ flex: 1.1, justifyContent: 'center' }}&gt;&#10;      &lt;Text style={{ fontSize: 19, color: '#0E3F8C', fontWeight: 'bold', marginBottom: 12 }}&gt;数据质量六维度 · 6 Dimensions&lt;/Text&gt;&#10;      &lt;Box style={{ flexDirection: 'row', flexWrap: 'wrap', gap: 12 }}&gt;&#10;        {[&#10;          { i: 'bullseye', t: '准确性', e: 'Accuracy', d: '值与真实世界一致', c: '#1E4FA8' },&#10;          { i: 'puzzle-piece', t: '完整性', e: 'Completeness', d: '无系统性缺失', c: '#3D7BD9' },&#10;          { i: 'equals', t: '一致性', e: 'Consistency', d: '跨源口径统一', c: '#1E4FA8' },&#10;          { i: 'clock', t: '时效性', e: 'Timeliness', d: '反映当前状态', c: '#0E3F8C' },&#10;          { i: 'link', t: '相关性', e: 'Relevance', d: '特征与目标有关', c: '#3D7BD9' },&#10;          { i: 'database', t: '代表性量', e: 'Volume &amp; Bias', d: '数量够、分布无偏', c: '#1E4FA8' },&#10;        ].map((d, i) =&gt; (&#10;          &lt;Box key={i} style={{ width: '47%', background: '#F7F9FC', border: '1px solid #E5E7EB', borderRadius: 10, padding: '13px 15px' }}&gt;&#10;            &lt;Box style={{ flexDirection: 'row', alignItems: 'center', gap: 10 }}&gt;&#10;              &lt;Box style={{ width: 34, height: 34, borderRadius: 9, background: '#E8EFF8', justifyContent: 'center', alignItems: 'center', flexShrink: 0 }}&gt;&#10;                &lt;FAIcon name={d.i} style={{ fill: d.c, width: 17, height: 17 }} /&gt;&#10;              &lt;/Box&gt;&#10;              &lt;Box&gt;&#10;                &lt;Text style={{ fontSize: 17, color: '#1A2230', fontWeight: 'bold' }}&gt;{d.t}&lt;/Text&gt;&#10;                &lt;Text style={{ fontSize: 12.5, color: '#8B97A8' }}&gt;{d.e}&lt;/Text&gt;&#10;              &lt;/Box&gt;&#10;            &lt;/Box&gt;&#10;            &lt;Text style={{ fontSize: 13.5, color: '#4A5568', marginTop: 8 }}&gt;{d.d}&lt;/Text&gt;&#10;          &lt;/Box&gt;&#10;        ))}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05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15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16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46196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数据的角色与质量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The Role &amp; Quality of Data</a:t>
            </a:r>
            <a:endParaRPr/>
          </a:p>
        </p:txBody>
      </p:sp>
      <p:sp>
        <p:nvSpPr>
          <p:cNvPr id="1017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1018" name="" descr="{&quot;isTemplate&quot;:true,&quot;type&quot;:&quot;text&quot;}"/>
          <p:cNvSpPr txBox="1"/>
          <p:nvPr/>
        </p:nvSpPr>
        <p:spPr>
          <a:xfrm rot="0" flipH="0" flipV="0">
            <a:off x="800100" y="2066925"/>
            <a:ext cx="49244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8B97A8"/>
                </a:solidFill>
                <a:latin typeface="Source Han Sans SC"/>
                <a:ea typeface="Source Han Sans SC"/>
              </a:rPr>
              <a:t>模型从数据中学到一切</a:t>
            </a:r>
            <a:r>
              <a:rPr lang="en-US" sz="1350" b="1">
                <a:solidFill>
                  <a:srgbClr val="8B97A8"/>
                </a:solidFill>
                <a:latin typeface="Source Han Sans SC"/>
                <a:ea typeface="Source Han Sans SC"/>
              </a:rPr>
              <a:t> · Models learn everything from data</a:t>
            </a:r>
            <a:endParaRPr/>
          </a:p>
        </p:txBody>
      </p:sp>
      <p:sp>
        <p:nvSpPr>
          <p:cNvPr id="1019" name=""/>
          <p:cNvSpPr/>
          <p:nvPr/>
        </p:nvSpPr>
        <p:spPr>
          <a:xfrm rot="0" flipH="0" flipV="0">
            <a:off x="847725" y="2428875"/>
            <a:ext cx="4924425" cy="1190625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20" name=""/>
          <p:cNvSpPr/>
          <p:nvPr/>
        </p:nvSpPr>
        <p:spPr>
          <a:xfrm rot="0" flipH="0" flipV="0">
            <a:off x="847725" y="2428875"/>
            <a:ext cx="4924425" cy="1190625"/>
          </a:xfrm>
          <a:custGeom>
            <a:pathLst>
              <a:path w="517" h="125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120"/>
                </a:lnTo>
                <a:cubicBezTo>
                  <a:pt x="5" y="122"/>
                  <a:pt x="7" y="124"/>
                  <a:pt x="9" y="125"/>
                </a:cubicBezTo>
                <a:cubicBezTo>
                  <a:pt x="4" y="124"/>
                  <a:pt x="0" y="120"/>
                  <a:pt x="0" y="11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21" name="" descr="{&quot;isTemplate&quot;:true,&quot;type&quot;:&quot;text&quot;}"/>
          <p:cNvSpPr txBox="1"/>
          <p:nvPr/>
        </p:nvSpPr>
        <p:spPr>
          <a:xfrm rot="0" flipH="0" flipV="0">
            <a:off x="1038225" y="2581275"/>
            <a:ext cx="4495800" cy="6477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275">
                <a:solidFill>
                  <a:srgbClr val="1A2230"/>
                </a:solidFill>
                <a:latin typeface="Source Han Sans SC"/>
                <a:ea typeface="Source Han Sans SC"/>
              </a:rPr>
              <a:t>没有</a:t>
            </a:r>
            <a:r>
              <a:rPr lang="zh-CN" sz="1275" b="1">
                <a:solidFill>
                  <a:srgbClr val="0E3F8C"/>
                </a:solidFill>
                <a:latin typeface="Source Han Sans SC"/>
                <a:ea typeface="Source Han Sans SC"/>
              </a:rPr>
              <a:t>好数据</a:t>
            </a:r>
            <a:r>
              <a:rPr lang="zh-CN" sz="1275">
                <a:solidFill>
                  <a:srgbClr val="1A2230"/>
                </a:solidFill>
                <a:latin typeface="Source Han Sans SC"/>
                <a:ea typeface="Source Han Sans SC"/>
              </a:rPr>
              <a:t>，再先进的算法也只能学到</a:t>
            </a:r>
            <a:r>
              <a:rPr lang="zh-CN" sz="1275" b="1">
                <a:solidFill>
                  <a:srgbClr val="0E3F8C"/>
                </a:solidFill>
                <a:latin typeface="Source Han Sans SC"/>
                <a:ea typeface="Source Han Sans SC"/>
              </a:rPr>
              <a:t>偏差与噪声</a:t>
            </a:r>
            <a:r>
              <a:rPr lang="zh-CN" sz="1275">
                <a:solidFill>
                  <a:srgbClr val="1A2230"/>
                </a:solidFill>
                <a:latin typeface="Source Han Sans SC"/>
                <a:ea typeface="Source Han Sans SC"/>
              </a:rPr>
              <a:t>。</a:t>
            </a:r>
            <a:r>
              <a:rPr lang="en-US" sz="1275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zh-CN" sz="1275">
                <a:solidFill>
                  <a:srgbClr val="1A2230"/>
                </a:solidFill>
                <a:latin typeface="Source Han Sans SC"/>
                <a:ea typeface="Source Han Sans SC"/>
              </a:rPr>
              <a:t>数据决定了模型能力的</a:t>
            </a:r>
            <a:r>
              <a:rPr lang="zh-CN" sz="1275" b="1">
                <a:solidFill>
                  <a:srgbClr val="0E3F8C"/>
                </a:solidFill>
                <a:latin typeface="Source Han Sans SC"/>
                <a:ea typeface="Source Han Sans SC"/>
              </a:rPr>
              <a:t>上限</a:t>
            </a:r>
            <a:r>
              <a:rPr lang="zh-CN" sz="1275">
                <a:solidFill>
                  <a:srgbClr val="1A2230"/>
                </a:solidFill>
                <a:latin typeface="Source Han Sans SC"/>
                <a:ea typeface="Source Han Sans SC"/>
              </a:rPr>
              <a:t>，算法只是逼近这个上限。</a:t>
            </a:r>
            <a:endParaRPr/>
          </a:p>
        </p:txBody>
      </p:sp>
      <p:sp>
        <p:nvSpPr>
          <p:cNvPr id="1022" name="" descr="{&quot;isTemplate&quot;:true,&quot;type&quot;:&quot;text&quot;}"/>
          <p:cNvSpPr txBox="1"/>
          <p:nvPr/>
        </p:nvSpPr>
        <p:spPr>
          <a:xfrm rot="0" flipH="0" flipV="0">
            <a:off x="1038225" y="3305175"/>
            <a:ext cx="4495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8B97A8"/>
                </a:solidFill>
                <a:latin typeface="Source Han Sans SC"/>
                <a:ea typeface="Source Han Sans SC"/>
              </a:rPr>
              <a:t>Data sets the ceiling; algorithms only approach it.</a:t>
            </a:r>
            <a:endParaRPr/>
          </a:p>
        </p:txBody>
      </p:sp>
      <p:sp>
        <p:nvSpPr>
          <p:cNvPr id="1023" name=""/>
          <p:cNvSpPr/>
          <p:nvPr/>
        </p:nvSpPr>
        <p:spPr>
          <a:xfrm rot="0" flipH="0" flipV="0">
            <a:off x="800100" y="3752850"/>
            <a:ext cx="4924425" cy="819150"/>
          </a:xfrm>
          <a:prstGeom prst="roundRect">
            <a:avLst>
              <a:gd name="adj" fmla="val 1162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024" name="" descr="{&quot;isTemplate&quot;:true,&quot;type&quot;:&quot;text&quot;}"/>
          <p:cNvSpPr txBox="1"/>
          <p:nvPr/>
        </p:nvSpPr>
        <p:spPr>
          <a:xfrm rot="0" flipH="0" flipV="0">
            <a:off x="990600" y="3886200"/>
            <a:ext cx="45434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 b="1">
                <a:solidFill>
                  <a:srgbClr val="1E4FA8"/>
                </a:solidFill>
                <a:latin typeface="Source Han Sans SC"/>
                <a:ea typeface="Source Han Sans SC"/>
              </a:rPr>
              <a:t>AI </a:t>
            </a:r>
            <a:r>
              <a:rPr lang="zh-CN" sz="1125" b="1">
                <a:solidFill>
                  <a:srgbClr val="1E4FA8"/>
                </a:solidFill>
                <a:latin typeface="Source Han Sans SC"/>
                <a:ea typeface="Source Han Sans SC"/>
              </a:rPr>
              <a:t>项目的数据工作流：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原始数据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清洗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特征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训练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评估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部署——每一步都可能引入缺陷。</a:t>
            </a:r>
            <a:endParaRPr/>
          </a:p>
        </p:txBody>
      </p:sp>
      <p:sp>
        <p:nvSpPr>
          <p:cNvPr id="1025" name=""/>
          <p:cNvSpPr/>
          <p:nvPr/>
        </p:nvSpPr>
        <p:spPr>
          <a:xfrm rot="0" flipH="0" flipV="0">
            <a:off x="800100" y="4705350"/>
            <a:ext cx="4962525" cy="285750"/>
          </a:xfrm>
          <a:custGeom>
            <a:pathLst>
              <a:path w="521" h="30">
                <a:moveTo>
                  <a:pt x="0" y="0"/>
                </a:moveTo>
                <a:lnTo>
                  <a:pt x="4" y="0"/>
                </a:lnTo>
                <a:lnTo>
                  <a:pt x="4" y="30"/>
                </a:lnTo>
                <a:lnTo>
                  <a:pt x="0" y="3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26" name="" descr="{&quot;isTemplate&quot;:true,&quot;type&quot;:&quot;text&quot;}"/>
          <p:cNvSpPr txBox="1"/>
          <p:nvPr/>
        </p:nvSpPr>
        <p:spPr>
          <a:xfrm rot="0" flipH="0" flipV="0">
            <a:off x="971550" y="4705350"/>
            <a:ext cx="4752975" cy="2857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63" b="1">
                <a:solidFill>
                  <a:srgbClr val="0E3F8C"/>
                </a:solidFill>
                <a:latin typeface="Source Han Sans SC"/>
                <a:ea typeface="Source Han Sans SC"/>
              </a:rPr>
              <a:t>判断：</a:t>
            </a:r>
            <a:r>
              <a:rPr lang="zh-CN" sz="1163">
                <a:solidFill>
                  <a:srgbClr val="1A2230"/>
                </a:solidFill>
                <a:latin typeface="Source Han Sans SC"/>
                <a:ea typeface="Source Han Sans SC"/>
              </a:rPr>
              <a:t>数据缺陷不会消失，只会被模型</a:t>
            </a:r>
            <a:r>
              <a:rPr lang="zh-CN" sz="1163" b="1">
                <a:solidFill>
                  <a:srgbClr val="0E3F8C"/>
                </a:solidFill>
                <a:latin typeface="Source Han Sans SC"/>
                <a:ea typeface="Source Han Sans SC"/>
              </a:rPr>
              <a:t>放大并固化</a:t>
            </a:r>
            <a:r>
              <a:rPr lang="zh-CN" sz="1163">
                <a:solidFill>
                  <a:srgbClr val="1A2230"/>
                </a:solidFill>
                <a:latin typeface="Source Han Sans SC"/>
                <a:ea typeface="Source Han Sans SC"/>
              </a:rPr>
              <a:t>到预测结果里。</a:t>
            </a:r>
            <a:endParaRPr/>
          </a:p>
        </p:txBody>
      </p:sp>
      <p:sp>
        <p:nvSpPr>
          <p:cNvPr id="1027" name="" descr="{&quot;isTemplate&quot;:true,&quot;type&quot;:&quot;text&quot;}"/>
          <p:cNvSpPr txBox="1"/>
          <p:nvPr/>
        </p:nvSpPr>
        <p:spPr>
          <a:xfrm rot="0" flipH="0" flipV="0">
            <a:off x="5972175" y="2000250"/>
            <a:ext cx="54197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Source Han Sans SC"/>
                <a:ea typeface="Source Han Sans SC"/>
              </a:rPr>
              <a:t>数据质量六维度</a:t>
            </a:r>
            <a:r>
              <a:rPr lang="en-US" sz="1425" b="1">
                <a:solidFill>
                  <a:srgbClr val="0E3F8C"/>
                </a:solidFill>
                <a:latin typeface="Source Han Sans SC"/>
                <a:ea typeface="Source Han Sans SC"/>
              </a:rPr>
              <a:t> · 6 Dimensions</a:t>
            </a:r>
            <a:endParaRPr/>
          </a:p>
        </p:txBody>
      </p:sp>
      <p:sp>
        <p:nvSpPr>
          <p:cNvPr id="1028" name=""/>
          <p:cNvSpPr/>
          <p:nvPr/>
        </p:nvSpPr>
        <p:spPr>
          <a:xfrm rot="0" flipH="0" flipV="0">
            <a:off x="5972175" y="2333625"/>
            <a:ext cx="2543175" cy="828675"/>
          </a:xfrm>
          <a:prstGeom prst="roundRect">
            <a:avLst>
              <a:gd name="adj" fmla="val 1149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29" name=""/>
          <p:cNvSpPr/>
          <p:nvPr/>
        </p:nvSpPr>
        <p:spPr>
          <a:xfrm rot="0" flipH="0" flipV="0">
            <a:off x="6115050" y="2466975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3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200775" y="2552700"/>
            <a:ext cx="161925" cy="161925"/>
          </a:xfrm>
          <a:prstGeom prst="rect">
            <a:avLst/>
          </a:prstGeom>
          <a:ln/>
        </p:spPr>
      </p:pic>
      <p:sp>
        <p:nvSpPr>
          <p:cNvPr id="1031" name="" descr="{&quot;isTemplate&quot;:true,&quot;type&quot;:&quot;text&quot;}"/>
          <p:cNvSpPr txBox="1"/>
          <p:nvPr/>
        </p:nvSpPr>
        <p:spPr>
          <a:xfrm rot="0" flipH="0" flipV="0">
            <a:off x="6534150" y="2457450"/>
            <a:ext cx="5143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准确性</a:t>
            </a:r>
            <a:endParaRPr/>
          </a:p>
        </p:txBody>
      </p:sp>
      <p:sp>
        <p:nvSpPr>
          <p:cNvPr id="1032" name="" descr="{&quot;isTemplate&quot;:true,&quot;type&quot;:&quot;text&quot;}"/>
          <p:cNvSpPr txBox="1"/>
          <p:nvPr/>
        </p:nvSpPr>
        <p:spPr>
          <a:xfrm rot="0" flipH="0" flipV="0">
            <a:off x="6534150" y="2657475"/>
            <a:ext cx="5143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Accuracy</a:t>
            </a:r>
            <a:endParaRPr/>
          </a:p>
        </p:txBody>
      </p:sp>
      <p:sp>
        <p:nvSpPr>
          <p:cNvPr id="1033" name="" descr="{&quot;isTemplate&quot;:true,&quot;type&quot;:&quot;text&quot;}"/>
          <p:cNvSpPr txBox="1"/>
          <p:nvPr/>
        </p:nvSpPr>
        <p:spPr>
          <a:xfrm rot="0" flipH="0" flipV="0">
            <a:off x="6115050" y="2876550"/>
            <a:ext cx="22574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值与真实世界一致</a:t>
            </a:r>
            <a:endParaRPr/>
          </a:p>
        </p:txBody>
      </p:sp>
      <p:sp>
        <p:nvSpPr>
          <p:cNvPr id="1034" name=""/>
          <p:cNvSpPr/>
          <p:nvPr/>
        </p:nvSpPr>
        <p:spPr>
          <a:xfrm rot="0" flipH="0" flipV="0">
            <a:off x="8629650" y="2333625"/>
            <a:ext cx="2552700" cy="828675"/>
          </a:xfrm>
          <a:prstGeom prst="roundRect">
            <a:avLst>
              <a:gd name="adj" fmla="val 1149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35" name=""/>
          <p:cNvSpPr/>
          <p:nvPr/>
        </p:nvSpPr>
        <p:spPr>
          <a:xfrm rot="0" flipH="0" flipV="0">
            <a:off x="8772525" y="2466975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3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858250" y="2552700"/>
            <a:ext cx="161925" cy="161925"/>
          </a:xfrm>
          <a:prstGeom prst="rect">
            <a:avLst/>
          </a:prstGeom>
          <a:ln/>
        </p:spPr>
      </p:pic>
      <p:sp>
        <p:nvSpPr>
          <p:cNvPr id="1037" name="" descr="{&quot;isTemplate&quot;:true,&quot;type&quot;:&quot;text&quot;}"/>
          <p:cNvSpPr txBox="1"/>
          <p:nvPr/>
        </p:nvSpPr>
        <p:spPr>
          <a:xfrm rot="0" flipH="0" flipV="0">
            <a:off x="9191625" y="2457450"/>
            <a:ext cx="7905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完整性</a:t>
            </a:r>
            <a:endParaRPr/>
          </a:p>
        </p:txBody>
      </p:sp>
      <p:sp>
        <p:nvSpPr>
          <p:cNvPr id="1038" name="" descr="{&quot;isTemplate&quot;:true,&quot;type&quot;:&quot;text&quot;}"/>
          <p:cNvSpPr txBox="1"/>
          <p:nvPr/>
        </p:nvSpPr>
        <p:spPr>
          <a:xfrm rot="0" flipH="0" flipV="0">
            <a:off x="9191625" y="2657475"/>
            <a:ext cx="790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Completeness</a:t>
            </a:r>
            <a:endParaRPr/>
          </a:p>
        </p:txBody>
      </p:sp>
      <p:sp>
        <p:nvSpPr>
          <p:cNvPr id="1039" name="" descr="{&quot;isTemplate&quot;:true,&quot;type&quot;:&quot;text&quot;}"/>
          <p:cNvSpPr txBox="1"/>
          <p:nvPr/>
        </p:nvSpPr>
        <p:spPr>
          <a:xfrm rot="0" flipH="0" flipV="0">
            <a:off x="8772525" y="2876550"/>
            <a:ext cx="2266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无系统性缺失</a:t>
            </a:r>
            <a:endParaRPr/>
          </a:p>
        </p:txBody>
      </p:sp>
      <p:sp>
        <p:nvSpPr>
          <p:cNvPr id="1040" name=""/>
          <p:cNvSpPr/>
          <p:nvPr/>
        </p:nvSpPr>
        <p:spPr>
          <a:xfrm rot="0" flipH="0" flipV="0">
            <a:off x="5972175" y="3276600"/>
            <a:ext cx="2543175" cy="828675"/>
          </a:xfrm>
          <a:prstGeom prst="roundRect">
            <a:avLst>
              <a:gd name="adj" fmla="val 1149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41" name=""/>
          <p:cNvSpPr/>
          <p:nvPr/>
        </p:nvSpPr>
        <p:spPr>
          <a:xfrm rot="0" flipH="0" flipV="0">
            <a:off x="6115050" y="3409950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4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200775" y="3495675"/>
            <a:ext cx="161925" cy="161925"/>
          </a:xfrm>
          <a:prstGeom prst="rect">
            <a:avLst/>
          </a:prstGeom>
          <a:ln/>
        </p:spPr>
      </p:pic>
      <p:sp>
        <p:nvSpPr>
          <p:cNvPr id="1043" name="" descr="{&quot;isTemplate&quot;:true,&quot;type&quot;:&quot;text&quot;}"/>
          <p:cNvSpPr txBox="1"/>
          <p:nvPr/>
        </p:nvSpPr>
        <p:spPr>
          <a:xfrm rot="0" flipH="0" flipV="0">
            <a:off x="6534150" y="3400425"/>
            <a:ext cx="676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一致性</a:t>
            </a:r>
            <a:endParaRPr/>
          </a:p>
        </p:txBody>
      </p:sp>
      <p:sp>
        <p:nvSpPr>
          <p:cNvPr id="1044" name="" descr="{&quot;isTemplate&quot;:true,&quot;type&quot;:&quot;text&quot;}"/>
          <p:cNvSpPr txBox="1"/>
          <p:nvPr/>
        </p:nvSpPr>
        <p:spPr>
          <a:xfrm rot="0" flipH="0" flipV="0">
            <a:off x="6534150" y="3600450"/>
            <a:ext cx="676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Consistency</a:t>
            </a:r>
            <a:endParaRPr/>
          </a:p>
        </p:txBody>
      </p:sp>
      <p:sp>
        <p:nvSpPr>
          <p:cNvPr id="1045" name="" descr="{&quot;isTemplate&quot;:true,&quot;type&quot;:&quot;text&quot;}"/>
          <p:cNvSpPr txBox="1"/>
          <p:nvPr/>
        </p:nvSpPr>
        <p:spPr>
          <a:xfrm rot="0" flipH="0" flipV="0">
            <a:off x="6115050" y="3819525"/>
            <a:ext cx="22574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跨源口径统一</a:t>
            </a:r>
            <a:endParaRPr/>
          </a:p>
        </p:txBody>
      </p:sp>
      <p:sp>
        <p:nvSpPr>
          <p:cNvPr id="1046" name=""/>
          <p:cNvSpPr/>
          <p:nvPr/>
        </p:nvSpPr>
        <p:spPr>
          <a:xfrm rot="0" flipH="0" flipV="0">
            <a:off x="8629650" y="3276600"/>
            <a:ext cx="2552700" cy="828675"/>
          </a:xfrm>
          <a:prstGeom prst="roundRect">
            <a:avLst>
              <a:gd name="adj" fmla="val 1149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47" name=""/>
          <p:cNvSpPr/>
          <p:nvPr/>
        </p:nvSpPr>
        <p:spPr>
          <a:xfrm rot="0" flipH="0" flipV="0">
            <a:off x="8772525" y="3409950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8858250" y="3495675"/>
            <a:ext cx="161925" cy="161925"/>
          </a:xfrm>
          <a:prstGeom prst="rect">
            <a:avLst/>
          </a:prstGeom>
          <a:ln/>
        </p:spPr>
      </p:pic>
      <p:sp>
        <p:nvSpPr>
          <p:cNvPr id="1049" name="" descr="{&quot;isTemplate&quot;:true,&quot;type&quot;:&quot;text&quot;}"/>
          <p:cNvSpPr txBox="1"/>
          <p:nvPr/>
        </p:nvSpPr>
        <p:spPr>
          <a:xfrm rot="0" flipH="0" flipV="0">
            <a:off x="9191625" y="3400425"/>
            <a:ext cx="5905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时效性</a:t>
            </a:r>
            <a:endParaRPr/>
          </a:p>
        </p:txBody>
      </p:sp>
      <p:sp>
        <p:nvSpPr>
          <p:cNvPr id="1050" name="" descr="{&quot;isTemplate&quot;:true,&quot;type&quot;:&quot;text&quot;}"/>
          <p:cNvSpPr txBox="1"/>
          <p:nvPr/>
        </p:nvSpPr>
        <p:spPr>
          <a:xfrm rot="0" flipH="0" flipV="0">
            <a:off x="9191625" y="3600450"/>
            <a:ext cx="5905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Timeliness</a:t>
            </a:r>
            <a:endParaRPr/>
          </a:p>
        </p:txBody>
      </p:sp>
      <p:sp>
        <p:nvSpPr>
          <p:cNvPr id="1051" name="" descr="{&quot;isTemplate&quot;:true,&quot;type&quot;:&quot;text&quot;}"/>
          <p:cNvSpPr txBox="1"/>
          <p:nvPr/>
        </p:nvSpPr>
        <p:spPr>
          <a:xfrm rot="0" flipH="0" flipV="0">
            <a:off x="8772525" y="3819525"/>
            <a:ext cx="2266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反映当前状态</a:t>
            </a:r>
            <a:endParaRPr/>
          </a:p>
        </p:txBody>
      </p:sp>
      <p:sp>
        <p:nvSpPr>
          <p:cNvPr id="1052" name=""/>
          <p:cNvSpPr/>
          <p:nvPr/>
        </p:nvSpPr>
        <p:spPr>
          <a:xfrm rot="0" flipH="0" flipV="0">
            <a:off x="5972175" y="4219575"/>
            <a:ext cx="2543175" cy="828675"/>
          </a:xfrm>
          <a:prstGeom prst="roundRect">
            <a:avLst>
              <a:gd name="adj" fmla="val 1149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53" name=""/>
          <p:cNvSpPr/>
          <p:nvPr/>
        </p:nvSpPr>
        <p:spPr>
          <a:xfrm rot="0" flipH="0" flipV="0">
            <a:off x="6115050" y="4352925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6200775" y="4438650"/>
            <a:ext cx="161925" cy="161925"/>
          </a:xfrm>
          <a:prstGeom prst="rect">
            <a:avLst/>
          </a:prstGeom>
          <a:ln/>
        </p:spPr>
      </p:pic>
      <p:sp>
        <p:nvSpPr>
          <p:cNvPr id="1055" name="" descr="{&quot;isTemplate&quot;:true,&quot;type&quot;:&quot;text&quot;}"/>
          <p:cNvSpPr txBox="1"/>
          <p:nvPr/>
        </p:nvSpPr>
        <p:spPr>
          <a:xfrm rot="0" flipH="0" flipV="0">
            <a:off x="6534150" y="4343400"/>
            <a:ext cx="571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相关性</a:t>
            </a:r>
            <a:endParaRPr/>
          </a:p>
        </p:txBody>
      </p:sp>
      <p:sp>
        <p:nvSpPr>
          <p:cNvPr id="1056" name="" descr="{&quot;isTemplate&quot;:true,&quot;type&quot;:&quot;text&quot;}"/>
          <p:cNvSpPr txBox="1"/>
          <p:nvPr/>
        </p:nvSpPr>
        <p:spPr>
          <a:xfrm rot="0" flipH="0" flipV="0">
            <a:off x="6534150" y="4543425"/>
            <a:ext cx="571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Relevance</a:t>
            </a:r>
            <a:endParaRPr/>
          </a:p>
        </p:txBody>
      </p:sp>
      <p:sp>
        <p:nvSpPr>
          <p:cNvPr id="1057" name="" descr="{&quot;isTemplate&quot;:true,&quot;type&quot;:&quot;text&quot;}"/>
          <p:cNvSpPr txBox="1"/>
          <p:nvPr/>
        </p:nvSpPr>
        <p:spPr>
          <a:xfrm rot="0" flipH="0" flipV="0">
            <a:off x="6115050" y="4762500"/>
            <a:ext cx="22574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特征与目标有关</a:t>
            </a:r>
            <a:endParaRPr/>
          </a:p>
        </p:txBody>
      </p:sp>
      <p:sp>
        <p:nvSpPr>
          <p:cNvPr id="1058" name=""/>
          <p:cNvSpPr/>
          <p:nvPr/>
        </p:nvSpPr>
        <p:spPr>
          <a:xfrm rot="0" flipH="0" flipV="0">
            <a:off x="8629650" y="4219575"/>
            <a:ext cx="2552700" cy="828675"/>
          </a:xfrm>
          <a:prstGeom prst="roundRect">
            <a:avLst>
              <a:gd name="adj" fmla="val 1149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59" name=""/>
          <p:cNvSpPr/>
          <p:nvPr/>
        </p:nvSpPr>
        <p:spPr>
          <a:xfrm rot="0" flipH="0" flipV="0">
            <a:off x="8772525" y="4352925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6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8858250" y="4438650"/>
            <a:ext cx="161925" cy="161925"/>
          </a:xfrm>
          <a:prstGeom prst="rect">
            <a:avLst/>
          </a:prstGeom>
          <a:ln/>
        </p:spPr>
      </p:pic>
      <p:sp>
        <p:nvSpPr>
          <p:cNvPr id="1061" name="" descr="{&quot;isTemplate&quot;:true,&quot;type&quot;:&quot;text&quot;}"/>
          <p:cNvSpPr txBox="1"/>
          <p:nvPr/>
        </p:nvSpPr>
        <p:spPr>
          <a:xfrm rot="0" flipH="0" flipV="0">
            <a:off x="9191625" y="4343400"/>
            <a:ext cx="8191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代表性量</a:t>
            </a:r>
            <a:endParaRPr/>
          </a:p>
        </p:txBody>
      </p:sp>
      <p:sp>
        <p:nvSpPr>
          <p:cNvPr id="1062" name="" descr="{&quot;isTemplate&quot;:true,&quot;type&quot;:&quot;text&quot;}"/>
          <p:cNvSpPr txBox="1"/>
          <p:nvPr/>
        </p:nvSpPr>
        <p:spPr>
          <a:xfrm rot="0" flipH="0" flipV="0">
            <a:off x="9191625" y="4543425"/>
            <a:ext cx="819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Volume &amp; Bias</a:t>
            </a:r>
            <a:endParaRPr/>
          </a:p>
        </p:txBody>
      </p:sp>
      <p:sp>
        <p:nvSpPr>
          <p:cNvPr id="1063" name="" descr="{&quot;isTemplate&quot;:true,&quot;type&quot;:&quot;text&quot;}"/>
          <p:cNvSpPr txBox="1"/>
          <p:nvPr/>
        </p:nvSpPr>
        <p:spPr>
          <a:xfrm rot="0" flipH="0" flipV="0">
            <a:off x="8772525" y="4762500"/>
            <a:ext cx="2266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数量够、分布无偏</a:t>
            </a:r>
            <a:endParaRPr/>
          </a:p>
        </p:txBody>
      </p:sp>
      <p:sp>
        <p:nvSpPr>
          <p:cNvPr id="1064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1065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05 / 32</a:t>
            </a:r>
            <a:endParaRPr/>
          </a:p>
        </p:txBody>
      </p:sp>
    </p:spTree>
  </p:cSld>
</p:sld>
</file>

<file path=ppt/slides/slide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066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数据类型与来源 · Data Types &amp;amp; Sources&lt;/Text&gt;&#10;    &lt;Text style={{ fontSize: 15, color: 'rgba(255,255,255,0.85)' }}&gt;Module 1 · Week 2&lt;/Text&gt;&#10;  &lt;/Box&gt;&#10;  &lt;Box style={{ position: 'absolute', top: 100, left: 0, width: '100%', height: 540, padding: '14px 84px', flexDirection: 'column' }}&gt;&#10;    &lt;Box style={{ flexDirection: 'row', gap: 20, flex: 1 }}&gt;&#10;      {[&#10;        {&#10;          t: '结构化数据', e: 'Structured', i: 'table',&#10;          d: '行列分明的表格：每列类型固定，可直接进 DataFrame。',&#10;          ex: '数据库表 · CSV · Excel 报表',&#10;          c: '#1E4FA8',&#10;        },&#10;        {&#10;          t: '半结构化数据', e: 'Semi-structured', i: 'code',&#10;          d: '有标签无固定表结构，需解析后转表格。',&#10;          ex: 'JSON API 返回 · 日志文件 · XML',&#10;          c: '#3D7BD9',&#10;        },&#10;        {&#10;          t: '非结构化数据', e: 'Unstructured', i: 'image',&#10;          d: '自由格式内容，本课程 M2/M3 的主战场。',&#10;          ex: '图片 · 文本 · 音频 · 视频',&#10;          c: '#0E3F8C',&#10;        },&#10;      ].map((k, i) =&gt; (&#10;        &lt;Box key={i} style={{ flex: 1, background: '#F7F9FC', border: '1px solid #E5E7EB', borderTop: '4px solid ' + k.c, borderRadius: 12, padding: '18px 20px', justifyContent: 'space-between' }}&gt;&#10;          &lt;Box&gt;&#10;            &lt;Box style={{ flexDirection: 'row', alignItems: 'center', gap: 12 }}&gt;&#10;              &lt;Box style={{ width: 40, height: 40, borderRadius: 10, background: '#E8EFF8', justifyContent: 'center', alignItems: 'center' }}&gt;&#10;                &lt;FAIcon name={k.i} style={{ fill: k.c, width: 20, height: 20 }} /&gt;&#10;              &lt;/Box&gt;&#10;              &lt;Box&gt;&#10;                &lt;Text style={{ fontSize: 19, color: '#1A2230', fontWeight: 'bold' }}&gt;{k.t}&lt;/Text&gt;&#10;                &lt;Text style={{ fontSize: 13, color: '#8B97A8' }}&gt;{k.e}&lt;/Text&gt;&#10;              &lt;/Box&gt;&#10;            &lt;/Box&gt;&#10;            &lt;Text style={{ fontSize: 14.5, color: '#4A5568', lineHeight: 1.6, marginTop: 12 }}&gt;{k.d}&lt;/Text&gt;&#10;          &lt;/Box&gt;&#10;          &lt;Box style={{ background: '#F0F5FC', borderRadius: 8, padding: '10px 14px' }}&gt;&#10;            &lt;Text style={{ fontSize: 13, color: '#8B97A8', marginBottom: 3 }}&gt;典型例子 · Examples&lt;/Text&gt;&#10;            &lt;Text style={{ fontSize: 14.5, color: k.c, fontWeight: '600' }}&gt;{k.ex}&lt;/Text&gt;&#10;          &lt;/Box&gt;&#10;        &lt;/Box&gt;&#10;      ))}&#10;    &lt;/Box&gt;&#10;    &lt;Box style={{ flexDirection: 'row', gap: 20, marginTop: 16 }}&gt;&#10;      &lt;Box style={{ flex: 1, background: '#F0F5FC', border: '1px solid #D6DCE5', borderRadius: 10, padding: '13px 20px' }}&gt;&#10;        &lt;Text style={{ fontSize: 15, color: '#1A2230', lineHeight: 1.6 }}&gt;&#10;          &lt;span style={{ fontWeight: 'bold', color: '#1E4FA8' }}&gt;数据从哪来：&lt;/span&gt;&#10;          内部业务数据库 / 开放数据集（Kaggle · UCI · 政府开放数据）/ 爬虫与日志 / 传感器与用户行为埋点。&#10;        &lt;/Text&gt;&#10;      &lt;/Box&gt;&#10;      &lt;Box style={{ flex: 1, borderLeft: '4px solid #0E3F8C', paddingLeft: 14, justifyContent: 'center' }}&gt;&#10;        &lt;Text style={{ fontSize: 15, color: '#1A2230', lineHeight: 1.6 }}&gt;&#10;          &lt;span style={{ fontWeight: 'bold', color: '#0E3F8C' }}&gt;注意：&lt;/span&gt;来源决定质量上限——&#10;          脏的业务库再怎么清洗也补不回采集时就丢失的字段。&#10;          &lt;span style={{ fontSize: 13, color: '#8B97A8' }}&gt;Sources set the ceiling of quality.&lt;/span&gt;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06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68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69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9528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数据类型与来源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Data Types &amp; Sources</a:t>
            </a:r>
            <a:endParaRPr/>
          </a:p>
        </p:txBody>
      </p:sp>
      <p:sp>
        <p:nvSpPr>
          <p:cNvPr id="1070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1071" name=""/>
          <p:cNvSpPr/>
          <p:nvPr/>
        </p:nvSpPr>
        <p:spPr>
          <a:xfrm rot="0" flipH="0" flipV="0">
            <a:off x="800100" y="2055263"/>
            <a:ext cx="3400425" cy="2139074"/>
          </a:xfrm>
          <a:prstGeom prst="roundRect">
            <a:avLst>
              <a:gd name="adj" fmla="val 336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72" name=""/>
          <p:cNvSpPr/>
          <p:nvPr/>
        </p:nvSpPr>
        <p:spPr>
          <a:xfrm rot="0" flipH="0" flipV="0">
            <a:off x="800100" y="2055263"/>
            <a:ext cx="3400425" cy="2139074"/>
          </a:xfrm>
          <a:custGeom>
            <a:pathLst>
              <a:path w="357" h="412">
                <a:moveTo>
                  <a:pt x="346" y="0"/>
                </a:moveTo>
                <a:cubicBezTo>
                  <a:pt x="351" y="0"/>
                  <a:pt x="356" y="4"/>
                  <a:pt x="357" y="10"/>
                </a:cubicBezTo>
                <a:cubicBezTo>
                  <a:pt x="356" y="6"/>
                  <a:pt x="353" y="4"/>
                  <a:pt x="349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5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73" name=""/>
          <p:cNvSpPr/>
          <p:nvPr/>
        </p:nvSpPr>
        <p:spPr>
          <a:xfrm rot="0" flipH="0" flipV="0">
            <a:off x="990600" y="2226713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85850" y="2321963"/>
            <a:ext cx="190500" cy="190500"/>
          </a:xfrm>
          <a:prstGeom prst="rect">
            <a:avLst/>
          </a:prstGeom>
          <a:ln/>
        </p:spPr>
      </p:pic>
      <p:sp>
        <p:nvSpPr>
          <p:cNvPr id="1075" name="" descr="{&quot;isTemplate&quot;:true,&quot;type&quot;:&quot;text&quot;}"/>
          <p:cNvSpPr txBox="1"/>
          <p:nvPr/>
        </p:nvSpPr>
        <p:spPr>
          <a:xfrm rot="0" flipH="0" flipV="0">
            <a:off x="1485900" y="2236238"/>
            <a:ext cx="9048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Source Han Sans SC"/>
                <a:ea typeface="Source Han Sans SC"/>
              </a:rPr>
              <a:t>结构化数据</a:t>
            </a:r>
            <a:endParaRPr/>
          </a:p>
        </p:txBody>
      </p:sp>
      <p:sp>
        <p:nvSpPr>
          <p:cNvPr id="1076" name="" descr="{&quot;isTemplate&quot;:true,&quot;type&quot;:&quot;text&quot;}"/>
          <p:cNvSpPr txBox="1"/>
          <p:nvPr/>
        </p:nvSpPr>
        <p:spPr>
          <a:xfrm rot="0" flipH="0" flipV="0">
            <a:off x="1485900" y="2455313"/>
            <a:ext cx="904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Structured</a:t>
            </a:r>
            <a:endParaRPr/>
          </a:p>
        </p:txBody>
      </p:sp>
      <p:sp>
        <p:nvSpPr>
          <p:cNvPr id="1077" name="" descr="{&quot;isTemplate&quot;:true,&quot;type&quot;:&quot;text&quot;}"/>
          <p:cNvSpPr txBox="1"/>
          <p:nvPr/>
        </p:nvSpPr>
        <p:spPr>
          <a:xfrm rot="0" flipH="0" flipV="0">
            <a:off x="990600" y="2722013"/>
            <a:ext cx="301942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行列分明的表格：每列类型固定，可直接进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DataFrame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。</a:t>
            </a:r>
            <a:endParaRPr/>
          </a:p>
        </p:txBody>
      </p:sp>
      <p:sp>
        <p:nvSpPr>
          <p:cNvPr id="1078" name=""/>
          <p:cNvSpPr/>
          <p:nvPr/>
        </p:nvSpPr>
        <p:spPr>
          <a:xfrm rot="0" flipH="0" flipV="0">
            <a:off x="990600" y="3471412"/>
            <a:ext cx="3019425" cy="542925"/>
          </a:xfrm>
          <a:prstGeom prst="roundRect">
            <a:avLst>
              <a:gd name="adj" fmla="val 1403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079" name="" descr="{&quot;isTemplate&quot;:true,&quot;type&quot;:&quot;text&quot;}"/>
          <p:cNvSpPr txBox="1"/>
          <p:nvPr/>
        </p:nvSpPr>
        <p:spPr>
          <a:xfrm rot="0" flipH="0" flipV="0">
            <a:off x="1123950" y="3566662"/>
            <a:ext cx="27527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SC"/>
                <a:ea typeface="Source Han Sans SC"/>
              </a:rPr>
              <a:t>典型例子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 · Examples</a:t>
            </a:r>
            <a:endParaRPr/>
          </a:p>
        </p:txBody>
      </p:sp>
      <p:sp>
        <p:nvSpPr>
          <p:cNvPr id="1080" name="" descr="{&quot;isTemplate&quot;:true,&quot;type&quot;:&quot;text&quot;}"/>
          <p:cNvSpPr txBox="1"/>
          <p:nvPr/>
        </p:nvSpPr>
        <p:spPr>
          <a:xfrm rot="0" flipH="0" flipV="0">
            <a:off x="1123950" y="3747637"/>
            <a:ext cx="2752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 b="1">
                <a:solidFill>
                  <a:srgbClr val="1E4FA8"/>
                </a:solidFill>
                <a:latin typeface="Source Han Sans SC"/>
                <a:ea typeface="Source Han Sans SC"/>
              </a:rPr>
              <a:t>数据库表</a:t>
            </a:r>
            <a:r>
              <a:rPr lang="en-US" sz="1088" b="1">
                <a:solidFill>
                  <a:srgbClr val="1E4FA8"/>
                </a:solidFill>
                <a:latin typeface="Source Han Sans SC"/>
                <a:ea typeface="Source Han Sans SC"/>
              </a:rPr>
              <a:t> · CSV · Excel </a:t>
            </a:r>
            <a:r>
              <a:rPr lang="zh-CN" sz="1088" b="1">
                <a:solidFill>
                  <a:srgbClr val="1E4FA8"/>
                </a:solidFill>
                <a:latin typeface="Source Han Sans SC"/>
                <a:ea typeface="Source Han Sans SC"/>
              </a:rPr>
              <a:t>报表</a:t>
            </a:r>
            <a:endParaRPr/>
          </a:p>
        </p:txBody>
      </p:sp>
      <p:sp>
        <p:nvSpPr>
          <p:cNvPr id="1081" name=""/>
          <p:cNvSpPr/>
          <p:nvPr/>
        </p:nvSpPr>
        <p:spPr>
          <a:xfrm rot="0" flipH="0" flipV="0">
            <a:off x="4391025" y="2055263"/>
            <a:ext cx="3409950" cy="2139074"/>
          </a:xfrm>
          <a:prstGeom prst="roundRect">
            <a:avLst>
              <a:gd name="adj" fmla="val 33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82" name=""/>
          <p:cNvSpPr/>
          <p:nvPr/>
        </p:nvSpPr>
        <p:spPr>
          <a:xfrm rot="0" flipH="0" flipV="0">
            <a:off x="4391025" y="2055263"/>
            <a:ext cx="3409950" cy="2139074"/>
          </a:xfrm>
          <a:custGeom>
            <a:pathLst>
              <a:path w="358" h="412">
                <a:moveTo>
                  <a:pt x="347" y="0"/>
                </a:moveTo>
                <a:cubicBezTo>
                  <a:pt x="352" y="0"/>
                  <a:pt x="357" y="4"/>
                  <a:pt x="358" y="10"/>
                </a:cubicBezTo>
                <a:cubicBezTo>
                  <a:pt x="357" y="6"/>
                  <a:pt x="354" y="4"/>
                  <a:pt x="350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6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083" name=""/>
          <p:cNvSpPr/>
          <p:nvPr/>
        </p:nvSpPr>
        <p:spPr>
          <a:xfrm rot="0" flipH="0" flipV="0">
            <a:off x="4581525" y="2226713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8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676775" y="2321963"/>
            <a:ext cx="190500" cy="190500"/>
          </a:xfrm>
          <a:prstGeom prst="rect">
            <a:avLst/>
          </a:prstGeom>
          <a:ln/>
        </p:spPr>
      </p:pic>
      <p:sp>
        <p:nvSpPr>
          <p:cNvPr id="1085" name="" descr="{&quot;isTemplate&quot;:true,&quot;type&quot;:&quot;text&quot;}"/>
          <p:cNvSpPr txBox="1"/>
          <p:nvPr/>
        </p:nvSpPr>
        <p:spPr>
          <a:xfrm rot="0" flipH="0" flipV="0">
            <a:off x="5076825" y="2236238"/>
            <a:ext cx="1085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Source Han Sans SC"/>
                <a:ea typeface="Source Han Sans SC"/>
              </a:rPr>
              <a:t>半结构化数据</a:t>
            </a:r>
            <a:endParaRPr/>
          </a:p>
        </p:txBody>
      </p:sp>
      <p:sp>
        <p:nvSpPr>
          <p:cNvPr id="1086" name="" descr="{&quot;isTemplate&quot;:true,&quot;type&quot;:&quot;text&quot;}"/>
          <p:cNvSpPr txBox="1"/>
          <p:nvPr/>
        </p:nvSpPr>
        <p:spPr>
          <a:xfrm rot="0" flipH="0" flipV="0">
            <a:off x="5076825" y="2455313"/>
            <a:ext cx="1085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Semi-structured</a:t>
            </a:r>
            <a:endParaRPr/>
          </a:p>
        </p:txBody>
      </p:sp>
      <p:sp>
        <p:nvSpPr>
          <p:cNvPr id="1087" name="" descr="{&quot;isTemplate&quot;:true,&quot;type&quot;:&quot;text&quot;}"/>
          <p:cNvSpPr txBox="1"/>
          <p:nvPr/>
        </p:nvSpPr>
        <p:spPr>
          <a:xfrm rot="0" flipH="0" flipV="0">
            <a:off x="4581525" y="2722013"/>
            <a:ext cx="3028950" cy="2667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有标签无固定表结构，需解析后转表格。</a:t>
            </a:r>
            <a:endParaRPr/>
          </a:p>
        </p:txBody>
      </p:sp>
      <p:sp>
        <p:nvSpPr>
          <p:cNvPr id="1088" name=""/>
          <p:cNvSpPr/>
          <p:nvPr/>
        </p:nvSpPr>
        <p:spPr>
          <a:xfrm rot="0" flipH="0" flipV="0">
            <a:off x="4581525" y="3471412"/>
            <a:ext cx="3028950" cy="542925"/>
          </a:xfrm>
          <a:prstGeom prst="roundRect">
            <a:avLst>
              <a:gd name="adj" fmla="val 1403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089" name="" descr="{&quot;isTemplate&quot;:true,&quot;type&quot;:&quot;text&quot;}"/>
          <p:cNvSpPr txBox="1"/>
          <p:nvPr/>
        </p:nvSpPr>
        <p:spPr>
          <a:xfrm rot="0" flipH="0" flipV="0">
            <a:off x="4714875" y="3566662"/>
            <a:ext cx="2762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SC"/>
                <a:ea typeface="Source Han Sans SC"/>
              </a:rPr>
              <a:t>典型例子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 · Examples</a:t>
            </a:r>
            <a:endParaRPr/>
          </a:p>
        </p:txBody>
      </p:sp>
      <p:sp>
        <p:nvSpPr>
          <p:cNvPr id="1090" name="" descr="{&quot;isTemplate&quot;:true,&quot;type&quot;:&quot;text&quot;}"/>
          <p:cNvSpPr txBox="1"/>
          <p:nvPr/>
        </p:nvSpPr>
        <p:spPr>
          <a:xfrm rot="0" flipH="0" flipV="0">
            <a:off x="4714875" y="3747637"/>
            <a:ext cx="2762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3D7BD9"/>
                </a:solidFill>
                <a:latin typeface="Source Han Sans SC"/>
                <a:ea typeface="Source Han Sans SC"/>
              </a:rPr>
              <a:t>JSON API </a:t>
            </a:r>
            <a:r>
              <a:rPr lang="zh-CN" sz="1088" b="1">
                <a:solidFill>
                  <a:srgbClr val="3D7BD9"/>
                </a:solidFill>
                <a:latin typeface="Source Han Sans SC"/>
                <a:ea typeface="Source Han Sans SC"/>
              </a:rPr>
              <a:t>返回</a:t>
            </a:r>
            <a:r>
              <a:rPr lang="en-US" sz="1088" b="1">
                <a:solidFill>
                  <a:srgbClr val="3D7BD9"/>
                </a:solidFill>
                <a:latin typeface="Source Han Sans SC"/>
                <a:ea typeface="Source Han Sans SC"/>
              </a:rPr>
              <a:t> · </a:t>
            </a:r>
            <a:r>
              <a:rPr lang="zh-CN" sz="1088" b="1">
                <a:solidFill>
                  <a:srgbClr val="3D7BD9"/>
                </a:solidFill>
                <a:latin typeface="Source Han Sans SC"/>
                <a:ea typeface="Source Han Sans SC"/>
              </a:rPr>
              <a:t>日志文件</a:t>
            </a:r>
            <a:r>
              <a:rPr lang="en-US" sz="1088" b="1">
                <a:solidFill>
                  <a:srgbClr val="3D7BD9"/>
                </a:solidFill>
                <a:latin typeface="Source Han Sans SC"/>
                <a:ea typeface="Source Han Sans SC"/>
              </a:rPr>
              <a:t> · XML</a:t>
            </a:r>
            <a:endParaRPr/>
          </a:p>
        </p:txBody>
      </p:sp>
      <p:sp>
        <p:nvSpPr>
          <p:cNvPr id="1091" name=""/>
          <p:cNvSpPr/>
          <p:nvPr/>
        </p:nvSpPr>
        <p:spPr>
          <a:xfrm rot="0" flipH="0" flipV="0">
            <a:off x="7991475" y="2055263"/>
            <a:ext cx="3400425" cy="2139074"/>
          </a:xfrm>
          <a:prstGeom prst="roundRect">
            <a:avLst>
              <a:gd name="adj" fmla="val 336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92" name=""/>
          <p:cNvSpPr/>
          <p:nvPr/>
        </p:nvSpPr>
        <p:spPr>
          <a:xfrm rot="0" flipH="0" flipV="0">
            <a:off x="7991475" y="2055263"/>
            <a:ext cx="3400425" cy="2139074"/>
          </a:xfrm>
          <a:custGeom>
            <a:pathLst>
              <a:path w="357" h="412">
                <a:moveTo>
                  <a:pt x="346" y="0"/>
                </a:moveTo>
                <a:cubicBezTo>
                  <a:pt x="351" y="0"/>
                  <a:pt x="356" y="4"/>
                  <a:pt x="357" y="10"/>
                </a:cubicBezTo>
                <a:cubicBezTo>
                  <a:pt x="356" y="6"/>
                  <a:pt x="353" y="4"/>
                  <a:pt x="349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5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93" name=""/>
          <p:cNvSpPr/>
          <p:nvPr/>
        </p:nvSpPr>
        <p:spPr>
          <a:xfrm rot="0" flipH="0" flipV="0">
            <a:off x="8181975" y="2226713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9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277225" y="2321963"/>
            <a:ext cx="190500" cy="190500"/>
          </a:xfrm>
          <a:prstGeom prst="rect">
            <a:avLst/>
          </a:prstGeom>
          <a:ln/>
        </p:spPr>
      </p:pic>
      <p:sp>
        <p:nvSpPr>
          <p:cNvPr id="1095" name="" descr="{&quot;isTemplate&quot;:true,&quot;type&quot;:&quot;text&quot;}"/>
          <p:cNvSpPr txBox="1"/>
          <p:nvPr/>
        </p:nvSpPr>
        <p:spPr>
          <a:xfrm rot="0" flipH="0" flipV="0">
            <a:off x="8677275" y="2236238"/>
            <a:ext cx="1085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Source Han Sans SC"/>
                <a:ea typeface="Source Han Sans SC"/>
              </a:rPr>
              <a:t>非结构化数据</a:t>
            </a:r>
            <a:endParaRPr/>
          </a:p>
        </p:txBody>
      </p:sp>
      <p:sp>
        <p:nvSpPr>
          <p:cNvPr id="1096" name="" descr="{&quot;isTemplate&quot;:true,&quot;type&quot;:&quot;text&quot;}"/>
          <p:cNvSpPr txBox="1"/>
          <p:nvPr/>
        </p:nvSpPr>
        <p:spPr>
          <a:xfrm rot="0" flipH="0" flipV="0">
            <a:off x="8677275" y="2455313"/>
            <a:ext cx="1085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Unstructured</a:t>
            </a:r>
            <a:endParaRPr/>
          </a:p>
        </p:txBody>
      </p:sp>
      <p:sp>
        <p:nvSpPr>
          <p:cNvPr id="1097" name="" descr="{&quot;isTemplate&quot;:true,&quot;type&quot;:&quot;text&quot;}"/>
          <p:cNvSpPr txBox="1"/>
          <p:nvPr/>
        </p:nvSpPr>
        <p:spPr>
          <a:xfrm rot="0" flipH="0" flipV="0">
            <a:off x="8181975" y="2722013"/>
            <a:ext cx="3019425" cy="2667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自由格式内容，本课程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M2/M3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的主战场。</a:t>
            </a:r>
            <a:endParaRPr/>
          </a:p>
        </p:txBody>
      </p:sp>
      <p:sp>
        <p:nvSpPr>
          <p:cNvPr id="1098" name=""/>
          <p:cNvSpPr/>
          <p:nvPr/>
        </p:nvSpPr>
        <p:spPr>
          <a:xfrm rot="0" flipH="0" flipV="0">
            <a:off x="8181975" y="3471412"/>
            <a:ext cx="3019425" cy="542925"/>
          </a:xfrm>
          <a:prstGeom prst="roundRect">
            <a:avLst>
              <a:gd name="adj" fmla="val 1403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099" name="" descr="{&quot;isTemplate&quot;:true,&quot;type&quot;:&quot;text&quot;}"/>
          <p:cNvSpPr txBox="1"/>
          <p:nvPr/>
        </p:nvSpPr>
        <p:spPr>
          <a:xfrm rot="0" flipH="0" flipV="0">
            <a:off x="8315325" y="3566662"/>
            <a:ext cx="27527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SC"/>
                <a:ea typeface="Source Han Sans SC"/>
              </a:rPr>
              <a:t>典型例子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 · Examples</a:t>
            </a:r>
            <a:endParaRPr/>
          </a:p>
        </p:txBody>
      </p:sp>
      <p:sp>
        <p:nvSpPr>
          <p:cNvPr id="1100" name="" descr="{&quot;isTemplate&quot;:true,&quot;type&quot;:&quot;text&quot;}"/>
          <p:cNvSpPr txBox="1"/>
          <p:nvPr/>
        </p:nvSpPr>
        <p:spPr>
          <a:xfrm rot="0" flipH="0" flipV="0">
            <a:off x="8315325" y="3747637"/>
            <a:ext cx="2752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 b="1">
                <a:solidFill>
                  <a:srgbClr val="0E3F8C"/>
                </a:solidFill>
                <a:latin typeface="Source Han Sans SC"/>
                <a:ea typeface="Source Han Sans SC"/>
              </a:rPr>
              <a:t>图片</a:t>
            </a:r>
            <a:r>
              <a:rPr lang="en-US" sz="1088" b="1">
                <a:solidFill>
                  <a:srgbClr val="0E3F8C"/>
                </a:solidFill>
                <a:latin typeface="Source Han Sans SC"/>
                <a:ea typeface="Source Han Sans SC"/>
              </a:rPr>
              <a:t> · </a:t>
            </a:r>
            <a:r>
              <a:rPr lang="zh-CN" sz="1088" b="1">
                <a:solidFill>
                  <a:srgbClr val="0E3F8C"/>
                </a:solidFill>
                <a:latin typeface="Source Han Sans SC"/>
                <a:ea typeface="Source Han Sans SC"/>
              </a:rPr>
              <a:t>文本</a:t>
            </a:r>
            <a:r>
              <a:rPr lang="en-US" sz="1088" b="1">
                <a:solidFill>
                  <a:srgbClr val="0E3F8C"/>
                </a:solidFill>
                <a:latin typeface="Source Han Sans SC"/>
                <a:ea typeface="Source Han Sans SC"/>
              </a:rPr>
              <a:t> · </a:t>
            </a:r>
            <a:r>
              <a:rPr lang="zh-CN" sz="1088" b="1">
                <a:solidFill>
                  <a:srgbClr val="0E3F8C"/>
                </a:solidFill>
                <a:latin typeface="Source Han Sans SC"/>
                <a:ea typeface="Source Han Sans SC"/>
              </a:rPr>
              <a:t>音频</a:t>
            </a:r>
            <a:r>
              <a:rPr lang="en-US" sz="1088" b="1">
                <a:solidFill>
                  <a:srgbClr val="0E3F8C"/>
                </a:solidFill>
                <a:latin typeface="Source Han Sans SC"/>
                <a:ea typeface="Source Han Sans SC"/>
              </a:rPr>
              <a:t> · </a:t>
            </a:r>
            <a:r>
              <a:rPr lang="zh-CN" sz="1088" b="1">
                <a:solidFill>
                  <a:srgbClr val="0E3F8C"/>
                </a:solidFill>
                <a:latin typeface="Source Han Sans SC"/>
                <a:ea typeface="Source Han Sans SC"/>
              </a:rPr>
              <a:t>视频</a:t>
            </a:r>
            <a:endParaRPr/>
          </a:p>
        </p:txBody>
      </p:sp>
      <p:sp>
        <p:nvSpPr>
          <p:cNvPr id="1101" name=""/>
          <p:cNvSpPr/>
          <p:nvPr/>
        </p:nvSpPr>
        <p:spPr>
          <a:xfrm rot="0" flipH="0" flipV="0">
            <a:off x="800100" y="4308637"/>
            <a:ext cx="5200650" cy="800100"/>
          </a:xfrm>
          <a:prstGeom prst="roundRect">
            <a:avLst>
              <a:gd name="adj" fmla="val 11905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102" name="" descr="{&quot;isTemplate&quot;:true,&quot;type&quot;:&quot;text&quot;}"/>
          <p:cNvSpPr txBox="1"/>
          <p:nvPr/>
        </p:nvSpPr>
        <p:spPr>
          <a:xfrm rot="0" flipH="0" flipV="0">
            <a:off x="990600" y="4432462"/>
            <a:ext cx="48196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 b="1">
                <a:solidFill>
                  <a:srgbClr val="1E4FA8"/>
                </a:solidFill>
                <a:latin typeface="Source Han Sans SC"/>
                <a:ea typeface="Source Han Sans SC"/>
              </a:rPr>
              <a:t>数据从哪来：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内部业务数据库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/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开放数据集（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Kaggle · UCI ·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政府开放数据）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/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爬虫与日志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/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传感器与用户行为埋点。</a:t>
            </a:r>
            <a:endParaRPr/>
          </a:p>
        </p:txBody>
      </p:sp>
      <p:sp>
        <p:nvSpPr>
          <p:cNvPr id="1103" name=""/>
          <p:cNvSpPr/>
          <p:nvPr/>
        </p:nvSpPr>
        <p:spPr>
          <a:xfrm rot="0" flipH="0" flipV="0">
            <a:off x="6191250" y="4308637"/>
            <a:ext cx="5238750" cy="800100"/>
          </a:xfrm>
          <a:custGeom>
            <a:pathLst>
              <a:path w="550" h="84">
                <a:moveTo>
                  <a:pt x="0" y="0"/>
                </a:moveTo>
                <a:lnTo>
                  <a:pt x="4" y="0"/>
                </a:lnTo>
                <a:lnTo>
                  <a:pt x="4" y="84"/>
                </a:lnTo>
                <a:lnTo>
                  <a:pt x="0" y="84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04" name="" descr="{&quot;isTemplate&quot;:true,&quot;type&quot;:&quot;text&quot;}"/>
          <p:cNvSpPr txBox="1"/>
          <p:nvPr/>
        </p:nvSpPr>
        <p:spPr>
          <a:xfrm rot="0" flipH="0" flipV="0">
            <a:off x="6362700" y="4432462"/>
            <a:ext cx="50292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 b="1">
                <a:solidFill>
                  <a:srgbClr val="0E3F8C"/>
                </a:solidFill>
                <a:latin typeface="Source Han Sans SC"/>
                <a:ea typeface="Source Han Sans SC"/>
              </a:rPr>
              <a:t>注意：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来源决定质量上限——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脏的业务库再怎么清洗也补不回采集时就丢失的字段。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/>
            </a:r>
            <a:endParaRPr/>
          </a:p>
        </p:txBody>
      </p:sp>
      <p:sp>
        <p:nvSpPr>
          <p:cNvPr id="1105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1106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06 / 32</a:t>
            </a:r>
            <a:endParaRPr/>
          </a:p>
        </p:txBody>
      </p:sp>
    </p:spTree>
  </p:cSld>
</p:sld>
</file>

<file path=ppt/slides/slide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107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坏数据的代价 · When Data Goes Wrong&lt;/Text&gt;&#10;    &lt;Text style={{ fontSize: 15, color: 'rgba(255,255,255,0.85)' }}&gt;Module 1 · Week 2&lt;/Text&gt;&#10;  &lt;/Box&gt;&#10;  &lt;Box style={{ position: 'absolute', top: 100, left: 0, width: '100%', height: 540, padding: '16px 84px', flexDirection: 'row', gap: 30 }}&gt;&#10;    &lt;Box style={{ flex: 1.15, gap: 12 }}&gt;&#10;      &lt;Text style={{ fontSize: 18, color: '#0E3F8C', fontWeight: 'bold' }}&gt;真实案例：AI 招聘工具的偏见&lt;/Text&gt;&#10;      &lt;Box style={{ background: '#F0F5FC', border: '1px solid #D6DCE5', borderRadius: 12, padding: '18px 22px', gap: 10 }}&gt;&#10;        {[&#10;          { n: '背景', d: '用历史 10 年的简历数据训练模型，自动给新简历打分。' },&#10;          { n: '问题', d: '历史录用数据本身偏向某一群体——模型把这个偏差完整学走。' },&#10;          { n: '后果', d: '模型学会主动调低含特定关键词的简历评分，项目最终被叫停。' },&#10;          { n: '教训', d: '数据反映的是「过去怎么做的」，不等于「应该怎么做」。' },&#10;        ].map((r, i) =&gt; (&#10;          &lt;Box key={i} style={{ flexDirection: 'row', gap: 12, alignItems: 'flex-start' }}&gt;&#10;            &lt;Box style={{ width: 52, height: 24, borderRadius: 7, background: i === 3 ? '#0E3F8C' : '#E8EFF8', justifyContent: 'center', alignItems: 'center', flexShrink: 0, marginTop: 1 }}&gt;&#10;              &lt;Text style={{ fontSize: 12.5, color: i === 3 ? '#FFFFFF' : '#1E4FA8', fontWeight: 'bold' }}&gt;{r.n}&lt;/Text&gt;&#10;            &lt;/Box&gt;&#10;            &lt;Text style={{ fontSize: 15, color: '#1A2230', lineHeight: 1.55, flex: 1 }}&gt;{r.d}&lt;/Text&gt;&#10;          &lt;/Box&gt;&#10;        ))}&#10;      &lt;/Box&gt;&#10;      &lt;Box style={{ borderLeft: '4px solid #0E3F8C', paddingLeft: 14 }}&gt;&#10;        &lt;Text style={{ fontSize: 15.5, color: '#1A2230', lineHeight: 1.6 }}&gt;&#10;          &lt;span style={{ fontWeight: 'bold', color: '#0E3F8C' }}&gt;判断：&lt;/span&gt;数据缺陷不是「统计噪声」，而是会被模型&lt;span style={{ fontWeight: 'bold', color: '#0E3F8C' }}&gt;系统性放大&lt;/span&gt;的结构性问题。&#10;        &lt;/Text&gt;&#10;      &lt;/Box&gt;&#10;    &lt;/Box&gt;&#10;    &lt;Box style={{ width: 470, gap: 12, flexShrink: 0, justifyContent: 'center' }}&gt;&#10;      &lt;Text style={{ fontSize: 18, color: '#0E3F8C', fontWeight: 'bold' }}&gt;课堂快问 · 用六维度诊断&lt;/Text&gt;&#10;      {[&#10;        { q: '用户手机号一栏 40% 是空的', a: '完整性 Completeness', c: '#3D7BD9' },&#10;        { q: '两个系统里同一客户的年龄不同', a: '一致性 Consistency', c: '#1E4FA8' },&#10;        { q: '用 2015 年的房价预测 2026 年市场', a: '时效性 Timeliness', c: '#0E3F8C' },&#10;        { q: '只收集了白天的交通流量就建模全天', a: '代表性 Representation', c: '#3D7BD9' },&#10;      ].map((r, i) =&gt; (&#10;        &lt;Box key={i} style={{ background: '#F7F9FC', border: '1px solid #E5E7EB', borderRadius: 10, padding: '12px 16px' }}&gt;&#10;          &lt;Text style={{ fontSize: 15, color: '#1A2230' }}&gt;「{r.q}」属于哪个维度？&lt;/Text&gt;&#10;          &lt;Box style={{ flexDirection: 'row', alignItems: 'center', gap: 8, marginTop: 6 }}&gt;&#10;            &lt;FAIcon name='tag' style={{ fill: r.c, width: 13, height: 13 }} /&gt;&#10;            &lt;Text style={{ fontSize: 14, color: r.c, fontWeight: '600' }}&gt;{r.a}&lt;/Text&gt;&#10;          &lt;/Box&gt;&#10;        &lt;/Box&gt;&#10;      ))}&#10;      &lt;Text style={{ fontSize: 13, color: '#8B97A8' }}&gt;先举手投票，再逐一讲解 · Vote first, then reveal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07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09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10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9052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坏数据的代价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When Data Goes Wrong</a:t>
            </a:r>
            <a:endParaRPr/>
          </a:p>
        </p:txBody>
      </p:sp>
      <p:sp>
        <p:nvSpPr>
          <p:cNvPr id="1111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1112" name="" descr="{&quot;isTemplate&quot;:true,&quot;type&quot;:&quot;text&quot;}"/>
          <p:cNvSpPr txBox="1"/>
          <p:nvPr/>
        </p:nvSpPr>
        <p:spPr>
          <a:xfrm rot="0" flipH="0" flipV="0">
            <a:off x="800100" y="1519837"/>
            <a:ext cx="5829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Source Han Sans SC"/>
                <a:ea typeface="Source Han Sans SC"/>
              </a:rPr>
              <a:t>真实案例：</a:t>
            </a:r>
            <a:r>
              <a:rPr lang="en-US" sz="1350" b="1">
                <a:solidFill>
                  <a:srgbClr val="0E3F8C"/>
                </a:solidFill>
                <a:latin typeface="Source Han Sans SC"/>
                <a:ea typeface="Source Han Sans SC"/>
              </a:rPr>
              <a:t>AI </a:t>
            </a:r>
            <a:r>
              <a:rPr lang="zh-CN" sz="1350" b="1">
                <a:solidFill>
                  <a:srgbClr val="0E3F8C"/>
                </a:solidFill>
                <a:latin typeface="Source Han Sans SC"/>
                <a:ea typeface="Source Han Sans SC"/>
              </a:rPr>
              <a:t>招聘工具的偏见</a:t>
            </a:r>
            <a:endParaRPr/>
          </a:p>
        </p:txBody>
      </p:sp>
      <p:sp>
        <p:nvSpPr>
          <p:cNvPr id="1113" name=""/>
          <p:cNvSpPr/>
          <p:nvPr/>
        </p:nvSpPr>
        <p:spPr>
          <a:xfrm rot="0" flipH="0" flipV="0">
            <a:off x="800100" y="1843687"/>
            <a:ext cx="5829300" cy="1695450"/>
          </a:xfrm>
          <a:prstGeom prst="roundRect">
            <a:avLst>
              <a:gd name="adj" fmla="val 6742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114" name=""/>
          <p:cNvSpPr/>
          <p:nvPr/>
        </p:nvSpPr>
        <p:spPr>
          <a:xfrm rot="0" flipH="0" flipV="0">
            <a:off x="1009650" y="2024662"/>
            <a:ext cx="495300" cy="228600"/>
          </a:xfrm>
          <a:prstGeom prst="roundRect">
            <a:avLst>
              <a:gd name="adj" fmla="val 2916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115" name="" descr="{&quot;isTemplate&quot;:true,&quot;type&quot;:&quot;text&quot;}"/>
          <p:cNvSpPr txBox="1"/>
          <p:nvPr/>
        </p:nvSpPr>
        <p:spPr>
          <a:xfrm rot="0" flipH="0" flipV="0">
            <a:off x="1143000" y="2072287"/>
            <a:ext cx="2381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 b="1">
                <a:solidFill>
                  <a:srgbClr val="1E4FA8"/>
                </a:solidFill>
                <a:latin typeface="Source Han Sans SC"/>
                <a:ea typeface="Source Han Sans SC"/>
              </a:rPr>
              <a:t>背景</a:t>
            </a:r>
            <a:endParaRPr/>
          </a:p>
        </p:txBody>
      </p:sp>
      <p:sp>
        <p:nvSpPr>
          <p:cNvPr id="1116" name="" descr="{&quot;isTemplate&quot;:true,&quot;type&quot;:&quot;text&quot;}"/>
          <p:cNvSpPr txBox="1"/>
          <p:nvPr/>
        </p:nvSpPr>
        <p:spPr>
          <a:xfrm rot="0" flipH="0" flipV="0">
            <a:off x="1619250" y="2015137"/>
            <a:ext cx="48006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用历史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10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年的简历数据训练模型，自动给新简历打分。</a:t>
            </a:r>
            <a:endParaRPr/>
          </a:p>
        </p:txBody>
      </p:sp>
      <p:sp>
        <p:nvSpPr>
          <p:cNvPr id="1117" name=""/>
          <p:cNvSpPr/>
          <p:nvPr/>
        </p:nvSpPr>
        <p:spPr>
          <a:xfrm rot="0" flipH="0" flipV="0">
            <a:off x="1009650" y="2386612"/>
            <a:ext cx="495300" cy="228600"/>
          </a:xfrm>
          <a:prstGeom prst="roundRect">
            <a:avLst>
              <a:gd name="adj" fmla="val 2916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118" name="" descr="{&quot;isTemplate&quot;:true,&quot;type&quot;:&quot;text&quot;}"/>
          <p:cNvSpPr txBox="1"/>
          <p:nvPr/>
        </p:nvSpPr>
        <p:spPr>
          <a:xfrm rot="0" flipH="0" flipV="0">
            <a:off x="1143000" y="2434237"/>
            <a:ext cx="2381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 b="1">
                <a:solidFill>
                  <a:srgbClr val="1E4FA8"/>
                </a:solidFill>
                <a:latin typeface="Source Han Sans SC"/>
                <a:ea typeface="Source Han Sans SC"/>
              </a:rPr>
              <a:t>问题</a:t>
            </a:r>
            <a:endParaRPr/>
          </a:p>
        </p:txBody>
      </p:sp>
      <p:sp>
        <p:nvSpPr>
          <p:cNvPr id="1119" name="" descr="{&quot;isTemplate&quot;:true,&quot;type&quot;:&quot;text&quot;}"/>
          <p:cNvSpPr txBox="1"/>
          <p:nvPr/>
        </p:nvSpPr>
        <p:spPr>
          <a:xfrm rot="0" flipH="0" flipV="0">
            <a:off x="1619250" y="2377087"/>
            <a:ext cx="48006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历史录用数据本身偏向某一群体——模型把这个偏差完整学走。</a:t>
            </a:r>
            <a:endParaRPr/>
          </a:p>
        </p:txBody>
      </p:sp>
      <p:sp>
        <p:nvSpPr>
          <p:cNvPr id="1120" name=""/>
          <p:cNvSpPr/>
          <p:nvPr/>
        </p:nvSpPr>
        <p:spPr>
          <a:xfrm rot="0" flipH="0" flipV="0">
            <a:off x="1009650" y="2748562"/>
            <a:ext cx="495300" cy="228600"/>
          </a:xfrm>
          <a:prstGeom prst="roundRect">
            <a:avLst>
              <a:gd name="adj" fmla="val 2916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121" name="" descr="{&quot;isTemplate&quot;:true,&quot;type&quot;:&quot;text&quot;}"/>
          <p:cNvSpPr txBox="1"/>
          <p:nvPr/>
        </p:nvSpPr>
        <p:spPr>
          <a:xfrm rot="0" flipH="0" flipV="0">
            <a:off x="1143000" y="2796187"/>
            <a:ext cx="2381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 b="1">
                <a:solidFill>
                  <a:srgbClr val="1E4FA8"/>
                </a:solidFill>
                <a:latin typeface="Source Han Sans SC"/>
                <a:ea typeface="Source Han Sans SC"/>
              </a:rPr>
              <a:t>后果</a:t>
            </a:r>
            <a:endParaRPr/>
          </a:p>
        </p:txBody>
      </p:sp>
      <p:sp>
        <p:nvSpPr>
          <p:cNvPr id="1122" name="" descr="{&quot;isTemplate&quot;:true,&quot;type&quot;:&quot;text&quot;}"/>
          <p:cNvSpPr txBox="1"/>
          <p:nvPr/>
        </p:nvSpPr>
        <p:spPr>
          <a:xfrm rot="0" flipH="0" flipV="0">
            <a:off x="1619250" y="2739037"/>
            <a:ext cx="48006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模型学会主动调低含特定关键词的简历评分，项目最终被叫停。</a:t>
            </a:r>
            <a:endParaRPr/>
          </a:p>
        </p:txBody>
      </p:sp>
      <p:sp>
        <p:nvSpPr>
          <p:cNvPr id="1123" name=""/>
          <p:cNvSpPr/>
          <p:nvPr/>
        </p:nvSpPr>
        <p:spPr>
          <a:xfrm rot="0" flipH="0" flipV="0">
            <a:off x="1009650" y="3110512"/>
            <a:ext cx="495300" cy="228600"/>
          </a:xfrm>
          <a:prstGeom prst="roundRect">
            <a:avLst>
              <a:gd name="adj" fmla="val 2916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24" name="" descr="{&quot;isTemplate&quot;:true,&quot;type&quot;:&quot;text&quot;}"/>
          <p:cNvSpPr txBox="1"/>
          <p:nvPr/>
        </p:nvSpPr>
        <p:spPr>
          <a:xfrm rot="0" flipH="0" flipV="0">
            <a:off x="1143000" y="3158137"/>
            <a:ext cx="2381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 b="1">
                <a:solidFill>
                  <a:srgbClr val="FFFFFF"/>
                </a:solidFill>
                <a:latin typeface="Source Han Sans SC"/>
                <a:ea typeface="Source Han Sans SC"/>
              </a:rPr>
              <a:t>教训</a:t>
            </a:r>
            <a:endParaRPr/>
          </a:p>
        </p:txBody>
      </p:sp>
      <p:sp>
        <p:nvSpPr>
          <p:cNvPr id="1125" name="" descr="{&quot;isTemplate&quot;:true,&quot;type&quot;:&quot;text&quot;}"/>
          <p:cNvSpPr txBox="1"/>
          <p:nvPr/>
        </p:nvSpPr>
        <p:spPr>
          <a:xfrm rot="0" flipH="0" flipV="0">
            <a:off x="1619250" y="3100987"/>
            <a:ext cx="48006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数据反映的是「过去怎么做的」，不等于「应该怎么做」。</a:t>
            </a:r>
            <a:endParaRPr/>
          </a:p>
        </p:txBody>
      </p:sp>
      <p:sp>
        <p:nvSpPr>
          <p:cNvPr id="1126" name=""/>
          <p:cNvSpPr/>
          <p:nvPr/>
        </p:nvSpPr>
        <p:spPr>
          <a:xfrm rot="0" flipH="0" flipV="0">
            <a:off x="800100" y="3653437"/>
            <a:ext cx="5867400" cy="285750"/>
          </a:xfrm>
          <a:custGeom>
            <a:pathLst>
              <a:path w="616" h="30">
                <a:moveTo>
                  <a:pt x="0" y="0"/>
                </a:moveTo>
                <a:lnTo>
                  <a:pt x="4" y="0"/>
                </a:lnTo>
                <a:lnTo>
                  <a:pt x="4" y="30"/>
                </a:lnTo>
                <a:lnTo>
                  <a:pt x="0" y="3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27" name="" descr="{&quot;isTemplate&quot;:true,&quot;type&quot;:&quot;text&quot;}"/>
          <p:cNvSpPr txBox="1"/>
          <p:nvPr/>
        </p:nvSpPr>
        <p:spPr>
          <a:xfrm rot="0" flipH="0" flipV="0">
            <a:off x="971550" y="3653437"/>
            <a:ext cx="5657850" cy="2857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63" b="1">
                <a:solidFill>
                  <a:srgbClr val="0E3F8C"/>
                </a:solidFill>
                <a:latin typeface="Source Han Sans SC"/>
                <a:ea typeface="Source Han Sans SC"/>
              </a:rPr>
              <a:t>判断：</a:t>
            </a:r>
            <a:r>
              <a:rPr lang="zh-CN" sz="1163">
                <a:solidFill>
                  <a:srgbClr val="1A2230"/>
                </a:solidFill>
                <a:latin typeface="Source Han Sans SC"/>
                <a:ea typeface="Source Han Sans SC"/>
              </a:rPr>
              <a:t>数据缺陷不是「统计噪声」，而是会被模型</a:t>
            </a:r>
            <a:r>
              <a:rPr lang="zh-CN" sz="1163" b="1">
                <a:solidFill>
                  <a:srgbClr val="0E3F8C"/>
                </a:solidFill>
                <a:latin typeface="Source Han Sans SC"/>
                <a:ea typeface="Source Han Sans SC"/>
              </a:rPr>
              <a:t>系统性放大</a:t>
            </a:r>
            <a:r>
              <a:rPr lang="zh-CN" sz="1163">
                <a:solidFill>
                  <a:srgbClr val="1A2230"/>
                </a:solidFill>
                <a:latin typeface="Source Han Sans SC"/>
                <a:ea typeface="Source Han Sans SC"/>
              </a:rPr>
              <a:t>的结构性问题。</a:t>
            </a:r>
            <a:endParaRPr/>
          </a:p>
        </p:txBody>
      </p:sp>
      <p:sp>
        <p:nvSpPr>
          <p:cNvPr id="1128" name="" descr="{&quot;isTemplate&quot;:true,&quot;type&quot;:&quot;text&quot;}"/>
          <p:cNvSpPr txBox="1"/>
          <p:nvPr/>
        </p:nvSpPr>
        <p:spPr>
          <a:xfrm rot="0" flipH="0" flipV="0">
            <a:off x="6915150" y="2234212"/>
            <a:ext cx="4476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Source Han Sans SC"/>
                <a:ea typeface="Source Han Sans SC"/>
              </a:rPr>
              <a:t>课堂快问</a:t>
            </a:r>
            <a:r>
              <a:rPr lang="en-US" sz="1350" b="1">
                <a:solidFill>
                  <a:srgbClr val="0E3F8C"/>
                </a:solidFill>
                <a:latin typeface="Source Han Sans SC"/>
                <a:ea typeface="Source Han Sans SC"/>
              </a:rPr>
              <a:t> · </a:t>
            </a:r>
            <a:r>
              <a:rPr lang="zh-CN" sz="1350" b="1">
                <a:solidFill>
                  <a:srgbClr val="0E3F8C"/>
                </a:solidFill>
                <a:latin typeface="Source Han Sans SC"/>
                <a:ea typeface="Source Han Sans SC"/>
              </a:rPr>
              <a:t>用六维度诊断</a:t>
            </a:r>
            <a:endParaRPr/>
          </a:p>
        </p:txBody>
      </p:sp>
      <p:sp>
        <p:nvSpPr>
          <p:cNvPr id="1129" name=""/>
          <p:cNvSpPr/>
          <p:nvPr/>
        </p:nvSpPr>
        <p:spPr>
          <a:xfrm rot="0" flipH="0" flipV="0">
            <a:off x="6915150" y="2558062"/>
            <a:ext cx="4476750" cy="619125"/>
          </a:xfrm>
          <a:prstGeom prst="roundRect">
            <a:avLst>
              <a:gd name="adj" fmla="val 1538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130" name="" descr="{&quot;isTemplate&quot;:true,&quot;type&quot;:&quot;text&quot;}"/>
          <p:cNvSpPr txBox="1"/>
          <p:nvPr/>
        </p:nvSpPr>
        <p:spPr>
          <a:xfrm rot="0" flipH="0" flipV="0">
            <a:off x="7067550" y="2672362"/>
            <a:ext cx="4171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「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用户手机号一栏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40%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是空的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」属于哪个维度？</a:t>
            </a:r>
            <a:endParaRPr/>
          </a:p>
        </p:txBody>
      </p:sp>
      <p:pic>
        <p:nvPicPr>
          <p:cNvPr id="113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67550" y="2920012"/>
            <a:ext cx="123825" cy="123825"/>
          </a:xfrm>
          <a:prstGeom prst="rect">
            <a:avLst/>
          </a:prstGeom>
          <a:ln/>
        </p:spPr>
      </p:pic>
      <p:sp>
        <p:nvSpPr>
          <p:cNvPr id="1132" name="" descr="{&quot;isTemplate&quot;:true,&quot;type&quot;:&quot;text&quot;}"/>
          <p:cNvSpPr txBox="1"/>
          <p:nvPr/>
        </p:nvSpPr>
        <p:spPr>
          <a:xfrm rot="0" flipH="0" flipV="0">
            <a:off x="7267575" y="2900962"/>
            <a:ext cx="13525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3D7BD9"/>
                </a:solidFill>
                <a:latin typeface="Source Han Sans SC"/>
                <a:ea typeface="Source Han Sans SC"/>
              </a:rPr>
              <a:t>完整性</a:t>
            </a:r>
            <a:r>
              <a:rPr lang="en-US" sz="1050" b="1">
                <a:solidFill>
                  <a:srgbClr val="3D7BD9"/>
                </a:solidFill>
                <a:latin typeface="Source Han Sans SC"/>
                <a:ea typeface="Source Han Sans SC"/>
              </a:rPr>
              <a:t> Completeness</a:t>
            </a:r>
            <a:endParaRPr/>
          </a:p>
        </p:txBody>
      </p:sp>
      <p:sp>
        <p:nvSpPr>
          <p:cNvPr id="1133" name=""/>
          <p:cNvSpPr/>
          <p:nvPr/>
        </p:nvSpPr>
        <p:spPr>
          <a:xfrm rot="0" flipH="0" flipV="0">
            <a:off x="6915150" y="3291487"/>
            <a:ext cx="4476750" cy="619125"/>
          </a:xfrm>
          <a:prstGeom prst="roundRect">
            <a:avLst>
              <a:gd name="adj" fmla="val 1538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134" name="" descr="{&quot;isTemplate&quot;:true,&quot;type&quot;:&quot;text&quot;}"/>
          <p:cNvSpPr txBox="1"/>
          <p:nvPr/>
        </p:nvSpPr>
        <p:spPr>
          <a:xfrm rot="0" flipH="0" flipV="0">
            <a:off x="7067550" y="3405787"/>
            <a:ext cx="4171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「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两个系统里同一客户的年龄不同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」属于哪个维度？</a:t>
            </a:r>
            <a:endParaRPr/>
          </a:p>
        </p:txBody>
      </p:sp>
      <p:pic>
        <p:nvPicPr>
          <p:cNvPr id="11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67550" y="3653437"/>
            <a:ext cx="123825" cy="123825"/>
          </a:xfrm>
          <a:prstGeom prst="rect">
            <a:avLst/>
          </a:prstGeom>
          <a:ln/>
        </p:spPr>
      </p:pic>
      <p:sp>
        <p:nvSpPr>
          <p:cNvPr id="1136" name="" descr="{&quot;isTemplate&quot;:true,&quot;type&quot;:&quot;text&quot;}"/>
          <p:cNvSpPr txBox="1"/>
          <p:nvPr/>
        </p:nvSpPr>
        <p:spPr>
          <a:xfrm rot="0" flipH="0" flipV="0">
            <a:off x="7267575" y="3634387"/>
            <a:ext cx="1228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4FA8"/>
                </a:solidFill>
                <a:latin typeface="Source Han Sans SC"/>
                <a:ea typeface="Source Han Sans SC"/>
              </a:rPr>
              <a:t>一致性</a:t>
            </a: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 Consistency</a:t>
            </a:r>
            <a:endParaRPr/>
          </a:p>
        </p:txBody>
      </p:sp>
      <p:sp>
        <p:nvSpPr>
          <p:cNvPr id="1137" name=""/>
          <p:cNvSpPr/>
          <p:nvPr/>
        </p:nvSpPr>
        <p:spPr>
          <a:xfrm rot="0" flipH="0" flipV="0">
            <a:off x="6915150" y="4024912"/>
            <a:ext cx="4476750" cy="619125"/>
          </a:xfrm>
          <a:prstGeom prst="roundRect">
            <a:avLst>
              <a:gd name="adj" fmla="val 1538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138" name="" descr="{&quot;isTemplate&quot;:true,&quot;type&quot;:&quot;text&quot;}"/>
          <p:cNvSpPr txBox="1"/>
          <p:nvPr/>
        </p:nvSpPr>
        <p:spPr>
          <a:xfrm rot="0" flipH="0" flipV="0">
            <a:off x="7067550" y="4139212"/>
            <a:ext cx="4171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「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用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2015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年的房价预测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2026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年市场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」属于哪个维度？</a:t>
            </a:r>
            <a:endParaRPr/>
          </a:p>
        </p:txBody>
      </p:sp>
      <p:pic>
        <p:nvPicPr>
          <p:cNvPr id="113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67550" y="4386862"/>
            <a:ext cx="123825" cy="123825"/>
          </a:xfrm>
          <a:prstGeom prst="rect">
            <a:avLst/>
          </a:prstGeom>
          <a:ln/>
        </p:spPr>
      </p:pic>
      <p:sp>
        <p:nvSpPr>
          <p:cNvPr id="1140" name="" descr="{&quot;isTemplate&quot;:true,&quot;type&quot;:&quot;text&quot;}"/>
          <p:cNvSpPr txBox="1"/>
          <p:nvPr/>
        </p:nvSpPr>
        <p:spPr>
          <a:xfrm rot="0" flipH="0" flipV="0">
            <a:off x="7267575" y="4367812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0E3F8C"/>
                </a:solidFill>
                <a:latin typeface="Source Han Sans SC"/>
                <a:ea typeface="Source Han Sans SC"/>
              </a:rPr>
              <a:t>时效性</a:t>
            </a:r>
            <a:r>
              <a:rPr lang="en-US" sz="1050" b="1">
                <a:solidFill>
                  <a:srgbClr val="0E3F8C"/>
                </a:solidFill>
                <a:latin typeface="Source Han Sans SC"/>
                <a:ea typeface="Source Han Sans SC"/>
              </a:rPr>
              <a:t> Timeliness</a:t>
            </a:r>
            <a:endParaRPr/>
          </a:p>
        </p:txBody>
      </p:sp>
      <p:sp>
        <p:nvSpPr>
          <p:cNvPr id="1141" name=""/>
          <p:cNvSpPr/>
          <p:nvPr/>
        </p:nvSpPr>
        <p:spPr>
          <a:xfrm rot="0" flipH="0" flipV="0">
            <a:off x="6915150" y="4758337"/>
            <a:ext cx="4476750" cy="619125"/>
          </a:xfrm>
          <a:prstGeom prst="roundRect">
            <a:avLst>
              <a:gd name="adj" fmla="val 1538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142" name="" descr="{&quot;isTemplate&quot;:true,&quot;type&quot;:&quot;text&quot;}"/>
          <p:cNvSpPr txBox="1"/>
          <p:nvPr/>
        </p:nvSpPr>
        <p:spPr>
          <a:xfrm rot="0" flipH="0" flipV="0">
            <a:off x="7067550" y="4872637"/>
            <a:ext cx="4171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「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只收集了白天的交通流量就建模全天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」属于哪个维度？</a:t>
            </a:r>
            <a:endParaRPr/>
          </a:p>
        </p:txBody>
      </p:sp>
      <p:pic>
        <p:nvPicPr>
          <p:cNvPr id="114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67550" y="5120287"/>
            <a:ext cx="123825" cy="123825"/>
          </a:xfrm>
          <a:prstGeom prst="rect">
            <a:avLst/>
          </a:prstGeom>
          <a:ln/>
        </p:spPr>
      </p:pic>
      <p:sp>
        <p:nvSpPr>
          <p:cNvPr id="1144" name="" descr="{&quot;isTemplate&quot;:true,&quot;type&quot;:&quot;text&quot;}"/>
          <p:cNvSpPr txBox="1"/>
          <p:nvPr/>
        </p:nvSpPr>
        <p:spPr>
          <a:xfrm rot="0" flipH="0" flipV="0">
            <a:off x="7267575" y="5101237"/>
            <a:ext cx="1409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3D7BD9"/>
                </a:solidFill>
                <a:latin typeface="Source Han Sans SC"/>
                <a:ea typeface="Source Han Sans SC"/>
              </a:rPr>
              <a:t>代表性</a:t>
            </a:r>
            <a:r>
              <a:rPr lang="en-US" sz="1050" b="1">
                <a:solidFill>
                  <a:srgbClr val="3D7BD9"/>
                </a:solidFill>
                <a:latin typeface="Source Han Sans SC"/>
                <a:ea typeface="Source Han Sans SC"/>
              </a:rPr>
              <a:t> Representation</a:t>
            </a:r>
            <a:endParaRPr/>
          </a:p>
        </p:txBody>
      </p:sp>
      <p:sp>
        <p:nvSpPr>
          <p:cNvPr id="1145" name="" descr="{&quot;isTemplate&quot;:true,&quot;type&quot;:&quot;text&quot;}"/>
          <p:cNvSpPr txBox="1"/>
          <p:nvPr/>
        </p:nvSpPr>
        <p:spPr>
          <a:xfrm rot="0" flipH="0" flipV="0">
            <a:off x="6915150" y="5491762"/>
            <a:ext cx="4476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SC"/>
                <a:ea typeface="Source Han Sans SC"/>
              </a:rPr>
              <a:t>先举手投票，再逐一讲解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 · Vote first, then reveal</a:t>
            </a:r>
            <a:endParaRPr/>
          </a:p>
        </p:txBody>
      </p:sp>
      <p:sp>
        <p:nvSpPr>
          <p:cNvPr id="1146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1147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07 / 32</a:t>
            </a:r>
            <a:endParaRPr/>
          </a:p>
        </p:txBody>
      </p:sp>
    </p:spTree>
  </p:cSld>
</p:sld>
</file>

<file path=ppt/slides/slide8.xml><?xml version="1.0" encoding="utf-8"?>
<p:sld xmlns:a="http://schemas.openxmlformats.org/drawingml/2006/main" xmlns:p="http://schemas.openxmlformats.org/presentationml/2006/main">
  <p:cSld>
    <p:spTree>
      <p:nvGrpSpPr>
        <p:cNvPr id="1148" name="" descr="&lt;Slide style={{ width: '1280px', height: '720px', background: '#F7F9FC', padding: '0px', position: 'relative', overflow: 'hidden', fontFamily: 'Source Han Sans SC, PingFang SC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2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2&lt;/Text&gt;&#10;      &lt;/Box&gt;&#10;      &lt;Box style={{ paddingTop: 6 }}&gt;&#10;        &lt;Text style={{ fontSize: 44, color: '#1A2230', fontWeight: 'bold' }}&gt;NumPy 与 Pandas&lt;/Text&gt;&#10;        &lt;Text style={{ fontSize: 26, color: '#8B97A8', fontWeight: '600', marginTop: 6 }}&gt;The Two Core Tools&lt;/Text&gt;&#10;      &lt;/Box&gt;&#10;    &lt;/Box&gt;&#10;    &lt;Box style={{ flexDirection: 'row', gap: 24 }}&gt;&#10;      {[&#10;        { t: '数组运算', e: 'NumPy Arrays' },&#10;        { t: '表格操作', e: 'Pandas DataFrames' },&#10;        { t: '向量化提速', e: 'Vectorization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50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51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Source Han Sans SC"/>
                <a:ea typeface="Source Han Sans SC"/>
              </a:rPr>
              <a:t>02</a:t>
            </a:r>
            <a:endParaRPr/>
          </a:p>
        </p:txBody>
      </p:sp>
      <p:sp>
        <p:nvSpPr>
          <p:cNvPr id="1152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53" name="" descr="{&quot;isTemplate&quot;:true,&quot;type&quot;:&quot;text&quot;}"/>
          <p:cNvSpPr txBox="1"/>
          <p:nvPr/>
        </p:nvSpPr>
        <p:spPr>
          <a:xfrm rot="0" flipH="0" flipV="0">
            <a:off x="1123950" y="1314450"/>
            <a:ext cx="71437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Source Han Sans SC"/>
                <a:ea typeface="Source Han Sans SC"/>
              </a:rPr>
              <a:t>02</a:t>
            </a:r>
            <a:endParaRPr/>
          </a:p>
        </p:txBody>
      </p:sp>
      <p:sp>
        <p:nvSpPr>
          <p:cNvPr id="1154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359092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A2230"/>
                </a:solidFill>
                <a:latin typeface="Source Han Sans SC"/>
                <a:ea typeface="Source Han Sans SC"/>
              </a:rPr>
              <a:t>NumPy </a:t>
            </a:r>
            <a:r>
              <a:rPr lang="zh-CN" sz="3300" b="1">
                <a:solidFill>
                  <a:srgbClr val="1A2230"/>
                </a:solidFill>
                <a:latin typeface="Source Han Sans SC"/>
                <a:ea typeface="Source Han Sans SC"/>
              </a:rPr>
              <a:t>与</a:t>
            </a:r>
            <a:r>
              <a:rPr lang="en-US" sz="3300" b="1">
                <a:solidFill>
                  <a:srgbClr val="1A2230"/>
                </a:solidFill>
                <a:latin typeface="Source Han Sans SC"/>
                <a:ea typeface="Source Han Sans SC"/>
              </a:rPr>
              <a:t> Pandas</a:t>
            </a:r>
            <a:endParaRPr/>
          </a:p>
        </p:txBody>
      </p:sp>
      <p:sp>
        <p:nvSpPr>
          <p:cNvPr id="1155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35909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Source Han Sans SC"/>
                <a:ea typeface="Source Han Sans SC"/>
              </a:rPr>
              <a:t>The Two Core Tools</a:t>
            </a:r>
            <a:endParaRPr/>
          </a:p>
        </p:txBody>
      </p:sp>
      <p:sp>
        <p:nvSpPr>
          <p:cNvPr id="1156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57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58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数组运算</a:t>
            </a:r>
            <a:endParaRPr/>
          </a:p>
        </p:txBody>
      </p:sp>
      <p:sp>
        <p:nvSpPr>
          <p:cNvPr id="1159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NumPy Arrays</a:t>
            </a:r>
            <a:endParaRPr/>
          </a:p>
        </p:txBody>
      </p:sp>
      <p:sp>
        <p:nvSpPr>
          <p:cNvPr id="1160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61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62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表格操作</a:t>
            </a:r>
            <a:endParaRPr/>
          </a:p>
        </p:txBody>
      </p:sp>
      <p:sp>
        <p:nvSpPr>
          <p:cNvPr id="1163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Pandas DataFrames</a:t>
            </a:r>
            <a:endParaRPr/>
          </a:p>
        </p:txBody>
      </p:sp>
      <p:sp>
        <p:nvSpPr>
          <p:cNvPr id="1164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65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66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向量化提速</a:t>
            </a:r>
            <a:endParaRPr/>
          </a:p>
        </p:txBody>
      </p:sp>
      <p:sp>
        <p:nvSpPr>
          <p:cNvPr id="1167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Vectorization</a:t>
            </a:r>
            <a:endParaRPr/>
          </a:p>
        </p:txBody>
      </p:sp>
    </p:spTree>
  </p:cSld>
</p:sld>
</file>

<file path=ppt/slides/slide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168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NumPy × Pandas · 分工与配合&lt;/Text&gt;&#10;    &lt;Text style={{ fontSize: 15, color: 'rgba(255,255,255,0.85)' }}&gt;Module 1 · Week 2&lt;/Text&gt;&#10;  &lt;/Box&gt;&#10;  &lt;Box style={{ position: 'absolute', top: 100, left: 0, width: '100%', height: 540, padding: '10px 84px', flexDirection: 'row', gap: 40, alignItems: 'center' }}&gt;&#10;    &lt;Box style={{ flex: 1, height: 500, position: 'relative' }}&gt;&#10;      &lt;svg width={560} height={500} viewBox='0 0 560 500'&gt;&#10;        &lt;rect x='0' y='0' width='560' height='230' rx='20' fill='#F0F5FC' stroke='#1E4FA8' strokeWidth='2.5' /&gt;&#10;        &lt;text x='30' y='46' fill='#1E4FA8' fontSize='26' fontWeight='bold' fontFamily='Inter, sans-serif'&gt;NumPy&lt;/text&gt;&#10;        &lt;text x='30' y='70' fill='#8B97A8' fontSize='14' fontFamily='Inter, sans-serif'&gt;ndarray · homogeneous array&lt;/text&gt;&#10;        &lt;rect x='30' y='90' width='480' height='110' rx='10' fill='#FFFFFF' stroke='#D6DCE5' strokeWidth='1.5' /&gt;&#10;        &lt;rect x='44' y='104' width='50' height='13' rx='3' fill='#3D7BD9' opacity='0.75' /&gt;&#10;        &lt;rect x='102' y='104' width='50' height='13' rx='3' fill='#1E4FA8' opacity='0.75' /&gt;&#10;        &lt;rect x='160' y='104' width='50' height='13' rx='3' fill='#3D7BD9' opacity='0.75' /&gt;&#10;        &lt;rect x='218' y='104' width='50' height='13' rx='3' fill='#1E4FA8' opacity='0.75' /&gt;&#10;        &lt;rect x='276' y='104' width='50' height='13' rx='3' fill='#3D7BD9' opacity='0.75' /&gt;&#10;        &lt;rect x='334' y='104' width='50' height='13' rx='3' fill='#1E4FA8' opacity='0.75' /&gt;&#10;        &lt;rect x='392' y='104' width='50' height='13' rx='3' fill='#3D7BD9' opacity='0.75' /&gt;&#10;        &lt;rect x='450' y='104' width='50' height='13' rx='3' fill='#1E4FA8' opacity='0.75' /&gt;&#10;        &lt;rect x='44' y='123' width='50' height='13' rx='3' fill='#1E4FA8' opacity='0.75' /&gt;&#10;        &lt;rect x='102' y='123' width='50' height='13' rx='3' fill='#3D7BD9' opacity='0.75' /&gt;&#10;        &lt;rect x='160' y='123' width='50' height='13' rx='3' fill='#1E4FA8' opacity='0.75' /&gt;&#10;        &lt;rect x='218' y='123' width='50' height='13' rx='3' fill='#3D7BD9' opacity='0.75' /&gt;&#10;        &lt;rect x='276' y='123' width='50' height='13' rx='3' fill='#1E4FA8' opacity='0.75' /&gt;&#10;        &lt;rect x='334' y='123' width='50' height='13' rx='3' fill='#3D7BD9' opacity='0.75' /&gt;&#10;        &lt;rect x='392' y='123' width='50' height='13' rx='3' fill='#1E4FA8' opacity='0.75' /&gt;&#10;        &lt;rect x='450' y='123' width='50' height='13' rx='3' fill='#3D7BD9' opacity='0.75' /&gt;&#10;        &lt;rect x='44' y='142' width='50' height='13' rx='3' fill='#3D7BD9' opacity='0.75' /&gt;&#10;        &lt;rect x='102' y='142' width='50' height='13' rx='3' fill='#1E4FA8' opacity='0.75' /&gt;&#10;        &lt;rect x='160' y='142' width='50' height='13' rx='3' fill='#3D7BD9' opacity='0.75' /&gt;&#10;        &lt;rect x='218' y='142' width='50' height='13' rx='3' fill='#1E4FA8' opacity='0.75' /&gt;&#10;        &lt;rect x='276' y='142' width='50' height='13' rx='3' fill='#3D7BD9' opacity='0.75' /&gt;&#10;        &lt;rect x='334' y='142' width='50' height='13' rx='3' fill='#1E4FA8' opacity='0.75' /&gt;&#10;        &lt;rect x='392' y='142' width='50' height='13' rx='3' fill='#3D7BD9' opacity='0.75' /&gt;&#10;        &lt;rect x='450' y='142' width='50' height='13' rx='3' fill='#1E4FA8' opacity='0.75' /&gt;&#10;        &lt;rect x='44' y='161' width='50' height='13' rx='3' fill='#1E4FA8' opacity='0.75' /&gt;&#10;        &lt;rect x='102' y='161' width='50' height='13' rx='3' fill='#3D7BD9' opacity='0.75' /&gt;&#10;        &lt;rect x='160' y='161' width='50' height='13' rx='3' fill='#1E4FA8' opacity='0.75' /&gt;&#10;        &lt;rect x='218' y='161' width='50' height='13' rx='3' fill='#3D7BD9' opacity='0.75' /&gt;&#10;        &lt;rect x='276' y='161' width='50' height='13' rx='3' fill='#1E4FA8' opacity='0.75' /&gt;&#10;        &lt;rect x='334' y='161' width='50' height='13' rx='3' fill='#3D7BD9' opacity='0.75' /&gt;&#10;        &lt;rect x='392' y='161' width='50' height='13' rx='3' fill='#1E4FA8' opacity='0.75' /&gt;&#10;        &lt;rect x='450' y='161' width='50' height='13' rx='3' fill='#3D7BD9' opacity='0.75' /&gt;&#10;        &lt;rect x='44' y='180' width='50' height='13' rx='3' fill='#3D7BD9' opacity='0.75' /&gt;&#10;        &lt;rect x='102' y='180' width='50' height='13' rx='3' fill='#1E4FA8' opacity='0.75' /&gt;&#10;        &lt;rect x='160' y='180' width='50' height='13' rx='3' fill='#3D7BD9' opacity='0.75' /&gt;&#10;        &lt;rect x='218' y='180' width='50' height='13' rx='3' fill='#1E4FA8' opacity='0.75' /&gt;&#10;        &lt;rect x='276' y='180' width='50' height='13' rx='3' fill='#3D7BD9' opacity='0.75' /&gt;&#10;        &lt;rect x='334' y='180' width='50' height='13' rx='3' fill='#1E4FA8' opacity='0.75' /&gt;&#10;        &lt;rect x='392' y='180' width='50' height='13' rx='3' fill='#3D7BD9' opacity='0.75' /&gt;&#10;        &lt;rect x='450' y='180' width='50' height='13' rx='3' fill='#1E4FA8' opacity='0.75' /&gt;&#10;        &lt;text x='30' y='226' fill='#4A5568' fontSize='14'&gt;同构数组 · 向量化运算 · 数值计算引擎&lt;/text&gt;&#10;&#10;        &lt;rect x='0' y='260' width='560' height='220' rx='20' fill='#E8EFF8' stroke='#0E3F8C' strokeWidth='2.5' /&gt;&#10;        &lt;text x='30' y='306' fill='#0E3F8C' fontSize='26' fontWeight='bold' fontFamily='Inter, sans-serif'&gt;Pandas&lt;/text&gt;&#10;        &lt;text x='30' y='330' fill='#8B97A8' fontSize='14' fontFamily='Inter, sans-serif'&gt;DataFrame · labeled table&lt;/text&gt;&#10;        &lt;rect x='30' y='344' width='480' height='96' rx='10' fill='#FFFFFF' stroke='#D6DCE5' strokeWidth='1.5' /&gt;&#10;        &lt;rect x='38' y='352' width='464' height='18' rx='4' fill='#0E3F8C' opacity='0.85' /&gt;&#10;        &lt;rect x='38' y='375' width='464' height='12' rx='3' fill='#3D7BD9' opacity='0.55' /&gt;&#10;        &lt;rect x='38' y='391' width='380' height='12' rx='3' fill='#8B97A8' opacity='0.55' /&gt;&#10;        &lt;rect x='38' y='407' width='464' height='12' rx='3' fill='#3D7BD9' opacity='0.55' /&gt;&#10;        &lt;rect x='38' y='423' width='380' height='12' rx='3' fill='#8B97A8' opacity='0.55' /&gt;&#10;        &lt;text x='30' y='462' fill='#4A5568' fontSize='14'&gt;异构表格 · 标签索引 · 结构化数据操作&lt;/text&gt;&#10;&#10;        &lt;path d='M 280 230 L 280 260' stroke='#1E4FA8' strokeWidth='3' /&gt;&#10;        &lt;path d='M 272 252 L 280 262 L 288 252' stroke='#1E4FA8' strokeWidth='3' fill='none' /&gt;&#10;      &lt;/svg&gt;&#10;    &lt;/Box&gt;&#10;    &lt;Box style={{ flex: 1, gap: 16 }}&gt;&#10;      &lt;Text style={{ fontSize: 30, color: '#0E3F8C', fontWeight: 'bold' }}&gt;Pandas 建在 NumPy 之上&lt;/Text&gt;&#10;      &lt;Text style={{ fontSize: 17, color: '#4A5568', lineHeight: 1.6 }}&gt;&#10;        &lt;span style={{ fontWeight: 'bold', color: '#1A2230' }}&gt;NumPy&lt;/span&gt; 管「数字网格」——所有元素同类型，为速度而生；&#10;        &lt;span style={{ fontWeight: 'bold', color: '#1A2230' }}&gt;Pandas&lt;/span&gt; 管「真实表格」——每列可以是不同类型，带行/列标签。&#10;        &lt;br /&gt;&#10;        &lt;span style={{ color: '#8B97A8', fontSize: 15 }}&gt;Pandas is the high-level table API on top of NumPy arrays.&lt;/span&gt;&#10;      &lt;/Text&gt;&#10;      &lt;Box style={{ background: '#F7F9FC', border: '1px solid #E5E7EB', borderRadius: 12, padding: '18px 22px' }}&gt;&#10;        &lt;Text style={{ fontSize: 17, color: '#0E3F8C', fontWeight: 'bold', marginBottom: 10 }}&gt;怎么选 · When to Use Which&lt;/Text&gt;&#10;        {[&#10;          { q: '数值矩阵 / 图像张量 / 数学运算', a: '→ NumPy', c: '#3D7BD9' },&#10;          { q: 'CSV / 数据库表 / 混合类型列', a: '→ Pandas', c: '#0E3F8C' },&#10;          { q: '表格里取一列做数学运算', a: '→ 两者协作', c: '#1E4FA8' },&#10;        ].map((r, i) =&gt; (&#10;          &lt;Box key={i} style={{ flexDirection: 'row', alignItems: 'center', gap: 12, marginBottom: 8 }}&gt;&#10;            &lt;Box style={{ width: 26, height: 26, borderRadius: 8, background: '#E8EFF8', justifyContent: 'center', alignItems: 'center', flexShrink: 0 }}&gt;&#10;              &lt;Text style={{ fontSize: 14, color: '#1E4FA8', fontWeight: 'bold' }}&gt;{i + 1}&lt;/Text&gt;&#10;            &lt;/Box&gt;&#10;            &lt;Text style={{ fontSize: 16, color: '#1A2230', flex: 1 }}&gt;{r.q}&lt;/Text&gt;&#10;            &lt;Text style={{ fontSize: 15, color: r.c, fontWeight: '600' }}&gt;{r.a}&lt;/Text&gt;&#10;          &lt;/Box&gt;&#10;        ))}&#10;      &lt;/Box&gt;&#10;      &lt;Box style={{ borderLeft: '4px solid #0E3F8C', paddingLeft: 14 }}&gt;&#10;        &lt;Text style={{ fontSize: 16, color: '#1A2230', lineHeight: 1.6 }}&gt;&#10;          例：图像像素 = &lt;span style={{ fontWeight: 'bold', color: '#3D7BD9' }}&gt;NumPy&lt;/span&gt;；Titanic 乘客表 = &lt;span style={{ fontWeight: 'bold', color: '#0E3F8C' }}&gt;Pandas&lt;/span&gt;。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09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70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71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009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NumPy × Pandas ·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分工与配合</a:t>
            </a:r>
            <a:endParaRPr/>
          </a:p>
        </p:txBody>
      </p:sp>
      <p:sp>
        <p:nvSpPr>
          <p:cNvPr id="1172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1173" name="" descr="{&quot;isTemplate&quot;:true,&quot;type&quot;:&quot;text&quot;}"/>
          <p:cNvSpPr txBox="1"/>
          <p:nvPr/>
        </p:nvSpPr>
        <p:spPr>
          <a:xfrm rot="0" flipH="0" flipV="0">
            <a:off x="6286500" y="1724025"/>
            <a:ext cx="51054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Source Han Sans SC"/>
                <a:ea typeface="Source Han Sans SC"/>
              </a:rPr>
              <a:t>Pandas </a:t>
            </a:r>
            <a:r>
              <a:rPr lang="zh-CN" sz="2250" b="1">
                <a:solidFill>
                  <a:srgbClr val="0E3F8C"/>
                </a:solidFill>
                <a:latin typeface="Source Han Sans SC"/>
                <a:ea typeface="Source Han Sans SC"/>
              </a:rPr>
              <a:t>建在</a:t>
            </a:r>
            <a:r>
              <a:rPr lang="en-US" sz="2250" b="1">
                <a:solidFill>
                  <a:srgbClr val="0E3F8C"/>
                </a:solidFill>
                <a:latin typeface="Source Han Sans SC"/>
                <a:ea typeface="Source Han Sans SC"/>
              </a:rPr>
              <a:t> NumPy </a:t>
            </a:r>
            <a:r>
              <a:rPr lang="zh-CN" sz="2250" b="1">
                <a:solidFill>
                  <a:srgbClr val="0E3F8C"/>
                </a:solidFill>
                <a:latin typeface="Source Han Sans SC"/>
                <a:ea typeface="Source Han Sans SC"/>
              </a:rPr>
              <a:t>之上</a:t>
            </a:r>
            <a:endParaRPr/>
          </a:p>
        </p:txBody>
      </p:sp>
      <p:sp>
        <p:nvSpPr>
          <p:cNvPr id="1174" name="" descr="{&quot;isTemplate&quot;:true,&quot;type&quot;:&quot;text&quot;}"/>
          <p:cNvSpPr txBox="1"/>
          <p:nvPr/>
        </p:nvSpPr>
        <p:spPr>
          <a:xfrm rot="0" flipH="0" flipV="0">
            <a:off x="6286500" y="2219325"/>
            <a:ext cx="5105400" cy="9048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NumPy</a:t>
            </a:r>
            <a:r>
              <a:rPr lang="en-US" sz="1275">
                <a:solidFill>
                  <a:srgbClr val="4A5568"/>
                </a:solidFill>
                <a:latin typeface="Source Han Sans SC"/>
                <a:ea typeface="Source Han Sans SC"/>
              </a:rPr>
              <a:t> </a:t>
            </a:r>
            <a:r>
              <a:rPr lang="zh-CN" sz="1275">
                <a:solidFill>
                  <a:srgbClr val="4A5568"/>
                </a:solidFill>
                <a:latin typeface="Source Han Sans SC"/>
                <a:ea typeface="Source Han Sans SC"/>
              </a:rPr>
              <a:t>管「数字网格」——所有元素同类型，为速度而生；</a:t>
            </a: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Pandas</a:t>
            </a:r>
            <a:r>
              <a:rPr lang="en-US" sz="1275">
                <a:solidFill>
                  <a:srgbClr val="4A5568"/>
                </a:solidFill>
                <a:latin typeface="Source Han Sans SC"/>
                <a:ea typeface="Source Han Sans SC"/>
              </a:rPr>
              <a:t> </a:t>
            </a:r>
            <a:r>
              <a:rPr lang="zh-CN" sz="1275">
                <a:solidFill>
                  <a:srgbClr val="4A5568"/>
                </a:solidFill>
                <a:latin typeface="Source Han Sans SC"/>
                <a:ea typeface="Source Han Sans SC"/>
              </a:rPr>
              <a:t>管「真实表格」——每列可以是不同类型，带行</a:t>
            </a:r>
            <a:r>
              <a:rPr lang="en-US" sz="1275">
                <a:solidFill>
                  <a:srgbClr val="4A5568"/>
                </a:solidFill>
                <a:latin typeface="Source Han Sans SC"/>
                <a:ea typeface="Source Han Sans SC"/>
              </a:rPr>
              <a:t>/</a:t>
            </a:r>
            <a:r>
              <a:rPr lang="zh-CN" sz="1275">
                <a:solidFill>
                  <a:srgbClr val="4A5568"/>
                </a:solidFill>
                <a:latin typeface="Source Han Sans SC"/>
                <a:ea typeface="Source Han Sans SC"/>
              </a:rPr>
              <a:t>列标签。</a:t>
            </a:r>
            <a:endParaRPr/>
          </a:p>
          <a:p>
            <a:pPr>
              <a:lnSpc>
                <a:spcPct val="16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Pandas is the high-level table API on top of NumPy arrays.</a:t>
            </a:r>
            <a:endParaRPr/>
          </a:p>
        </p:txBody>
      </p:sp>
      <p:sp>
        <p:nvSpPr>
          <p:cNvPr id="1175" name=""/>
          <p:cNvSpPr/>
          <p:nvPr/>
        </p:nvSpPr>
        <p:spPr>
          <a:xfrm rot="0" flipH="0" flipV="0">
            <a:off x="6286500" y="3276600"/>
            <a:ext cx="5105400" cy="1609725"/>
          </a:xfrm>
          <a:prstGeom prst="roundRect">
            <a:avLst>
              <a:gd name="adj" fmla="val 710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176" name="" descr="{&quot;isTemplate&quot;:true,&quot;type&quot;:&quot;text&quot;}"/>
          <p:cNvSpPr txBox="1"/>
          <p:nvPr/>
        </p:nvSpPr>
        <p:spPr>
          <a:xfrm rot="0" flipH="0" flipV="0">
            <a:off x="6496050" y="3448050"/>
            <a:ext cx="4686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Source Han Sans SC"/>
                <a:ea typeface="Source Han Sans SC"/>
              </a:rPr>
              <a:t>怎么选</a:t>
            </a:r>
            <a:r>
              <a:rPr lang="en-US" sz="1275" b="1">
                <a:solidFill>
                  <a:srgbClr val="0E3F8C"/>
                </a:solidFill>
                <a:latin typeface="Source Han Sans SC"/>
                <a:ea typeface="Source Han Sans SC"/>
              </a:rPr>
              <a:t> · When to Use Which</a:t>
            </a:r>
            <a:endParaRPr/>
          </a:p>
        </p:txBody>
      </p:sp>
      <p:sp>
        <p:nvSpPr>
          <p:cNvPr id="1177" name=""/>
          <p:cNvSpPr/>
          <p:nvPr/>
        </p:nvSpPr>
        <p:spPr>
          <a:xfrm rot="0" flipH="0" flipV="0">
            <a:off x="6496050" y="374332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178" name="" descr="{&quot;isTemplate&quot;:true,&quot;type&quot;:&quot;text&quot;}"/>
          <p:cNvSpPr txBox="1"/>
          <p:nvPr/>
        </p:nvSpPr>
        <p:spPr>
          <a:xfrm rot="0" flipH="0" flipV="0">
            <a:off x="6591300" y="3790950"/>
            <a:ext cx="57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1</a:t>
            </a:r>
            <a:endParaRPr/>
          </a:p>
        </p:txBody>
      </p:sp>
      <p:sp>
        <p:nvSpPr>
          <p:cNvPr id="1179" name="" descr="{&quot;isTemplate&quot;:true,&quot;type&quot;:&quot;text&quot;}"/>
          <p:cNvSpPr txBox="1"/>
          <p:nvPr/>
        </p:nvSpPr>
        <p:spPr>
          <a:xfrm rot="0" flipH="0" flipV="0">
            <a:off x="6858000" y="3771900"/>
            <a:ext cx="35337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数值矩阵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/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图像张量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/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数学运算</a:t>
            </a:r>
            <a:endParaRPr/>
          </a:p>
        </p:txBody>
      </p:sp>
      <p:sp>
        <p:nvSpPr>
          <p:cNvPr id="1180" name="" descr="{&quot;isTemplate&quot;:true,&quot;type&quot;:&quot;text&quot;}"/>
          <p:cNvSpPr txBox="1"/>
          <p:nvPr/>
        </p:nvSpPr>
        <p:spPr>
          <a:xfrm rot="0" flipH="0" flipV="0">
            <a:off x="10506075" y="3781425"/>
            <a:ext cx="676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3D7BD9"/>
                </a:solidFill>
                <a:latin typeface="Source Han Sans SC"/>
                <a:ea typeface="Source Han Sans SC"/>
              </a:rPr>
              <a:t>→ NumPy</a:t>
            </a:r>
            <a:endParaRPr/>
          </a:p>
        </p:txBody>
      </p:sp>
      <p:sp>
        <p:nvSpPr>
          <p:cNvPr id="1181" name=""/>
          <p:cNvSpPr/>
          <p:nvPr/>
        </p:nvSpPr>
        <p:spPr>
          <a:xfrm rot="0" flipH="0" flipV="0">
            <a:off x="6496050" y="406717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182" name="" descr="{&quot;isTemplate&quot;:true,&quot;type&quot;:&quot;text&quot;}"/>
          <p:cNvSpPr txBox="1"/>
          <p:nvPr/>
        </p:nvSpPr>
        <p:spPr>
          <a:xfrm rot="0" flipH="0" flipV="0">
            <a:off x="6581775" y="4114800"/>
            <a:ext cx="85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2</a:t>
            </a:r>
            <a:endParaRPr/>
          </a:p>
        </p:txBody>
      </p:sp>
      <p:sp>
        <p:nvSpPr>
          <p:cNvPr id="1183" name="" descr="{&quot;isTemplate&quot;:true,&quot;type&quot;:&quot;text&quot;}"/>
          <p:cNvSpPr txBox="1"/>
          <p:nvPr/>
        </p:nvSpPr>
        <p:spPr>
          <a:xfrm rot="0" flipH="0" flipV="0">
            <a:off x="6858000" y="4095750"/>
            <a:ext cx="3514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CSV /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数据库表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/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混合类型列</a:t>
            </a:r>
            <a:endParaRPr/>
          </a:p>
        </p:txBody>
      </p:sp>
      <p:sp>
        <p:nvSpPr>
          <p:cNvPr id="1184" name="" descr="{&quot;isTemplate&quot;:true,&quot;type&quot;:&quot;text&quot;}"/>
          <p:cNvSpPr txBox="1"/>
          <p:nvPr/>
        </p:nvSpPr>
        <p:spPr>
          <a:xfrm rot="0" flipH="0" flipV="0">
            <a:off x="10487025" y="41052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Source Han Sans SC"/>
                <a:ea typeface="Source Han Sans SC"/>
              </a:rPr>
              <a:t>→ Pandas</a:t>
            </a:r>
            <a:endParaRPr/>
          </a:p>
        </p:txBody>
      </p:sp>
      <p:sp>
        <p:nvSpPr>
          <p:cNvPr id="1185" name=""/>
          <p:cNvSpPr/>
          <p:nvPr/>
        </p:nvSpPr>
        <p:spPr>
          <a:xfrm rot="0" flipH="0" flipV="0">
            <a:off x="6496050" y="439102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186" name="" descr="{&quot;isTemplate&quot;:true,&quot;type&quot;:&quot;text&quot;}"/>
          <p:cNvSpPr txBox="1"/>
          <p:nvPr/>
        </p:nvSpPr>
        <p:spPr>
          <a:xfrm rot="0" flipH="0" flipV="0">
            <a:off x="6581775" y="4438650"/>
            <a:ext cx="85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3</a:t>
            </a:r>
            <a:endParaRPr/>
          </a:p>
        </p:txBody>
      </p:sp>
      <p:sp>
        <p:nvSpPr>
          <p:cNvPr id="1187" name="" descr="{&quot;isTemplate&quot;:true,&quot;type&quot;:&quot;text&quot;}"/>
          <p:cNvSpPr txBox="1"/>
          <p:nvPr/>
        </p:nvSpPr>
        <p:spPr>
          <a:xfrm rot="0" flipH="0" flipV="0">
            <a:off x="6858000" y="4419600"/>
            <a:ext cx="34480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表格里取一列做数学运算</a:t>
            </a:r>
            <a:endParaRPr/>
          </a:p>
        </p:txBody>
      </p:sp>
      <p:sp>
        <p:nvSpPr>
          <p:cNvPr id="1188" name="" descr="{&quot;isTemplate&quot;:true,&quot;type&quot;:&quot;text&quot;}"/>
          <p:cNvSpPr txBox="1"/>
          <p:nvPr/>
        </p:nvSpPr>
        <p:spPr>
          <a:xfrm rot="0" flipH="0" flipV="0">
            <a:off x="10420350" y="4429125"/>
            <a:ext cx="762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SC"/>
                <a:ea typeface="Source Han Sans SC"/>
              </a:rPr>
              <a:t>→ </a:t>
            </a:r>
            <a:r>
              <a:rPr lang="zh-CN" sz="1125" b="1">
                <a:solidFill>
                  <a:srgbClr val="1E4FA8"/>
                </a:solidFill>
                <a:latin typeface="Source Han Sans SC"/>
                <a:ea typeface="Source Han Sans SC"/>
              </a:rPr>
              <a:t>两者协作</a:t>
            </a:r>
            <a:endParaRPr/>
          </a:p>
        </p:txBody>
      </p:sp>
      <p:sp>
        <p:nvSpPr>
          <p:cNvPr id="1189" name=""/>
          <p:cNvSpPr/>
          <p:nvPr/>
        </p:nvSpPr>
        <p:spPr>
          <a:xfrm rot="0" flipH="0" flipV="0">
            <a:off x="6286500" y="5038725"/>
            <a:ext cx="5143500" cy="295275"/>
          </a:xfrm>
          <a:custGeom>
            <a:pathLst>
              <a:path w="540" h="31">
                <a:moveTo>
                  <a:pt x="0" y="0"/>
                </a:moveTo>
                <a:lnTo>
                  <a:pt x="4" y="0"/>
                </a:lnTo>
                <a:lnTo>
                  <a:pt x="4" y="31"/>
                </a:lnTo>
                <a:lnTo>
                  <a:pt x="0" y="31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90" name="" descr="{&quot;isTemplate&quot;:true,&quot;type&quot;:&quot;text&quot;}"/>
          <p:cNvSpPr txBox="1"/>
          <p:nvPr/>
        </p:nvSpPr>
        <p:spPr>
          <a:xfrm rot="0" flipH="0" flipV="0">
            <a:off x="6457950" y="5038725"/>
            <a:ext cx="4933950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例：图像像素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= </a:t>
            </a:r>
            <a:r>
              <a:rPr lang="en-US" sz="1200" b="1">
                <a:solidFill>
                  <a:srgbClr val="3D7BD9"/>
                </a:solidFill>
                <a:latin typeface="Source Han Sans SC"/>
                <a:ea typeface="Source Han Sans SC"/>
              </a:rPr>
              <a:t>NumPy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；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Titanic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乘客表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= </a:t>
            </a:r>
            <a:r>
              <a:rPr lang="en-US" sz="1200" b="1">
                <a:solidFill>
                  <a:srgbClr val="0E3F8C"/>
                </a:solidFill>
                <a:latin typeface="Source Han Sans SC"/>
                <a:ea typeface="Source Han Sans SC"/>
              </a:rPr>
              <a:t>Pandas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。</a:t>
            </a:r>
            <a:endParaRPr/>
          </a:p>
        </p:txBody>
      </p:sp>
      <p:pic>
        <p:nvPicPr>
          <p:cNvPr id="119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00100" y="1143000"/>
            <a:ext cx="5334000" cy="4762500"/>
          </a:xfrm>
          <a:prstGeom prst="rect">
            <a:avLst/>
          </a:prstGeom>
          <a:ln/>
        </p:spPr>
      </p:pic>
      <p:sp>
        <p:nvSpPr>
          <p:cNvPr id="1192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1193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09 / 32</a:t>
            </a:r>
            <a:endParaRPr/>
          </a:p>
        </p:txBody>
      </p:sp>
    </p:spTree>
  </p:cSld>
</p:sld>
</file>

<file path=ppt/slides/slide1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2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NumPy：向量化运算 · Vectorization&lt;/Text&gt;&#10;    &lt;Text style={{ fontSize: 15, color: 'rgba(255,255,255,0.85)' }}&gt;Module 1 · Week 2&lt;/Text&gt;&#10;  &lt;/Box&gt;&#10;  &lt;Box style={{ position: 'absolute', top: 100, left: 0, width: '100%', height: 540, padding: '14px 84px', flexDirection: 'row', gap: 30 }}&gt;&#10;    &lt;Box style={{ width: 560, gap: 14, flexShrink: 0 }}&gt;&#10;      &lt;Text style={{ fontSize: 16, color: '#8B97A8', fontWeight: '600' }}&gt;两种写法 · Two Ways&lt;/Text&gt;&#10;      &lt;Box style={{ background: '#1A2230', borderRadius: 12, padding: '18px 22px' }}&gt;&#10;        &lt;Text style={{ fontSize: 14, color: '#8B97A8', marginBottom: 8 }}&gt;# Python 循环 · slow loop&lt;/Text&gt;&#10;        &lt;Text style={{ fontSize: 15.5, color: '#FBD5A9', lineHeight: 1.75, fontFamily: 'Consolas, Menlo, monospace' }}&gt;&#10;          result = []{'\n'}&#10;          for x in data:{'\n'}&#10;          &amp;nbsp;&amp;nbsp;&amp;nbsp;&amp;nbsp;result.append(x * 2 + 1)&#10;        &lt;/Text&gt;&#10;        &lt;Box style={{ height: 1, background: 'rgba(255,255,255,0.15)', margin: '12px 0' }} /&gt;&#10;        &lt;Text style={{ fontSize: 14, color: '#8B97A8', marginBottom: 8 }}&gt;# NumPy 向量化 · fast vectorized&lt;/Text&gt;&#10;        &lt;Text style={{ fontSize: 15.5, color: '#A8D8B9', lineHeight: 1.75, fontFamily: 'Consolas, Menlo, monospace' }}&gt;&#10;          result = data * 2 + 1{'\n'}&#10;          # 一行，快 10–100×&#10;        &lt;/Text&gt;&#10;      &lt;/Box&gt;&#10;      &lt;Box style={{ background: '#F0F5FC', border: '1px solid #D6DCE5', borderRadius: 10, padding: '12px 18px' }}&gt;&#10;        &lt;Text style={{ fontSize: 14.5, color: '#4A5568', lineHeight: 1.6 }}&gt;&#10;          &lt;span style={{ fontWeight: 'bold', color: '#1E4FA8' }}&gt;广播 Broadcasting：&lt;/span&gt;形状不同的数组自动对齐运算，&lt;span style={{ fontFamily: 'Consolas, Menlo, monospace' }}&gt;(100,1) + (1,3) → (100,3)&lt;/span&gt;，无需复制数据。&#10;        &lt;/Text&gt;&#10;      &lt;/Box&gt;&#10;    &lt;/Box&gt;&#10;    &lt;Box style={{ flex: 1, gap: 14, justifyContent: 'center' }}&gt;&#10;      &lt;Text style={{ fontSize: 26, color: '#0E3F8C', fontWeight: 'bold' }}&gt;为什么向量化快？&lt;/Text&gt;&#10;      {[&#10;        { i: 'microchip', t: 'C 层执行', d: '循环在编译后的 C 代码里跑，绕过 Python 解释器的逐行开销。' },&#10;        { i: 'memory', t: '连续内存', d: 'ndarray 一整块连续内存，CPU 缓存命中率远高于 Python 列表。' },&#10;        { i: 'bolt', t: 'SIMD 并行', d: '一条指令处理多个数据，硬件级并行白拿的性能。' },&#10;      ].map((k, i) =&gt; (&#10;        &lt;Box key={i} style={{ flexDirection: 'row', gap: 14, background: '#F7F9FC', border: '1px solid #E5E7EB', borderRadius: 10, padding: '14px 18px', alignItems: 'flex-start' }}&gt;&#10;          &lt;Box style={{ width: 40, height: 40, borderRadius: 10, background: '#E8EFF8', justifyContent: 'center', alignItems: 'center', flexShrink: 0 }}&gt;&#10;            &lt;FAIcon name={k.i} style={{ fill: '#1E4FA8', width: 20, height: 20 }} /&gt;&#10;          &lt;/Box&gt;&#10;          &lt;Box&gt;&#10;            &lt;Text style={{ fontSize: 17, color: '#1A2230', fontWeight: 'bold' }}&gt;{k.t}&lt;/Text&gt;&#10;            &lt;Text style={{ fontSize: 14.5, color: '#4A5568', lineHeight: 1.55, marginTop: 2 }}&gt;{k.d}&lt;/Text&gt;&#10;          &lt;/Box&gt;&#10;        &lt;/Box&gt;&#10;      ))}&#10;      &lt;Box style={{ borderLeft: '4px solid #0E3F8C', paddingLeft: 14 }}&gt;&#10;        &lt;Text style={{ fontSize: 16, color: '#1A2230', lineHeight: 1.6 }}&gt;&#10;          &lt;span style={{ fontWeight: 'bold', color: '#0E3F8C' }}&gt;判断：&lt;/span&gt;「能向量化就不用 for 循环」是 AI 工程代码的&lt;span style={{ fontWeight: 'bold', color: '#0E3F8C' }}&gt;第一习惯&lt;/span&gt;——W5 之后所有张量运算都建立在这上面。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0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5337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NumPy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：向量化运算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Vectorization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800100" y="1448400"/>
            <a:ext cx="5334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8B97A8"/>
                </a:solidFill>
                <a:latin typeface="Source Han Sans SC"/>
                <a:ea typeface="Source Han Sans SC"/>
              </a:rPr>
              <a:t>两种写法</a:t>
            </a:r>
            <a:r>
              <a:rPr lang="en-US" sz="1200" b="1">
                <a:solidFill>
                  <a:srgbClr val="8B97A8"/>
                </a:solidFill>
                <a:latin typeface="Source Han Sans SC"/>
                <a:ea typeface="Source Han Sans SC"/>
              </a:rPr>
              <a:t> · Two Ways</a:t>
            </a:r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800100" y="1772250"/>
            <a:ext cx="5334000" cy="2619375"/>
          </a:xfrm>
          <a:prstGeom prst="roundRect">
            <a:avLst>
              <a:gd name="adj" fmla="val 4364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1009650" y="1943700"/>
            <a:ext cx="4914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# Python </a:t>
            </a:r>
            <a:r>
              <a:rPr lang="zh-CN" sz="1050">
                <a:solidFill>
                  <a:srgbClr val="8B97A8"/>
                </a:solidFill>
                <a:latin typeface="Source Han Sans SC"/>
                <a:ea typeface="Source Han Sans SC"/>
              </a:rPr>
              <a:t>循环</a:t>
            </a: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 · slow loop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1009650" y="2181825"/>
            <a:ext cx="4914900" cy="9334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en-US" sz="1163">
                <a:solidFill>
                  <a:srgbClr val="FBD5A9"/>
                </a:solidFill>
                <a:latin typeface="Consolas"/>
                <a:ea typeface="Consolas"/>
              </a:rPr>
              <a:t>result = []</a:t>
            </a:r>
            <a:endParaRPr/>
          </a:p>
          <a:p>
            <a:pPr>
              <a:lnSpc>
                <a:spcPct val="175000"/>
              </a:lnSpc>
            </a:pPr>
            <a:r>
              <a:rPr lang="en-US" sz="1163">
                <a:solidFill>
                  <a:srgbClr val="FBD5A9"/>
                </a:solidFill>
                <a:latin typeface="Consolas"/>
                <a:ea typeface="Consolas"/>
              </a:rPr>
              <a:t>for x in data:</a:t>
            </a:r>
            <a:endParaRPr/>
          </a:p>
          <a:p>
            <a:pPr>
              <a:lnSpc>
                <a:spcPct val="175000"/>
              </a:lnSpc>
            </a:pPr>
            <a:r>
              <a:rPr lang="en-US" sz="1163">
                <a:solidFill>
                  <a:srgbClr val="FBD5A9"/>
                </a:solidFill>
                <a:latin typeface="Consolas"/>
                <a:ea typeface="Consolas"/>
              </a:rPr>
              <a:t>    result.append(x * 2 + 1)</a:t>
            </a:r>
            <a:endParaRPr/>
          </a:p>
        </p:txBody>
      </p:sp>
      <p:sp>
        <p:nvSpPr>
          <p:cNvPr id="31" name=""/>
          <p:cNvSpPr/>
          <p:nvPr/>
        </p:nvSpPr>
        <p:spPr>
          <a:xfrm rot="0" flipH="0" flipV="0">
            <a:off x="1009650" y="3229575"/>
            <a:ext cx="4914900" cy="9525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1009650" y="3353400"/>
            <a:ext cx="4914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# NumPy </a:t>
            </a:r>
            <a:r>
              <a:rPr lang="zh-CN" sz="1050">
                <a:solidFill>
                  <a:srgbClr val="8B97A8"/>
                </a:solidFill>
                <a:latin typeface="Source Han Sans SC"/>
                <a:ea typeface="Source Han Sans SC"/>
              </a:rPr>
              <a:t>向量化</a:t>
            </a: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 · fast vectorized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1009650" y="3591525"/>
            <a:ext cx="4914900" cy="6286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en-US" sz="1163">
                <a:solidFill>
                  <a:srgbClr val="A8D8B9"/>
                </a:solidFill>
                <a:latin typeface="Consolas"/>
                <a:ea typeface="Consolas"/>
              </a:rPr>
              <a:t>result = data * 2 + 1</a:t>
            </a:r>
            <a:endParaRPr/>
          </a:p>
          <a:p>
            <a:pPr>
              <a:lnSpc>
                <a:spcPct val="175000"/>
              </a:lnSpc>
            </a:pPr>
            <a:r>
              <a:rPr lang="en-US" sz="1163">
                <a:solidFill>
                  <a:srgbClr val="A8D8B9"/>
                </a:solidFill>
                <a:latin typeface="Consolas"/>
                <a:ea typeface="Consolas"/>
              </a:rPr>
              <a:t># </a:t>
            </a:r>
            <a:r>
              <a:rPr lang="zh-CN" sz="1163">
                <a:solidFill>
                  <a:srgbClr val="A8D8B9"/>
                </a:solidFill>
                <a:latin typeface="Consolas"/>
                <a:ea typeface="Consolas"/>
              </a:rPr>
              <a:t>一行，快</a:t>
            </a:r>
            <a:r>
              <a:rPr lang="en-US" sz="1163">
                <a:solidFill>
                  <a:srgbClr val="A8D8B9"/>
                </a:solidFill>
                <a:latin typeface="Consolas"/>
                <a:ea typeface="Consolas"/>
              </a:rPr>
              <a:t> 10–100×</a:t>
            </a:r>
            <a:endParaRPr/>
          </a:p>
        </p:txBody>
      </p:sp>
      <p:sp>
        <p:nvSpPr>
          <p:cNvPr id="34" name=""/>
          <p:cNvSpPr/>
          <p:nvPr/>
        </p:nvSpPr>
        <p:spPr>
          <a:xfrm rot="0" flipH="0" flipV="0">
            <a:off x="800100" y="4524975"/>
            <a:ext cx="5334000" cy="762000"/>
          </a:xfrm>
          <a:prstGeom prst="roundRect">
            <a:avLst>
              <a:gd name="adj" fmla="val 12500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971550" y="4639275"/>
            <a:ext cx="49911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88" b="1">
                <a:solidFill>
                  <a:srgbClr val="1E4FA8"/>
                </a:solidFill>
                <a:latin typeface="Source Han Sans SC"/>
                <a:ea typeface="Source Han Sans SC"/>
              </a:rPr>
              <a:t>广播</a:t>
            </a:r>
            <a:r>
              <a:rPr lang="en-US" sz="1088" b="1">
                <a:solidFill>
                  <a:srgbClr val="1E4FA8"/>
                </a:solidFill>
                <a:latin typeface="Source Han Sans SC"/>
                <a:ea typeface="Source Han Sans SC"/>
              </a:rPr>
              <a:t> Broadcasting</a:t>
            </a:r>
            <a:r>
              <a:rPr lang="zh-CN" sz="1088" b="1">
                <a:solidFill>
                  <a:srgbClr val="1E4FA8"/>
                </a:solidFill>
                <a:latin typeface="Source Han Sans SC"/>
                <a:ea typeface="Source Han Sans SC"/>
              </a:rPr>
              <a:t>：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形状不同的数组自动对齐运算，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(100,1) + (1,3) → (100,3)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，无需复制数据。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6419850" y="2058000"/>
            <a:ext cx="49720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0E3F8C"/>
                </a:solidFill>
                <a:latin typeface="Source Han Sans SC"/>
                <a:ea typeface="Source Han Sans SC"/>
              </a:rPr>
              <a:t>为什么向量化快？</a:t>
            </a:r>
            <a:endParaRPr/>
          </a:p>
        </p:txBody>
      </p:sp>
      <p:sp>
        <p:nvSpPr>
          <p:cNvPr id="37" name=""/>
          <p:cNvSpPr/>
          <p:nvPr/>
        </p:nvSpPr>
        <p:spPr>
          <a:xfrm rot="0" flipH="0" flipV="0">
            <a:off x="6419850" y="2496150"/>
            <a:ext cx="497205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591300" y="262950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86550" y="2724750"/>
            <a:ext cx="190500" cy="190500"/>
          </a:xfrm>
          <a:prstGeom prst="rect">
            <a:avLst/>
          </a:prstGeom>
          <a:ln/>
        </p:spPr>
      </p:pic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7105650" y="2629500"/>
            <a:ext cx="3905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C </a:t>
            </a: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层执行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7105650" y="2848575"/>
            <a:ext cx="39052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循环在编译后的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C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代码里跑，绕过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Python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解释器的逐行开销。</a:t>
            </a:r>
            <a:endParaRPr/>
          </a:p>
        </p:txBody>
      </p:sp>
      <p:sp>
        <p:nvSpPr>
          <p:cNvPr id="42" name=""/>
          <p:cNvSpPr/>
          <p:nvPr/>
        </p:nvSpPr>
        <p:spPr>
          <a:xfrm rot="0" flipH="0" flipV="0">
            <a:off x="6419850" y="3372450"/>
            <a:ext cx="497205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3" name=""/>
          <p:cNvSpPr/>
          <p:nvPr/>
        </p:nvSpPr>
        <p:spPr>
          <a:xfrm rot="0" flipH="0" flipV="0">
            <a:off x="6591300" y="350580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686550" y="3601050"/>
            <a:ext cx="190500" cy="190500"/>
          </a:xfrm>
          <a:prstGeom prst="rect">
            <a:avLst/>
          </a:prstGeom>
          <a:ln/>
        </p:spPr>
      </p:pic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05650" y="3505800"/>
            <a:ext cx="40195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连续内存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7105650" y="3724875"/>
            <a:ext cx="40195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ndarray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一整块连续内存，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CPU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缓存命中率远高于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Python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列表。</a:t>
            </a:r>
            <a:endParaRPr/>
          </a:p>
        </p:txBody>
      </p:sp>
      <p:sp>
        <p:nvSpPr>
          <p:cNvPr id="47" name=""/>
          <p:cNvSpPr/>
          <p:nvPr/>
        </p:nvSpPr>
        <p:spPr>
          <a:xfrm rot="0" flipH="0" flipV="0">
            <a:off x="6419850" y="4248750"/>
            <a:ext cx="497205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8" name=""/>
          <p:cNvSpPr/>
          <p:nvPr/>
        </p:nvSpPr>
        <p:spPr>
          <a:xfrm rot="0" flipH="0" flipV="0">
            <a:off x="6591300" y="438210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686550" y="4477350"/>
            <a:ext cx="190500" cy="190500"/>
          </a:xfrm>
          <a:prstGeom prst="rect">
            <a:avLst/>
          </a:prstGeom>
          <a:ln/>
        </p:spPr>
      </p:pic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7105650" y="4382100"/>
            <a:ext cx="30384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SIMD </a:t>
            </a: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并行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7105650" y="4601175"/>
            <a:ext cx="3038475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一条指令处理多个数据，硬件级并行白拿的性能。</a:t>
            </a:r>
            <a:endParaRPr/>
          </a:p>
        </p:txBody>
      </p:sp>
      <p:sp>
        <p:nvSpPr>
          <p:cNvPr id="52" name=""/>
          <p:cNvSpPr/>
          <p:nvPr/>
        </p:nvSpPr>
        <p:spPr>
          <a:xfrm rot="0" flipH="0" flipV="0">
            <a:off x="6419850" y="5125050"/>
            <a:ext cx="5010150" cy="590550"/>
          </a:xfrm>
          <a:custGeom>
            <a:pathLst>
              <a:path w="526" h="62">
                <a:moveTo>
                  <a:pt x="0" y="0"/>
                </a:moveTo>
                <a:lnTo>
                  <a:pt x="4" y="0"/>
                </a:lnTo>
                <a:lnTo>
                  <a:pt x="4" y="62"/>
                </a:lnTo>
                <a:lnTo>
                  <a:pt x="0" y="62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6591300" y="5125050"/>
            <a:ext cx="48006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判断：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「能向量化就不用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for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循环」是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AI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工程代码的</a:t>
            </a: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第一习惯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——W5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之后所有张量运算都建立在这上面。</a:t>
            </a:r>
            <a:endParaRPr/>
          </a:p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109347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10 / 32</a:t>
            </a:r>
            <a:endParaRPr/>
          </a:p>
        </p:txBody>
      </p:sp>
    </p:spTree>
  </p:cSld>
</p:sld>
</file>

<file path=ppt/slides/slide1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6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NumPy 进阶：索引、切片与广播 · Indexing &amp;amp; Broadcasting&lt;/Text&gt;&#10;    &lt;Text style={{ fontSize: 15, color: 'rgba(255,255,255,0.85)' }}&gt;Module 1 · Week 2&lt;/Text&gt;&#10;  &lt;/Box&gt;&#10;  &lt;Box style={{ position: 'absolute', top: 100, left: 0, width: '100%', height: 540, padding: '14px 84px', flexDirection: 'row', gap: 30 }}&gt;&#10;    &lt;Box style={{ width: 560, gap: 12, flexShrink: 0 }}&gt;&#10;      &lt;Box style={{ background: '#1A2230', borderRadius: 12, padding: '16px 22px' }}&gt;&#10;        &lt;Text style={{ fontSize: 14, color: '#8B97A8', marginBottom: 6 }}&gt;# 索引与切片 · index &amp;amp; slice&lt;/Text&gt;&#10;        &lt;Text style={{ fontSize: 15, color: '#A8D8B9', lineHeight: 1.8, fontFamily: 'Consolas, Menlo, monospace' }}&gt;&#10;          a = np.arange(12).reshape(3, 4){'\n'}&#10;          a[0, 1]&amp;nbsp;&amp;nbsp;&amp;nbsp;&amp;nbsp;&amp;nbsp;&amp;nbsp;&amp;nbsp;# 第 0 行第 1 列 → 1{'\n'}&#10;          a[:, 2]&amp;nbsp;&amp;nbsp;&amp;nbsp;&amp;nbsp;&amp;nbsp;&amp;nbsp;# 第 2 列（所有行）{'\n'}&#10;          a[1:, ::-1]&amp;nbsp;&amp;nbsp;# 第 1 行起、列倒序&#10;        &lt;/Text&gt;&#10;        &lt;Box style={{ height: 1, background: 'rgba(255,255,255,0.15)', margin: '10px 0' }} /&gt;&#10;        &lt;Text style={{ fontSize: 14, color: '#8B97A8', marginBottom: 6 }}&gt;# 常用聚合 · aggregate&lt;/Text&gt;&#10;        &lt;Text style={{ fontSize: 15, color: '#A8D8B9', lineHeight: 1.8, fontFamily: 'Consolas, Menlo, monospace' }}&gt;&#10;          a.sum(axis=0)&amp;nbsp;&amp;nbsp;# 按列求和{'\n'}&#10;          a.mean(axis=1)&amp;nbsp;# 按行求均值{'\n'}&#10;          a.argmax()&amp;nbsp;&amp;nbsp;&amp;nbsp;&amp;nbsp;# 最大值位置&#10;        &lt;/Text&gt;&#10;      &lt;/Box&gt;&#10;      &lt;Box style={{ background: '#F0F5FC', border: '1px solid #D6DCE5', borderRadius: 10, padding: '12px 18px' }}&gt;&#10;        &lt;Text style={{ fontSize: 14.5, color: '#4A5568', lineHeight: 1.6 }}&gt;&#10;          &lt;span style={{ fontWeight: 'bold', color: '#1E4FA8' }}&gt;切片是视图不是拷贝：&lt;/span&gt;&#10;          &lt;span style={{ fontFamily: 'Consolas, Menlo, monospace' }}&gt;b = a[:, 0]&lt;/span&gt; 改 b 也会改 a——要独立副本用 &lt;span style={{ fontFamily: 'Consolas, Menlo, monospace' }}&gt;.copy()&lt;/span&gt;。&#10;        &lt;/Text&gt;&#10;      &lt;/Box&gt;&#10;    &lt;/Box&gt;&#10;    &lt;Box style={{ flex: 1, gap: 12, justifyContent: 'center' }}&gt;&#10;      &lt;Text style={{ fontSize: 20, color: '#0E3F8C', fontWeight: 'bold' }}&gt;广播规则 · Broadcasting Rules&lt;/Text&gt;&#10;      &lt;Text style={{ fontSize: 15, color: '#4A5568', lineHeight: 1.6 }}&gt;从&lt;span style={{ fontWeight: 'bold', color: '#1A2230' }}&gt;末尾维度&lt;/span&gt;逐个对齐：相等，或其中一个是 1，就能广播扩展。&lt;/Text&gt;&#10;      &lt;Box style={{ background: '#F7F9FC', border: '1px solid #E5E7EB', borderRadius: 12, padding: '16px 20px', gap: 8 }}&gt;&#10;        {[&#10;          { s: '(3, 4) + (4,)', ok: true, d: '末维 4 = 4 ✓ → 自动按行扩展' },&#10;          { s: '(3, 4) + (3,)', ok: false, d: '末维 4 ≠ 3 ✗ → 报错 Shape Error' },&#10;          { s: '(3, 1) + (1, 4)', ok: true, d: '各有一个 1 ✓ → 结果 (3, 4)' },&#10;        ].map((r, i) =&gt; (&#10;          &lt;Box key={i} style={{ flexDirection: 'row', alignItems: 'center', gap: 12 }}&gt;&#10;            &lt;Text style={{ fontSize: 15.5, color: r.ok ? '#0E3F8C' : '#8B97A8', fontFamily: 'Consolas, Menlo, monospace', fontWeight: 'bold', width: 190 }}&gt;{r.s}&lt;/Text&gt;&#10;            &lt;FAIcon name={r.ok ? 'check-circle' : 'times-circle'} style={{ fill: r.ok ? '#1E4FA8' : '#B0B8C4', width: 18, height: 18 }} /&gt;&#10;            &lt;Text style={{ fontSize: 14, color: '#4A5568', flex: 1 }}&gt;{r.d}&lt;/Text&gt;&#10;          &lt;/Box&gt;&#10;        ))}&#10;      &lt;/Box&gt;&#10;      &lt;Box style={{ borderLeft: '4px solid #0E3F8C', paddingLeft: 14 }}&gt;&#10;        &lt;Text style={{ fontSize: 15, color: '#1A2230', lineHeight: 1.6 }}&gt;&#10;          &lt;span style={{ fontWeight: 'bold', color: '#0E3F8C' }}&gt;为什么现在学：&lt;/span&gt;W5 的神经网络里，权重矩阵的每次更新都是「切片 + 广播」——这两页是张量运算的地基。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1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8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57912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NumPy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进阶：索引、切片与广播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Indexing &amp; Broadcasting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61" name=""/>
          <p:cNvSpPr/>
          <p:nvPr/>
        </p:nvSpPr>
        <p:spPr>
          <a:xfrm rot="0" flipH="0" flipV="0">
            <a:off x="800100" y="1719862"/>
            <a:ext cx="5334000" cy="3114675"/>
          </a:xfrm>
          <a:prstGeom prst="roundRect">
            <a:avLst>
              <a:gd name="adj" fmla="val 3670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1009650" y="1872262"/>
            <a:ext cx="4914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# </a:t>
            </a:r>
            <a:r>
              <a:rPr lang="zh-CN" sz="1050">
                <a:solidFill>
                  <a:srgbClr val="8B97A8"/>
                </a:solidFill>
                <a:latin typeface="Source Han Sans SC"/>
                <a:ea typeface="Source Han Sans SC"/>
              </a:rPr>
              <a:t>索引与切片</a:t>
            </a: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 · index &amp; slice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1009650" y="2091337"/>
            <a:ext cx="4914900" cy="123825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a = np.arange(12).reshape(3, 4)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a[0, 1]       # </a:t>
            </a:r>
            <a:r>
              <a:rPr lang="zh-CN" sz="1125">
                <a:solidFill>
                  <a:srgbClr val="A8D8B9"/>
                </a:solidFill>
                <a:latin typeface="Consolas"/>
                <a:ea typeface="Consolas"/>
              </a:rPr>
              <a:t>第</a:t>
            </a: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 0 </a:t>
            </a:r>
            <a:r>
              <a:rPr lang="zh-CN" sz="1125">
                <a:solidFill>
                  <a:srgbClr val="A8D8B9"/>
                </a:solidFill>
                <a:latin typeface="Consolas"/>
                <a:ea typeface="Consolas"/>
              </a:rPr>
              <a:t>行第</a:t>
            </a: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 1 </a:t>
            </a:r>
            <a:r>
              <a:rPr lang="zh-CN" sz="1125">
                <a:solidFill>
                  <a:srgbClr val="A8D8B9"/>
                </a:solidFill>
                <a:latin typeface="Consolas"/>
                <a:ea typeface="Consolas"/>
              </a:rPr>
              <a:t>列</a:t>
            </a: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 → 1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a[:, 2]      # </a:t>
            </a:r>
            <a:r>
              <a:rPr lang="zh-CN" sz="1125">
                <a:solidFill>
                  <a:srgbClr val="A8D8B9"/>
                </a:solidFill>
                <a:latin typeface="Consolas"/>
                <a:ea typeface="Consolas"/>
              </a:rPr>
              <a:t>第</a:t>
            </a: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 2 </a:t>
            </a:r>
            <a:r>
              <a:rPr lang="zh-CN" sz="1125">
                <a:solidFill>
                  <a:srgbClr val="A8D8B9"/>
                </a:solidFill>
                <a:latin typeface="Consolas"/>
                <a:ea typeface="Consolas"/>
              </a:rPr>
              <a:t>列（所有行）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a[1:, ::-1]  # </a:t>
            </a:r>
            <a:r>
              <a:rPr lang="zh-CN" sz="1125">
                <a:solidFill>
                  <a:srgbClr val="A8D8B9"/>
                </a:solidFill>
                <a:latin typeface="Consolas"/>
                <a:ea typeface="Consolas"/>
              </a:rPr>
              <a:t>第</a:t>
            </a: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 1 </a:t>
            </a:r>
            <a:r>
              <a:rPr lang="zh-CN" sz="1125">
                <a:solidFill>
                  <a:srgbClr val="A8D8B9"/>
                </a:solidFill>
                <a:latin typeface="Consolas"/>
                <a:ea typeface="Consolas"/>
              </a:rPr>
              <a:t>行起、列倒序</a:t>
            </a:r>
            <a:endParaRPr/>
          </a:p>
        </p:txBody>
      </p:sp>
      <p:sp>
        <p:nvSpPr>
          <p:cNvPr id="64" name=""/>
          <p:cNvSpPr/>
          <p:nvPr/>
        </p:nvSpPr>
        <p:spPr>
          <a:xfrm rot="0" flipH="0" flipV="0">
            <a:off x="1009650" y="3424837"/>
            <a:ext cx="4914900" cy="9525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1009650" y="3529612"/>
            <a:ext cx="4914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# </a:t>
            </a:r>
            <a:r>
              <a:rPr lang="zh-CN" sz="1050">
                <a:solidFill>
                  <a:srgbClr val="8B97A8"/>
                </a:solidFill>
                <a:latin typeface="Source Han Sans SC"/>
                <a:ea typeface="Source Han Sans SC"/>
              </a:rPr>
              <a:t>常用聚合</a:t>
            </a: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 · aggregate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009650" y="3748687"/>
            <a:ext cx="4914900" cy="93345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a.sum(axis=0)  # </a:t>
            </a:r>
            <a:r>
              <a:rPr lang="zh-CN" sz="1125">
                <a:solidFill>
                  <a:srgbClr val="A8D8B9"/>
                </a:solidFill>
                <a:latin typeface="Consolas"/>
                <a:ea typeface="Consolas"/>
              </a:rPr>
              <a:t>按列求和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a.mean(axis=1) # </a:t>
            </a:r>
            <a:r>
              <a:rPr lang="zh-CN" sz="1125">
                <a:solidFill>
                  <a:srgbClr val="A8D8B9"/>
                </a:solidFill>
                <a:latin typeface="Consolas"/>
                <a:ea typeface="Consolas"/>
              </a:rPr>
              <a:t>按行求均值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a.argmax()    # </a:t>
            </a:r>
            <a:r>
              <a:rPr lang="zh-CN" sz="1125">
                <a:solidFill>
                  <a:srgbClr val="A8D8B9"/>
                </a:solidFill>
                <a:latin typeface="Consolas"/>
                <a:ea typeface="Consolas"/>
              </a:rPr>
              <a:t>最大值位置</a:t>
            </a:r>
            <a:endParaRPr/>
          </a:p>
        </p:txBody>
      </p:sp>
      <p:sp>
        <p:nvSpPr>
          <p:cNvPr id="67" name=""/>
          <p:cNvSpPr/>
          <p:nvPr/>
        </p:nvSpPr>
        <p:spPr>
          <a:xfrm rot="0" flipH="0" flipV="0">
            <a:off x="800100" y="4948837"/>
            <a:ext cx="5334000" cy="495300"/>
          </a:xfrm>
          <a:prstGeom prst="roundRect">
            <a:avLst>
              <a:gd name="adj" fmla="val 1923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971550" y="5063137"/>
            <a:ext cx="4991100" cy="2667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88" b="1">
                <a:solidFill>
                  <a:srgbClr val="1E4FA8"/>
                </a:solidFill>
                <a:latin typeface="Source Han Sans SC"/>
                <a:ea typeface="Source Han Sans SC"/>
              </a:rPr>
              <a:t>切片是视图不是拷贝：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b = a[:, 0]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改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b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也会改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a——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要独立副本用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.copy()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。</a:t>
            </a:r>
            <a:endParaRPr/>
          </a:p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6419850" y="2958112"/>
            <a:ext cx="49720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Source Han Sans SC"/>
                <a:ea typeface="Source Han Sans SC"/>
              </a:rPr>
              <a:t>广播规则</a:t>
            </a:r>
            <a:r>
              <a:rPr lang="en-US" sz="1500" b="1">
                <a:solidFill>
                  <a:srgbClr val="0E3F8C"/>
                </a:solidFill>
                <a:latin typeface="Source Han Sans SC"/>
                <a:ea typeface="Source Han Sans SC"/>
              </a:rPr>
              <a:t> · Broadcasting Rules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6419850" y="3301012"/>
            <a:ext cx="4972050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从</a:t>
            </a:r>
            <a:r>
              <a:rPr lang="zh-CN" sz="1125" b="1">
                <a:solidFill>
                  <a:srgbClr val="1A2230"/>
                </a:solidFill>
                <a:latin typeface="Source Han Sans SC"/>
                <a:ea typeface="Source Han Sans SC"/>
              </a:rPr>
              <a:t>末尾维度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逐个对齐：相等，或其中一个是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 1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，就能广播扩展。</a:t>
            </a:r>
            <a:endParaRPr/>
          </a:p>
        </p:txBody>
      </p:sp>
      <p:sp>
        <p:nvSpPr>
          <p:cNvPr id="71" name=""/>
          <p:cNvSpPr/>
          <p:nvPr/>
        </p:nvSpPr>
        <p:spPr>
          <a:xfrm rot="0" flipH="0" flipV="0">
            <a:off x="6419850" y="3691537"/>
            <a:ext cx="4972050" cy="1000125"/>
          </a:xfrm>
          <a:prstGeom prst="roundRect">
            <a:avLst>
              <a:gd name="adj" fmla="val 1142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6610350" y="3843937"/>
            <a:ext cx="18097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Consolas"/>
                <a:ea typeface="Consolas"/>
              </a:rPr>
              <a:t>(3, 4) + (4,)</a:t>
            </a:r>
            <a:endParaRPr/>
          </a:p>
        </p:txBody>
      </p:sp>
      <p:pic>
        <p:nvPicPr>
          <p:cNvPr id="7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34400" y="3853462"/>
            <a:ext cx="171450" cy="171450"/>
          </a:xfrm>
          <a:prstGeom prst="rect">
            <a:avLst/>
          </a:prstGeom>
          <a:ln/>
        </p:spPr>
      </p:pic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8820150" y="3853462"/>
            <a:ext cx="2381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末维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4 = 4 ✓ →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自动按行扩展</a:t>
            </a:r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6610350" y="4101112"/>
            <a:ext cx="18097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8B97A8"/>
                </a:solidFill>
                <a:latin typeface="Consolas"/>
                <a:ea typeface="Consolas"/>
              </a:rPr>
              <a:t>(3, 4) + (3,)</a:t>
            </a:r>
            <a:endParaRPr/>
          </a:p>
        </p:txBody>
      </p:sp>
      <p:pic>
        <p:nvPicPr>
          <p:cNvPr id="7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534400" y="4110637"/>
            <a:ext cx="171450" cy="171450"/>
          </a:xfrm>
          <a:prstGeom prst="rect">
            <a:avLst/>
          </a:prstGeom>
          <a:ln/>
        </p:spPr>
      </p:pic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8820150" y="4110637"/>
            <a:ext cx="2381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末维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4 ≠ 3 ✗ →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报错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Shape Error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6610350" y="4358287"/>
            <a:ext cx="18097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Consolas"/>
                <a:ea typeface="Consolas"/>
              </a:rPr>
              <a:t>(3, 1) + (1, 4)</a:t>
            </a:r>
            <a:endParaRPr/>
          </a:p>
        </p:txBody>
      </p:sp>
      <p:pic>
        <p:nvPicPr>
          <p:cNvPr id="7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34400" y="4367812"/>
            <a:ext cx="171450" cy="171450"/>
          </a:xfrm>
          <a:prstGeom prst="rect">
            <a:avLst/>
          </a:prstGeom>
          <a:ln/>
        </p:spPr>
      </p:pic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8820150" y="4367812"/>
            <a:ext cx="2381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各有一个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1 ✓ →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结果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(3, 4)</a:t>
            </a:r>
            <a:endParaRPr/>
          </a:p>
        </p:txBody>
      </p:sp>
      <p:sp>
        <p:nvSpPr>
          <p:cNvPr id="81" name=""/>
          <p:cNvSpPr/>
          <p:nvPr/>
        </p:nvSpPr>
        <p:spPr>
          <a:xfrm rot="0" flipH="0" flipV="0">
            <a:off x="6419850" y="4805962"/>
            <a:ext cx="5010150" cy="552450"/>
          </a:xfrm>
          <a:custGeom>
            <a:pathLst>
              <a:path w="526" h="58">
                <a:moveTo>
                  <a:pt x="0" y="0"/>
                </a:moveTo>
                <a:lnTo>
                  <a:pt x="4" y="0"/>
                </a:lnTo>
                <a:lnTo>
                  <a:pt x="4" y="58"/>
                </a:lnTo>
                <a:lnTo>
                  <a:pt x="0" y="58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6591300" y="4805962"/>
            <a:ext cx="48006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 b="1">
                <a:solidFill>
                  <a:srgbClr val="0E3F8C"/>
                </a:solidFill>
                <a:latin typeface="Source Han Sans SC"/>
                <a:ea typeface="Source Han Sans SC"/>
              </a:rPr>
              <a:t>为什么现在学：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W5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的神经网络里，权重矩阵的每次更新都是「切片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+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广播」——这两页是张量运算的地基。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10963275" y="64960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11 / 32</a:t>
            </a:r>
            <a:endParaRPr/>
          </a:p>
        </p:txBody>
      </p:sp>
    </p:spTree>
  </p:cSld>
</p:sld>
</file>

<file path=ppt/slides/slide1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5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Pandas：操作链 · The Manipulation Chain&lt;/Text&gt;&#10;    &lt;Text style={{ fontSize: 15, color: 'rgba(255,255,255,0.85)' }}&gt;Module 1 · Week 2&lt;/Text&gt;&#10;  &lt;/Box&gt;&#10;  &lt;Box style={{ position: 'absolute', top: 100, left: 0, width: '100%', height: 540, padding: '18px 84px', flexDirection: 'column', justifyContent: 'center' }}&gt;&#10;    &lt;Box style={{ flexDirection: 'row', gap: 12, alignItems: 'stretch' }}&gt;&#10;      {[&#10;        { n: '1', t: '加载', e: 'Load', d: 'read_csv / read_sql', c: '#3D7BD9' },&#10;        { n: '2', t: '检查', e: 'Inspect', d: 'head / info / describe', c: '#1E4FA8' },&#10;        { n: '3', t: '选取', e: 'Select', d: 'loc / iloc / 条件筛选', c: '#3D7BD9' },&#10;        { n: '4', t: '变换', e: 'Transform', d: '赋值 / apply / 分组', c: '#1E4FA8' },&#10;        { n: '5', t: '聚合', e: 'Aggregate', d: 'groupby / pivot_table', c: '#0E3F8C' },&#10;      ].map((s, i) =&gt; (&#10;        &lt;Box key={i} style={{ flex: 1, position: 'relative' }}&gt;&#10;          &lt;Box style={{ background: '#F7F9FC', border: '1px solid #D6DCE5', borderTop: '4px solid ' + s.c, borderRadius: 12, padding: '16px 16px', height: 190, justifyContent: 'space-between' }}&gt;&#10;            &lt;Box style={{ width: 38, height: 38, borderRadius: 10, background: s.c, justifyContent: 'center', alignItems: 'center' }}&gt;&#10;              &lt;Text style={{ fontSize: 18, color: '#FFFFFF', fontWeight: 'bold' }}&gt;{s.n}&lt;/Text&gt;&#10;            &lt;/Box&gt;&#10;            &lt;Box&gt;&#10;              &lt;Text style={{ fontSize: 20, color: '#1A2230', fontWeight: 'bold' }}&gt;{s.t}&lt;/Text&gt;&#10;              &lt;Text style={{ fontSize: 13, color: '#8B97A8', marginTop: 1 }}&gt;{s.e}&lt;/Text&gt;&#10;              &lt;Text style={{ fontSize: 13.5, color: '#4A5568', marginTop: 6, fontFamily: 'Consolas, Menlo, monospace' }}&gt;{s.d}&lt;/Text&gt;&#10;            &lt;/Box&gt;&#10;          &lt;/Box&gt;&#10;          {i &lt; 4 &amp;&amp; (&#10;            &lt;Box style={{ position: 'absolute', right: -13, top: 82, zIndex: 2 }}&gt;&#10;              &lt;FAIcon name='arrow-right' style={{ fill: '#3D7BD9', width: 20, height: 20 }} /&gt;&#10;            &lt;/Box&gt;&#10;          )}&#10;        &lt;/Box&gt;&#10;      ))}&#10;    &lt;/Box&gt;&#10;    &lt;Box style={{ flexDirection: 'row', gap: 20, marginTop: 24, alignItems: 'stretch' }}&gt;&#10;      &lt;Box style={{ width: 460, background: '#1A2230', borderRadius: 12, padding: '16px 22px', flexShrink: 0 }}&gt;&#10;        &lt;Text style={{ fontSize: 14, color: '#8B97A8', marginBottom: 6 }}&gt;# Titanic: 一条链回答一个问题&lt;/Text&gt;&#10;        &lt;Text style={{ fontSize: 15, color: '#A8D8B9', lineHeight: 1.8, fontFamily: 'Consolas, Menlo, monospace' }}&gt;&#10;          (df[df.age &amp;gt; 18]{'\n'}&#10;          &amp;nbsp;&amp;nbsp;.groupby('sex')['survived']{'\n'}&#10;          &amp;nbsp;&amp;nbsp;.mean())&#10;        &lt;/Text&gt;&#10;      &lt;/Box&gt;&#10;      &lt;Box style={{ flex: 1, justifyContent: 'center' }}&gt;&#10;        &lt;Text style={{ fontSize: 16, color: '#1A2230', lineHeight: 1.7 }}&gt;&#10;          &lt;span style={{ fontWeight: 'bold', color: '#0E3F8C' }}&gt;判断：&lt;/span&gt;一个 &lt;span style={{ fontFamily: 'Consolas, Menlo, monospace' }}&gt;DataFrame&lt;/span&gt; 从头贯穿到尾——&#10;          AI 项目里 80% 的数据准备工作，就是这五步的&lt;span style={{ fontWeight: 'bold', color: '#0E3F8C' }}&gt;排列组合&lt;/span&gt;。&#10;          &lt;br /&gt;&#10;          &lt;span style={{ fontSize: 13.5, color: '#8B97A8' }}&gt;One DataFrame flows through the whole pipeline — 80% of data prep is this chain.&lt;/span&gt;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2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4191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Pandas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：操作链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The Manipulation Chain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90" name=""/>
          <p:cNvSpPr/>
          <p:nvPr/>
        </p:nvSpPr>
        <p:spPr>
          <a:xfrm rot="0" flipH="0" flipV="0">
            <a:off x="800100" y="3819525"/>
            <a:ext cx="4381500" cy="1457325"/>
          </a:xfrm>
          <a:prstGeom prst="roundRect">
            <a:avLst>
              <a:gd name="adj" fmla="val 7843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1009650" y="3971925"/>
            <a:ext cx="3962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# Titanic: </a:t>
            </a:r>
            <a:r>
              <a:rPr lang="zh-CN" sz="1050">
                <a:solidFill>
                  <a:srgbClr val="8B97A8"/>
                </a:solidFill>
                <a:latin typeface="Source Han Sans SC"/>
                <a:ea typeface="Source Han Sans SC"/>
              </a:rPr>
              <a:t>一条链回答一个问题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1009650" y="4191000"/>
            <a:ext cx="3962400" cy="93345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(df[df.age &gt; 18]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  .groupby('sex')['survived']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  .mean())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5372100" y="4105275"/>
            <a:ext cx="6019800" cy="885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判断：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一个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DataFrame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从头贯穿到尾——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AI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项目里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80%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的数据准备工作，就是这五步的</a:t>
            </a: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排列组合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。</a:t>
            </a:r>
            <a:endParaRPr/>
          </a:p>
          <a:p>
            <a:pPr>
              <a:lnSpc>
                <a:spcPct val="170000"/>
              </a:lnSpc>
            </a:pPr>
            <a:r>
              <a:rPr lang="en-US" sz="1013">
                <a:solidFill>
                  <a:srgbClr val="8B97A8"/>
                </a:solidFill>
                <a:latin typeface="Source Han Sans SC"/>
                <a:ea typeface="Source Han Sans SC"/>
              </a:rPr>
              <a:t>One DataFrame flows through the whole pipeline — 80% of data prep is this chain.</a:t>
            </a:r>
            <a:endParaRPr/>
          </a:p>
        </p:txBody>
      </p:sp>
      <p:sp>
        <p:nvSpPr>
          <p:cNvPr id="94" name=""/>
          <p:cNvSpPr/>
          <p:nvPr/>
        </p:nvSpPr>
        <p:spPr>
          <a:xfrm rot="0" flipH="0" flipV="0">
            <a:off x="800100" y="1819275"/>
            <a:ext cx="2028825" cy="1771650"/>
          </a:xfrm>
          <a:prstGeom prst="roundRect">
            <a:avLst>
              <a:gd name="adj" fmla="val 64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95" name=""/>
          <p:cNvSpPr/>
          <p:nvPr/>
        </p:nvSpPr>
        <p:spPr>
          <a:xfrm rot="0" flipH="0" flipV="0">
            <a:off x="800100" y="1819275"/>
            <a:ext cx="2028825" cy="1771650"/>
          </a:xfrm>
          <a:custGeom>
            <a:pathLst>
              <a:path w="213" h="18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96" name=""/>
          <p:cNvSpPr/>
          <p:nvPr/>
        </p:nvSpPr>
        <p:spPr>
          <a:xfrm rot="0" flipH="0" flipV="0">
            <a:off x="952500" y="19716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1095375" y="2047875"/>
            <a:ext cx="762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Source Han Sans SC"/>
                <a:ea typeface="Source Han Sans SC"/>
              </a:rPr>
              <a:t>1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952500" y="2828925"/>
            <a:ext cx="1724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加载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952500" y="3067050"/>
            <a:ext cx="17240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Load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952500" y="3276600"/>
            <a:ext cx="1724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Consolas"/>
                <a:ea typeface="Consolas"/>
              </a:rPr>
              <a:t>read_csv / read_sql</a:t>
            </a:r>
            <a:endParaRPr/>
          </a:p>
        </p:txBody>
      </p:sp>
      <p:sp>
        <p:nvSpPr>
          <p:cNvPr id="101" name=""/>
          <p:cNvSpPr/>
          <p:nvPr/>
        </p:nvSpPr>
        <p:spPr>
          <a:xfrm rot="0" flipH="0" flipV="0">
            <a:off x="2943225" y="1819275"/>
            <a:ext cx="2028825" cy="1771650"/>
          </a:xfrm>
          <a:prstGeom prst="roundRect">
            <a:avLst>
              <a:gd name="adj" fmla="val 64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2" name=""/>
          <p:cNvSpPr/>
          <p:nvPr/>
        </p:nvSpPr>
        <p:spPr>
          <a:xfrm rot="0" flipH="0" flipV="0">
            <a:off x="2943225" y="1819275"/>
            <a:ext cx="2028825" cy="1771650"/>
          </a:xfrm>
          <a:custGeom>
            <a:pathLst>
              <a:path w="213" h="18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3" name=""/>
          <p:cNvSpPr/>
          <p:nvPr/>
        </p:nvSpPr>
        <p:spPr>
          <a:xfrm rot="0" flipH="0" flipV="0">
            <a:off x="3095625" y="19716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3228975" y="2047875"/>
            <a:ext cx="104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Source Han Sans SC"/>
                <a:ea typeface="Source Han Sans SC"/>
              </a:rPr>
              <a:t>2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3095625" y="2828925"/>
            <a:ext cx="1724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检查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3095625" y="3067050"/>
            <a:ext cx="17240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Inspect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3095625" y="3276600"/>
            <a:ext cx="1724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Consolas"/>
                <a:ea typeface="Consolas"/>
              </a:rPr>
              <a:t>head / info / describe</a:t>
            </a:r>
            <a:endParaRPr/>
          </a:p>
        </p:txBody>
      </p:sp>
      <p:sp>
        <p:nvSpPr>
          <p:cNvPr id="108" name=""/>
          <p:cNvSpPr/>
          <p:nvPr/>
        </p:nvSpPr>
        <p:spPr>
          <a:xfrm rot="0" flipH="0" flipV="0">
            <a:off x="5086350" y="1819275"/>
            <a:ext cx="2019300" cy="1771650"/>
          </a:xfrm>
          <a:prstGeom prst="roundRect">
            <a:avLst>
              <a:gd name="adj" fmla="val 64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9" name=""/>
          <p:cNvSpPr/>
          <p:nvPr/>
        </p:nvSpPr>
        <p:spPr>
          <a:xfrm rot="0" flipH="0" flipV="0">
            <a:off x="5086350" y="1819275"/>
            <a:ext cx="2019300" cy="1771650"/>
          </a:xfrm>
          <a:custGeom>
            <a:pathLst>
              <a:path w="212" h="186">
                <a:moveTo>
                  <a:pt x="201" y="0"/>
                </a:moveTo>
                <a:cubicBezTo>
                  <a:pt x="206" y="0"/>
                  <a:pt x="211" y="4"/>
                  <a:pt x="212" y="10"/>
                </a:cubicBezTo>
                <a:cubicBezTo>
                  <a:pt x="211" y="6"/>
                  <a:pt x="208" y="4"/>
                  <a:pt x="204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0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10" name=""/>
          <p:cNvSpPr/>
          <p:nvPr/>
        </p:nvSpPr>
        <p:spPr>
          <a:xfrm rot="0" flipH="0" flipV="0">
            <a:off x="5238750" y="19716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5372100" y="2047875"/>
            <a:ext cx="104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Source Han Sans SC"/>
                <a:ea typeface="Source Han Sans SC"/>
              </a:rPr>
              <a:t>3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5238750" y="2828925"/>
            <a:ext cx="1714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选取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5238750" y="3067050"/>
            <a:ext cx="1714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Select</a:t>
            </a:r>
            <a:endParaRPr/>
          </a:p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5238750" y="3276600"/>
            <a:ext cx="1714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Consolas"/>
                <a:ea typeface="Consolas"/>
              </a:rPr>
              <a:t>loc / iloc / </a:t>
            </a:r>
            <a:r>
              <a:rPr lang="zh-CN" sz="1013">
                <a:solidFill>
                  <a:srgbClr val="4A5568"/>
                </a:solidFill>
                <a:latin typeface="Consolas"/>
                <a:ea typeface="Consolas"/>
              </a:rPr>
              <a:t>条件筛选</a:t>
            </a:r>
            <a:endParaRPr/>
          </a:p>
        </p:txBody>
      </p:sp>
      <p:sp>
        <p:nvSpPr>
          <p:cNvPr id="115" name=""/>
          <p:cNvSpPr/>
          <p:nvPr/>
        </p:nvSpPr>
        <p:spPr>
          <a:xfrm rot="0" flipH="0" flipV="0">
            <a:off x="7219950" y="1819275"/>
            <a:ext cx="2028825" cy="1771650"/>
          </a:xfrm>
          <a:prstGeom prst="roundRect">
            <a:avLst>
              <a:gd name="adj" fmla="val 64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6" name=""/>
          <p:cNvSpPr/>
          <p:nvPr/>
        </p:nvSpPr>
        <p:spPr>
          <a:xfrm rot="0" flipH="0" flipV="0">
            <a:off x="7219950" y="1819275"/>
            <a:ext cx="2028825" cy="1771650"/>
          </a:xfrm>
          <a:custGeom>
            <a:pathLst>
              <a:path w="213" h="18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7" name=""/>
          <p:cNvSpPr/>
          <p:nvPr/>
        </p:nvSpPr>
        <p:spPr>
          <a:xfrm rot="0" flipH="0" flipV="0">
            <a:off x="7372350" y="19716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7505700" y="2047875"/>
            <a:ext cx="104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Source Han Sans SC"/>
                <a:ea typeface="Source Han Sans SC"/>
              </a:rPr>
              <a:t>4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7372350" y="2828925"/>
            <a:ext cx="1724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变换</a:t>
            </a:r>
            <a:endParaRPr/>
          </a:p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7372350" y="3067050"/>
            <a:ext cx="17240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Transform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7372350" y="3276600"/>
            <a:ext cx="1724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Consolas"/>
                <a:ea typeface="Consolas"/>
              </a:rPr>
              <a:t>赋值</a:t>
            </a:r>
            <a:r>
              <a:rPr lang="en-US" sz="1013">
                <a:solidFill>
                  <a:srgbClr val="4A5568"/>
                </a:solidFill>
                <a:latin typeface="Consolas"/>
                <a:ea typeface="Consolas"/>
              </a:rPr>
              <a:t> / apply / </a:t>
            </a:r>
            <a:r>
              <a:rPr lang="zh-CN" sz="1013">
                <a:solidFill>
                  <a:srgbClr val="4A5568"/>
                </a:solidFill>
                <a:latin typeface="Consolas"/>
                <a:ea typeface="Consolas"/>
              </a:rPr>
              <a:t>分组</a:t>
            </a:r>
            <a:endParaRPr/>
          </a:p>
        </p:txBody>
      </p:sp>
      <p:sp>
        <p:nvSpPr>
          <p:cNvPr id="122" name=""/>
          <p:cNvSpPr/>
          <p:nvPr/>
        </p:nvSpPr>
        <p:spPr>
          <a:xfrm rot="0" flipH="0" flipV="0">
            <a:off x="9363075" y="1819275"/>
            <a:ext cx="2028825" cy="1771650"/>
          </a:xfrm>
          <a:prstGeom prst="roundRect">
            <a:avLst>
              <a:gd name="adj" fmla="val 64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23" name=""/>
          <p:cNvSpPr/>
          <p:nvPr/>
        </p:nvSpPr>
        <p:spPr>
          <a:xfrm rot="0" flipH="0" flipV="0">
            <a:off x="9363075" y="1819275"/>
            <a:ext cx="2028825" cy="1771650"/>
          </a:xfrm>
          <a:custGeom>
            <a:pathLst>
              <a:path w="213" h="18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24" name=""/>
          <p:cNvSpPr/>
          <p:nvPr/>
        </p:nvSpPr>
        <p:spPr>
          <a:xfrm rot="0" flipH="0" flipV="0">
            <a:off x="9515475" y="19716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9648825" y="2047875"/>
            <a:ext cx="104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Source Han Sans SC"/>
                <a:ea typeface="Source Han Sans SC"/>
              </a:rPr>
              <a:t>5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9515475" y="2828925"/>
            <a:ext cx="1724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聚合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9515475" y="3067050"/>
            <a:ext cx="17240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Aggregate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9515475" y="3276600"/>
            <a:ext cx="1724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Consolas"/>
                <a:ea typeface="Consolas"/>
              </a:rPr>
              <a:t>groupby / pivot_table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109347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12 / 32</a:t>
            </a:r>
            <a:endParaRPr/>
          </a:p>
        </p:txBody>
      </p:sp>
      <p:pic>
        <p:nvPicPr>
          <p:cNvPr id="13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2762250" y="2562225"/>
            <a:ext cx="190500" cy="190500"/>
          </a:xfrm>
          <a:prstGeom prst="rect">
            <a:avLst/>
          </a:prstGeom>
          <a:ln/>
        </p:spPr>
      </p:pic>
      <p:pic>
        <p:nvPicPr>
          <p:cNvPr id="1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905375" y="2562225"/>
            <a:ext cx="190500" cy="190500"/>
          </a:xfrm>
          <a:prstGeom prst="rect">
            <a:avLst/>
          </a:prstGeom>
          <a:ln/>
        </p:spPr>
      </p:pic>
      <p:pic>
        <p:nvPicPr>
          <p:cNvPr id="13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38975" y="2562225"/>
            <a:ext cx="190500" cy="190500"/>
          </a:xfrm>
          <a:prstGeom prst="rect">
            <a:avLst/>
          </a:prstGeom>
          <a:ln/>
        </p:spPr>
      </p:pic>
      <p:pic>
        <p:nvPicPr>
          <p:cNvPr id="1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182100" y="2562225"/>
            <a:ext cx="190500" cy="190500"/>
          </a:xfrm>
          <a:prstGeom prst="rect">
            <a:avLst/>
          </a:prstGeom>
          <a:ln/>
        </p:spPr>
      </p:pic>
    </p:spTree>
  </p:cSld>
</p:sld>
</file>

<file path=ppt/slides/slide13.xml><?xml version="1.0" encoding="utf-8"?>
<p:sld xmlns:a="http://schemas.openxmlformats.org/drawingml/2006/main" xmlns:p="http://schemas.openxmlformats.org/presentationml/2006/main">
  <p:cSld>
    <p:spTree>
      <p:nvGrpSpPr>
        <p:cNvPr id="135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Pandas 实战速查 · Cheat Sheet&lt;/Text&gt;&#10;    &lt;Text style={{ fontSize: 15, color: 'rgba(255,255,255,0.85)' }}&gt;Module 1 · Week 2&lt;/Text&gt;&#10;  &lt;/Box&gt;&#10;  &lt;Box style={{ position: 'absolute', top: 100, left: 0, width: '100%', height: 540, padding: '14px 84px', flexDirection: 'column' }}&gt;&#10;    &lt;Box style={{ flexDirection: 'row', gap: 18, flex: 1 }}&gt;&#10;      &lt;Box style={{ flex: 1, gap: 10 }}&gt;&#10;        &lt;Text style={{ fontSize: 16, color: '#0E3F8C', fontWeight: 'bold' }}&gt;① 选取 · Select&lt;/Text&gt;&#10;        {[&#10;          { c: &quot;df.loc[df['age'] &gt; 30, 'fare']&quot;, d: '条件 + 按标签取列' },&#10;          { c: 'df.iloc[0:5, [0, 3]]', d: '按位置取前 5 行' },&#10;          { c: &quot;df[df['sex'].isin(['male'])]&quot;, d: '多值过滤' },&#10;        ].map((r, i) =&gt; (&#10;          &lt;Box key={i} style={{ background: '#F7F9FC', border: '1px solid #E5E7EB', borderLeft: '3px solid #3D7BD9', borderRadius: 8, padding: '10px 14px' }}&gt;&#10;            &lt;Text style={{ fontSize: 13.5, color: '#1A2230', fontFamily: 'Consolas, Menlo, monospace' }}&gt;{r.c}&lt;/Text&gt;&#10;            &lt;Text style={{ fontSize: 12.5, color: '#8B97A8', marginTop: 3 }}&gt;{r.d}&lt;/Text&gt;&#10;          &lt;/Box&gt;&#10;        ))}&#10;      &lt;/Box&gt;&#10;      &lt;Box style={{ flex: 1, gap: 10 }}&gt;&#10;        &lt;Text style={{ fontSize: 16, color: '#0E3F8C', fontWeight: 'bold' }}&gt;② 变换 · Transform&lt;/Text&gt;&#10;        {[&#10;          { c: &quot;df['fare'] = df['fare'].fillna(0)&quot;, d: '新列 = 旧列变换（可链式）' },&#10;          { c: &quot;df['is_child'] = df['age'] &lt; 12&quot;, d: '布尔列一步生成' },&#10;          { c: &quot;df['name'].str.lower()&quot;, d: '文本列批量处理' },&#10;        ].map((r, i) =&gt; (&#10;          &lt;Box key={i} style={{ background: '#F7F9FC', border: '1px solid #E5E7EB', borderLeft: '3px solid #1E4FA8', borderRadius: 8, padding: '10px 14px' }}&gt;&#10;            &lt;Text style={{ fontSize: 13.5, color: '#1A2230', fontFamily: 'Consolas, Menlo, monospace' }}&gt;{r.c}&lt;/Text&gt;&#10;            &lt;Text style={{ fontSize: 12.5, color: '#8B97A8', marginTop: 3 }}&gt;{r.d}&lt;/Text&gt;&#10;          &lt;/Box&gt;&#10;        ))}&#10;      &lt;/Box&gt;&#10;      &lt;Box style={{ flex: 1, gap: 10 }}&gt;&#10;        &lt;Text style={{ fontSize: 16, color: '#0E3F8C', fontWeight: 'bold' }}&gt;③ 聚合与合并 · Group &amp;amp; Merge&lt;/Text&gt;&#10;        {[&#10;          { c: &quot;df.groupby('class')['fare'].agg(['mean', 'count'])&quot;, d: '多指标聚合' },&#10;          { c: &quot;pd.merge(df1, df2, on='id', how='left')&quot;, d: '左连接保主表' },&#10;          { c: &quot;pd.pivot_table(df, index='sex', values='survived')&quot;, d: '透视表一 行代码' },&#10;        ].map((r, i) =&gt; (&#10;          &lt;Box key={i} style={{ background: '#F7F9FC', border: '1px solid #E5E7EB', borderLeft: '3px solid #0E3F8C', borderRadius: 8, padding: '10px 14px' }}&gt;&#10;            &lt;Text style={{ fontSize: 13.5, color: '#1A2230', fontFamily: 'Consolas, Menlo, monospace' }}&gt;{r.c}&lt;/Text&gt;&#10;            &lt;Text style={{ fontSize: 12.5, color: '#8B97A8', marginTop: 3 }}&gt;{r.d}&lt;/Text&gt;&#10;          &lt;/Box&gt;&#10;        ))}&#10;      &lt;/Box&gt;&#10;    &lt;/Box&gt;&#10;    &lt;Box style={{ flexDirection: 'row', gap: 16, marginTop: 14 }}&gt;&#10;      &lt;Box style={{ flex: 1.2, background: '#1A2230', borderRadius: 10, padding: '13px 20px' }}&gt;&#10;        &lt;Text style={{ fontSize: 13.5, color: '#8B97A8' }}&gt;# 经典陷阱：链式索引 · chained indexing&lt;/Text&gt;&#10;        &lt;Text style={{ fontSize: 14, color: '#FBD5A9', lineHeight: 1.7, fontFamily: 'Consolas, Menlo, monospace' }}&gt;&#10;          df[df['age'] &amp;gt; 30]['fare'] = 0&amp;nbsp;&amp;nbsp;&lt;span style={{ color: '#A8D8B9' }}&gt;# ✗ 可能不生效&lt;/span&gt;&#10;        &lt;/Text&gt;&#10;        &lt;Text style={{ fontSize: 14, color: '#A8D8B9', lineHeight: 1.7, fontFamily: 'Consolas, Menlo, monospace' }}&gt;&#10;          df.loc[df['age'] &amp;gt; 30, 'fare'] = 0&amp;nbsp;&amp;nbsp;&lt;span style={{ color: '#A8D8B9' }}&gt;# ✓ 正确写法&lt;/span&gt;&#10;        &lt;/Text&gt;&#10;      &lt;/Box&gt;&#10;      &lt;Box style={{ flex: 1, borderLeft: '4px solid #0E3F8C', paddingLeft: 14, justifyContent: 'center' }}&gt;&#10;        &lt;Text style={{ fontSize: 15, color: '#1A2230', lineHeight: 1.6 }}&gt;&#10;          这 9 行代码覆盖 Lab 中 &lt;span style={{ fontWeight: 'bold', color: '#0E3F8C' }}&gt;90% 的操作&lt;/span&gt;——建议截图贴在桌边。&#10;          &lt;span style={{ fontSize: 13, color: '#8B97A8' }}&gt;Print this and keep it next to your keyboard.&lt;/span&gt;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3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1242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Pandas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实战速查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Cheat Sheet</a:t>
            </a:r>
            <a:endParaRPr/>
          </a:p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800100" y="1085850"/>
            <a:ext cx="34194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Source Han Sans SC"/>
                <a:ea typeface="Source Han Sans SC"/>
              </a:rPr>
              <a:t>① </a:t>
            </a: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选取</a:t>
            </a:r>
            <a:r>
              <a:rPr lang="en-US" sz="1200" b="1">
                <a:solidFill>
                  <a:srgbClr val="0E3F8C"/>
                </a:solidFill>
                <a:latin typeface="Source Han Sans SC"/>
                <a:ea typeface="Source Han Sans SC"/>
              </a:rPr>
              <a:t> · Select</a:t>
            </a:r>
            <a:endParaRPr/>
          </a:p>
        </p:txBody>
      </p:sp>
      <p:sp>
        <p:nvSpPr>
          <p:cNvPr id="141" name=""/>
          <p:cNvSpPr/>
          <p:nvPr/>
        </p:nvSpPr>
        <p:spPr>
          <a:xfrm rot="0" flipH="0" flipV="0">
            <a:off x="828675" y="1371600"/>
            <a:ext cx="3419475" cy="523875"/>
          </a:xfrm>
          <a:prstGeom prst="roundRect">
            <a:avLst>
              <a:gd name="adj" fmla="val 145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42" name=""/>
          <p:cNvSpPr/>
          <p:nvPr/>
        </p:nvSpPr>
        <p:spPr>
          <a:xfrm rot="0" flipH="0" flipV="0">
            <a:off x="828675" y="1371600"/>
            <a:ext cx="3419475" cy="523875"/>
          </a:xfrm>
          <a:custGeom>
            <a:pathLst>
              <a:path w="359" h="5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0"/>
                </a:lnTo>
                <a:cubicBezTo>
                  <a:pt x="3" y="52"/>
                  <a:pt x="5" y="54"/>
                  <a:pt x="7" y="55"/>
                </a:cubicBezTo>
                <a:cubicBezTo>
                  <a:pt x="3" y="54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962025" y="1466850"/>
            <a:ext cx="3124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df.loc[df['age'] &gt; 30, 'fare']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962025" y="1657350"/>
            <a:ext cx="3124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条件</a:t>
            </a: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 + </a:t>
            </a: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按标签取列</a:t>
            </a:r>
            <a:endParaRPr/>
          </a:p>
        </p:txBody>
      </p:sp>
      <p:sp>
        <p:nvSpPr>
          <p:cNvPr id="145" name=""/>
          <p:cNvSpPr/>
          <p:nvPr/>
        </p:nvSpPr>
        <p:spPr>
          <a:xfrm rot="0" flipH="0" flipV="0">
            <a:off x="828675" y="1990725"/>
            <a:ext cx="3419475" cy="523875"/>
          </a:xfrm>
          <a:prstGeom prst="roundRect">
            <a:avLst>
              <a:gd name="adj" fmla="val 145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46" name=""/>
          <p:cNvSpPr/>
          <p:nvPr/>
        </p:nvSpPr>
        <p:spPr>
          <a:xfrm rot="0" flipH="0" flipV="0">
            <a:off x="828675" y="1990725"/>
            <a:ext cx="3419475" cy="523875"/>
          </a:xfrm>
          <a:custGeom>
            <a:pathLst>
              <a:path w="359" h="5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0"/>
                </a:lnTo>
                <a:cubicBezTo>
                  <a:pt x="3" y="52"/>
                  <a:pt x="5" y="54"/>
                  <a:pt x="7" y="55"/>
                </a:cubicBezTo>
                <a:cubicBezTo>
                  <a:pt x="3" y="54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962025" y="2085975"/>
            <a:ext cx="3124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df.iloc[0:5, [0, 3]]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962025" y="2276475"/>
            <a:ext cx="3124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按位置取前</a:t>
            </a: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 5 </a:t>
            </a: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行</a:t>
            </a:r>
            <a:endParaRPr/>
          </a:p>
        </p:txBody>
      </p:sp>
      <p:sp>
        <p:nvSpPr>
          <p:cNvPr id="149" name=""/>
          <p:cNvSpPr/>
          <p:nvPr/>
        </p:nvSpPr>
        <p:spPr>
          <a:xfrm rot="0" flipH="0" flipV="0">
            <a:off x="828675" y="2609850"/>
            <a:ext cx="3419475" cy="523875"/>
          </a:xfrm>
          <a:prstGeom prst="roundRect">
            <a:avLst>
              <a:gd name="adj" fmla="val 145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50" name=""/>
          <p:cNvSpPr/>
          <p:nvPr/>
        </p:nvSpPr>
        <p:spPr>
          <a:xfrm rot="0" flipH="0" flipV="0">
            <a:off x="828675" y="2609850"/>
            <a:ext cx="3419475" cy="523875"/>
          </a:xfrm>
          <a:custGeom>
            <a:pathLst>
              <a:path w="359" h="5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0"/>
                </a:lnTo>
                <a:cubicBezTo>
                  <a:pt x="3" y="52"/>
                  <a:pt x="5" y="54"/>
                  <a:pt x="7" y="55"/>
                </a:cubicBezTo>
                <a:cubicBezTo>
                  <a:pt x="3" y="54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962025" y="2705100"/>
            <a:ext cx="3124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df[df['sex'].isin(['male'])]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962025" y="2895600"/>
            <a:ext cx="3124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多值过滤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4391025" y="1085850"/>
            <a:ext cx="34099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Source Han Sans SC"/>
                <a:ea typeface="Source Han Sans SC"/>
              </a:rPr>
              <a:t>② </a:t>
            </a: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变换</a:t>
            </a:r>
            <a:r>
              <a:rPr lang="en-US" sz="1200" b="1">
                <a:solidFill>
                  <a:srgbClr val="0E3F8C"/>
                </a:solidFill>
                <a:latin typeface="Source Han Sans SC"/>
                <a:ea typeface="Source Han Sans SC"/>
              </a:rPr>
              <a:t> · Transform</a:t>
            </a:r>
            <a:endParaRPr/>
          </a:p>
        </p:txBody>
      </p:sp>
      <p:sp>
        <p:nvSpPr>
          <p:cNvPr id="154" name=""/>
          <p:cNvSpPr/>
          <p:nvPr/>
        </p:nvSpPr>
        <p:spPr>
          <a:xfrm rot="0" flipH="0" flipV="0">
            <a:off x="4419600" y="1371600"/>
            <a:ext cx="3409950" cy="523875"/>
          </a:xfrm>
          <a:prstGeom prst="roundRect">
            <a:avLst>
              <a:gd name="adj" fmla="val 145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55" name=""/>
          <p:cNvSpPr/>
          <p:nvPr/>
        </p:nvSpPr>
        <p:spPr>
          <a:xfrm rot="0" flipH="0" flipV="0">
            <a:off x="4419600" y="1371600"/>
            <a:ext cx="3409950" cy="523875"/>
          </a:xfrm>
          <a:custGeom>
            <a:pathLst>
              <a:path w="358" h="5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0"/>
                </a:lnTo>
                <a:cubicBezTo>
                  <a:pt x="3" y="52"/>
                  <a:pt x="5" y="54"/>
                  <a:pt x="7" y="55"/>
                </a:cubicBezTo>
                <a:cubicBezTo>
                  <a:pt x="3" y="54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4552950" y="1466850"/>
            <a:ext cx="3114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df['fare'] = df['fare'].fillna(0)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4552950" y="1657350"/>
            <a:ext cx="31146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新列</a:t>
            </a: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 = </a:t>
            </a: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旧列变换（可链式）</a:t>
            </a:r>
            <a:endParaRPr/>
          </a:p>
        </p:txBody>
      </p:sp>
      <p:sp>
        <p:nvSpPr>
          <p:cNvPr id="158" name=""/>
          <p:cNvSpPr/>
          <p:nvPr/>
        </p:nvSpPr>
        <p:spPr>
          <a:xfrm rot="0" flipH="0" flipV="0">
            <a:off x="4419600" y="1990725"/>
            <a:ext cx="3409950" cy="523875"/>
          </a:xfrm>
          <a:prstGeom prst="roundRect">
            <a:avLst>
              <a:gd name="adj" fmla="val 145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59" name=""/>
          <p:cNvSpPr/>
          <p:nvPr/>
        </p:nvSpPr>
        <p:spPr>
          <a:xfrm rot="0" flipH="0" flipV="0">
            <a:off x="4419600" y="1990725"/>
            <a:ext cx="3409950" cy="523875"/>
          </a:xfrm>
          <a:custGeom>
            <a:pathLst>
              <a:path w="358" h="5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0"/>
                </a:lnTo>
                <a:cubicBezTo>
                  <a:pt x="3" y="52"/>
                  <a:pt x="5" y="54"/>
                  <a:pt x="7" y="55"/>
                </a:cubicBezTo>
                <a:cubicBezTo>
                  <a:pt x="3" y="54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4552950" y="2085975"/>
            <a:ext cx="3114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df['is_child'] = df['age'] &lt; 12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4552950" y="2276475"/>
            <a:ext cx="31146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布尔列一步生成</a:t>
            </a:r>
            <a:endParaRPr/>
          </a:p>
        </p:txBody>
      </p:sp>
      <p:sp>
        <p:nvSpPr>
          <p:cNvPr id="162" name=""/>
          <p:cNvSpPr/>
          <p:nvPr/>
        </p:nvSpPr>
        <p:spPr>
          <a:xfrm rot="0" flipH="0" flipV="0">
            <a:off x="4419600" y="2609850"/>
            <a:ext cx="3409950" cy="523875"/>
          </a:xfrm>
          <a:prstGeom prst="roundRect">
            <a:avLst>
              <a:gd name="adj" fmla="val 145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63" name=""/>
          <p:cNvSpPr/>
          <p:nvPr/>
        </p:nvSpPr>
        <p:spPr>
          <a:xfrm rot="0" flipH="0" flipV="0">
            <a:off x="4419600" y="2609850"/>
            <a:ext cx="3409950" cy="523875"/>
          </a:xfrm>
          <a:custGeom>
            <a:pathLst>
              <a:path w="358" h="5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0"/>
                </a:lnTo>
                <a:cubicBezTo>
                  <a:pt x="3" y="52"/>
                  <a:pt x="5" y="54"/>
                  <a:pt x="7" y="55"/>
                </a:cubicBezTo>
                <a:cubicBezTo>
                  <a:pt x="3" y="54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4552950" y="2705100"/>
            <a:ext cx="3114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df['name'].str.lower()</a:t>
            </a:r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4552950" y="2895600"/>
            <a:ext cx="31146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文本列批量处理</a:t>
            </a:r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7972425" y="1085850"/>
            <a:ext cx="34194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Source Han Sans SC"/>
                <a:ea typeface="Source Han Sans SC"/>
              </a:rPr>
              <a:t>③ </a:t>
            </a: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聚合与合并</a:t>
            </a:r>
            <a:r>
              <a:rPr lang="en-US" sz="1200" b="1">
                <a:solidFill>
                  <a:srgbClr val="0E3F8C"/>
                </a:solidFill>
                <a:latin typeface="Source Han Sans SC"/>
                <a:ea typeface="Source Han Sans SC"/>
              </a:rPr>
              <a:t> · Group &amp; Merge</a:t>
            </a:r>
            <a:endParaRPr/>
          </a:p>
        </p:txBody>
      </p:sp>
      <p:sp>
        <p:nvSpPr>
          <p:cNvPr id="167" name=""/>
          <p:cNvSpPr/>
          <p:nvPr/>
        </p:nvSpPr>
        <p:spPr>
          <a:xfrm rot="0" flipH="0" flipV="0">
            <a:off x="8001000" y="1371600"/>
            <a:ext cx="3419475" cy="676275"/>
          </a:xfrm>
          <a:prstGeom prst="roundRect">
            <a:avLst>
              <a:gd name="adj" fmla="val 11268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68" name=""/>
          <p:cNvSpPr/>
          <p:nvPr/>
        </p:nvSpPr>
        <p:spPr>
          <a:xfrm rot="0" flipH="0" flipV="0">
            <a:off x="8001000" y="1371600"/>
            <a:ext cx="3419475" cy="676275"/>
          </a:xfrm>
          <a:custGeom>
            <a:pathLst>
              <a:path w="359" h="71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66"/>
                </a:lnTo>
                <a:cubicBezTo>
                  <a:pt x="3" y="68"/>
                  <a:pt x="5" y="70"/>
                  <a:pt x="7" y="71"/>
                </a:cubicBezTo>
                <a:cubicBezTo>
                  <a:pt x="3" y="70"/>
                  <a:pt x="0" y="67"/>
                  <a:pt x="0" y="6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8134350" y="1466850"/>
            <a:ext cx="3124200" cy="314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df.groupby('class')['fare'].agg(['mean', 'count'])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8134350" y="1809750"/>
            <a:ext cx="3124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多指标聚合</a:t>
            </a:r>
            <a:endParaRPr/>
          </a:p>
        </p:txBody>
      </p:sp>
      <p:sp>
        <p:nvSpPr>
          <p:cNvPr id="171" name=""/>
          <p:cNvSpPr/>
          <p:nvPr/>
        </p:nvSpPr>
        <p:spPr>
          <a:xfrm rot="0" flipH="0" flipV="0">
            <a:off x="8001000" y="2143125"/>
            <a:ext cx="3419475" cy="523875"/>
          </a:xfrm>
          <a:prstGeom prst="roundRect">
            <a:avLst>
              <a:gd name="adj" fmla="val 145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72" name=""/>
          <p:cNvSpPr/>
          <p:nvPr/>
        </p:nvSpPr>
        <p:spPr>
          <a:xfrm rot="0" flipH="0" flipV="0">
            <a:off x="8001000" y="2143125"/>
            <a:ext cx="3419475" cy="523875"/>
          </a:xfrm>
          <a:custGeom>
            <a:pathLst>
              <a:path w="359" h="5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0"/>
                </a:lnTo>
                <a:cubicBezTo>
                  <a:pt x="3" y="52"/>
                  <a:pt x="5" y="54"/>
                  <a:pt x="7" y="55"/>
                </a:cubicBezTo>
                <a:cubicBezTo>
                  <a:pt x="3" y="54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8134350" y="2238375"/>
            <a:ext cx="3124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pd.merge(df1, df2, on='id', how='left')</a:t>
            </a:r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8134350" y="2428875"/>
            <a:ext cx="3124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左连接保主表</a:t>
            </a:r>
            <a:endParaRPr/>
          </a:p>
        </p:txBody>
      </p:sp>
      <p:sp>
        <p:nvSpPr>
          <p:cNvPr id="175" name=""/>
          <p:cNvSpPr/>
          <p:nvPr/>
        </p:nvSpPr>
        <p:spPr>
          <a:xfrm rot="0" flipH="0" flipV="0">
            <a:off x="8001000" y="2762250"/>
            <a:ext cx="3419475" cy="676275"/>
          </a:xfrm>
          <a:prstGeom prst="roundRect">
            <a:avLst>
              <a:gd name="adj" fmla="val 11268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76" name=""/>
          <p:cNvSpPr/>
          <p:nvPr/>
        </p:nvSpPr>
        <p:spPr>
          <a:xfrm rot="0" flipH="0" flipV="0">
            <a:off x="8001000" y="2762250"/>
            <a:ext cx="3419475" cy="676275"/>
          </a:xfrm>
          <a:custGeom>
            <a:pathLst>
              <a:path w="359" h="71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66"/>
                </a:lnTo>
                <a:cubicBezTo>
                  <a:pt x="3" y="68"/>
                  <a:pt x="5" y="70"/>
                  <a:pt x="7" y="71"/>
                </a:cubicBezTo>
                <a:cubicBezTo>
                  <a:pt x="3" y="70"/>
                  <a:pt x="0" y="67"/>
                  <a:pt x="0" y="6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8134350" y="2857500"/>
            <a:ext cx="3124200" cy="314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pd.pivot_table(df, index='sex', values='survived')</a:t>
            </a:r>
            <a:endParaRPr/>
          </a:p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8134350" y="3200400"/>
            <a:ext cx="3124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透视表一</a:t>
            </a: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 </a:t>
            </a:r>
            <a:r>
              <a:rPr lang="zh-CN" sz="938">
                <a:solidFill>
                  <a:srgbClr val="8B97A8"/>
                </a:solidFill>
                <a:latin typeface="Source Han Sans SC"/>
                <a:ea typeface="Source Han Sans SC"/>
              </a:rPr>
              <a:t>行代码</a:t>
            </a:r>
            <a:endParaRPr/>
          </a:p>
        </p:txBody>
      </p:sp>
      <p:sp>
        <p:nvSpPr>
          <p:cNvPr id="179" name=""/>
          <p:cNvSpPr/>
          <p:nvPr/>
        </p:nvSpPr>
        <p:spPr>
          <a:xfrm rot="0" flipH="0" flipV="0">
            <a:off x="800100" y="5000625"/>
            <a:ext cx="5695950" cy="962025"/>
          </a:xfrm>
          <a:prstGeom prst="roundRect">
            <a:avLst>
              <a:gd name="adj" fmla="val 9901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990600" y="5124450"/>
            <a:ext cx="5314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8B97A8"/>
                </a:solidFill>
                <a:latin typeface="Source Han Sans SC"/>
                <a:ea typeface="Source Han Sans SC"/>
              </a:rPr>
              <a:t># </a:t>
            </a:r>
            <a:r>
              <a:rPr lang="zh-CN" sz="1013">
                <a:solidFill>
                  <a:srgbClr val="8B97A8"/>
                </a:solidFill>
                <a:latin typeface="Source Han Sans SC"/>
                <a:ea typeface="Source Han Sans SC"/>
              </a:rPr>
              <a:t>经典陷阱：链式索引</a:t>
            </a:r>
            <a:r>
              <a:rPr lang="en-US" sz="1013">
                <a:solidFill>
                  <a:srgbClr val="8B97A8"/>
                </a:solidFill>
                <a:latin typeface="Source Han Sans SC"/>
                <a:ea typeface="Source Han Sans SC"/>
              </a:rPr>
              <a:t> · chained indexing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990600" y="5286375"/>
            <a:ext cx="531495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050">
                <a:solidFill>
                  <a:srgbClr val="FBD5A9"/>
                </a:solidFill>
                <a:latin typeface="Consolas"/>
                <a:ea typeface="Consolas"/>
              </a:rPr>
              <a:t>df[df['age'] &gt; 30]['fare'] = 0  </a:t>
            </a: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# ✗ </a:t>
            </a:r>
            <a:r>
              <a:rPr lang="zh-CN" sz="1050">
                <a:solidFill>
                  <a:srgbClr val="A8D8B9"/>
                </a:solidFill>
                <a:latin typeface="Consolas"/>
                <a:ea typeface="Consolas"/>
              </a:rPr>
              <a:t>可能不生效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990600" y="5562600"/>
            <a:ext cx="531495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df.loc[df['age'] &gt; 30, 'fare'] = 0  </a:t>
            </a: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# ✓ </a:t>
            </a:r>
            <a:r>
              <a:rPr lang="zh-CN" sz="1050">
                <a:solidFill>
                  <a:srgbClr val="A8D8B9"/>
                </a:solidFill>
                <a:latin typeface="Consolas"/>
                <a:ea typeface="Consolas"/>
              </a:rPr>
              <a:t>正确写法</a:t>
            </a:r>
            <a:endParaRPr/>
          </a:p>
        </p:txBody>
      </p:sp>
      <p:sp>
        <p:nvSpPr>
          <p:cNvPr id="183" name=""/>
          <p:cNvSpPr/>
          <p:nvPr/>
        </p:nvSpPr>
        <p:spPr>
          <a:xfrm rot="0" flipH="0" flipV="0">
            <a:off x="6648450" y="5000625"/>
            <a:ext cx="4781550" cy="962025"/>
          </a:xfrm>
          <a:custGeom>
            <a:pathLst>
              <a:path w="502" h="101">
                <a:moveTo>
                  <a:pt x="0" y="0"/>
                </a:moveTo>
                <a:lnTo>
                  <a:pt x="4" y="0"/>
                </a:lnTo>
                <a:lnTo>
                  <a:pt x="4" y="101"/>
                </a:lnTo>
                <a:lnTo>
                  <a:pt x="0" y="101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6819900" y="5229225"/>
            <a:ext cx="45720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这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9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行代码覆盖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Lab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中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en-US" sz="1125" b="1">
                <a:solidFill>
                  <a:srgbClr val="0E3F8C"/>
                </a:solidFill>
                <a:latin typeface="Source Han Sans SC"/>
                <a:ea typeface="Source Han Sans SC"/>
              </a:rPr>
              <a:t>90% </a:t>
            </a:r>
            <a:r>
              <a:rPr lang="zh-CN" sz="1125" b="1">
                <a:solidFill>
                  <a:srgbClr val="0E3F8C"/>
                </a:solidFill>
                <a:latin typeface="Source Han Sans SC"/>
                <a:ea typeface="Source Han Sans SC"/>
              </a:rPr>
              <a:t>的操作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——建议截图贴在桌边。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Print this and keep it next to your keyboard.</a:t>
            </a:r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109347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13 / 32</a:t>
            </a:r>
            <a:endParaRPr/>
          </a:p>
        </p:txBody>
      </p:sp>
    </p:spTree>
  </p:cSld>
</p:sld>
</file>

<file path=ppt/slides/slide14.xml><?xml version="1.0" encoding="utf-8"?>
<p:sld xmlns:a="http://schemas.openxmlformats.org/drawingml/2006/main" xmlns:p="http://schemas.openxmlformats.org/presentationml/2006/main">
  <p:cSld>
    <p:spTree>
      <p:nvGrpSpPr>
        <p:cNvPr id="187" name="" descr="&lt;Slide style={{ width: '1280px', height: '720px', background: '#F7F9FC', padding: '0px', position: 'relative', overflow: 'hidden', fontFamily: 'Source Han Sans SC, PingFang SC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3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3&lt;/Text&gt;&#10;      &lt;/Box&gt;&#10;      &lt;Box style={{ paddingTop: 6 }}&gt;&#10;        &lt;Text style={{ fontSize: 44, color: '#1A2230', fontWeight: 'bold' }}&gt;可视化与 EDA&lt;/Text&gt;&#10;        &lt;Text style={{ fontSize: 26, color: '#8B97A8', fontWeight: '600', marginTop: 6 }}&gt;Visualization &amp;amp; Exploratory Analysis&lt;/Text&gt;&#10;      &lt;/Box&gt;&#10;    &lt;/Box&gt;&#10;    &lt;Box style={{ flexDirection: 'row', gap: 24 }}&gt;&#10;      {[&#10;        { t: '图要对题', e: 'Right Chart' },&#10;        { t: '探索五步', e: 'EDA 5 Steps' },&#10;        { t: '先看后建', e: 'Look Before Modeling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89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Source Han Sans SC"/>
                <a:ea typeface="Source Han Sans SC"/>
              </a:rPr>
              <a:t>03</a:t>
            </a:r>
            <a:endParaRPr/>
          </a:p>
        </p:txBody>
      </p:sp>
      <p:sp>
        <p:nvSpPr>
          <p:cNvPr id="191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1123950" y="1314450"/>
            <a:ext cx="71437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Source Han Sans SC"/>
                <a:ea typeface="Source Han Sans SC"/>
              </a:rPr>
              <a:t>03</a:t>
            </a:r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42576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1A2230"/>
                </a:solidFill>
                <a:latin typeface="Source Han Sans SC"/>
                <a:ea typeface="Source Han Sans SC"/>
              </a:rPr>
              <a:t>可视化与</a:t>
            </a:r>
            <a:r>
              <a:rPr lang="en-US" sz="3300" b="1">
                <a:solidFill>
                  <a:srgbClr val="1A2230"/>
                </a:solidFill>
                <a:latin typeface="Source Han Sans SC"/>
                <a:ea typeface="Source Han Sans SC"/>
              </a:rPr>
              <a:t> EDA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42576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Source Han Sans SC"/>
                <a:ea typeface="Source Han Sans SC"/>
              </a:rPr>
              <a:t>Visualization &amp; Exploratory Analysis</a:t>
            </a:r>
            <a:endParaRPr/>
          </a:p>
        </p:txBody>
      </p:sp>
      <p:sp>
        <p:nvSpPr>
          <p:cNvPr id="195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6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图要对题</a:t>
            </a:r>
            <a:endParaRPr/>
          </a:p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Right Chart</a:t>
            </a:r>
            <a:endParaRPr/>
          </a:p>
        </p:txBody>
      </p:sp>
      <p:sp>
        <p:nvSpPr>
          <p:cNvPr id="199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0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探索五步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EDA 5 Steps</a:t>
            </a:r>
            <a:endParaRPr/>
          </a:p>
        </p:txBody>
      </p:sp>
      <p:sp>
        <p:nvSpPr>
          <p:cNvPr id="203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4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先看后建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Look Before Modeling</a:t>
            </a:r>
            <a:endParaRPr/>
          </a:p>
        </p:txBody>
      </p:sp>
    </p:spTree>
  </p:cSld>
</p:sld>
</file>

<file path=ppt/slides/slide1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07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四类图，四个问题 · Chart Types × Questions&lt;/Text&gt;&#10;    &lt;Text style={{ fontSize: 15, color: 'rgba(255,255,255,0.85)' }}&gt;Module 1 · Week 2&lt;/Text&gt;&#10;  &lt;/Box&gt;&#10;  &lt;Box style={{ position: 'absolute', top: 100, left: 0, width: '100%', height: 540, padding: '14px 84px', flexDirection: 'column' }}&gt;&#10;    &lt;Box style={{ flexDirection: 'row', gap: 20, flex: 1 }}&gt;&#10;      {[&#10;        {&#10;          q: '分布是什么样？', qt: 'Distribution', t: '直方图', e: 'Histogram',&#10;          d: '一个变量的取值形状：偏态、多峰、截断。', tool: 'df[col].plot.hist()',&#10;          bars: [22, 48, 72, 95, 80, 55, 38, 20, 10, 5],&#10;        },&#10;        {&#10;          q: '两个变量什么关系？', qt: 'Relationship', t: '散点图', e: 'Scatter Plot',&#10;          d: '相关性、非线性、聚类分组一目了然。', tool: 'df.plot.scatter(x,y)',&#10;          dots: [[15, 70], [30, 60], [45, 55], [60, 45], [75, 38], [90, 25], [105, 22], [120, 12]],&#10;        },&#10;        {&#10;          q: '组间谁大谁小？', qt: 'Comparison', t: '条形图', e: 'Bar Chart',&#10;          d: '类别变量的聚合值对比，误差线可加。', tool: 'df.groupby().mean().plot.bar()',&#10;          bars: [45, 68, 82, 59],&#10;        },&#10;        {&#10;          q: '哪些特征相关？', qt: 'Correlation', t: '热力图', e: 'Heatmap',&#10;          d: '多变量两两相关性矩阵，特征筛选入口。', tool: 'sns.heatmap(df.corr())',&#10;          heat: true,&#10;        },&#10;      ].map((c, i) =&gt; (&#10;        &lt;Box key={i} style={{ flex: 1, background: '#F7F9FC', border: '1px solid #E5E7EB', borderTop: '4px solid ' + ['#3D7BD9', '#1E4FA8', '#3D7BD9', '#0E3F8C'][i], borderRadius: 12, padding: '16px 18px', justifyContent: 'space-between' }}&gt;&#10;          &lt;Box&gt;&#10;            &lt;Text style={{ fontSize: 14, color: '#8B97A8', fontWeight: '600' }}&gt;{c.qt}&lt;/Text&gt;&#10;            &lt;Text style={{ fontSize: 18, color: '#1A2230', fontWeight: 'bold', marginTop: 2 }}&gt;{c.q}&lt;/Text&gt;&#10;            &lt;Box style={{ flexDirection: 'row', alignItems: 'baseline', gap: 8, marginTop: 2 }}&gt;&#10;              &lt;Text style={{ fontSize: 16, color: '#1E4FA8', fontWeight: 'bold' }}&gt;{c.t}&lt;/Text&gt;&#10;              &lt;Text style={{ fontSize: 12.5, color: '#8B97A8' }}&gt;{c.e}&lt;/Text&gt;&#10;            &lt;/Box&gt;&#10;          &lt;/Box&gt;&#10;          &lt;Box style={{ height: 110, justifyContent: 'center', alignItems: 'center' }}&gt;&#10;            {c.bars &amp;&amp; !c.heat &amp;&amp; (&#10;              &lt;svg width={220} height={100} viewBox='0 0 220 100'&gt;&#10;                {c.bars.map((h, bi) =&gt; (&#10;                  &lt;rect key={bi} x={bi * 22 + 2} y={90 - h * 0.85} width='16' height={h * 0.85} rx='2' fill={i === 2 ? '#1E4FA8' : '#3D7BD9'} opacity='0.85' /&gt;&#10;                ))}&#10;              &lt;/svg&gt;&#10;            )}&#10;            {c.dots &amp;&amp; (&#10;              &lt;svg width={220} height={100} viewBox='0 0 220 100'&gt;&#10;                {c.dots.map((p, di) =&gt; (&#10;                  &lt;circle key={di} cx={p[0] + 10} cy={p[1]} r='6' fill='#1E4FA8' opacity='0.8' /&gt;&#10;                ))}&#10;              &lt;/svg&gt;&#10;            )}&#10;            {c.heat &amp;&amp; (&#10;              &lt;svg width={220} height={100} viewBox='0 0 220 100'&gt;&#10;                {[&#10;                  ['#0E3F8C', '#1E4FA8', '#3D7BD9', '#8B97A8'],&#10;                  ['#1E4FA8', '#0E3F8C', '#3D7BD9', '#B0C4E8'],&#10;                  ['#3D7BD9', '#3D7BD9', '#0E3F8C', '#1E4FA8'],&#10;                  ['#8B97A8', '#B0C4E8', '#1E4FA8', '#0E3F8C'],&#10;                ].map((row, ri) =&gt;&#10;                  row.map((col, ci) =&gt; (&#10;                    &lt;rect key={`${ri}-${ci}`} x={ci * 52 + 6} y={ri * 22 + 4} width='48' height='18' rx='3' fill={col} opacity='0.9' /&gt;&#10;                  ))&#10;                )}&#10;              &lt;/svg&gt;&#10;            )}&#10;          &lt;/Box&gt;&#10;          &lt;Box&gt;&#10;            &lt;Text style={{ fontSize: 13.5, color: '#4A5568', lineHeight: 1.5 }}&gt;{c.d}&lt;/Text&gt;&#10;            &lt;Text style={{ fontSize: 12, color: '#1E4FA8', fontFamily: 'Consolas, Menlo, monospace', marginTop: 6 }}&gt;{c.tool}&lt;/Text&gt;&#10;          &lt;/Box&gt;&#10;        &lt;/Box&gt;&#10;      ))}&#10;    &lt;/Box&gt;&#10;    &lt;Box style={{ background: '#F0F5FC', border: '1px solid #D6DCE5', borderRadius: 10, padding: '13px 20px', marginTop: 16 }}&gt;&#10;      &lt;Text style={{ fontSize: 16, color: '#1A2230', lineHeight: 1.6 }}&gt;&#10;        &lt;span style={{ fontWeight: 'bold', color: '#0E3F8C' }}&gt;判断：&lt;/span&gt;先想清楚要回答什么&lt;span style={{ fontWeight: 'bold', color: '#0E3F8C' }}&gt;问题&lt;/span&gt;，再选图——&#10;        反过来「先画图再找解释」是数据造假的起点。&#10;        &lt;span style={{ fontSize: 13, color: '#8B97A8' }}&gt;Let the question pick the chart, not the other way around.&lt;/span&gt;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5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9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4410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四类图，四个问题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Chart Types × Questions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212" name=""/>
          <p:cNvSpPr/>
          <p:nvPr/>
        </p:nvSpPr>
        <p:spPr>
          <a:xfrm rot="0" flipH="0" flipV="0">
            <a:off x="800100" y="1464713"/>
            <a:ext cx="2505075" cy="3577350"/>
          </a:xfrm>
          <a:prstGeom prst="roundRect">
            <a:avLst>
              <a:gd name="adj" fmla="val 456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13" name=""/>
          <p:cNvSpPr/>
          <p:nvPr/>
        </p:nvSpPr>
        <p:spPr>
          <a:xfrm rot="0" flipH="0" flipV="0">
            <a:off x="800100" y="1464713"/>
            <a:ext cx="2505075" cy="3577350"/>
          </a:xfrm>
          <a:custGeom>
            <a:pathLst>
              <a:path w="263" h="439">
                <a:moveTo>
                  <a:pt x="252" y="0"/>
                </a:moveTo>
                <a:cubicBezTo>
                  <a:pt x="257" y="0"/>
                  <a:pt x="262" y="4"/>
                  <a:pt x="263" y="10"/>
                </a:cubicBezTo>
                <a:cubicBezTo>
                  <a:pt x="262" y="6"/>
                  <a:pt x="259" y="4"/>
                  <a:pt x="25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51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971550" y="1617113"/>
            <a:ext cx="2162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SC"/>
                <a:ea typeface="Source Han Sans SC"/>
              </a:rPr>
              <a:t>Distribution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971550" y="1798088"/>
            <a:ext cx="21621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SC"/>
                <a:ea typeface="Source Han Sans SC"/>
              </a:rPr>
              <a:t>分布是什么样？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971550" y="2026688"/>
            <a:ext cx="457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4FA8"/>
                </a:solidFill>
                <a:latin typeface="Source Han Sans SC"/>
                <a:ea typeface="Source Han Sans SC"/>
              </a:rPr>
              <a:t>直方图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1504950" y="2026688"/>
            <a:ext cx="571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Histogram</a:t>
            </a:r>
            <a:endParaRPr/>
          </a:p>
        </p:txBody>
      </p:sp>
      <p:pic>
        <p:nvPicPr>
          <p:cNvPr id="21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09650" y="2433188"/>
            <a:ext cx="2095500" cy="952500"/>
          </a:xfrm>
          <a:prstGeom prst="rect">
            <a:avLst/>
          </a:prstGeom>
          <a:ln/>
        </p:spPr>
      </p:pic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971550" y="4195313"/>
            <a:ext cx="2162175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一个变量的取值形状：偏态、多峰、截断。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971550" y="4719188"/>
            <a:ext cx="21621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1E4FA8"/>
                </a:solidFill>
                <a:latin typeface="Consolas"/>
                <a:ea typeface="Consolas"/>
              </a:rPr>
              <a:t>df[col].plot.hist()</a:t>
            </a:r>
            <a:endParaRPr/>
          </a:p>
        </p:txBody>
      </p:sp>
      <p:sp>
        <p:nvSpPr>
          <p:cNvPr id="221" name=""/>
          <p:cNvSpPr/>
          <p:nvPr/>
        </p:nvSpPr>
        <p:spPr>
          <a:xfrm rot="0" flipH="0" flipV="0">
            <a:off x="3495675" y="1464713"/>
            <a:ext cx="2505075" cy="3577350"/>
          </a:xfrm>
          <a:prstGeom prst="roundRect">
            <a:avLst>
              <a:gd name="adj" fmla="val 456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22" name=""/>
          <p:cNvSpPr/>
          <p:nvPr/>
        </p:nvSpPr>
        <p:spPr>
          <a:xfrm rot="0" flipH="0" flipV="0">
            <a:off x="3495675" y="1464713"/>
            <a:ext cx="2505075" cy="3577350"/>
          </a:xfrm>
          <a:custGeom>
            <a:pathLst>
              <a:path w="263" h="439">
                <a:moveTo>
                  <a:pt x="252" y="0"/>
                </a:moveTo>
                <a:cubicBezTo>
                  <a:pt x="257" y="0"/>
                  <a:pt x="262" y="4"/>
                  <a:pt x="263" y="10"/>
                </a:cubicBezTo>
                <a:cubicBezTo>
                  <a:pt x="262" y="6"/>
                  <a:pt x="259" y="4"/>
                  <a:pt x="25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51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3667125" y="1617113"/>
            <a:ext cx="2162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SC"/>
                <a:ea typeface="Source Han Sans SC"/>
              </a:rPr>
              <a:t>Relationship</a:t>
            </a:r>
            <a:endParaRPr/>
          </a:p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3667125" y="1798088"/>
            <a:ext cx="21621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SC"/>
                <a:ea typeface="Source Han Sans SC"/>
              </a:rPr>
              <a:t>两个变量什么关系？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3667125" y="2026688"/>
            <a:ext cx="457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4FA8"/>
                </a:solidFill>
                <a:latin typeface="Source Han Sans SC"/>
                <a:ea typeface="Source Han Sans SC"/>
              </a:rPr>
              <a:t>散点图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4200525" y="2026688"/>
            <a:ext cx="6572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Scatter Plot</a:t>
            </a:r>
            <a:endParaRPr/>
          </a:p>
        </p:txBody>
      </p:sp>
      <p:pic>
        <p:nvPicPr>
          <p:cNvPr id="22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05225" y="2433188"/>
            <a:ext cx="2095500" cy="952500"/>
          </a:xfrm>
          <a:prstGeom prst="rect">
            <a:avLst/>
          </a:prstGeom>
          <a:ln/>
        </p:spPr>
      </p:pic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3667125" y="4195313"/>
            <a:ext cx="2162175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相关性、非线性、聚类分组一目了然。</a:t>
            </a:r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3667125" y="4719188"/>
            <a:ext cx="21621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1E4FA8"/>
                </a:solidFill>
                <a:latin typeface="Consolas"/>
                <a:ea typeface="Consolas"/>
              </a:rPr>
              <a:t>df.plot.scatter(x,y)</a:t>
            </a:r>
            <a:endParaRPr/>
          </a:p>
        </p:txBody>
      </p:sp>
      <p:sp>
        <p:nvSpPr>
          <p:cNvPr id="230" name=""/>
          <p:cNvSpPr/>
          <p:nvPr/>
        </p:nvSpPr>
        <p:spPr>
          <a:xfrm rot="0" flipH="0" flipV="0">
            <a:off x="6191250" y="1464713"/>
            <a:ext cx="2505075" cy="3577350"/>
          </a:xfrm>
          <a:prstGeom prst="roundRect">
            <a:avLst>
              <a:gd name="adj" fmla="val 456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31" name=""/>
          <p:cNvSpPr/>
          <p:nvPr/>
        </p:nvSpPr>
        <p:spPr>
          <a:xfrm rot="0" flipH="0" flipV="0">
            <a:off x="6191250" y="1464713"/>
            <a:ext cx="2505075" cy="3577350"/>
          </a:xfrm>
          <a:custGeom>
            <a:pathLst>
              <a:path w="263" h="439">
                <a:moveTo>
                  <a:pt x="252" y="0"/>
                </a:moveTo>
                <a:cubicBezTo>
                  <a:pt x="257" y="0"/>
                  <a:pt x="262" y="4"/>
                  <a:pt x="263" y="10"/>
                </a:cubicBezTo>
                <a:cubicBezTo>
                  <a:pt x="262" y="6"/>
                  <a:pt x="259" y="4"/>
                  <a:pt x="25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51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6362700" y="1617113"/>
            <a:ext cx="2162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SC"/>
                <a:ea typeface="Source Han Sans SC"/>
              </a:rPr>
              <a:t>Comparison</a:t>
            </a:r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6362700" y="1798088"/>
            <a:ext cx="21621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SC"/>
                <a:ea typeface="Source Han Sans SC"/>
              </a:rPr>
              <a:t>组间谁大谁小？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6362700" y="2026688"/>
            <a:ext cx="457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4FA8"/>
                </a:solidFill>
                <a:latin typeface="Source Han Sans SC"/>
                <a:ea typeface="Source Han Sans SC"/>
              </a:rPr>
              <a:t>条形图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6896100" y="2026688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Bar Chart</a:t>
            </a:r>
            <a:endParaRPr/>
          </a:p>
        </p:txBody>
      </p:sp>
      <p:pic>
        <p:nvPicPr>
          <p:cNvPr id="23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400800" y="2433188"/>
            <a:ext cx="2095500" cy="952500"/>
          </a:xfrm>
          <a:prstGeom prst="rect">
            <a:avLst/>
          </a:prstGeom>
          <a:ln/>
        </p:spPr>
      </p:pic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6362700" y="4195313"/>
            <a:ext cx="2162175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类别变量的聚合值对比，误差线可加。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6362700" y="4719188"/>
            <a:ext cx="21621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1E4FA8"/>
                </a:solidFill>
                <a:latin typeface="Consolas"/>
                <a:ea typeface="Consolas"/>
              </a:rPr>
              <a:t>df.groupby().mean().plot.bar()</a:t>
            </a:r>
            <a:endParaRPr/>
          </a:p>
        </p:txBody>
      </p:sp>
      <p:sp>
        <p:nvSpPr>
          <p:cNvPr id="239" name=""/>
          <p:cNvSpPr/>
          <p:nvPr/>
        </p:nvSpPr>
        <p:spPr>
          <a:xfrm rot="0" flipH="0" flipV="0">
            <a:off x="8886825" y="1464713"/>
            <a:ext cx="2505075" cy="3577350"/>
          </a:xfrm>
          <a:prstGeom prst="roundRect">
            <a:avLst>
              <a:gd name="adj" fmla="val 456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40" name=""/>
          <p:cNvSpPr/>
          <p:nvPr/>
        </p:nvSpPr>
        <p:spPr>
          <a:xfrm rot="0" flipH="0" flipV="0">
            <a:off x="8886825" y="1464713"/>
            <a:ext cx="2505075" cy="3577350"/>
          </a:xfrm>
          <a:custGeom>
            <a:pathLst>
              <a:path w="263" h="439">
                <a:moveTo>
                  <a:pt x="252" y="0"/>
                </a:moveTo>
                <a:cubicBezTo>
                  <a:pt x="257" y="0"/>
                  <a:pt x="262" y="4"/>
                  <a:pt x="263" y="10"/>
                </a:cubicBezTo>
                <a:cubicBezTo>
                  <a:pt x="262" y="6"/>
                  <a:pt x="259" y="4"/>
                  <a:pt x="25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51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9058275" y="1617113"/>
            <a:ext cx="2162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SC"/>
                <a:ea typeface="Source Han Sans SC"/>
              </a:rPr>
              <a:t>Correlation</a:t>
            </a:r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9058275" y="1798088"/>
            <a:ext cx="21621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SC"/>
                <a:ea typeface="Source Han Sans SC"/>
              </a:rPr>
              <a:t>哪些特征相关？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9058275" y="2026688"/>
            <a:ext cx="457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4FA8"/>
                </a:solidFill>
                <a:latin typeface="Source Han Sans SC"/>
                <a:ea typeface="Source Han Sans SC"/>
              </a:rPr>
              <a:t>热力图</a:t>
            </a:r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9591675" y="2026688"/>
            <a:ext cx="504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Heatmap</a:t>
            </a:r>
            <a:endParaRPr/>
          </a:p>
        </p:txBody>
      </p:sp>
      <p:pic>
        <p:nvPicPr>
          <p:cNvPr id="24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9096375" y="2433188"/>
            <a:ext cx="2095500" cy="952500"/>
          </a:xfrm>
          <a:prstGeom prst="rect">
            <a:avLst/>
          </a:prstGeom>
          <a:ln/>
        </p:spPr>
      </p:pic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9058275" y="4195313"/>
            <a:ext cx="2162175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多变量两两相关性矩阵，特征筛选入口。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9058275" y="4719188"/>
            <a:ext cx="21621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1E4FA8"/>
                </a:solidFill>
                <a:latin typeface="Consolas"/>
                <a:ea typeface="Consolas"/>
              </a:rPr>
              <a:t>sns.heatmap(df.corr())</a:t>
            </a:r>
            <a:endParaRPr/>
          </a:p>
        </p:txBody>
      </p:sp>
      <p:sp>
        <p:nvSpPr>
          <p:cNvPr id="248" name=""/>
          <p:cNvSpPr/>
          <p:nvPr/>
        </p:nvSpPr>
        <p:spPr>
          <a:xfrm rot="0" flipH="0" flipV="0">
            <a:off x="800100" y="5156362"/>
            <a:ext cx="10591800" cy="542925"/>
          </a:xfrm>
          <a:prstGeom prst="roundRect">
            <a:avLst>
              <a:gd name="adj" fmla="val 17544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990600" y="5280187"/>
            <a:ext cx="10210800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判断：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先想清楚要回答什么</a:t>
            </a: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问题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，再选图——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反过来「先画图再找解释」是数据造假的起点。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Let the question pick the chart, not the other way around.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109347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15 / 32</a:t>
            </a:r>
            <a:endParaRPr/>
          </a:p>
        </p:txBody>
      </p:sp>
    </p:spTree>
  </p:cSld>
</p:sld>
</file>

<file path=ppt/slides/slide16.xml><?xml version="1.0" encoding="utf-8"?>
<p:sld xmlns:a="http://schemas.openxmlformats.org/drawingml/2006/main" xmlns:p="http://schemas.openxmlformats.org/presentationml/2006/main">
  <p:cSld>
    <p:spTree>
      <p:nvGrpSpPr>
        <p:cNvPr id="252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EDA 五步法 · The 5-Step EDA Routine&lt;/Text&gt;&#10;    &lt;Text style={{ fontSize: 15, color: 'rgba(255,255,255,0.85)' }}&gt;Module 1 · Week 2&lt;/Text&gt;&#10;  &lt;/Box&gt;&#10;  &lt;Box style={{ position: 'absolute', top: 100, left: 0, width: '100%', height: 540, padding: '16px 84px', flexDirection: 'row', gap: 28 }}&gt;&#10;    &lt;Box style={{ flex: 1.2, gap: 11, justifyContent: 'center' }}&gt;&#10;      {[&#10;        { n: '1', t: '概览全局', e: 'Overview', d: 'shape / info / describe —— 有多少行列？什么类型？有没有缺失？' },&#10;        { n: '2', t: '单变量', e: 'Univariate', d: '直方图 / value_counts —— 每个变量自己的分布与异常值。' },&#10;        { n: '3', t: '双变量', e: 'Bivariate', d: '散点 / 分组聚合 —— 特征与目标之间有什么关系？' },&#10;        { n: '4', t: '异常与缺失', e: 'Anomalies', d: '极端值、缺失模式 —— 是录入错误还是真实现象？' },&#10;        { n: '5', t: '形成假设', e: 'Hypotheses', d: '写下猜想 —— 哪些特征可能有预测力？需要什么变换？' },&#10;      ].map((s, i) =&gt; (&#10;        &lt;Box key={i} style={{ flexDirection: 'row', gap: 14, alignItems: 'flex-start', background: '#F7F9FC', border: '1px solid #E5E7EB', borderLeft: '4px solid ' + ['#3D7BD9', '#1E4FA8', '#1E4FA8', '#3D7BD9', '#0E3F8C'][i], borderRadius: 10, padding: '12px 16px' }}&gt;&#10;          &lt;Box style={{ width: 30, height: 30, borderRadius: 9, background: '#E8EFF8', justifyContent: 'center', alignItems: 'center', flexShrink: 0 }}&gt;&#10;            &lt;Text style={{ fontSize: 15, color: '#1E4FA8', fontWeight: 'bold' }}&gt;{s.n}&lt;/Text&gt;&#10;          &lt;/Box&gt;&#10;          &lt;Box style={{ flex: 1 }}&gt;&#10;            &lt;Box style={{ flexDirection: 'row', alignItems: 'baseline', gap: 8 }}&gt;&#10;              &lt;Text style={{ fontSize: 17.5, color: '#1A2230', fontWeight: 'bold' }}&gt;{s.t}&lt;/Text&gt;&#10;              &lt;Text style={{ fontSize: 13, color: '#8B97A8' }}&gt;{s.e}&lt;/Text&gt;&#10;            &lt;/Box&gt;&#10;            &lt;Text style={{ fontSize: 14.5, color: '#4A5568', lineHeight: 1.5, marginTop: 2 }}&gt;{s.d}&lt;/Text&gt;&#10;          &lt;/Box&gt;&#10;        &lt;/Box&gt;&#10;      ))}&#10;    &lt;/Box&gt;&#10;    &lt;Box style={{ width: 360, gap: 14, justifyContent: 'center', flexShrink: 0 }}&gt;&#10;      &lt;Box style={{ background: '#F0F5FC', border: '1px solid #D6DCE5', borderRadius: 14, padding: '22px 24px' }}&gt;&#10;        &lt;Text style={{ fontSize: 20, color: '#0E3F8C', fontWeight: 'bold' }}&gt;EDA 是建模的侦察&lt;/Text&gt;&#10;        &lt;Text style={{ fontSize: 15, color: '#4A5568', lineHeight: 1.65, marginTop: 10 }}&gt;&#10;          不做 EDA 就直接训练模型 = &lt;span style={{ fontWeight: 'bold', color: '#0E3F8C' }}&gt;盲打&lt;/span&gt;：&#10;          你不知道数据有没有毒、特征该不该变换、评估结果可不可信。&#10;        &lt;/Text&gt;&#10;        &lt;Text style={{ fontSize: 13, color: '#8B97A8', marginTop: 10 }}&gt;EDA is reconnaissance before modeling — not optional.&lt;/Text&gt;&#10;      &lt;/Box&gt;&#10;      &lt;Box style={{ background: '#1A2230', borderRadius: 14, padding: '20px 24px' }}&gt;&#10;        &lt;Text style={{ fontSize: 14, color: '#8B97A8', marginBottom: 8 }}&gt;# 概览只要三行&lt;/Text&gt;&#10;        &lt;Text style={{ fontSize: 15, color: '#A8D8B9', lineHeight: 1.85, fontFamily: 'Consolas, Menlo, monospace' }}&gt;&#10;          df.shape{'\n'}&#10;          df.info(){'\n'}&#10;          df.describe()&#10;        &lt;/Text&gt;&#10;      &lt;/Box&gt;&#10;      &lt;Box style={{ borderLeft: '4px solid #0E3F8C', paddingLeft: 14 }}&gt;&#10;        &lt;Text style={{ fontSize: 15, color: '#1A2230', lineHeight: 1.6 }}&gt;&#10;          实操铁律：&lt;span style={{ fontWeight: 'bold', color: '#0E3F8C' }}&gt;每个发现都写进 notebook&lt;/span&gt;，未来的你（和队友）会感谢现在的你。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6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54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8576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EDA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五步法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The 5-Step EDA Routine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257" name=""/>
          <p:cNvSpPr/>
          <p:nvPr/>
        </p:nvSpPr>
        <p:spPr>
          <a:xfrm rot="0" flipH="0" flipV="0">
            <a:off x="838200" y="1552575"/>
            <a:ext cx="6896100" cy="704850"/>
          </a:xfrm>
          <a:prstGeom prst="roundRect">
            <a:avLst>
              <a:gd name="adj" fmla="val 1351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58" name=""/>
          <p:cNvSpPr/>
          <p:nvPr/>
        </p:nvSpPr>
        <p:spPr>
          <a:xfrm rot="0" flipH="0" flipV="0">
            <a:off x="838200" y="1552575"/>
            <a:ext cx="6896100" cy="704850"/>
          </a:xfrm>
          <a:custGeom>
            <a:pathLst>
              <a:path w="724" h="7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8"/>
                </a:lnTo>
                <a:cubicBezTo>
                  <a:pt x="4" y="71"/>
                  <a:pt x="6" y="73"/>
                  <a:pt x="9" y="74"/>
                </a:cubicBezTo>
                <a:cubicBezTo>
                  <a:pt x="4" y="73"/>
                  <a:pt x="0" y="69"/>
                  <a:pt x="0" y="6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59" name=""/>
          <p:cNvSpPr/>
          <p:nvPr/>
        </p:nvSpPr>
        <p:spPr>
          <a:xfrm rot="0" flipH="0" flipV="0">
            <a:off x="990600" y="1666875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1104900" y="1724025"/>
            <a:ext cx="66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SC"/>
                <a:ea typeface="Source Han Sans SC"/>
              </a:rPr>
              <a:t>1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1409700" y="1666875"/>
            <a:ext cx="666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13" b="1">
                <a:solidFill>
                  <a:srgbClr val="1A2230"/>
                </a:solidFill>
                <a:latin typeface="Source Han Sans SC"/>
                <a:ea typeface="Source Han Sans SC"/>
              </a:rPr>
              <a:t>概览全局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2152650" y="1666875"/>
            <a:ext cx="5238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Overview</a:t>
            </a:r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1409700" y="1885950"/>
            <a:ext cx="61341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shape / info / describe ——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有多少行列？什么类型？有没有缺失？</a:t>
            </a:r>
            <a:endParaRPr/>
          </a:p>
        </p:txBody>
      </p:sp>
      <p:sp>
        <p:nvSpPr>
          <p:cNvPr id="264" name=""/>
          <p:cNvSpPr/>
          <p:nvPr/>
        </p:nvSpPr>
        <p:spPr>
          <a:xfrm rot="0" flipH="0" flipV="0">
            <a:off x="838200" y="2362200"/>
            <a:ext cx="6896100" cy="704850"/>
          </a:xfrm>
          <a:prstGeom prst="roundRect">
            <a:avLst>
              <a:gd name="adj" fmla="val 1351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65" name=""/>
          <p:cNvSpPr/>
          <p:nvPr/>
        </p:nvSpPr>
        <p:spPr>
          <a:xfrm rot="0" flipH="0" flipV="0">
            <a:off x="838200" y="2362200"/>
            <a:ext cx="6896100" cy="704850"/>
          </a:xfrm>
          <a:custGeom>
            <a:pathLst>
              <a:path w="724" h="7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8"/>
                </a:lnTo>
                <a:cubicBezTo>
                  <a:pt x="4" y="71"/>
                  <a:pt x="6" y="73"/>
                  <a:pt x="9" y="74"/>
                </a:cubicBezTo>
                <a:cubicBezTo>
                  <a:pt x="4" y="73"/>
                  <a:pt x="0" y="69"/>
                  <a:pt x="0" y="6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6" name=""/>
          <p:cNvSpPr/>
          <p:nvPr/>
        </p:nvSpPr>
        <p:spPr>
          <a:xfrm rot="0" flipH="0" flipV="0">
            <a:off x="990600" y="2476500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1095375" y="2533650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SC"/>
                <a:ea typeface="Source Han Sans SC"/>
              </a:rPr>
              <a:t>2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1409700" y="2476500"/>
            <a:ext cx="5048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13" b="1">
                <a:solidFill>
                  <a:srgbClr val="1A2230"/>
                </a:solidFill>
                <a:latin typeface="Source Han Sans SC"/>
                <a:ea typeface="Source Han Sans SC"/>
              </a:rPr>
              <a:t>单变量</a:t>
            </a:r>
            <a:endParaRPr/>
          </a:p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1990725" y="2476500"/>
            <a:ext cx="5810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Univariate</a:t>
            </a:r>
            <a:endParaRPr/>
          </a:p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1409700" y="2695575"/>
            <a:ext cx="61341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直方图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/ value_counts ——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每个变量自己的分布与异常值。</a:t>
            </a:r>
            <a:endParaRPr/>
          </a:p>
        </p:txBody>
      </p:sp>
      <p:sp>
        <p:nvSpPr>
          <p:cNvPr id="271" name=""/>
          <p:cNvSpPr/>
          <p:nvPr/>
        </p:nvSpPr>
        <p:spPr>
          <a:xfrm rot="0" flipH="0" flipV="0">
            <a:off x="838200" y="3171825"/>
            <a:ext cx="6896100" cy="704850"/>
          </a:xfrm>
          <a:prstGeom prst="roundRect">
            <a:avLst>
              <a:gd name="adj" fmla="val 1351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72" name=""/>
          <p:cNvSpPr/>
          <p:nvPr/>
        </p:nvSpPr>
        <p:spPr>
          <a:xfrm rot="0" flipH="0" flipV="0">
            <a:off x="838200" y="3171825"/>
            <a:ext cx="6896100" cy="704850"/>
          </a:xfrm>
          <a:custGeom>
            <a:pathLst>
              <a:path w="724" h="7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8"/>
                </a:lnTo>
                <a:cubicBezTo>
                  <a:pt x="4" y="71"/>
                  <a:pt x="6" y="73"/>
                  <a:pt x="9" y="74"/>
                </a:cubicBezTo>
                <a:cubicBezTo>
                  <a:pt x="4" y="73"/>
                  <a:pt x="0" y="69"/>
                  <a:pt x="0" y="6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3" name=""/>
          <p:cNvSpPr/>
          <p:nvPr/>
        </p:nvSpPr>
        <p:spPr>
          <a:xfrm rot="0" flipH="0" flipV="0">
            <a:off x="990600" y="3286125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1095375" y="334327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SC"/>
                <a:ea typeface="Source Han Sans SC"/>
              </a:rPr>
              <a:t>3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1409700" y="3286125"/>
            <a:ext cx="5048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13" b="1">
                <a:solidFill>
                  <a:srgbClr val="1A2230"/>
                </a:solidFill>
                <a:latin typeface="Source Han Sans SC"/>
                <a:ea typeface="Source Han Sans SC"/>
              </a:rPr>
              <a:t>双变量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1990725" y="3286125"/>
            <a:ext cx="5048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Bivariate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1409700" y="3505200"/>
            <a:ext cx="61341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散点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/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分组聚合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——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特征与目标之间有什么关系？</a:t>
            </a:r>
            <a:endParaRPr/>
          </a:p>
        </p:txBody>
      </p:sp>
      <p:sp>
        <p:nvSpPr>
          <p:cNvPr id="278" name=""/>
          <p:cNvSpPr/>
          <p:nvPr/>
        </p:nvSpPr>
        <p:spPr>
          <a:xfrm rot="0" flipH="0" flipV="0">
            <a:off x="838200" y="3981450"/>
            <a:ext cx="6896100" cy="704850"/>
          </a:xfrm>
          <a:prstGeom prst="roundRect">
            <a:avLst>
              <a:gd name="adj" fmla="val 1351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79" name=""/>
          <p:cNvSpPr/>
          <p:nvPr/>
        </p:nvSpPr>
        <p:spPr>
          <a:xfrm rot="0" flipH="0" flipV="0">
            <a:off x="838200" y="3981450"/>
            <a:ext cx="6896100" cy="704850"/>
          </a:xfrm>
          <a:custGeom>
            <a:pathLst>
              <a:path w="724" h="7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8"/>
                </a:lnTo>
                <a:cubicBezTo>
                  <a:pt x="4" y="71"/>
                  <a:pt x="6" y="73"/>
                  <a:pt x="9" y="74"/>
                </a:cubicBezTo>
                <a:cubicBezTo>
                  <a:pt x="4" y="73"/>
                  <a:pt x="0" y="69"/>
                  <a:pt x="0" y="6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80" name=""/>
          <p:cNvSpPr/>
          <p:nvPr/>
        </p:nvSpPr>
        <p:spPr>
          <a:xfrm rot="0" flipH="0" flipV="0">
            <a:off x="990600" y="4095750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1095375" y="4152900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SC"/>
                <a:ea typeface="Source Han Sans SC"/>
              </a:rPr>
              <a:t>4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1409700" y="4095750"/>
            <a:ext cx="8382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13" b="1">
                <a:solidFill>
                  <a:srgbClr val="1A2230"/>
                </a:solidFill>
                <a:latin typeface="Source Han Sans SC"/>
                <a:ea typeface="Source Han Sans SC"/>
              </a:rPr>
              <a:t>异常与缺失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2324100" y="4095750"/>
            <a:ext cx="5905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Anomalies</a:t>
            </a:r>
            <a:endParaRPr/>
          </a:p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1409700" y="4314825"/>
            <a:ext cx="61341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极端值、缺失模式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——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是录入错误还是真实现象？</a:t>
            </a:r>
            <a:endParaRPr/>
          </a:p>
        </p:txBody>
      </p:sp>
      <p:sp>
        <p:nvSpPr>
          <p:cNvPr id="285" name=""/>
          <p:cNvSpPr/>
          <p:nvPr/>
        </p:nvSpPr>
        <p:spPr>
          <a:xfrm rot="0" flipH="0" flipV="0">
            <a:off x="838200" y="4791075"/>
            <a:ext cx="6896100" cy="704850"/>
          </a:xfrm>
          <a:prstGeom prst="roundRect">
            <a:avLst>
              <a:gd name="adj" fmla="val 1351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86" name=""/>
          <p:cNvSpPr/>
          <p:nvPr/>
        </p:nvSpPr>
        <p:spPr>
          <a:xfrm rot="0" flipH="0" flipV="0">
            <a:off x="838200" y="4791075"/>
            <a:ext cx="6896100" cy="704850"/>
          </a:xfrm>
          <a:custGeom>
            <a:pathLst>
              <a:path w="724" h="7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8"/>
                </a:lnTo>
                <a:cubicBezTo>
                  <a:pt x="4" y="71"/>
                  <a:pt x="6" y="73"/>
                  <a:pt x="9" y="74"/>
                </a:cubicBezTo>
                <a:cubicBezTo>
                  <a:pt x="4" y="73"/>
                  <a:pt x="0" y="69"/>
                  <a:pt x="0" y="6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287" name=""/>
          <p:cNvSpPr/>
          <p:nvPr/>
        </p:nvSpPr>
        <p:spPr>
          <a:xfrm rot="0" flipH="0" flipV="0">
            <a:off x="990600" y="4905375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1095375" y="49625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Source Han Sans SC"/>
                <a:ea typeface="Source Han Sans SC"/>
              </a:rPr>
              <a:t>5</a:t>
            </a:r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1409700" y="4905375"/>
            <a:ext cx="666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13" b="1">
                <a:solidFill>
                  <a:srgbClr val="1A2230"/>
                </a:solidFill>
                <a:latin typeface="Source Han Sans SC"/>
                <a:ea typeface="Source Han Sans SC"/>
              </a:rPr>
              <a:t>形成假设</a:t>
            </a:r>
            <a:endParaRPr/>
          </a:p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2152650" y="4905375"/>
            <a:ext cx="676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Hypotheses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1409700" y="5124450"/>
            <a:ext cx="61341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写下猜想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——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哪些特征可能有预测力？需要什么变换？</a:t>
            </a:r>
            <a:endParaRPr/>
          </a:p>
        </p:txBody>
      </p:sp>
      <p:sp>
        <p:nvSpPr>
          <p:cNvPr id="292" name=""/>
          <p:cNvSpPr/>
          <p:nvPr/>
        </p:nvSpPr>
        <p:spPr>
          <a:xfrm rot="0" flipH="0" flipV="0">
            <a:off x="7962900" y="1333500"/>
            <a:ext cx="3429000" cy="2000250"/>
          </a:xfrm>
          <a:prstGeom prst="roundRect">
            <a:avLst>
              <a:gd name="adj" fmla="val 6667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8191500" y="1543050"/>
            <a:ext cx="2971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E3F8C"/>
                </a:solidFill>
                <a:latin typeface="Source Han Sans SC"/>
                <a:ea typeface="Source Han Sans SC"/>
              </a:rPr>
              <a:t>EDA </a:t>
            </a:r>
            <a:r>
              <a:rPr lang="zh-CN" sz="1500" b="1">
                <a:solidFill>
                  <a:srgbClr val="0E3F8C"/>
                </a:solidFill>
                <a:latin typeface="Source Han Sans SC"/>
                <a:ea typeface="Source Han Sans SC"/>
              </a:rPr>
              <a:t>是建模的侦察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8191500" y="1866900"/>
            <a:ext cx="297180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不做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 EDA 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就直接训练模型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 = </a:t>
            </a:r>
            <a:r>
              <a:rPr lang="zh-CN" sz="1125" b="1">
                <a:solidFill>
                  <a:srgbClr val="0E3F8C"/>
                </a:solidFill>
                <a:latin typeface="Source Han Sans SC"/>
                <a:ea typeface="Source Han Sans SC"/>
              </a:rPr>
              <a:t>盲打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：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 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你不知道数据有没有毒、特征该不该变换、评估结果可不可信。</a:t>
            </a:r>
            <a:endParaRPr/>
          </a:p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8191500" y="2819400"/>
            <a:ext cx="297180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EDA is reconnaissance before modeling — not optional.</a:t>
            </a:r>
            <a:endParaRPr/>
          </a:p>
        </p:txBody>
      </p:sp>
      <p:sp>
        <p:nvSpPr>
          <p:cNvPr id="296" name=""/>
          <p:cNvSpPr/>
          <p:nvPr/>
        </p:nvSpPr>
        <p:spPr>
          <a:xfrm rot="0" flipH="0" flipV="0">
            <a:off x="7962900" y="3467100"/>
            <a:ext cx="3429000" cy="1571625"/>
          </a:xfrm>
          <a:prstGeom prst="roundRect">
            <a:avLst>
              <a:gd name="adj" fmla="val 8485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8191500" y="3657600"/>
            <a:ext cx="2971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# </a:t>
            </a:r>
            <a:r>
              <a:rPr lang="zh-CN" sz="1050">
                <a:solidFill>
                  <a:srgbClr val="8B97A8"/>
                </a:solidFill>
                <a:latin typeface="Source Han Sans SC"/>
                <a:ea typeface="Source Han Sans SC"/>
              </a:rPr>
              <a:t>概览只要三行</a:t>
            </a:r>
            <a:endParaRPr/>
          </a:p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8191500" y="3895725"/>
            <a:ext cx="2971800" cy="952500"/>
          </a:xfrm>
          <a:prstGeom prst="rect"/>
        </p:spPr>
        <p:txBody>
          <a:bodyPr wrap="none" lIns="0" tIns="0" rIns="0" bIns="0"/>
          <a:p>
            <a:pPr>
              <a:lnSpc>
                <a:spcPct val="18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df.shape</a:t>
            </a:r>
            <a:endParaRPr/>
          </a:p>
          <a:p>
            <a:pPr>
              <a:lnSpc>
                <a:spcPct val="18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df.info()</a:t>
            </a:r>
            <a:endParaRPr/>
          </a:p>
          <a:p>
            <a:pPr>
              <a:lnSpc>
                <a:spcPct val="18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df.describe()</a:t>
            </a:r>
            <a:endParaRPr/>
          </a:p>
        </p:txBody>
      </p:sp>
      <p:sp>
        <p:nvSpPr>
          <p:cNvPr id="299" name=""/>
          <p:cNvSpPr/>
          <p:nvPr/>
        </p:nvSpPr>
        <p:spPr>
          <a:xfrm rot="0" flipH="0" flipV="0">
            <a:off x="7962900" y="5172075"/>
            <a:ext cx="3467100" cy="552450"/>
          </a:xfrm>
          <a:custGeom>
            <a:pathLst>
              <a:path w="364" h="58">
                <a:moveTo>
                  <a:pt x="0" y="0"/>
                </a:moveTo>
                <a:lnTo>
                  <a:pt x="4" y="0"/>
                </a:lnTo>
                <a:lnTo>
                  <a:pt x="4" y="58"/>
                </a:lnTo>
                <a:lnTo>
                  <a:pt x="0" y="58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8134350" y="5172075"/>
            <a:ext cx="32575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实操铁律：</a:t>
            </a:r>
            <a:r>
              <a:rPr lang="zh-CN" sz="1125" b="1">
                <a:solidFill>
                  <a:srgbClr val="0E3F8C"/>
                </a:solidFill>
                <a:latin typeface="Source Han Sans SC"/>
                <a:ea typeface="Source Han Sans SC"/>
              </a:rPr>
              <a:t>每个发现都写进</a:t>
            </a:r>
            <a:r>
              <a:rPr lang="en-US" sz="1125" b="1">
                <a:solidFill>
                  <a:srgbClr val="0E3F8C"/>
                </a:solidFill>
                <a:latin typeface="Source Han Sans SC"/>
                <a:ea typeface="Source Han Sans SC"/>
              </a:rPr>
              <a:t> notebook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，未来的你（和队友）会感谢现在的你。</a:t>
            </a:r>
            <a:endParaRPr/>
          </a:p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109347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16 / 32</a:t>
            </a:r>
            <a:endParaRPr/>
          </a:p>
        </p:txBody>
      </p:sp>
    </p:spTree>
  </p:cSld>
</p:sld>
</file>

<file path=ppt/slides/slide17.xml><?xml version="1.0" encoding="utf-8"?>
<p:sld xmlns:a="http://schemas.openxmlformats.org/drawingml/2006/main" xmlns:p="http://schemas.openxmlformats.org/presentationml/2006/main">
  <p:cSld>
    <p:spTree>
      <p:nvGrpSpPr>
        <p:cNvPr id="303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EDA 走查：Titanic · A Full Walkthrough&lt;/Text&gt;&#10;    &lt;Text style={{ fontSize: 15, color: 'rgba(255,255,255,0.85)' }}&gt;Module 1 · Week 2&lt;/Text&gt;&#10;  &lt;/Box&gt;&#10;  &lt;Box style={{ position: 'absolute', top: 100, left: 0, width: '100%', height: 540, padding: '14px 84px', flexDirection: 'column' }}&gt;&#10;    &lt;Box style={{ flexDirection: 'row', gap: 14, flex: 1 }}&gt;&#10;      {[&#10;        {&#10;          n: '1', t: '概览', d: 'df.shape → (891, 12)', f: '发现：age 缺 177 个，cabin 缺 687 个，embarked 缺 2 个。', c: '#3D7BD9',&#10;        },&#10;        {&#10;          n: '2', t: '单变量', d: 'df[&quot;age&quot;].plot.hist()', f: '发现：年龄右偏，集中在 20–40；票价严重长尾（最高 512）。', c: '#1E4FA8',&#10;        },&#10;        {&#10;          n: '3', t: '双变量', d: 'df.groupby(&quot;sex&quot;)[&quot;survived&quot;].mean()', f: '发现：女性生还率 74% vs 男性 19%——性别是强特征。', c: '#0E3F8C',&#10;        },&#10;        {&#10;          n: '4', t: '异常缺失', d: 'df[&quot;fare&quot;].describe()', f: '发现：票价 0 元的票有 15 张——是员工票还是录入错误？', c: '#1E4FA8',&#10;        },&#10;        {&#10;          n: '5', t: '假设', d: '写在 notebook 里', f: '假设：性别 + 舱位 + 年龄组合可预测生还；cabin 缺失太多应考虑删列。', c: '#3D7BD9',&#10;        },&#10;      ].map((s, i) =&gt; (&#10;        &lt;Box key={i} style={{ flex: 1, background: '#F7F9FC', border: '1px solid #E5E7EB', borderTop: '4px solid ' + s.c, borderRadius: 12, padding: '14px 14px', justifyContent: 'space-between' }}&gt;&#10;          &lt;Box&gt;&#10;            &lt;Box style={{ width: 30, height: 30, borderRadius: 9, background: s.c, justifyContent: 'center', alignItems: 'center' }}&gt;&#10;              &lt;Text style={{ fontSize: 15, color: '#FFFFFF', fontWeight: 'bold' }}&gt;{s.n}&lt;/Text&gt;&#10;            &lt;/Box&gt;&#10;            &lt;Text style={{ fontSize: 18, color: '#1A2230', fontWeight: 'bold', marginTop: 8 }}&gt;{s.t}&lt;/Text&gt;&#10;            &lt;Text style={{ fontSize: 12.5, color: '#1E4FA8', fontFamily: 'Consolas, Menlo, monospace', marginTop: 3 }}&gt;{s.d}&lt;/Text&gt;&#10;          &lt;/Box&gt;&#10;          &lt;Box style={{ background: '#F0F5FC', borderRadius: 8, padding: '9px 11px' }}&gt;&#10;            &lt;Text style={{ fontSize: 13, color: '#4A5568', lineHeight: 1.5 }}&gt;{s.f}&lt;/Text&gt;&#10;          &lt;/Box&gt;&#10;        &lt;/Box&gt;&#10;      ))}&#10;    &lt;/Box&gt;&#10;    &lt;Box style={{ flexDirection: 'row', gap: 14, marginTop: 14, alignItems: 'stretch' }}&gt;&#10;      &lt;Box style={{ flex: 1, background: '#F0F5FC', border: '1px solid #D6DCE5', borderRadius: 10, padding: '13px 20px' }}&gt;&#10;        &lt;Text style={{ fontSize: 15.5, color: '#1A2230', lineHeight: 1.6 }}&gt;&#10;          &lt;span style={{ fontWeight: 'bold', color: '#0E3F8C' }}&gt;同一份数据，5 步就能得出可行动的结论&lt;/span&gt;——这就是 EDA 的价值：还没建模，特征清单已经成形。&#10;        &lt;/Text&gt;&#10;      &lt;/Box&gt;&#10;      &lt;Box style={{ width: 380, borderLeft: '4px solid #0E3F8C', paddingLeft: 14, justifyContent: 'center' }}&gt;&#10;        &lt;Text style={{ fontSize: 14.5, color: '#1A2230', lineHeight: 1.55 }}&gt;&#10;          今天 Lab 就走这五步。&lt;span style={{ fontWeight: 'bold', color: '#0E3F8C' }}&gt;你的发现不必和这里一样&lt;/span&gt;——数据一样，视角可以不同。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7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05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9433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EDA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走查：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Titanic · A Full Walkthrough</a:t>
            </a:r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800100" y="2136225"/>
            <a:ext cx="2009775" cy="2262900"/>
          </a:xfrm>
          <a:prstGeom prst="roundRect">
            <a:avLst>
              <a:gd name="adj" fmla="val 568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09" name=""/>
          <p:cNvSpPr/>
          <p:nvPr/>
        </p:nvSpPr>
        <p:spPr>
          <a:xfrm rot="0" flipH="0" flipV="0">
            <a:off x="800100" y="2136225"/>
            <a:ext cx="2009775" cy="2262900"/>
          </a:xfrm>
          <a:custGeom>
            <a:pathLst>
              <a:path w="211" h="442">
                <a:moveTo>
                  <a:pt x="200" y="0"/>
                </a:moveTo>
                <a:cubicBezTo>
                  <a:pt x="205" y="0"/>
                  <a:pt x="210" y="4"/>
                  <a:pt x="211" y="10"/>
                </a:cubicBezTo>
                <a:cubicBezTo>
                  <a:pt x="210" y="6"/>
                  <a:pt x="207" y="4"/>
                  <a:pt x="203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99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310" name=""/>
          <p:cNvSpPr/>
          <p:nvPr/>
        </p:nvSpPr>
        <p:spPr>
          <a:xfrm rot="0" flipH="0" flipV="0">
            <a:off x="933450" y="2269575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1047750" y="2326725"/>
            <a:ext cx="66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Source Han Sans SC"/>
                <a:ea typeface="Source Han Sans SC"/>
              </a:rPr>
              <a:t>1</a:t>
            </a:r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933450" y="2631525"/>
            <a:ext cx="1743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SC"/>
                <a:ea typeface="Source Han Sans SC"/>
              </a:rPr>
              <a:t>概览</a:t>
            </a:r>
            <a:endParaRPr/>
          </a:p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933450" y="2869650"/>
            <a:ext cx="1743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df.shape → (891, 12)</a:t>
            </a:r>
            <a:endParaRPr/>
          </a:p>
        </p:txBody>
      </p:sp>
      <p:sp>
        <p:nvSpPr>
          <p:cNvPr id="314" name=""/>
          <p:cNvSpPr/>
          <p:nvPr/>
        </p:nvSpPr>
        <p:spPr>
          <a:xfrm rot="0" flipH="0" flipV="0">
            <a:off x="933450" y="3371400"/>
            <a:ext cx="1743075" cy="847725"/>
          </a:xfrm>
          <a:prstGeom prst="roundRect">
            <a:avLst>
              <a:gd name="adj" fmla="val 898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1038225" y="3457125"/>
            <a:ext cx="1533525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发现：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age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缺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177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个，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cabin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缺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687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个，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embarked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缺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2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个。</a:t>
            </a:r>
            <a:endParaRPr/>
          </a:p>
        </p:txBody>
      </p:sp>
      <p:sp>
        <p:nvSpPr>
          <p:cNvPr id="316" name=""/>
          <p:cNvSpPr/>
          <p:nvPr/>
        </p:nvSpPr>
        <p:spPr>
          <a:xfrm rot="0" flipH="0" flipV="0">
            <a:off x="2943225" y="2136225"/>
            <a:ext cx="2009775" cy="2262900"/>
          </a:xfrm>
          <a:prstGeom prst="roundRect">
            <a:avLst>
              <a:gd name="adj" fmla="val 568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17" name=""/>
          <p:cNvSpPr/>
          <p:nvPr/>
        </p:nvSpPr>
        <p:spPr>
          <a:xfrm rot="0" flipH="0" flipV="0">
            <a:off x="2943225" y="2136225"/>
            <a:ext cx="2009775" cy="2262900"/>
          </a:xfrm>
          <a:custGeom>
            <a:pathLst>
              <a:path w="211" h="442">
                <a:moveTo>
                  <a:pt x="200" y="0"/>
                </a:moveTo>
                <a:cubicBezTo>
                  <a:pt x="205" y="0"/>
                  <a:pt x="210" y="4"/>
                  <a:pt x="211" y="10"/>
                </a:cubicBezTo>
                <a:cubicBezTo>
                  <a:pt x="210" y="6"/>
                  <a:pt x="207" y="4"/>
                  <a:pt x="203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99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8" name=""/>
          <p:cNvSpPr/>
          <p:nvPr/>
        </p:nvSpPr>
        <p:spPr>
          <a:xfrm rot="0" flipH="0" flipV="0">
            <a:off x="3076575" y="2269575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3181350" y="23267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Source Han Sans SC"/>
                <a:ea typeface="Source Han Sans SC"/>
              </a:rPr>
              <a:t>2</a:t>
            </a:r>
            <a:endParaRPr/>
          </a:p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3076575" y="2631525"/>
            <a:ext cx="1743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SC"/>
                <a:ea typeface="Source Han Sans SC"/>
              </a:rPr>
              <a:t>单变量</a:t>
            </a:r>
            <a:endParaRPr/>
          </a:p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3076575" y="2869650"/>
            <a:ext cx="1743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df["age"].plot.hist()</a:t>
            </a:r>
            <a:endParaRPr/>
          </a:p>
        </p:txBody>
      </p:sp>
      <p:sp>
        <p:nvSpPr>
          <p:cNvPr id="322" name=""/>
          <p:cNvSpPr/>
          <p:nvPr/>
        </p:nvSpPr>
        <p:spPr>
          <a:xfrm rot="0" flipH="0" flipV="0">
            <a:off x="3076575" y="3371400"/>
            <a:ext cx="1743075" cy="847725"/>
          </a:xfrm>
          <a:prstGeom prst="roundRect">
            <a:avLst>
              <a:gd name="adj" fmla="val 898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3181350" y="3457125"/>
            <a:ext cx="1533525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发现：年龄右偏，集中在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20–40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；票价严重长尾（最高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512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）。</a:t>
            </a:r>
            <a:endParaRPr/>
          </a:p>
        </p:txBody>
      </p:sp>
      <p:sp>
        <p:nvSpPr>
          <p:cNvPr id="324" name=""/>
          <p:cNvSpPr/>
          <p:nvPr/>
        </p:nvSpPr>
        <p:spPr>
          <a:xfrm rot="0" flipH="0" flipV="0">
            <a:off x="5086350" y="2136225"/>
            <a:ext cx="2019300" cy="2262900"/>
          </a:xfrm>
          <a:prstGeom prst="roundRect">
            <a:avLst>
              <a:gd name="adj" fmla="val 5660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25" name=""/>
          <p:cNvSpPr/>
          <p:nvPr/>
        </p:nvSpPr>
        <p:spPr>
          <a:xfrm rot="0" flipH="0" flipV="0">
            <a:off x="5086350" y="2136225"/>
            <a:ext cx="2019300" cy="2262900"/>
          </a:xfrm>
          <a:custGeom>
            <a:pathLst>
              <a:path w="212" h="442">
                <a:moveTo>
                  <a:pt x="201" y="0"/>
                </a:moveTo>
                <a:cubicBezTo>
                  <a:pt x="206" y="0"/>
                  <a:pt x="211" y="4"/>
                  <a:pt x="212" y="10"/>
                </a:cubicBezTo>
                <a:cubicBezTo>
                  <a:pt x="211" y="6"/>
                  <a:pt x="208" y="4"/>
                  <a:pt x="204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0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326" name=""/>
          <p:cNvSpPr/>
          <p:nvPr/>
        </p:nvSpPr>
        <p:spPr>
          <a:xfrm rot="0" flipH="0" flipV="0">
            <a:off x="5219700" y="2269575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27" name="" descr="{&quot;isTemplate&quot;:true,&quot;type&quot;:&quot;text&quot;}"/>
          <p:cNvSpPr txBox="1"/>
          <p:nvPr/>
        </p:nvSpPr>
        <p:spPr>
          <a:xfrm rot="0" flipH="0" flipV="0">
            <a:off x="5324475" y="23267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Source Han Sans SC"/>
                <a:ea typeface="Source Han Sans SC"/>
              </a:rPr>
              <a:t>3</a:t>
            </a:r>
            <a:endParaRPr/>
          </a:p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5219700" y="2631525"/>
            <a:ext cx="1752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SC"/>
                <a:ea typeface="Source Han Sans SC"/>
              </a:rPr>
              <a:t>双变量</a:t>
            </a:r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5219700" y="2869650"/>
            <a:ext cx="1752600" cy="285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df.groupby("sex")["survived"].mean()</a:t>
            </a:r>
            <a:endParaRPr/>
          </a:p>
        </p:txBody>
      </p:sp>
      <p:sp>
        <p:nvSpPr>
          <p:cNvPr id="330" name=""/>
          <p:cNvSpPr/>
          <p:nvPr/>
        </p:nvSpPr>
        <p:spPr>
          <a:xfrm rot="0" flipH="0" flipV="0">
            <a:off x="5219700" y="3371400"/>
            <a:ext cx="1752600" cy="847725"/>
          </a:xfrm>
          <a:prstGeom prst="roundRect">
            <a:avLst>
              <a:gd name="adj" fmla="val 898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5324475" y="3457125"/>
            <a:ext cx="1543050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发现：女性生还率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74% vs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男性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19%——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性别是强特征。</a:t>
            </a:r>
            <a:endParaRPr/>
          </a:p>
        </p:txBody>
      </p:sp>
      <p:sp>
        <p:nvSpPr>
          <p:cNvPr id="332" name=""/>
          <p:cNvSpPr/>
          <p:nvPr/>
        </p:nvSpPr>
        <p:spPr>
          <a:xfrm rot="0" flipH="0" flipV="0">
            <a:off x="7239000" y="2136225"/>
            <a:ext cx="2009775" cy="2262900"/>
          </a:xfrm>
          <a:prstGeom prst="roundRect">
            <a:avLst>
              <a:gd name="adj" fmla="val 568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33" name=""/>
          <p:cNvSpPr/>
          <p:nvPr/>
        </p:nvSpPr>
        <p:spPr>
          <a:xfrm rot="0" flipH="0" flipV="0">
            <a:off x="7239000" y="2136225"/>
            <a:ext cx="2009775" cy="2262900"/>
          </a:xfrm>
          <a:custGeom>
            <a:pathLst>
              <a:path w="211" h="442">
                <a:moveTo>
                  <a:pt x="200" y="0"/>
                </a:moveTo>
                <a:cubicBezTo>
                  <a:pt x="205" y="0"/>
                  <a:pt x="210" y="4"/>
                  <a:pt x="211" y="10"/>
                </a:cubicBezTo>
                <a:cubicBezTo>
                  <a:pt x="210" y="6"/>
                  <a:pt x="207" y="4"/>
                  <a:pt x="203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99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4" name=""/>
          <p:cNvSpPr/>
          <p:nvPr/>
        </p:nvSpPr>
        <p:spPr>
          <a:xfrm rot="0" flipH="0" flipV="0">
            <a:off x="7372350" y="2269575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7477125" y="23267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Source Han Sans SC"/>
                <a:ea typeface="Source Han Sans SC"/>
              </a:rPr>
              <a:t>4</a:t>
            </a:r>
            <a:endParaRPr/>
          </a:p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7372350" y="2631525"/>
            <a:ext cx="1743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SC"/>
                <a:ea typeface="Source Han Sans SC"/>
              </a:rPr>
              <a:t>异常缺失</a:t>
            </a:r>
            <a:endParaRPr/>
          </a:p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7372350" y="2869650"/>
            <a:ext cx="1743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df["fare"].describe()</a:t>
            </a:r>
            <a:endParaRPr/>
          </a:p>
        </p:txBody>
      </p:sp>
      <p:sp>
        <p:nvSpPr>
          <p:cNvPr id="338" name=""/>
          <p:cNvSpPr/>
          <p:nvPr/>
        </p:nvSpPr>
        <p:spPr>
          <a:xfrm rot="0" flipH="0" flipV="0">
            <a:off x="7372350" y="3371400"/>
            <a:ext cx="1743075" cy="847725"/>
          </a:xfrm>
          <a:prstGeom prst="roundRect">
            <a:avLst>
              <a:gd name="adj" fmla="val 898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7477125" y="3457125"/>
            <a:ext cx="1533525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发现：票价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0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元的票有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15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张——是员工票还是录入错误？</a:t>
            </a:r>
            <a:endParaRPr/>
          </a:p>
        </p:txBody>
      </p:sp>
      <p:sp>
        <p:nvSpPr>
          <p:cNvPr id="340" name=""/>
          <p:cNvSpPr/>
          <p:nvPr/>
        </p:nvSpPr>
        <p:spPr>
          <a:xfrm rot="0" flipH="0" flipV="0">
            <a:off x="9382125" y="2136225"/>
            <a:ext cx="2009775" cy="2262900"/>
          </a:xfrm>
          <a:prstGeom prst="roundRect">
            <a:avLst>
              <a:gd name="adj" fmla="val 568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41" name=""/>
          <p:cNvSpPr/>
          <p:nvPr/>
        </p:nvSpPr>
        <p:spPr>
          <a:xfrm rot="0" flipH="0" flipV="0">
            <a:off x="9382125" y="2136225"/>
            <a:ext cx="2009775" cy="2262900"/>
          </a:xfrm>
          <a:custGeom>
            <a:pathLst>
              <a:path w="211" h="442">
                <a:moveTo>
                  <a:pt x="200" y="0"/>
                </a:moveTo>
                <a:cubicBezTo>
                  <a:pt x="205" y="0"/>
                  <a:pt x="210" y="4"/>
                  <a:pt x="211" y="10"/>
                </a:cubicBezTo>
                <a:cubicBezTo>
                  <a:pt x="210" y="6"/>
                  <a:pt x="207" y="4"/>
                  <a:pt x="203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99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342" name=""/>
          <p:cNvSpPr/>
          <p:nvPr/>
        </p:nvSpPr>
        <p:spPr>
          <a:xfrm rot="0" flipH="0" flipV="0">
            <a:off x="9515475" y="2269575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9620250" y="23267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Source Han Sans SC"/>
                <a:ea typeface="Source Han Sans SC"/>
              </a:rPr>
              <a:t>5</a:t>
            </a:r>
            <a:endParaRPr/>
          </a:p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9515475" y="2631525"/>
            <a:ext cx="1743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SC"/>
                <a:ea typeface="Source Han Sans SC"/>
              </a:rPr>
              <a:t>假设</a:t>
            </a:r>
            <a:endParaRPr/>
          </a:p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9515475" y="2869650"/>
            <a:ext cx="1743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1E4FA8"/>
                </a:solidFill>
                <a:latin typeface="Consolas"/>
                <a:ea typeface="Consolas"/>
              </a:rPr>
              <a:t>写在</a:t>
            </a: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 notebook </a:t>
            </a:r>
            <a:r>
              <a:rPr lang="zh-CN" sz="938">
                <a:solidFill>
                  <a:srgbClr val="1E4FA8"/>
                </a:solidFill>
                <a:latin typeface="Consolas"/>
                <a:ea typeface="Consolas"/>
              </a:rPr>
              <a:t>里</a:t>
            </a:r>
            <a:endParaRPr/>
          </a:p>
        </p:txBody>
      </p:sp>
      <p:sp>
        <p:nvSpPr>
          <p:cNvPr id="346" name=""/>
          <p:cNvSpPr/>
          <p:nvPr/>
        </p:nvSpPr>
        <p:spPr>
          <a:xfrm rot="0" flipH="0" flipV="0">
            <a:off x="9515475" y="3371400"/>
            <a:ext cx="1743075" cy="847725"/>
          </a:xfrm>
          <a:prstGeom prst="roundRect">
            <a:avLst>
              <a:gd name="adj" fmla="val 898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9620250" y="3457125"/>
            <a:ext cx="1533525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假设：性别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+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舱位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+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年龄组合可预测生还；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cabin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缺失太多应考虑删列。</a:t>
            </a:r>
            <a:endParaRPr/>
          </a:p>
        </p:txBody>
      </p:sp>
      <p:sp>
        <p:nvSpPr>
          <p:cNvPr id="348" name=""/>
          <p:cNvSpPr/>
          <p:nvPr/>
        </p:nvSpPr>
        <p:spPr>
          <a:xfrm rot="0" flipH="0" flipV="0">
            <a:off x="800100" y="4494375"/>
            <a:ext cx="6838950" cy="533400"/>
          </a:xfrm>
          <a:prstGeom prst="roundRect">
            <a:avLst>
              <a:gd name="adj" fmla="val 17857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990600" y="4618200"/>
            <a:ext cx="6457950" cy="2857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63" b="1">
                <a:solidFill>
                  <a:srgbClr val="0E3F8C"/>
                </a:solidFill>
                <a:latin typeface="Source Han Sans SC"/>
                <a:ea typeface="Source Han Sans SC"/>
              </a:rPr>
              <a:t>同一份数据，</a:t>
            </a:r>
            <a:r>
              <a:rPr lang="en-US" sz="1163" b="1">
                <a:solidFill>
                  <a:srgbClr val="0E3F8C"/>
                </a:solidFill>
                <a:latin typeface="Source Han Sans SC"/>
                <a:ea typeface="Source Han Sans SC"/>
              </a:rPr>
              <a:t>5 </a:t>
            </a:r>
            <a:r>
              <a:rPr lang="zh-CN" sz="1163" b="1">
                <a:solidFill>
                  <a:srgbClr val="0E3F8C"/>
                </a:solidFill>
                <a:latin typeface="Source Han Sans SC"/>
                <a:ea typeface="Source Han Sans SC"/>
              </a:rPr>
              <a:t>步就能得出可行动的结论</a:t>
            </a:r>
            <a:r>
              <a:rPr lang="zh-CN" sz="1163">
                <a:solidFill>
                  <a:srgbClr val="1A2230"/>
                </a:solidFill>
                <a:latin typeface="Source Han Sans SC"/>
                <a:ea typeface="Source Han Sans SC"/>
              </a:rPr>
              <a:t>——这就是</a:t>
            </a:r>
            <a:r>
              <a:rPr lang="en-US" sz="1163">
                <a:solidFill>
                  <a:srgbClr val="1A2230"/>
                </a:solidFill>
                <a:latin typeface="Source Han Sans SC"/>
                <a:ea typeface="Source Han Sans SC"/>
              </a:rPr>
              <a:t> EDA </a:t>
            </a:r>
            <a:r>
              <a:rPr lang="zh-CN" sz="1163">
                <a:solidFill>
                  <a:srgbClr val="1A2230"/>
                </a:solidFill>
                <a:latin typeface="Source Han Sans SC"/>
                <a:ea typeface="Source Han Sans SC"/>
              </a:rPr>
              <a:t>的价值：还没建模，特征清单已经成形。</a:t>
            </a:r>
            <a:endParaRPr/>
          </a:p>
        </p:txBody>
      </p:sp>
      <p:sp>
        <p:nvSpPr>
          <p:cNvPr id="350" name=""/>
          <p:cNvSpPr/>
          <p:nvPr/>
        </p:nvSpPr>
        <p:spPr>
          <a:xfrm rot="0" flipH="0" flipV="0">
            <a:off x="7772400" y="4494375"/>
            <a:ext cx="3619500" cy="533400"/>
          </a:xfrm>
          <a:custGeom>
            <a:pathLst>
              <a:path w="380" h="56">
                <a:moveTo>
                  <a:pt x="0" y="0"/>
                </a:moveTo>
                <a:lnTo>
                  <a:pt x="4" y="0"/>
                </a:lnTo>
                <a:lnTo>
                  <a:pt x="4" y="56"/>
                </a:lnTo>
                <a:lnTo>
                  <a:pt x="0" y="56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7943850" y="4503900"/>
            <a:ext cx="34480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今天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Lab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就走这五步。</a:t>
            </a:r>
            <a:r>
              <a:rPr lang="zh-CN" sz="1088" b="1">
                <a:solidFill>
                  <a:srgbClr val="0E3F8C"/>
                </a:solidFill>
                <a:latin typeface="Source Han Sans SC"/>
                <a:ea typeface="Source Han Sans SC"/>
              </a:rPr>
              <a:t>你的发现不必和这里一样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——数据一样，视角可以不同。</a:t>
            </a:r>
            <a:endParaRPr/>
          </a:p>
        </p:txBody>
      </p:sp>
      <p:sp>
        <p:nvSpPr>
          <p:cNvPr id="352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10944225" y="6496050"/>
            <a:ext cx="447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17 / 32</a:t>
            </a:r>
            <a:endParaRPr/>
          </a:p>
        </p:txBody>
      </p:sp>
    </p:spTree>
  </p:cSld>
</p:sld>
</file>

<file path=ppt/slides/slide18.xml><?xml version="1.0" encoding="utf-8"?>
<p:sld xmlns:a="http://schemas.openxmlformats.org/drawingml/2006/main" xmlns:p="http://schemas.openxmlformats.org/presentationml/2006/main">
  <p:cSld>
    <p:spTree>
      <p:nvGrpSpPr>
        <p:cNvPr id="354" name="" descr="&lt;Slide style={{ width: '1280px', height: '720px', background: '#F7F9FC', padding: '0px', position: 'relative', overflow: 'hidden', fontFamily: 'Source Han Sans SC, PingFang SC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4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4&lt;/Text&gt;&#10;      &lt;/Box&gt;&#10;      &lt;Box style={{ paddingTop: 6 }}&gt;&#10;        &lt;Text style={{ fontSize: 44, color: '#1A2230', fontWeight: 'bold' }}&gt;数据清洗&lt;/Text&gt;&#10;        &lt;Text style={{ fontSize: 26, color: '#8B97A8', fontWeight: '600', marginTop: 6 }}&gt;Data Cleaning&lt;/Text&gt;&#10;      &lt;/Box&gt;&#10;    &lt;/Box&gt;&#10;    &lt;Box style={{ flexDirection: 'row', gap: 24 }}&gt;&#10;      {[&#10;        { t: '六步流程', e: '6-Step Workflow' },&#10;        { t: '每步留痕', e: 'Document Everything' },&#10;        { t: 'GIGO 法则', e: 'Garbage In, Garbage Out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56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Source Han Sans SC"/>
                <a:ea typeface="Source Han Sans SC"/>
              </a:rPr>
              <a:t>04</a:t>
            </a:r>
            <a:endParaRPr/>
          </a:p>
        </p:txBody>
      </p:sp>
      <p:sp>
        <p:nvSpPr>
          <p:cNvPr id="358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1123950" y="1314450"/>
            <a:ext cx="71437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Source Han Sans SC"/>
                <a:ea typeface="Source Han Sans SC"/>
              </a:rPr>
              <a:t>04</a:t>
            </a:r>
            <a:endParaRPr/>
          </a:p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16764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1A2230"/>
                </a:solidFill>
                <a:latin typeface="Source Han Sans SC"/>
                <a:ea typeface="Source Han Sans SC"/>
              </a:rPr>
              <a:t>数据清洗</a:t>
            </a:r>
            <a:endParaRPr/>
          </a:p>
        </p:txBody>
      </p:sp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1676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Source Han Sans SC"/>
                <a:ea typeface="Source Han Sans SC"/>
              </a:rPr>
              <a:t>Data Cleaning</a:t>
            </a:r>
            <a:endParaRPr/>
          </a:p>
        </p:txBody>
      </p:sp>
      <p:sp>
        <p:nvSpPr>
          <p:cNvPr id="362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3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4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六步流程</a:t>
            </a:r>
            <a:endParaRPr/>
          </a:p>
        </p:txBody>
      </p:sp>
      <p:sp>
        <p:nvSpPr>
          <p:cNvPr id="365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6-Step Workflow</a:t>
            </a:r>
            <a:endParaRPr/>
          </a:p>
        </p:txBody>
      </p:sp>
      <p:sp>
        <p:nvSpPr>
          <p:cNvPr id="366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7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每步留痕</a:t>
            </a:r>
            <a:endParaRPr/>
          </a:p>
        </p:txBody>
      </p:sp>
      <p:sp>
        <p:nvSpPr>
          <p:cNvPr id="369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Document Everything</a:t>
            </a:r>
            <a:endParaRPr/>
          </a:p>
        </p:txBody>
      </p:sp>
      <p:sp>
        <p:nvSpPr>
          <p:cNvPr id="370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1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Source Han Sans SC"/>
                <a:ea typeface="Source Han Sans SC"/>
              </a:rPr>
              <a:t>GIGO </a:t>
            </a: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法则</a:t>
            </a:r>
            <a:endParaRPr/>
          </a:p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Garbage In, Garbage Out</a:t>
            </a:r>
            <a:endParaRPr/>
          </a:p>
        </p:txBody>
      </p:sp>
    </p:spTree>
  </p:cSld>
</p:sld>
</file>

<file path=ppt/slides/slide1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74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清洗六步 · The 6-Step Cleaning Workflow&lt;/Text&gt;&#10;    &lt;Text style={{ fontSize: 15, color: 'rgba(255,255,255,0.85)' }}&gt;Module 1 · Week 2&lt;/Text&gt;&#10;  &lt;/Box&gt;&#10;  &lt;Box style={{ position: 'absolute', top: 100, left: 0, width: '100%', height: 540, padding: '18px 84px', flexDirection: 'column', justifyContent: 'center' }}&gt;&#10;    &lt;Box style={{ flexDirection: 'row', gap: 12, alignItems: 'stretch' }}&gt;&#10;      {[&#10;        { n: '1', t: '审查', e: 'Audit', d: '空格 / 大小写 / 单位混乱' },&#10;        { n: '2', t: '缺失值', e: 'Missing', d: '删除 / 填充 / 标记' },&#10;        { n: '3', t: '异常值', e: 'Outliers', d: 'IQR / 领域规则判断' },&#10;        { n: '4', t: '重复', e: 'Duplicates', d: 'duplicated → drop' },&#10;        { n: '5', t: '类型', e: 'Types', d: '日期 / 分类 / 数值转换' },&#10;        { n: '6', t: '验证', e: 'Validate', d: '重跑 EDA 复查结果' },&#10;      ].map((s, i) =&gt; (&#10;        &lt;Box key={i} style={{ flex: 1, position: 'relative' }}&gt;&#10;          &lt;Box style={{ background: i &lt; 2 ? '#F0F5FC' : i &lt; 4 ? '#E8EFF8' : '#F0F5FC', border: '1px solid #D6DCE5', borderTop: '4px solid #1E4FA8', borderRadius: 12, padding: '16px 14px', height: 210, justifyContent: 'space-between' }}&gt;&#10;            &lt;Box style={{ width: 40, height: 40, borderRadius: 10, background: '#1E4FA8', justifyContent: 'center', alignItems: 'center' }}&gt;&#10;              &lt;Text style={{ fontSize: 19, color: '#FFFFFF', fontWeight: 'bold' }}&gt;{s.n}&lt;/Text&gt;&#10;            &lt;/Box&gt;&#10;            &lt;Box&gt;&#10;              &lt;Text style={{ fontSize: 20, color: '#1A2230', fontWeight: 'bold' }}&gt;{s.t}&lt;/Text&gt;&#10;              &lt;Text style={{ fontSize: 13, color: '#8B97A8', marginTop: 1 }}&gt;{s.e}&lt;/Text&gt;&#10;              &lt;Text style={{ fontSize: 13.5, color: '#4A5568', marginTop: 6 }}&gt;{s.d}&lt;/Text&gt;&#10;            &lt;/Box&gt;&#10;          &lt;/Box&gt;&#10;          {i &lt; 5 &amp;&amp; (&#10;            &lt;Box style={{ position: 'absolute', right: -14, top: 90, zIndex: 2 }}&gt;&#10;              &lt;FAIcon name='arrow-right' style={{ fill: '#3D7BD9', width: 20, height: 20 }} /&gt;&#10;            &lt;/Box&gt;&#10;          )}&#10;        &lt;/Box&gt;&#10;      ))}&#10;    &lt;/Box&gt;&#10;    &lt;Box style={{ flexDirection: 'row', gap: 12, marginTop: 22, alignItems: 'center' }}&gt;&#10;      &lt;Box style={{ width: 200, background: '#0E3F8C', borderRadius: 10, padding: '12px 18px', flexShrink: 0 }}&gt;&#10;        &lt;Text style={{ fontSize: 15, color: '#FFFFFF', fontWeight: 'bold' }}&gt;Lab 2 就走这一遍&lt;/Text&gt;&#10;      &lt;/Box&gt;&#10;      &lt;Text style={{ fontSize: 16, color: '#1A2230', lineHeight: 1.6, flex: 1 }}&gt;&#10;        Titanic 数据的缺失年龄、异常票价、重复行——今天 Lab 全部要亲手处理。&#10;        &lt;span style={{ fontWeight: 'bold', color: '#0E3F8C' }}&gt;每一步在 notebook 里留一个 Markdown 说明&lt;/span&gt;，说明「做了什么、为什么」。&#10;        &lt;span style={{ fontSize: 13, color: '#8B97A8' }}&gt;Every cleaning step needs a documented reason.&lt;/span&gt;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9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6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41814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清洗六步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The 6-Step Cleaning Workflow</a:t>
            </a:r>
            <a:endParaRPr/>
          </a:p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379" name=""/>
          <p:cNvSpPr/>
          <p:nvPr/>
        </p:nvSpPr>
        <p:spPr>
          <a:xfrm rot="0" flipH="0" flipV="0">
            <a:off x="800100" y="4429125"/>
            <a:ext cx="1905000" cy="400050"/>
          </a:xfrm>
          <a:prstGeom prst="roundRect">
            <a:avLst>
              <a:gd name="adj" fmla="val 2381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971550" y="4543425"/>
            <a:ext cx="1562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Source Han Sans SC"/>
                <a:ea typeface="Source Han Sans SC"/>
              </a:rPr>
              <a:t>Lab 2 </a:t>
            </a:r>
            <a:r>
              <a:rPr lang="zh-CN" sz="1125" b="1">
                <a:solidFill>
                  <a:srgbClr val="FFFFFF"/>
                </a:solidFill>
                <a:latin typeface="Source Han Sans SC"/>
                <a:ea typeface="Source Han Sans SC"/>
              </a:rPr>
              <a:t>就走这一遍</a:t>
            </a:r>
            <a:endParaRPr/>
          </a:p>
        </p:txBody>
      </p:sp>
      <p:sp>
        <p:nvSpPr>
          <p:cNvPr id="381" name="" descr="{&quot;isTemplate&quot;:true,&quot;type&quot;:&quot;text&quot;}"/>
          <p:cNvSpPr txBox="1"/>
          <p:nvPr/>
        </p:nvSpPr>
        <p:spPr>
          <a:xfrm rot="0" flipH="0" flipV="0">
            <a:off x="2819400" y="4333875"/>
            <a:ext cx="85725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Titanic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数据的缺失年龄、异常票价、重复行——今天</a:t>
            </a:r>
            <a:r>
              <a:rPr lang="en-US" sz="1200">
                <a:solidFill>
                  <a:srgbClr val="1A2230"/>
                </a:solidFill>
                <a:latin typeface="Source Han Sans SC"/>
                <a:ea typeface="Source Han Sans SC"/>
              </a:rPr>
              <a:t> Lab 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全部要亲手处理。</a:t>
            </a: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每一步在</a:t>
            </a:r>
            <a:r>
              <a:rPr lang="en-US" sz="1200" b="1">
                <a:solidFill>
                  <a:srgbClr val="0E3F8C"/>
                </a:solidFill>
                <a:latin typeface="Source Han Sans SC"/>
                <a:ea typeface="Source Han Sans SC"/>
              </a:rPr>
              <a:t> notebook </a:t>
            </a: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里留一个</a:t>
            </a:r>
            <a:r>
              <a:rPr lang="en-US" sz="1200" b="1">
                <a:solidFill>
                  <a:srgbClr val="0E3F8C"/>
                </a:solidFill>
                <a:latin typeface="Source Han Sans SC"/>
                <a:ea typeface="Source Han Sans SC"/>
              </a:rPr>
              <a:t> Markdown </a:t>
            </a: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说明</a:t>
            </a:r>
            <a:r>
              <a:rPr lang="zh-CN" sz="1200">
                <a:solidFill>
                  <a:srgbClr val="1A2230"/>
                </a:solidFill>
                <a:latin typeface="Source Han Sans SC"/>
                <a:ea typeface="Source Han Sans SC"/>
              </a:rPr>
              <a:t>，说明「做了什么、为什么」。</a:t>
            </a: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Every cleaning step needs a documented reason.</a:t>
            </a:r>
            <a:endParaRPr/>
          </a:p>
        </p:txBody>
      </p:sp>
      <p:sp>
        <p:nvSpPr>
          <p:cNvPr id="382" name=""/>
          <p:cNvSpPr/>
          <p:nvPr/>
        </p:nvSpPr>
        <p:spPr>
          <a:xfrm rot="0" flipH="0" flipV="0">
            <a:off x="800100" y="2162175"/>
            <a:ext cx="1666875" cy="1962150"/>
          </a:xfrm>
          <a:prstGeom prst="roundRect">
            <a:avLst>
              <a:gd name="adj" fmla="val 685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83" name=""/>
          <p:cNvSpPr/>
          <p:nvPr/>
        </p:nvSpPr>
        <p:spPr>
          <a:xfrm rot="0" flipH="0" flipV="0">
            <a:off x="800100" y="2162175"/>
            <a:ext cx="1666875" cy="1962150"/>
          </a:xfrm>
          <a:custGeom>
            <a:pathLst>
              <a:path w="175" h="206">
                <a:moveTo>
                  <a:pt x="164" y="0"/>
                </a:moveTo>
                <a:cubicBezTo>
                  <a:pt x="169" y="0"/>
                  <a:pt x="174" y="4"/>
                  <a:pt x="175" y="10"/>
                </a:cubicBezTo>
                <a:cubicBezTo>
                  <a:pt x="174" y="6"/>
                  <a:pt x="171" y="4"/>
                  <a:pt x="1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84" name=""/>
          <p:cNvSpPr/>
          <p:nvPr/>
        </p:nvSpPr>
        <p:spPr>
          <a:xfrm rot="0" flipH="0" flipV="0">
            <a:off x="933450" y="231457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1085850" y="2400300"/>
            <a:ext cx="762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1</a:t>
            </a:r>
            <a:endParaRPr/>
          </a:p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933450" y="3209925"/>
            <a:ext cx="1400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审查</a:t>
            </a:r>
            <a:endParaRPr/>
          </a:p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933450" y="3448050"/>
            <a:ext cx="1400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Audit</a:t>
            </a:r>
            <a:endParaRPr/>
          </a:p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933450" y="3448050"/>
            <a:ext cx="1400175" cy="314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空格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/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大小写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/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单位混乱</a:t>
            </a:r>
            <a:endParaRPr/>
          </a:p>
        </p:txBody>
      </p:sp>
      <p:sp>
        <p:nvSpPr>
          <p:cNvPr id="389" name=""/>
          <p:cNvSpPr/>
          <p:nvPr/>
        </p:nvSpPr>
        <p:spPr>
          <a:xfrm rot="0" flipH="0" flipV="0">
            <a:off x="2581275" y="2162175"/>
            <a:ext cx="1676400" cy="1962150"/>
          </a:xfrm>
          <a:prstGeom prst="roundRect">
            <a:avLst>
              <a:gd name="adj" fmla="val 681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90" name=""/>
          <p:cNvSpPr/>
          <p:nvPr/>
        </p:nvSpPr>
        <p:spPr>
          <a:xfrm rot="0" flipH="0" flipV="0">
            <a:off x="2581275" y="2162175"/>
            <a:ext cx="1676400" cy="1962150"/>
          </a:xfrm>
          <a:custGeom>
            <a:pathLst>
              <a:path w="176" h="206">
                <a:moveTo>
                  <a:pt x="165" y="0"/>
                </a:moveTo>
                <a:cubicBezTo>
                  <a:pt x="170" y="0"/>
                  <a:pt x="175" y="4"/>
                  <a:pt x="176" y="10"/>
                </a:cubicBezTo>
                <a:cubicBezTo>
                  <a:pt x="175" y="6"/>
                  <a:pt x="172" y="4"/>
                  <a:pt x="168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4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1" name=""/>
          <p:cNvSpPr/>
          <p:nvPr/>
        </p:nvSpPr>
        <p:spPr>
          <a:xfrm rot="0" flipH="0" flipV="0">
            <a:off x="2714625" y="231457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2847975" y="2400300"/>
            <a:ext cx="114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2</a:t>
            </a:r>
            <a:endParaRPr/>
          </a:p>
        </p:txBody>
      </p:sp>
      <p:sp>
        <p:nvSpPr>
          <p:cNvPr id="393" name="" descr="{&quot;isTemplate&quot;:true,&quot;type&quot;:&quot;text&quot;}"/>
          <p:cNvSpPr txBox="1"/>
          <p:nvPr/>
        </p:nvSpPr>
        <p:spPr>
          <a:xfrm rot="0" flipH="0" flipV="0">
            <a:off x="2714625" y="3209925"/>
            <a:ext cx="1409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缺失值</a:t>
            </a:r>
            <a:endParaRPr/>
          </a:p>
        </p:txBody>
      </p:sp>
      <p:sp>
        <p:nvSpPr>
          <p:cNvPr id="394" name="" descr="{&quot;isTemplate&quot;:true,&quot;type&quot;:&quot;text&quot;}"/>
          <p:cNvSpPr txBox="1"/>
          <p:nvPr/>
        </p:nvSpPr>
        <p:spPr>
          <a:xfrm rot="0" flipH="0" flipV="0">
            <a:off x="2714625" y="3448050"/>
            <a:ext cx="1409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Missing</a:t>
            </a:r>
            <a:endParaRPr/>
          </a:p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2714625" y="3810000"/>
            <a:ext cx="1409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删除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/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填充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/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标记</a:t>
            </a:r>
            <a:endParaRPr/>
          </a:p>
        </p:txBody>
      </p:sp>
      <p:sp>
        <p:nvSpPr>
          <p:cNvPr id="396" name=""/>
          <p:cNvSpPr/>
          <p:nvPr/>
        </p:nvSpPr>
        <p:spPr>
          <a:xfrm rot="0" flipH="0" flipV="0">
            <a:off x="4371975" y="2162175"/>
            <a:ext cx="1666875" cy="1962150"/>
          </a:xfrm>
          <a:prstGeom prst="roundRect">
            <a:avLst>
              <a:gd name="adj" fmla="val 685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97" name=""/>
          <p:cNvSpPr/>
          <p:nvPr/>
        </p:nvSpPr>
        <p:spPr>
          <a:xfrm rot="0" flipH="0" flipV="0">
            <a:off x="4371975" y="2162175"/>
            <a:ext cx="1666875" cy="1962150"/>
          </a:xfrm>
          <a:custGeom>
            <a:pathLst>
              <a:path w="175" h="206">
                <a:moveTo>
                  <a:pt x="164" y="0"/>
                </a:moveTo>
                <a:cubicBezTo>
                  <a:pt x="169" y="0"/>
                  <a:pt x="174" y="4"/>
                  <a:pt x="175" y="10"/>
                </a:cubicBezTo>
                <a:cubicBezTo>
                  <a:pt x="174" y="6"/>
                  <a:pt x="171" y="4"/>
                  <a:pt x="1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8" name=""/>
          <p:cNvSpPr/>
          <p:nvPr/>
        </p:nvSpPr>
        <p:spPr>
          <a:xfrm rot="0" flipH="0" flipV="0">
            <a:off x="4505325" y="231457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9" name="" descr="{&quot;isTemplate&quot;:true,&quot;type&quot;:&quot;text&quot;}"/>
          <p:cNvSpPr txBox="1"/>
          <p:nvPr/>
        </p:nvSpPr>
        <p:spPr>
          <a:xfrm rot="0" flipH="0" flipV="0">
            <a:off x="4638675" y="2400300"/>
            <a:ext cx="114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3</a:t>
            </a:r>
            <a:endParaRPr/>
          </a:p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4505325" y="3209925"/>
            <a:ext cx="1400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异常值</a:t>
            </a:r>
            <a:endParaRPr/>
          </a:p>
        </p:txBody>
      </p:sp>
      <p:sp>
        <p:nvSpPr>
          <p:cNvPr id="401" name="" descr="{&quot;isTemplate&quot;:true,&quot;type&quot;:&quot;text&quot;}"/>
          <p:cNvSpPr txBox="1"/>
          <p:nvPr/>
        </p:nvSpPr>
        <p:spPr>
          <a:xfrm rot="0" flipH="0" flipV="0">
            <a:off x="4505325" y="3448050"/>
            <a:ext cx="1400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Outliers</a:t>
            </a:r>
            <a:endParaRPr/>
          </a:p>
        </p:txBody>
      </p:sp>
      <p:sp>
        <p:nvSpPr>
          <p:cNvPr id="402" name="" descr="{&quot;isTemplate&quot;:true,&quot;type&quot;:&quot;text&quot;}"/>
          <p:cNvSpPr txBox="1"/>
          <p:nvPr/>
        </p:nvSpPr>
        <p:spPr>
          <a:xfrm rot="0" flipH="0" flipV="0">
            <a:off x="4505325" y="3810000"/>
            <a:ext cx="1400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IQR /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领域规则判断</a:t>
            </a:r>
            <a:endParaRPr/>
          </a:p>
        </p:txBody>
      </p:sp>
      <p:sp>
        <p:nvSpPr>
          <p:cNvPr id="403" name=""/>
          <p:cNvSpPr/>
          <p:nvPr/>
        </p:nvSpPr>
        <p:spPr>
          <a:xfrm rot="0" flipH="0" flipV="0">
            <a:off x="6153150" y="2162175"/>
            <a:ext cx="1666875" cy="1962150"/>
          </a:xfrm>
          <a:prstGeom prst="roundRect">
            <a:avLst>
              <a:gd name="adj" fmla="val 685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04" name=""/>
          <p:cNvSpPr/>
          <p:nvPr/>
        </p:nvSpPr>
        <p:spPr>
          <a:xfrm rot="0" flipH="0" flipV="0">
            <a:off x="6153150" y="2162175"/>
            <a:ext cx="1666875" cy="1962150"/>
          </a:xfrm>
          <a:custGeom>
            <a:pathLst>
              <a:path w="175" h="206">
                <a:moveTo>
                  <a:pt x="164" y="0"/>
                </a:moveTo>
                <a:cubicBezTo>
                  <a:pt x="169" y="0"/>
                  <a:pt x="174" y="4"/>
                  <a:pt x="175" y="10"/>
                </a:cubicBezTo>
                <a:cubicBezTo>
                  <a:pt x="174" y="6"/>
                  <a:pt x="171" y="4"/>
                  <a:pt x="1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05" name=""/>
          <p:cNvSpPr/>
          <p:nvPr/>
        </p:nvSpPr>
        <p:spPr>
          <a:xfrm rot="0" flipH="0" flipV="0">
            <a:off x="6286500" y="231457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06" name="" descr="{&quot;isTemplate&quot;:true,&quot;type&quot;:&quot;text&quot;}"/>
          <p:cNvSpPr txBox="1"/>
          <p:nvPr/>
        </p:nvSpPr>
        <p:spPr>
          <a:xfrm rot="0" flipH="0" flipV="0">
            <a:off x="6419850" y="2400300"/>
            <a:ext cx="114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4</a:t>
            </a:r>
            <a:endParaRPr/>
          </a:p>
        </p:txBody>
      </p:sp>
      <p:sp>
        <p:nvSpPr>
          <p:cNvPr id="407" name="" descr="{&quot;isTemplate&quot;:true,&quot;type&quot;:&quot;text&quot;}"/>
          <p:cNvSpPr txBox="1"/>
          <p:nvPr/>
        </p:nvSpPr>
        <p:spPr>
          <a:xfrm rot="0" flipH="0" flipV="0">
            <a:off x="6286500" y="3209925"/>
            <a:ext cx="1400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重复</a:t>
            </a:r>
            <a:endParaRPr/>
          </a:p>
        </p:txBody>
      </p:sp>
      <p:sp>
        <p:nvSpPr>
          <p:cNvPr id="408" name="" descr="{&quot;isTemplate&quot;:true,&quot;type&quot;:&quot;text&quot;}"/>
          <p:cNvSpPr txBox="1"/>
          <p:nvPr/>
        </p:nvSpPr>
        <p:spPr>
          <a:xfrm rot="0" flipH="0" flipV="0">
            <a:off x="6286500" y="3448050"/>
            <a:ext cx="1400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Duplicates</a:t>
            </a:r>
            <a:endParaRPr/>
          </a:p>
        </p:txBody>
      </p:sp>
      <p:sp>
        <p:nvSpPr>
          <p:cNvPr id="409" name="" descr="{&quot;isTemplate&quot;:true,&quot;type&quot;:&quot;text&quot;}"/>
          <p:cNvSpPr txBox="1"/>
          <p:nvPr/>
        </p:nvSpPr>
        <p:spPr>
          <a:xfrm rot="0" flipH="0" flipV="0">
            <a:off x="6286500" y="3810000"/>
            <a:ext cx="1400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duplicated → drop</a:t>
            </a:r>
            <a:endParaRPr/>
          </a:p>
        </p:txBody>
      </p:sp>
      <p:sp>
        <p:nvSpPr>
          <p:cNvPr id="410" name=""/>
          <p:cNvSpPr/>
          <p:nvPr/>
        </p:nvSpPr>
        <p:spPr>
          <a:xfrm rot="0" flipH="0" flipV="0">
            <a:off x="7934325" y="2162175"/>
            <a:ext cx="1676400" cy="1962150"/>
          </a:xfrm>
          <a:prstGeom prst="roundRect">
            <a:avLst>
              <a:gd name="adj" fmla="val 681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11" name=""/>
          <p:cNvSpPr/>
          <p:nvPr/>
        </p:nvSpPr>
        <p:spPr>
          <a:xfrm rot="0" flipH="0" flipV="0">
            <a:off x="7934325" y="2162175"/>
            <a:ext cx="1676400" cy="1962150"/>
          </a:xfrm>
          <a:custGeom>
            <a:pathLst>
              <a:path w="176" h="206">
                <a:moveTo>
                  <a:pt x="165" y="0"/>
                </a:moveTo>
                <a:cubicBezTo>
                  <a:pt x="170" y="0"/>
                  <a:pt x="175" y="4"/>
                  <a:pt x="176" y="10"/>
                </a:cubicBezTo>
                <a:cubicBezTo>
                  <a:pt x="175" y="6"/>
                  <a:pt x="172" y="4"/>
                  <a:pt x="168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4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2" name=""/>
          <p:cNvSpPr/>
          <p:nvPr/>
        </p:nvSpPr>
        <p:spPr>
          <a:xfrm rot="0" flipH="0" flipV="0">
            <a:off x="8067675" y="231457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8201025" y="2400300"/>
            <a:ext cx="114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5</a:t>
            </a:r>
            <a:endParaRPr/>
          </a:p>
        </p:txBody>
      </p:sp>
      <p:sp>
        <p:nvSpPr>
          <p:cNvPr id="414" name="" descr="{&quot;isTemplate&quot;:true,&quot;type&quot;:&quot;text&quot;}"/>
          <p:cNvSpPr txBox="1"/>
          <p:nvPr/>
        </p:nvSpPr>
        <p:spPr>
          <a:xfrm rot="0" flipH="0" flipV="0">
            <a:off x="8067675" y="3209925"/>
            <a:ext cx="1409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类型</a:t>
            </a:r>
            <a:endParaRPr/>
          </a:p>
        </p:txBody>
      </p:sp>
      <p:sp>
        <p:nvSpPr>
          <p:cNvPr id="415" name="" descr="{&quot;isTemplate&quot;:true,&quot;type&quot;:&quot;text&quot;}"/>
          <p:cNvSpPr txBox="1"/>
          <p:nvPr/>
        </p:nvSpPr>
        <p:spPr>
          <a:xfrm rot="0" flipH="0" flipV="0">
            <a:off x="8067675" y="3448050"/>
            <a:ext cx="1409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Types</a:t>
            </a:r>
            <a:endParaRPr/>
          </a:p>
        </p:txBody>
      </p:sp>
      <p:sp>
        <p:nvSpPr>
          <p:cNvPr id="416" name="" descr="{&quot;isTemplate&quot;:true,&quot;type&quot;:&quot;text&quot;}"/>
          <p:cNvSpPr txBox="1"/>
          <p:nvPr/>
        </p:nvSpPr>
        <p:spPr>
          <a:xfrm rot="0" flipH="0" flipV="0">
            <a:off x="8067675" y="3810000"/>
            <a:ext cx="1409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日期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/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分类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/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数值转换</a:t>
            </a:r>
            <a:endParaRPr/>
          </a:p>
        </p:txBody>
      </p:sp>
      <p:sp>
        <p:nvSpPr>
          <p:cNvPr id="417" name=""/>
          <p:cNvSpPr/>
          <p:nvPr/>
        </p:nvSpPr>
        <p:spPr>
          <a:xfrm rot="0" flipH="0" flipV="0">
            <a:off x="9725025" y="2162175"/>
            <a:ext cx="1666875" cy="1962150"/>
          </a:xfrm>
          <a:prstGeom prst="roundRect">
            <a:avLst>
              <a:gd name="adj" fmla="val 685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18" name=""/>
          <p:cNvSpPr/>
          <p:nvPr/>
        </p:nvSpPr>
        <p:spPr>
          <a:xfrm rot="0" flipH="0" flipV="0">
            <a:off x="9725025" y="2162175"/>
            <a:ext cx="1666875" cy="1962150"/>
          </a:xfrm>
          <a:custGeom>
            <a:pathLst>
              <a:path w="175" h="206">
                <a:moveTo>
                  <a:pt x="164" y="0"/>
                </a:moveTo>
                <a:cubicBezTo>
                  <a:pt x="169" y="0"/>
                  <a:pt x="174" y="4"/>
                  <a:pt x="175" y="10"/>
                </a:cubicBezTo>
                <a:cubicBezTo>
                  <a:pt x="174" y="6"/>
                  <a:pt x="171" y="4"/>
                  <a:pt x="1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9" name=""/>
          <p:cNvSpPr/>
          <p:nvPr/>
        </p:nvSpPr>
        <p:spPr>
          <a:xfrm rot="0" flipH="0" flipV="0">
            <a:off x="9858375" y="231457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20" name="" descr="{&quot;isTemplate&quot;:true,&quot;type&quot;:&quot;text&quot;}"/>
          <p:cNvSpPr txBox="1"/>
          <p:nvPr/>
        </p:nvSpPr>
        <p:spPr>
          <a:xfrm rot="0" flipH="0" flipV="0">
            <a:off x="9991725" y="2400300"/>
            <a:ext cx="114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Source Han Sans SC"/>
                <a:ea typeface="Source Han Sans SC"/>
              </a:rPr>
              <a:t>6</a:t>
            </a:r>
            <a:endParaRPr/>
          </a:p>
        </p:txBody>
      </p:sp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9858375" y="3209925"/>
            <a:ext cx="1400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Source Han Sans SC"/>
                <a:ea typeface="Source Han Sans SC"/>
              </a:rPr>
              <a:t>验证</a:t>
            </a:r>
            <a:endParaRPr/>
          </a:p>
        </p:txBody>
      </p:sp>
      <p:sp>
        <p:nvSpPr>
          <p:cNvPr id="422" name="" descr="{&quot;isTemplate&quot;:true,&quot;type&quot;:&quot;text&quot;}"/>
          <p:cNvSpPr txBox="1"/>
          <p:nvPr/>
        </p:nvSpPr>
        <p:spPr>
          <a:xfrm rot="0" flipH="0" flipV="0">
            <a:off x="9858375" y="3448050"/>
            <a:ext cx="1400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Source Han Sans SC"/>
                <a:ea typeface="Source Han Sans SC"/>
              </a:rPr>
              <a:t>Validate</a:t>
            </a:r>
            <a:endParaRPr/>
          </a:p>
        </p:txBody>
      </p:sp>
      <p:sp>
        <p:nvSpPr>
          <p:cNvPr id="423" name="" descr="{&quot;isTemplate&quot;:true,&quot;type&quot;:&quot;text&quot;}"/>
          <p:cNvSpPr txBox="1"/>
          <p:nvPr/>
        </p:nvSpPr>
        <p:spPr>
          <a:xfrm rot="0" flipH="0" flipV="0">
            <a:off x="9858375" y="3810000"/>
            <a:ext cx="1400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重跑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EDA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复查结果</a:t>
            </a:r>
            <a:endParaRPr/>
          </a:p>
        </p:txBody>
      </p:sp>
      <p:sp>
        <p:nvSpPr>
          <p:cNvPr id="424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425" name="" descr="{&quot;isTemplate&quot;:true,&quot;type&quot;:&quot;text&quot;}"/>
          <p:cNvSpPr txBox="1"/>
          <p:nvPr/>
        </p:nvSpPr>
        <p:spPr>
          <a:xfrm rot="0" flipH="0" flipV="0">
            <a:off x="109347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19 / 32</a:t>
            </a:r>
            <a:endParaRPr/>
          </a:p>
        </p:txBody>
      </p:sp>
      <p:pic>
        <p:nvPicPr>
          <p:cNvPr id="42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2409825" y="2981325"/>
            <a:ext cx="190500" cy="190500"/>
          </a:xfrm>
          <a:prstGeom prst="rect">
            <a:avLst/>
          </a:prstGeom>
          <a:ln/>
        </p:spPr>
      </p:pic>
      <p:pic>
        <p:nvPicPr>
          <p:cNvPr id="42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200525" y="2981325"/>
            <a:ext cx="190500" cy="190500"/>
          </a:xfrm>
          <a:prstGeom prst="rect">
            <a:avLst/>
          </a:prstGeom>
          <a:ln/>
        </p:spPr>
      </p:pic>
      <p:pic>
        <p:nvPicPr>
          <p:cNvPr id="4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981700" y="2981325"/>
            <a:ext cx="190500" cy="190500"/>
          </a:xfrm>
          <a:prstGeom prst="rect">
            <a:avLst/>
          </a:prstGeom>
          <a:ln/>
        </p:spPr>
      </p:pic>
      <p:pic>
        <p:nvPicPr>
          <p:cNvPr id="4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762875" y="2981325"/>
            <a:ext cx="190500" cy="190500"/>
          </a:xfrm>
          <a:prstGeom prst="rect">
            <a:avLst/>
          </a:prstGeom>
          <a:ln/>
        </p:spPr>
      </p:pic>
      <p:pic>
        <p:nvPicPr>
          <p:cNvPr id="43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553575" y="2981325"/>
            <a:ext cx="190500" cy="190500"/>
          </a:xfrm>
          <a:prstGeom prst="rect">
            <a:avLst/>
          </a:prstGeom>
          <a:ln/>
        </p:spPr>
      </p:pic>
    </p:spTree>
  </p:cSld>
</p:sld>
</file>

<file path=ppt/slides/slide2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79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缺失值处理决策 · Missing Values: A Decision Guide&lt;/Text&gt;&#10;    &lt;Text style={{ fontSize: 15, color: 'rgba(255,255,255,0.85)' }}&gt;Module 1 · Week 2&lt;/Text&gt;&#10;  &lt;/Box&gt;&#10;  &lt;Box style={{ position: 'absolute', top: 100, left: 0, width: '100%', height: 540, padding: '14px 84px', flexDirection: 'row', gap: 28 }}&gt;&#10;    &lt;Box style={{ width: 520, flexShrink: 0, justifyContent: 'center' }}&gt;&#10;      &lt;Text style={{ fontSize: 17, color: '#0E3F8C', fontWeight: 'bold', marginBottom: 10 }}&gt;决策路径 · Decision Path&lt;/Text&gt;&#10;      &lt;svg width={520} height={400} viewBox='0 0 520 400'&gt;&#10;        &lt;rect x='150' y='6' width='220' height='40' rx='10' fill='#0E3F8C' /&gt;&#10;        &lt;text x='260' y='32' fill='#FFFFFF' fontSize='16' fontWeight='bold' textAnchor='middle' fontFamily='Source Han Sans SC, sans-serif'&gt;缺失比例是多少？&lt;/text&gt;&#10;        &lt;path d='M 180 46 L 100 84' stroke='#1E4FA8' strokeWidth='2.5' fill='none' /&gt;&#10;        &lt;path d='M 260 46 L 260 84' stroke='#1E4FA8' strokeWidth='2.5' fill='none' /&gt;&#10;        &lt;path d='M 340 46 L 420 84' stroke='#1E4FA8' strokeWidth='2.5' fill='none' /&gt;&#10;        &lt;rect x='16' y='86' width='168' height='72' rx='10' fill='#F0F5FC' stroke='#3D7BD9' strokeWidth='2' /&gt;&#10;        &lt;text x='100' y='112' fill='#3D7BD9' fontSize='14' fontWeight='bold' textAnchor='middle' fontFamily='Source Han Sans SC, sans-serif'&gt;&amp;lt; 5%&lt;/text&gt;&#10;        &lt;text x='100' y='134' fill='#4A5568' fontSize='13' textAnchor='middle' fontFamily='Source Han Sans SC, sans-serif'&gt;dropna() 删行&lt;/text&gt;&#10;        &lt;text x='100' y='150' fill='#8B97A8' fontSize='11.5' textAnchor='middle' fontFamily='Source Han Sans SC, sans-serif'&gt;信息损失可忽略&lt;/text&gt;&#10;        &lt;rect x='176' y='86' width='168' height='72' rx='10' fill='#E8EFF8' stroke='#1E4FA8' strokeWidth='2' /&gt;&#10;        &lt;text x='260' y='112' fill='#1E4FA8' fontSize='14' fontWeight='bold' textAnchor='middle' fontFamily='Source Han Sans SC, sans-serif'&gt;5% – 30%&lt;/text&gt;&#10;        &lt;text x='260' y='134' fill='#4A5568' fontSize='13' textAnchor='middle' fontFamily='Source Han Sans SC, sans-serif'&gt;fillna() 填充&lt;/text&gt;&#10;        &lt;text x='260' y='150' fill='#8B97A8' fontSize='11.5' textAnchor='middle' fontFamily='Source Han Sans SC, sans-serif'&gt;右栏选策略&lt;/text&gt;&#10;        &lt;rect x='336' y='86' width='168' height='72' rx='10' fill='#F7F9FC' stroke='#8B97A8' strokeWidth='2' /&gt;&#10;        &lt;text x='420' y='112' fill='#4A5568' fontSize='14' fontWeight='bold' textAnchor='middle' fontFamily='Source Han Sans SC, sans-serif'&gt;&amp;gt; 30%&lt;/text&gt;&#10;        &lt;text x='420' y='134' fill='#4A5568' fontSize='13' textAnchor='middle' fontFamily='Source Han Sans SC, sans-serif'&gt;考虑删列 / 仅标记&lt;/text&gt;&#10;        &lt;text x='420' y='150' fill='#8B97A8' fontSize='11.5' textAnchor='middle' fontFamily='Source Han Sans SC, sans-serif'&gt;如 Titanic 的 cabin&lt;/text&gt;&#10;        &lt;path d='M 260 158 L 260 186' stroke='#1E4FA8' strokeWidth='2.5' fill='none' /&gt;&#10;        &lt;path d='M 253 179 L 260 190 L 267 179' stroke='#1E4FA8' strokeWidth='2.5' fill='none' /&gt;&#10;        &lt;rect x='110' y='192' width='300' height='56' rx='10' fill='#0E3F8C' /&gt;&#10;        &lt;text x='260' y='215' fill='#FFFFFF' fontSize='14.5' fontWeight='bold' textAnchor='middle' fontFamily='Source Han Sans SC, sans-serif'&gt;先问：为什么缺？&lt;/text&gt;&#10;        &lt;text x='260' y='236' fill='rgba(255,255,255,0.85)' fontSize='12' textAnchor='middle' fontFamily='Source Han Sans SC, sans-serif'&gt;随机缺失 → 填充可行；系统性缺失 → 填充会引入偏差&lt;/text&gt;&#10;        &lt;path d='M 260 248 L 260 276' stroke='#1E4FA8' strokeWidth='2.5' fill='none' /&gt;&#10;        &lt;rect x='40' y='278' width='440' height='104' rx='12' fill='#F0F5FC' stroke='#D6DCE5' strokeWidth='1.5' /&gt;&#10;        &lt;text x='64' y='306' fill='#0E3F8C' fontSize='14' fontWeight='bold' fontFamily='Source Han Sans SC, sans-serif'&gt;铁律：每次处理都留痕&lt;/text&gt;&#10;        &lt;text x='64' y='330' fill='#4A5568' fontSize='13' fontFamily='Source Han Sans SC, sans-serif'&gt;在 notebook 写 Markdown：缺多少、为什么这么填、影响哪些行&lt;/text&gt;&#10;        &lt;text x='64' y='354' fill='#8B97A8' fontSize='12' fontFamily='Source Han Sans SC, sans-serif'&gt;df['age'].isna().sum() → 177 → fillna(median) → 记录&lt;/text&gt;&#10;      &lt;/svg&gt;&#10;    &lt;/Box&gt;&#10;    &lt;Box style={{ flex: 1, gap: 12, justifyContent: 'center' }}&gt;&#10;      &lt;Text style={{ fontSize: 17, color: '#0E3F8C', fontWeight: 'bold' }}&gt;填充策略怎么选 · Imputation&lt;/Text&gt;&#10;      {[&#10;        { t: '数值列 · 近似正态', c: '均值 mean', d: '如温度、分数', i: 'chart-line' },&#10;        { t: '数值列 · 偏态 / 有异常', c: '中位数 median', d: '如收入、票价（Titanic age）', i: 'chart-area' },&#10;        { t: '类别列', c: '众数 或 &quot;Unknown&quot;', d: '如 embarked 缺 2 个 → 众数', i: 'tags' },&#10;        { t: '时间序列', c: '前向 / 后向填充', d: '传感器断点补上一位读数', i: 'clock' },&#10;      ].map((r, i) =&gt; (&#10;        &lt;Box key={i} style={{ flexDirection: 'row', gap: 12, alignItems: 'center', background: '#F7F9FC', border: '1px solid #E5E7EB', borderRadius: 10, padding: '11px 16px' }}&gt;&#10;          &lt;Box style={{ width: 36, height: 36, borderRadius: 9, background: '#E8EFF8', justifyContent: 'center', alignItems: 'center', flexShrink: 0 }}&gt;&#10;            &lt;FAIcon name={r.i} style={{ fill: '#1E4FA8', width: 17, height: 17 }} /&gt;&#10;          &lt;/Box&gt;&#10;          &lt;Box style={{ flex: 1 }}&gt;&#10;            &lt;Text style={{ fontSize: 15, color: '#1A2230', fontWeight: 'bold' }}&gt;{r.t}&lt;/Text&gt;&#10;            &lt;Text style={{ fontSize: 13, color: '#4A5568', marginTop: 1 }}&gt;{r.d}&lt;/Text&gt;&#10;          &lt;/Box&gt;&#10;          &lt;Box style={{ background: '#F0F5FC', borderRadius: 8, padding: '5px 12px' }}&gt;&#10;            &lt;Text style={{ fontSize: 13.5, color: '#0E3F8C', fontWeight: '600', fontFamily: 'Consolas, Menlo, monospace' }}&gt;{r.c}&lt;/Text&gt;&#10;          &lt;/Box&gt;&#10;        &lt;/Box&gt;&#10;      ))}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0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1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82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50768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缺失值处理决策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Missing Values: A Decision Guide</a:t>
            </a:r>
            <a:endParaRPr/>
          </a:p>
        </p:txBody>
      </p:sp>
      <p:sp>
        <p:nvSpPr>
          <p:cNvPr id="483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484" name="" descr="{&quot;isTemplate&quot;:true,&quot;type&quot;:&quot;text&quot;}"/>
          <p:cNvSpPr txBox="1"/>
          <p:nvPr/>
        </p:nvSpPr>
        <p:spPr>
          <a:xfrm rot="0" flipH="0" flipV="0">
            <a:off x="800100" y="1476375"/>
            <a:ext cx="4953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Source Han Sans SC"/>
                <a:ea typeface="Source Han Sans SC"/>
              </a:rPr>
              <a:t>决策路径</a:t>
            </a:r>
            <a:r>
              <a:rPr lang="en-US" sz="1275" b="1">
                <a:solidFill>
                  <a:srgbClr val="0E3F8C"/>
                </a:solidFill>
                <a:latin typeface="Source Han Sans SC"/>
                <a:ea typeface="Source Han Sans SC"/>
              </a:rPr>
              <a:t> · Decision Path</a:t>
            </a:r>
            <a:endParaRPr/>
          </a:p>
        </p:txBody>
      </p:sp>
      <p:pic>
        <p:nvPicPr>
          <p:cNvPr id="48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00100" y="1771650"/>
            <a:ext cx="4953000" cy="3810000"/>
          </a:xfrm>
          <a:prstGeom prst="rect">
            <a:avLst/>
          </a:prstGeom>
          <a:ln/>
        </p:spPr>
      </p:pic>
      <p:sp>
        <p:nvSpPr>
          <p:cNvPr id="486" name="" descr="{&quot;isTemplate&quot;:true,&quot;type&quot;:&quot;text&quot;}"/>
          <p:cNvSpPr txBox="1"/>
          <p:nvPr/>
        </p:nvSpPr>
        <p:spPr>
          <a:xfrm rot="0" flipH="0" flipV="0">
            <a:off x="6019800" y="2095500"/>
            <a:ext cx="5372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Source Han Sans SC"/>
                <a:ea typeface="Source Han Sans SC"/>
              </a:rPr>
              <a:t>填充策略怎么选</a:t>
            </a:r>
            <a:r>
              <a:rPr lang="en-US" sz="1275" b="1">
                <a:solidFill>
                  <a:srgbClr val="0E3F8C"/>
                </a:solidFill>
                <a:latin typeface="Source Han Sans SC"/>
                <a:ea typeface="Source Han Sans SC"/>
              </a:rPr>
              <a:t> · Imputation</a:t>
            </a:r>
            <a:endParaRPr/>
          </a:p>
        </p:txBody>
      </p:sp>
      <p:sp>
        <p:nvSpPr>
          <p:cNvPr id="487" name=""/>
          <p:cNvSpPr/>
          <p:nvPr/>
        </p:nvSpPr>
        <p:spPr>
          <a:xfrm rot="0" flipH="0" flipV="0">
            <a:off x="6019800" y="2409825"/>
            <a:ext cx="5372100" cy="552450"/>
          </a:xfrm>
          <a:prstGeom prst="roundRect">
            <a:avLst>
              <a:gd name="adj" fmla="val 1724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88" name=""/>
          <p:cNvSpPr/>
          <p:nvPr/>
        </p:nvSpPr>
        <p:spPr>
          <a:xfrm rot="0" flipH="0" flipV="0">
            <a:off x="6172200" y="251460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8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267450" y="2609850"/>
            <a:ext cx="161925" cy="161925"/>
          </a:xfrm>
          <a:prstGeom prst="rect">
            <a:avLst/>
          </a:prstGeom>
          <a:ln/>
        </p:spPr>
      </p:pic>
      <p:sp>
        <p:nvSpPr>
          <p:cNvPr id="490" name="" descr="{&quot;isTemplate&quot;:true,&quot;type&quot;:&quot;text&quot;}"/>
          <p:cNvSpPr txBox="1"/>
          <p:nvPr/>
        </p:nvSpPr>
        <p:spPr>
          <a:xfrm rot="0" flipH="0" flipV="0">
            <a:off x="6629400" y="2524125"/>
            <a:ext cx="3619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Source Han Sans SC"/>
                <a:ea typeface="Source Han Sans SC"/>
              </a:rPr>
              <a:t>数值列</a:t>
            </a:r>
            <a:r>
              <a:rPr lang="en-US" sz="1125" b="1">
                <a:solidFill>
                  <a:srgbClr val="1A2230"/>
                </a:solidFill>
                <a:latin typeface="Source Han Sans SC"/>
                <a:ea typeface="Source Han Sans SC"/>
              </a:rPr>
              <a:t> · </a:t>
            </a:r>
            <a:r>
              <a:rPr lang="zh-CN" sz="1125" b="1">
                <a:solidFill>
                  <a:srgbClr val="1A2230"/>
                </a:solidFill>
                <a:latin typeface="Source Han Sans SC"/>
                <a:ea typeface="Source Han Sans SC"/>
              </a:rPr>
              <a:t>近似正态</a:t>
            </a:r>
            <a:endParaRPr/>
          </a:p>
        </p:txBody>
      </p:sp>
      <p:sp>
        <p:nvSpPr>
          <p:cNvPr id="491" name="" descr="{&quot;isTemplate&quot;:true,&quot;type&quot;:&quot;text&quot;}"/>
          <p:cNvSpPr txBox="1"/>
          <p:nvPr/>
        </p:nvSpPr>
        <p:spPr>
          <a:xfrm rot="0" flipH="0" flipV="0">
            <a:off x="6629400" y="2705100"/>
            <a:ext cx="3619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如温度、分数</a:t>
            </a:r>
            <a:endParaRPr/>
          </a:p>
        </p:txBody>
      </p:sp>
      <p:sp>
        <p:nvSpPr>
          <p:cNvPr id="492" name=""/>
          <p:cNvSpPr/>
          <p:nvPr/>
        </p:nvSpPr>
        <p:spPr>
          <a:xfrm rot="0" flipH="0" flipV="0">
            <a:off x="10363200" y="2562225"/>
            <a:ext cx="876300" cy="257175"/>
          </a:xfrm>
          <a:prstGeom prst="roundRect">
            <a:avLst>
              <a:gd name="adj" fmla="val 2963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93" name="" descr="{&quot;isTemplate&quot;:true,&quot;type&quot;:&quot;text&quot;}"/>
          <p:cNvSpPr txBox="1"/>
          <p:nvPr/>
        </p:nvSpPr>
        <p:spPr>
          <a:xfrm rot="0" flipH="0" flipV="0">
            <a:off x="10477500" y="2609850"/>
            <a:ext cx="647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0E3F8C"/>
                </a:solidFill>
                <a:latin typeface="Consolas"/>
                <a:ea typeface="Consolas"/>
              </a:rPr>
              <a:t>均值</a:t>
            </a:r>
            <a:r>
              <a:rPr lang="en-US" sz="1013" b="1">
                <a:solidFill>
                  <a:srgbClr val="0E3F8C"/>
                </a:solidFill>
                <a:latin typeface="Consolas"/>
                <a:ea typeface="Consolas"/>
              </a:rPr>
              <a:t> mean</a:t>
            </a:r>
            <a:endParaRPr/>
          </a:p>
        </p:txBody>
      </p:sp>
      <p:sp>
        <p:nvSpPr>
          <p:cNvPr id="494" name=""/>
          <p:cNvSpPr/>
          <p:nvPr/>
        </p:nvSpPr>
        <p:spPr>
          <a:xfrm rot="0" flipH="0" flipV="0">
            <a:off x="6019800" y="3076575"/>
            <a:ext cx="5372100" cy="552450"/>
          </a:xfrm>
          <a:prstGeom prst="roundRect">
            <a:avLst>
              <a:gd name="adj" fmla="val 1724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95" name=""/>
          <p:cNvSpPr/>
          <p:nvPr/>
        </p:nvSpPr>
        <p:spPr>
          <a:xfrm rot="0" flipH="0" flipV="0">
            <a:off x="6172200" y="318135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9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267450" y="3276600"/>
            <a:ext cx="161925" cy="161925"/>
          </a:xfrm>
          <a:prstGeom prst="rect">
            <a:avLst/>
          </a:prstGeom>
          <a:ln/>
        </p:spPr>
      </p:pic>
      <p:sp>
        <p:nvSpPr>
          <p:cNvPr id="497" name="" descr="{&quot;isTemplate&quot;:true,&quot;type&quot;:&quot;text&quot;}"/>
          <p:cNvSpPr txBox="1"/>
          <p:nvPr/>
        </p:nvSpPr>
        <p:spPr>
          <a:xfrm rot="0" flipH="0" flipV="0">
            <a:off x="6629400" y="3190875"/>
            <a:ext cx="3333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Source Han Sans SC"/>
                <a:ea typeface="Source Han Sans SC"/>
              </a:rPr>
              <a:t>数值列</a:t>
            </a:r>
            <a:r>
              <a:rPr lang="en-US" sz="1125" b="1">
                <a:solidFill>
                  <a:srgbClr val="1A2230"/>
                </a:solidFill>
                <a:latin typeface="Source Han Sans SC"/>
                <a:ea typeface="Source Han Sans SC"/>
              </a:rPr>
              <a:t> · </a:t>
            </a:r>
            <a:r>
              <a:rPr lang="zh-CN" sz="1125" b="1">
                <a:solidFill>
                  <a:srgbClr val="1A2230"/>
                </a:solidFill>
                <a:latin typeface="Source Han Sans SC"/>
                <a:ea typeface="Source Han Sans SC"/>
              </a:rPr>
              <a:t>偏态</a:t>
            </a:r>
            <a:r>
              <a:rPr lang="en-US" sz="1125" b="1">
                <a:solidFill>
                  <a:srgbClr val="1A2230"/>
                </a:solidFill>
                <a:latin typeface="Source Han Sans SC"/>
                <a:ea typeface="Source Han Sans SC"/>
              </a:rPr>
              <a:t> / </a:t>
            </a:r>
            <a:r>
              <a:rPr lang="zh-CN" sz="1125" b="1">
                <a:solidFill>
                  <a:srgbClr val="1A2230"/>
                </a:solidFill>
                <a:latin typeface="Source Han Sans SC"/>
                <a:ea typeface="Source Han Sans SC"/>
              </a:rPr>
              <a:t>有异常</a:t>
            </a:r>
            <a:endParaRPr/>
          </a:p>
        </p:txBody>
      </p:sp>
      <p:sp>
        <p:nvSpPr>
          <p:cNvPr id="498" name="" descr="{&quot;isTemplate&quot;:true,&quot;type&quot;:&quot;text&quot;}"/>
          <p:cNvSpPr txBox="1"/>
          <p:nvPr/>
        </p:nvSpPr>
        <p:spPr>
          <a:xfrm rot="0" flipH="0" flipV="0">
            <a:off x="6629400" y="3371850"/>
            <a:ext cx="3333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如收入、票价（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Titanic age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）</a:t>
            </a:r>
            <a:endParaRPr/>
          </a:p>
        </p:txBody>
      </p:sp>
      <p:sp>
        <p:nvSpPr>
          <p:cNvPr id="499" name=""/>
          <p:cNvSpPr/>
          <p:nvPr/>
        </p:nvSpPr>
        <p:spPr>
          <a:xfrm rot="0" flipH="0" flipV="0">
            <a:off x="10077450" y="3228975"/>
            <a:ext cx="1162050" cy="257175"/>
          </a:xfrm>
          <a:prstGeom prst="roundRect">
            <a:avLst>
              <a:gd name="adj" fmla="val 2963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00" name="" descr="{&quot;isTemplate&quot;:true,&quot;type&quot;:&quot;text&quot;}"/>
          <p:cNvSpPr txBox="1"/>
          <p:nvPr/>
        </p:nvSpPr>
        <p:spPr>
          <a:xfrm rot="0" flipH="0" flipV="0">
            <a:off x="10191750" y="3276600"/>
            <a:ext cx="933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0E3F8C"/>
                </a:solidFill>
                <a:latin typeface="Consolas"/>
                <a:ea typeface="Consolas"/>
              </a:rPr>
              <a:t>中位数</a:t>
            </a:r>
            <a:r>
              <a:rPr lang="en-US" sz="1013" b="1">
                <a:solidFill>
                  <a:srgbClr val="0E3F8C"/>
                </a:solidFill>
                <a:latin typeface="Consolas"/>
                <a:ea typeface="Consolas"/>
              </a:rPr>
              <a:t> median</a:t>
            </a:r>
            <a:endParaRPr/>
          </a:p>
        </p:txBody>
      </p:sp>
      <p:sp>
        <p:nvSpPr>
          <p:cNvPr id="501" name=""/>
          <p:cNvSpPr/>
          <p:nvPr/>
        </p:nvSpPr>
        <p:spPr>
          <a:xfrm rot="0" flipH="0" flipV="0">
            <a:off x="6019800" y="3743325"/>
            <a:ext cx="5372100" cy="552450"/>
          </a:xfrm>
          <a:prstGeom prst="roundRect">
            <a:avLst>
              <a:gd name="adj" fmla="val 1724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02" name=""/>
          <p:cNvSpPr/>
          <p:nvPr/>
        </p:nvSpPr>
        <p:spPr>
          <a:xfrm rot="0" flipH="0" flipV="0">
            <a:off x="6172200" y="384810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0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267450" y="3943350"/>
            <a:ext cx="161925" cy="161925"/>
          </a:xfrm>
          <a:prstGeom prst="rect">
            <a:avLst/>
          </a:prstGeom>
          <a:ln/>
        </p:spPr>
      </p:pic>
      <p:sp>
        <p:nvSpPr>
          <p:cNvPr id="504" name="" descr="{&quot;isTemplate&quot;:true,&quot;type&quot;:&quot;text&quot;}"/>
          <p:cNvSpPr txBox="1"/>
          <p:nvPr/>
        </p:nvSpPr>
        <p:spPr>
          <a:xfrm rot="0" flipH="0" flipV="0">
            <a:off x="6629400" y="3857625"/>
            <a:ext cx="3028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Source Han Sans SC"/>
                <a:ea typeface="Source Han Sans SC"/>
              </a:rPr>
              <a:t>类别列</a:t>
            </a:r>
            <a:endParaRPr/>
          </a:p>
        </p:txBody>
      </p:sp>
      <p:sp>
        <p:nvSpPr>
          <p:cNvPr id="505" name="" descr="{&quot;isTemplate&quot;:true,&quot;type&quot;:&quot;text&quot;}"/>
          <p:cNvSpPr txBox="1"/>
          <p:nvPr/>
        </p:nvSpPr>
        <p:spPr>
          <a:xfrm rot="0" flipH="0" flipV="0">
            <a:off x="6629400" y="4038600"/>
            <a:ext cx="30289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如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embarked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缺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2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个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→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众数</a:t>
            </a:r>
            <a:endParaRPr/>
          </a:p>
        </p:txBody>
      </p:sp>
      <p:sp>
        <p:nvSpPr>
          <p:cNvPr id="506" name=""/>
          <p:cNvSpPr/>
          <p:nvPr/>
        </p:nvSpPr>
        <p:spPr>
          <a:xfrm rot="0" flipH="0" flipV="0">
            <a:off x="9772650" y="3895725"/>
            <a:ext cx="1466850" cy="257175"/>
          </a:xfrm>
          <a:prstGeom prst="roundRect">
            <a:avLst>
              <a:gd name="adj" fmla="val 2963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07" name="" descr="{&quot;isTemplate&quot;:true,&quot;type&quot;:&quot;text&quot;}"/>
          <p:cNvSpPr txBox="1"/>
          <p:nvPr/>
        </p:nvSpPr>
        <p:spPr>
          <a:xfrm rot="0" flipH="0" flipV="0">
            <a:off x="9886950" y="3943350"/>
            <a:ext cx="1238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0E3F8C"/>
                </a:solidFill>
                <a:latin typeface="Consolas"/>
                <a:ea typeface="Consolas"/>
              </a:rPr>
              <a:t>众数</a:t>
            </a:r>
            <a:r>
              <a:rPr lang="en-US" sz="1013" b="1">
                <a:solidFill>
                  <a:srgbClr val="0E3F8C"/>
                </a:solidFill>
                <a:latin typeface="Consolas"/>
                <a:ea typeface="Consolas"/>
              </a:rPr>
              <a:t> </a:t>
            </a:r>
            <a:r>
              <a:rPr lang="zh-CN" sz="1013" b="1">
                <a:solidFill>
                  <a:srgbClr val="0E3F8C"/>
                </a:solidFill>
                <a:latin typeface="Consolas"/>
                <a:ea typeface="Consolas"/>
              </a:rPr>
              <a:t>或</a:t>
            </a:r>
            <a:r>
              <a:rPr lang="en-US" sz="1013" b="1">
                <a:solidFill>
                  <a:srgbClr val="0E3F8C"/>
                </a:solidFill>
                <a:latin typeface="Consolas"/>
                <a:ea typeface="Consolas"/>
              </a:rPr>
              <a:t> "Unknown"</a:t>
            </a:r>
            <a:endParaRPr/>
          </a:p>
        </p:txBody>
      </p:sp>
      <p:sp>
        <p:nvSpPr>
          <p:cNvPr id="508" name=""/>
          <p:cNvSpPr/>
          <p:nvPr/>
        </p:nvSpPr>
        <p:spPr>
          <a:xfrm rot="0" flipH="0" flipV="0">
            <a:off x="6019800" y="4410075"/>
            <a:ext cx="5372100" cy="552450"/>
          </a:xfrm>
          <a:prstGeom prst="roundRect">
            <a:avLst>
              <a:gd name="adj" fmla="val 1724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09" name=""/>
          <p:cNvSpPr/>
          <p:nvPr/>
        </p:nvSpPr>
        <p:spPr>
          <a:xfrm rot="0" flipH="0" flipV="0">
            <a:off x="6172200" y="451485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1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6267450" y="4610100"/>
            <a:ext cx="161925" cy="161925"/>
          </a:xfrm>
          <a:prstGeom prst="rect">
            <a:avLst/>
          </a:prstGeom>
          <a:ln/>
        </p:spPr>
      </p:pic>
      <p:sp>
        <p:nvSpPr>
          <p:cNvPr id="511" name="" descr="{&quot;isTemplate&quot;:true,&quot;type&quot;:&quot;text&quot;}"/>
          <p:cNvSpPr txBox="1"/>
          <p:nvPr/>
        </p:nvSpPr>
        <p:spPr>
          <a:xfrm rot="0" flipH="0" flipV="0">
            <a:off x="6629400" y="4524375"/>
            <a:ext cx="3257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Source Han Sans SC"/>
                <a:ea typeface="Source Han Sans SC"/>
              </a:rPr>
              <a:t>时间序列</a:t>
            </a:r>
            <a:endParaRPr/>
          </a:p>
        </p:txBody>
      </p:sp>
      <p:sp>
        <p:nvSpPr>
          <p:cNvPr id="512" name="" descr="{&quot;isTemplate&quot;:true,&quot;type&quot;:&quot;text&quot;}"/>
          <p:cNvSpPr txBox="1"/>
          <p:nvPr/>
        </p:nvSpPr>
        <p:spPr>
          <a:xfrm rot="0" flipH="0" flipV="0">
            <a:off x="6629400" y="4705350"/>
            <a:ext cx="3257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传感器断点补上一位读数</a:t>
            </a:r>
            <a:endParaRPr/>
          </a:p>
        </p:txBody>
      </p:sp>
      <p:sp>
        <p:nvSpPr>
          <p:cNvPr id="513" name=""/>
          <p:cNvSpPr/>
          <p:nvPr/>
        </p:nvSpPr>
        <p:spPr>
          <a:xfrm rot="0" flipH="0" flipV="0">
            <a:off x="10001250" y="4562475"/>
            <a:ext cx="1238250" cy="257175"/>
          </a:xfrm>
          <a:prstGeom prst="roundRect">
            <a:avLst>
              <a:gd name="adj" fmla="val 2963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14" name="" descr="{&quot;isTemplate&quot;:true,&quot;type&quot;:&quot;text&quot;}"/>
          <p:cNvSpPr txBox="1"/>
          <p:nvPr/>
        </p:nvSpPr>
        <p:spPr>
          <a:xfrm rot="0" flipH="0" flipV="0">
            <a:off x="10115550" y="4610100"/>
            <a:ext cx="1009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0E3F8C"/>
                </a:solidFill>
                <a:latin typeface="Consolas"/>
                <a:ea typeface="Consolas"/>
              </a:rPr>
              <a:t>前向</a:t>
            </a:r>
            <a:r>
              <a:rPr lang="en-US" sz="1013" b="1">
                <a:solidFill>
                  <a:srgbClr val="0E3F8C"/>
                </a:solidFill>
                <a:latin typeface="Consolas"/>
                <a:ea typeface="Consolas"/>
              </a:rPr>
              <a:t> / </a:t>
            </a:r>
            <a:r>
              <a:rPr lang="zh-CN" sz="1013" b="1">
                <a:solidFill>
                  <a:srgbClr val="0E3F8C"/>
                </a:solidFill>
                <a:latin typeface="Consolas"/>
                <a:ea typeface="Consolas"/>
              </a:rPr>
              <a:t>后向填充</a:t>
            </a:r>
            <a:endParaRPr/>
          </a:p>
        </p:txBody>
      </p:sp>
      <p:sp>
        <p:nvSpPr>
          <p:cNvPr id="515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516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20 / 32</a:t>
            </a:r>
            <a:endParaRPr/>
          </a:p>
        </p:txBody>
      </p:sp>
    </p:spTree>
  </p:cSld>
</p:sld>
</file>

<file path=ppt/slides/slide2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17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异常值检测三法 · Three Ways to Spot Outliers&lt;/Text&gt;&#10;    &lt;Text style={{ fontSize: 15, color: 'rgba(255,255,255,0.85)' }}&gt;Module 1 · Week 2&lt;/Text&gt;&#10;  &lt;/Box&gt;&#10;  &lt;Box style={{ position: 'absolute', top: 100, left: 0, width: '100%', height: 540, padding: '14px 84px', flexDirection: 'column' }}&gt;&#10;    &lt;Box style={{ flexDirection: 'row', gap: 18, flex: 1 }}&gt;&#10;      {[&#10;        {&#10;          t: 'IQR 法', e: 'Interquartile Range', i: 'ruler-horizontal',&#10;          d: '低于 Q1−1.5·IQR 或高于 Q3+1.5·IQR 判为异常。不假设分布，偏态数据首选。',&#10;          c: '#3D7BD9',&#10;        },&#10;        {&#10;          t: 'Z-score 法', e: 'Standard Deviations', i: 'chart-line',&#10;          d: '|z| &amp;gt; 3 判为异常。只适合近似正态的数据；长尾分布会误伤大量正常值。',&#10;          c: '#1E4FA8',&#10;        },&#10;        {&#10;          t: '领域规则', e: 'Domain Rules', i: 'clipboard-check',&#10;          d: '用业务知识写死边界：年龄 ∈ [0, 120]、票价 ≥ 0、血压 ∈ [40, 300]。',&#10;          c: '#0E3F8C',&#10;        },&#10;      ].map((k, i) =&gt; (&#10;        &lt;Box key={i} style={{ flex: 1, background: '#F7F9FC', border: '1px solid #E5E7EB', borderTop: '4px solid ' + k.c, borderRadius: 12, padding: '16px 18px', justifyContent: 'space-between' }}&gt;&#10;          &lt;Box&gt;&#10;            &lt;Box style={{ flexDirection: 'row', alignItems: 'center', gap: 10 }}&gt;&#10;              &lt;Box style={{ width: 38, height: 38, borderRadius: 10, background: '#E8EFF8', justifyContent: 'center', alignItems: 'center' }}&gt;&#10;                &lt;FAIcon name={k.i} style={{ fill: k.c, width: 19, height: 19 }} /&gt;&#10;              &lt;/Box&gt;&#10;              &lt;Box&gt;&#10;                &lt;Text style={{ fontSize: 18, color: '#1A2230', fontWeight: 'bold' }}&gt;{k.t}&lt;/Text&gt;&#10;                &lt;Text style={{ fontSize: 12, color: '#8B97A8' }}&gt;{k.e}&lt;/Text&gt;&#10;              &lt;/Box&gt;&#10;            &lt;/Box&gt;&#10;            &lt;Text style={{ fontSize: 14, color: '#4A5568', lineHeight: 1.6, marginTop: 10 }}&gt;{k.d}&lt;/Text&gt;&#10;          &lt;/Box&gt;&#10;          &lt;Text style={{ fontSize: 12, color: k.c, fontFamily: 'Consolas, Menlo, monospace' }}&gt;&#10;            {i === 0 ? 'q1, q3 = s.quantile([.25,.75])' : i === 1 ? 'z = (s - s.mean()) / s.std()' : &quot;df = df[df['age'].between(0, 120)]&quot;}&#10;          &lt;/Text&gt;&#10;        &lt;/Box&gt;&#10;      ))}&#10;    &lt;/Box&gt;&#10;    &lt;Box style={{ flexDirection: 'row', gap: 16, marginTop: 16, alignItems: 'stretch' }}&gt;&#10;      &lt;Box style={{ flex: 1.1, background: '#F0F5FC', border: '1px solid #D6DCE5', borderRadius: 10, padding: '13px 20px' }}&gt;&#10;        &lt;Text style={{ fontSize: 15, color: '#1A2230', lineHeight: 1.65 }}&gt;&#10;          &lt;span style={{ fontWeight: 'bold', color: '#1E4FA8' }}&gt;检出来之后怎么办？&lt;/span&gt;&#10;          三选一：&lt;span style={{ fontWeight: 'bold', color: '#0E3F8C' }}&gt;删除&lt;/span&gt;（确认是错误）·&#10;          &lt;span style={{ fontWeight: 'bold', color: '#0E3F8C' }}&gt;截断&lt;/span&gt;（winsorize 到上下界）·&#10;          &lt;span style={{ fontWeight: 'bold', color: '#0E3F8C' }}&gt;保留&lt;/span&gt;（异常本身就是要预测的现象，如欺诈交易）。&#10;        &lt;/Text&gt;&#10;      &lt;/Box&gt;&#10;      &lt;Box style={{ flex: 1, borderLeft: '4px solid #0E3F8C', paddingLeft: 14, justifyContent: 'center' }}&gt;&#10;        &lt;Text style={{ fontSize: 14.5, color: '#1A2230', lineHeight: 1.6 }}&gt;&#10;          &lt;span style={{ fontWeight: 'bold', color: '#0E3F8C' }}&gt;先判断，再动手：&lt;/span&gt;一个值是「错误」还是「极端但真实」——删除真实的极端值，可能删掉最有价值的样本。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1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19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20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4543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异常值检测三法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Three Ways to Spot Outliers</a:t>
            </a:r>
            <a:endParaRPr/>
          </a:p>
        </p:txBody>
      </p:sp>
      <p:sp>
        <p:nvSpPr>
          <p:cNvPr id="521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522" name=""/>
          <p:cNvSpPr/>
          <p:nvPr/>
        </p:nvSpPr>
        <p:spPr>
          <a:xfrm rot="0" flipH="0" flipV="0">
            <a:off x="800100" y="2283862"/>
            <a:ext cx="3419475" cy="1662824"/>
          </a:xfrm>
          <a:prstGeom prst="roundRect">
            <a:avLst>
              <a:gd name="adj" fmla="val 33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23" name=""/>
          <p:cNvSpPr/>
          <p:nvPr/>
        </p:nvSpPr>
        <p:spPr>
          <a:xfrm rot="0" flipH="0" flipV="0">
            <a:off x="800100" y="2283862"/>
            <a:ext cx="3419475" cy="1662824"/>
          </a:xfrm>
          <a:custGeom>
            <a:pathLst>
              <a:path w="359" h="410">
                <a:moveTo>
                  <a:pt x="348" y="0"/>
                </a:moveTo>
                <a:cubicBezTo>
                  <a:pt x="353" y="0"/>
                  <a:pt x="358" y="4"/>
                  <a:pt x="359" y="10"/>
                </a:cubicBezTo>
                <a:cubicBezTo>
                  <a:pt x="358" y="6"/>
                  <a:pt x="355" y="4"/>
                  <a:pt x="351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7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524" name=""/>
          <p:cNvSpPr/>
          <p:nvPr/>
        </p:nvSpPr>
        <p:spPr>
          <a:xfrm rot="0" flipH="0" flipV="0">
            <a:off x="971550" y="2436262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2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531512"/>
            <a:ext cx="180975" cy="180975"/>
          </a:xfrm>
          <a:prstGeom prst="rect">
            <a:avLst/>
          </a:prstGeom>
          <a:ln/>
        </p:spPr>
      </p:pic>
      <p:sp>
        <p:nvSpPr>
          <p:cNvPr id="526" name="" descr="{&quot;isTemplate&quot;:true,&quot;type&quot;:&quot;text&quot;}"/>
          <p:cNvSpPr txBox="1"/>
          <p:nvPr/>
        </p:nvSpPr>
        <p:spPr>
          <a:xfrm rot="0" flipH="0" flipV="0">
            <a:off x="1428750" y="2445787"/>
            <a:ext cx="10096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Source Han Sans SC"/>
                <a:ea typeface="Source Han Sans SC"/>
              </a:rPr>
              <a:t>IQR </a:t>
            </a:r>
            <a:r>
              <a:rPr lang="zh-CN" sz="1350" b="1">
                <a:solidFill>
                  <a:srgbClr val="1A2230"/>
                </a:solidFill>
                <a:latin typeface="Source Han Sans SC"/>
                <a:ea typeface="Source Han Sans SC"/>
              </a:rPr>
              <a:t>法</a:t>
            </a:r>
            <a:endParaRPr/>
          </a:p>
        </p:txBody>
      </p:sp>
      <p:sp>
        <p:nvSpPr>
          <p:cNvPr id="527" name="" descr="{&quot;isTemplate&quot;:true,&quot;type&quot;:&quot;text&quot;}"/>
          <p:cNvSpPr txBox="1"/>
          <p:nvPr/>
        </p:nvSpPr>
        <p:spPr>
          <a:xfrm rot="0" flipH="0" flipV="0">
            <a:off x="1428750" y="2655337"/>
            <a:ext cx="10096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Source Han Sans SC"/>
                <a:ea typeface="Source Han Sans SC"/>
              </a:rPr>
              <a:t>Interquartile Range</a:t>
            </a:r>
            <a:endParaRPr/>
          </a:p>
        </p:txBody>
      </p:sp>
      <p:sp>
        <p:nvSpPr>
          <p:cNvPr id="528" name="" descr="{&quot;isTemplate&quot;:true,&quot;type&quot;:&quot;text&quot;}"/>
          <p:cNvSpPr txBox="1"/>
          <p:nvPr/>
        </p:nvSpPr>
        <p:spPr>
          <a:xfrm rot="0" flipH="0" flipV="0">
            <a:off x="971550" y="2893462"/>
            <a:ext cx="307657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低于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Q1−1.5·IQR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或高于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Q3+1.5·IQR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判为异常。不假设分布，偏态数据首选。</a:t>
            </a:r>
            <a:endParaRPr/>
          </a:p>
        </p:txBody>
      </p:sp>
      <p:sp>
        <p:nvSpPr>
          <p:cNvPr id="529" name="" descr="{&quot;isTemplate&quot;:true,&quot;type&quot;:&quot;text&quot;}"/>
          <p:cNvSpPr txBox="1"/>
          <p:nvPr/>
        </p:nvSpPr>
        <p:spPr>
          <a:xfrm rot="0" flipH="0" flipV="0">
            <a:off x="971550" y="3623812"/>
            <a:ext cx="3076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3D7BD9"/>
                </a:solidFill>
                <a:latin typeface="Consolas"/>
                <a:ea typeface="Consolas"/>
              </a:rPr>
              <a:t>q1, q3 = s.quantile([.25,.75])</a:t>
            </a:r>
            <a:endParaRPr/>
          </a:p>
        </p:txBody>
      </p:sp>
      <p:sp>
        <p:nvSpPr>
          <p:cNvPr id="530" name=""/>
          <p:cNvSpPr/>
          <p:nvPr/>
        </p:nvSpPr>
        <p:spPr>
          <a:xfrm rot="0" flipH="0" flipV="0">
            <a:off x="4391025" y="2283862"/>
            <a:ext cx="3409950" cy="1662824"/>
          </a:xfrm>
          <a:prstGeom prst="roundRect">
            <a:avLst>
              <a:gd name="adj" fmla="val 33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31" name=""/>
          <p:cNvSpPr/>
          <p:nvPr/>
        </p:nvSpPr>
        <p:spPr>
          <a:xfrm rot="0" flipH="0" flipV="0">
            <a:off x="4391025" y="2283862"/>
            <a:ext cx="3409950" cy="1662824"/>
          </a:xfrm>
          <a:custGeom>
            <a:pathLst>
              <a:path w="358" h="410">
                <a:moveTo>
                  <a:pt x="347" y="0"/>
                </a:moveTo>
                <a:cubicBezTo>
                  <a:pt x="352" y="0"/>
                  <a:pt x="357" y="4"/>
                  <a:pt x="358" y="10"/>
                </a:cubicBezTo>
                <a:cubicBezTo>
                  <a:pt x="357" y="6"/>
                  <a:pt x="354" y="4"/>
                  <a:pt x="350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6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32" name=""/>
          <p:cNvSpPr/>
          <p:nvPr/>
        </p:nvSpPr>
        <p:spPr>
          <a:xfrm rot="0" flipH="0" flipV="0">
            <a:off x="4562475" y="2436262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3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657725" y="2531512"/>
            <a:ext cx="180975" cy="180975"/>
          </a:xfrm>
          <a:prstGeom prst="rect">
            <a:avLst/>
          </a:prstGeom>
          <a:ln/>
        </p:spPr>
      </p:pic>
      <p:sp>
        <p:nvSpPr>
          <p:cNvPr id="534" name="" descr="{&quot;isTemplate&quot;:true,&quot;type&quot;:&quot;text&quot;}"/>
          <p:cNvSpPr txBox="1"/>
          <p:nvPr/>
        </p:nvSpPr>
        <p:spPr>
          <a:xfrm rot="0" flipH="0" flipV="0">
            <a:off x="5019675" y="2445787"/>
            <a:ext cx="10763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Source Han Sans SC"/>
                <a:ea typeface="Source Han Sans SC"/>
              </a:rPr>
              <a:t>Z-score </a:t>
            </a:r>
            <a:r>
              <a:rPr lang="zh-CN" sz="1350" b="1">
                <a:solidFill>
                  <a:srgbClr val="1A2230"/>
                </a:solidFill>
                <a:latin typeface="Source Han Sans SC"/>
                <a:ea typeface="Source Han Sans SC"/>
              </a:rPr>
              <a:t>法</a:t>
            </a:r>
            <a:endParaRPr/>
          </a:p>
        </p:txBody>
      </p:sp>
      <p:sp>
        <p:nvSpPr>
          <p:cNvPr id="535" name="" descr="{&quot;isTemplate&quot;:true,&quot;type&quot;:&quot;text&quot;}"/>
          <p:cNvSpPr txBox="1"/>
          <p:nvPr/>
        </p:nvSpPr>
        <p:spPr>
          <a:xfrm rot="0" flipH="0" flipV="0">
            <a:off x="5019675" y="2655337"/>
            <a:ext cx="10763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Source Han Sans SC"/>
                <a:ea typeface="Source Han Sans SC"/>
              </a:rPr>
              <a:t>Standard Deviations</a:t>
            </a:r>
            <a:endParaRPr/>
          </a:p>
        </p:txBody>
      </p:sp>
      <p:sp>
        <p:nvSpPr>
          <p:cNvPr id="536" name="" descr="{&quot;isTemplate&quot;:true,&quot;type&quot;:&quot;text&quot;}"/>
          <p:cNvSpPr txBox="1"/>
          <p:nvPr/>
        </p:nvSpPr>
        <p:spPr>
          <a:xfrm rot="0" flipH="0" flipV="0">
            <a:off x="4562475" y="2893462"/>
            <a:ext cx="30670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|z| &amp;gt; 3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判为异常。只适合近似正态的数据；长尾分布会误伤大量正常值。</a:t>
            </a:r>
            <a:endParaRPr/>
          </a:p>
        </p:txBody>
      </p:sp>
      <p:sp>
        <p:nvSpPr>
          <p:cNvPr id="537" name="" descr="{&quot;isTemplate&quot;:true,&quot;type&quot;:&quot;text&quot;}"/>
          <p:cNvSpPr txBox="1"/>
          <p:nvPr/>
        </p:nvSpPr>
        <p:spPr>
          <a:xfrm rot="0" flipH="0" flipV="0">
            <a:off x="4562475" y="3623812"/>
            <a:ext cx="30670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1E4FA8"/>
                </a:solidFill>
                <a:latin typeface="Consolas"/>
                <a:ea typeface="Consolas"/>
              </a:rPr>
              <a:t>z = (s - s.mean()) / s.std()</a:t>
            </a:r>
            <a:endParaRPr/>
          </a:p>
        </p:txBody>
      </p:sp>
      <p:sp>
        <p:nvSpPr>
          <p:cNvPr id="538" name=""/>
          <p:cNvSpPr/>
          <p:nvPr/>
        </p:nvSpPr>
        <p:spPr>
          <a:xfrm rot="0" flipH="0" flipV="0">
            <a:off x="7972425" y="2283862"/>
            <a:ext cx="3419475" cy="1662824"/>
          </a:xfrm>
          <a:prstGeom prst="roundRect">
            <a:avLst>
              <a:gd name="adj" fmla="val 33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39" name=""/>
          <p:cNvSpPr/>
          <p:nvPr/>
        </p:nvSpPr>
        <p:spPr>
          <a:xfrm rot="0" flipH="0" flipV="0">
            <a:off x="7972425" y="2283862"/>
            <a:ext cx="3419475" cy="1662824"/>
          </a:xfrm>
          <a:custGeom>
            <a:pathLst>
              <a:path w="359" h="410">
                <a:moveTo>
                  <a:pt x="348" y="0"/>
                </a:moveTo>
                <a:cubicBezTo>
                  <a:pt x="353" y="0"/>
                  <a:pt x="358" y="4"/>
                  <a:pt x="359" y="10"/>
                </a:cubicBezTo>
                <a:cubicBezTo>
                  <a:pt x="358" y="6"/>
                  <a:pt x="355" y="4"/>
                  <a:pt x="351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7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540" name=""/>
          <p:cNvSpPr/>
          <p:nvPr/>
        </p:nvSpPr>
        <p:spPr>
          <a:xfrm rot="0" flipH="0" flipV="0">
            <a:off x="8143875" y="2436262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239125" y="2531512"/>
            <a:ext cx="180975" cy="180975"/>
          </a:xfrm>
          <a:prstGeom prst="rect">
            <a:avLst/>
          </a:prstGeom>
          <a:ln/>
        </p:spPr>
      </p:pic>
      <p:sp>
        <p:nvSpPr>
          <p:cNvPr id="542" name="" descr="{&quot;isTemplate&quot;:true,&quot;type&quot;:&quot;text&quot;}"/>
          <p:cNvSpPr txBox="1"/>
          <p:nvPr/>
        </p:nvSpPr>
        <p:spPr>
          <a:xfrm rot="0" flipH="0" flipV="0">
            <a:off x="8601075" y="2445787"/>
            <a:ext cx="7334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Source Han Sans SC"/>
                <a:ea typeface="Source Han Sans SC"/>
              </a:rPr>
              <a:t>领域规则</a:t>
            </a:r>
            <a:endParaRPr/>
          </a:p>
        </p:txBody>
      </p:sp>
      <p:sp>
        <p:nvSpPr>
          <p:cNvPr id="543" name="" descr="{&quot;isTemplate&quot;:true,&quot;type&quot;:&quot;text&quot;}"/>
          <p:cNvSpPr txBox="1"/>
          <p:nvPr/>
        </p:nvSpPr>
        <p:spPr>
          <a:xfrm rot="0" flipH="0" flipV="0">
            <a:off x="8601075" y="2655337"/>
            <a:ext cx="7334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Source Han Sans SC"/>
                <a:ea typeface="Source Han Sans SC"/>
              </a:rPr>
              <a:t>Domain Rules</a:t>
            </a:r>
            <a:endParaRPr/>
          </a:p>
        </p:txBody>
      </p:sp>
      <p:sp>
        <p:nvSpPr>
          <p:cNvPr id="544" name="" descr="{&quot;isTemplate&quot;:true,&quot;type&quot;:&quot;text&quot;}"/>
          <p:cNvSpPr txBox="1"/>
          <p:nvPr/>
        </p:nvSpPr>
        <p:spPr>
          <a:xfrm rot="0" flipH="0" flipV="0">
            <a:off x="8143875" y="2893462"/>
            <a:ext cx="307657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用业务知识写死边界：年龄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∈ [0, 120]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、票价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≥ 0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、血压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∈ [40, 300]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。</a:t>
            </a:r>
            <a:endParaRPr/>
          </a:p>
        </p:txBody>
      </p:sp>
      <p:sp>
        <p:nvSpPr>
          <p:cNvPr id="545" name="" descr="{&quot;isTemplate&quot;:true,&quot;type&quot;:&quot;text&quot;}"/>
          <p:cNvSpPr txBox="1"/>
          <p:nvPr/>
        </p:nvSpPr>
        <p:spPr>
          <a:xfrm rot="0" flipH="0" flipV="0">
            <a:off x="8143875" y="3623812"/>
            <a:ext cx="3076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0E3F8C"/>
                </a:solidFill>
                <a:latin typeface="Consolas"/>
                <a:ea typeface="Consolas"/>
              </a:rPr>
              <a:t>df = df[df['age'].between(0, 120)]</a:t>
            </a:r>
            <a:endParaRPr/>
          </a:p>
        </p:txBody>
      </p:sp>
      <p:sp>
        <p:nvSpPr>
          <p:cNvPr id="546" name=""/>
          <p:cNvSpPr/>
          <p:nvPr/>
        </p:nvSpPr>
        <p:spPr>
          <a:xfrm rot="0" flipH="0" flipV="0">
            <a:off x="800100" y="4060987"/>
            <a:ext cx="5467350" cy="819150"/>
          </a:xfrm>
          <a:prstGeom prst="roundRect">
            <a:avLst>
              <a:gd name="adj" fmla="val 1162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47" name="" descr="{&quot;isTemplate&quot;:true,&quot;type&quot;:&quot;text&quot;}"/>
          <p:cNvSpPr txBox="1"/>
          <p:nvPr/>
        </p:nvSpPr>
        <p:spPr>
          <a:xfrm rot="0" flipH="0" flipV="0">
            <a:off x="990600" y="4184812"/>
            <a:ext cx="50863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 b="1">
                <a:solidFill>
                  <a:srgbClr val="1E4FA8"/>
                </a:solidFill>
                <a:latin typeface="Source Han Sans SC"/>
                <a:ea typeface="Source Han Sans SC"/>
              </a:rPr>
              <a:t>检出来之后怎么办？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三选一：</a:t>
            </a:r>
            <a:r>
              <a:rPr lang="zh-CN" sz="1125" b="1">
                <a:solidFill>
                  <a:srgbClr val="0E3F8C"/>
                </a:solidFill>
                <a:latin typeface="Source Han Sans SC"/>
                <a:ea typeface="Source Han Sans SC"/>
              </a:rPr>
              <a:t>删除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（确认是错误）·</a:t>
            </a:r>
            <a:r>
              <a:rPr lang="zh-CN" sz="1125" b="1">
                <a:solidFill>
                  <a:srgbClr val="0E3F8C"/>
                </a:solidFill>
                <a:latin typeface="Source Han Sans SC"/>
                <a:ea typeface="Source Han Sans SC"/>
              </a:rPr>
              <a:t>截断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（</a:t>
            </a:r>
            <a:r>
              <a:rPr lang="en-US" sz="1125">
                <a:solidFill>
                  <a:srgbClr val="1A2230"/>
                </a:solidFill>
                <a:latin typeface="Source Han Sans SC"/>
                <a:ea typeface="Source Han Sans SC"/>
              </a:rPr>
              <a:t>winsorize 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到上下界）·</a:t>
            </a:r>
            <a:r>
              <a:rPr lang="zh-CN" sz="1125" b="1">
                <a:solidFill>
                  <a:srgbClr val="0E3F8C"/>
                </a:solidFill>
                <a:latin typeface="Source Han Sans SC"/>
                <a:ea typeface="Source Han Sans SC"/>
              </a:rPr>
              <a:t>保留</a:t>
            </a:r>
            <a:r>
              <a:rPr lang="zh-CN" sz="1125">
                <a:solidFill>
                  <a:srgbClr val="1A2230"/>
                </a:solidFill>
                <a:latin typeface="Source Han Sans SC"/>
                <a:ea typeface="Source Han Sans SC"/>
              </a:rPr>
              <a:t>（异常本身就是要预测的现象，如欺诈交易）。</a:t>
            </a:r>
            <a:endParaRPr/>
          </a:p>
        </p:txBody>
      </p:sp>
      <p:sp>
        <p:nvSpPr>
          <p:cNvPr id="548" name=""/>
          <p:cNvSpPr/>
          <p:nvPr/>
        </p:nvSpPr>
        <p:spPr>
          <a:xfrm rot="0" flipH="0" flipV="0">
            <a:off x="6419850" y="4060987"/>
            <a:ext cx="5010150" cy="819150"/>
          </a:xfrm>
          <a:custGeom>
            <a:pathLst>
              <a:path w="526" h="86">
                <a:moveTo>
                  <a:pt x="0" y="0"/>
                </a:moveTo>
                <a:lnTo>
                  <a:pt x="4" y="0"/>
                </a:lnTo>
                <a:lnTo>
                  <a:pt x="4" y="86"/>
                </a:lnTo>
                <a:lnTo>
                  <a:pt x="0" y="86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549" name="" descr="{&quot;isTemplate&quot;:true,&quot;type&quot;:&quot;text&quot;}"/>
          <p:cNvSpPr txBox="1"/>
          <p:nvPr/>
        </p:nvSpPr>
        <p:spPr>
          <a:xfrm rot="0" flipH="0" flipV="0">
            <a:off x="6591300" y="4203862"/>
            <a:ext cx="48006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88" b="1">
                <a:solidFill>
                  <a:srgbClr val="0E3F8C"/>
                </a:solidFill>
                <a:latin typeface="Source Han Sans SC"/>
                <a:ea typeface="Source Han Sans SC"/>
              </a:rPr>
              <a:t>先判断，再动手：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一个值是「错误」还是「极端但真实」——删除真实的极端值，可能删掉最有价值的样本。</a:t>
            </a:r>
            <a:endParaRPr/>
          </a:p>
        </p:txBody>
      </p:sp>
      <p:sp>
        <p:nvSpPr>
          <p:cNvPr id="550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551" name="" descr="{&quot;isTemplate&quot;:true,&quot;type&quot;:&quot;text&quot;}"/>
          <p:cNvSpPr txBox="1"/>
          <p:nvPr/>
        </p:nvSpPr>
        <p:spPr>
          <a:xfrm rot="0" flipH="0" flipV="0">
            <a:off x="109347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21 / 32</a:t>
            </a:r>
            <a:endParaRPr/>
          </a:p>
        </p:txBody>
      </p:sp>
    </p:spTree>
  </p:cSld>
</p:sld>
</file>

<file path=ppt/slides/slide22.xml><?xml version="1.0" encoding="utf-8"?>
<p:sld xmlns:a="http://schemas.openxmlformats.org/drawingml/2006/main" xmlns:p="http://schemas.openxmlformats.org/presentationml/2006/main">
  <p:cSld>
    <p:spTree>
      <p:nvGrpSpPr>
        <p:cNvPr id="552" name="" descr="&lt;Slide style={{ width: '1280px', height: '720px', background: '#0E3F8C', padding: '0px', fontFamily: 'Source Han Sans SC, PingFang SC, sans-serif' }}&gt;&#10;  &lt;Box style={{ position: 'absolute', top: 0, left: 0, width: '100%', height: 10, background: '#1E4FA8' }} /&gt;&#10;  &lt;Box style={{ position: 'absolute', top: 0, right: 0, width: '45%', height: '100%', background: 'rgba(30,79,168,0.35)' }} /&gt;&#10;  &lt;Box style={{ position: 'absolute', top: 60, left: 84, right: 84, height: 620, padding: '30px 0', flexDirection: 'row', alignItems: 'center', gap: 60 }}&gt;&#10;    &lt;Box style={{ flexShrink: 0, alignItems: 'flex-end' }}&gt;&#10;      &lt;Text style={{ fontSize: 110, color: '#FFFFFF', fontWeight: 'bold', lineHeight: 1.0 }}&gt;GIGO&lt;/Text&gt;&#10;      &lt;Text style={{ fontSize: 20, color: 'rgba(255,255,255,0.75)', marginTop: 12, textAlign: 'right' }}&gt;Garbage In,&lt;/Text&gt;&#10;      &lt;Text style={{ fontSize: 20, color: 'rgba(255,255,255,0.75)', textAlign: 'right' }}&gt;Garbage Out&lt;/Text&gt;&#10;    &lt;/Box&gt;&#10;    &lt;Box style={{ flex: 1, gap: 18 }}&gt;&#10;      &lt;Text style={{ fontSize: 30, color: '#FFFFFF', fontWeight: 'bold' }}&gt;垃圾进，垃圾出&lt;/Text&gt;&#10;      &lt;Text style={{ fontSize: 18, color: 'rgba(255,255,255,0.92)', lineHeight: 1.7 }}&gt;&#10;        模型没有「常识」来纠正输入的错误——它只会忠实地把数据里的&lt;Text as='span' style={{ fontWeight: 'bold' }}&gt;偏差、缺失和噪声&lt;/Text&gt;学进去，再放大到每一次预测里。&#10;        &lt;br /&gt;&#10;        &lt;span style={{ fontSize: 14, color: 'rgba(255,255,255,0.7)' }}&gt;Models faithfully learn — and amplify — every flaw in the data.&lt;/span&gt;&#10;      &lt;/Text&gt;&#10;      &lt;Box style={{ flexDirection: 'row', gap: 12, marginTop: 8 }}&gt;&#10;        &lt;Box style={{ flex: 1, background: 'rgba(255,255,255,0.12)', borderRadius: 10, padding: '14px 18px' }}&gt;&#10;          &lt;Text style={{ fontSize: 15, color: '#FFC107', fontWeight: 'bold' }}&gt;坏数据 → 好算法&lt;/Text&gt;&#10;          &lt;Text style={{ fontSize: 14, color: 'rgba(255,255,255,0.85)', lineHeight: 1.55, marginTop: 4 }}&gt;换十个模型也救不回来，指标会一直「莫名」上不去。&lt;/Text&gt;&#10;        &lt;/Box&gt;&#10;        &lt;Box style={{ flex: 1, background: 'rgba(255,255,255,0.12)', borderRadius: 10, padding: '14px 18px' }}&gt;&#10;          &lt;Text style={{ fontSize: 15, color: '#FFC107', fontWeight: 'bold' }}&gt;好数据 → 简单模型&lt;/Text&gt;&#10;          &lt;Text style={{ fontSize: 14, color: 'rgba(255,255,255,0.85)', lineHeight: 1.55, marginTop: 4 }}&gt;清洗好的数据上，逻辑回归也常常打赢深度网络。&lt;/Text&gt;&#10;        &lt;/Box&gt;&#10;      &lt;/Box&gt;&#10;      &lt;Box style={{ background: 'rgba(255,255,255,0.12)', borderRadius: 12, padding: '18px 22px', marginTop: 6 }}&gt;&#10;        &lt;Text style={{ fontSize: 17, color: '#FFFFFF', lineHeight: 1.7 }}&gt;&#10;          &lt;span style={{ fontWeight: 'bold', color: '#FFC107' }}&gt;数据质量是模型上限&lt;/span&gt;，&#10;          算法只是逼近这个上限的速度——所以本周的清洗功夫，比下周的任何调参技巧都值钱。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rgba(255,255,255,0.6)' }}&gt;AI Application Development · Week 2&lt;/Text&gt;&#10;    &lt;Text style={{ fontSize: 14, color: 'rgba(255,255,255,0.9)', fontWeight: '600' }}&gt;22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54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55" name=""/>
          <p:cNvSpPr/>
          <p:nvPr/>
        </p:nvSpPr>
        <p:spPr>
          <a:xfrm rot="0" flipH="0" flipV="0">
            <a:off x="6705600" y="0"/>
            <a:ext cx="5486400" cy="6858000"/>
          </a:xfrm>
          <a:prstGeom prst="rect">
            <a:avLst/>
          </a:prstGeom>
          <a:solidFill>
            <a:srgbClr val="1E4FA8">
              <a:alpha val="35000"/>
            </a:srgbClr>
          </a:solidFill>
          <a:ln/>
        </p:spPr>
        <p:txBody>
          <a:bodyPr/>
          <a:p/>
        </p:txBody>
      </p:sp>
      <p:sp>
        <p:nvSpPr>
          <p:cNvPr id="556" name="" descr="{&quot;isTemplate&quot;:true,&quot;type&quot;:&quot;text&quot;}"/>
          <p:cNvSpPr txBox="1"/>
          <p:nvPr/>
        </p:nvSpPr>
        <p:spPr>
          <a:xfrm rot="0" flipH="0" flipV="0">
            <a:off x="800100" y="2609850"/>
            <a:ext cx="2667000" cy="1257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0" b="1">
                <a:solidFill>
                  <a:srgbClr val="FFFFFF"/>
                </a:solidFill>
                <a:latin typeface="Source Han Sans SC"/>
                <a:ea typeface="Source Han Sans SC"/>
              </a:rPr>
              <a:t>GIGO</a:t>
            </a:r>
            <a:endParaRPr/>
          </a:p>
        </p:txBody>
      </p:sp>
      <p:sp>
        <p:nvSpPr>
          <p:cNvPr id="557" name="" descr="{&quot;isTemplate&quot;:true,&quot;type&quot;:&quot;text&quot;}"/>
          <p:cNvSpPr txBox="1"/>
          <p:nvPr/>
        </p:nvSpPr>
        <p:spPr>
          <a:xfrm rot="0" flipH="0" flipV="0">
            <a:off x="2438400" y="3981450"/>
            <a:ext cx="1028700" cy="2286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500">
                <a:solidFill>
                  <a:srgbClr val="FFFFFF">
                    <a:alpha val="75000"/>
                  </a:srgbClr>
                </a:solidFill>
                <a:latin typeface="Source Han Sans SC"/>
                <a:ea typeface="Source Han Sans SC"/>
              </a:rPr>
              <a:t>Garbage In,</a:t>
            </a:r>
            <a:endParaRPr/>
          </a:p>
        </p:txBody>
      </p:sp>
      <p:sp>
        <p:nvSpPr>
          <p:cNvPr id="558" name="" descr="{&quot;isTemplate&quot;:true,&quot;type&quot;:&quot;text&quot;}"/>
          <p:cNvSpPr txBox="1"/>
          <p:nvPr/>
        </p:nvSpPr>
        <p:spPr>
          <a:xfrm rot="0" flipH="0" flipV="0">
            <a:off x="2324100" y="4210050"/>
            <a:ext cx="1143000" cy="2286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500">
                <a:solidFill>
                  <a:srgbClr val="FFFFFF">
                    <a:alpha val="75000"/>
                  </a:srgbClr>
                </a:solidFill>
                <a:latin typeface="Source Han Sans SC"/>
                <a:ea typeface="Source Han Sans SC"/>
              </a:rPr>
              <a:t>Garbage Out</a:t>
            </a:r>
            <a:endParaRPr/>
          </a:p>
        </p:txBody>
      </p:sp>
      <p:sp>
        <p:nvSpPr>
          <p:cNvPr id="559" name="" descr="{&quot;isTemplate&quot;:true,&quot;type&quot;:&quot;text&quot;}"/>
          <p:cNvSpPr txBox="1"/>
          <p:nvPr/>
        </p:nvSpPr>
        <p:spPr>
          <a:xfrm rot="0" flipH="0" flipV="0">
            <a:off x="4038600" y="2009775"/>
            <a:ext cx="73533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FFFFFF"/>
                </a:solidFill>
                <a:latin typeface="Source Han Sans SC"/>
                <a:ea typeface="Source Han Sans SC"/>
              </a:rPr>
              <a:t>垃圾进，垃圾出</a:t>
            </a:r>
            <a:endParaRPr/>
          </a:p>
        </p:txBody>
      </p:sp>
      <p:sp>
        <p:nvSpPr>
          <p:cNvPr id="560" name="" descr="{&quot;isTemplate&quot;:true,&quot;type&quot;:&quot;text&quot;}"/>
          <p:cNvSpPr txBox="1"/>
          <p:nvPr/>
        </p:nvSpPr>
        <p:spPr>
          <a:xfrm rot="0" flipH="0" flipV="0">
            <a:off x="4038600" y="2524125"/>
            <a:ext cx="7353300" cy="971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350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模型没有「常识」来纠正输入的错误——它只会忠实地把数据里的</a:t>
            </a:r>
            <a:r>
              <a:rPr lang="zh-CN" sz="1350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偏差、缺失和噪声</a:t>
            </a:r>
            <a:r>
              <a:rPr lang="zh-CN" sz="1350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学进去，再放大到每一次预测里。</a:t>
            </a:r>
            <a:endParaRPr/>
          </a:p>
          <a:p>
            <a:pPr>
              <a:lnSpc>
                <a:spcPct val="170000"/>
              </a:lnSpc>
            </a:pPr>
            <a:r>
              <a:rPr lang="en-US" sz="1050">
                <a:solidFill>
                  <a:srgbClr val="FFFFFF">
                    <a:alpha val="70000"/>
                  </a:srgbClr>
                </a:solidFill>
                <a:latin typeface="Source Han Sans SC"/>
                <a:ea typeface="Source Han Sans SC"/>
              </a:rPr>
              <a:t>Models faithfully learn — and amplify — every flaw in the data.</a:t>
            </a:r>
            <a:endParaRPr/>
          </a:p>
        </p:txBody>
      </p:sp>
      <p:sp>
        <p:nvSpPr>
          <p:cNvPr id="561" name=""/>
          <p:cNvSpPr/>
          <p:nvPr/>
        </p:nvSpPr>
        <p:spPr>
          <a:xfrm rot="0" flipH="0" flipV="0">
            <a:off x="4038600" y="3743325"/>
            <a:ext cx="3619500" cy="733425"/>
          </a:xfrm>
          <a:prstGeom prst="roundRect">
            <a:avLst>
              <a:gd name="adj" fmla="val 12987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p/>
        </p:txBody>
      </p:sp>
      <p:sp>
        <p:nvSpPr>
          <p:cNvPr id="562" name="" descr="{&quot;isTemplate&quot;:true,&quot;type&quot;:&quot;text&quot;}"/>
          <p:cNvSpPr txBox="1"/>
          <p:nvPr/>
        </p:nvSpPr>
        <p:spPr>
          <a:xfrm rot="0" flipH="0" flipV="0">
            <a:off x="4210050" y="3876675"/>
            <a:ext cx="3276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C107"/>
                </a:solidFill>
                <a:latin typeface="Source Han Sans SC"/>
                <a:ea typeface="Source Han Sans SC"/>
              </a:rPr>
              <a:t>坏数据</a:t>
            </a:r>
            <a:r>
              <a:rPr lang="en-US" sz="1125" b="1">
                <a:solidFill>
                  <a:srgbClr val="FFC107"/>
                </a:solidFill>
                <a:latin typeface="Source Han Sans SC"/>
                <a:ea typeface="Source Han Sans SC"/>
              </a:rPr>
              <a:t> → </a:t>
            </a:r>
            <a:r>
              <a:rPr lang="zh-CN" sz="1125" b="1">
                <a:solidFill>
                  <a:srgbClr val="FFC107"/>
                </a:solidFill>
                <a:latin typeface="Source Han Sans SC"/>
                <a:ea typeface="Source Han Sans SC"/>
              </a:rPr>
              <a:t>好算法</a:t>
            </a:r>
            <a:endParaRPr/>
          </a:p>
        </p:txBody>
      </p:sp>
      <p:sp>
        <p:nvSpPr>
          <p:cNvPr id="563" name="" descr="{&quot;isTemplate&quot;:true,&quot;type&quot;:&quot;text&quot;}"/>
          <p:cNvSpPr txBox="1"/>
          <p:nvPr/>
        </p:nvSpPr>
        <p:spPr>
          <a:xfrm rot="0" flipH="0" flipV="0">
            <a:off x="4210050" y="4086225"/>
            <a:ext cx="32766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换十个模型也救不回来，指标会一直「莫名」上不去。</a:t>
            </a:r>
            <a:endParaRPr/>
          </a:p>
        </p:txBody>
      </p:sp>
      <p:sp>
        <p:nvSpPr>
          <p:cNvPr id="564" name=""/>
          <p:cNvSpPr/>
          <p:nvPr/>
        </p:nvSpPr>
        <p:spPr>
          <a:xfrm rot="0" flipH="0" flipV="0">
            <a:off x="7772400" y="3743325"/>
            <a:ext cx="3619500" cy="733425"/>
          </a:xfrm>
          <a:prstGeom prst="roundRect">
            <a:avLst>
              <a:gd name="adj" fmla="val 12987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p/>
        </p:txBody>
      </p:sp>
      <p:sp>
        <p:nvSpPr>
          <p:cNvPr id="565" name="" descr="{&quot;isTemplate&quot;:true,&quot;type&quot;:&quot;text&quot;}"/>
          <p:cNvSpPr txBox="1"/>
          <p:nvPr/>
        </p:nvSpPr>
        <p:spPr>
          <a:xfrm rot="0" flipH="0" flipV="0">
            <a:off x="7943850" y="3876675"/>
            <a:ext cx="3276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C107"/>
                </a:solidFill>
                <a:latin typeface="Source Han Sans SC"/>
                <a:ea typeface="Source Han Sans SC"/>
              </a:rPr>
              <a:t>好数据</a:t>
            </a:r>
            <a:r>
              <a:rPr lang="en-US" sz="1125" b="1">
                <a:solidFill>
                  <a:srgbClr val="FFC107"/>
                </a:solidFill>
                <a:latin typeface="Source Han Sans SC"/>
                <a:ea typeface="Source Han Sans SC"/>
              </a:rPr>
              <a:t> → </a:t>
            </a:r>
            <a:r>
              <a:rPr lang="zh-CN" sz="1125" b="1">
                <a:solidFill>
                  <a:srgbClr val="FFC107"/>
                </a:solidFill>
                <a:latin typeface="Source Han Sans SC"/>
                <a:ea typeface="Source Han Sans SC"/>
              </a:rPr>
              <a:t>简单模型</a:t>
            </a:r>
            <a:endParaRPr/>
          </a:p>
        </p:txBody>
      </p:sp>
      <p:sp>
        <p:nvSpPr>
          <p:cNvPr id="566" name="" descr="{&quot;isTemplate&quot;:true,&quot;type&quot;:&quot;text&quot;}"/>
          <p:cNvSpPr txBox="1"/>
          <p:nvPr/>
        </p:nvSpPr>
        <p:spPr>
          <a:xfrm rot="0" flipH="0" flipV="0">
            <a:off x="7943850" y="4086225"/>
            <a:ext cx="32766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清洗好的数据上，逻辑回归也常常打赢深度网络。</a:t>
            </a:r>
            <a:endParaRPr/>
          </a:p>
        </p:txBody>
      </p:sp>
      <p:sp>
        <p:nvSpPr>
          <p:cNvPr id="567" name=""/>
          <p:cNvSpPr/>
          <p:nvPr/>
        </p:nvSpPr>
        <p:spPr>
          <a:xfrm rot="0" flipH="0" flipV="0">
            <a:off x="4038600" y="4705350"/>
            <a:ext cx="7353300" cy="1009650"/>
          </a:xfrm>
          <a:prstGeom prst="roundRect">
            <a:avLst>
              <a:gd name="adj" fmla="val 11321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p/>
        </p:txBody>
      </p:sp>
      <p:sp>
        <p:nvSpPr>
          <p:cNvPr id="568" name="" descr="{&quot;isTemplate&quot;:true,&quot;type&quot;:&quot;text&quot;}"/>
          <p:cNvSpPr txBox="1"/>
          <p:nvPr/>
        </p:nvSpPr>
        <p:spPr>
          <a:xfrm rot="0" flipH="0" flipV="0">
            <a:off x="4248150" y="4876800"/>
            <a:ext cx="693420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75" b="1">
                <a:solidFill>
                  <a:srgbClr val="FFC107"/>
                </a:solidFill>
                <a:latin typeface="Source Han Sans SC"/>
                <a:ea typeface="Source Han Sans SC"/>
              </a:rPr>
              <a:t>数据质量是模型上限</a:t>
            </a:r>
            <a:r>
              <a:rPr lang="zh-CN" sz="1275">
                <a:solidFill>
                  <a:srgbClr val="FFFFFF"/>
                </a:solidFill>
                <a:latin typeface="Source Han Sans SC"/>
                <a:ea typeface="Source Han Sans SC"/>
              </a:rPr>
              <a:t>，</a:t>
            </a:r>
            <a:r>
              <a:rPr lang="en-US" sz="1275">
                <a:solidFill>
                  <a:srgbClr val="FFFFFF"/>
                </a:solidFill>
                <a:latin typeface="Source Han Sans SC"/>
                <a:ea typeface="Source Han Sans SC"/>
              </a:rPr>
              <a:t> </a:t>
            </a:r>
            <a:r>
              <a:rPr lang="zh-CN" sz="1275">
                <a:solidFill>
                  <a:srgbClr val="FFFFFF"/>
                </a:solidFill>
                <a:latin typeface="Source Han Sans SC"/>
                <a:ea typeface="Source Han Sans SC"/>
              </a:rPr>
              <a:t>算法只是逼近这个上限的速度——所以本周的清洗功夫，比下周的任何调参技巧都值钱。</a:t>
            </a:r>
            <a:endParaRPr/>
          </a:p>
        </p:txBody>
      </p:sp>
      <p:sp>
        <p:nvSpPr>
          <p:cNvPr id="569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FFFFFF">
                    <a:alpha val="60000"/>
                  </a:srgbClr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570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>
                    <a:alpha val="90000"/>
                  </a:srgbClr>
                </a:solidFill>
                <a:latin typeface="Source Han Sans SC"/>
                <a:ea typeface="Source Han Sans SC"/>
              </a:rPr>
              <a:t>22 / 32</a:t>
            </a:r>
            <a:endParaRPr/>
          </a:p>
        </p:txBody>
      </p:sp>
    </p:spTree>
  </p:cSld>
</p:sld>
</file>

<file path=ppt/slides/slide23.xml><?xml version="1.0" encoding="utf-8"?>
<p:sld xmlns:a="http://schemas.openxmlformats.org/drawingml/2006/main" xmlns:p="http://schemas.openxmlformats.org/presentationml/2006/main">
  <p:cSld>
    <p:spTree>
      <p:nvGrpSpPr>
        <p:cNvPr id="571" name="" descr="&lt;Slide style={{ width: '1280px', height: '720px', background: '#F7F9FC', padding: '0px', position: 'relative', overflow: 'hidden', fontFamily: 'Source Han Sans SC, PingFang SC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5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5&lt;/Text&gt;&#10;      &lt;/Box&gt;&#10;      &lt;Box style={{ paddingTop: 6 }}&gt;&#10;        &lt;Text style={{ fontSize: 44, color: '#1A2230', fontWeight: 'bold' }}&gt;Lab · Titanic 数据实战&lt;/Text&gt;&#10;        &lt;Text style={{ fontSize: 26, color: '#8B97A8', fontWeight: '600', marginTop: 6 }}&gt;Hands-On: The Titanic Dataset&lt;/Text&gt;&#10;      &lt;/Box&gt;&#10;    &lt;/Box&gt;&#10;    &lt;Box style={{ flexDirection: 'row', gap: 24 }}&gt;&#10;      {[&#10;        { t: '四段任务', e: '4 Missions · 75 min' },&#10;        { t: '每步留痕', e: 'Document Every Step' },&#10;        { t: '课末小测', e: 'Quiz at the End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73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74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Source Han Sans SC"/>
                <a:ea typeface="Source Han Sans SC"/>
              </a:rPr>
              <a:t>05</a:t>
            </a:r>
            <a:endParaRPr/>
          </a:p>
        </p:txBody>
      </p:sp>
      <p:sp>
        <p:nvSpPr>
          <p:cNvPr id="575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76" name="" descr="{&quot;isTemplate&quot;:true,&quot;type&quot;:&quot;text&quot;}"/>
          <p:cNvSpPr txBox="1"/>
          <p:nvPr/>
        </p:nvSpPr>
        <p:spPr>
          <a:xfrm rot="0" flipH="0" flipV="0">
            <a:off x="1123950" y="1314450"/>
            <a:ext cx="71437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Source Han Sans SC"/>
                <a:ea typeface="Source Han Sans SC"/>
              </a:rPr>
              <a:t>05</a:t>
            </a:r>
            <a:endParaRPr/>
          </a:p>
        </p:txBody>
      </p:sp>
      <p:sp>
        <p:nvSpPr>
          <p:cNvPr id="577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44100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A2230"/>
                </a:solidFill>
                <a:latin typeface="Source Han Sans SC"/>
                <a:ea typeface="Source Han Sans SC"/>
              </a:rPr>
              <a:t>Lab · Titanic </a:t>
            </a:r>
            <a:r>
              <a:rPr lang="zh-CN" sz="3300" b="1">
                <a:solidFill>
                  <a:srgbClr val="1A2230"/>
                </a:solidFill>
                <a:latin typeface="Source Han Sans SC"/>
                <a:ea typeface="Source Han Sans SC"/>
              </a:rPr>
              <a:t>数据实战</a:t>
            </a:r>
            <a:endParaRPr/>
          </a:p>
        </p:txBody>
      </p:sp>
      <p:sp>
        <p:nvSpPr>
          <p:cNvPr id="578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44100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Source Han Sans SC"/>
                <a:ea typeface="Source Han Sans SC"/>
              </a:rPr>
              <a:t>Hands-On: The Titanic Dataset</a:t>
            </a:r>
            <a:endParaRPr/>
          </a:p>
        </p:txBody>
      </p:sp>
      <p:sp>
        <p:nvSpPr>
          <p:cNvPr id="579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80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81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四段任务</a:t>
            </a:r>
            <a:endParaRPr/>
          </a:p>
        </p:txBody>
      </p:sp>
      <p:sp>
        <p:nvSpPr>
          <p:cNvPr id="582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4 Missions · 75 min</a:t>
            </a:r>
            <a:endParaRPr/>
          </a:p>
        </p:txBody>
      </p:sp>
      <p:sp>
        <p:nvSpPr>
          <p:cNvPr id="583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84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85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每步留痕</a:t>
            </a:r>
            <a:endParaRPr/>
          </a:p>
        </p:txBody>
      </p:sp>
      <p:sp>
        <p:nvSpPr>
          <p:cNvPr id="586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Document Every Step</a:t>
            </a:r>
            <a:endParaRPr/>
          </a:p>
        </p:txBody>
      </p:sp>
      <p:sp>
        <p:nvSpPr>
          <p:cNvPr id="587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88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89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课末小测</a:t>
            </a:r>
            <a:endParaRPr/>
          </a:p>
        </p:txBody>
      </p:sp>
      <p:sp>
        <p:nvSpPr>
          <p:cNvPr id="590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Quiz at the End</a:t>
            </a:r>
            <a:endParaRPr/>
          </a:p>
        </p:txBody>
      </p:sp>
    </p:spTree>
  </p:cSld>
</p:sld>
</file>

<file path=ppt/slides/slide2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91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总览 · 75 分钟四段任务&lt;/Text&gt;&#10;    &lt;Text style={{ fontSize: 15, color: 'rgba(255,255,255,0.85)' }}&gt;Module 1 · Week 2&lt;/Text&gt;&#10;  &lt;/Box&gt;&#10;  &lt;Box style={{ position: 'absolute', top: 100, left: 0, width: '100%', height: 540, padding: '16px 84px', flexDirection: 'column' }}&gt;&#10;    &lt;Box style={{ flexDirection: 'row', gap: 12, alignItems: 'stretch' }}&gt;&#10;      {[&#10;        { n: 'A', t: 'NumPy 热身', m: '10 min', d: '创建 · 切片 · 广播小练', c: '#3D7BD9', i: 'calculator' },&#10;        { n: 'B', t: 'Pandas 探索', m: '25 min', d: '加载 titanic.csv 走 EDA 五步', c: '#1E4FA8', i: 'search' },&#10;        { n: 'C', t: '可视化', m: '20 min', d: '三张图回答三个问题', c: '#0E3F8C', i: 'chart-bar' },&#10;        { n: 'D', t: '清洗实战', m: '15 min', d: '缺失 · 异常 · 重复全处理', c: '#1E4FA8', i: 'broom' },&#10;        { n: 'E', t: '收尾提交', m: '5 min', d: '核对清单 · Git 推送', c: '#3D7BD9', i: 'upload' },&#10;      ].map((s, i) =&gt; (&#10;        &lt;Box key={i} style={{ flex: 1, position: 'relative' }}&gt;&#10;          &lt;Box style={{ background: '#F7F9FC', border: '1px solid #D6DCE5', borderTop: '4px solid ' + s.c, borderRadius: 12, padding: '14px 12px', height: 200, justifyContent: 'space-between' }}&gt;&#10;            &lt;Box style={{ flexDirection: 'row', alignItems: 'center', justifyContent: 'space-between' }}&gt;&#10;              &lt;Box style={{ width: 34, height: 34, borderRadius: 9, background: s.c, justifyContent: 'center', alignItems: 'center' }}&gt;&#10;                &lt;Text style={{ fontSize: 16, color: '#FFFFFF', fontWeight: 'bold' }}&gt;{s.n}&lt;/Text&gt;&#10;              &lt;/Box&gt;&#10;              &lt;Box style={{ background: '#F0F5FC', borderRadius: 8, padding: '3px 9px' }}&gt;&#10;                &lt;Text style={{ fontSize: 12.5, color: s.c, fontWeight: 'bold' }}&gt;{s.m}&lt;/Text&gt;&#10;              &lt;/Box&gt;&#10;            &lt;/Box&gt;&#10;            &lt;Box&gt;&#10;              &lt;FAIcon name={s.i} style={{ fill: s.c, width: 24, height: 24 }} /&gt;&#10;              &lt;Text style={{ fontSize: 17, color: '#1A2230', fontWeight: 'bold', marginTop: 6 }}&gt;{s.t}&lt;/Text&gt;&#10;              &lt;Text style={{ fontSize: 12.5, color: '#4A5568', marginTop: 3, lineHeight: 1.45 }}&gt;{s.d}&lt;/Text&gt;&#10;            &lt;/Box&gt;&#10;          &lt;/Box&gt;&#10;          {i &lt; 4 &amp;&amp; (&#10;            &lt;Box style={{ position: 'absolute', right: -12, top: 88, zIndex: 2 }}&gt;&#10;              &lt;FAIcon name='arrow-right' style={{ fill: '#3D7BD9', width: 17, height: 17 }} /&gt;&#10;            &lt;/Box&gt;&#10;          )}&#10;        &lt;/Box&gt;&#10;      ))}&#10;    &lt;/Box&gt;&#10;    &lt;Box style={{ flexDirection: 'row', gap: 16, marginTop: 18, flex: 1 }}&gt;&#10;      &lt;Box style={{ flex: 1, background: '#F0F5FC', border: '1px solid #D6DCE5', borderRadius: 12, padding: '16px 22px' }}&gt;&#10;        &lt;Text style={{ fontSize: 16, color: '#0E3F8C', fontWeight: 'bold', marginBottom: 8 }}&gt;环境与数据 · Environment&lt;/Text&gt;&#10;        &lt;Text style={{ fontSize: 14, color: '#4A5568', lineHeight: 1.75 }}&gt;&#10;          conda activate &lt;span style={{ fontFamily: 'Consolas, Menlo, monospace', color: '#1E4FA8' }}&gt;ai-app&lt;/span&gt;（上周已建）·&#10;          数据 titanic.csv 已放课程平台 · 新建 notebook &lt;span style={{ fontFamily: 'Consolas, Menlo, monospace', color: '#1E4FA8' }}&gt;lab02_eda.ipynb&lt;/span&gt;&#10;        &lt;/Text&gt;&#10;      &lt;/Box&gt;&#10;      &lt;Box style={{ flex: 1, background: '#0E3F8C', borderRadius: 12, padding: '16px 22px' }}&gt;&#10;        &lt;Text style={{ fontSize: 16, color: '#FFFFFF', fontWeight: 'bold', marginBottom: 8 }}&gt;规则 · Lab Rules&lt;/Text&gt;&#10;        {['卡住先看报错最后一行，再问邻座，再举手', '每个任务一个 Markdown 小标题', '结果不唯一——推理过程比答案值钱'].map((t, i) =&gt; (&#10;          &lt;Box key={i} style={{ flexDirection: 'row', gap: 8, alignItems: 'flex-start', marginBottom: 5 }}&gt;&#10;            &lt;Text style={{ fontSize: 13, color: '#FFC107', fontWeight: 'bold', marginTop: 1 }}&gt;{i + 1}.&lt;/Text&gt;&#10;            &lt;Text style={{ fontSize: 13.5, color: 'rgba(255,255,255,0.92)', lineHeight: 1.5 }}&gt;{t}&lt;/Text&gt;&#10;          &lt;/Box&gt;&#10;        ))}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4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93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94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6765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Lab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总览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75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分钟四段任务</a:t>
            </a:r>
            <a:endParaRPr/>
          </a:p>
        </p:txBody>
      </p:sp>
      <p:sp>
        <p:nvSpPr>
          <p:cNvPr id="595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596" name=""/>
          <p:cNvSpPr/>
          <p:nvPr/>
        </p:nvSpPr>
        <p:spPr>
          <a:xfrm rot="0" flipH="0" flipV="0">
            <a:off x="800100" y="3860813"/>
            <a:ext cx="5219700" cy="1480724"/>
          </a:xfrm>
          <a:prstGeom prst="roundRect">
            <a:avLst>
              <a:gd name="adj" fmla="val 413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97" name="" descr="{&quot;isTemplate&quot;:true,&quot;type&quot;:&quot;text&quot;}"/>
          <p:cNvSpPr txBox="1"/>
          <p:nvPr/>
        </p:nvSpPr>
        <p:spPr>
          <a:xfrm rot="0" flipH="0" flipV="0">
            <a:off x="1009650" y="4013213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E3F8C"/>
                </a:solidFill>
                <a:latin typeface="Source Han Sans SC"/>
                <a:ea typeface="Source Han Sans SC"/>
              </a:rPr>
              <a:t>环境与数据</a:t>
            </a:r>
            <a:r>
              <a:rPr lang="en-US" sz="1200" b="1">
                <a:solidFill>
                  <a:srgbClr val="0E3F8C"/>
                </a:solidFill>
                <a:latin typeface="Source Han Sans SC"/>
                <a:ea typeface="Source Han Sans SC"/>
              </a:rPr>
              <a:t> · Environment</a:t>
            </a:r>
            <a:endParaRPr/>
          </a:p>
        </p:txBody>
      </p:sp>
      <p:sp>
        <p:nvSpPr>
          <p:cNvPr id="598" name="" descr="{&quot;isTemplate&quot;:true,&quot;type&quot;:&quot;text&quot;}"/>
          <p:cNvSpPr txBox="1"/>
          <p:nvPr/>
        </p:nvSpPr>
        <p:spPr>
          <a:xfrm rot="0" flipH="0" flipV="0">
            <a:off x="1009650" y="4279913"/>
            <a:ext cx="4800600" cy="5619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conda activate </a:t>
            </a:r>
            <a:r>
              <a:rPr lang="en-US" sz="1050">
                <a:solidFill>
                  <a:srgbClr val="1E4FA8"/>
                </a:solidFill>
                <a:latin typeface="Source Han Sans SC"/>
                <a:ea typeface="Source Han Sans SC"/>
              </a:rPr>
              <a:t>ai-app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（上周已建）·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数据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titanic.csv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已放课程平台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新建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notebook </a:t>
            </a:r>
            <a:r>
              <a:rPr lang="en-US" sz="1050">
                <a:solidFill>
                  <a:srgbClr val="1E4FA8"/>
                </a:solidFill>
                <a:latin typeface="Source Han Sans SC"/>
                <a:ea typeface="Source Han Sans SC"/>
              </a:rPr>
              <a:t>lab02_eda.ipynb</a:t>
            </a:r>
            <a:endParaRPr/>
          </a:p>
        </p:txBody>
      </p:sp>
      <p:sp>
        <p:nvSpPr>
          <p:cNvPr id="599" name=""/>
          <p:cNvSpPr/>
          <p:nvPr/>
        </p:nvSpPr>
        <p:spPr>
          <a:xfrm rot="0" flipH="0" flipV="0">
            <a:off x="6172200" y="3860813"/>
            <a:ext cx="5219700" cy="1480724"/>
          </a:xfrm>
          <a:prstGeom prst="roundRect">
            <a:avLst>
              <a:gd name="adj" fmla="val 4138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00" name="" descr="{&quot;isTemplate&quot;:true,&quot;type&quot;:&quot;text&quot;}"/>
          <p:cNvSpPr txBox="1"/>
          <p:nvPr/>
        </p:nvSpPr>
        <p:spPr>
          <a:xfrm rot="0" flipH="0" flipV="0">
            <a:off x="6381750" y="4013213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Source Han Sans SC"/>
                <a:ea typeface="Source Han Sans SC"/>
              </a:rPr>
              <a:t>规则</a:t>
            </a:r>
            <a:r>
              <a:rPr lang="en-US" sz="1200" b="1">
                <a:solidFill>
                  <a:srgbClr val="FFFFFF"/>
                </a:solidFill>
                <a:latin typeface="Source Han Sans SC"/>
                <a:ea typeface="Source Han Sans SC"/>
              </a:rPr>
              <a:t> · Lab Rules</a:t>
            </a:r>
            <a:endParaRPr/>
          </a:p>
        </p:txBody>
      </p:sp>
      <p:sp>
        <p:nvSpPr>
          <p:cNvPr id="601" name="" descr="{&quot;isTemplate&quot;:true,&quot;type&quot;:&quot;text&quot;}"/>
          <p:cNvSpPr txBox="1"/>
          <p:nvPr/>
        </p:nvSpPr>
        <p:spPr>
          <a:xfrm rot="0" flipH="0" flipV="0">
            <a:off x="6381750" y="4289438"/>
            <a:ext cx="857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C107"/>
                </a:solidFill>
                <a:latin typeface="Source Han Sans SC"/>
                <a:ea typeface="Source Han Sans SC"/>
              </a:rPr>
              <a:t>1</a:t>
            </a:r>
            <a:r>
              <a:rPr lang="en-US" sz="975" b="1">
                <a:solidFill>
                  <a:srgbClr val="FFC107"/>
                </a:solidFill>
                <a:latin typeface="Source Han Sans SC"/>
                <a:ea typeface="Source Han Sans SC"/>
              </a:rPr>
              <a:t>.</a:t>
            </a:r>
            <a:endParaRPr/>
          </a:p>
        </p:txBody>
      </p:sp>
      <p:sp>
        <p:nvSpPr>
          <p:cNvPr id="602" name="" descr="{&quot;isTemplate&quot;:true,&quot;type&quot;:&quot;text&quot;}"/>
          <p:cNvSpPr txBox="1"/>
          <p:nvPr/>
        </p:nvSpPr>
        <p:spPr>
          <a:xfrm rot="0" flipH="0" flipV="0">
            <a:off x="6543675" y="4279913"/>
            <a:ext cx="2447925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13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卡住先看报错最后一行，再问邻座，再举手</a:t>
            </a:r>
            <a:endParaRPr/>
          </a:p>
        </p:txBody>
      </p:sp>
      <p:sp>
        <p:nvSpPr>
          <p:cNvPr id="603" name="" descr="{&quot;isTemplate&quot;:true,&quot;type&quot;:&quot;text&quot;}"/>
          <p:cNvSpPr txBox="1"/>
          <p:nvPr/>
        </p:nvSpPr>
        <p:spPr>
          <a:xfrm rot="0" flipH="0" flipV="0">
            <a:off x="6381750" y="4575188"/>
            <a:ext cx="114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C107"/>
                </a:solidFill>
                <a:latin typeface="Source Han Sans SC"/>
                <a:ea typeface="Source Han Sans SC"/>
              </a:rPr>
              <a:t>2</a:t>
            </a:r>
            <a:r>
              <a:rPr lang="en-US" sz="975" b="1">
                <a:solidFill>
                  <a:srgbClr val="FFC107"/>
                </a:solidFill>
                <a:latin typeface="Source Han Sans SC"/>
                <a:ea typeface="Source Han Sans SC"/>
              </a:rPr>
              <a:t>.</a:t>
            </a:r>
            <a:endParaRPr/>
          </a:p>
        </p:txBody>
      </p:sp>
      <p:sp>
        <p:nvSpPr>
          <p:cNvPr id="604" name="" descr="{&quot;isTemplate&quot;:true,&quot;type&quot;:&quot;text&quot;}"/>
          <p:cNvSpPr txBox="1"/>
          <p:nvPr/>
        </p:nvSpPr>
        <p:spPr>
          <a:xfrm rot="0" flipH="0" flipV="0">
            <a:off x="6572250" y="4565663"/>
            <a:ext cx="18669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13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每个任务一个</a:t>
            </a:r>
            <a:r>
              <a:rPr lang="en-US" sz="1013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 Markdown </a:t>
            </a:r>
            <a:r>
              <a:rPr lang="zh-CN" sz="1013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小标题</a:t>
            </a:r>
            <a:endParaRPr/>
          </a:p>
        </p:txBody>
      </p:sp>
      <p:sp>
        <p:nvSpPr>
          <p:cNvPr id="605" name="" descr="{&quot;isTemplate&quot;:true,&quot;type&quot;:&quot;text&quot;}"/>
          <p:cNvSpPr txBox="1"/>
          <p:nvPr/>
        </p:nvSpPr>
        <p:spPr>
          <a:xfrm rot="0" flipH="0" flipV="0">
            <a:off x="6381750" y="4860938"/>
            <a:ext cx="114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C107"/>
                </a:solidFill>
                <a:latin typeface="Source Han Sans SC"/>
                <a:ea typeface="Source Han Sans SC"/>
              </a:rPr>
              <a:t>3</a:t>
            </a:r>
            <a:r>
              <a:rPr lang="en-US" sz="975" b="1">
                <a:solidFill>
                  <a:srgbClr val="FFC107"/>
                </a:solidFill>
                <a:latin typeface="Source Han Sans SC"/>
                <a:ea typeface="Source Han Sans SC"/>
              </a:rPr>
              <a:t>.</a:t>
            </a:r>
            <a:endParaRPr/>
          </a:p>
        </p:txBody>
      </p:sp>
      <p:sp>
        <p:nvSpPr>
          <p:cNvPr id="606" name="" descr="{&quot;isTemplate&quot;:true,&quot;type&quot;:&quot;text&quot;}"/>
          <p:cNvSpPr txBox="1"/>
          <p:nvPr/>
        </p:nvSpPr>
        <p:spPr>
          <a:xfrm rot="0" flipH="0" flipV="0">
            <a:off x="6572250" y="4851413"/>
            <a:ext cx="20574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13">
                <a:solidFill>
                  <a:srgbClr val="FFFFFF">
                    <a:alpha val="92000"/>
                  </a:srgbClr>
                </a:solidFill>
                <a:latin typeface="Source Han Sans SC"/>
                <a:ea typeface="Source Han Sans SC"/>
              </a:rPr>
              <a:t>结果不唯一——推理过程比答案值钱</a:t>
            </a:r>
            <a:endParaRPr/>
          </a:p>
        </p:txBody>
      </p:sp>
      <p:sp>
        <p:nvSpPr>
          <p:cNvPr id="607" name=""/>
          <p:cNvSpPr/>
          <p:nvPr/>
        </p:nvSpPr>
        <p:spPr>
          <a:xfrm rot="0" flipH="0" flipV="0">
            <a:off x="800100" y="1822463"/>
            <a:ext cx="2028825" cy="1866900"/>
          </a:xfrm>
          <a:prstGeom prst="roundRect">
            <a:avLst>
              <a:gd name="adj" fmla="val 612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08" name=""/>
          <p:cNvSpPr/>
          <p:nvPr/>
        </p:nvSpPr>
        <p:spPr>
          <a:xfrm rot="0" flipH="0" flipV="0">
            <a:off x="800100" y="1822463"/>
            <a:ext cx="2028825" cy="1866900"/>
          </a:xfrm>
          <a:custGeom>
            <a:pathLst>
              <a:path w="213" h="19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609" name=""/>
          <p:cNvSpPr/>
          <p:nvPr/>
        </p:nvSpPr>
        <p:spPr>
          <a:xfrm rot="0" flipH="0" flipV="0">
            <a:off x="914400" y="1955813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10" name="" descr="{&quot;isTemplate&quot;:true,&quot;type&quot;:&quot;text&quot;}"/>
          <p:cNvSpPr txBox="1"/>
          <p:nvPr/>
        </p:nvSpPr>
        <p:spPr>
          <a:xfrm rot="0" flipH="0" flipV="0">
            <a:off x="1028700" y="2022488"/>
            <a:ext cx="1047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SC"/>
                <a:ea typeface="Source Han Sans SC"/>
              </a:rPr>
              <a:t>A</a:t>
            </a:r>
            <a:endParaRPr/>
          </a:p>
        </p:txBody>
      </p:sp>
      <p:sp>
        <p:nvSpPr>
          <p:cNvPr id="611" name=""/>
          <p:cNvSpPr/>
          <p:nvPr/>
        </p:nvSpPr>
        <p:spPr>
          <a:xfrm rot="0" flipH="0" flipV="0">
            <a:off x="2171700" y="2022488"/>
            <a:ext cx="542925" cy="200025"/>
          </a:xfrm>
          <a:prstGeom prst="roundRect">
            <a:avLst>
              <a:gd name="adj" fmla="val 3809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12" name="" descr="{&quot;isTemplate&quot;:true,&quot;type&quot;:&quot;text&quot;}"/>
          <p:cNvSpPr txBox="1"/>
          <p:nvPr/>
        </p:nvSpPr>
        <p:spPr>
          <a:xfrm rot="0" flipH="0" flipV="0">
            <a:off x="2257425" y="2051063"/>
            <a:ext cx="3714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3D7BD9"/>
                </a:solidFill>
                <a:latin typeface="Source Han Sans SC"/>
                <a:ea typeface="Source Han Sans SC"/>
              </a:rPr>
              <a:t>10 min</a:t>
            </a:r>
            <a:endParaRPr/>
          </a:p>
        </p:txBody>
      </p:sp>
      <p:pic>
        <p:nvPicPr>
          <p:cNvPr id="61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14400" y="2832113"/>
            <a:ext cx="228600" cy="228600"/>
          </a:xfrm>
          <a:prstGeom prst="rect">
            <a:avLst/>
          </a:prstGeom>
          <a:ln/>
        </p:spPr>
      </p:pic>
      <p:sp>
        <p:nvSpPr>
          <p:cNvPr id="614" name="" descr="{&quot;isTemplate&quot;:true,&quot;type&quot;:&quot;text&quot;}"/>
          <p:cNvSpPr txBox="1"/>
          <p:nvPr/>
        </p:nvSpPr>
        <p:spPr>
          <a:xfrm rot="0" flipH="0" flipV="0">
            <a:off x="914400" y="3117863"/>
            <a:ext cx="18002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NumPy </a:t>
            </a: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热身</a:t>
            </a:r>
            <a:endParaRPr/>
          </a:p>
        </p:txBody>
      </p:sp>
      <p:sp>
        <p:nvSpPr>
          <p:cNvPr id="615" name="" descr="{&quot;isTemplate&quot;:true,&quot;type&quot;:&quot;text&quot;}"/>
          <p:cNvSpPr txBox="1"/>
          <p:nvPr/>
        </p:nvSpPr>
        <p:spPr>
          <a:xfrm rot="0" flipH="0" flipV="0">
            <a:off x="914400" y="3346463"/>
            <a:ext cx="1800225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938">
                <a:solidFill>
                  <a:srgbClr val="4A5568"/>
                </a:solidFill>
                <a:latin typeface="Source Han Sans SC"/>
                <a:ea typeface="Source Han Sans SC"/>
              </a:rPr>
              <a:t>创建</a:t>
            </a:r>
            <a:r>
              <a:rPr lang="en-US" sz="938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938">
                <a:solidFill>
                  <a:srgbClr val="4A5568"/>
                </a:solidFill>
                <a:latin typeface="Source Han Sans SC"/>
                <a:ea typeface="Source Han Sans SC"/>
              </a:rPr>
              <a:t>切片</a:t>
            </a:r>
            <a:r>
              <a:rPr lang="en-US" sz="938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938">
                <a:solidFill>
                  <a:srgbClr val="4A5568"/>
                </a:solidFill>
                <a:latin typeface="Source Han Sans SC"/>
                <a:ea typeface="Source Han Sans SC"/>
              </a:rPr>
              <a:t>广播小练</a:t>
            </a:r>
            <a:endParaRPr/>
          </a:p>
        </p:txBody>
      </p:sp>
      <p:sp>
        <p:nvSpPr>
          <p:cNvPr id="616" name=""/>
          <p:cNvSpPr/>
          <p:nvPr/>
        </p:nvSpPr>
        <p:spPr>
          <a:xfrm rot="0" flipH="0" flipV="0">
            <a:off x="2943225" y="1822463"/>
            <a:ext cx="2028825" cy="1866900"/>
          </a:xfrm>
          <a:prstGeom prst="roundRect">
            <a:avLst>
              <a:gd name="adj" fmla="val 612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17" name=""/>
          <p:cNvSpPr/>
          <p:nvPr/>
        </p:nvSpPr>
        <p:spPr>
          <a:xfrm rot="0" flipH="0" flipV="0">
            <a:off x="2943225" y="1822463"/>
            <a:ext cx="2028825" cy="1866900"/>
          </a:xfrm>
          <a:custGeom>
            <a:pathLst>
              <a:path w="213" h="19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18" name=""/>
          <p:cNvSpPr/>
          <p:nvPr/>
        </p:nvSpPr>
        <p:spPr>
          <a:xfrm rot="0" flipH="0" flipV="0">
            <a:off x="3057525" y="1955813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19" name="" descr="{&quot;isTemplate&quot;:true,&quot;type&quot;:&quot;text&quot;}"/>
          <p:cNvSpPr txBox="1"/>
          <p:nvPr/>
        </p:nvSpPr>
        <p:spPr>
          <a:xfrm rot="0" flipH="0" flipV="0">
            <a:off x="3162300" y="2022488"/>
            <a:ext cx="114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SC"/>
                <a:ea typeface="Source Han Sans SC"/>
              </a:rPr>
              <a:t>B</a:t>
            </a:r>
            <a:endParaRPr/>
          </a:p>
        </p:txBody>
      </p:sp>
      <p:sp>
        <p:nvSpPr>
          <p:cNvPr id="620" name=""/>
          <p:cNvSpPr/>
          <p:nvPr/>
        </p:nvSpPr>
        <p:spPr>
          <a:xfrm rot="0" flipH="0" flipV="0">
            <a:off x="4295775" y="2022488"/>
            <a:ext cx="561975" cy="200025"/>
          </a:xfrm>
          <a:prstGeom prst="roundRect">
            <a:avLst>
              <a:gd name="adj" fmla="val 3809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21" name="" descr="{&quot;isTemplate&quot;:true,&quot;type&quot;:&quot;text&quot;}"/>
          <p:cNvSpPr txBox="1"/>
          <p:nvPr/>
        </p:nvSpPr>
        <p:spPr>
          <a:xfrm rot="0" flipH="0" flipV="0">
            <a:off x="4381500" y="2051063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Source Han Sans SC"/>
                <a:ea typeface="Source Han Sans SC"/>
              </a:rPr>
              <a:t>25 min</a:t>
            </a:r>
            <a:endParaRPr/>
          </a:p>
        </p:txBody>
      </p:sp>
      <p:pic>
        <p:nvPicPr>
          <p:cNvPr id="62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057525" y="2832113"/>
            <a:ext cx="228600" cy="228600"/>
          </a:xfrm>
          <a:prstGeom prst="rect">
            <a:avLst/>
          </a:prstGeom>
          <a:ln/>
        </p:spPr>
      </p:pic>
      <p:sp>
        <p:nvSpPr>
          <p:cNvPr id="623" name="" descr="{&quot;isTemplate&quot;:true,&quot;type&quot;:&quot;text&quot;}"/>
          <p:cNvSpPr txBox="1"/>
          <p:nvPr/>
        </p:nvSpPr>
        <p:spPr>
          <a:xfrm rot="0" flipH="0" flipV="0">
            <a:off x="3057525" y="3117863"/>
            <a:ext cx="18002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Pandas </a:t>
            </a: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探索</a:t>
            </a:r>
            <a:endParaRPr/>
          </a:p>
        </p:txBody>
      </p:sp>
      <p:sp>
        <p:nvSpPr>
          <p:cNvPr id="624" name="" descr="{&quot;isTemplate&quot;:true,&quot;type&quot;:&quot;text&quot;}"/>
          <p:cNvSpPr txBox="1"/>
          <p:nvPr/>
        </p:nvSpPr>
        <p:spPr>
          <a:xfrm rot="0" flipH="0" flipV="0">
            <a:off x="3057525" y="3346463"/>
            <a:ext cx="1800225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938">
                <a:solidFill>
                  <a:srgbClr val="4A5568"/>
                </a:solidFill>
                <a:latin typeface="Source Han Sans SC"/>
                <a:ea typeface="Source Han Sans SC"/>
              </a:rPr>
              <a:t>加载</a:t>
            </a:r>
            <a:r>
              <a:rPr lang="en-US" sz="938">
                <a:solidFill>
                  <a:srgbClr val="4A5568"/>
                </a:solidFill>
                <a:latin typeface="Source Han Sans SC"/>
                <a:ea typeface="Source Han Sans SC"/>
              </a:rPr>
              <a:t> titanic.csv </a:t>
            </a:r>
            <a:r>
              <a:rPr lang="zh-CN" sz="938">
                <a:solidFill>
                  <a:srgbClr val="4A5568"/>
                </a:solidFill>
                <a:latin typeface="Source Han Sans SC"/>
                <a:ea typeface="Source Han Sans SC"/>
              </a:rPr>
              <a:t>走</a:t>
            </a:r>
            <a:r>
              <a:rPr lang="en-US" sz="938">
                <a:solidFill>
                  <a:srgbClr val="4A5568"/>
                </a:solidFill>
                <a:latin typeface="Source Han Sans SC"/>
                <a:ea typeface="Source Han Sans SC"/>
              </a:rPr>
              <a:t> EDA </a:t>
            </a:r>
            <a:r>
              <a:rPr lang="zh-CN" sz="938">
                <a:solidFill>
                  <a:srgbClr val="4A5568"/>
                </a:solidFill>
                <a:latin typeface="Source Han Sans SC"/>
                <a:ea typeface="Source Han Sans SC"/>
              </a:rPr>
              <a:t>五步</a:t>
            </a:r>
            <a:endParaRPr/>
          </a:p>
        </p:txBody>
      </p:sp>
      <p:sp>
        <p:nvSpPr>
          <p:cNvPr id="625" name=""/>
          <p:cNvSpPr/>
          <p:nvPr/>
        </p:nvSpPr>
        <p:spPr>
          <a:xfrm rot="0" flipH="0" flipV="0">
            <a:off x="5086350" y="1822463"/>
            <a:ext cx="2019300" cy="1866900"/>
          </a:xfrm>
          <a:prstGeom prst="roundRect">
            <a:avLst>
              <a:gd name="adj" fmla="val 612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26" name=""/>
          <p:cNvSpPr/>
          <p:nvPr/>
        </p:nvSpPr>
        <p:spPr>
          <a:xfrm rot="0" flipH="0" flipV="0">
            <a:off x="5086350" y="1822463"/>
            <a:ext cx="2019300" cy="1866900"/>
          </a:xfrm>
          <a:custGeom>
            <a:pathLst>
              <a:path w="212" h="196">
                <a:moveTo>
                  <a:pt x="201" y="0"/>
                </a:moveTo>
                <a:cubicBezTo>
                  <a:pt x="206" y="0"/>
                  <a:pt x="211" y="4"/>
                  <a:pt x="212" y="10"/>
                </a:cubicBezTo>
                <a:cubicBezTo>
                  <a:pt x="211" y="6"/>
                  <a:pt x="208" y="4"/>
                  <a:pt x="204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0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627" name=""/>
          <p:cNvSpPr/>
          <p:nvPr/>
        </p:nvSpPr>
        <p:spPr>
          <a:xfrm rot="0" flipH="0" flipV="0">
            <a:off x="5200650" y="1955813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28" name="" descr="{&quot;isTemplate&quot;:true,&quot;type&quot;:&quot;text&quot;}"/>
          <p:cNvSpPr txBox="1"/>
          <p:nvPr/>
        </p:nvSpPr>
        <p:spPr>
          <a:xfrm rot="0" flipH="0" flipV="0">
            <a:off x="5305425" y="2022488"/>
            <a:ext cx="114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SC"/>
                <a:ea typeface="Source Han Sans SC"/>
              </a:rPr>
              <a:t>C</a:t>
            </a:r>
            <a:endParaRPr/>
          </a:p>
        </p:txBody>
      </p:sp>
      <p:sp>
        <p:nvSpPr>
          <p:cNvPr id="629" name=""/>
          <p:cNvSpPr/>
          <p:nvPr/>
        </p:nvSpPr>
        <p:spPr>
          <a:xfrm rot="0" flipH="0" flipV="0">
            <a:off x="6429375" y="2022488"/>
            <a:ext cx="561975" cy="200025"/>
          </a:xfrm>
          <a:prstGeom prst="roundRect">
            <a:avLst>
              <a:gd name="adj" fmla="val 3809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30" name="" descr="{&quot;isTemplate&quot;:true,&quot;type&quot;:&quot;text&quot;}"/>
          <p:cNvSpPr txBox="1"/>
          <p:nvPr/>
        </p:nvSpPr>
        <p:spPr>
          <a:xfrm rot="0" flipH="0" flipV="0">
            <a:off x="6515100" y="2051063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0E3F8C"/>
                </a:solidFill>
                <a:latin typeface="Source Han Sans SC"/>
                <a:ea typeface="Source Han Sans SC"/>
              </a:rPr>
              <a:t>20 min</a:t>
            </a:r>
            <a:endParaRPr/>
          </a:p>
        </p:txBody>
      </p:sp>
      <p:pic>
        <p:nvPicPr>
          <p:cNvPr id="63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5200650" y="2832113"/>
            <a:ext cx="228600" cy="228600"/>
          </a:xfrm>
          <a:prstGeom prst="rect">
            <a:avLst/>
          </a:prstGeom>
          <a:ln/>
        </p:spPr>
      </p:pic>
      <p:sp>
        <p:nvSpPr>
          <p:cNvPr id="632" name="" descr="{&quot;isTemplate&quot;:true,&quot;type&quot;:&quot;text&quot;}"/>
          <p:cNvSpPr txBox="1"/>
          <p:nvPr/>
        </p:nvSpPr>
        <p:spPr>
          <a:xfrm rot="0" flipH="0" flipV="0">
            <a:off x="5200650" y="3117863"/>
            <a:ext cx="1790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可视化</a:t>
            </a:r>
            <a:endParaRPr/>
          </a:p>
        </p:txBody>
      </p:sp>
      <p:sp>
        <p:nvSpPr>
          <p:cNvPr id="633" name="" descr="{&quot;isTemplate&quot;:true,&quot;type&quot;:&quot;text&quot;}"/>
          <p:cNvSpPr txBox="1"/>
          <p:nvPr/>
        </p:nvSpPr>
        <p:spPr>
          <a:xfrm rot="0" flipH="0" flipV="0">
            <a:off x="5200650" y="3346463"/>
            <a:ext cx="1790700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938">
                <a:solidFill>
                  <a:srgbClr val="4A5568"/>
                </a:solidFill>
                <a:latin typeface="Source Han Sans SC"/>
                <a:ea typeface="Source Han Sans SC"/>
              </a:rPr>
              <a:t>三张图回答三个问题</a:t>
            </a:r>
            <a:endParaRPr/>
          </a:p>
        </p:txBody>
      </p:sp>
      <p:sp>
        <p:nvSpPr>
          <p:cNvPr id="634" name=""/>
          <p:cNvSpPr/>
          <p:nvPr/>
        </p:nvSpPr>
        <p:spPr>
          <a:xfrm rot="0" flipH="0" flipV="0">
            <a:off x="7219950" y="1822463"/>
            <a:ext cx="2028825" cy="1866900"/>
          </a:xfrm>
          <a:prstGeom prst="roundRect">
            <a:avLst>
              <a:gd name="adj" fmla="val 612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35" name=""/>
          <p:cNvSpPr/>
          <p:nvPr/>
        </p:nvSpPr>
        <p:spPr>
          <a:xfrm rot="0" flipH="0" flipV="0">
            <a:off x="7219950" y="1822463"/>
            <a:ext cx="2028825" cy="1866900"/>
          </a:xfrm>
          <a:custGeom>
            <a:pathLst>
              <a:path w="213" h="19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36" name=""/>
          <p:cNvSpPr/>
          <p:nvPr/>
        </p:nvSpPr>
        <p:spPr>
          <a:xfrm rot="0" flipH="0" flipV="0">
            <a:off x="7334250" y="1955813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37" name="" descr="{&quot;isTemplate&quot;:true,&quot;type&quot;:&quot;text&quot;}"/>
          <p:cNvSpPr txBox="1"/>
          <p:nvPr/>
        </p:nvSpPr>
        <p:spPr>
          <a:xfrm rot="0" flipH="0" flipV="0">
            <a:off x="7439025" y="2022488"/>
            <a:ext cx="114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SC"/>
                <a:ea typeface="Source Han Sans SC"/>
              </a:rPr>
              <a:t>D</a:t>
            </a:r>
            <a:endParaRPr/>
          </a:p>
        </p:txBody>
      </p:sp>
      <p:sp>
        <p:nvSpPr>
          <p:cNvPr id="638" name=""/>
          <p:cNvSpPr/>
          <p:nvPr/>
        </p:nvSpPr>
        <p:spPr>
          <a:xfrm rot="0" flipH="0" flipV="0">
            <a:off x="8591550" y="2022488"/>
            <a:ext cx="542925" cy="200025"/>
          </a:xfrm>
          <a:prstGeom prst="roundRect">
            <a:avLst>
              <a:gd name="adj" fmla="val 3809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39" name="" descr="{&quot;isTemplate&quot;:true,&quot;type&quot;:&quot;text&quot;}"/>
          <p:cNvSpPr txBox="1"/>
          <p:nvPr/>
        </p:nvSpPr>
        <p:spPr>
          <a:xfrm rot="0" flipH="0" flipV="0">
            <a:off x="8677275" y="2051063"/>
            <a:ext cx="3714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Source Han Sans SC"/>
                <a:ea typeface="Source Han Sans SC"/>
              </a:rPr>
              <a:t>15 min</a:t>
            </a:r>
            <a:endParaRPr/>
          </a:p>
        </p:txBody>
      </p:sp>
      <p:pic>
        <p:nvPicPr>
          <p:cNvPr id="64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7334250" y="2832113"/>
            <a:ext cx="228600" cy="228600"/>
          </a:xfrm>
          <a:prstGeom prst="rect">
            <a:avLst/>
          </a:prstGeom>
          <a:ln/>
        </p:spPr>
      </p:pic>
      <p:sp>
        <p:nvSpPr>
          <p:cNvPr id="641" name="" descr="{&quot;isTemplate&quot;:true,&quot;type&quot;:&quot;text&quot;}"/>
          <p:cNvSpPr txBox="1"/>
          <p:nvPr/>
        </p:nvSpPr>
        <p:spPr>
          <a:xfrm rot="0" flipH="0" flipV="0">
            <a:off x="7334250" y="3117863"/>
            <a:ext cx="18002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清洗实战</a:t>
            </a:r>
            <a:endParaRPr/>
          </a:p>
        </p:txBody>
      </p:sp>
      <p:sp>
        <p:nvSpPr>
          <p:cNvPr id="642" name="" descr="{&quot;isTemplate&quot;:true,&quot;type&quot;:&quot;text&quot;}"/>
          <p:cNvSpPr txBox="1"/>
          <p:nvPr/>
        </p:nvSpPr>
        <p:spPr>
          <a:xfrm rot="0" flipH="0" flipV="0">
            <a:off x="7334250" y="3346463"/>
            <a:ext cx="1800225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938">
                <a:solidFill>
                  <a:srgbClr val="4A5568"/>
                </a:solidFill>
                <a:latin typeface="Source Han Sans SC"/>
                <a:ea typeface="Source Han Sans SC"/>
              </a:rPr>
              <a:t>缺失</a:t>
            </a:r>
            <a:r>
              <a:rPr lang="en-US" sz="938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938">
                <a:solidFill>
                  <a:srgbClr val="4A5568"/>
                </a:solidFill>
                <a:latin typeface="Source Han Sans SC"/>
                <a:ea typeface="Source Han Sans SC"/>
              </a:rPr>
              <a:t>异常</a:t>
            </a:r>
            <a:r>
              <a:rPr lang="en-US" sz="938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938">
                <a:solidFill>
                  <a:srgbClr val="4A5568"/>
                </a:solidFill>
                <a:latin typeface="Source Han Sans SC"/>
                <a:ea typeface="Source Han Sans SC"/>
              </a:rPr>
              <a:t>重复全处理</a:t>
            </a:r>
            <a:endParaRPr/>
          </a:p>
        </p:txBody>
      </p:sp>
      <p:sp>
        <p:nvSpPr>
          <p:cNvPr id="643" name=""/>
          <p:cNvSpPr/>
          <p:nvPr/>
        </p:nvSpPr>
        <p:spPr>
          <a:xfrm rot="0" flipH="0" flipV="0">
            <a:off x="9363075" y="1822463"/>
            <a:ext cx="2028825" cy="1866900"/>
          </a:xfrm>
          <a:prstGeom prst="roundRect">
            <a:avLst>
              <a:gd name="adj" fmla="val 612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44" name=""/>
          <p:cNvSpPr/>
          <p:nvPr/>
        </p:nvSpPr>
        <p:spPr>
          <a:xfrm rot="0" flipH="0" flipV="0">
            <a:off x="9363075" y="1822463"/>
            <a:ext cx="2028825" cy="1866900"/>
          </a:xfrm>
          <a:custGeom>
            <a:pathLst>
              <a:path w="213" h="19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645" name=""/>
          <p:cNvSpPr/>
          <p:nvPr/>
        </p:nvSpPr>
        <p:spPr>
          <a:xfrm rot="0" flipH="0" flipV="0">
            <a:off x="9477375" y="1955813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46" name="" descr="{&quot;isTemplate&quot;:true,&quot;type&quot;:&quot;text&quot;}"/>
          <p:cNvSpPr txBox="1"/>
          <p:nvPr/>
        </p:nvSpPr>
        <p:spPr>
          <a:xfrm rot="0" flipH="0" flipV="0">
            <a:off x="9591675" y="2022488"/>
            <a:ext cx="1047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Source Han Sans SC"/>
                <a:ea typeface="Source Han Sans SC"/>
              </a:rPr>
              <a:t>E</a:t>
            </a:r>
            <a:endParaRPr/>
          </a:p>
        </p:txBody>
      </p:sp>
      <p:sp>
        <p:nvSpPr>
          <p:cNvPr id="647" name=""/>
          <p:cNvSpPr/>
          <p:nvPr/>
        </p:nvSpPr>
        <p:spPr>
          <a:xfrm rot="0" flipH="0" flipV="0">
            <a:off x="10782300" y="2022488"/>
            <a:ext cx="495300" cy="200025"/>
          </a:xfrm>
          <a:prstGeom prst="roundRect">
            <a:avLst>
              <a:gd name="adj" fmla="val 3809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48" name="" descr="{&quot;isTemplate&quot;:true,&quot;type&quot;:&quot;text&quot;}"/>
          <p:cNvSpPr txBox="1"/>
          <p:nvPr/>
        </p:nvSpPr>
        <p:spPr>
          <a:xfrm rot="0" flipH="0" flipV="0">
            <a:off x="10868025" y="2051063"/>
            <a:ext cx="3238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3D7BD9"/>
                </a:solidFill>
                <a:latin typeface="Source Han Sans SC"/>
                <a:ea typeface="Source Han Sans SC"/>
              </a:rPr>
              <a:t>5 min</a:t>
            </a:r>
            <a:endParaRPr/>
          </a:p>
        </p:txBody>
      </p:sp>
      <p:pic>
        <p:nvPicPr>
          <p:cNvPr id="64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9477375" y="2832113"/>
            <a:ext cx="228600" cy="228600"/>
          </a:xfrm>
          <a:prstGeom prst="rect">
            <a:avLst/>
          </a:prstGeom>
          <a:ln/>
        </p:spPr>
      </p:pic>
      <p:sp>
        <p:nvSpPr>
          <p:cNvPr id="650" name="" descr="{&quot;isTemplate&quot;:true,&quot;type&quot;:&quot;text&quot;}"/>
          <p:cNvSpPr txBox="1"/>
          <p:nvPr/>
        </p:nvSpPr>
        <p:spPr>
          <a:xfrm rot="0" flipH="0" flipV="0">
            <a:off x="9477375" y="3117863"/>
            <a:ext cx="18002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收尾提交</a:t>
            </a:r>
            <a:endParaRPr/>
          </a:p>
        </p:txBody>
      </p:sp>
      <p:sp>
        <p:nvSpPr>
          <p:cNvPr id="651" name="" descr="{&quot;isTemplate&quot;:true,&quot;type&quot;:&quot;text&quot;}"/>
          <p:cNvSpPr txBox="1"/>
          <p:nvPr/>
        </p:nvSpPr>
        <p:spPr>
          <a:xfrm rot="0" flipH="0" flipV="0">
            <a:off x="9477375" y="3346463"/>
            <a:ext cx="1800225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938">
                <a:solidFill>
                  <a:srgbClr val="4A5568"/>
                </a:solidFill>
                <a:latin typeface="Source Han Sans SC"/>
                <a:ea typeface="Source Han Sans SC"/>
              </a:rPr>
              <a:t>核对清单</a:t>
            </a:r>
            <a:r>
              <a:rPr lang="en-US" sz="938">
                <a:solidFill>
                  <a:srgbClr val="4A5568"/>
                </a:solidFill>
                <a:latin typeface="Source Han Sans SC"/>
                <a:ea typeface="Source Han Sans SC"/>
              </a:rPr>
              <a:t> · Git </a:t>
            </a:r>
            <a:r>
              <a:rPr lang="zh-CN" sz="938">
                <a:solidFill>
                  <a:srgbClr val="4A5568"/>
                </a:solidFill>
                <a:latin typeface="Source Han Sans SC"/>
                <a:ea typeface="Source Han Sans SC"/>
              </a:rPr>
              <a:t>推送</a:t>
            </a:r>
            <a:endParaRPr/>
          </a:p>
        </p:txBody>
      </p:sp>
      <p:sp>
        <p:nvSpPr>
          <p:cNvPr id="652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653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24 / 32</a:t>
            </a:r>
            <a:endParaRPr/>
          </a:p>
        </p:txBody>
      </p:sp>
      <p:pic>
        <p:nvPicPr>
          <p:cNvPr id="6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2781300" y="2622563"/>
            <a:ext cx="161925" cy="161925"/>
          </a:xfrm>
          <a:prstGeom prst="rect">
            <a:avLst/>
          </a:prstGeom>
          <a:ln/>
        </p:spPr>
      </p:pic>
      <p:pic>
        <p:nvPicPr>
          <p:cNvPr id="65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4924425" y="2622563"/>
            <a:ext cx="161925" cy="161925"/>
          </a:xfrm>
          <a:prstGeom prst="rect">
            <a:avLst/>
          </a:prstGeom>
          <a:ln/>
        </p:spPr>
      </p:pic>
      <p:pic>
        <p:nvPicPr>
          <p:cNvPr id="65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7058025" y="2622563"/>
            <a:ext cx="161925" cy="161925"/>
          </a:xfrm>
          <a:prstGeom prst="rect">
            <a:avLst/>
          </a:prstGeom>
          <a:ln/>
        </p:spPr>
      </p:pic>
      <p:pic>
        <p:nvPicPr>
          <p:cNvPr id="65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9201150" y="2622563"/>
            <a:ext cx="161925" cy="161925"/>
          </a:xfrm>
          <a:prstGeom prst="rect">
            <a:avLst/>
          </a:prstGeom>
          <a:ln/>
        </p:spPr>
      </p:pic>
    </p:spTree>
  </p:cSld>
</p:sld>
</file>

<file path=ppt/slides/slide25.xml><?xml version="1.0" encoding="utf-8"?>
<p:sld xmlns:a="http://schemas.openxmlformats.org/drawingml/2006/main" xmlns:p="http://schemas.openxmlformats.org/presentationml/2006/main">
  <p:cSld>
    <p:spTree>
      <p:nvGrpSpPr>
        <p:cNvPr id="658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A · NumPy 热身（10 min）&lt;/Text&gt;&#10;    &lt;Text style={{ fontSize: 15, color: 'rgba(255,255,255,0.85)' }}&gt;Module 1 · Week 2&lt;/Text&gt;&#10;  &lt;/Box&gt;&#10;  &lt;Box style={{ position: 'absolute', top: 100, left: 0, width: '100%', height: 540, padding: '14px 84px', flexDirection: 'row', gap: 26 }}&gt;&#10;    &lt;Box style={{ flex: 1, gap: 12 }}&gt;&#10;      {[&#10;        {&#10;          n: '任务 1', t: '创建与查看', d: '创建 4×4 的 0–15 矩阵，打印 shape、dtype、总和。',&#10;          c: &quot;a = np.arange(16).reshape(4, 4)\nprint(a.shape, a.dtype, a.sum())&quot;,&#10;        },&#10;        {&#10;          n: '任务 2', t: '切片练习', d: '取第 2 行、第 3 列、右下角 2×2 子块（注意是视图！）。',&#10;          c: &quot;row2 = a[1]\ncol3 = a[:, 2]\nblock = a[2:, 2:]&quot;,&#10;        },&#10;        {&#10;          n: '任务 3', t: '广播运算', d: '让矩阵每一行分别加上 [0, 1, 2, 3]——一行代码完成。',&#10;          c: &quot;b = a + np.array([0, 1, 2, 3])&quot;,&#10;        },&#10;      ].map((r, i) =&gt; (&#10;        &lt;Box key={i} style={{ background: '#F7F9FC', border: '1px solid #E5E7EB', borderLeft: '4px solid ' + ['#3D7BD9', '#1E4FA8', '#0E3F8C'][i], borderRadius: 10, padding: '13px 17px' }}&gt;&#10;          &lt;Box style={{ flexDirection: 'row', alignItems: 'baseline', gap: 10 }}&gt;&#10;            &lt;Text style={{ fontSize: 13, color: '#8B97A8', fontWeight: '600' }}&gt;{r.n}&lt;/Text&gt;&#10;            &lt;Text style={{ fontSize: 17, color: '#1A2230', fontWeight: 'bold' }}&gt;{r.t}&lt;/Text&gt;&#10;          &lt;/Box&gt;&#10;          &lt;Text style={{ fontSize: 13.5, color: '#4A5568', marginTop: 3, lineHeight: 1.5 }}&gt;{r.d}&lt;/Text&gt;&#10;        &lt;/Box&gt;&#10;      ))}&#10;      &lt;Box style={{ borderLeft: '4px solid #0E3F8C', paddingLeft: 14 }}&gt;&#10;        &lt;Text style={{ fontSize: 14.5, color: '#1A2230', lineHeight: 1.55 }}&gt;&#10;          &lt;span style={{ fontWeight: 'bold', color: '#0E3F8C' }}&gt;检查点：&lt;/span&gt;三个任务全绿（无报错 + 结果符合预期）再进入 Lab B。&#10;        &lt;/Text&gt;&#10;      &lt;/Box&gt;&#10;    &lt;/Box&gt;&#10;    &lt;Box style={{ width: 470, flexShrink: 0 }}&gt;&#10;      &lt;Box style={{ background: '#1A2230', borderRadius: 12, padding: '18px 22px', height: 440 }}&gt;&#10;        &lt;Text style={{ fontSize: 14, color: '#8B97A8', marginBottom: 8 }}&gt;# 参考答案骨架 · skeleton（先自己写，卡住再看）&lt;/Text&gt;&#10;        &lt;Text style={{ fontSize: 14.5, color: '#A8D8B9', lineHeight: 1.9, fontFamily: 'Consolas, Menlo, monospace' }}&gt;&#10;          import numpy as np{'\n\n'}&#10;          a = np.arange(16).reshape(4, 4){'\n'}&#10;          print(a.shape, a.dtype){'\n'}&#10;          print(a.sum()){'\n\n'}&#10;          row2 = a[1]&amp;nbsp;&amp;nbsp;&amp;nbsp;&amp;nbsp;&amp;nbsp;&amp;nbsp;# 第 2 行{'\n'}&#10;          block = a[2:, 2:]&amp;nbsp;# 右下 2x2{'\n\n'}&#10;          b = a + np.array([0, 1, 2, 3]){'\n'}&#10;          # b 的第 i 行 = a 的第 i 行 + i{'\n'}&#10;          # 这就是广播：(..,4) + (4,)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5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60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61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0956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Lab A · NumPy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热身（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10 min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）</a:t>
            </a:r>
            <a:endParaRPr/>
          </a:p>
        </p:txBody>
      </p:sp>
      <p:sp>
        <p:nvSpPr>
          <p:cNvPr id="662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663" name=""/>
          <p:cNvSpPr/>
          <p:nvPr/>
        </p:nvSpPr>
        <p:spPr>
          <a:xfrm rot="0" flipH="0" flipV="0">
            <a:off x="838200" y="1486500"/>
            <a:ext cx="5867400" cy="714375"/>
          </a:xfrm>
          <a:prstGeom prst="roundRect">
            <a:avLst>
              <a:gd name="adj" fmla="val 1333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64" name=""/>
          <p:cNvSpPr/>
          <p:nvPr/>
        </p:nvSpPr>
        <p:spPr>
          <a:xfrm rot="0" flipH="0" flipV="0">
            <a:off x="838200" y="1486500"/>
            <a:ext cx="5867400" cy="714375"/>
          </a:xfrm>
          <a:custGeom>
            <a:pathLst>
              <a:path w="616" h="7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9"/>
                </a:lnTo>
                <a:cubicBezTo>
                  <a:pt x="4" y="72"/>
                  <a:pt x="6" y="74"/>
                  <a:pt x="9" y="75"/>
                </a:cubicBezTo>
                <a:cubicBezTo>
                  <a:pt x="4" y="74"/>
                  <a:pt x="0" y="70"/>
                  <a:pt x="0" y="6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665" name="" descr="{&quot;isTemplate&quot;:true,&quot;type&quot;:&quot;text&quot;}"/>
          <p:cNvSpPr txBox="1"/>
          <p:nvPr/>
        </p:nvSpPr>
        <p:spPr>
          <a:xfrm rot="0" flipH="0" flipV="0">
            <a:off x="1000125" y="1610325"/>
            <a:ext cx="342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8B97A8"/>
                </a:solidFill>
                <a:latin typeface="Source Han Sans SC"/>
                <a:ea typeface="Source Han Sans SC"/>
              </a:rPr>
              <a:t>任务</a:t>
            </a:r>
            <a:r>
              <a:rPr lang="en-US" sz="975" b="1">
                <a:solidFill>
                  <a:srgbClr val="8B97A8"/>
                </a:solidFill>
                <a:latin typeface="Source Han Sans SC"/>
                <a:ea typeface="Source Han Sans SC"/>
              </a:rPr>
              <a:t> 1</a:t>
            </a:r>
            <a:endParaRPr/>
          </a:p>
        </p:txBody>
      </p:sp>
      <p:sp>
        <p:nvSpPr>
          <p:cNvPr id="666" name="" descr="{&quot;isTemplate&quot;:true,&quot;type&quot;:&quot;text&quot;}"/>
          <p:cNvSpPr txBox="1"/>
          <p:nvPr/>
        </p:nvSpPr>
        <p:spPr>
          <a:xfrm rot="0" flipH="0" flipV="0">
            <a:off x="1438275" y="1610325"/>
            <a:ext cx="8096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创建与查看</a:t>
            </a:r>
            <a:endParaRPr/>
          </a:p>
        </p:txBody>
      </p:sp>
      <p:sp>
        <p:nvSpPr>
          <p:cNvPr id="667" name="" descr="{&quot;isTemplate&quot;:true,&quot;type&quot;:&quot;text&quot;}"/>
          <p:cNvSpPr txBox="1"/>
          <p:nvPr/>
        </p:nvSpPr>
        <p:spPr>
          <a:xfrm rot="0" flipH="0" flipV="0">
            <a:off x="1000125" y="1838925"/>
            <a:ext cx="550545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创建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4×4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的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0–15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矩阵，打印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shape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、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dtype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、总和。</a:t>
            </a:r>
            <a:endParaRPr/>
          </a:p>
        </p:txBody>
      </p:sp>
      <p:sp>
        <p:nvSpPr>
          <p:cNvPr id="668" name=""/>
          <p:cNvSpPr/>
          <p:nvPr/>
        </p:nvSpPr>
        <p:spPr>
          <a:xfrm rot="0" flipH="0" flipV="0">
            <a:off x="838200" y="2315175"/>
            <a:ext cx="5867400" cy="714375"/>
          </a:xfrm>
          <a:prstGeom prst="roundRect">
            <a:avLst>
              <a:gd name="adj" fmla="val 1333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69" name=""/>
          <p:cNvSpPr/>
          <p:nvPr/>
        </p:nvSpPr>
        <p:spPr>
          <a:xfrm rot="0" flipH="0" flipV="0">
            <a:off x="838200" y="2315175"/>
            <a:ext cx="5867400" cy="714375"/>
          </a:xfrm>
          <a:custGeom>
            <a:pathLst>
              <a:path w="616" h="7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9"/>
                </a:lnTo>
                <a:cubicBezTo>
                  <a:pt x="4" y="72"/>
                  <a:pt x="6" y="74"/>
                  <a:pt x="9" y="75"/>
                </a:cubicBezTo>
                <a:cubicBezTo>
                  <a:pt x="4" y="74"/>
                  <a:pt x="0" y="70"/>
                  <a:pt x="0" y="6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70" name="" descr="{&quot;isTemplate&quot;:true,&quot;type&quot;:&quot;text&quot;}"/>
          <p:cNvSpPr txBox="1"/>
          <p:nvPr/>
        </p:nvSpPr>
        <p:spPr>
          <a:xfrm rot="0" flipH="0" flipV="0">
            <a:off x="1000125" y="2439000"/>
            <a:ext cx="3714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8B97A8"/>
                </a:solidFill>
                <a:latin typeface="Source Han Sans SC"/>
                <a:ea typeface="Source Han Sans SC"/>
              </a:rPr>
              <a:t>任务</a:t>
            </a:r>
            <a:r>
              <a:rPr lang="en-US" sz="975" b="1">
                <a:solidFill>
                  <a:srgbClr val="8B97A8"/>
                </a:solidFill>
                <a:latin typeface="Source Han Sans SC"/>
                <a:ea typeface="Source Han Sans SC"/>
              </a:rPr>
              <a:t> 2</a:t>
            </a:r>
            <a:endParaRPr/>
          </a:p>
        </p:txBody>
      </p:sp>
      <p:sp>
        <p:nvSpPr>
          <p:cNvPr id="671" name="" descr="{&quot;isTemplate&quot;:true,&quot;type&quot;:&quot;text&quot;}"/>
          <p:cNvSpPr txBox="1"/>
          <p:nvPr/>
        </p:nvSpPr>
        <p:spPr>
          <a:xfrm rot="0" flipH="0" flipV="0">
            <a:off x="1466850" y="2439000"/>
            <a:ext cx="647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切片练习</a:t>
            </a:r>
            <a:endParaRPr/>
          </a:p>
        </p:txBody>
      </p:sp>
      <p:sp>
        <p:nvSpPr>
          <p:cNvPr id="672" name="" descr="{&quot;isTemplate&quot;:true,&quot;type&quot;:&quot;text&quot;}"/>
          <p:cNvSpPr txBox="1"/>
          <p:nvPr/>
        </p:nvSpPr>
        <p:spPr>
          <a:xfrm rot="0" flipH="0" flipV="0">
            <a:off x="1000125" y="2667600"/>
            <a:ext cx="550545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取第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2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行、第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3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列、右下角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2×2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子块（注意是视图！）。</a:t>
            </a:r>
            <a:endParaRPr/>
          </a:p>
        </p:txBody>
      </p:sp>
      <p:sp>
        <p:nvSpPr>
          <p:cNvPr id="673" name=""/>
          <p:cNvSpPr/>
          <p:nvPr/>
        </p:nvSpPr>
        <p:spPr>
          <a:xfrm rot="0" flipH="0" flipV="0">
            <a:off x="838200" y="3143850"/>
            <a:ext cx="5867400" cy="714375"/>
          </a:xfrm>
          <a:prstGeom prst="roundRect">
            <a:avLst>
              <a:gd name="adj" fmla="val 1333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74" name=""/>
          <p:cNvSpPr/>
          <p:nvPr/>
        </p:nvSpPr>
        <p:spPr>
          <a:xfrm rot="0" flipH="0" flipV="0">
            <a:off x="838200" y="3143850"/>
            <a:ext cx="5867400" cy="714375"/>
          </a:xfrm>
          <a:custGeom>
            <a:pathLst>
              <a:path w="616" h="7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9"/>
                </a:lnTo>
                <a:cubicBezTo>
                  <a:pt x="4" y="72"/>
                  <a:pt x="6" y="74"/>
                  <a:pt x="9" y="75"/>
                </a:cubicBezTo>
                <a:cubicBezTo>
                  <a:pt x="4" y="74"/>
                  <a:pt x="0" y="70"/>
                  <a:pt x="0" y="6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675" name="" descr="{&quot;isTemplate&quot;:true,&quot;type&quot;:&quot;text&quot;}"/>
          <p:cNvSpPr txBox="1"/>
          <p:nvPr/>
        </p:nvSpPr>
        <p:spPr>
          <a:xfrm rot="0" flipH="0" flipV="0">
            <a:off x="1000125" y="3267675"/>
            <a:ext cx="3714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8B97A8"/>
                </a:solidFill>
                <a:latin typeface="Source Han Sans SC"/>
                <a:ea typeface="Source Han Sans SC"/>
              </a:rPr>
              <a:t>任务</a:t>
            </a:r>
            <a:r>
              <a:rPr lang="en-US" sz="975" b="1">
                <a:solidFill>
                  <a:srgbClr val="8B97A8"/>
                </a:solidFill>
                <a:latin typeface="Source Han Sans SC"/>
                <a:ea typeface="Source Han Sans SC"/>
              </a:rPr>
              <a:t> 3</a:t>
            </a:r>
            <a:endParaRPr/>
          </a:p>
        </p:txBody>
      </p:sp>
      <p:sp>
        <p:nvSpPr>
          <p:cNvPr id="676" name="" descr="{&quot;isTemplate&quot;:true,&quot;type&quot;:&quot;text&quot;}"/>
          <p:cNvSpPr txBox="1"/>
          <p:nvPr/>
        </p:nvSpPr>
        <p:spPr>
          <a:xfrm rot="0" flipH="0" flipV="0">
            <a:off x="1466850" y="3267675"/>
            <a:ext cx="647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广播运算</a:t>
            </a:r>
            <a:endParaRPr/>
          </a:p>
        </p:txBody>
      </p:sp>
      <p:sp>
        <p:nvSpPr>
          <p:cNvPr id="677" name="" descr="{&quot;isTemplate&quot;:true,&quot;type&quot;:&quot;text&quot;}"/>
          <p:cNvSpPr txBox="1"/>
          <p:nvPr/>
        </p:nvSpPr>
        <p:spPr>
          <a:xfrm rot="0" flipH="0" flipV="0">
            <a:off x="1000125" y="3496275"/>
            <a:ext cx="550545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让矩阵每一行分别加上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[0, 1, 2, 3]——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一行代码完成。</a:t>
            </a:r>
            <a:endParaRPr/>
          </a:p>
        </p:txBody>
      </p:sp>
      <p:sp>
        <p:nvSpPr>
          <p:cNvPr id="678" name=""/>
          <p:cNvSpPr/>
          <p:nvPr/>
        </p:nvSpPr>
        <p:spPr>
          <a:xfrm rot="0" flipH="0" flipV="0">
            <a:off x="800100" y="3972525"/>
            <a:ext cx="5905500" cy="257175"/>
          </a:xfrm>
          <a:custGeom>
            <a:pathLst>
              <a:path w="620" h="27">
                <a:moveTo>
                  <a:pt x="0" y="0"/>
                </a:moveTo>
                <a:lnTo>
                  <a:pt x="4" y="0"/>
                </a:lnTo>
                <a:lnTo>
                  <a:pt x="4" y="27"/>
                </a:lnTo>
                <a:lnTo>
                  <a:pt x="0" y="27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679" name="" descr="{&quot;isTemplate&quot;:true,&quot;type&quot;:&quot;text&quot;}"/>
          <p:cNvSpPr txBox="1"/>
          <p:nvPr/>
        </p:nvSpPr>
        <p:spPr>
          <a:xfrm rot="0" flipH="0" flipV="0">
            <a:off x="971550" y="3972525"/>
            <a:ext cx="56959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88" b="1">
                <a:solidFill>
                  <a:srgbClr val="0E3F8C"/>
                </a:solidFill>
                <a:latin typeface="Source Han Sans SC"/>
                <a:ea typeface="Source Han Sans SC"/>
              </a:rPr>
              <a:t>检查点：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三个任务全绿（无报错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+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结果符合预期）再进入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Lab B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。</a:t>
            </a:r>
            <a:endParaRPr/>
          </a:p>
        </p:txBody>
      </p:sp>
      <p:sp>
        <p:nvSpPr>
          <p:cNvPr id="680" name=""/>
          <p:cNvSpPr/>
          <p:nvPr/>
        </p:nvSpPr>
        <p:spPr>
          <a:xfrm rot="0" flipH="0" flipV="0">
            <a:off x="6915150" y="1486500"/>
            <a:ext cx="4476750" cy="4191000"/>
          </a:xfrm>
          <a:prstGeom prst="roundRect">
            <a:avLst>
              <a:gd name="adj" fmla="val 2727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681" name="" descr="{&quot;isTemplate&quot;:true,&quot;type&quot;:&quot;text&quot;}"/>
          <p:cNvSpPr txBox="1"/>
          <p:nvPr/>
        </p:nvSpPr>
        <p:spPr>
          <a:xfrm rot="0" flipH="0" flipV="0">
            <a:off x="7124700" y="1657950"/>
            <a:ext cx="4057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# </a:t>
            </a:r>
            <a:r>
              <a:rPr lang="zh-CN" sz="1050">
                <a:solidFill>
                  <a:srgbClr val="8B97A8"/>
                </a:solidFill>
                <a:latin typeface="Source Han Sans SC"/>
                <a:ea typeface="Source Han Sans SC"/>
              </a:rPr>
              <a:t>参考答案骨架</a:t>
            </a: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 · skeleton</a:t>
            </a:r>
            <a:r>
              <a:rPr lang="zh-CN" sz="1050">
                <a:solidFill>
                  <a:srgbClr val="8B97A8"/>
                </a:solidFill>
                <a:latin typeface="Source Han Sans SC"/>
                <a:ea typeface="Source Han Sans SC"/>
              </a:rPr>
              <a:t>（先自己写，卡住再看）</a:t>
            </a:r>
            <a:endParaRPr/>
          </a:p>
        </p:txBody>
      </p:sp>
      <p:sp>
        <p:nvSpPr>
          <p:cNvPr id="682" name="" descr="{&quot;isTemplate&quot;:true,&quot;type&quot;:&quot;text&quot;}"/>
          <p:cNvSpPr txBox="1"/>
          <p:nvPr/>
        </p:nvSpPr>
        <p:spPr>
          <a:xfrm rot="0" flipH="0" flipV="0">
            <a:off x="7124700" y="1896075"/>
            <a:ext cx="4057650" cy="3781425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import numpy as np</a:t>
            </a:r>
            <a:r>
              <a:rPr sz="1088">
                <a:solidFill>
                  <a:srgbClr val="A8D8B9"/>
                </a:solidFill>
                <a:latin typeface="Consolas"/>
                <a:ea typeface="Consolas"/>
              </a:rPr>
              <a:t>
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a = np.arange(16).reshape(4, 4)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print(a.shape, a.dtype)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print(a.sum())</a:t>
            </a:r>
            <a:r>
              <a:rPr sz="1088">
                <a:solidFill>
                  <a:srgbClr val="A8D8B9"/>
                </a:solidFill>
                <a:latin typeface="Consolas"/>
                <a:ea typeface="Consolas"/>
              </a:rPr>
              <a:t>
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row2 = a[1]      # </a:t>
            </a:r>
            <a:r>
              <a:rPr lang="zh-CN" sz="1088">
                <a:solidFill>
                  <a:srgbClr val="A8D8B9"/>
                </a:solidFill>
                <a:latin typeface="Consolas"/>
                <a:ea typeface="Consolas"/>
              </a:rPr>
              <a:t>第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 2 </a:t>
            </a:r>
            <a:r>
              <a:rPr lang="zh-CN" sz="1088">
                <a:solidFill>
                  <a:srgbClr val="A8D8B9"/>
                </a:solidFill>
                <a:latin typeface="Consolas"/>
                <a:ea typeface="Consolas"/>
              </a:rPr>
              <a:t>行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block = a[2:, 2:] # </a:t>
            </a:r>
            <a:r>
              <a:rPr lang="zh-CN" sz="1088">
                <a:solidFill>
                  <a:srgbClr val="A8D8B9"/>
                </a:solidFill>
                <a:latin typeface="Consolas"/>
                <a:ea typeface="Consolas"/>
              </a:rPr>
              <a:t>右下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 2x2</a:t>
            </a:r>
            <a:r>
              <a:rPr sz="1088">
                <a:solidFill>
                  <a:srgbClr val="A8D8B9"/>
                </a:solidFill>
                <a:latin typeface="Consolas"/>
                <a:ea typeface="Consolas"/>
              </a:rPr>
              <a:t>
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b = a + np.array([0, 1, 2, 3])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# b </a:t>
            </a:r>
            <a:r>
              <a:rPr lang="zh-CN" sz="1088">
                <a:solidFill>
                  <a:srgbClr val="A8D8B9"/>
                </a:solidFill>
                <a:latin typeface="Consolas"/>
                <a:ea typeface="Consolas"/>
              </a:rPr>
              <a:t>的第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 i </a:t>
            </a:r>
            <a:r>
              <a:rPr lang="zh-CN" sz="1088">
                <a:solidFill>
                  <a:srgbClr val="A8D8B9"/>
                </a:solidFill>
                <a:latin typeface="Consolas"/>
                <a:ea typeface="Consolas"/>
              </a:rPr>
              <a:t>行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 = a </a:t>
            </a:r>
            <a:r>
              <a:rPr lang="zh-CN" sz="1088">
                <a:solidFill>
                  <a:srgbClr val="A8D8B9"/>
                </a:solidFill>
                <a:latin typeface="Consolas"/>
                <a:ea typeface="Consolas"/>
              </a:rPr>
              <a:t>的第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 i </a:t>
            </a:r>
            <a:r>
              <a:rPr lang="zh-CN" sz="1088">
                <a:solidFill>
                  <a:srgbClr val="A8D8B9"/>
                </a:solidFill>
                <a:latin typeface="Consolas"/>
                <a:ea typeface="Consolas"/>
              </a:rPr>
              <a:t>行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 + i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# </a:t>
            </a:r>
            <a:r>
              <a:rPr lang="zh-CN" sz="1088">
                <a:solidFill>
                  <a:srgbClr val="A8D8B9"/>
                </a:solidFill>
                <a:latin typeface="Consolas"/>
                <a:ea typeface="Consolas"/>
              </a:rPr>
              <a:t>这就是广播：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(..,4) + (4,)</a:t>
            </a:r>
            <a:endParaRPr/>
          </a:p>
        </p:txBody>
      </p:sp>
      <p:sp>
        <p:nvSpPr>
          <p:cNvPr id="683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684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25 / 32</a:t>
            </a:r>
            <a:endParaRPr/>
          </a:p>
        </p:txBody>
      </p:sp>
    </p:spTree>
  </p:cSld>
</p:sld>
</file>

<file path=ppt/slides/slide26.xml><?xml version="1.0" encoding="utf-8"?>
<p:sld xmlns:a="http://schemas.openxmlformats.org/drawingml/2006/main" xmlns:p="http://schemas.openxmlformats.org/presentationml/2006/main">
  <p:cSld>
    <p:spTree>
      <p:nvGrpSpPr>
        <p:cNvPr id="685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B · Pandas 探索（25 min）&lt;/Text&gt;&#10;    &lt;Text style={{ fontSize: 15, color: 'rgba(255,255,255,0.85)' }}&gt;Module 1 · Week 2&lt;/Text&gt;&#10;  &lt;/Box&gt;&#10;  &lt;Box style={{ position: 'absolute', top: 100, left: 0, width: '100%', height: 540, padding: '14px 84px', flexDirection: 'row', gap: 26 }}&gt;&#10;    &lt;Box style={{ width: 470, flexShrink: 0 }}&gt;&#10;      &lt;Box style={{ background: '#1A2230', borderRadius: 12, padding: '16px 22px' }}&gt;&#10;        &lt;Text style={{ fontSize: 14, color: '#8B97A8', marginBottom: 6 }}&gt;# 起点 · your starting point&lt;/Text&gt;&#10;        &lt;Text style={{ fontSize: 14.5, color: '#A8D8B9', lineHeight: 1.9, fontFamily: 'Consolas, Menlo, monospace' }}&gt;&#10;          import pandas as pd{'\n\n'}&#10;          df = pd.read_csv('titanic.csv'){'\n'}&#10;          df.shape&amp;nbsp;&amp;nbsp;&amp;nbsp;# (891, 12){'\n'}&#10;          df.head()&amp;nbsp;&amp;nbsp;# 先看 5 行{'\n'}&#10;          df.info()&amp;nbsp;&amp;nbsp;# 类型 + 缺失{'\n'}&#10;          df.describe()&amp;nbsp;# 数值列统计&#10;        &lt;/Text&gt;&#10;      &lt;/Box&gt;&#10;      &lt;Box style={{ background: '#F0F5FC', border: '1px solid #D6DCE5', borderRadius: 10, padding: '13px 18px', marginTop: 12 }}&gt;&#10;        &lt;Text style={{ fontSize: 14, color: '#4A5568', lineHeight: 1.6 }}&gt;&#10;          &lt;span style={{ fontWeight: 'bold', color: '#1E4FA8' }}&gt;提示：&lt;/span&gt;info() 输出里 non-null 计数不等于 891 的列，就是有缺失的列——先把它们记在 Markdown 里。&#10;        &lt;/Text&gt;&#10;      &lt;/Box&gt;&#10;    &lt;/Box&gt;&#10;    &lt;Box style={{ flex: 1, gap: 11, justifyContent: 'center' }}&gt;&#10;      &lt;Text style={{ fontSize: 17, color: '#0E3F8C', fontWeight: 'bold' }}&gt;用代码回答四个问题 · Answer with Code&lt;/Text&gt;&#10;      {[&#10;        { q: 'Q1 · 哪几列有缺失？各缺多少？', h: &quot;df.isna().sum()&quot; },&#10;        { q: 'Q2 · 三个舱位的票价均值分别是多少？', h: &quot;df.groupby('class')['fare'].mean()&quot; },&#10;        { q: 'Q3 · 30 岁以上的男性乘客生还率是多少？', h: &quot;df[(df['age']&gt;30) &amp; (df['sex']=='male')]['survived'].mean()&quot; },&#10;        { q: 'Q4 · 女性生还率是男性的几倍？', h: &quot;df.groupby('sex')['survived'].mean()&quot; },&#10;      ].map((r, i) =&gt; (&#10;        &lt;Box key={i} style={{ background: '#F7F9FC', border: '1px solid #E5E7EB', borderLeft: '4px solid ' + ['#3D7BD9', '#1E4FA8', '#0E3F8C', '#1E4FA8'][i], borderRadius: 10, padding: '12px 16px' }}&gt;&#10;          &lt;Text style={{ fontSize: 15.5, color: '#1A2230', fontWeight: '600' }}&gt;{r.q}&lt;/Text&gt;&#10;          &lt;Text style={{ fontSize: 12.5, color: '#8B97A8', fontFamily: 'Consolas, Menlo, monospace', marginTop: 5 }}&gt;提示：{r.h}&lt;/Text&gt;&#10;        &lt;/Box&gt;&#10;      ))}&#10;      &lt;Box style={{ borderLeft: '4px solid #0E3F8C', paddingLeft: 14 }}&gt;&#10;        &lt;Text style={{ fontSize: 14.5, color: '#1A2230', lineHeight: 1.55 }}&gt;&#10;          每个答案下面写一句&lt;span style={{ fontWeight: 'bold', color: '#0E3F8C' }}&gt;「我发现……」&lt;/span&gt;——这就是 EDA 第 5 步的假设素材。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6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8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88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162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Lab B · Pandas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探索（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25 min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）</a:t>
            </a:r>
            <a:endParaRPr/>
          </a:p>
        </p:txBody>
      </p:sp>
      <p:sp>
        <p:nvSpPr>
          <p:cNvPr id="689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690" name=""/>
          <p:cNvSpPr/>
          <p:nvPr/>
        </p:nvSpPr>
        <p:spPr>
          <a:xfrm rot="0" flipH="0" flipV="0">
            <a:off x="800100" y="1515075"/>
            <a:ext cx="4476750" cy="2733675"/>
          </a:xfrm>
          <a:prstGeom prst="roundRect">
            <a:avLst>
              <a:gd name="adj" fmla="val 4181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691" name="" descr="{&quot;isTemplate&quot;:true,&quot;type&quot;:&quot;text&quot;}"/>
          <p:cNvSpPr txBox="1"/>
          <p:nvPr/>
        </p:nvSpPr>
        <p:spPr>
          <a:xfrm rot="0" flipH="0" flipV="0">
            <a:off x="1009650" y="1667475"/>
            <a:ext cx="4057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# </a:t>
            </a:r>
            <a:r>
              <a:rPr lang="zh-CN" sz="1050">
                <a:solidFill>
                  <a:srgbClr val="8B97A8"/>
                </a:solidFill>
                <a:latin typeface="Source Han Sans SC"/>
                <a:ea typeface="Source Han Sans SC"/>
              </a:rPr>
              <a:t>起点</a:t>
            </a: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 · your starting point</a:t>
            </a:r>
            <a:endParaRPr/>
          </a:p>
        </p:txBody>
      </p:sp>
      <p:sp>
        <p:nvSpPr>
          <p:cNvPr id="692" name="" descr="{&quot;isTemplate&quot;:true,&quot;type&quot;:&quot;text&quot;}"/>
          <p:cNvSpPr txBox="1"/>
          <p:nvPr/>
        </p:nvSpPr>
        <p:spPr>
          <a:xfrm rot="0" flipH="0" flipV="0">
            <a:off x="1009650" y="1886550"/>
            <a:ext cx="4057650" cy="22098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import pandas as pd</a:t>
            </a:r>
            <a:r>
              <a:rPr sz="1088">
                <a:solidFill>
                  <a:srgbClr val="A8D8B9"/>
                </a:solidFill>
                <a:latin typeface="Consolas"/>
                <a:ea typeface="Consolas"/>
              </a:rPr>
              <a:t>
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df = pd.read_csv('titanic.csv')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df.shape   # (891, 12)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df.head()  # </a:t>
            </a:r>
            <a:r>
              <a:rPr lang="zh-CN" sz="1088">
                <a:solidFill>
                  <a:srgbClr val="A8D8B9"/>
                </a:solidFill>
                <a:latin typeface="Consolas"/>
                <a:ea typeface="Consolas"/>
              </a:rPr>
              <a:t>先看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 5 </a:t>
            </a:r>
            <a:r>
              <a:rPr lang="zh-CN" sz="1088">
                <a:solidFill>
                  <a:srgbClr val="A8D8B9"/>
                </a:solidFill>
                <a:latin typeface="Consolas"/>
                <a:ea typeface="Consolas"/>
              </a:rPr>
              <a:t>行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df.info()  # </a:t>
            </a:r>
            <a:r>
              <a:rPr lang="zh-CN" sz="1088">
                <a:solidFill>
                  <a:srgbClr val="A8D8B9"/>
                </a:solidFill>
                <a:latin typeface="Consolas"/>
                <a:ea typeface="Consolas"/>
              </a:rPr>
              <a:t>类型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 + </a:t>
            </a:r>
            <a:r>
              <a:rPr lang="zh-CN" sz="1088">
                <a:solidFill>
                  <a:srgbClr val="A8D8B9"/>
                </a:solidFill>
                <a:latin typeface="Consolas"/>
                <a:ea typeface="Consolas"/>
              </a:rPr>
              <a:t>缺失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df.describe() # </a:t>
            </a:r>
            <a:r>
              <a:rPr lang="zh-CN" sz="1088">
                <a:solidFill>
                  <a:srgbClr val="A8D8B9"/>
                </a:solidFill>
                <a:latin typeface="Consolas"/>
                <a:ea typeface="Consolas"/>
              </a:rPr>
              <a:t>数值列统计</a:t>
            </a:r>
            <a:endParaRPr/>
          </a:p>
        </p:txBody>
      </p:sp>
      <p:sp>
        <p:nvSpPr>
          <p:cNvPr id="693" name=""/>
          <p:cNvSpPr/>
          <p:nvPr/>
        </p:nvSpPr>
        <p:spPr>
          <a:xfrm rot="0" flipH="0" flipV="0">
            <a:off x="800100" y="4363050"/>
            <a:ext cx="4476750" cy="762000"/>
          </a:xfrm>
          <a:prstGeom prst="roundRect">
            <a:avLst>
              <a:gd name="adj" fmla="val 12500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94" name="" descr="{&quot;isTemplate&quot;:true,&quot;type&quot;:&quot;text&quot;}"/>
          <p:cNvSpPr txBox="1"/>
          <p:nvPr/>
        </p:nvSpPr>
        <p:spPr>
          <a:xfrm rot="0" flipH="0" flipV="0">
            <a:off x="971550" y="4486875"/>
            <a:ext cx="41338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 b="1">
                <a:solidFill>
                  <a:srgbClr val="1E4FA8"/>
                </a:solidFill>
                <a:latin typeface="Source Han Sans SC"/>
                <a:ea typeface="Source Han Sans SC"/>
              </a:rPr>
              <a:t>提示：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info()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输出里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non-null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计数不等于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891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的列，就是有缺失的列——先把它们记在</a:t>
            </a:r>
            <a:r>
              <a:rPr lang="en-US" sz="1050">
                <a:solidFill>
                  <a:srgbClr val="4A5568"/>
                </a:solidFill>
                <a:latin typeface="Source Han Sans SC"/>
                <a:ea typeface="Source Han Sans SC"/>
              </a:rPr>
              <a:t> Markdown </a:t>
            </a:r>
            <a:r>
              <a:rPr lang="zh-CN" sz="1050">
                <a:solidFill>
                  <a:srgbClr val="4A5568"/>
                </a:solidFill>
                <a:latin typeface="Source Han Sans SC"/>
                <a:ea typeface="Source Han Sans SC"/>
              </a:rPr>
              <a:t>里。</a:t>
            </a:r>
            <a:endParaRPr/>
          </a:p>
        </p:txBody>
      </p:sp>
      <p:sp>
        <p:nvSpPr>
          <p:cNvPr id="695" name="" descr="{&quot;isTemplate&quot;:true,&quot;type&quot;:&quot;text&quot;}"/>
          <p:cNvSpPr txBox="1"/>
          <p:nvPr/>
        </p:nvSpPr>
        <p:spPr>
          <a:xfrm rot="0" flipH="0" flipV="0">
            <a:off x="5524500" y="2267550"/>
            <a:ext cx="5867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3F8C"/>
                </a:solidFill>
                <a:latin typeface="Source Han Sans SC"/>
                <a:ea typeface="Source Han Sans SC"/>
              </a:rPr>
              <a:t>用代码回答四个问题</a:t>
            </a:r>
            <a:r>
              <a:rPr lang="en-US" sz="1275" b="1">
                <a:solidFill>
                  <a:srgbClr val="0E3F8C"/>
                </a:solidFill>
                <a:latin typeface="Source Han Sans SC"/>
                <a:ea typeface="Source Han Sans SC"/>
              </a:rPr>
              <a:t> · Answer with Code</a:t>
            </a:r>
            <a:endParaRPr/>
          </a:p>
        </p:txBody>
      </p:sp>
      <p:sp>
        <p:nvSpPr>
          <p:cNvPr id="696" name=""/>
          <p:cNvSpPr/>
          <p:nvPr/>
        </p:nvSpPr>
        <p:spPr>
          <a:xfrm rot="0" flipH="0" flipV="0">
            <a:off x="5562600" y="2572350"/>
            <a:ext cx="5867400" cy="600075"/>
          </a:xfrm>
          <a:prstGeom prst="roundRect">
            <a:avLst>
              <a:gd name="adj" fmla="val 1587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97" name=""/>
          <p:cNvSpPr/>
          <p:nvPr/>
        </p:nvSpPr>
        <p:spPr>
          <a:xfrm rot="0" flipH="0" flipV="0">
            <a:off x="5562600" y="2572350"/>
            <a:ext cx="5867400" cy="600075"/>
          </a:xfrm>
          <a:custGeom>
            <a:pathLst>
              <a:path w="616" h="63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7"/>
                </a:lnTo>
                <a:cubicBezTo>
                  <a:pt x="4" y="60"/>
                  <a:pt x="6" y="62"/>
                  <a:pt x="9" y="63"/>
                </a:cubicBezTo>
                <a:cubicBezTo>
                  <a:pt x="4" y="62"/>
                  <a:pt x="0" y="58"/>
                  <a:pt x="0" y="5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698" name="" descr="{&quot;isTemplate&quot;:true,&quot;type&quot;:&quot;text&quot;}"/>
          <p:cNvSpPr txBox="1"/>
          <p:nvPr/>
        </p:nvSpPr>
        <p:spPr>
          <a:xfrm rot="0" flipH="0" flipV="0">
            <a:off x="5715000" y="2686650"/>
            <a:ext cx="55245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Q1 · </a:t>
            </a: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哪几列有缺失？各缺多少？</a:t>
            </a:r>
            <a:endParaRPr/>
          </a:p>
        </p:txBody>
      </p:sp>
      <p:sp>
        <p:nvSpPr>
          <p:cNvPr id="699" name="" descr="{&quot;isTemplate&quot;:true,&quot;type&quot;:&quot;text&quot;}"/>
          <p:cNvSpPr txBox="1"/>
          <p:nvPr/>
        </p:nvSpPr>
        <p:spPr>
          <a:xfrm rot="0" flipH="0" flipV="0">
            <a:off x="5715000" y="2915250"/>
            <a:ext cx="5524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Consolas"/>
                <a:ea typeface="Consolas"/>
              </a:rPr>
              <a:t>提示：</a:t>
            </a:r>
            <a:r>
              <a:rPr lang="en-US" sz="938">
                <a:solidFill>
                  <a:srgbClr val="8B97A8"/>
                </a:solidFill>
                <a:latin typeface="Consolas"/>
                <a:ea typeface="Consolas"/>
              </a:rPr>
              <a:t>df.isna().sum()</a:t>
            </a:r>
            <a:endParaRPr/>
          </a:p>
        </p:txBody>
      </p:sp>
      <p:sp>
        <p:nvSpPr>
          <p:cNvPr id="700" name=""/>
          <p:cNvSpPr/>
          <p:nvPr/>
        </p:nvSpPr>
        <p:spPr>
          <a:xfrm rot="0" flipH="0" flipV="0">
            <a:off x="5562600" y="3277200"/>
            <a:ext cx="5867400" cy="600075"/>
          </a:xfrm>
          <a:prstGeom prst="roundRect">
            <a:avLst>
              <a:gd name="adj" fmla="val 1587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01" name=""/>
          <p:cNvSpPr/>
          <p:nvPr/>
        </p:nvSpPr>
        <p:spPr>
          <a:xfrm rot="0" flipH="0" flipV="0">
            <a:off x="5562600" y="3277200"/>
            <a:ext cx="5867400" cy="600075"/>
          </a:xfrm>
          <a:custGeom>
            <a:pathLst>
              <a:path w="616" h="63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7"/>
                </a:lnTo>
                <a:cubicBezTo>
                  <a:pt x="4" y="60"/>
                  <a:pt x="6" y="62"/>
                  <a:pt x="9" y="63"/>
                </a:cubicBezTo>
                <a:cubicBezTo>
                  <a:pt x="4" y="62"/>
                  <a:pt x="0" y="58"/>
                  <a:pt x="0" y="5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02" name="" descr="{&quot;isTemplate&quot;:true,&quot;type&quot;:&quot;text&quot;}"/>
          <p:cNvSpPr txBox="1"/>
          <p:nvPr/>
        </p:nvSpPr>
        <p:spPr>
          <a:xfrm rot="0" flipH="0" flipV="0">
            <a:off x="5715000" y="3391500"/>
            <a:ext cx="55245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Q2 · </a:t>
            </a: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三个舱位的票价均值分别是多少？</a:t>
            </a:r>
            <a:endParaRPr/>
          </a:p>
        </p:txBody>
      </p:sp>
      <p:sp>
        <p:nvSpPr>
          <p:cNvPr id="703" name="" descr="{&quot;isTemplate&quot;:true,&quot;type&quot;:&quot;text&quot;}"/>
          <p:cNvSpPr txBox="1"/>
          <p:nvPr/>
        </p:nvSpPr>
        <p:spPr>
          <a:xfrm rot="0" flipH="0" flipV="0">
            <a:off x="5715000" y="3620100"/>
            <a:ext cx="5524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Consolas"/>
                <a:ea typeface="Consolas"/>
              </a:rPr>
              <a:t>提示：</a:t>
            </a:r>
            <a:r>
              <a:rPr lang="en-US" sz="938">
                <a:solidFill>
                  <a:srgbClr val="8B97A8"/>
                </a:solidFill>
                <a:latin typeface="Consolas"/>
                <a:ea typeface="Consolas"/>
              </a:rPr>
              <a:t>df.groupby('class')['fare'].mean()</a:t>
            </a:r>
            <a:endParaRPr/>
          </a:p>
        </p:txBody>
      </p:sp>
      <p:sp>
        <p:nvSpPr>
          <p:cNvPr id="704" name=""/>
          <p:cNvSpPr/>
          <p:nvPr/>
        </p:nvSpPr>
        <p:spPr>
          <a:xfrm rot="0" flipH="0" flipV="0">
            <a:off x="5562600" y="3982050"/>
            <a:ext cx="5867400" cy="600075"/>
          </a:xfrm>
          <a:prstGeom prst="roundRect">
            <a:avLst>
              <a:gd name="adj" fmla="val 1587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05" name=""/>
          <p:cNvSpPr/>
          <p:nvPr/>
        </p:nvSpPr>
        <p:spPr>
          <a:xfrm rot="0" flipH="0" flipV="0">
            <a:off x="5562600" y="3982050"/>
            <a:ext cx="5867400" cy="600075"/>
          </a:xfrm>
          <a:custGeom>
            <a:pathLst>
              <a:path w="616" h="63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7"/>
                </a:lnTo>
                <a:cubicBezTo>
                  <a:pt x="4" y="60"/>
                  <a:pt x="6" y="62"/>
                  <a:pt x="9" y="63"/>
                </a:cubicBezTo>
                <a:cubicBezTo>
                  <a:pt x="4" y="62"/>
                  <a:pt x="0" y="58"/>
                  <a:pt x="0" y="5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706" name="" descr="{&quot;isTemplate&quot;:true,&quot;type&quot;:&quot;text&quot;}"/>
          <p:cNvSpPr txBox="1"/>
          <p:nvPr/>
        </p:nvSpPr>
        <p:spPr>
          <a:xfrm rot="0" flipH="0" flipV="0">
            <a:off x="5715000" y="4096350"/>
            <a:ext cx="55245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Q3 · 30 </a:t>
            </a: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岁以上的男性乘客生还率是多少？</a:t>
            </a:r>
            <a:endParaRPr/>
          </a:p>
        </p:txBody>
      </p:sp>
      <p:sp>
        <p:nvSpPr>
          <p:cNvPr id="707" name="" descr="{&quot;isTemplate&quot;:true,&quot;type&quot;:&quot;text&quot;}"/>
          <p:cNvSpPr txBox="1"/>
          <p:nvPr/>
        </p:nvSpPr>
        <p:spPr>
          <a:xfrm rot="0" flipH="0" flipV="0">
            <a:off x="5715000" y="4324950"/>
            <a:ext cx="5524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Consolas"/>
                <a:ea typeface="Consolas"/>
              </a:rPr>
              <a:t>提示：</a:t>
            </a:r>
            <a:r>
              <a:rPr lang="en-US" sz="938">
                <a:solidFill>
                  <a:srgbClr val="8B97A8"/>
                </a:solidFill>
                <a:latin typeface="Consolas"/>
                <a:ea typeface="Consolas"/>
              </a:rPr>
              <a:t>df[(df['age']&gt;30) &amp; (df['sex']=='male')]['survived'].mean()</a:t>
            </a:r>
            <a:endParaRPr/>
          </a:p>
        </p:txBody>
      </p:sp>
      <p:sp>
        <p:nvSpPr>
          <p:cNvPr id="708" name=""/>
          <p:cNvSpPr/>
          <p:nvPr/>
        </p:nvSpPr>
        <p:spPr>
          <a:xfrm rot="0" flipH="0" flipV="0">
            <a:off x="5562600" y="4686900"/>
            <a:ext cx="5867400" cy="600075"/>
          </a:xfrm>
          <a:prstGeom prst="roundRect">
            <a:avLst>
              <a:gd name="adj" fmla="val 1587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09" name=""/>
          <p:cNvSpPr/>
          <p:nvPr/>
        </p:nvSpPr>
        <p:spPr>
          <a:xfrm rot="0" flipH="0" flipV="0">
            <a:off x="5562600" y="4686900"/>
            <a:ext cx="5867400" cy="600075"/>
          </a:xfrm>
          <a:custGeom>
            <a:pathLst>
              <a:path w="616" h="63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7"/>
                </a:lnTo>
                <a:cubicBezTo>
                  <a:pt x="4" y="60"/>
                  <a:pt x="6" y="62"/>
                  <a:pt x="9" y="63"/>
                </a:cubicBezTo>
                <a:cubicBezTo>
                  <a:pt x="4" y="62"/>
                  <a:pt x="0" y="58"/>
                  <a:pt x="0" y="5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10" name="" descr="{&quot;isTemplate&quot;:true,&quot;type&quot;:&quot;text&quot;}"/>
          <p:cNvSpPr txBox="1"/>
          <p:nvPr/>
        </p:nvSpPr>
        <p:spPr>
          <a:xfrm rot="0" flipH="0" flipV="0">
            <a:off x="5715000" y="4801200"/>
            <a:ext cx="55245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Q4 · </a:t>
            </a: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女性生还率是男性的几倍？</a:t>
            </a:r>
            <a:endParaRPr/>
          </a:p>
        </p:txBody>
      </p:sp>
      <p:sp>
        <p:nvSpPr>
          <p:cNvPr id="711" name="" descr="{&quot;isTemplate&quot;:true,&quot;type&quot;:&quot;text&quot;}"/>
          <p:cNvSpPr txBox="1"/>
          <p:nvPr/>
        </p:nvSpPr>
        <p:spPr>
          <a:xfrm rot="0" flipH="0" flipV="0">
            <a:off x="5715000" y="5029800"/>
            <a:ext cx="5524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8B97A8"/>
                </a:solidFill>
                <a:latin typeface="Consolas"/>
                <a:ea typeface="Consolas"/>
              </a:rPr>
              <a:t>提示：</a:t>
            </a:r>
            <a:r>
              <a:rPr lang="en-US" sz="938">
                <a:solidFill>
                  <a:srgbClr val="8B97A8"/>
                </a:solidFill>
                <a:latin typeface="Consolas"/>
                <a:ea typeface="Consolas"/>
              </a:rPr>
              <a:t>df.groupby('sex')['survived'].mean()</a:t>
            </a:r>
            <a:endParaRPr/>
          </a:p>
        </p:txBody>
      </p:sp>
      <p:sp>
        <p:nvSpPr>
          <p:cNvPr id="712" name=""/>
          <p:cNvSpPr/>
          <p:nvPr/>
        </p:nvSpPr>
        <p:spPr>
          <a:xfrm rot="0" flipH="0" flipV="0">
            <a:off x="5524500" y="5391750"/>
            <a:ext cx="5905500" cy="257175"/>
          </a:xfrm>
          <a:custGeom>
            <a:pathLst>
              <a:path w="620" h="27">
                <a:moveTo>
                  <a:pt x="0" y="0"/>
                </a:moveTo>
                <a:lnTo>
                  <a:pt x="4" y="0"/>
                </a:lnTo>
                <a:lnTo>
                  <a:pt x="4" y="27"/>
                </a:lnTo>
                <a:lnTo>
                  <a:pt x="0" y="27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713" name="" descr="{&quot;isTemplate&quot;:true,&quot;type&quot;:&quot;text&quot;}"/>
          <p:cNvSpPr txBox="1"/>
          <p:nvPr/>
        </p:nvSpPr>
        <p:spPr>
          <a:xfrm rot="0" flipH="0" flipV="0">
            <a:off x="5695950" y="5391750"/>
            <a:ext cx="56959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每个答案下面写一句</a:t>
            </a:r>
            <a:r>
              <a:rPr lang="zh-CN" sz="1088" b="1">
                <a:solidFill>
                  <a:srgbClr val="0E3F8C"/>
                </a:solidFill>
                <a:latin typeface="Source Han Sans SC"/>
                <a:ea typeface="Source Han Sans SC"/>
              </a:rPr>
              <a:t>「我发现……」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——这就是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EDA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第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5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步的假设素材。</a:t>
            </a:r>
            <a:endParaRPr/>
          </a:p>
        </p:txBody>
      </p:sp>
      <p:sp>
        <p:nvSpPr>
          <p:cNvPr id="714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715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26 / 32</a:t>
            </a:r>
            <a:endParaRPr/>
          </a:p>
        </p:txBody>
      </p:sp>
    </p:spTree>
  </p:cSld>
</p:sld>
</file>

<file path=ppt/slides/slide2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16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C · 三张图，三个问题（20 min）&lt;/Text&gt;&#10;    &lt;Text style={{ fontSize: 15, color: 'rgba(255,255,255,0.85)' }}&gt;Module 1 · Week 2&lt;/Text&gt;&#10;  &lt;/Box&gt;&#10;  &lt;Box style={{ position: 'absolute', top: 100, left: 0, width: '100%', height: 540, padding: '14px 84px', flexDirection: 'column' }}&gt;&#10;    &lt;Box style={{ flexDirection: 'row', gap: 18, flex: 1 }}&gt;&#10;      {[&#10;        {&#10;          n: '图 1', q: '乘客年龄分布什么样？', t: '直方图', c: 'df[&quot;age&quot;].plot.hist(bins=30)',&#10;          r: '右偏？集中在哪段？有没有可疑的 0 岁？', col: '#3D7BD9',&#10;          bars: [30, 55, 82, 95, 88, 70, 52, 40, 28, 18, 12, 8],&#10;        },&#10;        {&#10;          n: '图 2', q: '各舱位生还率谁高？', t: '条形图', c: &quot;df.groupby('class')['survived'].mean().plot.bar()&quot;,&#10;          r: '一/二/三等舱的生还率单调递减吗？', col: '#1E4FA8',&#10;          bars: [62, 47, 24],&#10;        },&#10;        {&#10;          n: '图 3', q: '年龄与票价什么关系？', t: '散点图', c: &quot;df.plot.scatter(x='age', y='fare')&quot;,&#10;          r: '有没有天花板（512 的票）？低价票聚集在哪？', col: '#0E3F8C',&#10;          dots: true,&#10;        },&#10;      ].map((k, i) =&gt; (&#10;        &lt;Box key={i} style={{ flex: 1, background: '#F7F9FC', border: '1px solid #E5E7EB', borderTop: '4px solid ' + k.col, borderRadius: 12, padding: '15px 17px', justifyContent: 'space-between' }}&gt;&#10;          &lt;Box&gt;&#10;            &lt;Text style={{ fontSize: 13, color: '#8B97A8', fontWeight: '600' }}&gt;{k.n} · {k.t}&lt;/Text&gt;&#10;            &lt;Text style={{ fontSize: 17, color: '#1A2230', fontWeight: 'bold', marginTop: 2 }}&gt;{k.q}&lt;/Text&gt;&#10;          &lt;/Box&gt;&#10;          &lt;Box style={{ height: 100, justifyContent: 'center', alignItems: 'center' }}&gt;&#10;            {k.bars &amp;&amp; (&#10;              &lt;svg width={230} height={96} viewBox='0 0 230 96'&gt;&#10;                {k.bars.map((h, bi) =&gt; (&#10;                  &lt;rect key={bi} x={bi * (k.bars.length === 3 ? 74 : 19) + 8} y={88 - h * 0.8} width={k.bars.length === 3 ? 56 : 14} height={h * 0.8} rx='3' fill={k.col} opacity='0.85' /&gt;&#10;                ))}&#10;              &lt;/svg&gt;&#10;            )}&#10;            {k.dots &amp;&amp; (&#10;              &lt;svg width={230} height={96} viewBox='0 0 230 96'&gt;&#10;                {[[14, 78], [30, 82], [48, 70], [62, 66], [80, 74], [96, 60], [112, 64], [128, 50], [146, 44], [162, 40], [178, 52], [196, 34], [210, 30], [90, 8], [150, 10]].map((p, di) =&gt; (&#10;                  &lt;circle key={di} cx={p[0]} cy={p[1]} r='5.5' fill={k.col} opacity='0.75' /&gt;&#10;                ))}&#10;              &lt;/svg&gt;&#10;            )}&#10;          &lt;/Box&gt;&#10;          &lt;Box&gt;&#10;            &lt;Text style={{ fontSize: 12.5, color: '#1E4FA8', fontFamily: 'Consolas, Menlo, monospace' }}&gt;{k.c}&lt;/Text&gt;&#10;            &lt;Text style={{ fontSize: 13, color: '#4A5568', lineHeight: 1.5, marginTop: 5 }}&gt;观察点：{k.r}&lt;/Text&gt;&#10;          &lt;/Box&gt;&#10;        &lt;/Box&gt;&#10;      ))}&#10;    &lt;/Box&gt;&#10;    &lt;Box style={{ flexDirection: 'row', gap: 16, marginTop: 14 }}&gt;&#10;      &lt;Box style={{ flex: 1, background: '#F0F5FC', border: '1px solid #D6DCE5', borderRadius: 10, padding: '12px 20px' }}&gt;&#10;        &lt;Text style={{ fontSize: 14.5, color: '#1A2230', lineHeight: 1.6 }}&gt;&#10;          &lt;span style={{ fontWeight: 'bold', color: '#1E4FA8' }}&gt;要求：&lt;/span&gt;每张图配 1–2 句 Markdown 解读——&lt;span style={{ fontWeight: 'bold', color: '#0E3F8C' }}&gt;没有解读的图等于没画&lt;/span&gt;。&#10;          &lt;span style={{ fontSize: 12.5, color: '#8B97A8' }}&gt;A chart without a caption is not analysis.&lt;/span&gt;&#10;        &lt;/Text&gt;&#10;      &lt;/Box&gt;&#10;      &lt;Box style={{ width: 420, borderLeft: '4px solid #0E3F8C', paddingLeft: 14, justifyContent: 'center' }}&gt;&#10;        &lt;Text style={{ fontSize: 14.5, color: '#1A2230', lineHeight: 1.6 }}&gt;&#10;          提速 30 秒：图想不出怎么解读，就回到 Q1–Q4 的答案里找线索。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7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18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19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6195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Lab C ·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三张图，三个问题（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20 min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）</a:t>
            </a:r>
            <a:endParaRPr/>
          </a:p>
        </p:txBody>
      </p:sp>
      <p:sp>
        <p:nvSpPr>
          <p:cNvPr id="720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721" name=""/>
          <p:cNvSpPr/>
          <p:nvPr/>
        </p:nvSpPr>
        <p:spPr>
          <a:xfrm rot="0" flipH="0" flipV="0">
            <a:off x="800100" y="1517100"/>
            <a:ext cx="3419475" cy="3310649"/>
          </a:xfrm>
          <a:prstGeom prst="roundRect">
            <a:avLst>
              <a:gd name="adj" fmla="val 33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22" name=""/>
          <p:cNvSpPr/>
          <p:nvPr/>
        </p:nvSpPr>
        <p:spPr>
          <a:xfrm rot="0" flipH="0" flipV="0">
            <a:off x="800100" y="1517100"/>
            <a:ext cx="3419475" cy="3310649"/>
          </a:xfrm>
          <a:custGeom>
            <a:pathLst>
              <a:path w="359" h="422">
                <a:moveTo>
                  <a:pt x="348" y="0"/>
                </a:moveTo>
                <a:cubicBezTo>
                  <a:pt x="353" y="0"/>
                  <a:pt x="358" y="4"/>
                  <a:pt x="359" y="10"/>
                </a:cubicBezTo>
                <a:cubicBezTo>
                  <a:pt x="358" y="6"/>
                  <a:pt x="355" y="4"/>
                  <a:pt x="351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7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23" name="" descr="{&quot;isTemplate&quot;:true,&quot;type&quot;:&quot;text&quot;}"/>
          <p:cNvSpPr txBox="1"/>
          <p:nvPr/>
        </p:nvSpPr>
        <p:spPr>
          <a:xfrm rot="0" flipH="0" flipV="0">
            <a:off x="962025" y="1659975"/>
            <a:ext cx="30956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8B97A8"/>
                </a:solidFill>
                <a:latin typeface="Source Han Sans SC"/>
                <a:ea typeface="Source Han Sans SC"/>
              </a:rPr>
              <a:t>图</a:t>
            </a:r>
            <a:r>
              <a:rPr lang="en-US" sz="975" b="1">
                <a:solidFill>
                  <a:srgbClr val="8B97A8"/>
                </a:solidFill>
                <a:latin typeface="Source Han Sans SC"/>
                <a:ea typeface="Source Han Sans SC"/>
              </a:rPr>
              <a:t> 1</a:t>
            </a:r>
            <a:r>
              <a:rPr lang="en-US" sz="975" b="1">
                <a:solidFill>
                  <a:srgbClr val="8B97A8"/>
                </a:solidFill>
                <a:latin typeface="Source Han Sans SC"/>
                <a:ea typeface="Source Han Sans SC"/>
              </a:rPr>
              <a:t> · </a:t>
            </a:r>
            <a:r>
              <a:rPr lang="zh-CN" sz="975" b="1">
                <a:solidFill>
                  <a:srgbClr val="8B97A8"/>
                </a:solidFill>
                <a:latin typeface="Source Han Sans SC"/>
                <a:ea typeface="Source Han Sans SC"/>
              </a:rPr>
              <a:t>直方图</a:t>
            </a:r>
            <a:endParaRPr/>
          </a:p>
        </p:txBody>
      </p:sp>
      <p:sp>
        <p:nvSpPr>
          <p:cNvPr id="724" name="" descr="{&quot;isTemplate&quot;:true,&quot;type&quot;:&quot;text&quot;}"/>
          <p:cNvSpPr txBox="1"/>
          <p:nvPr/>
        </p:nvSpPr>
        <p:spPr>
          <a:xfrm rot="0" flipH="0" flipV="0">
            <a:off x="962025" y="1831425"/>
            <a:ext cx="30956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乘客年龄分布什么样？</a:t>
            </a:r>
            <a:endParaRPr/>
          </a:p>
        </p:txBody>
      </p:sp>
      <p:pic>
        <p:nvPicPr>
          <p:cNvPr id="72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419225" y="2323650"/>
            <a:ext cx="2190750" cy="914400"/>
          </a:xfrm>
          <a:prstGeom prst="rect">
            <a:avLst/>
          </a:prstGeom>
          <a:ln/>
        </p:spPr>
      </p:pic>
      <p:sp>
        <p:nvSpPr>
          <p:cNvPr id="726" name="" descr="{&quot;isTemplate&quot;:true,&quot;type&quot;:&quot;text&quot;}"/>
          <p:cNvSpPr txBox="1"/>
          <p:nvPr/>
        </p:nvSpPr>
        <p:spPr>
          <a:xfrm rot="0" flipH="0" flipV="0">
            <a:off x="962025" y="4228650"/>
            <a:ext cx="30956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df["age"].plot.hist(bins=30)</a:t>
            </a:r>
            <a:endParaRPr/>
          </a:p>
        </p:txBody>
      </p:sp>
      <p:sp>
        <p:nvSpPr>
          <p:cNvPr id="727" name="" descr="{&quot;isTemplate&quot;:true,&quot;type&quot;:&quot;text&quot;}"/>
          <p:cNvSpPr txBox="1"/>
          <p:nvPr/>
        </p:nvSpPr>
        <p:spPr>
          <a:xfrm rot="0" flipH="0" flipV="0">
            <a:off x="962025" y="4419150"/>
            <a:ext cx="3095625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观察点：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右偏？集中在哪段？有没有可疑的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0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岁？</a:t>
            </a:r>
            <a:endParaRPr/>
          </a:p>
        </p:txBody>
      </p:sp>
      <p:sp>
        <p:nvSpPr>
          <p:cNvPr id="728" name=""/>
          <p:cNvSpPr/>
          <p:nvPr/>
        </p:nvSpPr>
        <p:spPr>
          <a:xfrm rot="0" flipH="0" flipV="0">
            <a:off x="4391025" y="1517100"/>
            <a:ext cx="3409950" cy="3310649"/>
          </a:xfrm>
          <a:prstGeom prst="roundRect">
            <a:avLst>
              <a:gd name="adj" fmla="val 33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29" name=""/>
          <p:cNvSpPr/>
          <p:nvPr/>
        </p:nvSpPr>
        <p:spPr>
          <a:xfrm rot="0" flipH="0" flipV="0">
            <a:off x="4391025" y="1517100"/>
            <a:ext cx="3409950" cy="3310649"/>
          </a:xfrm>
          <a:custGeom>
            <a:pathLst>
              <a:path w="358" h="422">
                <a:moveTo>
                  <a:pt x="347" y="0"/>
                </a:moveTo>
                <a:cubicBezTo>
                  <a:pt x="352" y="0"/>
                  <a:pt x="357" y="4"/>
                  <a:pt x="358" y="10"/>
                </a:cubicBezTo>
                <a:cubicBezTo>
                  <a:pt x="357" y="6"/>
                  <a:pt x="354" y="4"/>
                  <a:pt x="350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6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30" name="" descr="{&quot;isTemplate&quot;:true,&quot;type&quot;:&quot;text&quot;}"/>
          <p:cNvSpPr txBox="1"/>
          <p:nvPr/>
        </p:nvSpPr>
        <p:spPr>
          <a:xfrm rot="0" flipH="0" flipV="0">
            <a:off x="4552950" y="1659975"/>
            <a:ext cx="3086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8B97A8"/>
                </a:solidFill>
                <a:latin typeface="Source Han Sans SC"/>
                <a:ea typeface="Source Han Sans SC"/>
              </a:rPr>
              <a:t>图</a:t>
            </a:r>
            <a:r>
              <a:rPr lang="en-US" sz="975" b="1">
                <a:solidFill>
                  <a:srgbClr val="8B97A8"/>
                </a:solidFill>
                <a:latin typeface="Source Han Sans SC"/>
                <a:ea typeface="Source Han Sans SC"/>
              </a:rPr>
              <a:t> 2</a:t>
            </a:r>
            <a:r>
              <a:rPr lang="en-US" sz="975" b="1">
                <a:solidFill>
                  <a:srgbClr val="8B97A8"/>
                </a:solidFill>
                <a:latin typeface="Source Han Sans SC"/>
                <a:ea typeface="Source Han Sans SC"/>
              </a:rPr>
              <a:t> · </a:t>
            </a:r>
            <a:r>
              <a:rPr lang="zh-CN" sz="975" b="1">
                <a:solidFill>
                  <a:srgbClr val="8B97A8"/>
                </a:solidFill>
                <a:latin typeface="Source Han Sans SC"/>
                <a:ea typeface="Source Han Sans SC"/>
              </a:rPr>
              <a:t>条形图</a:t>
            </a:r>
            <a:endParaRPr/>
          </a:p>
        </p:txBody>
      </p:sp>
      <p:sp>
        <p:nvSpPr>
          <p:cNvPr id="731" name="" descr="{&quot;isTemplate&quot;:true,&quot;type&quot;:&quot;text&quot;}"/>
          <p:cNvSpPr txBox="1"/>
          <p:nvPr/>
        </p:nvSpPr>
        <p:spPr>
          <a:xfrm rot="0" flipH="0" flipV="0">
            <a:off x="4552950" y="1831425"/>
            <a:ext cx="3086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各舱位生还率谁高？</a:t>
            </a:r>
            <a:endParaRPr/>
          </a:p>
        </p:txBody>
      </p:sp>
      <p:pic>
        <p:nvPicPr>
          <p:cNvPr id="7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000625" y="2247449"/>
            <a:ext cx="2190750" cy="914400"/>
          </a:xfrm>
          <a:prstGeom prst="rect">
            <a:avLst/>
          </a:prstGeom>
          <a:ln/>
        </p:spPr>
      </p:pic>
      <p:sp>
        <p:nvSpPr>
          <p:cNvPr id="733" name="" descr="{&quot;isTemplate&quot;:true,&quot;type&quot;:&quot;text&quot;}"/>
          <p:cNvSpPr txBox="1"/>
          <p:nvPr/>
        </p:nvSpPr>
        <p:spPr>
          <a:xfrm rot="0" flipH="0" flipV="0">
            <a:off x="4552950" y="4085775"/>
            <a:ext cx="3086100" cy="285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df.groupby('class')['survived'].mean().plot.bar()</a:t>
            </a:r>
            <a:endParaRPr/>
          </a:p>
        </p:txBody>
      </p:sp>
      <p:sp>
        <p:nvSpPr>
          <p:cNvPr id="734" name="" descr="{&quot;isTemplate&quot;:true,&quot;type&quot;:&quot;text&quot;}"/>
          <p:cNvSpPr txBox="1"/>
          <p:nvPr/>
        </p:nvSpPr>
        <p:spPr>
          <a:xfrm rot="0" flipH="0" flipV="0">
            <a:off x="4552950" y="4419150"/>
            <a:ext cx="308610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观察点：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一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/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二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/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三等舱的生还率单调递减吗？</a:t>
            </a:r>
            <a:endParaRPr/>
          </a:p>
        </p:txBody>
      </p:sp>
      <p:sp>
        <p:nvSpPr>
          <p:cNvPr id="735" name=""/>
          <p:cNvSpPr/>
          <p:nvPr/>
        </p:nvSpPr>
        <p:spPr>
          <a:xfrm rot="0" flipH="0" flipV="0">
            <a:off x="7972425" y="1517100"/>
            <a:ext cx="3419475" cy="3310649"/>
          </a:xfrm>
          <a:prstGeom prst="roundRect">
            <a:avLst>
              <a:gd name="adj" fmla="val 33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36" name=""/>
          <p:cNvSpPr/>
          <p:nvPr/>
        </p:nvSpPr>
        <p:spPr>
          <a:xfrm rot="0" flipH="0" flipV="0">
            <a:off x="7972425" y="1517100"/>
            <a:ext cx="3419475" cy="3310649"/>
          </a:xfrm>
          <a:custGeom>
            <a:pathLst>
              <a:path w="359" h="422">
                <a:moveTo>
                  <a:pt x="348" y="0"/>
                </a:moveTo>
                <a:cubicBezTo>
                  <a:pt x="353" y="0"/>
                  <a:pt x="358" y="4"/>
                  <a:pt x="359" y="10"/>
                </a:cubicBezTo>
                <a:cubicBezTo>
                  <a:pt x="358" y="6"/>
                  <a:pt x="355" y="4"/>
                  <a:pt x="351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7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737" name="" descr="{&quot;isTemplate&quot;:true,&quot;type&quot;:&quot;text&quot;}"/>
          <p:cNvSpPr txBox="1"/>
          <p:nvPr/>
        </p:nvSpPr>
        <p:spPr>
          <a:xfrm rot="0" flipH="0" flipV="0">
            <a:off x="8134350" y="1659975"/>
            <a:ext cx="30956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8B97A8"/>
                </a:solidFill>
                <a:latin typeface="Source Han Sans SC"/>
                <a:ea typeface="Source Han Sans SC"/>
              </a:rPr>
              <a:t>图</a:t>
            </a:r>
            <a:r>
              <a:rPr lang="en-US" sz="975" b="1">
                <a:solidFill>
                  <a:srgbClr val="8B97A8"/>
                </a:solidFill>
                <a:latin typeface="Source Han Sans SC"/>
                <a:ea typeface="Source Han Sans SC"/>
              </a:rPr>
              <a:t> 3</a:t>
            </a:r>
            <a:r>
              <a:rPr lang="en-US" sz="975" b="1">
                <a:solidFill>
                  <a:srgbClr val="8B97A8"/>
                </a:solidFill>
                <a:latin typeface="Source Han Sans SC"/>
                <a:ea typeface="Source Han Sans SC"/>
              </a:rPr>
              <a:t> · </a:t>
            </a:r>
            <a:r>
              <a:rPr lang="zh-CN" sz="975" b="1">
                <a:solidFill>
                  <a:srgbClr val="8B97A8"/>
                </a:solidFill>
                <a:latin typeface="Source Han Sans SC"/>
                <a:ea typeface="Source Han Sans SC"/>
              </a:rPr>
              <a:t>散点图</a:t>
            </a:r>
            <a:endParaRPr/>
          </a:p>
        </p:txBody>
      </p:sp>
      <p:sp>
        <p:nvSpPr>
          <p:cNvPr id="738" name="" descr="{&quot;isTemplate&quot;:true,&quot;type&quot;:&quot;text&quot;}"/>
          <p:cNvSpPr txBox="1"/>
          <p:nvPr/>
        </p:nvSpPr>
        <p:spPr>
          <a:xfrm rot="0" flipH="0" flipV="0">
            <a:off x="8134350" y="1831425"/>
            <a:ext cx="30956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年龄与票价什么关系？</a:t>
            </a:r>
            <a:endParaRPr/>
          </a:p>
        </p:txBody>
      </p:sp>
      <p:pic>
        <p:nvPicPr>
          <p:cNvPr id="73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591550" y="2323650"/>
            <a:ext cx="2190750" cy="914400"/>
          </a:xfrm>
          <a:prstGeom prst="rect">
            <a:avLst/>
          </a:prstGeom>
          <a:ln/>
        </p:spPr>
      </p:pic>
      <p:sp>
        <p:nvSpPr>
          <p:cNvPr id="740" name="" descr="{&quot;isTemplate&quot;:true,&quot;type&quot;:&quot;text&quot;}"/>
          <p:cNvSpPr txBox="1"/>
          <p:nvPr/>
        </p:nvSpPr>
        <p:spPr>
          <a:xfrm rot="0" flipH="0" flipV="0">
            <a:off x="8134350" y="4228650"/>
            <a:ext cx="30956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df.plot.scatter(x='age', y='fare')</a:t>
            </a:r>
            <a:endParaRPr/>
          </a:p>
        </p:txBody>
      </p:sp>
      <p:sp>
        <p:nvSpPr>
          <p:cNvPr id="741" name="" descr="{&quot;isTemplate&quot;:true,&quot;type&quot;:&quot;text&quot;}"/>
          <p:cNvSpPr txBox="1"/>
          <p:nvPr/>
        </p:nvSpPr>
        <p:spPr>
          <a:xfrm rot="0" flipH="0" flipV="0">
            <a:off x="8134350" y="4419150"/>
            <a:ext cx="3095625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观察点：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有没有天花板（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512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的票）？低价票聚集在哪？</a:t>
            </a:r>
            <a:endParaRPr/>
          </a:p>
        </p:txBody>
      </p:sp>
      <p:sp>
        <p:nvSpPr>
          <p:cNvPr id="742" name=""/>
          <p:cNvSpPr/>
          <p:nvPr/>
        </p:nvSpPr>
        <p:spPr>
          <a:xfrm rot="0" flipH="0" flipV="0">
            <a:off x="800100" y="4923000"/>
            <a:ext cx="6438900" cy="723900"/>
          </a:xfrm>
          <a:prstGeom prst="roundRect">
            <a:avLst>
              <a:gd name="adj" fmla="val 1315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743" name="" descr="{&quot;isTemplate&quot;:true,&quot;type&quot;:&quot;text&quot;}"/>
          <p:cNvSpPr txBox="1"/>
          <p:nvPr/>
        </p:nvSpPr>
        <p:spPr>
          <a:xfrm rot="0" flipH="0" flipV="0">
            <a:off x="990600" y="5037299"/>
            <a:ext cx="605790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88" b="1">
                <a:solidFill>
                  <a:srgbClr val="1E4FA8"/>
                </a:solidFill>
                <a:latin typeface="Source Han Sans SC"/>
                <a:ea typeface="Source Han Sans SC"/>
              </a:rPr>
              <a:t>要求：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每张图配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1–2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句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Markdown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解读——</a:t>
            </a:r>
            <a:r>
              <a:rPr lang="zh-CN" sz="1088" b="1">
                <a:solidFill>
                  <a:srgbClr val="0E3F8C"/>
                </a:solidFill>
                <a:latin typeface="Source Han Sans SC"/>
                <a:ea typeface="Source Han Sans SC"/>
              </a:rPr>
              <a:t>没有解读的图等于没画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。</a:t>
            </a: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A chart without a caption is not analysis.</a:t>
            </a:r>
            <a:endParaRPr/>
          </a:p>
        </p:txBody>
      </p:sp>
      <p:sp>
        <p:nvSpPr>
          <p:cNvPr id="744" name=""/>
          <p:cNvSpPr/>
          <p:nvPr/>
        </p:nvSpPr>
        <p:spPr>
          <a:xfrm rot="0" flipH="0" flipV="0">
            <a:off x="7391400" y="4923000"/>
            <a:ext cx="4000500" cy="723900"/>
          </a:xfrm>
          <a:custGeom>
            <a:pathLst>
              <a:path w="420" h="76">
                <a:moveTo>
                  <a:pt x="0" y="0"/>
                </a:moveTo>
                <a:lnTo>
                  <a:pt x="4" y="0"/>
                </a:lnTo>
                <a:lnTo>
                  <a:pt x="4" y="76"/>
                </a:lnTo>
                <a:lnTo>
                  <a:pt x="0" y="76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745" name="" descr="{&quot;isTemplate&quot;:true,&quot;type&quot;:&quot;text&quot;}"/>
          <p:cNvSpPr txBox="1"/>
          <p:nvPr/>
        </p:nvSpPr>
        <p:spPr>
          <a:xfrm rot="0" flipH="0" flipV="0">
            <a:off x="7562850" y="5018249"/>
            <a:ext cx="38290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提速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30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秒：图想不出怎么解读，就回到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Q1–Q4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的答案里找线索。</a:t>
            </a:r>
            <a:endParaRPr/>
          </a:p>
        </p:txBody>
      </p:sp>
      <p:sp>
        <p:nvSpPr>
          <p:cNvPr id="746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747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27 / 32</a:t>
            </a:r>
            <a:endParaRPr/>
          </a:p>
        </p:txBody>
      </p:sp>
    </p:spTree>
  </p:cSld>
</p:sld>
</file>

<file path=ppt/slides/slide28.xml><?xml version="1.0" encoding="utf-8"?>
<p:sld xmlns:a="http://schemas.openxmlformats.org/drawingml/2006/main" xmlns:p="http://schemas.openxmlformats.org/presentationml/2006/main">
  <p:cSld>
    <p:spTree>
      <p:nvGrpSpPr>
        <p:cNvPr id="748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D · 清洗实战（15 min）&lt;/Text&gt;&#10;    &lt;Text style={{ fontSize: 15, color: 'rgba(255,255,255,0.85)' }}&gt;Module 1 · Week 2&lt;/Text&gt;&#10;  &lt;/Box&gt;&#10;  &lt;Box style={{ position: 'absolute', top: 100, left: 0, width: '100%', height: 540, padding: '14px 84px', flexDirection: 'row', gap: 26 }}&gt;&#10;    &lt;Box style={{ flex: 1, gap: 10 }}&gt;&#10;      &lt;Text style={{ fontSize: 16.5, color: '#0E3F8C', fontWeight: 'bold' }}&gt;清洗清单 · 按顺序执行&lt;/Text&gt;&#10;      {[&#10;        { n: '1', t: 'age 缺失 177 个', d: '偏态分布 → 用中位数填充，并加一列 age_missing 标记。', c: '#3D7BD9' },&#10;        { n: '2', t: 'embarked 缺 2 个', d: '类别列且缺失极少 → 众数填充。', c: '#1E4FA8' },&#10;        { n: '3', t: 'fare 异常（0 元与 512 元）', d: 'IQR 上下界截断，别删除——0 元票可能有故事。', c: '#0E3F8C' },&#10;        { n: '4', t: '重复行检查', d: 'df.duplicated().sum()，有则 drop_duplicates()。', c: '#1E4FA8' },&#10;        { n: '5', t: '清洗后复检', d: '重跑 df.info() + describe()，对比清洗前后的变化。', c: '#3D7BD9' },&#10;      ].map((r, i) =&gt; (&#10;        &lt;Box key={i} style={{ flexDirection: 'row', gap: 12, alignItems: 'flex-start', background: '#F7F9FC', border: '1px solid #E5E7EB', borderLeft: '4px solid ' + r.c, borderRadius: 10, padding: '10px 15px' }}&gt;&#10;          &lt;Box style={{ width: 26, height: 26, borderRadius: 8, background: '#E8EFF8', justifyContent: 'center', alignItems: 'center', flexShrink: 0 }}&gt;&#10;            &lt;Text style={{ fontSize: 13.5, color: '#1E4FA8', fontWeight: 'bold' }}&gt;{r.n}&lt;/Text&gt;&#10;          &lt;/Box&gt;&#10;          &lt;Box style={{ flex: 1 }}&gt;&#10;            &lt;Text style={{ fontSize: 15.5, color: '#1A2230', fontWeight: 'bold' }}&gt;{r.t}&lt;/Text&gt;&#10;            &lt;Text style={{ fontSize: 13.5, color: '#4A5568', marginTop: 1, lineHeight: 1.5 }}&gt;{r.d}&lt;/Text&gt;&#10;          &lt;/Box&gt;&#10;        &lt;/Box&gt;&#10;      ))}&#10;    &lt;/Box&gt;&#10;    &lt;Box style={{ width: 490, flexShrink: 0 }}&gt;&#10;      &lt;Box style={{ background: '#1A2230', borderRadius: 12, padding: '16px 22px', height: 400 }}&gt;&#10;        &lt;Text style={{ fontSize: 14, color: '#8B97A8', marginBottom: 8 }}&gt;# 参考骨架 · skeleton&lt;/Text&gt;&#10;        &lt;Text style={{ fontSize: 14, color: '#A8D8B9', lineHeight: 1.95, fontFamily: 'Consolas, Menlo, monospace' }}&gt;&#10;          # 1. age：中位数填充 + 标记{'\n'}&#10;          med = df['age'].median(){'\n'}&#10;          df['age_missing'] = df['age'].isna(){'\n'}&#10;          df['age'] = df['age'].fillna(med){'\n\n'}&#10;          # 2. embarked：众数填充{'\n'}&#10;          mode = df['embarked'].mode()[0]{'\n'}&#10;          df['embarked'] = df['embarked'].fillna(mode){'\n\n'}&#10;          # 3. fare：IQR 截断{'\n'}&#10;          q1, q3 = df['fare'].quantile([.25, .75]){'\n'}&#10;          iqr = q3 - q1{'\n'}&#10;          df['fare'] = df['fare'].clip(q1 - 1.5*iqr,{'\n'}&#10;          &amp;nbsp;&amp;nbsp;&amp;nbsp;&amp;nbsp;&amp;nbsp;&amp;nbsp;&amp;nbsp;&amp;nbsp;&amp;nbsp;&amp;nbsp;&amp;nbsp;&amp;nbsp;&amp;nbsp;&amp;nbsp;&amp;nbsp;&amp;nbsp;&amp;nbsp;&amp;nbsp;&amp;nbsp;&amp;nbsp;&amp;nbsp;&amp;nbsp;&amp;nbsp;&amp;nbsp;&amp;nbsp;&amp;nbsp;&amp;nbsp;&amp;nbsp;&amp;nbsp;&amp;nbsp; q3 + 1.5*iqr)&#10;        &lt;/Text&gt;&#10;      &lt;/Box&gt;&#10;      &lt;Box style={{ borderLeft: '4px solid #0E3F8C', paddingLeft: 14, marginTop: 12 }}&gt;&#10;        &lt;Text style={{ fontSize: 14, color: '#1A2230', lineHeight: 1.55 }}&gt;&#10;          每一步前写一行 &lt;span style={{ color: '#0E3F8C', fontFamily: 'Consolas, Menlo, monospace' }}&gt;## 为什么这么做&lt;/span&gt;——评分就看这个。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8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50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51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7432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Lab D · 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清洗实战（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15 min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）</a:t>
            </a:r>
            <a:endParaRPr/>
          </a:p>
        </p:txBody>
      </p:sp>
      <p:sp>
        <p:nvSpPr>
          <p:cNvPr id="752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753" name="" descr="{&quot;isTemplate&quot;:true,&quot;type&quot;:&quot;text&quot;}"/>
          <p:cNvSpPr txBox="1"/>
          <p:nvPr/>
        </p:nvSpPr>
        <p:spPr>
          <a:xfrm rot="0" flipH="0" flipV="0">
            <a:off x="800100" y="1085850"/>
            <a:ext cx="5676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38" b="1">
                <a:solidFill>
                  <a:srgbClr val="0E3F8C"/>
                </a:solidFill>
                <a:latin typeface="Source Han Sans SC"/>
                <a:ea typeface="Source Han Sans SC"/>
              </a:rPr>
              <a:t>清洗清单</a:t>
            </a:r>
            <a:r>
              <a:rPr lang="en-US" sz="1238" b="1">
                <a:solidFill>
                  <a:srgbClr val="0E3F8C"/>
                </a:solidFill>
                <a:latin typeface="Source Han Sans SC"/>
                <a:ea typeface="Source Han Sans SC"/>
              </a:rPr>
              <a:t> · </a:t>
            </a:r>
            <a:r>
              <a:rPr lang="zh-CN" sz="1238" b="1">
                <a:solidFill>
                  <a:srgbClr val="0E3F8C"/>
                </a:solidFill>
                <a:latin typeface="Source Han Sans SC"/>
                <a:ea typeface="Source Han Sans SC"/>
              </a:rPr>
              <a:t>按顺序执行</a:t>
            </a:r>
            <a:endParaRPr/>
          </a:p>
        </p:txBody>
      </p:sp>
      <p:sp>
        <p:nvSpPr>
          <p:cNvPr id="754" name=""/>
          <p:cNvSpPr/>
          <p:nvPr/>
        </p:nvSpPr>
        <p:spPr>
          <a:xfrm rot="0" flipH="0" flipV="0">
            <a:off x="838200" y="1371600"/>
            <a:ext cx="5676900" cy="619125"/>
          </a:xfrm>
          <a:prstGeom prst="roundRect">
            <a:avLst>
              <a:gd name="adj" fmla="val 1538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55" name=""/>
          <p:cNvSpPr/>
          <p:nvPr/>
        </p:nvSpPr>
        <p:spPr>
          <a:xfrm rot="0" flipH="0" flipV="0">
            <a:off x="838200" y="1371600"/>
            <a:ext cx="5676900" cy="619125"/>
          </a:xfrm>
          <a:custGeom>
            <a:pathLst>
              <a:path w="596" h="6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9"/>
                </a:lnTo>
                <a:cubicBezTo>
                  <a:pt x="4" y="62"/>
                  <a:pt x="6" y="64"/>
                  <a:pt x="9" y="65"/>
                </a:cubicBezTo>
                <a:cubicBezTo>
                  <a:pt x="4" y="64"/>
                  <a:pt x="0" y="60"/>
                  <a:pt x="0" y="5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56" name=""/>
          <p:cNvSpPr/>
          <p:nvPr/>
        </p:nvSpPr>
        <p:spPr>
          <a:xfrm rot="0" flipH="0" flipV="0">
            <a:off x="981075" y="1466850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57" name="" descr="{&quot;isTemplate&quot;:true,&quot;type&quot;:&quot;text&quot;}"/>
          <p:cNvSpPr txBox="1"/>
          <p:nvPr/>
        </p:nvSpPr>
        <p:spPr>
          <a:xfrm rot="0" flipH="0" flipV="0">
            <a:off x="1076325" y="1514475"/>
            <a:ext cx="57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Source Han Sans SC"/>
                <a:ea typeface="Source Han Sans SC"/>
              </a:rPr>
              <a:t>1</a:t>
            </a:r>
            <a:endParaRPr/>
          </a:p>
        </p:txBody>
      </p:sp>
      <p:sp>
        <p:nvSpPr>
          <p:cNvPr id="758" name="" descr="{&quot;isTemplate&quot;:true,&quot;type&quot;:&quot;text&quot;}"/>
          <p:cNvSpPr txBox="1"/>
          <p:nvPr/>
        </p:nvSpPr>
        <p:spPr>
          <a:xfrm rot="0" flipH="0" flipV="0">
            <a:off x="1343025" y="1466850"/>
            <a:ext cx="4991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age </a:t>
            </a: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缺失</a:t>
            </a: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 177 </a:t>
            </a: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个</a:t>
            </a:r>
            <a:endParaRPr/>
          </a:p>
        </p:txBody>
      </p:sp>
      <p:sp>
        <p:nvSpPr>
          <p:cNvPr id="759" name="" descr="{&quot;isTemplate&quot;:true,&quot;type&quot;:&quot;text&quot;}"/>
          <p:cNvSpPr txBox="1"/>
          <p:nvPr/>
        </p:nvSpPr>
        <p:spPr>
          <a:xfrm rot="0" flipH="0" flipV="0">
            <a:off x="1343025" y="1657350"/>
            <a:ext cx="49911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偏态分布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→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用中位数填充，并加一列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age_missing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标记。</a:t>
            </a:r>
            <a:endParaRPr/>
          </a:p>
        </p:txBody>
      </p:sp>
      <p:sp>
        <p:nvSpPr>
          <p:cNvPr id="760" name=""/>
          <p:cNvSpPr/>
          <p:nvPr/>
        </p:nvSpPr>
        <p:spPr>
          <a:xfrm rot="0" flipH="0" flipV="0">
            <a:off x="838200" y="2085975"/>
            <a:ext cx="5676900" cy="619125"/>
          </a:xfrm>
          <a:prstGeom prst="roundRect">
            <a:avLst>
              <a:gd name="adj" fmla="val 1538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61" name=""/>
          <p:cNvSpPr/>
          <p:nvPr/>
        </p:nvSpPr>
        <p:spPr>
          <a:xfrm rot="0" flipH="0" flipV="0">
            <a:off x="838200" y="2085975"/>
            <a:ext cx="5676900" cy="619125"/>
          </a:xfrm>
          <a:custGeom>
            <a:pathLst>
              <a:path w="596" h="6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9"/>
                </a:lnTo>
                <a:cubicBezTo>
                  <a:pt x="4" y="62"/>
                  <a:pt x="6" y="64"/>
                  <a:pt x="9" y="65"/>
                </a:cubicBezTo>
                <a:cubicBezTo>
                  <a:pt x="4" y="64"/>
                  <a:pt x="0" y="60"/>
                  <a:pt x="0" y="5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62" name=""/>
          <p:cNvSpPr/>
          <p:nvPr/>
        </p:nvSpPr>
        <p:spPr>
          <a:xfrm rot="0" flipH="0" flipV="0">
            <a:off x="981075" y="218122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63" name="" descr="{&quot;isTemplate&quot;:true,&quot;type&quot;:&quot;text&quot;}"/>
          <p:cNvSpPr txBox="1"/>
          <p:nvPr/>
        </p:nvSpPr>
        <p:spPr>
          <a:xfrm rot="0" flipH="0" flipV="0">
            <a:off x="1066800" y="2228850"/>
            <a:ext cx="85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Source Han Sans SC"/>
                <a:ea typeface="Source Han Sans SC"/>
              </a:rPr>
              <a:t>2</a:t>
            </a:r>
            <a:endParaRPr/>
          </a:p>
        </p:txBody>
      </p:sp>
      <p:sp>
        <p:nvSpPr>
          <p:cNvPr id="764" name="" descr="{&quot;isTemplate&quot;:true,&quot;type&quot;:&quot;text&quot;}"/>
          <p:cNvSpPr txBox="1"/>
          <p:nvPr/>
        </p:nvSpPr>
        <p:spPr>
          <a:xfrm rot="0" flipH="0" flipV="0">
            <a:off x="1343025" y="2181225"/>
            <a:ext cx="4991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embarked </a:t>
            </a: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缺</a:t>
            </a: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 2 </a:t>
            </a: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个</a:t>
            </a:r>
            <a:endParaRPr/>
          </a:p>
        </p:txBody>
      </p:sp>
      <p:sp>
        <p:nvSpPr>
          <p:cNvPr id="765" name="" descr="{&quot;isTemplate&quot;:true,&quot;type&quot;:&quot;text&quot;}"/>
          <p:cNvSpPr txBox="1"/>
          <p:nvPr/>
        </p:nvSpPr>
        <p:spPr>
          <a:xfrm rot="0" flipH="0" flipV="0">
            <a:off x="1343025" y="2371725"/>
            <a:ext cx="49911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类别列且缺失极少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→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众数填充。</a:t>
            </a:r>
            <a:endParaRPr/>
          </a:p>
        </p:txBody>
      </p:sp>
      <p:sp>
        <p:nvSpPr>
          <p:cNvPr id="766" name=""/>
          <p:cNvSpPr/>
          <p:nvPr/>
        </p:nvSpPr>
        <p:spPr>
          <a:xfrm rot="0" flipH="0" flipV="0">
            <a:off x="838200" y="2800350"/>
            <a:ext cx="5676900" cy="619125"/>
          </a:xfrm>
          <a:prstGeom prst="roundRect">
            <a:avLst>
              <a:gd name="adj" fmla="val 1538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67" name=""/>
          <p:cNvSpPr/>
          <p:nvPr/>
        </p:nvSpPr>
        <p:spPr>
          <a:xfrm rot="0" flipH="0" flipV="0">
            <a:off x="838200" y="2800350"/>
            <a:ext cx="5676900" cy="619125"/>
          </a:xfrm>
          <a:custGeom>
            <a:pathLst>
              <a:path w="596" h="6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9"/>
                </a:lnTo>
                <a:cubicBezTo>
                  <a:pt x="4" y="62"/>
                  <a:pt x="6" y="64"/>
                  <a:pt x="9" y="65"/>
                </a:cubicBezTo>
                <a:cubicBezTo>
                  <a:pt x="4" y="64"/>
                  <a:pt x="0" y="60"/>
                  <a:pt x="0" y="5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768" name=""/>
          <p:cNvSpPr/>
          <p:nvPr/>
        </p:nvSpPr>
        <p:spPr>
          <a:xfrm rot="0" flipH="0" flipV="0">
            <a:off x="981075" y="2895600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69" name="" descr="{&quot;isTemplate&quot;:true,&quot;type&quot;:&quot;text&quot;}"/>
          <p:cNvSpPr txBox="1"/>
          <p:nvPr/>
        </p:nvSpPr>
        <p:spPr>
          <a:xfrm rot="0" flipH="0" flipV="0">
            <a:off x="1066800" y="2943225"/>
            <a:ext cx="85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Source Han Sans SC"/>
                <a:ea typeface="Source Han Sans SC"/>
              </a:rPr>
              <a:t>3</a:t>
            </a:r>
            <a:endParaRPr/>
          </a:p>
        </p:txBody>
      </p:sp>
      <p:sp>
        <p:nvSpPr>
          <p:cNvPr id="770" name="" descr="{&quot;isTemplate&quot;:true,&quot;type&quot;:&quot;text&quot;}"/>
          <p:cNvSpPr txBox="1"/>
          <p:nvPr/>
        </p:nvSpPr>
        <p:spPr>
          <a:xfrm rot="0" flipH="0" flipV="0">
            <a:off x="1343025" y="2895600"/>
            <a:ext cx="4991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fare </a:t>
            </a: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异常（</a:t>
            </a: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0 </a:t>
            </a: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元与</a:t>
            </a:r>
            <a:r>
              <a:rPr lang="en-US" sz="1163" b="1">
                <a:solidFill>
                  <a:srgbClr val="1A2230"/>
                </a:solidFill>
                <a:latin typeface="Source Han Sans SC"/>
                <a:ea typeface="Source Han Sans SC"/>
              </a:rPr>
              <a:t> 512 </a:t>
            </a: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元）</a:t>
            </a:r>
            <a:endParaRPr/>
          </a:p>
        </p:txBody>
      </p:sp>
      <p:sp>
        <p:nvSpPr>
          <p:cNvPr id="771" name="" descr="{&quot;isTemplate&quot;:true,&quot;type&quot;:&quot;text&quot;}"/>
          <p:cNvSpPr txBox="1"/>
          <p:nvPr/>
        </p:nvSpPr>
        <p:spPr>
          <a:xfrm rot="0" flipH="0" flipV="0">
            <a:off x="1343025" y="3086100"/>
            <a:ext cx="49911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IQR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上下界截断，别删除——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0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元票可能有故事。</a:t>
            </a:r>
            <a:endParaRPr/>
          </a:p>
        </p:txBody>
      </p:sp>
      <p:sp>
        <p:nvSpPr>
          <p:cNvPr id="772" name=""/>
          <p:cNvSpPr/>
          <p:nvPr/>
        </p:nvSpPr>
        <p:spPr>
          <a:xfrm rot="0" flipH="0" flipV="0">
            <a:off x="838200" y="3514725"/>
            <a:ext cx="5676900" cy="619125"/>
          </a:xfrm>
          <a:prstGeom prst="roundRect">
            <a:avLst>
              <a:gd name="adj" fmla="val 1538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73" name=""/>
          <p:cNvSpPr/>
          <p:nvPr/>
        </p:nvSpPr>
        <p:spPr>
          <a:xfrm rot="0" flipH="0" flipV="0">
            <a:off x="838200" y="3514725"/>
            <a:ext cx="5676900" cy="619125"/>
          </a:xfrm>
          <a:custGeom>
            <a:pathLst>
              <a:path w="596" h="6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9"/>
                </a:lnTo>
                <a:cubicBezTo>
                  <a:pt x="4" y="62"/>
                  <a:pt x="6" y="64"/>
                  <a:pt x="9" y="65"/>
                </a:cubicBezTo>
                <a:cubicBezTo>
                  <a:pt x="4" y="64"/>
                  <a:pt x="0" y="60"/>
                  <a:pt x="0" y="5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74" name=""/>
          <p:cNvSpPr/>
          <p:nvPr/>
        </p:nvSpPr>
        <p:spPr>
          <a:xfrm rot="0" flipH="0" flipV="0">
            <a:off x="981075" y="360997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75" name="" descr="{&quot;isTemplate&quot;:true,&quot;type&quot;:&quot;text&quot;}"/>
          <p:cNvSpPr txBox="1"/>
          <p:nvPr/>
        </p:nvSpPr>
        <p:spPr>
          <a:xfrm rot="0" flipH="0" flipV="0">
            <a:off x="1066800" y="3657600"/>
            <a:ext cx="85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Source Han Sans SC"/>
                <a:ea typeface="Source Han Sans SC"/>
              </a:rPr>
              <a:t>4</a:t>
            </a:r>
            <a:endParaRPr/>
          </a:p>
        </p:txBody>
      </p:sp>
      <p:sp>
        <p:nvSpPr>
          <p:cNvPr id="776" name="" descr="{&quot;isTemplate&quot;:true,&quot;type&quot;:&quot;text&quot;}"/>
          <p:cNvSpPr txBox="1"/>
          <p:nvPr/>
        </p:nvSpPr>
        <p:spPr>
          <a:xfrm rot="0" flipH="0" flipV="0">
            <a:off x="1343025" y="3609975"/>
            <a:ext cx="4991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重复行检查</a:t>
            </a:r>
            <a:endParaRPr/>
          </a:p>
        </p:txBody>
      </p:sp>
      <p:sp>
        <p:nvSpPr>
          <p:cNvPr id="777" name="" descr="{&quot;isTemplate&quot;:true,&quot;type&quot;:&quot;text&quot;}"/>
          <p:cNvSpPr txBox="1"/>
          <p:nvPr/>
        </p:nvSpPr>
        <p:spPr>
          <a:xfrm rot="0" flipH="0" flipV="0">
            <a:off x="1343025" y="3800475"/>
            <a:ext cx="49911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df.duplicated().sum()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，有则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drop_duplicates()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。</a:t>
            </a:r>
            <a:endParaRPr/>
          </a:p>
        </p:txBody>
      </p:sp>
      <p:sp>
        <p:nvSpPr>
          <p:cNvPr id="778" name=""/>
          <p:cNvSpPr/>
          <p:nvPr/>
        </p:nvSpPr>
        <p:spPr>
          <a:xfrm rot="0" flipH="0" flipV="0">
            <a:off x="838200" y="4229100"/>
            <a:ext cx="5676900" cy="619125"/>
          </a:xfrm>
          <a:prstGeom prst="roundRect">
            <a:avLst>
              <a:gd name="adj" fmla="val 1538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79" name=""/>
          <p:cNvSpPr/>
          <p:nvPr/>
        </p:nvSpPr>
        <p:spPr>
          <a:xfrm rot="0" flipH="0" flipV="0">
            <a:off x="838200" y="4229100"/>
            <a:ext cx="5676900" cy="619125"/>
          </a:xfrm>
          <a:custGeom>
            <a:pathLst>
              <a:path w="596" h="6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9"/>
                </a:lnTo>
                <a:cubicBezTo>
                  <a:pt x="4" y="62"/>
                  <a:pt x="6" y="64"/>
                  <a:pt x="9" y="65"/>
                </a:cubicBezTo>
                <a:cubicBezTo>
                  <a:pt x="4" y="64"/>
                  <a:pt x="0" y="60"/>
                  <a:pt x="0" y="5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80" name=""/>
          <p:cNvSpPr/>
          <p:nvPr/>
        </p:nvSpPr>
        <p:spPr>
          <a:xfrm rot="0" flipH="0" flipV="0">
            <a:off x="981075" y="4324350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81" name="" descr="{&quot;isTemplate&quot;:true,&quot;type&quot;:&quot;text&quot;}"/>
          <p:cNvSpPr txBox="1"/>
          <p:nvPr/>
        </p:nvSpPr>
        <p:spPr>
          <a:xfrm rot="0" flipH="0" flipV="0">
            <a:off x="1066800" y="4371975"/>
            <a:ext cx="85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Source Han Sans SC"/>
                <a:ea typeface="Source Han Sans SC"/>
              </a:rPr>
              <a:t>5</a:t>
            </a:r>
            <a:endParaRPr/>
          </a:p>
        </p:txBody>
      </p:sp>
      <p:sp>
        <p:nvSpPr>
          <p:cNvPr id="782" name="" descr="{&quot;isTemplate&quot;:true,&quot;type&quot;:&quot;text&quot;}"/>
          <p:cNvSpPr txBox="1"/>
          <p:nvPr/>
        </p:nvSpPr>
        <p:spPr>
          <a:xfrm rot="0" flipH="0" flipV="0">
            <a:off x="1343025" y="4324350"/>
            <a:ext cx="4991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A2230"/>
                </a:solidFill>
                <a:latin typeface="Source Han Sans SC"/>
                <a:ea typeface="Source Han Sans SC"/>
              </a:rPr>
              <a:t>清洗后复检</a:t>
            </a:r>
            <a:endParaRPr/>
          </a:p>
        </p:txBody>
      </p:sp>
      <p:sp>
        <p:nvSpPr>
          <p:cNvPr id="783" name="" descr="{&quot;isTemplate&quot;:true,&quot;type&quot;:&quot;text&quot;}"/>
          <p:cNvSpPr txBox="1"/>
          <p:nvPr/>
        </p:nvSpPr>
        <p:spPr>
          <a:xfrm rot="0" flipH="0" flipV="0">
            <a:off x="1343025" y="4514850"/>
            <a:ext cx="49911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重跑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df.info() + describe()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，对比清洗前后的变化。</a:t>
            </a:r>
            <a:endParaRPr/>
          </a:p>
        </p:txBody>
      </p:sp>
      <p:sp>
        <p:nvSpPr>
          <p:cNvPr id="784" name=""/>
          <p:cNvSpPr/>
          <p:nvPr/>
        </p:nvSpPr>
        <p:spPr>
          <a:xfrm rot="0" flipH="0" flipV="0">
            <a:off x="6724650" y="1085850"/>
            <a:ext cx="4667250" cy="3810000"/>
          </a:xfrm>
          <a:prstGeom prst="roundRect">
            <a:avLst>
              <a:gd name="adj" fmla="val 3000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785" name="" descr="{&quot;isTemplate&quot;:true,&quot;type&quot;:&quot;text&quot;}"/>
          <p:cNvSpPr txBox="1"/>
          <p:nvPr/>
        </p:nvSpPr>
        <p:spPr>
          <a:xfrm rot="0" flipH="0" flipV="0">
            <a:off x="6934200" y="1238250"/>
            <a:ext cx="4248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# </a:t>
            </a:r>
            <a:r>
              <a:rPr lang="zh-CN" sz="1050">
                <a:solidFill>
                  <a:srgbClr val="8B97A8"/>
                </a:solidFill>
                <a:latin typeface="Source Han Sans SC"/>
                <a:ea typeface="Source Han Sans SC"/>
              </a:rPr>
              <a:t>参考骨架</a:t>
            </a: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 · skeleton</a:t>
            </a:r>
            <a:endParaRPr/>
          </a:p>
        </p:txBody>
      </p:sp>
      <p:sp>
        <p:nvSpPr>
          <p:cNvPr id="786" name="" descr="{&quot;isTemplate&quot;:true,&quot;type&quot;:&quot;text&quot;}"/>
          <p:cNvSpPr txBox="1"/>
          <p:nvPr/>
        </p:nvSpPr>
        <p:spPr>
          <a:xfrm rot="0" flipH="0" flipV="0">
            <a:off x="6934200" y="1476375"/>
            <a:ext cx="4248150" cy="4371975"/>
          </a:xfrm>
          <a:prstGeom prst="rect"/>
        </p:spPr>
        <p:txBody>
          <a:bodyPr wrap="none" lIns="0" tIns="0" rIns="0" bIns="0"/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# 1. age</a:t>
            </a:r>
            <a:r>
              <a:rPr lang="zh-CN" sz="1050">
                <a:solidFill>
                  <a:srgbClr val="A8D8B9"/>
                </a:solidFill>
                <a:latin typeface="Consolas"/>
                <a:ea typeface="Consolas"/>
              </a:rPr>
              <a:t>：中位数填充</a:t>
            </a: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 + </a:t>
            </a:r>
            <a:r>
              <a:rPr lang="zh-CN" sz="1050">
                <a:solidFill>
                  <a:srgbClr val="A8D8B9"/>
                </a:solidFill>
                <a:latin typeface="Consolas"/>
                <a:ea typeface="Consolas"/>
              </a:rPr>
              <a:t>标记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med = df['age'].median()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df['age_missing'] = df['age'].isna()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df['age'] = df['age'].fillna(med)</a:t>
            </a:r>
            <a:r>
              <a:rPr sz="1050">
                <a:solidFill>
                  <a:srgbClr val="A8D8B9"/>
                </a:solidFill>
                <a:latin typeface="Consolas"/>
                <a:ea typeface="Consolas"/>
              </a:rPr>
              <a:t>
</a:t>
            </a: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# 2. embarked</a:t>
            </a:r>
            <a:r>
              <a:rPr lang="zh-CN" sz="1050">
                <a:solidFill>
                  <a:srgbClr val="A8D8B9"/>
                </a:solidFill>
                <a:latin typeface="Consolas"/>
                <a:ea typeface="Consolas"/>
              </a:rPr>
              <a:t>：众数填充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mode = df['embarked'].mode()[0]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df['embarked'] = df['embarked'].fillna(mode)</a:t>
            </a:r>
            <a:r>
              <a:rPr sz="1050">
                <a:solidFill>
                  <a:srgbClr val="A8D8B9"/>
                </a:solidFill>
                <a:latin typeface="Consolas"/>
                <a:ea typeface="Consolas"/>
              </a:rPr>
              <a:t>
</a:t>
            </a: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# 3. fare</a:t>
            </a:r>
            <a:r>
              <a:rPr lang="zh-CN" sz="1050">
                <a:solidFill>
                  <a:srgbClr val="A8D8B9"/>
                </a:solidFill>
                <a:latin typeface="Consolas"/>
                <a:ea typeface="Consolas"/>
              </a:rPr>
              <a:t>：</a:t>
            </a: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IQR </a:t>
            </a:r>
            <a:r>
              <a:rPr lang="zh-CN" sz="1050">
                <a:solidFill>
                  <a:srgbClr val="A8D8B9"/>
                </a:solidFill>
                <a:latin typeface="Consolas"/>
                <a:ea typeface="Consolas"/>
              </a:rPr>
              <a:t>截断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q1, q3 = df['fare'].quantile([.25, .75])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iqr = q3 - q1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df['fare'] = df['fare'].clip(q1 - 1.5*iqr,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                               q3 + 1.5*iqr)</a:t>
            </a:r>
            <a:endParaRPr/>
          </a:p>
        </p:txBody>
      </p:sp>
      <p:sp>
        <p:nvSpPr>
          <p:cNvPr id="787" name=""/>
          <p:cNvSpPr/>
          <p:nvPr/>
        </p:nvSpPr>
        <p:spPr>
          <a:xfrm rot="0" flipH="0" flipV="0">
            <a:off x="6724650" y="5010150"/>
            <a:ext cx="4705350" cy="257175"/>
          </a:xfrm>
          <a:custGeom>
            <a:pathLst>
              <a:path w="494" h="27">
                <a:moveTo>
                  <a:pt x="0" y="0"/>
                </a:moveTo>
                <a:lnTo>
                  <a:pt x="4" y="0"/>
                </a:lnTo>
                <a:lnTo>
                  <a:pt x="4" y="27"/>
                </a:lnTo>
                <a:lnTo>
                  <a:pt x="0" y="27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788" name="" descr="{&quot;isTemplate&quot;:true,&quot;type&quot;:&quot;text&quot;}"/>
          <p:cNvSpPr txBox="1"/>
          <p:nvPr/>
        </p:nvSpPr>
        <p:spPr>
          <a:xfrm rot="0" flipH="0" flipV="0">
            <a:off x="6896100" y="5010150"/>
            <a:ext cx="44958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1A2230"/>
                </a:solidFill>
                <a:latin typeface="Source Han Sans SC"/>
                <a:ea typeface="Source Han Sans SC"/>
              </a:rPr>
              <a:t>每一步前写一行</a:t>
            </a:r>
            <a:r>
              <a:rPr lang="en-US" sz="1050">
                <a:solidFill>
                  <a:srgbClr val="1A2230"/>
                </a:solidFill>
                <a:latin typeface="Source Han Sans SC"/>
                <a:ea typeface="Source Han Sans SC"/>
              </a:rPr>
              <a:t> </a:t>
            </a:r>
            <a:r>
              <a:rPr lang="en-US" sz="1050">
                <a:solidFill>
                  <a:srgbClr val="0E3F8C"/>
                </a:solidFill>
                <a:latin typeface="Source Han Sans SC"/>
                <a:ea typeface="Source Han Sans SC"/>
              </a:rPr>
              <a:t>## </a:t>
            </a:r>
            <a:r>
              <a:rPr lang="zh-CN" sz="1050">
                <a:solidFill>
                  <a:srgbClr val="0E3F8C"/>
                </a:solidFill>
                <a:latin typeface="Source Han Sans SC"/>
                <a:ea typeface="Source Han Sans SC"/>
              </a:rPr>
              <a:t>为什么这么做</a:t>
            </a:r>
            <a:r>
              <a:rPr lang="zh-CN" sz="1050">
                <a:solidFill>
                  <a:srgbClr val="1A2230"/>
                </a:solidFill>
                <a:latin typeface="Source Han Sans SC"/>
                <a:ea typeface="Source Han Sans SC"/>
              </a:rPr>
              <a:t>——评分就看这个。</a:t>
            </a:r>
            <a:endParaRPr/>
          </a:p>
        </p:txBody>
      </p:sp>
      <p:sp>
        <p:nvSpPr>
          <p:cNvPr id="789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790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28 / 32</a:t>
            </a:r>
            <a:endParaRPr/>
          </a:p>
        </p:txBody>
      </p:sp>
    </p:spTree>
  </p:cSld>
</p:sld>
</file>

<file path=ppt/slides/slide2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91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交付要求与评分 · Deliverables &amp;amp; Rubric&lt;/Text&gt;&#10;    &lt;Text style={{ fontSize: 15, color: 'rgba(255,255,255,0.85)' }}&gt;Module 1 · Week 2&lt;/Text&gt;&#10;  &lt;/Box&gt;&#10;  &lt;Box style={{ position: 'absolute', top: 100, left: 0, width: '100%', height: 540, padding: '16px 84px', flexDirection: 'row', gap: 26 }}&gt;&#10;    &lt;Box style={{ flex: 1, gap: 12 }}&gt;&#10;      &lt;Text style={{ fontSize: 16.5, color: '#0E3F8C', fontWeight: 'bold' }}&gt;交付清单 · What to Submit&lt;/Text&gt;&#10;      {[&#10;        { i: 'file-code', t: 'lab02_eda.ipynb', d: '从加载到清洗的完整 notebook，含 Markdown 留痕' },&#10;        { i: 'chart-bar', t: '三张图 + 解读', d: '直方图 / 条形图 / 散点图，每图 1–2 句解读' },&#10;        { i: 'lightbulb', t: '假设清单（≥3 条）', d: '「我认为……因为图表显示……」格式' },&#10;        { i: 'upload', t: 'Git 推送', d: 'commit 信息规范：feat: complete lab02 EDA' },&#10;      ].map((r, i) =&gt; (&#10;        &lt;Box key={i} style={{ flexDirection: 'row', gap: 12, alignItems: 'center', background: '#F7F9FC', border: '1px solid #E5E7EB', borderRadius: 10, padding: '12px 16px' }}&gt;&#10;          &lt;Box style={{ width: 38, height: 38, borderRadius: 10, background: '#E8EFF8', justifyContent: 'center', alignItems: 'center', flexShrink: 0 }}&gt;&#10;            &lt;FAIcon name={r.i} style={{ fill: '#1E4FA8', width: 19, height: 19 }} /&gt;&#10;          &lt;/Box&gt;&#10;          &lt;Box style={{ flex: 1 }}&gt;&#10;            &lt;Text style={{ fontSize: 16, color: '#1A2230', fontWeight: 'bold' }}&gt;{r.t}&lt;/Text&gt;&#10;            &lt;Text style={{ fontSize: 13, color: '#4A5568', marginTop: 1 }}&gt;{r.d}&lt;/Text&gt;&#10;          &lt;/Box&gt;&#10;          &lt;FAIcon name='check-circle' style={{ fill: '#1E4FA8', width: 20, height: 20 }} /&gt;&#10;        &lt;/Box&gt;&#10;      ))}&#10;      &lt;Box style={{ background: '#0E3F8C', borderRadius: 10, padding: '11px 18px' }}&gt;&#10;        &lt;Text style={{ fontSize: 14.5, color: '#FFFFFF' }}&gt;截止：下周一 23:59 · 提交到课程平台 + GitHub 仓库链接&lt;/Text&gt;&#10;      &lt;/Box&gt;&#10;    &lt;/Box&gt;&#10;    &lt;Box style={{ width: 500, flexShrink: 0 }}&gt;&#10;      &lt;Text style={{ fontSize: 16.5, color: '#0E3F8C', fontWeight: 'bold', marginBottom: 10 }}&gt;评分标准 · Rubric（100 分）&lt;/Text&gt;&#10;      {[&#10;        { t: '代码可运行、逻辑清晰', w: 30, c: '#3D7BD9' },&#10;        { t: 'EDA 五步完整、发现记录在案', w: 30, c: '#1E4FA8' },&#10;        { t: '清洗决策合理且留痕（为什么）', w: 20, c: '#0E3F8C' },&#10;        { t: '三张图选型正确 + 解读到位', w: 10, c: '#1E4FA8' },&#10;        { t: '假设清单质量（可检验、有依据）', w: 10, c: '#3D7BD9' },&#10;      ].map((r, i) =&gt; (&#10;        &lt;Box key={i} style={{ marginBottom: 10 }}&gt;&#10;          &lt;Box style={{ flexDirection: 'row', justifyContent: 'space-between', marginBottom: 4 }}&gt;&#10;            &lt;Text style={{ fontSize: 14.5, color: '#1A2230' }}&gt;{r.t}&lt;/Text&gt;&#10;            &lt;Text style={{ fontSize: 14.5, color: r.c, fontWeight: 'bold' }}&gt;{r.w} 分&lt;/Text&gt;&#10;          &lt;/Box&gt;&#10;          &lt;Box style={{ height: 8, background: '#F0F5FC', borderRadius: 4, overflow: 'hidden' }}&gt;&#10;            &lt;Box style={{ width: r.w + '%', height: '100%', background: r.c, borderRadius: 4 }} /&gt;&#10;          &lt;/Box&gt;&#10;        &lt;/Box&gt;&#10;      ))}&#10;      &lt;Box style={{ background: '#F0F5FC', border: '1px solid #D6DCE5', borderRadius: 10, padding: '12px 18px', marginTop: 6 }}&gt;&#10;        &lt;Text style={{ fontSize: 13.5, color: '#4A5568', lineHeight: 1.6 }}&gt;&#10;          本 Lab 计入「实验参与 20%」。课末随堂小测另计 Lab 成绩的 10%。&#10;          &lt;span style={{ color: '#8B97A8' }}&gt;Late policy: 每迟 24h 扣 10%。&lt;/span&gt;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9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93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94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8766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交付要求与评分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Deliverables &amp; Rubric</a:t>
            </a:r>
            <a:endParaRPr/>
          </a:p>
        </p:txBody>
      </p:sp>
      <p:sp>
        <p:nvSpPr>
          <p:cNvPr id="795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796" name="" descr="{&quot;isTemplate&quot;:true,&quot;type&quot;:&quot;text&quot;}"/>
          <p:cNvSpPr txBox="1"/>
          <p:nvPr/>
        </p:nvSpPr>
        <p:spPr>
          <a:xfrm rot="0" flipH="0" flipV="0">
            <a:off x="800100" y="1104900"/>
            <a:ext cx="5581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38" b="1">
                <a:solidFill>
                  <a:srgbClr val="0E3F8C"/>
                </a:solidFill>
                <a:latin typeface="Source Han Sans SC"/>
                <a:ea typeface="Source Han Sans SC"/>
              </a:rPr>
              <a:t>交付清单</a:t>
            </a:r>
            <a:r>
              <a:rPr lang="en-US" sz="1238" b="1">
                <a:solidFill>
                  <a:srgbClr val="0E3F8C"/>
                </a:solidFill>
                <a:latin typeface="Source Han Sans SC"/>
                <a:ea typeface="Source Han Sans SC"/>
              </a:rPr>
              <a:t> · What to Submit</a:t>
            </a:r>
            <a:endParaRPr/>
          </a:p>
        </p:txBody>
      </p:sp>
      <p:sp>
        <p:nvSpPr>
          <p:cNvPr id="797" name=""/>
          <p:cNvSpPr/>
          <p:nvPr/>
        </p:nvSpPr>
        <p:spPr>
          <a:xfrm rot="0" flipH="0" flipV="0">
            <a:off x="800100" y="1409700"/>
            <a:ext cx="5581650" cy="590550"/>
          </a:xfrm>
          <a:prstGeom prst="roundRect">
            <a:avLst>
              <a:gd name="adj" fmla="val 1612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98" name=""/>
          <p:cNvSpPr/>
          <p:nvPr/>
        </p:nvSpPr>
        <p:spPr>
          <a:xfrm rot="0" flipH="0" flipV="0">
            <a:off x="952500" y="152400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9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47750" y="1619250"/>
            <a:ext cx="180975" cy="180975"/>
          </a:xfrm>
          <a:prstGeom prst="rect">
            <a:avLst/>
          </a:prstGeom>
          <a:ln/>
        </p:spPr>
      </p:pic>
      <p:sp>
        <p:nvSpPr>
          <p:cNvPr id="800" name="" descr="{&quot;isTemplate&quot;:true,&quot;type&quot;:&quot;text&quot;}"/>
          <p:cNvSpPr txBox="1"/>
          <p:nvPr/>
        </p:nvSpPr>
        <p:spPr>
          <a:xfrm rot="0" flipH="0" flipV="0">
            <a:off x="1428750" y="1533525"/>
            <a:ext cx="4495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lab02_eda.ipynb</a:t>
            </a:r>
            <a:endParaRPr/>
          </a:p>
        </p:txBody>
      </p:sp>
      <p:sp>
        <p:nvSpPr>
          <p:cNvPr id="801" name="" descr="{&quot;isTemplate&quot;:true,&quot;type&quot;:&quot;text&quot;}"/>
          <p:cNvSpPr txBox="1"/>
          <p:nvPr/>
        </p:nvSpPr>
        <p:spPr>
          <a:xfrm rot="0" flipH="0" flipV="0">
            <a:off x="1428750" y="1733550"/>
            <a:ext cx="4495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从加载到清洗的完整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notebook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，含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Markdown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留痕</a:t>
            </a:r>
            <a:endParaRPr/>
          </a:p>
        </p:txBody>
      </p:sp>
      <p:pic>
        <p:nvPicPr>
          <p:cNvPr id="80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038850" y="1609725"/>
            <a:ext cx="190500" cy="190500"/>
          </a:xfrm>
          <a:prstGeom prst="rect">
            <a:avLst/>
          </a:prstGeom>
          <a:ln/>
        </p:spPr>
      </p:pic>
      <p:sp>
        <p:nvSpPr>
          <p:cNvPr id="803" name=""/>
          <p:cNvSpPr/>
          <p:nvPr/>
        </p:nvSpPr>
        <p:spPr>
          <a:xfrm rot="0" flipH="0" flipV="0">
            <a:off x="800100" y="2114550"/>
            <a:ext cx="5581650" cy="590550"/>
          </a:xfrm>
          <a:prstGeom prst="roundRect">
            <a:avLst>
              <a:gd name="adj" fmla="val 1612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04" name=""/>
          <p:cNvSpPr/>
          <p:nvPr/>
        </p:nvSpPr>
        <p:spPr>
          <a:xfrm rot="0" flipH="0" flipV="0">
            <a:off x="952500" y="222885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80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1047750" y="2324100"/>
            <a:ext cx="180975" cy="180975"/>
          </a:xfrm>
          <a:prstGeom prst="rect">
            <a:avLst/>
          </a:prstGeom>
          <a:ln/>
        </p:spPr>
      </p:pic>
      <p:sp>
        <p:nvSpPr>
          <p:cNvPr id="806" name="" descr="{&quot;isTemplate&quot;:true,&quot;type&quot;:&quot;text&quot;}"/>
          <p:cNvSpPr txBox="1"/>
          <p:nvPr/>
        </p:nvSpPr>
        <p:spPr>
          <a:xfrm rot="0" flipH="0" flipV="0">
            <a:off x="1428750" y="2238375"/>
            <a:ext cx="4495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三张图</a:t>
            </a: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 + </a:t>
            </a: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解读</a:t>
            </a:r>
            <a:endParaRPr/>
          </a:p>
        </p:txBody>
      </p:sp>
      <p:sp>
        <p:nvSpPr>
          <p:cNvPr id="807" name="" descr="{&quot;isTemplate&quot;:true,&quot;type&quot;:&quot;text&quot;}"/>
          <p:cNvSpPr txBox="1"/>
          <p:nvPr/>
        </p:nvSpPr>
        <p:spPr>
          <a:xfrm rot="0" flipH="0" flipV="0">
            <a:off x="1428750" y="2438400"/>
            <a:ext cx="4495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直方图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/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条形图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/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散点图，每图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1–2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句解读</a:t>
            </a:r>
            <a:endParaRPr/>
          </a:p>
        </p:txBody>
      </p:sp>
      <p:pic>
        <p:nvPicPr>
          <p:cNvPr id="80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038850" y="2314575"/>
            <a:ext cx="190500" cy="190500"/>
          </a:xfrm>
          <a:prstGeom prst="rect">
            <a:avLst/>
          </a:prstGeom>
          <a:ln/>
        </p:spPr>
      </p:pic>
      <p:sp>
        <p:nvSpPr>
          <p:cNvPr id="809" name=""/>
          <p:cNvSpPr/>
          <p:nvPr/>
        </p:nvSpPr>
        <p:spPr>
          <a:xfrm rot="0" flipH="0" flipV="0">
            <a:off x="800100" y="2819400"/>
            <a:ext cx="5581650" cy="590550"/>
          </a:xfrm>
          <a:prstGeom prst="roundRect">
            <a:avLst>
              <a:gd name="adj" fmla="val 1612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10" name=""/>
          <p:cNvSpPr/>
          <p:nvPr/>
        </p:nvSpPr>
        <p:spPr>
          <a:xfrm rot="0" flipH="0" flipV="0">
            <a:off x="952500" y="293370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81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1047750" y="3028950"/>
            <a:ext cx="180975" cy="180975"/>
          </a:xfrm>
          <a:prstGeom prst="rect">
            <a:avLst/>
          </a:prstGeom>
          <a:ln/>
        </p:spPr>
      </p:pic>
      <p:sp>
        <p:nvSpPr>
          <p:cNvPr id="812" name="" descr="{&quot;isTemplate&quot;:true,&quot;type&quot;:&quot;text&quot;}"/>
          <p:cNvSpPr txBox="1"/>
          <p:nvPr/>
        </p:nvSpPr>
        <p:spPr>
          <a:xfrm rot="0" flipH="0" flipV="0">
            <a:off x="1428750" y="2943225"/>
            <a:ext cx="4495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假设清单（≥</a:t>
            </a: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3 </a:t>
            </a: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条）</a:t>
            </a:r>
            <a:endParaRPr/>
          </a:p>
        </p:txBody>
      </p:sp>
      <p:sp>
        <p:nvSpPr>
          <p:cNvPr id="813" name="" descr="{&quot;isTemplate&quot;:true,&quot;type&quot;:&quot;text&quot;}"/>
          <p:cNvSpPr txBox="1"/>
          <p:nvPr/>
        </p:nvSpPr>
        <p:spPr>
          <a:xfrm rot="0" flipH="0" flipV="0">
            <a:off x="1428750" y="3143250"/>
            <a:ext cx="4495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「我认为……因为图表显示……」格式</a:t>
            </a:r>
            <a:endParaRPr/>
          </a:p>
        </p:txBody>
      </p:sp>
      <p:pic>
        <p:nvPicPr>
          <p:cNvPr id="8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038850" y="3019425"/>
            <a:ext cx="190500" cy="190500"/>
          </a:xfrm>
          <a:prstGeom prst="rect">
            <a:avLst/>
          </a:prstGeom>
          <a:ln/>
        </p:spPr>
      </p:pic>
      <p:sp>
        <p:nvSpPr>
          <p:cNvPr id="815" name=""/>
          <p:cNvSpPr/>
          <p:nvPr/>
        </p:nvSpPr>
        <p:spPr>
          <a:xfrm rot="0" flipH="0" flipV="0">
            <a:off x="800100" y="3524250"/>
            <a:ext cx="5581650" cy="590550"/>
          </a:xfrm>
          <a:prstGeom prst="roundRect">
            <a:avLst>
              <a:gd name="adj" fmla="val 1612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16" name=""/>
          <p:cNvSpPr/>
          <p:nvPr/>
        </p:nvSpPr>
        <p:spPr>
          <a:xfrm rot="0" flipH="0" flipV="0">
            <a:off x="952500" y="363855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81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1047750" y="3733800"/>
            <a:ext cx="180975" cy="180975"/>
          </a:xfrm>
          <a:prstGeom prst="rect">
            <a:avLst/>
          </a:prstGeom>
          <a:ln/>
        </p:spPr>
      </p:pic>
      <p:sp>
        <p:nvSpPr>
          <p:cNvPr id="818" name="" descr="{&quot;isTemplate&quot;:true,&quot;type&quot;:&quot;text&quot;}"/>
          <p:cNvSpPr txBox="1"/>
          <p:nvPr/>
        </p:nvSpPr>
        <p:spPr>
          <a:xfrm rot="0" flipH="0" flipV="0">
            <a:off x="1428750" y="3648075"/>
            <a:ext cx="4495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Git </a:t>
            </a: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推送</a:t>
            </a:r>
            <a:endParaRPr/>
          </a:p>
        </p:txBody>
      </p:sp>
      <p:sp>
        <p:nvSpPr>
          <p:cNvPr id="819" name="" descr="{&quot;isTemplate&quot;:true,&quot;type&quot;:&quot;text&quot;}"/>
          <p:cNvSpPr txBox="1"/>
          <p:nvPr/>
        </p:nvSpPr>
        <p:spPr>
          <a:xfrm rot="0" flipH="0" flipV="0">
            <a:off x="1428750" y="3848100"/>
            <a:ext cx="4495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commit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信息规范：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feat: complete lab02 EDA</a:t>
            </a:r>
            <a:endParaRPr/>
          </a:p>
        </p:txBody>
      </p:sp>
      <p:pic>
        <p:nvPicPr>
          <p:cNvPr id="82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038850" y="3724275"/>
            <a:ext cx="190500" cy="190500"/>
          </a:xfrm>
          <a:prstGeom prst="rect">
            <a:avLst/>
          </a:prstGeom>
          <a:ln/>
        </p:spPr>
      </p:pic>
      <p:sp>
        <p:nvSpPr>
          <p:cNvPr id="821" name=""/>
          <p:cNvSpPr/>
          <p:nvPr/>
        </p:nvSpPr>
        <p:spPr>
          <a:xfrm rot="0" flipH="0" flipV="0">
            <a:off x="800100" y="4229100"/>
            <a:ext cx="5581650" cy="381000"/>
          </a:xfrm>
          <a:prstGeom prst="roundRect">
            <a:avLst>
              <a:gd name="adj" fmla="val 25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22" name="" descr="{&quot;isTemplate&quot;:true,&quot;type&quot;:&quot;text&quot;}"/>
          <p:cNvSpPr txBox="1"/>
          <p:nvPr/>
        </p:nvSpPr>
        <p:spPr>
          <a:xfrm rot="0" flipH="0" flipV="0">
            <a:off x="971550" y="4333875"/>
            <a:ext cx="5238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FFFFFF"/>
                </a:solidFill>
                <a:latin typeface="Source Han Sans SC"/>
                <a:ea typeface="Source Han Sans SC"/>
              </a:rPr>
              <a:t>截止：下周一</a:t>
            </a:r>
            <a:r>
              <a:rPr lang="en-US" sz="1088">
                <a:solidFill>
                  <a:srgbClr val="FFFFFF"/>
                </a:solidFill>
                <a:latin typeface="Source Han Sans SC"/>
                <a:ea typeface="Source Han Sans SC"/>
              </a:rPr>
              <a:t> 23:59 · </a:t>
            </a:r>
            <a:r>
              <a:rPr lang="zh-CN" sz="1088">
                <a:solidFill>
                  <a:srgbClr val="FFFFFF"/>
                </a:solidFill>
                <a:latin typeface="Source Han Sans SC"/>
                <a:ea typeface="Source Han Sans SC"/>
              </a:rPr>
              <a:t>提交到课程平台</a:t>
            </a:r>
            <a:r>
              <a:rPr lang="en-US" sz="1088">
                <a:solidFill>
                  <a:srgbClr val="FFFFFF"/>
                </a:solidFill>
                <a:latin typeface="Source Han Sans SC"/>
                <a:ea typeface="Source Han Sans SC"/>
              </a:rPr>
              <a:t> + GitHub </a:t>
            </a:r>
            <a:r>
              <a:rPr lang="zh-CN" sz="1088">
                <a:solidFill>
                  <a:srgbClr val="FFFFFF"/>
                </a:solidFill>
                <a:latin typeface="Source Han Sans SC"/>
                <a:ea typeface="Source Han Sans SC"/>
              </a:rPr>
              <a:t>仓库链接</a:t>
            </a:r>
            <a:endParaRPr/>
          </a:p>
        </p:txBody>
      </p:sp>
      <p:sp>
        <p:nvSpPr>
          <p:cNvPr id="823" name="" descr="{&quot;isTemplate&quot;:true,&quot;type&quot;:&quot;text&quot;}"/>
          <p:cNvSpPr txBox="1"/>
          <p:nvPr/>
        </p:nvSpPr>
        <p:spPr>
          <a:xfrm rot="0" flipH="0" flipV="0">
            <a:off x="6629400" y="1104900"/>
            <a:ext cx="4762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38" b="1">
                <a:solidFill>
                  <a:srgbClr val="0E3F8C"/>
                </a:solidFill>
                <a:latin typeface="Source Han Sans SC"/>
                <a:ea typeface="Source Han Sans SC"/>
              </a:rPr>
              <a:t>评分标准</a:t>
            </a:r>
            <a:r>
              <a:rPr lang="en-US" sz="1238" b="1">
                <a:solidFill>
                  <a:srgbClr val="0E3F8C"/>
                </a:solidFill>
                <a:latin typeface="Source Han Sans SC"/>
                <a:ea typeface="Source Han Sans SC"/>
              </a:rPr>
              <a:t> · Rubric</a:t>
            </a:r>
            <a:r>
              <a:rPr lang="zh-CN" sz="1238" b="1">
                <a:solidFill>
                  <a:srgbClr val="0E3F8C"/>
                </a:solidFill>
                <a:latin typeface="Source Han Sans SC"/>
                <a:ea typeface="Source Han Sans SC"/>
              </a:rPr>
              <a:t>（</a:t>
            </a:r>
            <a:r>
              <a:rPr lang="en-US" sz="1238" b="1">
                <a:solidFill>
                  <a:srgbClr val="0E3F8C"/>
                </a:solidFill>
                <a:latin typeface="Source Han Sans SC"/>
                <a:ea typeface="Source Han Sans SC"/>
              </a:rPr>
              <a:t>100 </a:t>
            </a:r>
            <a:r>
              <a:rPr lang="zh-CN" sz="1238" b="1">
                <a:solidFill>
                  <a:srgbClr val="0E3F8C"/>
                </a:solidFill>
                <a:latin typeface="Source Han Sans SC"/>
                <a:ea typeface="Source Han Sans SC"/>
              </a:rPr>
              <a:t>分）</a:t>
            </a:r>
            <a:endParaRPr/>
          </a:p>
        </p:txBody>
      </p:sp>
      <p:sp>
        <p:nvSpPr>
          <p:cNvPr id="824" name="" descr="{&quot;isTemplate&quot;:true,&quot;type&quot;:&quot;text&quot;}"/>
          <p:cNvSpPr txBox="1"/>
          <p:nvPr/>
        </p:nvSpPr>
        <p:spPr>
          <a:xfrm rot="0" flipH="0" flipV="0">
            <a:off x="6629400" y="1390650"/>
            <a:ext cx="1381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代码可运行、逻辑清晰</a:t>
            </a:r>
            <a:endParaRPr/>
          </a:p>
        </p:txBody>
      </p:sp>
      <p:sp>
        <p:nvSpPr>
          <p:cNvPr id="825" name="" descr="{&quot;isTemplate&quot;:true,&quot;type&quot;:&quot;text&quot;}"/>
          <p:cNvSpPr txBox="1"/>
          <p:nvPr/>
        </p:nvSpPr>
        <p:spPr>
          <a:xfrm rot="0" flipH="0" flipV="0">
            <a:off x="11039475" y="1390650"/>
            <a:ext cx="352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3D7BD9"/>
                </a:solidFill>
                <a:latin typeface="Source Han Sans SC"/>
                <a:ea typeface="Source Han Sans SC"/>
              </a:rPr>
              <a:t>30</a:t>
            </a:r>
            <a:r>
              <a:rPr lang="en-US" sz="1088" b="1">
                <a:solidFill>
                  <a:srgbClr val="3D7BD9"/>
                </a:solidFill>
                <a:latin typeface="Source Han Sans SC"/>
                <a:ea typeface="Source Han Sans SC"/>
              </a:rPr>
              <a:t> </a:t>
            </a:r>
            <a:r>
              <a:rPr lang="zh-CN" sz="1088" b="1">
                <a:solidFill>
                  <a:srgbClr val="3D7BD9"/>
                </a:solidFill>
                <a:latin typeface="Source Han Sans SC"/>
                <a:ea typeface="Source Han Sans SC"/>
              </a:rPr>
              <a:t>分</a:t>
            </a:r>
            <a:endParaRPr/>
          </a:p>
        </p:txBody>
      </p:sp>
      <p:sp>
        <p:nvSpPr>
          <p:cNvPr id="826" name=""/>
          <p:cNvSpPr/>
          <p:nvPr/>
        </p:nvSpPr>
        <p:spPr>
          <a:xfrm rot="0" flipH="0" flipV="0">
            <a:off x="6629400" y="1600200"/>
            <a:ext cx="4762500" cy="762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27" name=""/>
          <p:cNvSpPr/>
          <p:nvPr/>
        </p:nvSpPr>
        <p:spPr>
          <a:xfrm rot="0" flipH="0" flipV="0">
            <a:off x="6629400" y="1600200"/>
            <a:ext cx="142875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28" name="" descr="{&quot;isTemplate&quot;:true,&quot;type&quot;:&quot;text&quot;}"/>
          <p:cNvSpPr txBox="1"/>
          <p:nvPr/>
        </p:nvSpPr>
        <p:spPr>
          <a:xfrm rot="0" flipH="0" flipV="0">
            <a:off x="6629400" y="1771650"/>
            <a:ext cx="1847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EDA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五步完整、发现记录在案</a:t>
            </a:r>
            <a:endParaRPr/>
          </a:p>
        </p:txBody>
      </p:sp>
      <p:sp>
        <p:nvSpPr>
          <p:cNvPr id="829" name="" descr="{&quot;isTemplate&quot;:true,&quot;type&quot;:&quot;text&quot;}"/>
          <p:cNvSpPr txBox="1"/>
          <p:nvPr/>
        </p:nvSpPr>
        <p:spPr>
          <a:xfrm rot="0" flipH="0" flipV="0">
            <a:off x="11039475" y="1771650"/>
            <a:ext cx="352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E4FA8"/>
                </a:solidFill>
                <a:latin typeface="Source Han Sans SC"/>
                <a:ea typeface="Source Han Sans SC"/>
              </a:rPr>
              <a:t>30</a:t>
            </a:r>
            <a:r>
              <a:rPr lang="en-US" sz="1088" b="1">
                <a:solidFill>
                  <a:srgbClr val="1E4FA8"/>
                </a:solidFill>
                <a:latin typeface="Source Han Sans SC"/>
                <a:ea typeface="Source Han Sans SC"/>
              </a:rPr>
              <a:t> </a:t>
            </a:r>
            <a:r>
              <a:rPr lang="zh-CN" sz="1088" b="1">
                <a:solidFill>
                  <a:srgbClr val="1E4FA8"/>
                </a:solidFill>
                <a:latin typeface="Source Han Sans SC"/>
                <a:ea typeface="Source Han Sans SC"/>
              </a:rPr>
              <a:t>分</a:t>
            </a:r>
            <a:endParaRPr/>
          </a:p>
        </p:txBody>
      </p:sp>
      <p:sp>
        <p:nvSpPr>
          <p:cNvPr id="830" name=""/>
          <p:cNvSpPr/>
          <p:nvPr/>
        </p:nvSpPr>
        <p:spPr>
          <a:xfrm rot="0" flipH="0" flipV="0">
            <a:off x="6629400" y="1981200"/>
            <a:ext cx="4762500" cy="762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31" name=""/>
          <p:cNvSpPr/>
          <p:nvPr/>
        </p:nvSpPr>
        <p:spPr>
          <a:xfrm rot="0" flipH="0" flipV="0">
            <a:off x="6629400" y="1981200"/>
            <a:ext cx="142875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32" name="" descr="{&quot;isTemplate&quot;:true,&quot;type&quot;:&quot;text&quot;}"/>
          <p:cNvSpPr txBox="1"/>
          <p:nvPr/>
        </p:nvSpPr>
        <p:spPr>
          <a:xfrm rot="0" flipH="0" flipV="0">
            <a:off x="6629400" y="2152650"/>
            <a:ext cx="1933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清洗决策合理且留痕（为什么）</a:t>
            </a:r>
            <a:endParaRPr/>
          </a:p>
        </p:txBody>
      </p:sp>
      <p:sp>
        <p:nvSpPr>
          <p:cNvPr id="833" name="" descr="{&quot;isTemplate&quot;:true,&quot;type&quot;:&quot;text&quot;}"/>
          <p:cNvSpPr txBox="1"/>
          <p:nvPr/>
        </p:nvSpPr>
        <p:spPr>
          <a:xfrm rot="0" flipH="0" flipV="0">
            <a:off x="11039475" y="2152650"/>
            <a:ext cx="352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0E3F8C"/>
                </a:solidFill>
                <a:latin typeface="Source Han Sans SC"/>
                <a:ea typeface="Source Han Sans SC"/>
              </a:rPr>
              <a:t>20</a:t>
            </a:r>
            <a:r>
              <a:rPr lang="en-US" sz="1088" b="1">
                <a:solidFill>
                  <a:srgbClr val="0E3F8C"/>
                </a:solidFill>
                <a:latin typeface="Source Han Sans SC"/>
                <a:ea typeface="Source Han Sans SC"/>
              </a:rPr>
              <a:t> </a:t>
            </a:r>
            <a:r>
              <a:rPr lang="zh-CN" sz="1088" b="1">
                <a:solidFill>
                  <a:srgbClr val="0E3F8C"/>
                </a:solidFill>
                <a:latin typeface="Source Han Sans SC"/>
                <a:ea typeface="Source Han Sans SC"/>
              </a:rPr>
              <a:t>分</a:t>
            </a:r>
            <a:endParaRPr/>
          </a:p>
        </p:txBody>
      </p:sp>
      <p:sp>
        <p:nvSpPr>
          <p:cNvPr id="834" name=""/>
          <p:cNvSpPr/>
          <p:nvPr/>
        </p:nvSpPr>
        <p:spPr>
          <a:xfrm rot="0" flipH="0" flipV="0">
            <a:off x="6629400" y="2362200"/>
            <a:ext cx="4762500" cy="762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35" name=""/>
          <p:cNvSpPr/>
          <p:nvPr/>
        </p:nvSpPr>
        <p:spPr>
          <a:xfrm rot="0" flipH="0" flipV="0">
            <a:off x="6629400" y="2362200"/>
            <a:ext cx="952500" cy="7620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36" name="" descr="{&quot;isTemplate&quot;:true,&quot;type&quot;:&quot;text&quot;}"/>
          <p:cNvSpPr txBox="1"/>
          <p:nvPr/>
        </p:nvSpPr>
        <p:spPr>
          <a:xfrm rot="0" flipH="0" flipV="0">
            <a:off x="6629400" y="2533650"/>
            <a:ext cx="1695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三张图选型正确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+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解读到位</a:t>
            </a:r>
            <a:endParaRPr/>
          </a:p>
        </p:txBody>
      </p:sp>
      <p:sp>
        <p:nvSpPr>
          <p:cNvPr id="837" name="" descr="{&quot;isTemplate&quot;:true,&quot;type&quot;:&quot;text&quot;}"/>
          <p:cNvSpPr txBox="1"/>
          <p:nvPr/>
        </p:nvSpPr>
        <p:spPr>
          <a:xfrm rot="0" flipH="0" flipV="0">
            <a:off x="11068050" y="2533650"/>
            <a:ext cx="323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E4FA8"/>
                </a:solidFill>
                <a:latin typeface="Source Han Sans SC"/>
                <a:ea typeface="Source Han Sans SC"/>
              </a:rPr>
              <a:t>10</a:t>
            </a:r>
            <a:r>
              <a:rPr lang="en-US" sz="1088" b="1">
                <a:solidFill>
                  <a:srgbClr val="1E4FA8"/>
                </a:solidFill>
                <a:latin typeface="Source Han Sans SC"/>
                <a:ea typeface="Source Han Sans SC"/>
              </a:rPr>
              <a:t> </a:t>
            </a:r>
            <a:r>
              <a:rPr lang="zh-CN" sz="1088" b="1">
                <a:solidFill>
                  <a:srgbClr val="1E4FA8"/>
                </a:solidFill>
                <a:latin typeface="Source Han Sans SC"/>
                <a:ea typeface="Source Han Sans SC"/>
              </a:rPr>
              <a:t>分</a:t>
            </a:r>
            <a:endParaRPr/>
          </a:p>
        </p:txBody>
      </p:sp>
      <p:sp>
        <p:nvSpPr>
          <p:cNvPr id="838" name=""/>
          <p:cNvSpPr/>
          <p:nvPr/>
        </p:nvSpPr>
        <p:spPr>
          <a:xfrm rot="0" flipH="0" flipV="0">
            <a:off x="6629400" y="2743200"/>
            <a:ext cx="4762500" cy="762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39" name=""/>
          <p:cNvSpPr/>
          <p:nvPr/>
        </p:nvSpPr>
        <p:spPr>
          <a:xfrm rot="0" flipH="0" flipV="0">
            <a:off x="6629400" y="2743200"/>
            <a:ext cx="47625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40" name="" descr="{&quot;isTemplate&quot;:true,&quot;type&quot;:&quot;text&quot;}"/>
          <p:cNvSpPr txBox="1"/>
          <p:nvPr/>
        </p:nvSpPr>
        <p:spPr>
          <a:xfrm rot="0" flipH="0" flipV="0">
            <a:off x="6629400" y="2914650"/>
            <a:ext cx="2076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假设清单质量（可检验、有依据）</a:t>
            </a:r>
            <a:endParaRPr/>
          </a:p>
        </p:txBody>
      </p:sp>
      <p:sp>
        <p:nvSpPr>
          <p:cNvPr id="841" name="" descr="{&quot;isTemplate&quot;:true,&quot;type&quot;:&quot;text&quot;}"/>
          <p:cNvSpPr txBox="1"/>
          <p:nvPr/>
        </p:nvSpPr>
        <p:spPr>
          <a:xfrm rot="0" flipH="0" flipV="0">
            <a:off x="11068050" y="2914650"/>
            <a:ext cx="323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3D7BD9"/>
                </a:solidFill>
                <a:latin typeface="Source Han Sans SC"/>
                <a:ea typeface="Source Han Sans SC"/>
              </a:rPr>
              <a:t>10</a:t>
            </a:r>
            <a:r>
              <a:rPr lang="en-US" sz="1088" b="1">
                <a:solidFill>
                  <a:srgbClr val="3D7BD9"/>
                </a:solidFill>
                <a:latin typeface="Source Han Sans SC"/>
                <a:ea typeface="Source Han Sans SC"/>
              </a:rPr>
              <a:t> </a:t>
            </a:r>
            <a:r>
              <a:rPr lang="zh-CN" sz="1088" b="1">
                <a:solidFill>
                  <a:srgbClr val="3D7BD9"/>
                </a:solidFill>
                <a:latin typeface="Source Han Sans SC"/>
                <a:ea typeface="Source Han Sans SC"/>
              </a:rPr>
              <a:t>分</a:t>
            </a:r>
            <a:endParaRPr/>
          </a:p>
        </p:txBody>
      </p:sp>
      <p:sp>
        <p:nvSpPr>
          <p:cNvPr id="842" name=""/>
          <p:cNvSpPr/>
          <p:nvPr/>
        </p:nvSpPr>
        <p:spPr>
          <a:xfrm rot="0" flipH="0" flipV="0">
            <a:off x="6629400" y="3124200"/>
            <a:ext cx="4762500" cy="762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43" name=""/>
          <p:cNvSpPr/>
          <p:nvPr/>
        </p:nvSpPr>
        <p:spPr>
          <a:xfrm rot="0" flipH="0" flipV="0">
            <a:off x="6629400" y="3124200"/>
            <a:ext cx="47625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44" name=""/>
          <p:cNvSpPr/>
          <p:nvPr/>
        </p:nvSpPr>
        <p:spPr>
          <a:xfrm rot="0" flipH="0" flipV="0">
            <a:off x="6629400" y="3352800"/>
            <a:ext cx="4762500" cy="723900"/>
          </a:xfrm>
          <a:prstGeom prst="roundRect">
            <a:avLst>
              <a:gd name="adj" fmla="val 1315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845" name="" descr="{&quot;isTemplate&quot;:true,&quot;type&quot;:&quot;text&quot;}"/>
          <p:cNvSpPr txBox="1"/>
          <p:nvPr/>
        </p:nvSpPr>
        <p:spPr>
          <a:xfrm rot="0" flipH="0" flipV="0">
            <a:off x="6800850" y="3467100"/>
            <a:ext cx="441960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本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Lab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计入「实验参与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20%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」。课末随堂小测另计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Lab 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成绩的</a:t>
            </a:r>
            <a:r>
              <a:rPr lang="en-US" sz="1013">
                <a:solidFill>
                  <a:srgbClr val="4A5568"/>
                </a:solidFill>
                <a:latin typeface="Source Han Sans SC"/>
                <a:ea typeface="Source Han Sans SC"/>
              </a:rPr>
              <a:t> 10%</a:t>
            </a:r>
            <a:r>
              <a:rPr lang="zh-CN" sz="1013">
                <a:solidFill>
                  <a:srgbClr val="4A5568"/>
                </a:solidFill>
                <a:latin typeface="Source Han Sans SC"/>
                <a:ea typeface="Source Han Sans SC"/>
              </a:rPr>
              <a:t>。</a:t>
            </a:r>
            <a:r>
              <a:rPr lang="en-US" sz="1013">
                <a:solidFill>
                  <a:srgbClr val="8B97A8"/>
                </a:solidFill>
                <a:latin typeface="Source Han Sans SC"/>
                <a:ea typeface="Source Han Sans SC"/>
              </a:rPr>
              <a:t>Late policy: </a:t>
            </a:r>
            <a:r>
              <a:rPr lang="zh-CN" sz="1013">
                <a:solidFill>
                  <a:srgbClr val="8B97A8"/>
                </a:solidFill>
                <a:latin typeface="Source Han Sans SC"/>
                <a:ea typeface="Source Han Sans SC"/>
              </a:rPr>
              <a:t>每迟</a:t>
            </a:r>
            <a:r>
              <a:rPr lang="en-US" sz="1013">
                <a:solidFill>
                  <a:srgbClr val="8B97A8"/>
                </a:solidFill>
                <a:latin typeface="Source Han Sans SC"/>
                <a:ea typeface="Source Han Sans SC"/>
              </a:rPr>
              <a:t> 24h </a:t>
            </a:r>
            <a:r>
              <a:rPr lang="zh-CN" sz="1013">
                <a:solidFill>
                  <a:srgbClr val="8B97A8"/>
                </a:solidFill>
                <a:latin typeface="Source Han Sans SC"/>
                <a:ea typeface="Source Han Sans SC"/>
              </a:rPr>
              <a:t>扣</a:t>
            </a:r>
            <a:r>
              <a:rPr lang="en-US" sz="1013">
                <a:solidFill>
                  <a:srgbClr val="8B97A8"/>
                </a:solidFill>
                <a:latin typeface="Source Han Sans SC"/>
                <a:ea typeface="Source Han Sans SC"/>
              </a:rPr>
              <a:t> 10%</a:t>
            </a:r>
            <a:r>
              <a:rPr lang="zh-CN" sz="1013">
                <a:solidFill>
                  <a:srgbClr val="8B97A8"/>
                </a:solidFill>
                <a:latin typeface="Source Han Sans SC"/>
                <a:ea typeface="Source Han Sans SC"/>
              </a:rPr>
              <a:t>。</a:t>
            </a:r>
            <a:endParaRPr/>
          </a:p>
        </p:txBody>
      </p:sp>
      <p:sp>
        <p:nvSpPr>
          <p:cNvPr id="846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847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29 / 32</a:t>
            </a:r>
            <a:endParaRPr/>
          </a:p>
        </p:txBody>
      </p:sp>
    </p:spTree>
  </p:cSld>
</p:sld>
</file>

<file path=ppt/slides/slide30.xml><?xml version="1.0" encoding="utf-8"?>
<p:sld xmlns:a="http://schemas.openxmlformats.org/drawingml/2006/main" xmlns:p="http://schemas.openxmlformats.org/presentationml/2006/main">
  <p:cSld>
    <p:spTree>
      <p:nvGrpSpPr>
        <p:cNvPr id="868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随堂小测 · Quick Quiz（举手投票）&lt;/Text&gt;&#10;    &lt;Text style={{ fontSize: 15, color: 'rgba(255,255,255,0.85)' }}&gt;Module 1 · Week 2&lt;/Text&gt;&#10;  &lt;/Box&gt;&#10;  &lt;Box style={{ position: 'absolute', top: 100, left: 0, width: '100%', height: 540, padding: '16px 84px', flexDirection: 'column' }}&gt;&#10;    &lt;Box style={{ flexDirection: 'row', gap: 18, flex: 1 }}&gt;&#10;      &lt;Box style={{ flex: 1, background: '#F7F9FC', border: '1px solid #E5E7EB', borderTop: '4px solid #3D7BD9', borderRadius: 12, padding: '18px 20px', justifyContent: 'space-between' }}&gt;&#10;        &lt;Box&gt;&#10;          &lt;Text style={{ fontSize: 14, color: '#8B97A8', fontWeight: '600' }}&gt;Q1 · 单选&lt;/Text&gt;&#10;          &lt;Text style={{ fontSize: 17, color: '#1A2230', fontWeight: 'bold', marginTop: 6, lineHeight: 1.5 }}&gt;NumPy 向量化比 for 循环快 10–100 倍，主要原因是？&lt;/Text&gt;&#10;        &lt;/Box&gt;&#10;        {['A. Python 3 本身变快了', 'B. 循环在 C 层执行 + 连续内存 + SIMD', 'C. NumPy 偷偷调用了 GPU'].map((o, i) =&gt; (&#10;          &lt;Box key={i} style={{ background: i === 1 ? '#E8EFF8' : '#FFFFFF', border: '1px solid ' + (i === 1 ? '#1E4FA8' : '#E5E7EB'), borderRadius: 8, padding: '9px 14px' }}&gt;&#10;            &lt;Text style={{ fontSize: 14.5, color: i === 1 ? '#0E3F8C' : '#4A5568', fontWeight: i === 1 ? 'bold' : '400' }}&gt;{o}&lt;/Text&gt;&#10;          &lt;/Box&gt;&#10;        ))}&#10;      &lt;/Box&gt;&#10;      &lt;Box style={{ flex: 1, background: '#F7F9FC', border: '1px solid #E5E7EB', borderTop: '4px solid #1E4FA8', borderRadius: 12, padding: '18px 20px', justifyContent: 'space-between' }}&gt;&#10;        &lt;Box&gt;&#10;          &lt;Text style={{ fontSize: 14, color: '#8B97A8', fontWeight: '600' }}&gt;Q2 · 单选&lt;/Text&gt;&#10;          &lt;Text style={{ fontSize: 17, color: '#1A2230', fontWeight: 'bold', marginTop: 6, lineHeight: 1.5 }}&gt;age 列缺失约 20%，分布右偏。最合理的初步处理是？&lt;/Text&gt;&#10;        &lt;/Box&gt;&#10;        {['A. 直接删掉整列', 'B. 全部填 0', 'C. 用中位数填充，并保留缺失标记列'].map((o, i) =&gt; (&#10;          &lt;Box key={i} style={{ background: i === 2 ? '#E8EFF8' : '#FFFFFF', border: '1px solid ' + (i === 2 ? '#1E4FA8' : '#E5E7EB'), borderRadius: 8, padding: '9px 14px' }}&gt;&#10;            &lt;Text style={{ fontSize: 14.5, color: i === 2 ? '#0E3F8C' : '#4A5568', fontWeight: i === 2 ? 'bold' : '400' }}&gt;{o}&lt;/Text&gt;&#10;          &lt;/Box&gt;&#10;        ))}&#10;      &lt;/Box&gt;&#10;      &lt;Box style={{ flex: 1, background: '#F7F9FC', border: '1px solid #E5E7EB', borderTop: '4px solid #0E3F8C', borderRadius: 12, padding: '18px 20px', justifyContent: 'space-between' }}&gt;&#10;        &lt;Box&gt;&#10;          &lt;Text style={{ fontSize: 14, color: '#8B97A8', fontWeight: '600' }}&gt;Q3 · 判断&lt;/Text&gt;&#10;          &lt;Text style={{ fontSize: 17, color: '#1A2230', fontWeight: 'bold', marginTop: 6, lineHeight: 1.5 }}&gt;「散点图适合展示单个变量的分布形状。」&lt;/Text&gt;&#10;        &lt;/Box&gt;&#10;        &lt;Box style={{ background: '#F0F5FC', borderRadius: 10, padding: '14px 16px' }}&gt;&#10;          &lt;Text style={{ fontSize: 15, color: '#4A5568', lineHeight: 1.6 }}&gt;&#10;            ✗ 错——那是&lt;span style={{ fontWeight: 'bold', color: '#0E3F8C' }}&gt;直方图&lt;/span&gt;的职责；&#10;            散点图回答的是&lt;span style={{ fontWeight: 'bold', color: '#0E3F8C' }}&gt;两个变量之间的关系&lt;/span&gt;。&#10;          &lt;/Text&gt;&#10;        &lt;/Box&gt;&#10;        &lt;Text style={{ fontSize: 13, color: '#8B97A8' }}&gt;图表选型口诀：先问题，后图表&lt;/Text&gt;&#10;      &lt;/Box&gt;&#10;    &lt;/Box&gt;&#10;    &lt;Box style={{ flexDirection: 'row', gap: 16, marginTop: 14, alignItems: 'center' }}&gt;&#10;      &lt;Box style={{ width: 170, background: '#0E3F8C', borderRadius: 10, padding: '11px 16px', flexShrink: 0 }}&gt;&#10;        &lt;Text style={{ fontSize: 14.5, color: '#FFFFFF', fontWeight: 'bold' }}&gt;规则：先投票再讲评&lt;/Text&gt;&#10;      &lt;/Box&gt;&#10;      &lt;Text style={{ fontSize: 14.5, color: '#1A2230', lineHeight: 1.6, flex: 1 }}&gt;&#10;        每题先全班举手投票（A / B / C），再公布答案并请一位同学说出理由。3 题全对的同学期末「实验参与」加 0.5 分。&#10;        &lt;span style={{ fontSize: 12.5, color: '#8B97A8' }}&gt;Vote first, reveal second — explain the why.&lt;/span&gt;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30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70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71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4385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随堂小测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Quick Quiz</a:t>
            </a: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（举手投票）</a:t>
            </a:r>
            <a:endParaRPr/>
          </a:p>
        </p:txBody>
      </p:sp>
      <p:sp>
        <p:nvSpPr>
          <p:cNvPr id="872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873" name=""/>
          <p:cNvSpPr/>
          <p:nvPr/>
        </p:nvSpPr>
        <p:spPr>
          <a:xfrm rot="0" flipH="0" flipV="0">
            <a:off x="800100" y="1421850"/>
            <a:ext cx="3419475" cy="3729750"/>
          </a:xfrm>
          <a:prstGeom prst="roundRect">
            <a:avLst>
              <a:gd name="adj" fmla="val 33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74" name=""/>
          <p:cNvSpPr/>
          <p:nvPr/>
        </p:nvSpPr>
        <p:spPr>
          <a:xfrm rot="0" flipH="0" flipV="0">
            <a:off x="800100" y="1421850"/>
            <a:ext cx="3419475" cy="3729750"/>
          </a:xfrm>
          <a:custGeom>
            <a:pathLst>
              <a:path w="359" h="442">
                <a:moveTo>
                  <a:pt x="348" y="0"/>
                </a:moveTo>
                <a:cubicBezTo>
                  <a:pt x="353" y="0"/>
                  <a:pt x="358" y="4"/>
                  <a:pt x="359" y="10"/>
                </a:cubicBezTo>
                <a:cubicBezTo>
                  <a:pt x="358" y="6"/>
                  <a:pt x="355" y="4"/>
                  <a:pt x="351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7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875" name="" descr="{&quot;isTemplate&quot;:true,&quot;type&quot;:&quot;text&quot;}"/>
          <p:cNvSpPr txBox="1"/>
          <p:nvPr/>
        </p:nvSpPr>
        <p:spPr>
          <a:xfrm rot="0" flipH="0" flipV="0">
            <a:off x="990600" y="1593300"/>
            <a:ext cx="3038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SC"/>
                <a:ea typeface="Source Han Sans SC"/>
              </a:rPr>
              <a:t>Q1 · </a:t>
            </a:r>
            <a:r>
              <a:rPr lang="zh-CN" sz="1050" b="1">
                <a:solidFill>
                  <a:srgbClr val="8B97A8"/>
                </a:solidFill>
                <a:latin typeface="Source Han Sans SC"/>
                <a:ea typeface="Source Han Sans SC"/>
              </a:rPr>
              <a:t>单选</a:t>
            </a:r>
            <a:endParaRPr/>
          </a:p>
        </p:txBody>
      </p:sp>
      <p:sp>
        <p:nvSpPr>
          <p:cNvPr id="876" name="" descr="{&quot;isTemplate&quot;:true,&quot;type&quot;:&quot;text&quot;}"/>
          <p:cNvSpPr txBox="1"/>
          <p:nvPr/>
        </p:nvSpPr>
        <p:spPr>
          <a:xfrm rot="0" flipH="0" flipV="0">
            <a:off x="990600" y="1812375"/>
            <a:ext cx="303847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NumPy </a:t>
            </a: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向量化比</a:t>
            </a: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 for </a:t>
            </a: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循环快</a:t>
            </a: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 10–100 </a:t>
            </a: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倍，主要原因是？</a:t>
            </a:r>
            <a:endParaRPr/>
          </a:p>
        </p:txBody>
      </p:sp>
      <p:sp>
        <p:nvSpPr>
          <p:cNvPr id="877" name=""/>
          <p:cNvSpPr/>
          <p:nvPr/>
        </p:nvSpPr>
        <p:spPr>
          <a:xfrm rot="0" flipH="0" flipV="0">
            <a:off x="990600" y="2618925"/>
            <a:ext cx="3038475" cy="3429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78" name="" descr="{&quot;isTemplate&quot;:true,&quot;type&quot;:&quot;text&quot;}"/>
          <p:cNvSpPr txBox="1"/>
          <p:nvPr/>
        </p:nvSpPr>
        <p:spPr>
          <a:xfrm rot="0" flipH="0" flipV="0">
            <a:off x="1123950" y="2704650"/>
            <a:ext cx="2771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A. Python 3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本身变快了</a:t>
            </a:r>
            <a:endParaRPr/>
          </a:p>
        </p:txBody>
      </p:sp>
      <p:sp>
        <p:nvSpPr>
          <p:cNvPr id="879" name=""/>
          <p:cNvSpPr/>
          <p:nvPr/>
        </p:nvSpPr>
        <p:spPr>
          <a:xfrm rot="0" flipH="0" flipV="0">
            <a:off x="990600" y="3619050"/>
            <a:ext cx="3038475" cy="342900"/>
          </a:xfrm>
          <a:prstGeom prst="roundRect">
            <a:avLst>
              <a:gd name="adj" fmla="val 22222"/>
            </a:avLst>
          </a:prstGeom>
          <a:solidFill>
            <a:srgbClr val="E8EFF8"/>
          </a:solidFill>
          <a:ln w="127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880" name="" descr="{&quot;isTemplate&quot;:true,&quot;type&quot;:&quot;text&quot;}"/>
          <p:cNvSpPr txBox="1"/>
          <p:nvPr/>
        </p:nvSpPr>
        <p:spPr>
          <a:xfrm rot="0" flipH="0" flipV="0">
            <a:off x="1123950" y="3704774"/>
            <a:ext cx="2771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0E3F8C"/>
                </a:solidFill>
                <a:latin typeface="Source Han Sans SC"/>
                <a:ea typeface="Source Han Sans SC"/>
              </a:rPr>
              <a:t>B. </a:t>
            </a:r>
            <a:r>
              <a:rPr lang="zh-CN" sz="1088" b="1">
                <a:solidFill>
                  <a:srgbClr val="0E3F8C"/>
                </a:solidFill>
                <a:latin typeface="Source Han Sans SC"/>
                <a:ea typeface="Source Han Sans SC"/>
              </a:rPr>
              <a:t>循环在</a:t>
            </a:r>
            <a:r>
              <a:rPr lang="en-US" sz="1088" b="1">
                <a:solidFill>
                  <a:srgbClr val="0E3F8C"/>
                </a:solidFill>
                <a:latin typeface="Source Han Sans SC"/>
                <a:ea typeface="Source Han Sans SC"/>
              </a:rPr>
              <a:t> C </a:t>
            </a:r>
            <a:r>
              <a:rPr lang="zh-CN" sz="1088" b="1">
                <a:solidFill>
                  <a:srgbClr val="0E3F8C"/>
                </a:solidFill>
                <a:latin typeface="Source Han Sans SC"/>
                <a:ea typeface="Source Han Sans SC"/>
              </a:rPr>
              <a:t>层执行</a:t>
            </a:r>
            <a:r>
              <a:rPr lang="en-US" sz="1088" b="1">
                <a:solidFill>
                  <a:srgbClr val="0E3F8C"/>
                </a:solidFill>
                <a:latin typeface="Source Han Sans SC"/>
                <a:ea typeface="Source Han Sans SC"/>
              </a:rPr>
              <a:t> + </a:t>
            </a:r>
            <a:r>
              <a:rPr lang="zh-CN" sz="1088" b="1">
                <a:solidFill>
                  <a:srgbClr val="0E3F8C"/>
                </a:solidFill>
                <a:latin typeface="Source Han Sans SC"/>
                <a:ea typeface="Source Han Sans SC"/>
              </a:rPr>
              <a:t>连续内存</a:t>
            </a:r>
            <a:r>
              <a:rPr lang="en-US" sz="1088" b="1">
                <a:solidFill>
                  <a:srgbClr val="0E3F8C"/>
                </a:solidFill>
                <a:latin typeface="Source Han Sans SC"/>
                <a:ea typeface="Source Han Sans SC"/>
              </a:rPr>
              <a:t> + SIMD</a:t>
            </a:r>
            <a:endParaRPr/>
          </a:p>
        </p:txBody>
      </p:sp>
      <p:sp>
        <p:nvSpPr>
          <p:cNvPr id="881" name=""/>
          <p:cNvSpPr/>
          <p:nvPr/>
        </p:nvSpPr>
        <p:spPr>
          <a:xfrm rot="0" flipH="0" flipV="0">
            <a:off x="990600" y="4628700"/>
            <a:ext cx="3038475" cy="3429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82" name="" descr="{&quot;isTemplate&quot;:true,&quot;type&quot;:&quot;text&quot;}"/>
          <p:cNvSpPr txBox="1"/>
          <p:nvPr/>
        </p:nvSpPr>
        <p:spPr>
          <a:xfrm rot="0" flipH="0" flipV="0">
            <a:off x="1123950" y="4714425"/>
            <a:ext cx="2771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C. NumPy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偷偷调用了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GPU</a:t>
            </a:r>
            <a:endParaRPr/>
          </a:p>
        </p:txBody>
      </p:sp>
      <p:sp>
        <p:nvSpPr>
          <p:cNvPr id="883" name=""/>
          <p:cNvSpPr/>
          <p:nvPr/>
        </p:nvSpPr>
        <p:spPr>
          <a:xfrm rot="0" flipH="0" flipV="0">
            <a:off x="4391025" y="1421850"/>
            <a:ext cx="3409950" cy="3729750"/>
          </a:xfrm>
          <a:prstGeom prst="roundRect">
            <a:avLst>
              <a:gd name="adj" fmla="val 33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84" name=""/>
          <p:cNvSpPr/>
          <p:nvPr/>
        </p:nvSpPr>
        <p:spPr>
          <a:xfrm rot="0" flipH="0" flipV="0">
            <a:off x="4391025" y="1421850"/>
            <a:ext cx="3409950" cy="3729750"/>
          </a:xfrm>
          <a:custGeom>
            <a:pathLst>
              <a:path w="358" h="442">
                <a:moveTo>
                  <a:pt x="347" y="0"/>
                </a:moveTo>
                <a:cubicBezTo>
                  <a:pt x="352" y="0"/>
                  <a:pt x="357" y="4"/>
                  <a:pt x="358" y="10"/>
                </a:cubicBezTo>
                <a:cubicBezTo>
                  <a:pt x="357" y="6"/>
                  <a:pt x="354" y="4"/>
                  <a:pt x="350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6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85" name="" descr="{&quot;isTemplate&quot;:true,&quot;type&quot;:&quot;text&quot;}"/>
          <p:cNvSpPr txBox="1"/>
          <p:nvPr/>
        </p:nvSpPr>
        <p:spPr>
          <a:xfrm rot="0" flipH="0" flipV="0">
            <a:off x="4581525" y="1593300"/>
            <a:ext cx="3028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SC"/>
                <a:ea typeface="Source Han Sans SC"/>
              </a:rPr>
              <a:t>Q2 · </a:t>
            </a:r>
            <a:r>
              <a:rPr lang="zh-CN" sz="1050" b="1">
                <a:solidFill>
                  <a:srgbClr val="8B97A8"/>
                </a:solidFill>
                <a:latin typeface="Source Han Sans SC"/>
                <a:ea typeface="Source Han Sans SC"/>
              </a:rPr>
              <a:t>单选</a:t>
            </a:r>
            <a:endParaRPr/>
          </a:p>
        </p:txBody>
      </p:sp>
      <p:sp>
        <p:nvSpPr>
          <p:cNvPr id="886" name="" descr="{&quot;isTemplate&quot;:true,&quot;type&quot;:&quot;text&quot;}"/>
          <p:cNvSpPr txBox="1"/>
          <p:nvPr/>
        </p:nvSpPr>
        <p:spPr>
          <a:xfrm rot="0" flipH="0" flipV="0">
            <a:off x="4581525" y="1812375"/>
            <a:ext cx="302895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age </a:t>
            </a: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列缺失约</a:t>
            </a:r>
            <a:r>
              <a:rPr lang="en-US" sz="1275" b="1">
                <a:solidFill>
                  <a:srgbClr val="1A2230"/>
                </a:solidFill>
                <a:latin typeface="Source Han Sans SC"/>
                <a:ea typeface="Source Han Sans SC"/>
              </a:rPr>
              <a:t> 20%</a:t>
            </a: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，分布右偏。最合理的初步处理是？</a:t>
            </a:r>
            <a:endParaRPr/>
          </a:p>
        </p:txBody>
      </p:sp>
      <p:sp>
        <p:nvSpPr>
          <p:cNvPr id="887" name=""/>
          <p:cNvSpPr/>
          <p:nvPr/>
        </p:nvSpPr>
        <p:spPr>
          <a:xfrm rot="0" flipH="0" flipV="0">
            <a:off x="4581525" y="2618925"/>
            <a:ext cx="3028950" cy="3429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88" name="" descr="{&quot;isTemplate&quot;:true,&quot;type&quot;:&quot;text&quot;}"/>
          <p:cNvSpPr txBox="1"/>
          <p:nvPr/>
        </p:nvSpPr>
        <p:spPr>
          <a:xfrm rot="0" flipH="0" flipV="0">
            <a:off x="4714875" y="2704650"/>
            <a:ext cx="2762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A.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直接删掉整列</a:t>
            </a:r>
            <a:endParaRPr/>
          </a:p>
        </p:txBody>
      </p:sp>
      <p:sp>
        <p:nvSpPr>
          <p:cNvPr id="889" name=""/>
          <p:cNvSpPr/>
          <p:nvPr/>
        </p:nvSpPr>
        <p:spPr>
          <a:xfrm rot="0" flipH="0" flipV="0">
            <a:off x="4581525" y="3619050"/>
            <a:ext cx="3028950" cy="3429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90" name="" descr="{&quot;isTemplate&quot;:true,&quot;type&quot;:&quot;text&quot;}"/>
          <p:cNvSpPr txBox="1"/>
          <p:nvPr/>
        </p:nvSpPr>
        <p:spPr>
          <a:xfrm rot="0" flipH="0" flipV="0">
            <a:off x="4714875" y="3704774"/>
            <a:ext cx="2762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B. </a:t>
            </a:r>
            <a:r>
              <a:rPr lang="zh-CN" sz="1088">
                <a:solidFill>
                  <a:srgbClr val="4A5568"/>
                </a:solidFill>
                <a:latin typeface="Source Han Sans SC"/>
                <a:ea typeface="Source Han Sans SC"/>
              </a:rPr>
              <a:t>全部填</a:t>
            </a:r>
            <a:r>
              <a:rPr lang="en-US" sz="1088">
                <a:solidFill>
                  <a:srgbClr val="4A5568"/>
                </a:solidFill>
                <a:latin typeface="Source Han Sans SC"/>
                <a:ea typeface="Source Han Sans SC"/>
              </a:rPr>
              <a:t> 0</a:t>
            </a:r>
            <a:endParaRPr/>
          </a:p>
        </p:txBody>
      </p:sp>
      <p:sp>
        <p:nvSpPr>
          <p:cNvPr id="891" name=""/>
          <p:cNvSpPr/>
          <p:nvPr/>
        </p:nvSpPr>
        <p:spPr>
          <a:xfrm rot="0" flipH="0" flipV="0">
            <a:off x="4581525" y="4628700"/>
            <a:ext cx="3028950" cy="342900"/>
          </a:xfrm>
          <a:prstGeom prst="roundRect">
            <a:avLst>
              <a:gd name="adj" fmla="val 22222"/>
            </a:avLst>
          </a:prstGeom>
          <a:solidFill>
            <a:srgbClr val="E8EFF8"/>
          </a:solidFill>
          <a:ln w="127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892" name="" descr="{&quot;isTemplate&quot;:true,&quot;type&quot;:&quot;text&quot;}"/>
          <p:cNvSpPr txBox="1"/>
          <p:nvPr/>
        </p:nvSpPr>
        <p:spPr>
          <a:xfrm rot="0" flipH="0" flipV="0">
            <a:off x="4714875" y="4714425"/>
            <a:ext cx="2762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0E3F8C"/>
                </a:solidFill>
                <a:latin typeface="Source Han Sans SC"/>
                <a:ea typeface="Source Han Sans SC"/>
              </a:rPr>
              <a:t>C. </a:t>
            </a:r>
            <a:r>
              <a:rPr lang="zh-CN" sz="1088" b="1">
                <a:solidFill>
                  <a:srgbClr val="0E3F8C"/>
                </a:solidFill>
                <a:latin typeface="Source Han Sans SC"/>
                <a:ea typeface="Source Han Sans SC"/>
              </a:rPr>
              <a:t>用中位数填充，并保留缺失标记列</a:t>
            </a:r>
            <a:endParaRPr/>
          </a:p>
        </p:txBody>
      </p:sp>
      <p:sp>
        <p:nvSpPr>
          <p:cNvPr id="893" name=""/>
          <p:cNvSpPr/>
          <p:nvPr/>
        </p:nvSpPr>
        <p:spPr>
          <a:xfrm rot="0" flipH="0" flipV="0">
            <a:off x="7972425" y="1421850"/>
            <a:ext cx="3419475" cy="3729750"/>
          </a:xfrm>
          <a:prstGeom prst="roundRect">
            <a:avLst>
              <a:gd name="adj" fmla="val 33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94" name=""/>
          <p:cNvSpPr/>
          <p:nvPr/>
        </p:nvSpPr>
        <p:spPr>
          <a:xfrm rot="0" flipH="0" flipV="0">
            <a:off x="7972425" y="1421850"/>
            <a:ext cx="3419475" cy="3729750"/>
          </a:xfrm>
          <a:custGeom>
            <a:pathLst>
              <a:path w="359" h="442">
                <a:moveTo>
                  <a:pt x="348" y="0"/>
                </a:moveTo>
                <a:cubicBezTo>
                  <a:pt x="353" y="0"/>
                  <a:pt x="358" y="4"/>
                  <a:pt x="359" y="10"/>
                </a:cubicBezTo>
                <a:cubicBezTo>
                  <a:pt x="358" y="6"/>
                  <a:pt x="355" y="4"/>
                  <a:pt x="351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7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895" name="" descr="{&quot;isTemplate&quot;:true,&quot;type&quot;:&quot;text&quot;}"/>
          <p:cNvSpPr txBox="1"/>
          <p:nvPr/>
        </p:nvSpPr>
        <p:spPr>
          <a:xfrm rot="0" flipH="0" flipV="0">
            <a:off x="8162925" y="1593300"/>
            <a:ext cx="3038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Source Han Sans SC"/>
                <a:ea typeface="Source Han Sans SC"/>
              </a:rPr>
              <a:t>Q3 · </a:t>
            </a:r>
            <a:r>
              <a:rPr lang="zh-CN" sz="1050" b="1">
                <a:solidFill>
                  <a:srgbClr val="8B97A8"/>
                </a:solidFill>
                <a:latin typeface="Source Han Sans SC"/>
                <a:ea typeface="Source Han Sans SC"/>
              </a:rPr>
              <a:t>判断</a:t>
            </a:r>
            <a:endParaRPr/>
          </a:p>
        </p:txBody>
      </p:sp>
      <p:sp>
        <p:nvSpPr>
          <p:cNvPr id="896" name="" descr="{&quot;isTemplate&quot;:true,&quot;type&quot;:&quot;text&quot;}"/>
          <p:cNvSpPr txBox="1"/>
          <p:nvPr/>
        </p:nvSpPr>
        <p:spPr>
          <a:xfrm rot="0" flipH="0" flipV="0">
            <a:off x="8162925" y="1812375"/>
            <a:ext cx="303847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 b="1">
                <a:solidFill>
                  <a:srgbClr val="1A2230"/>
                </a:solidFill>
                <a:latin typeface="Source Han Sans SC"/>
                <a:ea typeface="Source Han Sans SC"/>
              </a:rPr>
              <a:t>「散点图适合展示单个变量的分布形状。」</a:t>
            </a:r>
            <a:endParaRPr/>
          </a:p>
        </p:txBody>
      </p:sp>
      <p:sp>
        <p:nvSpPr>
          <p:cNvPr id="897" name=""/>
          <p:cNvSpPr/>
          <p:nvPr/>
        </p:nvSpPr>
        <p:spPr>
          <a:xfrm rot="0" flipH="0" flipV="0">
            <a:off x="8162925" y="2980875"/>
            <a:ext cx="3038475" cy="819150"/>
          </a:xfrm>
          <a:prstGeom prst="roundRect">
            <a:avLst>
              <a:gd name="adj" fmla="val 1162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98" name="" descr="{&quot;isTemplate&quot;:true,&quot;type&quot;:&quot;text&quot;}"/>
          <p:cNvSpPr txBox="1"/>
          <p:nvPr/>
        </p:nvSpPr>
        <p:spPr>
          <a:xfrm rot="0" flipH="0" flipV="0">
            <a:off x="8315325" y="3114225"/>
            <a:ext cx="27336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✗ 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错——那是</a:t>
            </a:r>
            <a:r>
              <a:rPr lang="zh-CN" sz="1125" b="1">
                <a:solidFill>
                  <a:srgbClr val="0E3F8C"/>
                </a:solidFill>
                <a:latin typeface="Source Han Sans SC"/>
                <a:ea typeface="Source Han Sans SC"/>
              </a:rPr>
              <a:t>直方图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的职责；</a:t>
            </a:r>
            <a:r>
              <a:rPr lang="en-US" sz="1125">
                <a:solidFill>
                  <a:srgbClr val="4A5568"/>
                </a:solidFill>
                <a:latin typeface="Source Han Sans SC"/>
                <a:ea typeface="Source Han Sans SC"/>
              </a:rPr>
              <a:t> 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散点图回答的是</a:t>
            </a:r>
            <a:r>
              <a:rPr lang="zh-CN" sz="1125" b="1">
                <a:solidFill>
                  <a:srgbClr val="0E3F8C"/>
                </a:solidFill>
                <a:latin typeface="Source Han Sans SC"/>
                <a:ea typeface="Source Han Sans SC"/>
              </a:rPr>
              <a:t>两个变量之间的关系</a:t>
            </a:r>
            <a:r>
              <a:rPr lang="zh-CN" sz="1125">
                <a:solidFill>
                  <a:srgbClr val="4A5568"/>
                </a:solidFill>
                <a:latin typeface="Source Han Sans SC"/>
                <a:ea typeface="Source Han Sans SC"/>
              </a:rPr>
              <a:t>。</a:t>
            </a:r>
            <a:endParaRPr/>
          </a:p>
        </p:txBody>
      </p:sp>
      <p:sp>
        <p:nvSpPr>
          <p:cNvPr id="899" name="" descr="{&quot;isTemplate&quot;:true,&quot;type&quot;:&quot;text&quot;}"/>
          <p:cNvSpPr txBox="1"/>
          <p:nvPr/>
        </p:nvSpPr>
        <p:spPr>
          <a:xfrm rot="0" flipH="0" flipV="0">
            <a:off x="8162925" y="4819200"/>
            <a:ext cx="3038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Source Han Sans SC"/>
                <a:ea typeface="Source Han Sans SC"/>
              </a:rPr>
              <a:t>图表选型口诀：先问题，后图表</a:t>
            </a:r>
            <a:endParaRPr/>
          </a:p>
        </p:txBody>
      </p:sp>
      <p:sp>
        <p:nvSpPr>
          <p:cNvPr id="900" name=""/>
          <p:cNvSpPr/>
          <p:nvPr/>
        </p:nvSpPr>
        <p:spPr>
          <a:xfrm rot="0" flipH="0" flipV="0">
            <a:off x="800100" y="5304000"/>
            <a:ext cx="1619250" cy="381000"/>
          </a:xfrm>
          <a:prstGeom prst="roundRect">
            <a:avLst>
              <a:gd name="adj" fmla="val 25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01" name="" descr="{&quot;isTemplate&quot;:true,&quot;type&quot;:&quot;text&quot;}"/>
          <p:cNvSpPr txBox="1"/>
          <p:nvPr/>
        </p:nvSpPr>
        <p:spPr>
          <a:xfrm rot="0" flipH="0" flipV="0">
            <a:off x="952500" y="5408775"/>
            <a:ext cx="1314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 b="1">
                <a:solidFill>
                  <a:srgbClr val="FFFFFF"/>
                </a:solidFill>
                <a:latin typeface="Source Han Sans SC"/>
                <a:ea typeface="Source Han Sans SC"/>
              </a:rPr>
              <a:t>规则：先投票再讲评</a:t>
            </a:r>
            <a:endParaRPr/>
          </a:p>
        </p:txBody>
      </p:sp>
      <p:sp>
        <p:nvSpPr>
          <p:cNvPr id="902" name="" descr="{&quot;isTemplate&quot;:true,&quot;type&quot;:&quot;text&quot;}"/>
          <p:cNvSpPr txBox="1"/>
          <p:nvPr/>
        </p:nvSpPr>
        <p:spPr>
          <a:xfrm rot="0" flipH="0" flipV="0">
            <a:off x="2571750" y="5246850"/>
            <a:ext cx="882015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每题先全班举手投票（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A / B / C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），再公布答案并请一位同学说出理由。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3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题全对的同学期末「实验参与」加</a:t>
            </a:r>
            <a:r>
              <a:rPr lang="en-US" sz="1088">
                <a:solidFill>
                  <a:srgbClr val="1A2230"/>
                </a:solidFill>
                <a:latin typeface="Source Han Sans SC"/>
                <a:ea typeface="Source Han Sans SC"/>
              </a:rPr>
              <a:t> 0.5 </a:t>
            </a:r>
            <a:r>
              <a:rPr lang="zh-CN" sz="1088">
                <a:solidFill>
                  <a:srgbClr val="1A2230"/>
                </a:solidFill>
                <a:latin typeface="Source Han Sans SC"/>
                <a:ea typeface="Source Han Sans SC"/>
              </a:rPr>
              <a:t>分。</a:t>
            </a:r>
            <a:r>
              <a:rPr lang="en-US" sz="938">
                <a:solidFill>
                  <a:srgbClr val="8B97A8"/>
                </a:solidFill>
                <a:latin typeface="Source Han Sans SC"/>
                <a:ea typeface="Source Han Sans SC"/>
              </a:rPr>
              <a:t>Vote first, reveal second — explain the why.</a:t>
            </a:r>
            <a:endParaRPr/>
          </a:p>
        </p:txBody>
      </p:sp>
      <p:sp>
        <p:nvSpPr>
          <p:cNvPr id="903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904" name="" descr="{&quot;isTemplate&quot;:true,&quot;type&quot;:&quot;text&quot;}"/>
          <p:cNvSpPr txBox="1"/>
          <p:nvPr/>
        </p:nvSpPr>
        <p:spPr>
          <a:xfrm rot="0" flipH="0" flipV="0">
            <a:off x="10915650" y="649605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30 / 32</a:t>
            </a:r>
            <a:endParaRPr/>
          </a:p>
        </p:txBody>
      </p:sp>
    </p:spTree>
  </p:cSld>
</p:sld>
</file>

<file path=ppt/slides/slide3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905" name="" descr="&lt;Slide style={{ width: '1280px', height: '720px', background: '#FFFFFF', padding: '0px', fontFamily: 'Source Han Sans SC, PingFang SC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本课小结 · Summary&lt;/Text&gt;&#10;    &lt;Text style={{ fontSize: 15, color: 'rgba(255,255,255,0.85)' }}&gt;Module 1 · Week 2&lt;/Text&gt;&#10;  &lt;/Box&gt;&#10;  &lt;Box style={{ position: 'absolute', top: 100, left: 0, width: '100%', height: 540, padding: '16px 84px', flexDirection: 'row', gap: 26 }}&gt;&#10;    &lt;Box style={{ flex: 1.2, gap: 13, justifyContent: 'center' }}&gt;&#10;      &lt;Text style={{ fontSize: 18, color: '#8B97A8', fontWeight: '600', marginBottom: 2 }}&gt;5 个核心要点 · 5 Key Takeaways&lt;/Text&gt;&#10;      {[&#10;        '数据质量六维度决定模型上限，缺陷会被模型系统性放大',&#10;        'NumPy 管数组运算，Pandas 管表格操作——后者建在前者之上',&#10;        '向量化替代 for 循环：快 10–100×，AI 代码第一习惯',&#10;        '四类图回答四个问题：分布 / 关系 / 比较 / 相关——先问题后图表',&#10;        'EDA 五步 + 清洗六步：先侦察再动手，每一步都留痕',&#10;      ].map((t, i) =&gt; (&#10;        &lt;Box key={i} style={{ flexDirection: 'row', gap: 14, alignItems: 'flex-start', background: '#F7F9FC', border: '1px solid #E5E7EB', borderRadius: 10, padding: '12px 18px' }}&gt;&#10;          &lt;FAIcon name='check-circle' style={{ fill: '#1E4FA8', width: 22, height: 22, marginTop: 2 }} /&gt;&#10;          &lt;Text style={{ fontSize: 16.5, color: '#1A2230', lineHeight: 1.55, flex: 1 }}&gt;{t}&lt;/Text&gt;&#10;        &lt;/Box&gt;&#10;      ))}&#10;    &lt;/Box&gt;&#10;    &lt;Box style={{ width: 340, background: '#F0F5FC', border: '1px solid #D6DCE5', borderRadius: 14, padding: '24px 24px', justifyContent: 'center', flexShrink: 0 }}&gt;&#10;      &lt;Text style={{ fontSize: 22, color: '#0E3F8C', fontWeight: 'bold' }}&gt;课后两件事 · TODO&lt;/Text&gt;&#10;      &lt;Box style={{ width: '100%', height: 2, background: '#D6DCE5', marginTop: 12, marginBottom: 14 }} /&gt;&#10;      {[&#10;        { i: 'file-code', t: '完成 Lab 交付', d: 'notebook + 3 图 + 假设清单 · 下周一 23:59' },&#10;        { i: 'upload', t: 'Git 推送', d: 'commit: feat: complete lab02 EDA' },&#10;        { i: 'book-open', t: '预习 Chapter 3 开头', d: 'scikit-learn 安装与第一个模型' },&#10;      ].map((r, i) =&gt; (&#10;        &lt;Box key={i} style={{ flexDirection: 'row', gap: 12, alignItems: 'center', marginBottom: 13 }}&gt;&#10;          &lt;Box style={{ width: 38, height: 38, borderRadius: 10, background: '#FFFFFF', border: '1px solid #D6DCE5', justifyContent: 'center', alignItems: 'center', flexShrink: 0 }}&gt;&#10;            &lt;FAIcon name={r.i} style={{ fill: '#1E4FA8', width: 19, height: 19 }} /&gt;&#10;          &lt;/Box&gt;&#10;          &lt;Box&gt;&#10;            &lt;Text style={{ fontSize: 16, color: '#1A2230', fontWeight: 'bold' }}&gt;{r.t}&lt;/Text&gt;&#10;            &lt;Text style={{ fontSize: 13, color: '#4A5568' }}&gt;{r.d}&lt;/Text&gt;&#10;          &lt;/Box&gt;&#10;        &lt;/Box&gt;&#10;      ))}&#10;      &lt;Box style={{ background: '#0E3F8C', borderRadius: 8, padding: '10px 16px', marginTop: 4 }}&gt;&#10;        &lt;Text style={{ fontSize: 14.5, color: '#FFFFFF', lineHeight: 1.5 }}&gt;&#10;          下周：Machine Learning with scikit-learn——用今天洗干净的数据训练第一个完整模型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31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0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08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0288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Source Han Sans SC"/>
                <a:ea typeface="Source Han Sans SC"/>
              </a:rPr>
              <a:t>本课小结</a:t>
            </a:r>
            <a:r>
              <a:rPr lang="en-US" sz="1650" b="1">
                <a:solidFill>
                  <a:srgbClr val="FFFFFF"/>
                </a:solidFill>
                <a:latin typeface="Source Han Sans SC"/>
                <a:ea typeface="Source Han Sans SC"/>
              </a:rPr>
              <a:t> · Summary</a:t>
            </a:r>
            <a:endParaRPr/>
          </a:p>
        </p:txBody>
      </p:sp>
      <p:sp>
        <p:nvSpPr>
          <p:cNvPr id="909" name="" descr="{&quot;isTemplate&quot;:true,&quot;type&quot;:&quot;text&quot;}"/>
          <p:cNvSpPr txBox="1"/>
          <p:nvPr/>
        </p:nvSpPr>
        <p:spPr>
          <a:xfrm rot="0" flipH="0" flipV="0">
            <a:off x="10125075" y="295275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Source Han Sans SC"/>
                <a:ea typeface="Source Han Sans SC"/>
              </a:rPr>
              <a:t>Module 1 · Week 2</a:t>
            </a:r>
            <a:endParaRPr/>
          </a:p>
        </p:txBody>
      </p:sp>
      <p:sp>
        <p:nvSpPr>
          <p:cNvPr id="910" name="" descr="{&quot;isTemplate&quot;:true,&quot;type&quot;:&quot;text&quot;}"/>
          <p:cNvSpPr txBox="1"/>
          <p:nvPr/>
        </p:nvSpPr>
        <p:spPr>
          <a:xfrm rot="0" flipH="0" flipV="0">
            <a:off x="800100" y="1790700"/>
            <a:ext cx="71056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8B97A8"/>
                </a:solidFill>
                <a:latin typeface="Source Han Sans SC"/>
                <a:ea typeface="Source Han Sans SC"/>
              </a:rPr>
              <a:t>5 </a:t>
            </a:r>
            <a:r>
              <a:rPr lang="zh-CN" sz="1350" b="1">
                <a:solidFill>
                  <a:srgbClr val="8B97A8"/>
                </a:solidFill>
                <a:latin typeface="Source Han Sans SC"/>
                <a:ea typeface="Source Han Sans SC"/>
              </a:rPr>
              <a:t>个核心要点</a:t>
            </a:r>
            <a:r>
              <a:rPr lang="en-US" sz="1350" b="1">
                <a:solidFill>
                  <a:srgbClr val="8B97A8"/>
                </a:solidFill>
                <a:latin typeface="Source Han Sans SC"/>
                <a:ea typeface="Source Han Sans SC"/>
              </a:rPr>
              <a:t> · 5 Key Takeaways</a:t>
            </a:r>
            <a:endParaRPr/>
          </a:p>
        </p:txBody>
      </p:sp>
      <p:sp>
        <p:nvSpPr>
          <p:cNvPr id="911" name=""/>
          <p:cNvSpPr/>
          <p:nvPr/>
        </p:nvSpPr>
        <p:spPr>
          <a:xfrm rot="0" flipH="0" flipV="0">
            <a:off x="800100" y="21431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1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2276475"/>
            <a:ext cx="209550" cy="209550"/>
          </a:xfrm>
          <a:prstGeom prst="rect">
            <a:avLst/>
          </a:prstGeom>
          <a:ln/>
        </p:spPr>
      </p:pic>
      <p:sp>
        <p:nvSpPr>
          <p:cNvPr id="913" name="" descr="{&quot;isTemplate&quot;:true,&quot;type&quot;:&quot;text&quot;}"/>
          <p:cNvSpPr txBox="1"/>
          <p:nvPr/>
        </p:nvSpPr>
        <p:spPr>
          <a:xfrm rot="0" flipH="0" flipV="0">
            <a:off x="1314450" y="22574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数据质量六维度决定模型上限，缺陷会被模型系统性放大</a:t>
            </a:r>
            <a:endParaRPr/>
          </a:p>
        </p:txBody>
      </p:sp>
      <p:sp>
        <p:nvSpPr>
          <p:cNvPr id="914" name=""/>
          <p:cNvSpPr/>
          <p:nvPr/>
        </p:nvSpPr>
        <p:spPr>
          <a:xfrm rot="0" flipH="0" flipV="0">
            <a:off x="800100" y="27908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1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2924175"/>
            <a:ext cx="209550" cy="209550"/>
          </a:xfrm>
          <a:prstGeom prst="rect">
            <a:avLst/>
          </a:prstGeom>
          <a:ln/>
        </p:spPr>
      </p:pic>
      <p:sp>
        <p:nvSpPr>
          <p:cNvPr id="916" name="" descr="{&quot;isTemplate&quot;:true,&quot;type&quot;:&quot;text&quot;}"/>
          <p:cNvSpPr txBox="1"/>
          <p:nvPr/>
        </p:nvSpPr>
        <p:spPr>
          <a:xfrm rot="0" flipH="0" flipV="0">
            <a:off x="1314450" y="29051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NumPy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管数组运算，</a:t>
            </a: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Pandas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管表格操作——后者建在前者之上</a:t>
            </a:r>
            <a:endParaRPr/>
          </a:p>
        </p:txBody>
      </p:sp>
      <p:sp>
        <p:nvSpPr>
          <p:cNvPr id="917" name=""/>
          <p:cNvSpPr/>
          <p:nvPr/>
        </p:nvSpPr>
        <p:spPr>
          <a:xfrm rot="0" flipH="0" flipV="0">
            <a:off x="800100" y="34385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1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3571875"/>
            <a:ext cx="209550" cy="209550"/>
          </a:xfrm>
          <a:prstGeom prst="rect">
            <a:avLst/>
          </a:prstGeom>
          <a:ln/>
        </p:spPr>
      </p:pic>
      <p:sp>
        <p:nvSpPr>
          <p:cNvPr id="919" name="" descr="{&quot;isTemplate&quot;:true,&quot;type&quot;:&quot;text&quot;}"/>
          <p:cNvSpPr txBox="1"/>
          <p:nvPr/>
        </p:nvSpPr>
        <p:spPr>
          <a:xfrm rot="0" flipH="0" flipV="0">
            <a:off x="1314450" y="35528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向量化替代</a:t>
            </a: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 for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循环：快</a:t>
            </a: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 10–100×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，</a:t>
            </a: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AI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代码第一习惯</a:t>
            </a:r>
            <a:endParaRPr/>
          </a:p>
        </p:txBody>
      </p:sp>
      <p:sp>
        <p:nvSpPr>
          <p:cNvPr id="920" name=""/>
          <p:cNvSpPr/>
          <p:nvPr/>
        </p:nvSpPr>
        <p:spPr>
          <a:xfrm rot="0" flipH="0" flipV="0">
            <a:off x="800100" y="40862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4219575"/>
            <a:ext cx="209550" cy="209550"/>
          </a:xfrm>
          <a:prstGeom prst="rect">
            <a:avLst/>
          </a:prstGeom>
          <a:ln/>
        </p:spPr>
      </p:pic>
      <p:sp>
        <p:nvSpPr>
          <p:cNvPr id="922" name="" descr="{&quot;isTemplate&quot;:true,&quot;type&quot;:&quot;text&quot;}"/>
          <p:cNvSpPr txBox="1"/>
          <p:nvPr/>
        </p:nvSpPr>
        <p:spPr>
          <a:xfrm rot="0" flipH="0" flipV="0">
            <a:off x="1314450" y="42005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四类图回答四个问题：分布</a:t>
            </a: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 /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关系</a:t>
            </a: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 /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比较</a:t>
            </a: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 /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相关——先问题后图表</a:t>
            </a:r>
            <a:endParaRPr/>
          </a:p>
        </p:txBody>
      </p:sp>
      <p:sp>
        <p:nvSpPr>
          <p:cNvPr id="923" name=""/>
          <p:cNvSpPr/>
          <p:nvPr/>
        </p:nvSpPr>
        <p:spPr>
          <a:xfrm rot="0" flipH="0" flipV="0">
            <a:off x="800100" y="47339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2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4867275"/>
            <a:ext cx="209550" cy="209550"/>
          </a:xfrm>
          <a:prstGeom prst="rect">
            <a:avLst/>
          </a:prstGeom>
          <a:ln/>
        </p:spPr>
      </p:pic>
      <p:sp>
        <p:nvSpPr>
          <p:cNvPr id="925" name="" descr="{&quot;isTemplate&quot;:true,&quot;type&quot;:&quot;text&quot;}"/>
          <p:cNvSpPr txBox="1"/>
          <p:nvPr/>
        </p:nvSpPr>
        <p:spPr>
          <a:xfrm rot="0" flipH="0" flipV="0">
            <a:off x="1314450" y="48482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EDA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五步</a:t>
            </a:r>
            <a:r>
              <a:rPr lang="en-US" sz="1238">
                <a:solidFill>
                  <a:srgbClr val="1A2230"/>
                </a:solidFill>
                <a:latin typeface="Source Han Sans SC"/>
                <a:ea typeface="Source Han Sans SC"/>
              </a:rPr>
              <a:t> + </a:t>
            </a:r>
            <a:r>
              <a:rPr lang="zh-CN" sz="1238">
                <a:solidFill>
                  <a:srgbClr val="1A2230"/>
                </a:solidFill>
                <a:latin typeface="Source Han Sans SC"/>
                <a:ea typeface="Source Han Sans SC"/>
              </a:rPr>
              <a:t>清洗六步：先侦察再动手，每一步都留痕</a:t>
            </a:r>
            <a:endParaRPr/>
          </a:p>
        </p:txBody>
      </p:sp>
      <p:sp>
        <p:nvSpPr>
          <p:cNvPr id="926" name=""/>
          <p:cNvSpPr/>
          <p:nvPr/>
        </p:nvSpPr>
        <p:spPr>
          <a:xfrm rot="0" flipH="0" flipV="0">
            <a:off x="8153400" y="1104900"/>
            <a:ext cx="3238500" cy="4838700"/>
          </a:xfrm>
          <a:prstGeom prst="roundRect">
            <a:avLst>
              <a:gd name="adj" fmla="val 411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27" name="" descr="{&quot;isTemplate&quot;:true,&quot;type&quot;:&quot;text&quot;}"/>
          <p:cNvSpPr txBox="1"/>
          <p:nvPr/>
        </p:nvSpPr>
        <p:spPr>
          <a:xfrm rot="0" flipH="0" flipV="0">
            <a:off x="8382000" y="2047875"/>
            <a:ext cx="2781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Source Han Sans SC"/>
                <a:ea typeface="Source Han Sans SC"/>
              </a:rPr>
              <a:t>课后两件事</a:t>
            </a:r>
            <a:r>
              <a:rPr lang="en-US" sz="1650" b="1">
                <a:solidFill>
                  <a:srgbClr val="0E3F8C"/>
                </a:solidFill>
                <a:latin typeface="Source Han Sans SC"/>
                <a:ea typeface="Source Han Sans SC"/>
              </a:rPr>
              <a:t> · TODO</a:t>
            </a:r>
            <a:endParaRPr/>
          </a:p>
        </p:txBody>
      </p:sp>
      <p:sp>
        <p:nvSpPr>
          <p:cNvPr id="928" name=""/>
          <p:cNvSpPr/>
          <p:nvPr/>
        </p:nvSpPr>
        <p:spPr>
          <a:xfrm rot="0" flipH="0" flipV="0">
            <a:off x="8382000" y="2419350"/>
            <a:ext cx="2781300" cy="19050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929" name=""/>
          <p:cNvSpPr/>
          <p:nvPr/>
        </p:nvSpPr>
        <p:spPr>
          <a:xfrm rot="0" flipH="0" flipV="0">
            <a:off x="8382000" y="257175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93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477250" y="2667000"/>
            <a:ext cx="180975" cy="180975"/>
          </a:xfrm>
          <a:prstGeom prst="rect">
            <a:avLst/>
          </a:prstGeom>
          <a:ln/>
        </p:spPr>
      </p:pic>
      <p:sp>
        <p:nvSpPr>
          <p:cNvPr id="931" name="" descr="{&quot;isTemplate&quot;:true,&quot;type&quot;:&quot;text&quot;}"/>
          <p:cNvSpPr txBox="1"/>
          <p:nvPr/>
        </p:nvSpPr>
        <p:spPr>
          <a:xfrm rot="0" flipH="0" flipV="0">
            <a:off x="8858250" y="2581275"/>
            <a:ext cx="23050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完成</a:t>
            </a: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 Lab </a:t>
            </a: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交付</a:t>
            </a:r>
            <a:endParaRPr/>
          </a:p>
        </p:txBody>
      </p:sp>
      <p:sp>
        <p:nvSpPr>
          <p:cNvPr id="932" name="" descr="{&quot;isTemplate&quot;:true,&quot;type&quot;:&quot;text&quot;}"/>
          <p:cNvSpPr txBox="1"/>
          <p:nvPr/>
        </p:nvSpPr>
        <p:spPr>
          <a:xfrm rot="0" flipH="0" flipV="0">
            <a:off x="8858250" y="2771775"/>
            <a:ext cx="230505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notebook + 3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图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+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假设清单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·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下周一</a:t>
            </a: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 23:59</a:t>
            </a:r>
            <a:endParaRPr/>
          </a:p>
        </p:txBody>
      </p:sp>
      <p:sp>
        <p:nvSpPr>
          <p:cNvPr id="933" name=""/>
          <p:cNvSpPr/>
          <p:nvPr/>
        </p:nvSpPr>
        <p:spPr>
          <a:xfrm rot="0" flipH="0" flipV="0">
            <a:off x="8382000" y="305752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9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477250" y="3152775"/>
            <a:ext cx="180975" cy="180975"/>
          </a:xfrm>
          <a:prstGeom prst="rect">
            <a:avLst/>
          </a:prstGeom>
          <a:ln/>
        </p:spPr>
      </p:pic>
      <p:sp>
        <p:nvSpPr>
          <p:cNvPr id="935" name="" descr="{&quot;isTemplate&quot;:true,&quot;type&quot;:&quot;text&quot;}"/>
          <p:cNvSpPr txBox="1"/>
          <p:nvPr/>
        </p:nvSpPr>
        <p:spPr>
          <a:xfrm rot="0" flipH="0" flipV="0">
            <a:off x="8858250" y="3067050"/>
            <a:ext cx="1990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Git </a:t>
            </a: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推送</a:t>
            </a:r>
            <a:endParaRPr/>
          </a:p>
        </p:txBody>
      </p:sp>
      <p:sp>
        <p:nvSpPr>
          <p:cNvPr id="936" name="" descr="{&quot;isTemplate&quot;:true,&quot;type&quot;:&quot;text&quot;}"/>
          <p:cNvSpPr txBox="1"/>
          <p:nvPr/>
        </p:nvSpPr>
        <p:spPr>
          <a:xfrm rot="0" flipH="0" flipV="0">
            <a:off x="8858250" y="3257550"/>
            <a:ext cx="19907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commit: feat: complete lab02 EDA</a:t>
            </a:r>
            <a:endParaRPr/>
          </a:p>
        </p:txBody>
      </p:sp>
      <p:sp>
        <p:nvSpPr>
          <p:cNvPr id="937" name=""/>
          <p:cNvSpPr/>
          <p:nvPr/>
        </p:nvSpPr>
        <p:spPr>
          <a:xfrm rot="0" flipH="0" flipV="0">
            <a:off x="8382000" y="354330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9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8477250" y="3638550"/>
            <a:ext cx="180975" cy="180975"/>
          </a:xfrm>
          <a:prstGeom prst="rect">
            <a:avLst/>
          </a:prstGeom>
          <a:ln/>
        </p:spPr>
      </p:pic>
      <p:sp>
        <p:nvSpPr>
          <p:cNvPr id="939" name="" descr="{&quot;isTemplate&quot;:true,&quot;type&quot;:&quot;text&quot;}"/>
          <p:cNvSpPr txBox="1"/>
          <p:nvPr/>
        </p:nvSpPr>
        <p:spPr>
          <a:xfrm rot="0" flipH="0" flipV="0">
            <a:off x="8858250" y="3552825"/>
            <a:ext cx="16954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预习</a:t>
            </a:r>
            <a:r>
              <a:rPr lang="en-US" sz="1200" b="1">
                <a:solidFill>
                  <a:srgbClr val="1A2230"/>
                </a:solidFill>
                <a:latin typeface="Source Han Sans SC"/>
                <a:ea typeface="Source Han Sans SC"/>
              </a:rPr>
              <a:t> Chapter 3 </a:t>
            </a:r>
            <a:r>
              <a:rPr lang="zh-CN" sz="1200" b="1">
                <a:solidFill>
                  <a:srgbClr val="1A2230"/>
                </a:solidFill>
                <a:latin typeface="Source Han Sans SC"/>
                <a:ea typeface="Source Han Sans SC"/>
              </a:rPr>
              <a:t>开头</a:t>
            </a:r>
            <a:endParaRPr/>
          </a:p>
        </p:txBody>
      </p:sp>
      <p:sp>
        <p:nvSpPr>
          <p:cNvPr id="940" name="" descr="{&quot;isTemplate&quot;:true,&quot;type&quot;:&quot;text&quot;}"/>
          <p:cNvSpPr txBox="1"/>
          <p:nvPr/>
        </p:nvSpPr>
        <p:spPr>
          <a:xfrm rot="0" flipH="0" flipV="0">
            <a:off x="8858250" y="3743325"/>
            <a:ext cx="16954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Source Han Sans SC"/>
                <a:ea typeface="Source Han Sans SC"/>
              </a:rPr>
              <a:t>scikit-learn </a:t>
            </a:r>
            <a:r>
              <a:rPr lang="zh-CN" sz="975">
                <a:solidFill>
                  <a:srgbClr val="4A5568"/>
                </a:solidFill>
                <a:latin typeface="Source Han Sans SC"/>
                <a:ea typeface="Source Han Sans SC"/>
              </a:rPr>
              <a:t>安装与第一个模型</a:t>
            </a:r>
            <a:endParaRPr/>
          </a:p>
        </p:txBody>
      </p:sp>
      <p:sp>
        <p:nvSpPr>
          <p:cNvPr id="941" name=""/>
          <p:cNvSpPr/>
          <p:nvPr/>
        </p:nvSpPr>
        <p:spPr>
          <a:xfrm rot="0" flipH="0" flipV="0">
            <a:off x="8382000" y="4067175"/>
            <a:ext cx="2781300" cy="942975"/>
          </a:xfrm>
          <a:prstGeom prst="roundRect">
            <a:avLst>
              <a:gd name="adj" fmla="val 808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42" name="" descr="{&quot;isTemplate&quot;:true,&quot;type&quot;:&quot;text&quot;}"/>
          <p:cNvSpPr txBox="1"/>
          <p:nvPr/>
        </p:nvSpPr>
        <p:spPr>
          <a:xfrm rot="0" flipH="0" flipV="0">
            <a:off x="8534400" y="4162425"/>
            <a:ext cx="2476500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088">
                <a:solidFill>
                  <a:srgbClr val="FFFFFF"/>
                </a:solidFill>
                <a:latin typeface="Source Han Sans SC"/>
                <a:ea typeface="Source Han Sans SC"/>
              </a:rPr>
              <a:t>下周：</a:t>
            </a:r>
            <a:r>
              <a:rPr lang="en-US" sz="1088">
                <a:solidFill>
                  <a:srgbClr val="FFFFFF"/>
                </a:solidFill>
                <a:latin typeface="Source Han Sans SC"/>
                <a:ea typeface="Source Han Sans SC"/>
              </a:rPr>
              <a:t>Machine Learning with scikit-learn——</a:t>
            </a:r>
            <a:r>
              <a:rPr lang="zh-CN" sz="1088">
                <a:solidFill>
                  <a:srgbClr val="FFFFFF"/>
                </a:solidFill>
                <a:latin typeface="Source Han Sans SC"/>
                <a:ea typeface="Source Han Sans SC"/>
              </a:rPr>
              <a:t>用今天洗干净的数据训练第一个完整模型</a:t>
            </a:r>
            <a:endParaRPr/>
          </a:p>
        </p:txBody>
      </p:sp>
      <p:sp>
        <p:nvSpPr>
          <p:cNvPr id="943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333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Source Han Sans SC"/>
                <a:ea typeface="Source Han Sans SC"/>
              </a:rPr>
              <a:t>AI Application Development · Week 2</a:t>
            </a:r>
            <a:endParaRPr/>
          </a:p>
        </p:txBody>
      </p:sp>
      <p:sp>
        <p:nvSpPr>
          <p:cNvPr id="944" name="" descr="{&quot;isTemplate&quot;:true,&quot;type&quot;:&quot;text&quot;}"/>
          <p:cNvSpPr txBox="1"/>
          <p:nvPr/>
        </p:nvSpPr>
        <p:spPr>
          <a:xfrm rot="0" flipH="0" flipV="0">
            <a:off x="109347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Source Han Sans SC"/>
                <a:ea typeface="Source Han Sans SC"/>
              </a:rPr>
              <a:t>31 / 32</a:t>
            </a:r>
            <a:endParaRPr/>
          </a:p>
        </p:txBody>
      </p:sp>
    </p:spTree>
  </p:cSld>
</p:sld>
</file>

<file path=ppt/slides/slide32.xml><?xml version="1.0" encoding="utf-8"?>
<p:sld xmlns:a="http://schemas.openxmlformats.org/drawingml/2006/main" xmlns:p="http://schemas.openxmlformats.org/presentationml/2006/main">
  <p:cSld>
    <p:spTree>
      <p:nvGrpSpPr>
        <p:cNvPr id="945" name="" descr="&lt;Slide style={{ width: '1280px', height: '720px', background: '#FFFFFF', padding: '0px', position: 'relative', overflow: 'hidden', fontFamily: 'Source Han Sans SC, PingFang SC, sans-serif' }}&gt;&#10;  &lt;Box style={{ position: 'absolute', top: 0, left: 0, width: '100%', height: 12, background: '#1E4FA8' }} /&gt;&#10;  &lt;Box style={{ position: 'absolute', top: 12, left: 0, width: '100%', height: 5, background: '#3D7BD9' }} /&gt;&#10;  &lt;Box style={{ position: 'absolute', left: 0, top: 300, opacity: 0.05, width: 560, height: 340, overflow: 'hidden' }}&gt;&#10;    &lt;Text style={{ fontSize: 320, fontWeight: 'bold', color: '#1E4FA8', lineHeight: 1 }}&gt;02&lt;/Text&gt;&#10;  &lt;/Box&gt;&#10;  &lt;Box style={{ position: 'relative', width: '100%', height: '100%', padding: '120px 90px', justifyContent: 'space-between' }}&gt;&#10;    &lt;Box style={{ alignItems: 'center' }}&gt;&#10;      &lt;Box style={{ width: 84, height: 84, borderRadius: 20, background: '#0E3F8C', justifyContent: 'center', alignItems: 'center', marginBottom: 26 }}&gt;&#10;        &lt;Text style={{ fontSize: 36, color: '#FFFFFF', fontWeight: 'bold' }}&gt;W2&lt;/Text&gt;&#10;      &lt;/Box&gt;&#10;      &lt;Text style={{ fontSize: 38, color: '#1A2230', fontWeight: 'bold', textAlign: 'center', lineHeight: 1.4 }}&gt;&#10;        &quot;模型的上限，在你写第一行代码之前，&lt;br /&gt;就已经由数据决定了。&quot;&#10;      &lt;/Text&gt;&#10;      &lt;Text style={{ fontSize: 20, fontStyle: 'italic', color: '#8B97A8', marginTop: 14, textAlign: 'center' }}&gt;&#10;        The quality of your data caps your model before you write a single line of code.&#10;      &lt;/Text&gt;&#10;    &lt;/Box&gt;&#10;    &lt;Box style={{ alignItems: 'center', gap: 8 }}&gt;&#10;      &lt;Text style={{ fontSize: 18, color: '#0E3F8C', fontWeight: 'bold' }}&gt;Thank you · 谢谢&lt;/Text&gt;&#10;      &lt;Text style={{ fontSize: 15, color: '#8B97A8' }}&gt;&#10;        Next week: Machine Learning with scikit-learn · 机器学习与 scikit-learn（第一个完整模型）&#10;      &lt;/Text&gt;&#10;      &lt;Text style={{ fontSize: 13, color: '#B0B8C4', marginTop: 6 }}&gt;AI Application Development · Week 2 Lecture · 32 / 32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47" name=""/>
          <p:cNvSpPr/>
          <p:nvPr/>
        </p:nvSpPr>
        <p:spPr>
          <a:xfrm rot="0" flipH="0" flipV="0"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48" name=""/>
          <p:cNvSpPr/>
          <p:nvPr/>
        </p:nvSpPr>
        <p:spPr>
          <a:xfrm rot="0" flipH="0" flipV="0">
            <a:off x="0" y="114300"/>
            <a:ext cx="12192000" cy="47625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949" name="" descr="{&quot;isTemplate&quot;:true,&quot;type&quot;:&quot;text&quot;}"/>
          <p:cNvSpPr txBox="1"/>
          <p:nvPr/>
        </p:nvSpPr>
        <p:spPr>
          <a:xfrm rot="0" flipH="0" flipV="0">
            <a:off x="0" y="2857500"/>
            <a:ext cx="5334000" cy="3657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0" b="1">
                <a:solidFill>
                  <a:srgbClr val="1E4FA8">
                    <a:alpha val="5000"/>
                  </a:srgbClr>
                </a:solidFill>
                <a:latin typeface="Source Han Sans SC"/>
                <a:ea typeface="Source Han Sans SC"/>
              </a:rPr>
              <a:t>02</a:t>
            </a:r>
            <a:endParaRPr/>
          </a:p>
        </p:txBody>
      </p:sp>
      <p:sp>
        <p:nvSpPr>
          <p:cNvPr id="950" name=""/>
          <p:cNvSpPr/>
          <p:nvPr/>
        </p:nvSpPr>
        <p:spPr>
          <a:xfrm rot="0" flipH="0" flipV="0">
            <a:off x="5695950" y="1143000"/>
            <a:ext cx="800100" cy="800100"/>
          </a:xfrm>
          <a:prstGeom prst="roundRect">
            <a:avLst>
              <a:gd name="adj" fmla="val 2381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51" name="" descr="{&quot;isTemplate&quot;:true,&quot;type&quot;:&quot;text&quot;}"/>
          <p:cNvSpPr txBox="1"/>
          <p:nvPr/>
        </p:nvSpPr>
        <p:spPr>
          <a:xfrm rot="0" flipH="0" flipV="0">
            <a:off x="5829300" y="1333500"/>
            <a:ext cx="5334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FFFFFF"/>
                </a:solidFill>
                <a:latin typeface="Source Han Sans SC"/>
                <a:ea typeface="Source Han Sans SC"/>
              </a:rPr>
              <a:t>W2</a:t>
            </a:r>
            <a:endParaRPr/>
          </a:p>
        </p:txBody>
      </p:sp>
      <p:sp>
        <p:nvSpPr>
          <p:cNvPr id="952" name="" descr="{&quot;isTemplate&quot;:true,&quot;type&quot;:&quot;text&quot;}"/>
          <p:cNvSpPr txBox="1"/>
          <p:nvPr/>
        </p:nvSpPr>
        <p:spPr>
          <a:xfrm rot="0" flipH="0" flipV="0">
            <a:off x="2933700" y="2190750"/>
            <a:ext cx="6334125" cy="1219200"/>
          </a:xfrm>
          <a:prstGeom prst="rect"/>
        </p:spPr>
        <p:txBody>
          <a:bodyPr wrap="none" lIns="0" tIns="0" rIns="0" bIns="0"/>
          <a:p>
            <a:pPr algn="ctr">
              <a:lnSpc>
                <a:spcPct val="140000"/>
              </a:lnSpc>
            </a:pPr>
            <a:r>
              <a:rPr lang="en-US" sz="2850" b="1">
                <a:solidFill>
                  <a:srgbClr val="1A2230"/>
                </a:solidFill>
                <a:latin typeface="Source Han Sans SC"/>
                <a:ea typeface="Source Han Sans SC"/>
              </a:rPr>
              <a:t>"</a:t>
            </a:r>
            <a:r>
              <a:rPr lang="zh-CN" sz="2850" b="1">
                <a:solidFill>
                  <a:srgbClr val="1A2230"/>
                </a:solidFill>
                <a:latin typeface="Source Han Sans SC"/>
                <a:ea typeface="Source Han Sans SC"/>
              </a:rPr>
              <a:t>模型的上限，在你写第一行代码之前，</a:t>
            </a:r>
            <a:endParaRPr/>
          </a:p>
          <a:p>
            <a:pPr algn="ctr">
              <a:lnSpc>
                <a:spcPct val="140000"/>
              </a:lnSpc>
            </a:pPr>
            <a:r>
              <a:rPr lang="zh-CN" sz="2850" b="1">
                <a:solidFill>
                  <a:srgbClr val="1A2230"/>
                </a:solidFill>
                <a:latin typeface="Source Han Sans SC"/>
                <a:ea typeface="Source Han Sans SC"/>
              </a:rPr>
              <a:t>就已经由数据决定了。</a:t>
            </a:r>
            <a:r>
              <a:rPr lang="en-US" sz="2850" b="1">
                <a:solidFill>
                  <a:srgbClr val="1A2230"/>
                </a:solidFill>
                <a:latin typeface="Source Han Sans SC"/>
                <a:ea typeface="Source Han Sans SC"/>
              </a:rPr>
              <a:t>"</a:t>
            </a:r>
            <a:endParaRPr/>
          </a:p>
        </p:txBody>
      </p:sp>
      <p:sp>
        <p:nvSpPr>
          <p:cNvPr id="953" name="" descr="{&quot;isTemplate&quot;:true,&quot;type&quot;:&quot;text&quot;}"/>
          <p:cNvSpPr txBox="1"/>
          <p:nvPr/>
        </p:nvSpPr>
        <p:spPr>
          <a:xfrm rot="0" flipH="0" flipV="0">
            <a:off x="2562225" y="3543300"/>
            <a:ext cx="7077075" cy="2286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500" i="1">
                <a:solidFill>
                  <a:srgbClr val="8B97A8"/>
                </a:solidFill>
                <a:latin typeface="Source Han Sans SC"/>
                <a:ea typeface="Source Han Sans SC"/>
              </a:rPr>
              <a:t>The quality of your data caps your model before you write a single line of code.</a:t>
            </a:r>
            <a:endParaRPr/>
          </a:p>
        </p:txBody>
      </p:sp>
      <p:sp>
        <p:nvSpPr>
          <p:cNvPr id="954" name="" descr="{&quot;isTemplate&quot;:true,&quot;type&quot;:&quot;text&quot;}"/>
          <p:cNvSpPr txBox="1"/>
          <p:nvPr/>
        </p:nvSpPr>
        <p:spPr>
          <a:xfrm rot="0" flipH="0" flipV="0">
            <a:off x="5400675" y="4972050"/>
            <a:ext cx="13906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Source Han Sans SC"/>
                <a:ea typeface="Source Han Sans SC"/>
              </a:rPr>
              <a:t>Thank you · </a:t>
            </a:r>
            <a:r>
              <a:rPr lang="zh-CN" sz="1350" b="1">
                <a:solidFill>
                  <a:srgbClr val="0E3F8C"/>
                </a:solidFill>
                <a:latin typeface="Source Han Sans SC"/>
                <a:ea typeface="Source Han Sans SC"/>
              </a:rPr>
              <a:t>谢谢</a:t>
            </a:r>
            <a:endParaRPr/>
          </a:p>
        </p:txBody>
      </p:sp>
      <p:sp>
        <p:nvSpPr>
          <p:cNvPr id="955" name="" descr="{&quot;isTemplate&quot;:true,&quot;type&quot;:&quot;text&quot;}"/>
          <p:cNvSpPr txBox="1"/>
          <p:nvPr/>
        </p:nvSpPr>
        <p:spPr>
          <a:xfrm rot="0" flipH="0" flipV="0">
            <a:off x="3057525" y="5257800"/>
            <a:ext cx="6076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Next week: Machine Learning with scikit-learn · </a:t>
            </a:r>
            <a:r>
              <a:rPr lang="zh-CN" sz="1125">
                <a:solidFill>
                  <a:srgbClr val="8B97A8"/>
                </a:solidFill>
                <a:latin typeface="Source Han Sans SC"/>
                <a:ea typeface="Source Han Sans SC"/>
              </a:rPr>
              <a:t>机器学习与</a:t>
            </a:r>
            <a:r>
              <a:rPr lang="en-US" sz="1125">
                <a:solidFill>
                  <a:srgbClr val="8B97A8"/>
                </a:solidFill>
                <a:latin typeface="Source Han Sans SC"/>
                <a:ea typeface="Source Han Sans SC"/>
              </a:rPr>
              <a:t> scikit-learn</a:t>
            </a:r>
            <a:r>
              <a:rPr lang="zh-CN" sz="1125">
                <a:solidFill>
                  <a:srgbClr val="8B97A8"/>
                </a:solidFill>
                <a:latin typeface="Source Han Sans SC"/>
                <a:ea typeface="Source Han Sans SC"/>
              </a:rPr>
              <a:t>（第一个完整模型）</a:t>
            </a:r>
            <a:endParaRPr/>
          </a:p>
        </p:txBody>
      </p:sp>
      <p:sp>
        <p:nvSpPr>
          <p:cNvPr id="956" name="" descr="{&quot;isTemplate&quot;:true,&quot;type&quot;:&quot;text&quot;}"/>
          <p:cNvSpPr txBox="1"/>
          <p:nvPr/>
        </p:nvSpPr>
        <p:spPr>
          <a:xfrm rot="0" flipH="0" flipV="0">
            <a:off x="4486275" y="5562600"/>
            <a:ext cx="32289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B0B8C4"/>
                </a:solidFill>
                <a:latin typeface="Source Han Sans SC"/>
                <a:ea typeface="Source Han Sans SC"/>
              </a:rPr>
              <a:t>AI Application Development · Week 2 Lecture · 32 / 32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dc="http://purl.org/dc/elements/1.1/" xmlns:cp="http://schemas.openxmlformats.org/package/2006/metadata/core-properties">
  <dcterms:created xsi:type="dcterms:W3CDTF">2026-08-24T14:10:22Z</dcterms:created>
  <dcterms:modified xsi:type="dcterms:W3CDTF">2026-08-24T14:10:22Z</dcterms:modified>
</cp:coreProperties>
</file>