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211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Correct: zeroed each step</c:v>
                </c:pt>
              </c:strCache>
            </c:strRef>
          </c:tx>
          <c:spPr>
            <a:ln w="31750">
              <a:solidFill>
                <a:srgbClr val="1E4FA8"/>
              </a:solidFill>
            </a:ln>
          </c:spPr>
          <c:marker>
            <c:spPr>
              <a:noFill/>
            </c:spPr>
          </c:marker>
          <c:cat>
            <c:numRef>
              <c:f>Sheet1!$A$2:$A$12</c:f>
              <c:numCache>
                <c:formatCode>General</c:formatCode>
                <c:ptCount val="11"/>
                <c:pt idx="0">
                  <c:v>0</c:v>
                </c:pt>
                <c:pt idx="1">
                  <c:v>20</c:v>
                </c:pt>
                <c:pt idx="2">
                  <c:v>40</c:v>
                </c:pt>
                <c:pt idx="3">
                  <c:v>60</c:v>
                </c:pt>
                <c:pt idx="4">
                  <c:v>80</c:v>
                </c:pt>
                <c:pt idx="5">
                  <c:v>100</c:v>
                </c:pt>
                <c:pt idx="6">
                  <c:v>120</c:v>
                </c:pt>
                <c:pt idx="7">
                  <c:v>140</c:v>
                </c:pt>
                <c:pt idx="8">
                  <c:v>160</c:v>
                </c:pt>
                <c:pt idx="9">
                  <c:v>180</c:v>
                </c:pt>
                <c:pt idx="10">
                  <c:v>200</c:v>
                </c:pt>
              </c:numCache>
            </c:numRef>
          </c:cat>
          <c:val>
            <c:numRef>
              <c:f>Sheet1!$B$2:$B$12</c:f>
              <c:numCache>
                <c:formatCode>General</c:formatCode>
                <c:ptCount val="11"/>
                <c:pt idx="0">
                  <c:v>13.0</c:v>
                </c:pt>
                <c:pt idx="1">
                  <c:v>0.92</c:v>
                </c:pt>
                <c:pt idx="2">
                  <c:v>0.14</c:v>
                </c:pt>
                <c:pt idx="3">
                  <c:v>0.05</c:v>
                </c:pt>
                <c:pt idx="4">
                  <c:v>0.028</c:v>
                </c:pt>
                <c:pt idx="5">
                  <c:v>0.019</c:v>
                </c:pt>
                <c:pt idx="6">
                  <c:v>0.014</c:v>
                </c:pt>
                <c:pt idx="7">
                  <c:v>0.012</c:v>
                </c:pt>
                <c:pt idx="8">
                  <c:v>0.011</c:v>
                </c:pt>
                <c:pt idx="9">
                  <c:v>0.01</c:v>
                </c:pt>
                <c:pt idx="10">
                  <c:v>0.01</c:v>
                </c:pt>
              </c:numCache>
            </c:numRef>
          </c:val>
          <c:smooth/>
        </c:ser>
        <c:ser>
          <c:idx val="1"/>
          <c:order val="1"/>
          <c:tx>
            <c:strRef>
              <c:f>Sheet1!$C$1</c:f>
              <c:strCache>
                <c:ptCount val="1"/>
                <c:pt idx="0">
                  <c:v>Never zeroed: accumulation</c:v>
                </c:pt>
              </c:strCache>
            </c:strRef>
          </c:tx>
          <c:spPr>
            <a:ln w="22225">
              <a:solidFill>
                <a:srgbClr val="D97706"/>
              </a:solidFill>
            </a:ln>
          </c:spPr>
          <c:cat>
            <c:numRef>
              <c:f>Sheet1!$A$2:$A$12</c:f>
              <c:numCache>
                <c:formatCode>General</c:formatCode>
                <c:ptCount val="11"/>
                <c:pt idx="0">
                  <c:v>0</c:v>
                </c:pt>
                <c:pt idx="1">
                  <c:v>20</c:v>
                </c:pt>
                <c:pt idx="2">
                  <c:v>40</c:v>
                </c:pt>
                <c:pt idx="3">
                  <c:v>60</c:v>
                </c:pt>
                <c:pt idx="4">
                  <c:v>80</c:v>
                </c:pt>
                <c:pt idx="5">
                  <c:v>100</c:v>
                </c:pt>
                <c:pt idx="6">
                  <c:v>120</c:v>
                </c:pt>
                <c:pt idx="7">
                  <c:v>140</c:v>
                </c:pt>
                <c:pt idx="8">
                  <c:v>160</c:v>
                </c:pt>
                <c:pt idx="9">
                  <c:v>180</c:v>
                </c:pt>
                <c:pt idx="10">
                  <c:v>200</c:v>
                </c:pt>
              </c:numCache>
            </c:numRef>
          </c:cat>
          <c:val>
            <c:numRef>
              <c:f>Sheet1!$C$2:$C$12</c:f>
              <c:numCache>
                <c:formatCode>General</c:formatCode>
                <c:ptCount val="11"/>
                <c:pt idx="0">
                  <c:v>13.0</c:v>
                </c:pt>
                <c:pt idx="1">
                  <c:v>8.9</c:v>
                </c:pt>
                <c:pt idx="2">
                  <c:v>4.2</c:v>
                </c:pt>
                <c:pt idx="3">
                  <c:v>7.8</c:v>
                </c:pt>
                <c:pt idx="4">
                  <c:v>3.6</c:v>
                </c:pt>
                <c:pt idx="5">
                  <c:v>9.1</c:v>
                </c:pt>
                <c:pt idx="6">
                  <c:v>2.9</c:v>
                </c:pt>
                <c:pt idx="7">
                  <c:v>11.4</c:v>
                </c:pt>
                <c:pt idx="8">
                  <c:v>5.8</c:v>
                </c:pt>
                <c:pt idx="9">
                  <c:v>14.2</c:v>
                </c:pt>
                <c:pt idx="10">
                  <c:v>6.1</c:v>
                </c:pt>
              </c:numCache>
            </c:numRef>
          </c:val>
          <c:smooth/>
        </c:ser>
        <c:ser>
          <c:idx val="2"/>
          <c:order val="2"/>
          <c:tx>
            <c:strRef>
              <c:f>Sheet1!$D$1</c:f>
              <c:strCache>
                <c:ptCount val="1"/>
                <c:pt idx="0">
                  <c:v>lr = 1.0, too large</c:v>
                </c:pt>
              </c:strCache>
            </c:strRef>
          </c:tx>
          <c:spPr>
            <a:ln w="22225">
              <a:solidFill>
                <a:srgbClr val="B91C1C"/>
              </a:solidFill>
            </a:ln>
          </c:spPr>
          <c:cat>
            <c:numRef>
              <c:f>Sheet1!$A$2:$A$12</c:f>
              <c:numCache>
                <c:formatCode>General</c:formatCode>
                <c:ptCount val="11"/>
                <c:pt idx="0">
                  <c:v>0</c:v>
                </c:pt>
                <c:pt idx="1">
                  <c:v>20</c:v>
                </c:pt>
                <c:pt idx="2">
                  <c:v>40</c:v>
                </c:pt>
                <c:pt idx="3">
                  <c:v>60</c:v>
                </c:pt>
                <c:pt idx="4">
                  <c:v>80</c:v>
                </c:pt>
                <c:pt idx="5">
                  <c:v>100</c:v>
                </c:pt>
                <c:pt idx="6">
                  <c:v>120</c:v>
                </c:pt>
                <c:pt idx="7">
                  <c:v>140</c:v>
                </c:pt>
                <c:pt idx="8">
                  <c:v>160</c:v>
                </c:pt>
                <c:pt idx="9">
                  <c:v>180</c:v>
                </c:pt>
                <c:pt idx="10">
                  <c:v>200</c:v>
                </c:pt>
              </c:numCache>
            </c:numRef>
          </c:cat>
          <c:val>
            <c:numRef>
              <c:f>Sheet1!$D$2:$D$12</c:f>
              <c:numCache>
                <c:formatCode>General</c:formatCode>
                <c:ptCount val="11"/>
                <c:pt idx="0">
                  <c:v>13.0</c:v>
                </c:pt>
                <c:pt idx="1">
                  <c:v>16.8</c:v>
                </c:pt>
                <c:pt idx="2">
                  <c:v>24.5</c:v>
                </c:pt>
                <c:pt idx="3">
                  <c:v>38.2</c:v>
                </c:pt>
                <c:pt idx="4">
                  <c:v>52.6</c:v>
                </c:pt>
                <c:pt idx="5">
                  <c:v>41.3</c:v>
                </c:pt>
                <c:pt idx="6">
                  <c:v>57.8</c:v>
                </c:pt>
                <c:pt idx="7">
                  <c:v>44.2</c:v>
                </c:pt>
                <c:pt idx="8">
                  <c:v>59.4</c:v>
                </c:pt>
                <c:pt idx="9">
                  <c:v>46.8</c:v>
                </c:pt>
                <c:pt idx="10">
                  <c:v>61.2</c:v>
                </c:pt>
              </c:numCache>
            </c:numRef>
          </c:val>
          <c:smooth/>
        </c:ser>
        <c:marker val="1"/>
        <c:smooth val="0"/>
        <c:axId val="2118791784"/>
        <c:axId val="2140495176"/>
      </c:lineChart>
      <c:catAx>
        <c:axId val="2118791784"/>
        <c:scaling>
          <c:orientation val="minMax"/>
        </c:scaling>
        <c:delete val="0"/>
        <c:axPos val="b"/>
        <c:title>
          <c:tx>
            <c:rich>
              <a:bodyPr/>
              <a:lstStyle/>
              <a:p>
                <a:r>
                  <a:t>Training step</a:t>
                </a:r>
              </a:p>
            </c:rich>
          </c:tx>
          <c:layout/>
          <c:overlay val="0"/>
        </c:title>
        <c:majorTickMark val="out"/>
        <c:minorTickMark val="none"/>
        <c:tickLblPos val="nextTo"/>
        <c:crossAx val="2140495176"/>
        <c:crosses val="autoZero"/>
        <c:auto val="1"/>
        <c:lblAlgn val="ctr"/>
        <c:lblOffset val="100"/>
        <c:noMultiLvlLbl val="0"/>
      </c:catAx>
      <c:valAx>
        <c:axId val="2140495176"/>
        <c:scaling>
          <c:max val="65.0"/>
        </c:scaling>
        <c:delete val="0"/>
        <c:axPos val="l"/>
        <c:majorGridlines/>
        <c:title>
          <c:tx>
            <c:rich>
              <a:bodyPr/>
              <a:lstStyle/>
              <a:p>
                <a:r>
                  <a:t>MSE loss</a:t>
                </a:r>
              </a:p>
            </c:rich>
          </c:tx>
          <c:layout/>
          <c:overlay val="0"/>
        </c:title>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100">
          <a:latin typeface="Source Han Sans SC"/>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1332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33200"/>
            <a:ext cx="12192119" cy="576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096059" y="856800"/>
            <a:ext cx="5296859" cy="4572000"/>
          </a:xfrm>
          <a:prstGeom prst="rect">
            <a:avLst/>
          </a:prstGeom>
          <a:noFill/>
        </p:spPr>
        <p:txBody>
          <a:bodyPr wrap="square" anchor="t" lIns="0" rIns="0" tIns="0" bIns="0">
            <a:spAutoFit/>
          </a:bodyPr>
          <a:lstStyle/>
          <a:p>
            <a:pPr algn="r">
              <a:lnSpc>
                <a:spcPct val="125000"/>
              </a:lnSpc>
            </a:pPr>
            <a:r>
              <a:rPr sz="19000" b="1" i="0">
                <a:solidFill>
                  <a:srgbClr val="F0F5FC"/>
                </a:solidFill>
                <a:latin typeface="Source Han Sans SC"/>
              </a:rPr>
              <a:t>02</a:t>
            </a:r>
          </a:p>
        </p:txBody>
      </p:sp>
      <p:sp>
        <p:nvSpPr>
          <p:cNvPr id="6" name="TextBox 5"/>
          <p:cNvSpPr txBox="1"/>
          <p:nvPr/>
        </p:nvSpPr>
        <p:spPr>
          <a:xfrm>
            <a:off x="799200" y="856800"/>
            <a:ext cx="7200000" cy="216000"/>
          </a:xfrm>
          <a:prstGeom prst="rect">
            <a:avLst/>
          </a:prstGeom>
          <a:noFill/>
        </p:spPr>
        <p:txBody>
          <a:bodyPr wrap="square" anchor="t" lIns="0" rIns="0" tIns="0" bIns="0">
            <a:spAutoFit/>
          </a:bodyPr>
          <a:lstStyle/>
          <a:p>
            <a:pPr algn="l">
              <a:lnSpc>
                <a:spcPct val="125000"/>
              </a:lnSpc>
            </a:pPr>
            <a:r>
              <a:rPr sz="1150" b="1" i="0">
                <a:solidFill>
                  <a:srgbClr val="1E4FA8"/>
                </a:solidFill>
                <a:latin typeface="Source Han Sans SC"/>
              </a:rPr>
              <a:t>52015CC3BV · UNDERGRADUATE · INTERNATIONAL</a:t>
            </a:r>
          </a:p>
        </p:txBody>
      </p:sp>
      <p:sp>
        <p:nvSpPr>
          <p:cNvPr id="7" name="Rectangle 6"/>
          <p:cNvSpPr/>
          <p:nvPr/>
        </p:nvSpPr>
        <p:spPr>
          <a:xfrm>
            <a:off x="799200" y="1267200"/>
            <a:ext cx="608400" cy="39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9200" y="1609200"/>
            <a:ext cx="10593719" cy="540000"/>
          </a:xfrm>
          <a:prstGeom prst="rect">
            <a:avLst/>
          </a:prstGeom>
          <a:noFill/>
        </p:spPr>
        <p:txBody>
          <a:bodyPr wrap="square" anchor="t" lIns="0" rIns="0" tIns="0" bIns="0">
            <a:spAutoFit/>
          </a:bodyPr>
          <a:lstStyle/>
          <a:p>
            <a:pPr algn="l">
              <a:lnSpc>
                <a:spcPct val="125000"/>
              </a:lnSpc>
            </a:pPr>
            <a:r>
              <a:rPr sz="4000" b="1" i="0">
                <a:solidFill>
                  <a:srgbClr val="0E3F8C"/>
                </a:solidFill>
                <a:latin typeface="Source Han Sans SC"/>
              </a:rPr>
              <a:t>PyTorch Fundamentals: Tensors and Autograd</a:t>
            </a:r>
          </a:p>
        </p:txBody>
      </p:sp>
      <p:sp>
        <p:nvSpPr>
          <p:cNvPr id="9" name="TextBox 8"/>
          <p:cNvSpPr txBox="1"/>
          <p:nvPr/>
        </p:nvSpPr>
        <p:spPr>
          <a:xfrm>
            <a:off x="799200" y="2232000"/>
            <a:ext cx="10593719" cy="972000"/>
          </a:xfrm>
          <a:prstGeom prst="rect">
            <a:avLst/>
          </a:prstGeom>
          <a:noFill/>
        </p:spPr>
        <p:txBody>
          <a:bodyPr wrap="square" anchor="t" lIns="0" rIns="0" tIns="0" bIns="0">
            <a:spAutoFit/>
          </a:bodyPr>
          <a:lstStyle/>
          <a:p>
            <a:pPr algn="l">
              <a:lnSpc>
                <a:spcPct val="125000"/>
              </a:lnSpc>
            </a:pPr>
            <a:r>
              <a:rPr sz="2500" b="0" i="0">
                <a:solidFill>
                  <a:srgbClr val="1F2937"/>
                </a:solidFill>
                <a:latin typeface="Source Han Sans SC"/>
              </a:rPr>
              <a:t>Tensors · shapes · broadcasting · computational graphs · gradient descent by hand</a:t>
            </a:r>
          </a:p>
        </p:txBody>
      </p:sp>
      <p:sp>
        <p:nvSpPr>
          <p:cNvPr id="10" name="TextBox 9"/>
          <p:cNvSpPr txBox="1"/>
          <p:nvPr/>
        </p:nvSpPr>
        <p:spPr>
          <a:xfrm>
            <a:off x="799200" y="3344399"/>
            <a:ext cx="10593719" cy="288000"/>
          </a:xfrm>
          <a:prstGeom prst="rect">
            <a:avLst/>
          </a:prstGeom>
          <a:noFill/>
        </p:spPr>
        <p:txBody>
          <a:bodyPr wrap="square" anchor="t" lIns="0" rIns="0" tIns="0" bIns="0">
            <a:spAutoFit/>
          </a:bodyPr>
          <a:lstStyle/>
          <a:p>
            <a:pPr algn="l">
              <a:lnSpc>
                <a:spcPct val="125000"/>
              </a:lnSpc>
            </a:pPr>
            <a:r>
              <a:rPr sz="1400" b="0" i="0">
                <a:solidFill>
                  <a:srgbClr val="6B7280"/>
                </a:solidFill>
                <a:latin typeface="Source Han Sans SC"/>
              </a:rPr>
              <a:t>Week 2 · Creating tensors · shapes and broadcasting · graphs and autograd · gradient descent by hand</a:t>
            </a:r>
          </a:p>
        </p:txBody>
      </p:sp>
      <p:sp>
        <p:nvSpPr>
          <p:cNvPr id="11" name="Rectangle 10"/>
          <p:cNvSpPr/>
          <p:nvPr/>
        </p:nvSpPr>
        <p:spPr>
          <a:xfrm>
            <a:off x="799200" y="5295600"/>
            <a:ext cx="1984823" cy="324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72000" y="5364000"/>
            <a:ext cx="1639223" cy="190800"/>
          </a:xfrm>
          <a:prstGeom prst="rect">
            <a:avLst/>
          </a:prstGeom>
          <a:noFill/>
        </p:spPr>
        <p:txBody>
          <a:bodyPr wrap="square" anchor="t" lIns="0" rIns="0" tIns="0" bIns="0">
            <a:spAutoFit/>
          </a:bodyPr>
          <a:lstStyle/>
          <a:p>
            <a:pPr algn="l">
              <a:lnSpc>
                <a:spcPct val="125000"/>
              </a:lnSpc>
            </a:pPr>
            <a:r>
              <a:rPr sz="1150" b="1" i="0">
                <a:solidFill>
                  <a:srgbClr val="0E3F8C"/>
                </a:solidFill>
                <a:latin typeface="Source Han Sans SC"/>
              </a:rPr>
              <a:t>Module 1 · W1-4</a:t>
            </a:r>
          </a:p>
        </p:txBody>
      </p:sp>
      <p:sp>
        <p:nvSpPr>
          <p:cNvPr id="13" name="Rectangle 12"/>
          <p:cNvSpPr/>
          <p:nvPr/>
        </p:nvSpPr>
        <p:spPr>
          <a:xfrm>
            <a:off x="3007223" y="5295600"/>
            <a:ext cx="2977235" cy="324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180023" y="5364000"/>
            <a:ext cx="2631636" cy="190800"/>
          </a:xfrm>
          <a:prstGeom prst="rect">
            <a:avLst/>
          </a:prstGeom>
          <a:noFill/>
        </p:spPr>
        <p:txBody>
          <a:bodyPr wrap="square" anchor="t" lIns="0" rIns="0" tIns="0" bIns="0">
            <a:spAutoFit/>
          </a:bodyPr>
          <a:lstStyle/>
          <a:p>
            <a:pPr algn="l">
              <a:lnSpc>
                <a:spcPct val="125000"/>
              </a:lnSpc>
            </a:pPr>
            <a:r>
              <a:rPr sz="1150" b="1" i="0">
                <a:solidFill>
                  <a:srgbClr val="0E3F8C"/>
                </a:solidFill>
                <a:latin typeface="Source Han Sans SC"/>
              </a:rPr>
              <a:t>180 min · Lecture + Lab + Quiz</a:t>
            </a:r>
          </a:p>
        </p:txBody>
      </p:sp>
      <p:sp>
        <p:nvSpPr>
          <p:cNvPr id="15" name="Rectangle 14"/>
          <p:cNvSpPr/>
          <p:nvPr/>
        </p:nvSpPr>
        <p:spPr>
          <a:xfrm>
            <a:off x="6207659" y="5295600"/>
            <a:ext cx="3572683" cy="324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380459" y="5364000"/>
            <a:ext cx="3227083" cy="190800"/>
          </a:xfrm>
          <a:prstGeom prst="rect">
            <a:avLst/>
          </a:prstGeom>
          <a:noFill/>
        </p:spPr>
        <p:txBody>
          <a:bodyPr wrap="square" anchor="t" lIns="0" rIns="0" tIns="0" bIns="0">
            <a:spAutoFit/>
          </a:bodyPr>
          <a:lstStyle/>
          <a:p>
            <a:pPr algn="l">
              <a:lnSpc>
                <a:spcPct val="125000"/>
              </a:lnSpc>
            </a:pPr>
            <a:r>
              <a:rPr sz="1150" b="1" i="0">
                <a:solidFill>
                  <a:srgbClr val="0E3F8C"/>
                </a:solidFill>
                <a:latin typeface="Source Han Sans SC"/>
              </a:rPr>
              <a:t>torch.Tensor · autograd · broadcasting · gradient descent</a:t>
            </a:r>
          </a:p>
        </p:txBody>
      </p:sp>
      <p:sp>
        <p:nvSpPr>
          <p:cNvPr id="17" name="Rectangle 16"/>
          <p:cNvSpPr/>
          <p:nvPr/>
        </p:nvSpPr>
        <p:spPr>
          <a:xfrm>
            <a:off x="10003543" y="5295600"/>
            <a:ext cx="1389376" cy="324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176343" y="5364000"/>
            <a:ext cx="1043776" cy="190800"/>
          </a:xfrm>
          <a:prstGeom prst="rect">
            <a:avLst/>
          </a:prstGeom>
          <a:noFill/>
        </p:spPr>
        <p:txBody>
          <a:bodyPr wrap="square" anchor="t" lIns="0" rIns="0" tIns="0" bIns="0">
            <a:spAutoFit/>
          </a:bodyPr>
          <a:lstStyle/>
          <a:p>
            <a:pPr algn="l">
              <a:lnSpc>
                <a:spcPct val="125000"/>
              </a:lnSpc>
            </a:pPr>
            <a:r>
              <a:rPr sz="1150" b="1" i="0">
                <a:solidFill>
                  <a:srgbClr val="0E3F8C"/>
                </a:solidFill>
                <a:latin typeface="Source Han Sans SC"/>
              </a:rPr>
              <a:t>CU(2)</a:t>
            </a:r>
          </a:p>
        </p:txBody>
      </p:sp>
      <p:sp>
        <p:nvSpPr>
          <p:cNvPr id="19" name="Rectangle 18"/>
          <p:cNvSpPr/>
          <p:nvPr/>
        </p:nvSpPr>
        <p:spPr>
          <a:xfrm>
            <a:off x="799200" y="5868000"/>
            <a:ext cx="417600" cy="4176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56800" y="5961600"/>
            <a:ext cx="306000" cy="230400"/>
          </a:xfrm>
          <a:prstGeom prst="rect">
            <a:avLst/>
          </a:prstGeom>
          <a:noFill/>
        </p:spPr>
        <p:txBody>
          <a:bodyPr wrap="square" anchor="t" lIns="0" rIns="0" tIns="0" bIns="0">
            <a:spAutoFit/>
          </a:bodyPr>
          <a:lstStyle/>
          <a:p>
            <a:pPr algn="l">
              <a:lnSpc>
                <a:spcPct val="125000"/>
              </a:lnSpc>
            </a:pPr>
            <a:r>
              <a:rPr sz="1100" b="1" i="0">
                <a:solidFill>
                  <a:srgbClr val="FFFFFF"/>
                </a:solidFill>
                <a:latin typeface="Source Han Sans SC"/>
              </a:rPr>
              <a:t>W2</a:t>
            </a:r>
          </a:p>
        </p:txBody>
      </p:sp>
      <p:sp>
        <p:nvSpPr>
          <p:cNvPr id="21" name="TextBox 20"/>
          <p:cNvSpPr txBox="1"/>
          <p:nvPr/>
        </p:nvSpPr>
        <p:spPr>
          <a:xfrm>
            <a:off x="1332000" y="5983200"/>
            <a:ext cx="5760000" cy="2016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Lecturer: ____________  ·  School of Software 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Contents</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1 · Week 2</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02 / 30</a:t>
            </a:r>
          </a:p>
        </p:txBody>
      </p:sp>
      <p:sp>
        <p:nvSpPr>
          <p:cNvPr id="9" name="Rectangle 8"/>
          <p:cNvSpPr/>
          <p:nvPr/>
        </p:nvSpPr>
        <p:spPr>
          <a:xfrm>
            <a:off x="799200" y="1044000"/>
            <a:ext cx="2858400" cy="49536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47600" y="2163600"/>
            <a:ext cx="2361600" cy="388800"/>
          </a:xfrm>
          <a:prstGeom prst="rect">
            <a:avLst/>
          </a:prstGeom>
          <a:noFill/>
        </p:spPr>
        <p:txBody>
          <a:bodyPr wrap="square" anchor="t" lIns="0" rIns="0" tIns="0" bIns="0">
            <a:spAutoFit/>
          </a:bodyPr>
          <a:lstStyle/>
          <a:p>
            <a:pPr algn="l">
              <a:lnSpc>
                <a:spcPct val="125000"/>
              </a:lnSpc>
            </a:pPr>
            <a:r>
              <a:rPr sz="2600" b="1" i="0">
                <a:solidFill>
                  <a:srgbClr val="0E3F8C"/>
                </a:solidFill>
                <a:latin typeface="Source Han Sans SC"/>
              </a:rPr>
              <a:t>5 Parts</a:t>
            </a:r>
          </a:p>
        </p:txBody>
      </p:sp>
      <p:sp>
        <p:nvSpPr>
          <p:cNvPr id="11" name="TextBox 10"/>
          <p:cNvSpPr txBox="1"/>
          <p:nvPr/>
        </p:nvSpPr>
        <p:spPr>
          <a:xfrm>
            <a:off x="1047600" y="2628000"/>
            <a:ext cx="2361600" cy="190800"/>
          </a:xfrm>
          <a:prstGeom prst="rect">
            <a:avLst/>
          </a:prstGeom>
          <a:noFill/>
        </p:spPr>
        <p:txBody>
          <a:bodyPr wrap="square" anchor="t" lIns="0" rIns="0" tIns="0" bIns="0">
            <a:spAutoFit/>
          </a:bodyPr>
          <a:lstStyle/>
          <a:p>
            <a:pPr algn="l">
              <a:lnSpc>
                <a:spcPct val="125000"/>
              </a:lnSpc>
            </a:pPr>
            <a:r>
              <a:rPr sz="1150" b="1" i="0">
                <a:solidFill>
                  <a:srgbClr val="6B7280"/>
                </a:solidFill>
                <a:latin typeface="Source Han Sans SC"/>
              </a:rPr>
              <a:t>Part</a:t>
            </a:r>
          </a:p>
        </p:txBody>
      </p:sp>
      <p:sp>
        <p:nvSpPr>
          <p:cNvPr id="12" name="Rectangle 11"/>
          <p:cNvSpPr/>
          <p:nvPr/>
        </p:nvSpPr>
        <p:spPr>
          <a:xfrm>
            <a:off x="1047600" y="2991600"/>
            <a:ext cx="2361600" cy="18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47600" y="3160800"/>
            <a:ext cx="2361600" cy="896400"/>
          </a:xfrm>
          <a:prstGeom prst="rect">
            <a:avLst/>
          </a:prstGeom>
          <a:noFill/>
        </p:spPr>
        <p:txBody>
          <a:bodyPr wrap="square" anchor="t" lIns="0" rIns="0" tIns="0" bIns="0">
            <a:spAutoFit/>
          </a:bodyPr>
          <a:lstStyle/>
          <a:p>
            <a:pPr algn="l">
              <a:lnSpc>
                <a:spcPct val="140000"/>
              </a:lnSpc>
            </a:pPr>
            <a:r>
              <a:rPr sz="1250" b="0" i="0">
                <a:solidFill>
                  <a:srgbClr val="1F2937"/>
                </a:solidFill>
                <a:latin typeface="Source Han Sans SC"/>
              </a:rPr>
              <a:t>A tensor is the only data container this course uses; autograd is the only engine you must understand.
Today you will learn a straight line using nothing but those two.</a:t>
            </a:r>
          </a:p>
        </p:txBody>
      </p:sp>
      <p:sp>
        <p:nvSpPr>
          <p:cNvPr id="14" name="Rectangle 13"/>
          <p:cNvSpPr/>
          <p:nvPr/>
        </p:nvSpPr>
        <p:spPr>
          <a:xfrm>
            <a:off x="1047600" y="4208400"/>
            <a:ext cx="2361600" cy="6876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180800" y="4305600"/>
            <a:ext cx="2095200" cy="4967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Theory ~90 min · Lab 80 min · Quiz &amp; Summary 10 min</a:t>
            </a:r>
          </a:p>
        </p:txBody>
      </p:sp>
      <p:sp>
        <p:nvSpPr>
          <p:cNvPr id="16" name="Rectangle 15"/>
          <p:cNvSpPr/>
          <p:nvPr/>
        </p:nvSpPr>
        <p:spPr>
          <a:xfrm>
            <a:off x="3924000" y="1648800"/>
            <a:ext cx="7466399" cy="7632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3999600" y="1771200"/>
            <a:ext cx="496799" cy="496799"/>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999600" y="1872000"/>
            <a:ext cx="496799" cy="230400"/>
          </a:xfrm>
          <a:prstGeom prst="rect">
            <a:avLst/>
          </a:prstGeom>
          <a:noFill/>
        </p:spPr>
        <p:txBody>
          <a:bodyPr wrap="square" anchor="t" lIns="0" rIns="0" tIns="0" bIns="0">
            <a:spAutoFit/>
          </a:bodyPr>
          <a:lstStyle/>
          <a:p>
            <a:pPr algn="ctr">
              <a:lnSpc>
                <a:spcPct val="125000"/>
              </a:lnSpc>
            </a:pPr>
            <a:r>
              <a:rPr sz="1700" b="1" i="0">
                <a:solidFill>
                  <a:srgbClr val="1E4FA8"/>
                </a:solidFill>
                <a:latin typeface="Source Han Sans SC"/>
              </a:rPr>
              <a:t>01</a:t>
            </a:r>
          </a:p>
        </p:txBody>
      </p:sp>
      <p:sp>
        <p:nvSpPr>
          <p:cNvPr id="19" name="TextBox 18"/>
          <p:cNvSpPr txBox="1"/>
          <p:nvPr/>
        </p:nvSpPr>
        <p:spPr>
          <a:xfrm>
            <a:off x="4687200" y="1789200"/>
            <a:ext cx="4320000" cy="277200"/>
          </a:xfrm>
          <a:prstGeom prst="rect">
            <a:avLst/>
          </a:prstGeom>
          <a:noFill/>
        </p:spPr>
        <p:txBody>
          <a:bodyPr wrap="square" anchor="t" lIns="0" rIns="0" tIns="0" bIns="0">
            <a:spAutoFit/>
          </a:bodyPr>
          <a:lstStyle/>
          <a:p>
            <a:pPr algn="l">
              <a:lnSpc>
                <a:spcPct val="125000"/>
              </a:lnSpc>
            </a:pPr>
            <a:r>
              <a:rPr sz="1600" b="1" i="0">
                <a:solidFill>
                  <a:srgbClr val="0E3F8C"/>
                </a:solidFill>
                <a:latin typeface="Source Han Sans SC"/>
              </a:rPr>
              <a:t>Tensors as the Universal Container</a:t>
            </a:r>
          </a:p>
        </p:txBody>
      </p:sp>
      <p:sp>
        <p:nvSpPr>
          <p:cNvPr id="20" name="TextBox 19"/>
          <p:cNvSpPr txBox="1"/>
          <p:nvPr/>
        </p:nvSpPr>
        <p:spPr>
          <a:xfrm>
            <a:off x="4687200" y="2077199"/>
            <a:ext cx="4320000" cy="162000"/>
          </a:xfrm>
          <a:prstGeom prst="rect">
            <a:avLst/>
          </a:prstGeom>
          <a:noFill/>
        </p:spPr>
        <p:txBody>
          <a:bodyPr wrap="square" anchor="t" lIns="0" rIns="0" tIns="0" bIns="0">
            <a:spAutoFit/>
          </a:bodyPr>
          <a:lstStyle/>
          <a:p>
            <a:pPr algn="l">
              <a:lnSpc>
                <a:spcPct val="125000"/>
              </a:lnSpc>
            </a:pPr>
            <a:r>
              <a:rPr sz="1150" b="1" i="0">
                <a:solidFill>
                  <a:srgbClr val="3D7BD9"/>
                </a:solidFill>
                <a:latin typeface="Source Han Sans SC"/>
              </a:rPr>
              <a:t>The Container</a:t>
            </a:r>
          </a:p>
        </p:txBody>
      </p:sp>
      <p:sp>
        <p:nvSpPr>
          <p:cNvPr id="21" name="TextBox 20"/>
          <p:cNvSpPr txBox="1"/>
          <p:nvPr/>
        </p:nvSpPr>
        <p:spPr>
          <a:xfrm>
            <a:off x="4687200" y="2268000"/>
            <a:ext cx="6249600" cy="162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Creating tensors · five key attributes · NumPy relation · GPU tensors</a:t>
            </a:r>
          </a:p>
        </p:txBody>
      </p:sp>
      <p:sp>
        <p:nvSpPr>
          <p:cNvPr id="22" name="Right Arrow 21"/>
          <p:cNvSpPr/>
          <p:nvPr/>
        </p:nvSpPr>
        <p:spPr>
          <a:xfrm>
            <a:off x="11048400" y="1933200"/>
            <a:ext cx="180000" cy="1908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924000" y="2401200"/>
            <a:ext cx="7466399" cy="7632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999600" y="2523600"/>
            <a:ext cx="496799" cy="496799"/>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999600" y="2624400"/>
            <a:ext cx="496799" cy="230400"/>
          </a:xfrm>
          <a:prstGeom prst="rect">
            <a:avLst/>
          </a:prstGeom>
          <a:noFill/>
        </p:spPr>
        <p:txBody>
          <a:bodyPr wrap="square" anchor="t" lIns="0" rIns="0" tIns="0" bIns="0">
            <a:spAutoFit/>
          </a:bodyPr>
          <a:lstStyle/>
          <a:p>
            <a:pPr algn="ctr">
              <a:lnSpc>
                <a:spcPct val="125000"/>
              </a:lnSpc>
            </a:pPr>
            <a:r>
              <a:rPr sz="1700" b="1" i="0">
                <a:solidFill>
                  <a:srgbClr val="1E4FA8"/>
                </a:solidFill>
                <a:latin typeface="Source Han Sans SC"/>
              </a:rPr>
              <a:t>02</a:t>
            </a:r>
          </a:p>
        </p:txBody>
      </p:sp>
      <p:sp>
        <p:nvSpPr>
          <p:cNvPr id="26" name="TextBox 25"/>
          <p:cNvSpPr txBox="1"/>
          <p:nvPr/>
        </p:nvSpPr>
        <p:spPr>
          <a:xfrm>
            <a:off x="4687200" y="2541600"/>
            <a:ext cx="4320000" cy="277200"/>
          </a:xfrm>
          <a:prstGeom prst="rect">
            <a:avLst/>
          </a:prstGeom>
          <a:noFill/>
        </p:spPr>
        <p:txBody>
          <a:bodyPr wrap="square" anchor="t" lIns="0" rIns="0" tIns="0" bIns="0">
            <a:spAutoFit/>
          </a:bodyPr>
          <a:lstStyle/>
          <a:p>
            <a:pPr algn="l">
              <a:lnSpc>
                <a:spcPct val="125000"/>
              </a:lnSpc>
            </a:pPr>
            <a:r>
              <a:rPr sz="1600" b="1" i="0">
                <a:solidFill>
                  <a:srgbClr val="0E3F8C"/>
                </a:solidFill>
                <a:latin typeface="Source Han Sans SC"/>
              </a:rPr>
              <a:t>Shape Manipulation &amp; Broadcasting</a:t>
            </a:r>
          </a:p>
        </p:txBody>
      </p:sp>
      <p:sp>
        <p:nvSpPr>
          <p:cNvPr id="27" name="TextBox 26"/>
          <p:cNvSpPr txBox="1"/>
          <p:nvPr/>
        </p:nvSpPr>
        <p:spPr>
          <a:xfrm>
            <a:off x="4687200" y="2829600"/>
            <a:ext cx="4320000" cy="162000"/>
          </a:xfrm>
          <a:prstGeom prst="rect">
            <a:avLst/>
          </a:prstGeom>
          <a:noFill/>
        </p:spPr>
        <p:txBody>
          <a:bodyPr wrap="square" anchor="t" lIns="0" rIns="0" tIns="0" bIns="0">
            <a:spAutoFit/>
          </a:bodyPr>
          <a:lstStyle/>
          <a:p>
            <a:pPr algn="l">
              <a:lnSpc>
                <a:spcPct val="125000"/>
              </a:lnSpc>
            </a:pPr>
            <a:r>
              <a:rPr sz="1150" b="1" i="0">
                <a:solidFill>
                  <a:srgbClr val="3D7BD9"/>
                </a:solidFill>
                <a:latin typeface="Source Han Sans SC"/>
              </a:rPr>
              <a:t>Shapes &amp; Broadcasting</a:t>
            </a:r>
          </a:p>
        </p:txBody>
      </p:sp>
      <p:sp>
        <p:nvSpPr>
          <p:cNvPr id="28" name="TextBox 27"/>
          <p:cNvSpPr txBox="1"/>
          <p:nvPr/>
        </p:nvSpPr>
        <p:spPr>
          <a:xfrm>
            <a:off x="4687200" y="3020400"/>
            <a:ext cx="6249600" cy="162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view/reshape · unsqueeze/permute · broadcast rules · break it on purpose</a:t>
            </a:r>
          </a:p>
        </p:txBody>
      </p:sp>
      <p:sp>
        <p:nvSpPr>
          <p:cNvPr id="29" name="Right Arrow 28"/>
          <p:cNvSpPr/>
          <p:nvPr/>
        </p:nvSpPr>
        <p:spPr>
          <a:xfrm>
            <a:off x="11048400" y="2685600"/>
            <a:ext cx="180000" cy="1908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924000" y="3153600"/>
            <a:ext cx="7466399" cy="7632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999600" y="3276000"/>
            <a:ext cx="496799" cy="496799"/>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999600" y="3376799"/>
            <a:ext cx="496799" cy="230400"/>
          </a:xfrm>
          <a:prstGeom prst="rect">
            <a:avLst/>
          </a:prstGeom>
          <a:noFill/>
        </p:spPr>
        <p:txBody>
          <a:bodyPr wrap="square" anchor="t" lIns="0" rIns="0" tIns="0" bIns="0">
            <a:spAutoFit/>
          </a:bodyPr>
          <a:lstStyle/>
          <a:p>
            <a:pPr algn="ctr">
              <a:lnSpc>
                <a:spcPct val="125000"/>
              </a:lnSpc>
            </a:pPr>
            <a:r>
              <a:rPr sz="1700" b="1" i="0">
                <a:solidFill>
                  <a:srgbClr val="1E4FA8"/>
                </a:solidFill>
                <a:latin typeface="Source Han Sans SC"/>
              </a:rPr>
              <a:t>03</a:t>
            </a:r>
          </a:p>
        </p:txBody>
      </p:sp>
      <p:sp>
        <p:nvSpPr>
          <p:cNvPr id="33" name="TextBox 32"/>
          <p:cNvSpPr txBox="1"/>
          <p:nvPr/>
        </p:nvSpPr>
        <p:spPr>
          <a:xfrm>
            <a:off x="4687200" y="3294000"/>
            <a:ext cx="4320000" cy="277200"/>
          </a:xfrm>
          <a:prstGeom prst="rect">
            <a:avLst/>
          </a:prstGeom>
          <a:noFill/>
        </p:spPr>
        <p:txBody>
          <a:bodyPr wrap="square" anchor="t" lIns="0" rIns="0" tIns="0" bIns="0">
            <a:spAutoFit/>
          </a:bodyPr>
          <a:lstStyle/>
          <a:p>
            <a:pPr algn="l">
              <a:lnSpc>
                <a:spcPct val="125000"/>
              </a:lnSpc>
            </a:pPr>
            <a:r>
              <a:rPr sz="1600" b="1" i="0">
                <a:solidFill>
                  <a:srgbClr val="0E3F8C"/>
                </a:solidFill>
                <a:latin typeface="Source Han Sans SC"/>
              </a:rPr>
              <a:t>Computational Graphs &amp; Autograd</a:t>
            </a:r>
          </a:p>
        </p:txBody>
      </p:sp>
      <p:sp>
        <p:nvSpPr>
          <p:cNvPr id="34" name="TextBox 33"/>
          <p:cNvSpPr txBox="1"/>
          <p:nvPr/>
        </p:nvSpPr>
        <p:spPr>
          <a:xfrm>
            <a:off x="4687200" y="3581999"/>
            <a:ext cx="4320000" cy="162000"/>
          </a:xfrm>
          <a:prstGeom prst="rect">
            <a:avLst/>
          </a:prstGeom>
          <a:noFill/>
        </p:spPr>
        <p:txBody>
          <a:bodyPr wrap="square" anchor="t" lIns="0" rIns="0" tIns="0" bIns="0">
            <a:spAutoFit/>
          </a:bodyPr>
          <a:lstStyle/>
          <a:p>
            <a:pPr algn="l">
              <a:lnSpc>
                <a:spcPct val="125000"/>
              </a:lnSpc>
            </a:pPr>
            <a:r>
              <a:rPr sz="1150" b="1" i="0">
                <a:solidFill>
                  <a:srgbClr val="3D7BD9"/>
                </a:solidFill>
                <a:latin typeface="Source Han Sans SC"/>
              </a:rPr>
              <a:t>Graphs &amp; Autograd</a:t>
            </a:r>
          </a:p>
        </p:txBody>
      </p:sp>
      <p:sp>
        <p:nvSpPr>
          <p:cNvPr id="35" name="TextBox 34"/>
          <p:cNvSpPr txBox="1"/>
          <p:nvPr/>
        </p:nvSpPr>
        <p:spPr>
          <a:xfrm>
            <a:off x="4687200" y="3772800"/>
            <a:ext cx="6249600" cy="162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The graph · requires_grad · backward and grad · a gradient debug table</a:t>
            </a:r>
          </a:p>
        </p:txBody>
      </p:sp>
      <p:sp>
        <p:nvSpPr>
          <p:cNvPr id="36" name="Right Arrow 35"/>
          <p:cNvSpPr/>
          <p:nvPr/>
        </p:nvSpPr>
        <p:spPr>
          <a:xfrm>
            <a:off x="11048400" y="3438000"/>
            <a:ext cx="180000" cy="1908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3924000" y="3906000"/>
            <a:ext cx="7466399" cy="7632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3999600" y="4028400"/>
            <a:ext cx="496799" cy="496799"/>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3999600" y="4129199"/>
            <a:ext cx="496799" cy="230400"/>
          </a:xfrm>
          <a:prstGeom prst="rect">
            <a:avLst/>
          </a:prstGeom>
          <a:noFill/>
        </p:spPr>
        <p:txBody>
          <a:bodyPr wrap="square" anchor="t" lIns="0" rIns="0" tIns="0" bIns="0">
            <a:spAutoFit/>
          </a:bodyPr>
          <a:lstStyle/>
          <a:p>
            <a:pPr algn="ctr">
              <a:lnSpc>
                <a:spcPct val="125000"/>
              </a:lnSpc>
            </a:pPr>
            <a:r>
              <a:rPr sz="1700" b="1" i="0">
                <a:solidFill>
                  <a:srgbClr val="1E4FA8"/>
                </a:solidFill>
                <a:latin typeface="Source Han Sans SC"/>
              </a:rPr>
              <a:t>04</a:t>
            </a:r>
          </a:p>
        </p:txBody>
      </p:sp>
      <p:sp>
        <p:nvSpPr>
          <p:cNvPr id="40" name="TextBox 39"/>
          <p:cNvSpPr txBox="1"/>
          <p:nvPr/>
        </p:nvSpPr>
        <p:spPr>
          <a:xfrm>
            <a:off x="4687200" y="4046400"/>
            <a:ext cx="4320000" cy="277200"/>
          </a:xfrm>
          <a:prstGeom prst="rect">
            <a:avLst/>
          </a:prstGeom>
          <a:noFill/>
        </p:spPr>
        <p:txBody>
          <a:bodyPr wrap="square" anchor="t" lIns="0" rIns="0" tIns="0" bIns="0">
            <a:spAutoFit/>
          </a:bodyPr>
          <a:lstStyle/>
          <a:p>
            <a:pPr algn="l">
              <a:lnSpc>
                <a:spcPct val="125000"/>
              </a:lnSpc>
            </a:pPr>
            <a:r>
              <a:rPr sz="1600" b="1" i="0">
                <a:solidFill>
                  <a:srgbClr val="0E3F8C"/>
                </a:solidFill>
                <a:latin typeface="Source Han Sans SC"/>
              </a:rPr>
              <a:t>Gradient Descent with Tensors</a:t>
            </a:r>
          </a:p>
        </p:txBody>
      </p:sp>
      <p:sp>
        <p:nvSpPr>
          <p:cNvPr id="41" name="TextBox 40"/>
          <p:cNvSpPr txBox="1"/>
          <p:nvPr/>
        </p:nvSpPr>
        <p:spPr>
          <a:xfrm>
            <a:off x="4687200" y="4334400"/>
            <a:ext cx="4320000" cy="162000"/>
          </a:xfrm>
          <a:prstGeom prst="rect">
            <a:avLst/>
          </a:prstGeom>
          <a:noFill/>
        </p:spPr>
        <p:txBody>
          <a:bodyPr wrap="square" anchor="t" lIns="0" rIns="0" tIns="0" bIns="0">
            <a:spAutoFit/>
          </a:bodyPr>
          <a:lstStyle/>
          <a:p>
            <a:pPr algn="l">
              <a:lnSpc>
                <a:spcPct val="125000"/>
              </a:lnSpc>
            </a:pPr>
            <a:r>
              <a:rPr sz="1150" b="1" i="0">
                <a:solidFill>
                  <a:srgbClr val="3D7BD9"/>
                </a:solidFill>
                <a:latin typeface="Source Han Sans SC"/>
              </a:rPr>
              <a:t>Gradient Descent</a:t>
            </a:r>
          </a:p>
        </p:txBody>
      </p:sp>
      <p:sp>
        <p:nvSpPr>
          <p:cNvPr id="42" name="TextBox 41"/>
          <p:cNvSpPr txBox="1"/>
          <p:nvPr/>
        </p:nvSpPr>
        <p:spPr>
          <a:xfrm>
            <a:off x="4687200" y="4525200"/>
            <a:ext cx="6249600" cy="162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The hand-written loop · loss curves · verifying convergence · learning rates</a:t>
            </a:r>
          </a:p>
        </p:txBody>
      </p:sp>
      <p:sp>
        <p:nvSpPr>
          <p:cNvPr id="43" name="Right Arrow 42"/>
          <p:cNvSpPr/>
          <p:nvPr/>
        </p:nvSpPr>
        <p:spPr>
          <a:xfrm>
            <a:off x="11048400" y="4190400"/>
            <a:ext cx="180000" cy="1908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3924000" y="4658400"/>
            <a:ext cx="7466399" cy="7632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3999600" y="4780800"/>
            <a:ext cx="496799" cy="496799"/>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3999600" y="4881600"/>
            <a:ext cx="496799" cy="230400"/>
          </a:xfrm>
          <a:prstGeom prst="rect">
            <a:avLst/>
          </a:prstGeom>
          <a:noFill/>
        </p:spPr>
        <p:txBody>
          <a:bodyPr wrap="square" anchor="t" lIns="0" rIns="0" tIns="0" bIns="0">
            <a:spAutoFit/>
          </a:bodyPr>
          <a:lstStyle/>
          <a:p>
            <a:pPr algn="ctr">
              <a:lnSpc>
                <a:spcPct val="125000"/>
              </a:lnSpc>
            </a:pPr>
            <a:r>
              <a:rPr sz="1700" b="1" i="0">
                <a:solidFill>
                  <a:srgbClr val="1E4FA8"/>
                </a:solidFill>
                <a:latin typeface="Source Han Sans SC"/>
              </a:rPr>
              <a:t>05</a:t>
            </a:r>
          </a:p>
        </p:txBody>
      </p:sp>
      <p:sp>
        <p:nvSpPr>
          <p:cNvPr id="47" name="TextBox 46"/>
          <p:cNvSpPr txBox="1"/>
          <p:nvPr/>
        </p:nvSpPr>
        <p:spPr>
          <a:xfrm>
            <a:off x="4687200" y="4798800"/>
            <a:ext cx="4320000" cy="277200"/>
          </a:xfrm>
          <a:prstGeom prst="rect">
            <a:avLst/>
          </a:prstGeom>
          <a:noFill/>
        </p:spPr>
        <p:txBody>
          <a:bodyPr wrap="square" anchor="t" lIns="0" rIns="0" tIns="0" bIns="0">
            <a:spAutoFit/>
          </a:bodyPr>
          <a:lstStyle/>
          <a:p>
            <a:pPr algn="l">
              <a:lnSpc>
                <a:spcPct val="125000"/>
              </a:lnSpc>
            </a:pPr>
            <a:r>
              <a:rPr sz="1600" b="1" i="0">
                <a:solidFill>
                  <a:srgbClr val="0E3F8C"/>
                </a:solidFill>
                <a:latin typeface="Source Han Sans SC"/>
              </a:rPr>
              <a:t>Lab · Experiment 1 Linear Regression</a:t>
            </a:r>
          </a:p>
        </p:txBody>
      </p:sp>
      <p:sp>
        <p:nvSpPr>
          <p:cNvPr id="48" name="TextBox 47"/>
          <p:cNvSpPr txBox="1"/>
          <p:nvPr/>
        </p:nvSpPr>
        <p:spPr>
          <a:xfrm>
            <a:off x="4687200" y="5086800"/>
            <a:ext cx="4320000" cy="162000"/>
          </a:xfrm>
          <a:prstGeom prst="rect">
            <a:avLst/>
          </a:prstGeom>
          <a:noFill/>
        </p:spPr>
        <p:txBody>
          <a:bodyPr wrap="square" anchor="t" lIns="0" rIns="0" tIns="0" bIns="0">
            <a:spAutoFit/>
          </a:bodyPr>
          <a:lstStyle/>
          <a:p>
            <a:pPr algn="l">
              <a:lnSpc>
                <a:spcPct val="125000"/>
              </a:lnSpc>
            </a:pPr>
            <a:r>
              <a:rPr sz="1150" b="1" i="0">
                <a:solidFill>
                  <a:srgbClr val="3D7BD9"/>
                </a:solidFill>
                <a:latin typeface="Source Han Sans SC"/>
              </a:rPr>
              <a:t>Hands-On Lab</a:t>
            </a:r>
          </a:p>
        </p:txBody>
      </p:sp>
      <p:sp>
        <p:nvSpPr>
          <p:cNvPr id="49" name="TextBox 48"/>
          <p:cNvSpPr txBox="1"/>
          <p:nvPr/>
        </p:nvSpPr>
        <p:spPr>
          <a:xfrm>
            <a:off x="4687200" y="5277600"/>
            <a:ext cx="6249600" cy="162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No nn.Module · tensors and autograd only · record the loss curve · verify convergence</a:t>
            </a:r>
          </a:p>
        </p:txBody>
      </p:sp>
      <p:sp>
        <p:nvSpPr>
          <p:cNvPr id="50" name="Right Arrow 49"/>
          <p:cNvSpPr/>
          <p:nvPr/>
        </p:nvSpPr>
        <p:spPr>
          <a:xfrm>
            <a:off x="11048400" y="4942800"/>
            <a:ext cx="180000" cy="1908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01</a:t>
            </a:r>
          </a:p>
        </p:txBody>
      </p:sp>
      <p:sp>
        <p:nvSpPr>
          <p:cNvPr id="5" name="Rectangle 4"/>
          <p:cNvSpPr/>
          <p:nvPr/>
        </p:nvSpPr>
        <p:spPr>
          <a:xfrm>
            <a:off x="856800" y="1047600"/>
            <a:ext cx="1238400" cy="12384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0800" y="1314000"/>
            <a:ext cx="601200" cy="712800"/>
          </a:xfrm>
          <a:prstGeom prst="rect">
            <a:avLst/>
          </a:prstGeom>
          <a:noFill/>
        </p:spPr>
        <p:txBody>
          <a:bodyPr wrap="square" anchor="t" lIns="0" rIns="0" tIns="0" bIns="0">
            <a:spAutoFit/>
          </a:bodyPr>
          <a:lstStyle/>
          <a:p>
            <a:pPr algn="ctr">
              <a:lnSpc>
                <a:spcPct val="125000"/>
              </a:lnSpc>
            </a:pPr>
            <a:r>
              <a:rPr sz="3200" b="1" i="0">
                <a:solidFill>
                  <a:srgbClr val="FFFFFF"/>
                </a:solidFill>
                <a:latin typeface="Source Han Sans SC"/>
              </a:rPr>
              <a:t>01</a:t>
            </a:r>
          </a:p>
        </p:txBody>
      </p:sp>
      <p:sp>
        <p:nvSpPr>
          <p:cNvPr id="7" name="TextBox 6"/>
          <p:cNvSpPr txBox="1"/>
          <p:nvPr/>
        </p:nvSpPr>
        <p:spPr>
          <a:xfrm>
            <a:off x="2379600" y="1105200"/>
            <a:ext cx="5040000" cy="503999"/>
          </a:xfrm>
          <a:prstGeom prst="rect">
            <a:avLst/>
          </a:prstGeom>
          <a:noFill/>
        </p:spPr>
        <p:txBody>
          <a:bodyPr wrap="square" anchor="t" lIns="0" rIns="0" tIns="0" bIns="0">
            <a:spAutoFit/>
          </a:bodyPr>
          <a:lstStyle/>
          <a:p>
            <a:pPr algn="l">
              <a:lnSpc>
                <a:spcPct val="125000"/>
              </a:lnSpc>
            </a:pPr>
            <a:r>
              <a:rPr sz="3000" b="1" i="0">
                <a:solidFill>
                  <a:srgbClr val="0E3F8C"/>
                </a:solidFill>
                <a:latin typeface="Source Han Sans SC"/>
              </a:rPr>
              <a:t>Tensors as the Universal Container</a:t>
            </a:r>
          </a:p>
        </p:txBody>
      </p:sp>
      <p:sp>
        <p:nvSpPr>
          <p:cNvPr id="8" name="TextBox 7"/>
          <p:cNvSpPr txBox="1"/>
          <p:nvPr/>
        </p:nvSpPr>
        <p:spPr>
          <a:xfrm>
            <a:off x="2379600" y="1666800"/>
            <a:ext cx="5040000" cy="306000"/>
          </a:xfrm>
          <a:prstGeom prst="rect">
            <a:avLst/>
          </a:prstGeom>
          <a:noFill/>
        </p:spPr>
        <p:txBody>
          <a:bodyPr wrap="square" anchor="t" lIns="0" rIns="0" tIns="0" bIns="0">
            <a:spAutoFit/>
          </a:bodyPr>
          <a:lstStyle/>
          <a:p>
            <a:pPr algn="l">
              <a:lnSpc>
                <a:spcPct val="125000"/>
              </a:lnSpc>
            </a:pPr>
            <a:r>
              <a:rPr sz="1500" b="0" i="0">
                <a:solidFill>
                  <a:srgbClr val="3D7BD9"/>
                </a:solidFill>
                <a:latin typeface="Source Han Sans SC"/>
              </a:rPr>
              <a:t>The Container</a:t>
            </a:r>
          </a:p>
        </p:txBody>
      </p:sp>
      <p:sp>
        <p:nvSpPr>
          <p:cNvPr id="9" name="TextBox 8"/>
          <p:cNvSpPr txBox="1"/>
          <p:nvPr/>
        </p:nvSpPr>
        <p:spPr>
          <a:xfrm>
            <a:off x="799200" y="2736000"/>
            <a:ext cx="8640000" cy="1620000"/>
          </a:xfrm>
          <a:prstGeom prst="rect">
            <a:avLst/>
          </a:prstGeom>
          <a:noFill/>
        </p:spPr>
        <p:txBody>
          <a:bodyPr wrap="square" anchor="t" lIns="0" rIns="0" tIns="0" bIns="0">
            <a:spAutoFit/>
          </a:bodyPr>
          <a:lstStyle/>
          <a:p>
            <a:pPr algn="l">
              <a:lnSpc>
                <a:spcPct val="150000"/>
              </a:lnSpc>
            </a:pPr>
            <a:r>
              <a:rPr sz="1500" b="0" i="0">
                <a:solidFill>
                  <a:srgbClr val="1F2937"/>
                </a:solidFill>
                <a:latin typeface="Source Han Sans SC"/>
              </a:rPr>
              <a:t>Models, data, gradients, losses - in PyTorch they are all tensors.
After this part, hand you a tensor and you should immediately report four things: shape, dtype, device, needs-grad or not.</a:t>
            </a:r>
          </a:p>
        </p:txBody>
      </p:sp>
      <p:sp>
        <p:nvSpPr>
          <p:cNvPr id="10" name="Rectangle 9"/>
          <p:cNvSpPr/>
          <p:nvPr/>
        </p:nvSpPr>
        <p:spPr>
          <a:xfrm>
            <a:off x="79920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800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A Container</a:t>
            </a:r>
          </a:p>
        </p:txBody>
      </p:sp>
      <p:sp>
        <p:nvSpPr>
          <p:cNvPr id="13" name="TextBox 12"/>
          <p:cNvSpPr txBox="1"/>
          <p:nvPr/>
        </p:nvSpPr>
        <p:spPr>
          <a:xfrm>
            <a:off x="100800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Data, parameters, gradients live inside</a:t>
            </a:r>
          </a:p>
        </p:txBody>
      </p:sp>
      <p:sp>
        <p:nvSpPr>
          <p:cNvPr id="14" name="Rectangle 13"/>
          <p:cNvSpPr/>
          <p:nvPr/>
        </p:nvSpPr>
        <p:spPr>
          <a:xfrm>
            <a:off x="440604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604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1484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It Has Attributes</a:t>
            </a:r>
          </a:p>
        </p:txBody>
      </p:sp>
      <p:sp>
        <p:nvSpPr>
          <p:cNvPr id="17" name="TextBox 16"/>
          <p:cNvSpPr txBox="1"/>
          <p:nvPr/>
        </p:nvSpPr>
        <p:spPr>
          <a:xfrm>
            <a:off x="461484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shape · dtype · device</a:t>
            </a:r>
          </a:p>
        </p:txBody>
      </p:sp>
      <p:sp>
        <p:nvSpPr>
          <p:cNvPr id="18" name="Rectangle 17"/>
          <p:cNvSpPr/>
          <p:nvPr/>
        </p:nvSpPr>
        <p:spPr>
          <a:xfrm>
            <a:off x="8012879"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12879"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21679"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It Knows Its Device</a:t>
            </a:r>
          </a:p>
        </p:txBody>
      </p:sp>
      <p:sp>
        <p:nvSpPr>
          <p:cNvPr id="21" name="TextBox 20"/>
          <p:cNvSpPr txBox="1"/>
          <p:nvPr/>
        </p:nvSpPr>
        <p:spPr>
          <a:xfrm>
            <a:off x="8221679"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CPU and GPU cannot be mixed</a:t>
            </a:r>
          </a:p>
        </p:txBody>
      </p:sp>
      <p:sp>
        <p:nvSpPr>
          <p:cNvPr id="22" name="TextBox 21"/>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23" name="TextBox 22"/>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What a Tensor Is, and Why Not a List</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1 · Week 2</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04 / 30</a:t>
            </a:r>
          </a:p>
        </p:txBody>
      </p:sp>
      <p:sp>
        <p:nvSpPr>
          <p:cNvPr id="9" name="Rectangle 8"/>
          <p:cNvSpPr/>
          <p:nvPr/>
        </p:nvSpPr>
        <p:spPr>
          <a:xfrm>
            <a:off x="799200" y="1260000"/>
            <a:ext cx="5185259" cy="23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60000"/>
            <a:ext cx="32400" cy="2304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22400" y="1447199"/>
            <a:ext cx="473885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A Tensor Is an n-D Array</a:t>
            </a:r>
          </a:p>
        </p:txBody>
      </p:sp>
      <p:sp>
        <p:nvSpPr>
          <p:cNvPr id="12" name="TextBox 11"/>
          <p:cNvSpPr txBox="1"/>
          <p:nvPr/>
        </p:nvSpPr>
        <p:spPr>
          <a:xfrm>
            <a:off x="1022400" y="1677600"/>
            <a:ext cx="473885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the container</a:t>
            </a:r>
          </a:p>
        </p:txBody>
      </p:sp>
      <p:sp>
        <p:nvSpPr>
          <p:cNvPr id="13" name="TextBox 12"/>
          <p:cNvSpPr txBox="1"/>
          <p:nvPr/>
        </p:nvSpPr>
        <p:spPr>
          <a:xfrm>
            <a:off x="1022400" y="1879200"/>
            <a:ext cx="4738859" cy="15408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0-D scalar, 1-D vector, 2-D matrix, 3-D and above a tensor</a:t>
            </a:r>
          </a:p>
          <a:p>
            <a:pPr algn="l">
              <a:lnSpc>
                <a:spcPct val="140000"/>
              </a:lnSpc>
              <a:spcAft>
                <a:spcPts val="400"/>
              </a:spcAft>
            </a:pPr>
            <a:r>
              <a:rPr sz="1200" b="0" i="0">
                <a:solidFill>
                  <a:srgbClr val="1F2937"/>
                </a:solidFill>
                <a:latin typeface="Source Han Sans SC"/>
              </a:rPr>
              <a:t>• The shape is a torch.Size, e.g. (100, 1)</a:t>
            </a:r>
          </a:p>
          <a:p>
            <a:pPr algn="l">
              <a:lnSpc>
                <a:spcPct val="140000"/>
              </a:lnSpc>
              <a:spcAft>
                <a:spcPts val="400"/>
              </a:spcAft>
            </a:pPr>
            <a:r>
              <a:rPr sz="1200" b="0" i="0">
                <a:solidFill>
                  <a:srgbClr val="1F2937"/>
                </a:solidFill>
                <a:latin typeface="Source Han Sans SC"/>
              </a:rPr>
              <a:t>• Here, inputs, parameters, gradients and the loss are all tensors</a:t>
            </a:r>
          </a:p>
        </p:txBody>
      </p:sp>
      <p:sp>
        <p:nvSpPr>
          <p:cNvPr id="14" name="Rectangle 13"/>
          <p:cNvSpPr/>
          <p:nvPr/>
        </p:nvSpPr>
        <p:spPr>
          <a:xfrm>
            <a:off x="6207659" y="1260000"/>
            <a:ext cx="5185259" cy="23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207659" y="1260000"/>
            <a:ext cx="32400" cy="2304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30859" y="1447199"/>
            <a:ext cx="473885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Why Not a Python List</a:t>
            </a:r>
          </a:p>
        </p:txBody>
      </p:sp>
      <p:sp>
        <p:nvSpPr>
          <p:cNvPr id="17" name="TextBox 16"/>
          <p:cNvSpPr txBox="1"/>
          <p:nvPr/>
        </p:nvSpPr>
        <p:spPr>
          <a:xfrm>
            <a:off x="6430859" y="1677600"/>
            <a:ext cx="473885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speed and memory</a:t>
            </a:r>
          </a:p>
        </p:txBody>
      </p:sp>
      <p:sp>
        <p:nvSpPr>
          <p:cNvPr id="18" name="TextBox 17"/>
          <p:cNvSpPr txBox="1"/>
          <p:nvPr/>
        </p:nvSpPr>
        <p:spPr>
          <a:xfrm>
            <a:off x="6430859" y="1879200"/>
            <a:ext cx="4738859" cy="15408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Loops over a list run element by element in the interpreter - one to two orders slower</a:t>
            </a:r>
          </a:p>
          <a:p>
            <a:pPr algn="l">
              <a:lnSpc>
                <a:spcPct val="140000"/>
              </a:lnSpc>
              <a:spcAft>
                <a:spcPts val="400"/>
              </a:spcAft>
            </a:pPr>
            <a:r>
              <a:rPr sz="1200" b="0" i="0">
                <a:solidFill>
                  <a:srgbClr val="1F2937"/>
                </a:solidFill>
                <a:latin typeface="Source Han Sans SC"/>
              </a:rPr>
              <a:t>• A list has no shape and no broadcasting; errors are yours to find</a:t>
            </a:r>
          </a:p>
          <a:p>
            <a:pPr algn="l">
              <a:lnSpc>
                <a:spcPct val="140000"/>
              </a:lnSpc>
              <a:spcAft>
                <a:spcPts val="400"/>
              </a:spcAft>
            </a:pPr>
            <a:r>
              <a:rPr sz="1200" b="0" i="0">
                <a:solidFill>
                  <a:srgbClr val="1F2937"/>
                </a:solidFill>
                <a:latin typeface="Source Han Sans SC"/>
              </a:rPr>
              <a:t>• A list cannot go on a GPU and cannot join autograd</a:t>
            </a:r>
          </a:p>
        </p:txBody>
      </p:sp>
      <p:sp>
        <p:nvSpPr>
          <p:cNvPr id="19" name="Rectangle 18"/>
          <p:cNvSpPr/>
          <p:nvPr/>
        </p:nvSpPr>
        <p:spPr>
          <a:xfrm>
            <a:off x="799200" y="3787200"/>
            <a:ext cx="5185259" cy="23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799200" y="3787200"/>
            <a:ext cx="32400" cy="2304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22400" y="3974399"/>
            <a:ext cx="473885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Relation to NumPy</a:t>
            </a:r>
          </a:p>
        </p:txBody>
      </p:sp>
      <p:sp>
        <p:nvSpPr>
          <p:cNvPr id="22" name="TextBox 21"/>
          <p:cNvSpPr txBox="1"/>
          <p:nvPr/>
        </p:nvSpPr>
        <p:spPr>
          <a:xfrm>
            <a:off x="1022400" y="4204800"/>
            <a:ext cx="473885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same memory</a:t>
            </a:r>
          </a:p>
        </p:txBody>
      </p:sp>
      <p:sp>
        <p:nvSpPr>
          <p:cNvPr id="23" name="TextBox 22"/>
          <p:cNvSpPr txBox="1"/>
          <p:nvPr/>
        </p:nvSpPr>
        <p:spPr>
          <a:xfrm>
            <a:off x="1022400" y="4406400"/>
            <a:ext cx="4738859" cy="1540799"/>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torch.from_numpy(x) shares memory: mutate one and the other changes</a:t>
            </a:r>
          </a:p>
          <a:p>
            <a:pPr algn="l">
              <a:lnSpc>
                <a:spcPct val="140000"/>
              </a:lnSpc>
              <a:spcAft>
                <a:spcPts val="400"/>
              </a:spcAft>
            </a:pPr>
            <a:r>
              <a:rPr sz="1200" b="0" i="0">
                <a:solidFill>
                  <a:srgbClr val="1F2937"/>
                </a:solidFill>
                <a:latin typeface="Source Han Sans SC"/>
              </a:rPr>
              <a:t>• .numpy() hands the tensor back to matplotlib for plotting</a:t>
            </a:r>
          </a:p>
          <a:p>
            <a:pPr algn="l">
              <a:lnSpc>
                <a:spcPct val="140000"/>
              </a:lnSpc>
              <a:spcAft>
                <a:spcPts val="400"/>
              </a:spcAft>
            </a:pPr>
            <a:r>
              <a:rPr sz="1200" b="0" i="0">
                <a:solidFill>
                  <a:srgbClr val="1F2937"/>
                </a:solidFill>
                <a:latin typeface="Source Han Sans SC"/>
              </a:rPr>
              <a:t>• Only two differences: it can run on a GPU and it can be differentiated</a:t>
            </a:r>
          </a:p>
        </p:txBody>
      </p:sp>
      <p:sp>
        <p:nvSpPr>
          <p:cNvPr id="24" name="Rectangle 23"/>
          <p:cNvSpPr/>
          <p:nvPr/>
        </p:nvSpPr>
        <p:spPr>
          <a:xfrm>
            <a:off x="6207659" y="3787200"/>
            <a:ext cx="5185259" cy="23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207659" y="3787200"/>
            <a:ext cx="32400" cy="2304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430859" y="3974399"/>
            <a:ext cx="473885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GPU Tensors</a:t>
            </a:r>
          </a:p>
        </p:txBody>
      </p:sp>
      <p:sp>
        <p:nvSpPr>
          <p:cNvPr id="27" name="TextBox 26"/>
          <p:cNvSpPr txBox="1"/>
          <p:nvPr/>
        </p:nvSpPr>
        <p:spPr>
          <a:xfrm>
            <a:off x="6430859" y="4204800"/>
            <a:ext cx="473885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device matters</a:t>
            </a:r>
          </a:p>
        </p:txBody>
      </p:sp>
      <p:sp>
        <p:nvSpPr>
          <p:cNvPr id="28" name="TextBox 27"/>
          <p:cNvSpPr txBox="1"/>
          <p:nvPr/>
        </p:nvSpPr>
        <p:spPr>
          <a:xfrm>
            <a:off x="6430859" y="4406400"/>
            <a:ext cx="4738859" cy="1540799"/>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x.to("cuda") moves data into VRAM; results stay there</a:t>
            </a:r>
          </a:p>
          <a:p>
            <a:pPr algn="l">
              <a:lnSpc>
                <a:spcPct val="140000"/>
              </a:lnSpc>
              <a:spcAft>
                <a:spcPts val="400"/>
              </a:spcAft>
            </a:pPr>
            <a:r>
              <a:rPr sz="1200" b="0" i="0">
                <a:solidFill>
                  <a:srgbClr val="1F2937"/>
                </a:solidFill>
                <a:latin typeface="Source Han Sans SC"/>
              </a:rPr>
              <a:t>• Two tensors must share a device or the operation raises immediately</a:t>
            </a:r>
          </a:p>
          <a:p>
            <a:pPr algn="l">
              <a:lnSpc>
                <a:spcPct val="140000"/>
              </a:lnSpc>
              <a:spcAft>
                <a:spcPts val="400"/>
              </a:spcAft>
            </a:pPr>
            <a:r>
              <a:rPr sz="1200" b="0" i="0">
                <a:solidFill>
                  <a:srgbClr val="1F2937"/>
                </a:solidFill>
                <a:latin typeface="Source Han Sans SC"/>
              </a:rPr>
              <a:t>• CPU-only is fine, but the report must state the device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Five Key Attributes of a Tensor</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Get any one wrong and nothing crashes - the answer is just wrong</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1 · Week 2</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05 / 30</a:t>
            </a:r>
          </a:p>
        </p:txBody>
      </p:sp>
      <p:graphicFrame>
        <p:nvGraphicFramePr>
          <p:cNvPr id="10" name="Table 9"/>
          <p:cNvGraphicFramePr>
            <a:graphicFrameLocks noGrp="1"/>
          </p:cNvGraphicFramePr>
          <p:nvPr/>
        </p:nvGraphicFramePr>
        <p:xfrm>
          <a:off x="799200" y="1152000"/>
          <a:ext cx="10584000" cy="3024000"/>
        </p:xfrm>
        <a:graphic>
          <a:graphicData uri="http://schemas.openxmlformats.org/drawingml/2006/table">
            <a:tbl>
              <a:tblPr firstRow="1" bandRow="1">
                <a:tableStyleId>{5C22544A-7EE6-4342-B048-85BDC9FD1C3A}</a:tableStyleId>
              </a:tblPr>
              <a:tblGrid>
                <a:gridCol w="1872000"/>
                <a:gridCol w="2376000"/>
                <a:gridCol w="3096000"/>
                <a:gridCol w="3240000"/>
              </a:tblGrid>
              <a:tr h="504000">
                <a:tc>
                  <a:txBody>
                    <a:bodyPr/>
                    <a:lstStyle/>
                    <a:p>
                      <a:r>
                        <a:rPr sz="1250" b="1">
                          <a:solidFill>
                            <a:srgbClr val="FFFFFF"/>
                          </a:solidFill>
                          <a:latin typeface="Source Han Sans SC"/>
                        </a:rPr>
                        <a:t>Attribute</a:t>
                      </a:r>
                    </a:p>
                  </a:txBody>
                  <a:tcPr>
                    <a:solidFill>
                      <a:srgbClr val="0E3F8C"/>
                    </a:solidFill>
                  </a:tcPr>
                </a:tc>
                <a:tc>
                  <a:txBody>
                    <a:bodyPr/>
                    <a:lstStyle/>
                    <a:p>
                      <a:r>
                        <a:rPr sz="1250" b="1">
                          <a:solidFill>
                            <a:srgbClr val="FFFFFF"/>
                          </a:solidFill>
                          <a:latin typeface="Source Han Sans SC"/>
                        </a:rPr>
                        <a:t>What It Tells You</a:t>
                      </a:r>
                    </a:p>
                  </a:txBody>
                  <a:tcPr>
                    <a:solidFill>
                      <a:srgbClr val="0E3F8C"/>
                    </a:solidFill>
                  </a:tcPr>
                </a:tc>
                <a:tc>
                  <a:txBody>
                    <a:bodyPr/>
                    <a:lstStyle/>
                    <a:p>
                      <a:r>
                        <a:rPr sz="1250" b="1">
                          <a:solidFill>
                            <a:srgbClr val="FFFFFF"/>
                          </a:solidFill>
                          <a:latin typeface="Source Han Sans SC"/>
                        </a:rPr>
                        <a:t>Typical Value</a:t>
                      </a:r>
                    </a:p>
                  </a:txBody>
                  <a:tcPr>
                    <a:solidFill>
                      <a:srgbClr val="0E3F8C"/>
                    </a:solidFill>
                  </a:tcPr>
                </a:tc>
                <a:tc>
                  <a:txBody>
                    <a:bodyPr/>
                    <a:lstStyle/>
                    <a:p>
                      <a:r>
                        <a:rPr sz="1250" b="1">
                          <a:solidFill>
                            <a:srgbClr val="FFFFFF"/>
                          </a:solidFill>
                          <a:latin typeface="Source Han Sans SC"/>
                        </a:rPr>
                        <a:t>When It Bites You</a:t>
                      </a:r>
                    </a:p>
                  </a:txBody>
                  <a:tcPr>
                    <a:solidFill>
                      <a:srgbClr val="0E3F8C"/>
                    </a:solidFill>
                  </a:tcPr>
                </a:tc>
              </a:tr>
              <a:tr h="504000">
                <a:tc>
                  <a:txBody>
                    <a:bodyPr/>
                    <a:lstStyle/>
                    <a:p>
                      <a:r>
                        <a:rPr sz="1150" b="1">
                          <a:solidFill>
                            <a:srgbClr val="1F2937"/>
                          </a:solidFill>
                          <a:latin typeface="Source Han Sans SC"/>
                        </a:rPr>
                        <a:t>shape</a:t>
                      </a:r>
                    </a:p>
                  </a:txBody>
                  <a:tcPr>
                    <a:solidFill>
                      <a:srgbClr val="FFFFFF"/>
                    </a:solidFill>
                  </a:tcPr>
                </a:tc>
                <a:tc>
                  <a:txBody>
                    <a:bodyPr/>
                    <a:lstStyle/>
                    <a:p>
                      <a:r>
                        <a:rPr sz="1150">
                          <a:solidFill>
                            <a:srgbClr val="1F2937"/>
                          </a:solidFill>
                          <a:latin typeface="Source Han Sans SC"/>
                        </a:rPr>
                        <a:t>The size of every dimension</a:t>
                      </a:r>
                    </a:p>
                  </a:txBody>
                  <a:tcPr>
                    <a:solidFill>
                      <a:srgbClr val="FFFFFF"/>
                    </a:solidFill>
                  </a:tcPr>
                </a:tc>
                <a:tc>
                  <a:txBody>
                    <a:bodyPr/>
                    <a:lstStyle/>
                    <a:p>
                      <a:r>
                        <a:rPr sz="1150">
                          <a:solidFill>
                            <a:srgbClr val="1F2937"/>
                          </a:solidFill>
                          <a:latin typeface="Source Han Sans SC"/>
                        </a:rPr>
                        <a:t>torch.Size([100, 1])</a:t>
                      </a:r>
                    </a:p>
                  </a:txBody>
                  <a:tcPr>
                    <a:solidFill>
                      <a:srgbClr val="FFFFFF"/>
                    </a:solidFill>
                  </a:tcPr>
                </a:tc>
                <a:tc>
                  <a:txBody>
                    <a:bodyPr/>
                    <a:lstStyle/>
                    <a:p>
                      <a:r>
                        <a:rPr sz="1150">
                          <a:solidFill>
                            <a:srgbClr val="1F2937"/>
                          </a:solidFill>
                          <a:latin typeface="Source Han Sans SC"/>
                        </a:rPr>
                        <a:t>A wrong shape does not raise; broadcasting guesses for you</a:t>
                      </a:r>
                    </a:p>
                  </a:txBody>
                  <a:tcPr>
                    <a:solidFill>
                      <a:srgbClr val="FFFFFF"/>
                    </a:solidFill>
                  </a:tcPr>
                </a:tc>
              </a:tr>
              <a:tr h="504000">
                <a:tc>
                  <a:txBody>
                    <a:bodyPr/>
                    <a:lstStyle/>
                    <a:p>
                      <a:r>
                        <a:rPr sz="1150" b="1">
                          <a:solidFill>
                            <a:srgbClr val="1F2937"/>
                          </a:solidFill>
                          <a:latin typeface="Source Han Sans SC"/>
                        </a:rPr>
                        <a:t>dtype</a:t>
                      </a:r>
                    </a:p>
                  </a:txBody>
                  <a:tcPr>
                    <a:solidFill>
                      <a:srgbClr val="F0F5FC"/>
                    </a:solidFill>
                  </a:tcPr>
                </a:tc>
                <a:tc>
                  <a:txBody>
                    <a:bodyPr/>
                    <a:lstStyle/>
                    <a:p>
                      <a:r>
                        <a:rPr sz="1150">
                          <a:solidFill>
                            <a:srgbClr val="1F2937"/>
                          </a:solidFill>
                          <a:latin typeface="Source Han Sans SC"/>
                        </a:rPr>
                        <a:t>Element type and precision</a:t>
                      </a:r>
                    </a:p>
                  </a:txBody>
                  <a:tcPr>
                    <a:solidFill>
                      <a:srgbClr val="F0F5FC"/>
                    </a:solidFill>
                  </a:tcPr>
                </a:tc>
                <a:tc>
                  <a:txBody>
                    <a:bodyPr/>
                    <a:lstStyle/>
                    <a:p>
                      <a:r>
                        <a:rPr sz="1150">
                          <a:solidFill>
                            <a:srgbClr val="1F2937"/>
                          </a:solidFill>
                          <a:latin typeface="Source Han Sans SC"/>
                        </a:rPr>
                        <a:t>float32 / int64</a:t>
                      </a:r>
                    </a:p>
                  </a:txBody>
                  <a:tcPr>
                    <a:solidFill>
                      <a:srgbClr val="F0F5FC"/>
                    </a:solidFill>
                  </a:tcPr>
                </a:tc>
                <a:tc>
                  <a:txBody>
                    <a:bodyPr/>
                    <a:lstStyle/>
                    <a:p>
                      <a:r>
                        <a:rPr sz="1150">
                          <a:solidFill>
                            <a:srgbClr val="1F2937"/>
                          </a:solidFill>
                          <a:latin typeface="Source Han Sans SC"/>
                        </a:rPr>
                        <a:t>int64 tensors cannot require grad, and division truncates</a:t>
                      </a:r>
                    </a:p>
                  </a:txBody>
                  <a:tcPr>
                    <a:solidFill>
                      <a:srgbClr val="F0F5FC"/>
                    </a:solidFill>
                  </a:tcPr>
                </a:tc>
              </a:tr>
              <a:tr h="504000">
                <a:tc>
                  <a:txBody>
                    <a:bodyPr/>
                    <a:lstStyle/>
                    <a:p>
                      <a:r>
                        <a:rPr sz="1150" b="1">
                          <a:solidFill>
                            <a:srgbClr val="1F2937"/>
                          </a:solidFill>
                          <a:latin typeface="Source Han Sans SC"/>
                        </a:rPr>
                        <a:t>device</a:t>
                      </a:r>
                    </a:p>
                  </a:txBody>
                  <a:tcPr>
                    <a:solidFill>
                      <a:srgbClr val="FFFFFF"/>
                    </a:solidFill>
                  </a:tcPr>
                </a:tc>
                <a:tc>
                  <a:txBody>
                    <a:bodyPr/>
                    <a:lstStyle/>
                    <a:p>
                      <a:r>
                        <a:rPr sz="1150">
                          <a:solidFill>
                            <a:srgbClr val="1F2937"/>
                          </a:solidFill>
                          <a:latin typeface="Source Han Sans SC"/>
                        </a:rPr>
                        <a:t>Whether data sits on CPU or GPU</a:t>
                      </a:r>
                    </a:p>
                  </a:txBody>
                  <a:tcPr>
                    <a:solidFill>
                      <a:srgbClr val="FFFFFF"/>
                    </a:solidFill>
                  </a:tcPr>
                </a:tc>
                <a:tc>
                  <a:txBody>
                    <a:bodyPr/>
                    <a:lstStyle/>
                    <a:p>
                      <a:r>
                        <a:rPr sz="1150">
                          <a:solidFill>
                            <a:srgbClr val="1F2937"/>
                          </a:solidFill>
                          <a:latin typeface="Source Han Sans SC"/>
                        </a:rPr>
                        <a:t>cpu / cuda:0</a:t>
                      </a:r>
                    </a:p>
                  </a:txBody>
                  <a:tcPr>
                    <a:solidFill>
                      <a:srgbClr val="FFFFFF"/>
                    </a:solidFill>
                  </a:tcPr>
                </a:tc>
                <a:tc>
                  <a:txBody>
                    <a:bodyPr/>
                    <a:lstStyle/>
                    <a:p>
                      <a:r>
                        <a:rPr sz="1150">
                          <a:solidFill>
                            <a:srgbClr val="1F2937"/>
                          </a:solidFill>
                          <a:latin typeface="Source Han Sans SC"/>
                        </a:rPr>
                        <a:t>Mixing cpu and cuda tensors raises immediately</a:t>
                      </a:r>
                    </a:p>
                  </a:txBody>
                  <a:tcPr>
                    <a:solidFill>
                      <a:srgbClr val="FFFFFF"/>
                    </a:solidFill>
                  </a:tcPr>
                </a:tc>
              </a:tr>
              <a:tr h="504000">
                <a:tc>
                  <a:txBody>
                    <a:bodyPr/>
                    <a:lstStyle/>
                    <a:p>
                      <a:r>
                        <a:rPr sz="1150" b="1">
                          <a:solidFill>
                            <a:srgbClr val="1F2937"/>
                          </a:solidFill>
                          <a:latin typeface="Source Han Sans SC"/>
                        </a:rPr>
                        <a:t>requires_grad</a:t>
                      </a:r>
                    </a:p>
                  </a:txBody>
                  <a:tcPr>
                    <a:solidFill>
                      <a:srgbClr val="F0F5FC"/>
                    </a:solidFill>
                  </a:tcPr>
                </a:tc>
                <a:tc>
                  <a:txBody>
                    <a:bodyPr/>
                    <a:lstStyle/>
                    <a:p>
                      <a:r>
                        <a:rPr sz="1150">
                          <a:solidFill>
                            <a:srgbClr val="1F2937"/>
                          </a:solidFill>
                          <a:latin typeface="Source Han Sans SC"/>
                        </a:rPr>
                        <a:t>Whether this tensor is differentiated</a:t>
                      </a:r>
                    </a:p>
                  </a:txBody>
                  <a:tcPr>
                    <a:solidFill>
                      <a:srgbClr val="F0F5FC"/>
                    </a:solidFill>
                  </a:tcPr>
                </a:tc>
                <a:tc>
                  <a:txBody>
                    <a:bodyPr/>
                    <a:lstStyle/>
                    <a:p>
                      <a:r>
                        <a:rPr sz="1150">
                          <a:solidFill>
                            <a:srgbClr val="1F2937"/>
                          </a:solidFill>
                          <a:latin typeface="Source Han Sans SC"/>
                        </a:rPr>
                        <a:t>True / False</a:t>
                      </a:r>
                    </a:p>
                  </a:txBody>
                  <a:tcPr>
                    <a:solidFill>
                      <a:srgbClr val="F0F5FC"/>
                    </a:solidFill>
                  </a:tcPr>
                </a:tc>
                <a:tc>
                  <a:txBody>
                    <a:bodyPr/>
                    <a:lstStyle/>
                    <a:p>
                      <a:r>
                        <a:rPr sz="1150">
                          <a:solidFill>
                            <a:srgbClr val="1F2937"/>
                          </a:solidFill>
                          <a:latin typeface="Source Han Sans SC"/>
                        </a:rPr>
                        <a:t>Forget True on a parameter and .grad stays None - training silently fails</a:t>
                      </a:r>
                    </a:p>
                  </a:txBody>
                  <a:tcPr>
                    <a:solidFill>
                      <a:srgbClr val="F0F5FC"/>
                    </a:solidFill>
                  </a:tcPr>
                </a:tc>
              </a:tr>
              <a:tr h="504000">
                <a:tc>
                  <a:txBody>
                    <a:bodyPr/>
                    <a:lstStyle/>
                    <a:p>
                      <a:r>
                        <a:rPr sz="1150" b="1">
                          <a:solidFill>
                            <a:srgbClr val="1F2937"/>
                          </a:solidFill>
                          <a:latin typeface="Source Han Sans SC"/>
                        </a:rPr>
                        <a:t>grad</a:t>
                      </a:r>
                    </a:p>
                  </a:txBody>
                  <a:tcPr>
                    <a:solidFill>
                      <a:srgbClr val="FFFFFF"/>
                    </a:solidFill>
                  </a:tcPr>
                </a:tc>
                <a:tc>
                  <a:txBody>
                    <a:bodyPr/>
                    <a:lstStyle/>
                    <a:p>
                      <a:r>
                        <a:rPr sz="1150">
                          <a:solidFill>
                            <a:srgbClr val="1F2937"/>
                          </a:solidFill>
                          <a:latin typeface="Source Han Sans SC"/>
                        </a:rPr>
                        <a:t>The accumulated gradient</a:t>
                      </a:r>
                    </a:p>
                  </a:txBody>
                  <a:tcPr>
                    <a:solidFill>
                      <a:srgbClr val="FFFFFF"/>
                    </a:solidFill>
                  </a:tcPr>
                </a:tc>
                <a:tc>
                  <a:txBody>
                    <a:bodyPr/>
                    <a:lstStyle/>
                    <a:p>
                      <a:r>
                        <a:rPr sz="1150">
                          <a:solidFill>
                            <a:srgbClr val="1F2937"/>
                          </a:solidFill>
                          <a:latin typeface="Source Han Sans SC"/>
                        </a:rPr>
                        <a:t>A tensor with the same shape</a:t>
                      </a:r>
                    </a:p>
                  </a:txBody>
                  <a:tcPr>
                    <a:solidFill>
                      <a:srgbClr val="FFFFFF"/>
                    </a:solidFill>
                  </a:tcPr>
                </a:tc>
                <a:tc>
                  <a:txBody>
                    <a:bodyPr/>
                    <a:lstStyle/>
                    <a:p>
                      <a:r>
                        <a:rPr sz="1150">
                          <a:solidFill>
                            <a:srgbClr val="1F2937"/>
                          </a:solidFill>
                          <a:latin typeface="Source Han Sans SC"/>
                        </a:rPr>
                        <a:t>It accumulates: without zeroing you read a wrong number</a:t>
                      </a:r>
                    </a:p>
                  </a:txBody>
                  <a:tcPr>
                    <a:solidFill>
                      <a:srgbClr val="FFFFFF"/>
                    </a:solidFill>
                  </a:tcPr>
                </a:tc>
              </a:tr>
            </a:tbl>
          </a:graphicData>
        </a:graphic>
      </p:graphicFrame>
      <p:sp>
        <p:nvSpPr>
          <p:cNvPr id="11" name="TextBox 10"/>
          <p:cNvSpPr txBox="1"/>
          <p:nvPr/>
        </p:nvSpPr>
        <p:spPr>
          <a:xfrm>
            <a:off x="799200" y="4320000"/>
            <a:ext cx="10593719" cy="432000"/>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Build one habit: on any shape error, or when a result looks wrong, print(x.shape, x.dtype, x.device) first. Nine out of ten tensor bugs show up in that one 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Creating Tensors and Inspecting Them</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See it clearly before you compute</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1 · Week 2</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06 / 30</a:t>
            </a:r>
          </a:p>
        </p:txBody>
      </p:sp>
      <p:sp>
        <p:nvSpPr>
          <p:cNvPr id="10" name="Rectangle 9"/>
          <p:cNvSpPr/>
          <p:nvPr/>
        </p:nvSpPr>
        <p:spPr>
          <a:xfrm>
            <a:off x="799200" y="1278000"/>
            <a:ext cx="10593719" cy="406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1278000"/>
            <a:ext cx="1059371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1200" y="1364400"/>
            <a:ext cx="951371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create_tensors.py</a:t>
            </a:r>
          </a:p>
        </p:txBody>
      </p:sp>
      <p:sp>
        <p:nvSpPr>
          <p:cNvPr id="13" name="TextBox 12"/>
          <p:cNvSpPr txBox="1"/>
          <p:nvPr/>
        </p:nvSpPr>
        <p:spPr>
          <a:xfrm>
            <a:off x="997200" y="1691999"/>
            <a:ext cx="10197719" cy="3528000"/>
          </a:xfrm>
          <a:prstGeom prst="rect">
            <a:avLst/>
          </a:prstGeom>
          <a:noFill/>
        </p:spPr>
        <p:txBody>
          <a:bodyPr wrap="square" anchor="t" lIns="0" rIns="0" tIns="0" bIns="0">
            <a:spAutoFit/>
          </a:bodyPr>
          <a:lstStyle/>
          <a:p>
            <a:pPr algn="l">
              <a:lnSpc>
                <a:spcPct val="128000"/>
              </a:lnSpc>
            </a:pPr>
            <a:r>
              <a:rPr sz="1050" b="0" i="0">
                <a:solidFill>
                  <a:srgbClr val="E2E8F0"/>
                </a:solidFill>
                <a:latin typeface="Menlo"/>
              </a:rPr>
              <a:t>import torch</a:t>
            </a:r>
          </a:p>
          <a:p>
            <a:pPr algn="l">
              <a:lnSpc>
                <a:spcPct val="128000"/>
              </a:lnSpc>
            </a:pPr>
            <a:r>
              <a:rPr sz="1050" b="0" i="0">
                <a:solidFill>
                  <a:srgbClr val="E2E8F0"/>
                </a:solidFill>
                <a:latin typeface="Menlo"/>
              </a:rPr>
              <a:t/>
            </a:r>
          </a:p>
          <a:p>
            <a:pPr algn="l">
              <a:lnSpc>
                <a:spcPct val="128000"/>
              </a:lnSpc>
            </a:pPr>
            <a:r>
              <a:rPr sz="1050" b="0" i="0">
                <a:solidFill>
                  <a:srgbClr val="E2E8F0"/>
                </a:solidFill>
                <a:latin typeface="Menlo"/>
              </a:rPr>
              <a:t>t = torch.tensor([[1., 2.], [3., 4.]])   # from Python data</a:t>
            </a:r>
          </a:p>
          <a:p>
            <a:pPr algn="l">
              <a:lnSpc>
                <a:spcPct val="128000"/>
              </a:lnSpc>
            </a:pPr>
            <a:r>
              <a:rPr sz="1050" b="0" i="0">
                <a:solidFill>
                  <a:srgbClr val="E2E8F0"/>
                </a:solidFill>
                <a:latin typeface="Menlo"/>
              </a:rPr>
              <a:t>z = torch.zeros(2, 3)                    # all zeros</a:t>
            </a:r>
          </a:p>
          <a:p>
            <a:pPr algn="l">
              <a:lnSpc>
                <a:spcPct val="128000"/>
              </a:lnSpc>
            </a:pPr>
            <a:r>
              <a:rPr sz="1050" b="0" i="0">
                <a:solidFill>
                  <a:srgbClr val="E2E8F0"/>
                </a:solidFill>
                <a:latin typeface="Menlo"/>
              </a:rPr>
              <a:t>o = torch.ones(2, 3)                     # all ones</a:t>
            </a:r>
          </a:p>
          <a:p>
            <a:pPr algn="l">
              <a:lnSpc>
                <a:spcPct val="128000"/>
              </a:lnSpc>
            </a:pPr>
            <a:r>
              <a:rPr sz="1050" b="0" i="0">
                <a:solidFill>
                  <a:srgbClr val="E2E8F0"/>
                </a:solidFill>
                <a:latin typeface="Menlo"/>
              </a:rPr>
              <a:t>r = torch.randn(2, 3)                    # standard normal</a:t>
            </a:r>
          </a:p>
          <a:p>
            <a:pPr algn="l">
              <a:lnSpc>
                <a:spcPct val="128000"/>
              </a:lnSpc>
            </a:pPr>
            <a:r>
              <a:rPr sz="1050" b="0" i="0">
                <a:solidFill>
                  <a:srgbClr val="E2E8F0"/>
                </a:solidFill>
                <a:latin typeface="Menlo"/>
              </a:rPr>
              <a:t>a = torch.arange(0, 6)                   # 0..5, shape (6,)</a:t>
            </a:r>
          </a:p>
          <a:p>
            <a:pPr algn="l">
              <a:lnSpc>
                <a:spcPct val="128000"/>
              </a:lnSpc>
            </a:pPr>
            <a:r>
              <a:rPr sz="1050" b="0" i="0">
                <a:solidFill>
                  <a:srgbClr val="E2E8F0"/>
                </a:solidFill>
                <a:latin typeface="Menlo"/>
              </a:rPr>
              <a:t>l = torch.linspace(0, 1, 5)              # 5 points in [0, 1]</a:t>
            </a:r>
          </a:p>
          <a:p>
            <a:pPr algn="l">
              <a:lnSpc>
                <a:spcPct val="128000"/>
              </a:lnSpc>
            </a:pPr>
            <a:r>
              <a:rPr sz="1050" b="0" i="0">
                <a:solidFill>
                  <a:srgbClr val="E2E8F0"/>
                </a:solidFill>
                <a:latin typeface="Menlo"/>
              </a:rPr>
              <a:t/>
            </a:r>
          </a:p>
          <a:p>
            <a:pPr algn="l">
              <a:lnSpc>
                <a:spcPct val="128000"/>
              </a:lnSpc>
            </a:pPr>
            <a:r>
              <a:rPr sz="1050" b="0" i="0">
                <a:solidFill>
                  <a:srgbClr val="E2E8F0"/>
                </a:solidFill>
                <a:latin typeface="Menlo"/>
              </a:rPr>
              <a:t>print(t.shape, t.dtype, t.device)</a:t>
            </a:r>
          </a:p>
          <a:p>
            <a:pPr algn="l">
              <a:lnSpc>
                <a:spcPct val="128000"/>
              </a:lnSpc>
            </a:pPr>
            <a:r>
              <a:rPr sz="1050" b="0" i="0">
                <a:solidFill>
                  <a:srgbClr val="E2E8F0"/>
                </a:solidFill>
                <a:latin typeface="Menlo"/>
              </a:rPr>
              <a:t># torch.Size([2, 2]) torch.float32 cpu</a:t>
            </a:r>
          </a:p>
          <a:p>
            <a:pPr algn="l">
              <a:lnSpc>
                <a:spcPct val="128000"/>
              </a:lnSpc>
            </a:pPr>
            <a:r>
              <a:rPr sz="1050" b="0" i="0">
                <a:solidFill>
                  <a:srgbClr val="E2E8F0"/>
                </a:solidFill>
                <a:latin typeface="Menlo"/>
              </a:rPr>
              <a:t/>
            </a:r>
          </a:p>
          <a:p>
            <a:pPr algn="l">
              <a:lnSpc>
                <a:spcPct val="128000"/>
              </a:lnSpc>
            </a:pPr>
            <a:r>
              <a:rPr sz="1050" b="0" i="0">
                <a:solidFill>
                  <a:srgbClr val="E2E8F0"/>
                </a:solidFill>
                <a:latin typeface="Menlo"/>
              </a:rPr>
              <a:t>print(a.shape)                           # (6,)</a:t>
            </a:r>
          </a:p>
          <a:p>
            <a:pPr algn="l">
              <a:lnSpc>
                <a:spcPct val="128000"/>
              </a:lnSpc>
            </a:pPr>
            <a:r>
              <a:rPr sz="1050" b="0" i="0">
                <a:solidFill>
                  <a:srgbClr val="E2E8F0"/>
                </a:solidFill>
                <a:latin typeface="Menlo"/>
              </a:rPr>
              <a:t>print(a.reshape(2, 3).shape)             # (2, 3)</a:t>
            </a:r>
          </a:p>
          <a:p>
            <a:pPr algn="l">
              <a:lnSpc>
                <a:spcPct val="128000"/>
              </a:lnSpc>
            </a:pPr>
            <a:r>
              <a:rPr sz="1050" b="0" i="0">
                <a:solidFill>
                  <a:srgbClr val="E2E8F0"/>
                </a:solidFill>
                <a:latin typeface="Menlo"/>
              </a:rPr>
              <a:t>print(round(r.mean().item(), 2))         # about 0.0</a:t>
            </a:r>
          </a:p>
          <a:p>
            <a:pPr algn="l">
              <a:lnSpc>
                <a:spcPct val="128000"/>
              </a:lnSpc>
            </a:pPr>
            <a:r>
              <a:rPr sz="1050" b="0" i="0">
                <a:solidFill>
                  <a:srgbClr val="E2E8F0"/>
                </a:solidFill>
                <a:latin typeface="Menlo"/>
              </a:rPr>
              <a:t>print(round(r.std().item(), 2))          # about 1.0</a:t>
            </a:r>
          </a:p>
          <a:p>
            <a:pPr algn="l">
              <a:lnSpc>
                <a:spcPct val="128000"/>
              </a:lnSpc>
            </a:pPr>
            <a:r>
              <a:rPr sz="1050" b="0" i="0">
                <a:solidFill>
                  <a:srgbClr val="E2E8F0"/>
                </a:solidFill>
                <a:latin typeface="Menlo"/>
              </a:rPr>
              <a:t/>
            </a:r>
          </a:p>
          <a:p>
            <a:pPr algn="l">
              <a:lnSpc>
                <a:spcPct val="128000"/>
              </a:lnSpc>
            </a:pPr>
            <a:r>
              <a:rPr sz="1050" b="0" i="0">
                <a:solidFill>
                  <a:srgbClr val="E2E8F0"/>
                </a:solidFill>
                <a:latin typeface="Menlo"/>
              </a:rPr>
              <a:t># dtype sets precision, device sets where it runs</a:t>
            </a:r>
          </a:p>
          <a:p>
            <a:pPr algn="l">
              <a:lnSpc>
                <a:spcPct val="128000"/>
              </a:lnSpc>
            </a:pPr>
            <a:r>
              <a:rPr sz="1050" b="0" i="0">
                <a:solidFill>
                  <a:srgbClr val="E2E8F0"/>
                </a:solidFill>
                <a:latin typeface="Menlo"/>
              </a:rPr>
              <a:t>print(torch.zeros(3, dtype=torch.float64).dtype)  # float64</a:t>
            </a:r>
          </a:p>
          <a:p>
            <a:pPr algn="l">
              <a:lnSpc>
                <a:spcPct val="128000"/>
              </a:lnSpc>
            </a:pPr>
            <a:r>
              <a:rPr sz="1050" b="0" i="0">
                <a:solidFill>
                  <a:srgbClr val="E2E8F0"/>
                </a:solidFill>
                <a:latin typeface="Menlo"/>
              </a:rPr>
              <a:t>print(torch.zeros(3).to("cuda").device)          # needs a GPU</a:t>
            </a:r>
          </a:p>
        </p:txBody>
      </p:sp>
      <p:sp>
        <p:nvSpPr>
          <p:cNvPr id="14" name="TextBox 13"/>
          <p:cNvSpPr txBox="1"/>
          <p:nvPr/>
        </p:nvSpPr>
        <p:spPr>
          <a:xfrm>
            <a:off x="799200" y="5526000"/>
            <a:ext cx="10593719" cy="612000"/>
          </a:xfrm>
          <a:prstGeom prst="rect">
            <a:avLst/>
          </a:prstGeom>
          <a:noFill/>
        </p:spPr>
        <p:txBody>
          <a:bodyPr wrap="square" anchor="t" lIns="0" rIns="0" tIns="0" bIns="0">
            <a:spAutoFit/>
          </a:bodyPr>
          <a:lstStyle/>
          <a:p>
            <a:pPr algn="l">
              <a:lnSpc>
                <a:spcPct val="135000"/>
              </a:lnSpc>
            </a:pPr>
            <a:r>
              <a:rPr sz="1200" b="0" i="0">
                <a:solidFill>
                  <a:srgbClr val="1F2937"/>
                </a:solidFill>
                <a:latin typeface="Source Han Sans SC"/>
              </a:rPr>
              <a:t>Note that torch.arange(0, 6) is int64 by default - it cannot require grad. For training write torch.arange(6.): one decimal point makes it float32.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02</a:t>
            </a:r>
          </a:p>
        </p:txBody>
      </p:sp>
      <p:sp>
        <p:nvSpPr>
          <p:cNvPr id="5" name="Rectangle 4"/>
          <p:cNvSpPr/>
          <p:nvPr/>
        </p:nvSpPr>
        <p:spPr>
          <a:xfrm>
            <a:off x="856800" y="1047600"/>
            <a:ext cx="1238400" cy="12384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0800" y="1314000"/>
            <a:ext cx="601200" cy="712800"/>
          </a:xfrm>
          <a:prstGeom prst="rect">
            <a:avLst/>
          </a:prstGeom>
          <a:noFill/>
        </p:spPr>
        <p:txBody>
          <a:bodyPr wrap="square" anchor="t" lIns="0" rIns="0" tIns="0" bIns="0">
            <a:spAutoFit/>
          </a:bodyPr>
          <a:lstStyle/>
          <a:p>
            <a:pPr algn="ctr">
              <a:lnSpc>
                <a:spcPct val="125000"/>
              </a:lnSpc>
            </a:pPr>
            <a:r>
              <a:rPr sz="3200" b="1" i="0">
                <a:solidFill>
                  <a:srgbClr val="FFFFFF"/>
                </a:solidFill>
                <a:latin typeface="Source Han Sans SC"/>
              </a:rPr>
              <a:t>02</a:t>
            </a:r>
          </a:p>
        </p:txBody>
      </p:sp>
      <p:sp>
        <p:nvSpPr>
          <p:cNvPr id="7" name="TextBox 6"/>
          <p:cNvSpPr txBox="1"/>
          <p:nvPr/>
        </p:nvSpPr>
        <p:spPr>
          <a:xfrm>
            <a:off x="2379600" y="1105200"/>
            <a:ext cx="5040000" cy="503999"/>
          </a:xfrm>
          <a:prstGeom prst="rect">
            <a:avLst/>
          </a:prstGeom>
          <a:noFill/>
        </p:spPr>
        <p:txBody>
          <a:bodyPr wrap="square" anchor="t" lIns="0" rIns="0" tIns="0" bIns="0">
            <a:spAutoFit/>
          </a:bodyPr>
          <a:lstStyle/>
          <a:p>
            <a:pPr algn="l">
              <a:lnSpc>
                <a:spcPct val="125000"/>
              </a:lnSpc>
            </a:pPr>
            <a:r>
              <a:rPr sz="3000" b="1" i="0">
                <a:solidFill>
                  <a:srgbClr val="0E3F8C"/>
                </a:solidFill>
                <a:latin typeface="Source Han Sans SC"/>
              </a:rPr>
              <a:t>Shape Manipulation &amp; Broadcasting</a:t>
            </a:r>
          </a:p>
        </p:txBody>
      </p:sp>
      <p:sp>
        <p:nvSpPr>
          <p:cNvPr id="8" name="TextBox 7"/>
          <p:cNvSpPr txBox="1"/>
          <p:nvPr/>
        </p:nvSpPr>
        <p:spPr>
          <a:xfrm>
            <a:off x="2379600" y="1666800"/>
            <a:ext cx="5040000" cy="306000"/>
          </a:xfrm>
          <a:prstGeom prst="rect">
            <a:avLst/>
          </a:prstGeom>
          <a:noFill/>
        </p:spPr>
        <p:txBody>
          <a:bodyPr wrap="square" anchor="t" lIns="0" rIns="0" tIns="0" bIns="0">
            <a:spAutoFit/>
          </a:bodyPr>
          <a:lstStyle/>
          <a:p>
            <a:pPr algn="l">
              <a:lnSpc>
                <a:spcPct val="125000"/>
              </a:lnSpc>
            </a:pPr>
            <a:r>
              <a:rPr sz="1500" b="0" i="0">
                <a:solidFill>
                  <a:srgbClr val="3D7BD9"/>
                </a:solidFill>
                <a:latin typeface="Source Han Sans SC"/>
              </a:rPr>
              <a:t>Shapes &amp; Broadcasting</a:t>
            </a:r>
          </a:p>
        </p:txBody>
      </p:sp>
      <p:sp>
        <p:nvSpPr>
          <p:cNvPr id="9" name="TextBox 8"/>
          <p:cNvSpPr txBox="1"/>
          <p:nvPr/>
        </p:nvSpPr>
        <p:spPr>
          <a:xfrm>
            <a:off x="799200" y="2736000"/>
            <a:ext cx="8640000" cy="1620000"/>
          </a:xfrm>
          <a:prstGeom prst="rect">
            <a:avLst/>
          </a:prstGeom>
          <a:noFill/>
        </p:spPr>
        <p:txBody>
          <a:bodyPr wrap="square" anchor="t" lIns="0" rIns="0" tIns="0" bIns="0">
            <a:spAutoFit/>
          </a:bodyPr>
          <a:lstStyle/>
          <a:p>
            <a:pPr algn="l">
              <a:lnSpc>
                <a:spcPct val="150000"/>
              </a:lnSpc>
            </a:pPr>
            <a:r>
              <a:rPr sz="1500" b="0" i="0">
                <a:solidFill>
                  <a:srgbClr val="1F2937"/>
                </a:solidFill>
                <a:latin typeface="Source Han Sans SC"/>
              </a:rPr>
              <a:t>This is the one part of the week where code does not fail but the answer is wrong.
Broadcasting is PyTorch's most convenient and most dangerous design: it adds dimensions for you without telling you.</a:t>
            </a:r>
          </a:p>
        </p:txBody>
      </p:sp>
      <p:sp>
        <p:nvSpPr>
          <p:cNvPr id="10" name="Rectangle 9"/>
          <p:cNvSpPr/>
          <p:nvPr/>
        </p:nvSpPr>
        <p:spPr>
          <a:xfrm>
            <a:off x="79920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800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Transform</a:t>
            </a:r>
          </a:p>
        </p:txBody>
      </p:sp>
      <p:sp>
        <p:nvSpPr>
          <p:cNvPr id="13" name="TextBox 12"/>
          <p:cNvSpPr txBox="1"/>
          <p:nvPr/>
        </p:nvSpPr>
        <p:spPr>
          <a:xfrm>
            <a:off x="100800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view / reshape / unsqueeze</a:t>
            </a:r>
          </a:p>
        </p:txBody>
      </p:sp>
      <p:sp>
        <p:nvSpPr>
          <p:cNvPr id="14" name="Rectangle 13"/>
          <p:cNvSpPr/>
          <p:nvPr/>
        </p:nvSpPr>
        <p:spPr>
          <a:xfrm>
            <a:off x="440604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604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1484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Broadcast</a:t>
            </a:r>
          </a:p>
        </p:txBody>
      </p:sp>
      <p:sp>
        <p:nvSpPr>
          <p:cNvPr id="17" name="TextBox 16"/>
          <p:cNvSpPr txBox="1"/>
          <p:nvPr/>
        </p:nvSpPr>
        <p:spPr>
          <a:xfrm>
            <a:off x="461484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Align from the rightmost dimension</a:t>
            </a:r>
          </a:p>
        </p:txBody>
      </p:sp>
      <p:sp>
        <p:nvSpPr>
          <p:cNvPr id="18" name="Rectangle 17"/>
          <p:cNvSpPr/>
          <p:nvPr/>
        </p:nvSpPr>
        <p:spPr>
          <a:xfrm>
            <a:off x="8012879"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12879"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21679"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Break It On Purpose</a:t>
            </a:r>
          </a:p>
        </p:txBody>
      </p:sp>
      <p:sp>
        <p:nvSpPr>
          <p:cNvPr id="21" name="TextBox 20"/>
          <p:cNvSpPr txBox="1"/>
          <p:nvPr/>
        </p:nvSpPr>
        <p:spPr>
          <a:xfrm>
            <a:off x="8221679"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Read the error first, learn the rule second</a:t>
            </a:r>
          </a:p>
        </p:txBody>
      </p:sp>
      <p:sp>
        <p:nvSpPr>
          <p:cNvPr id="22" name="TextBox 21"/>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23" name="TextBox 22"/>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Three Families of Shape Operations</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1 · Week 2</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08 / 30</a:t>
            </a:r>
          </a:p>
        </p:txBody>
      </p:sp>
      <p:sp>
        <p:nvSpPr>
          <p:cNvPr id="9" name="Rectangle 8"/>
          <p:cNvSpPr/>
          <p:nvPr/>
        </p:nvSpPr>
        <p:spPr>
          <a:xfrm>
            <a:off x="799200" y="1260000"/>
            <a:ext cx="3387239" cy="2448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60000"/>
            <a:ext cx="32400" cy="2448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22400" y="1447199"/>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Change the Shape</a:t>
            </a:r>
          </a:p>
        </p:txBody>
      </p:sp>
      <p:sp>
        <p:nvSpPr>
          <p:cNvPr id="12" name="TextBox 11"/>
          <p:cNvSpPr txBox="1"/>
          <p:nvPr/>
        </p:nvSpPr>
        <p:spPr>
          <a:xfrm>
            <a:off x="1022400" y="1677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view / reshape / -1</a:t>
            </a:r>
          </a:p>
        </p:txBody>
      </p:sp>
      <p:sp>
        <p:nvSpPr>
          <p:cNvPr id="13" name="TextBox 12"/>
          <p:cNvSpPr txBox="1"/>
          <p:nvPr/>
        </p:nvSpPr>
        <p:spPr>
          <a:xfrm>
            <a:off x="1022400" y="1879200"/>
            <a:ext cx="2940839" cy="16848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view shares memory, needs contiguity, and raises when it is not</a:t>
            </a:r>
          </a:p>
          <a:p>
            <a:pPr algn="l">
              <a:lnSpc>
                <a:spcPct val="140000"/>
              </a:lnSpc>
              <a:spcAft>
                <a:spcPts val="400"/>
              </a:spcAft>
            </a:pPr>
            <a:r>
              <a:rPr sz="1200" b="0" i="0">
                <a:solidFill>
                  <a:srgbClr val="1F2937"/>
                </a:solidFill>
                <a:latin typeface="Source Han Sans SC"/>
              </a:rPr>
              <a:t>• reshape shares when it can and copies when it must - the daily default</a:t>
            </a:r>
          </a:p>
          <a:p>
            <a:pPr algn="l">
              <a:lnSpc>
                <a:spcPct val="140000"/>
              </a:lnSpc>
              <a:spcAft>
                <a:spcPts val="400"/>
              </a:spcAft>
            </a:pPr>
            <a:r>
              <a:rPr sz="1200" b="0" i="0">
                <a:solidFill>
                  <a:srgbClr val="1F2937"/>
                </a:solidFill>
                <a:latin typeface="Source Han Sans SC"/>
              </a:rPr>
              <a:t>• -1 means "you infer it"; every other dimension must divide evenly</a:t>
            </a:r>
          </a:p>
        </p:txBody>
      </p:sp>
      <p:sp>
        <p:nvSpPr>
          <p:cNvPr id="14" name="Rectangle 13"/>
          <p:cNvSpPr/>
          <p:nvPr/>
        </p:nvSpPr>
        <p:spPr>
          <a:xfrm>
            <a:off x="4402440" y="1260000"/>
            <a:ext cx="3387239" cy="2448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2440" y="1260000"/>
            <a:ext cx="32400" cy="2448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25639" y="1447199"/>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Add and Remove Dimensions</a:t>
            </a:r>
          </a:p>
        </p:txBody>
      </p:sp>
      <p:sp>
        <p:nvSpPr>
          <p:cNvPr id="17" name="TextBox 16"/>
          <p:cNvSpPr txBox="1"/>
          <p:nvPr/>
        </p:nvSpPr>
        <p:spPr>
          <a:xfrm>
            <a:off x="4625639" y="1677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unsqueeze / squeeze</a:t>
            </a:r>
          </a:p>
        </p:txBody>
      </p:sp>
      <p:sp>
        <p:nvSpPr>
          <p:cNvPr id="18" name="TextBox 17"/>
          <p:cNvSpPr txBox="1"/>
          <p:nvPr/>
        </p:nvSpPr>
        <p:spPr>
          <a:xfrm>
            <a:off x="4625639" y="1879200"/>
            <a:ext cx="2940839" cy="16848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unsqueeze(1) turns (6,) into (6,1) - the most common rescue</a:t>
            </a:r>
          </a:p>
          <a:p>
            <a:pPr algn="l">
              <a:lnSpc>
                <a:spcPct val="140000"/>
              </a:lnSpc>
              <a:spcAft>
                <a:spcPts val="400"/>
              </a:spcAft>
            </a:pPr>
            <a:r>
              <a:rPr sz="1200" b="0" i="0">
                <a:solidFill>
                  <a:srgbClr val="1F2937"/>
                </a:solidFill>
                <a:latin typeface="Source Han Sans SC"/>
              </a:rPr>
              <a:t>• squeeze(0) drops a size-1 dimension; size-n dimensions stay</a:t>
            </a:r>
          </a:p>
          <a:p>
            <a:pPr algn="l">
              <a:lnSpc>
                <a:spcPct val="140000"/>
              </a:lnSpc>
              <a:spcAft>
                <a:spcPts val="400"/>
              </a:spcAft>
            </a:pPr>
            <a:r>
              <a:rPr sz="1200" b="0" i="0">
                <a:solidFill>
                  <a:srgbClr val="1F2937"/>
                </a:solidFill>
                <a:latin typeface="Source Han Sans SC"/>
              </a:rPr>
              <a:t>• Write the added dimension explicitly and every later broadcast is predictable</a:t>
            </a:r>
          </a:p>
        </p:txBody>
      </p:sp>
      <p:sp>
        <p:nvSpPr>
          <p:cNvPr id="19" name="Rectangle 18"/>
          <p:cNvSpPr/>
          <p:nvPr/>
        </p:nvSpPr>
        <p:spPr>
          <a:xfrm>
            <a:off x="8005679" y="1260000"/>
            <a:ext cx="3387239" cy="2448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005679" y="1260000"/>
            <a:ext cx="32400" cy="2448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228879" y="1447199"/>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Swap Axes</a:t>
            </a:r>
          </a:p>
        </p:txBody>
      </p:sp>
      <p:sp>
        <p:nvSpPr>
          <p:cNvPr id="22" name="TextBox 21"/>
          <p:cNvSpPr txBox="1"/>
          <p:nvPr/>
        </p:nvSpPr>
        <p:spPr>
          <a:xfrm>
            <a:off x="8228879" y="1677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transpose / permute</a:t>
            </a:r>
          </a:p>
        </p:txBody>
      </p:sp>
      <p:sp>
        <p:nvSpPr>
          <p:cNvPr id="23" name="TextBox 22"/>
          <p:cNvSpPr txBox="1"/>
          <p:nvPr/>
        </p:nvSpPr>
        <p:spPr>
          <a:xfrm>
            <a:off x="8228879" y="1879200"/>
            <a:ext cx="2940839" cy="16848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transpose swaps two axes; permute states the full order at once</a:t>
            </a:r>
          </a:p>
          <a:p>
            <a:pPr algn="l">
              <a:lnSpc>
                <a:spcPct val="140000"/>
              </a:lnSpc>
              <a:spcAft>
                <a:spcPts val="400"/>
              </a:spcAft>
            </a:pPr>
            <a:r>
              <a:rPr sz="1200" b="0" i="0">
                <a:solidFill>
                  <a:srgbClr val="1F2937"/>
                </a:solidFill>
                <a:latin typeface="Source Han Sans SC"/>
              </a:rPr>
              <a:t>• After an axis swap the tensor is usually non-contiguous and view fails</a:t>
            </a:r>
          </a:p>
          <a:p>
            <a:pPr algn="l">
              <a:lnSpc>
                <a:spcPct val="140000"/>
              </a:lnSpc>
              <a:spcAft>
                <a:spcPts val="400"/>
              </a:spcAft>
            </a:pPr>
            <a:r>
              <a:rPr sz="1200" b="0" i="0">
                <a:solidFill>
                  <a:srgbClr val="1F2937"/>
                </a:solidFill>
                <a:latin typeface="Source Han Sans SC"/>
              </a:rPr>
              <a:t>• Restore contiguity with .contiguous(), or just use reshape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Shapes and Broadcasting: Break It, Then Fix It</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Type every line on this page yourself at least once</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1 · Week 2</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09 / 30</a:t>
            </a:r>
          </a:p>
        </p:txBody>
      </p:sp>
      <p:sp>
        <p:nvSpPr>
          <p:cNvPr id="10" name="Rectangle 9"/>
          <p:cNvSpPr/>
          <p:nvPr/>
        </p:nvSpPr>
        <p:spPr>
          <a:xfrm>
            <a:off x="799200" y="1278000"/>
            <a:ext cx="5185259" cy="406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1278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1200" y="1364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Shape ops: view and reshape</a:t>
            </a:r>
          </a:p>
        </p:txBody>
      </p:sp>
      <p:sp>
        <p:nvSpPr>
          <p:cNvPr id="13" name="TextBox 12"/>
          <p:cNvSpPr txBox="1"/>
          <p:nvPr/>
        </p:nvSpPr>
        <p:spPr>
          <a:xfrm>
            <a:off x="997200" y="1691999"/>
            <a:ext cx="4789259" cy="3528000"/>
          </a:xfrm>
          <a:prstGeom prst="rect">
            <a:avLst/>
          </a:prstGeom>
          <a:noFill/>
        </p:spPr>
        <p:txBody>
          <a:bodyPr wrap="square" anchor="t" lIns="0" rIns="0" tIns="0" bIns="0">
            <a:spAutoFit/>
          </a:bodyPr>
          <a:lstStyle/>
          <a:p>
            <a:pPr algn="l">
              <a:lnSpc>
                <a:spcPct val="128000"/>
              </a:lnSpc>
            </a:pPr>
            <a:r>
              <a:rPr sz="1050" b="0" i="0">
                <a:solidFill>
                  <a:srgbClr val="E2E8F0"/>
                </a:solidFill>
                <a:latin typeface="Menlo"/>
              </a:rPr>
              <a:t>x = torch.arange(6.)        # (6,)</a:t>
            </a:r>
          </a:p>
          <a:p>
            <a:pPr algn="l">
              <a:lnSpc>
                <a:spcPct val="128000"/>
              </a:lnSpc>
            </a:pPr>
            <a:r>
              <a:rPr sz="1050" b="0" i="0">
                <a:solidFill>
                  <a:srgbClr val="E2E8F0"/>
                </a:solidFill>
                <a:latin typeface="Menlo"/>
              </a:rPr>
              <a:t>a = x.view(2, 3)            # (2,3), shares memory with x</a:t>
            </a:r>
          </a:p>
          <a:p>
            <a:pPr algn="l">
              <a:lnSpc>
                <a:spcPct val="128000"/>
              </a:lnSpc>
            </a:pPr>
            <a:r>
              <a:rPr sz="1050" b="0" i="0">
                <a:solidFill>
                  <a:srgbClr val="E2E8F0"/>
                </a:solidFill>
                <a:latin typeface="Menlo"/>
              </a:rPr>
              <a:t>x[0] = 99</a:t>
            </a:r>
          </a:p>
          <a:p>
            <a:pPr algn="l">
              <a:lnSpc>
                <a:spcPct val="128000"/>
              </a:lnSpc>
            </a:pPr>
            <a:r>
              <a:rPr sz="1050" b="0" i="0">
                <a:solidFill>
                  <a:srgbClr val="E2E8F0"/>
                </a:solidFill>
                <a:latin typeface="Menlo"/>
              </a:rPr>
              <a:t>print(a[0, 0])              # 99 -&gt; a view, not a copy</a:t>
            </a:r>
          </a:p>
          <a:p>
            <a:pPr algn="l">
              <a:lnSpc>
                <a:spcPct val="128000"/>
              </a:lnSpc>
            </a:pPr>
            <a:r>
              <a:rPr sz="1050" b="0" i="0">
                <a:solidFill>
                  <a:srgbClr val="E2E8F0"/>
                </a:solidFill>
                <a:latin typeface="Menlo"/>
              </a:rPr>
              <a:t/>
            </a:r>
          </a:p>
          <a:p>
            <a:pPr algn="l">
              <a:lnSpc>
                <a:spcPct val="128000"/>
              </a:lnSpc>
            </a:pPr>
            <a:r>
              <a:rPr sz="1050" b="0" i="0">
                <a:solidFill>
                  <a:srgbClr val="E2E8F0"/>
                </a:solidFill>
                <a:latin typeface="Menlo"/>
              </a:rPr>
              <a:t>t = a.t()                   # (3,2), now non-contiguous</a:t>
            </a:r>
          </a:p>
          <a:p>
            <a:pPr algn="l">
              <a:lnSpc>
                <a:spcPct val="128000"/>
              </a:lnSpc>
            </a:pPr>
            <a:r>
              <a:rPr sz="1050" b="0" i="0">
                <a:solidFill>
                  <a:srgbClr val="E2E8F0"/>
                </a:solidFill>
                <a:latin typeface="Menlo"/>
              </a:rPr>
              <a:t>t.view(6)                   # raises: view needs contiguity</a:t>
            </a:r>
          </a:p>
          <a:p>
            <a:pPr algn="l">
              <a:lnSpc>
                <a:spcPct val="128000"/>
              </a:lnSpc>
            </a:pPr>
            <a:r>
              <a:rPr sz="1050" b="0" i="0">
                <a:solidFill>
                  <a:srgbClr val="E2E8F0"/>
                </a:solidFill>
                <a:latin typeface="Menlo"/>
              </a:rPr>
              <a:t>t.reshape(6)                # OK: reshape copies when needed</a:t>
            </a:r>
          </a:p>
          <a:p>
            <a:pPr algn="l">
              <a:lnSpc>
                <a:spcPct val="128000"/>
              </a:lnSpc>
            </a:pPr>
            <a:r>
              <a:rPr sz="1050" b="0" i="0">
                <a:solidFill>
                  <a:srgbClr val="E2E8F0"/>
                </a:solidFill>
                <a:latin typeface="Menlo"/>
              </a:rPr>
              <a:t/>
            </a:r>
          </a:p>
          <a:p>
            <a:pPr algn="l">
              <a:lnSpc>
                <a:spcPct val="128000"/>
              </a:lnSpc>
            </a:pPr>
            <a:r>
              <a:rPr sz="1050" b="0" i="0">
                <a:solidFill>
                  <a:srgbClr val="E2E8F0"/>
                </a:solidFill>
                <a:latin typeface="Menlo"/>
              </a:rPr>
              <a:t># -1 infers the missing dimension</a:t>
            </a:r>
          </a:p>
          <a:p>
            <a:pPr algn="l">
              <a:lnSpc>
                <a:spcPct val="128000"/>
              </a:lnSpc>
            </a:pPr>
            <a:r>
              <a:rPr sz="1050" b="0" i="0">
                <a:solidFill>
                  <a:srgbClr val="E2E8F0"/>
                </a:solidFill>
                <a:latin typeface="Menlo"/>
              </a:rPr>
              <a:t>print(x.reshape(2, -1).shape)     # (2, 3)</a:t>
            </a:r>
          </a:p>
          <a:p>
            <a:pPr algn="l">
              <a:lnSpc>
                <a:spcPct val="128000"/>
              </a:lnSpc>
            </a:pPr>
            <a:r>
              <a:rPr sz="1050" b="0" i="0">
                <a:solidFill>
                  <a:srgbClr val="E2E8F0"/>
                </a:solidFill>
                <a:latin typeface="Menlo"/>
              </a:rPr>
              <a:t>print(x.unsqueeze(1).shape)       # (6, 1)</a:t>
            </a:r>
          </a:p>
          <a:p>
            <a:pPr algn="l">
              <a:lnSpc>
                <a:spcPct val="128000"/>
              </a:lnSpc>
            </a:pPr>
            <a:r>
              <a:rPr sz="1050" b="0" i="0">
                <a:solidFill>
                  <a:srgbClr val="E2E8F0"/>
                </a:solidFill>
                <a:latin typeface="Menlo"/>
              </a:rPr>
              <a:t># unsqueeze(1) is the usual rescue:</a:t>
            </a:r>
          </a:p>
          <a:p>
            <a:pPr algn="l">
              <a:lnSpc>
                <a:spcPct val="128000"/>
              </a:lnSpc>
            </a:pPr>
            <a:r>
              <a:rPr sz="1050" b="0" i="0">
                <a:solidFill>
                  <a:srgbClr val="E2E8F0"/>
                </a:solidFill>
                <a:latin typeface="Menlo"/>
              </a:rPr>
              <a:t># (6,) -&gt; (6,1), exactly what MSE broadcasting wants</a:t>
            </a:r>
          </a:p>
        </p:txBody>
      </p:sp>
      <p:sp>
        <p:nvSpPr>
          <p:cNvPr id="14" name="Rectangle 13"/>
          <p:cNvSpPr/>
          <p:nvPr/>
        </p:nvSpPr>
        <p:spPr>
          <a:xfrm>
            <a:off x="6207659" y="1278000"/>
            <a:ext cx="5185259" cy="406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207659" y="1278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369659" y="1364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Broadcasting: silent wrong vs loud error</a:t>
            </a:r>
          </a:p>
        </p:txBody>
      </p:sp>
      <p:sp>
        <p:nvSpPr>
          <p:cNvPr id="17" name="TextBox 16"/>
          <p:cNvSpPr txBox="1"/>
          <p:nvPr/>
        </p:nvSpPr>
        <p:spPr>
          <a:xfrm>
            <a:off x="6405659" y="1691999"/>
            <a:ext cx="4789259" cy="3528000"/>
          </a:xfrm>
          <a:prstGeom prst="rect">
            <a:avLst/>
          </a:prstGeom>
          <a:noFill/>
        </p:spPr>
        <p:txBody>
          <a:bodyPr wrap="square" anchor="t" lIns="0" rIns="0" tIns="0" bIns="0">
            <a:spAutoFit/>
          </a:bodyPr>
          <a:lstStyle/>
          <a:p>
            <a:pPr algn="l">
              <a:lnSpc>
                <a:spcPct val="128000"/>
              </a:lnSpc>
            </a:pPr>
            <a:r>
              <a:rPr sz="1050" b="0" i="0">
                <a:solidFill>
                  <a:srgbClr val="E2E8F0"/>
                </a:solidFill>
                <a:latin typeface="Menlo"/>
              </a:rPr>
              <a:t>w = torch.randn(3)         # (3,)</a:t>
            </a:r>
          </a:p>
          <a:p>
            <a:pPr algn="l">
              <a:lnSpc>
                <a:spcPct val="128000"/>
              </a:lnSpc>
            </a:pPr>
            <a:r>
              <a:rPr sz="1050" b="0" i="0">
                <a:solidFill>
                  <a:srgbClr val="E2E8F0"/>
                </a:solidFill>
                <a:latin typeface="Menlo"/>
              </a:rPr>
              <a:t>X = torch.randn(4, 3)      # (4,3)</a:t>
            </a:r>
          </a:p>
          <a:p>
            <a:pPr algn="l">
              <a:lnSpc>
                <a:spcPct val="128000"/>
              </a:lnSpc>
            </a:pPr>
            <a:r>
              <a:rPr sz="1050" b="0" i="0">
                <a:solidFill>
                  <a:srgbClr val="E2E8F0"/>
                </a:solidFill>
                <a:latin typeface="Menlo"/>
              </a:rPr>
              <a:t>print((X + w).shape)       # (4,3) tail-aligned, intuitive</a:t>
            </a:r>
          </a:p>
          <a:p>
            <a:pPr algn="l">
              <a:lnSpc>
                <a:spcPct val="128000"/>
              </a:lnSpc>
            </a:pPr>
            <a:r>
              <a:rPr sz="1050" b="0" i="0">
                <a:solidFill>
                  <a:srgbClr val="E2E8F0"/>
                </a:solidFill>
                <a:latin typeface="Menlo"/>
              </a:rPr>
              <a:t/>
            </a:r>
          </a:p>
          <a:p>
            <a:pPr algn="l">
              <a:lnSpc>
                <a:spcPct val="128000"/>
              </a:lnSpc>
            </a:pPr>
            <a:r>
              <a:rPr sz="1050" b="0" i="0">
                <a:solidFill>
                  <a:srgbClr val="E2E8F0"/>
                </a:solidFill>
                <a:latin typeface="Menlo"/>
              </a:rPr>
              <a:t>v = torch.randn(3, 1)      # (3,1)</a:t>
            </a:r>
          </a:p>
          <a:p>
            <a:pPr algn="l">
              <a:lnSpc>
                <a:spcPct val="128000"/>
              </a:lnSpc>
            </a:pPr>
            <a:r>
              <a:rPr sz="1050" b="0" i="0">
                <a:solidFill>
                  <a:srgbClr val="E2E8F0"/>
                </a:solidFill>
                <a:latin typeface="Menlo"/>
              </a:rPr>
              <a:t>print((v + w).shape)       # (3,3) silently grows!</a:t>
            </a:r>
          </a:p>
          <a:p>
            <a:pPr algn="l">
              <a:lnSpc>
                <a:spcPct val="128000"/>
              </a:lnSpc>
            </a:pPr>
            <a:r>
              <a:rPr sz="1050" b="0" i="0">
                <a:solidFill>
                  <a:srgbClr val="E2E8F0"/>
                </a:solidFill>
                <a:latin typeface="Menlo"/>
              </a:rPr>
              <a:t/>
            </a:r>
          </a:p>
          <a:p>
            <a:pPr algn="l">
              <a:lnSpc>
                <a:spcPct val="128000"/>
              </a:lnSpc>
            </a:pPr>
            <a:r>
              <a:rPr sz="1050" b="0" i="0">
                <a:solidFill>
                  <a:srgbClr val="E2E8F0"/>
                </a:solidFill>
                <a:latin typeface="Menlo"/>
              </a:rPr>
              <a:t># Fix: write the intent into the shape</a:t>
            </a:r>
          </a:p>
          <a:p>
            <a:pPr algn="l">
              <a:lnSpc>
                <a:spcPct val="128000"/>
              </a:lnSpc>
            </a:pPr>
            <a:r>
              <a:rPr sz="1050" b="0" i="0">
                <a:solidFill>
                  <a:srgbClr val="E2E8F0"/>
                </a:solidFill>
                <a:latin typeface="Menlo"/>
              </a:rPr>
              <a:t>w2 = w.reshape(-1, 1)      # (3,1)</a:t>
            </a:r>
          </a:p>
          <a:p>
            <a:pPr algn="l">
              <a:lnSpc>
                <a:spcPct val="128000"/>
              </a:lnSpc>
            </a:pPr>
            <a:r>
              <a:rPr sz="1050" b="0" i="0">
                <a:solidFill>
                  <a:srgbClr val="E2E8F0"/>
                </a:solidFill>
                <a:latin typeface="Menlo"/>
              </a:rPr>
              <a:t>print((v + w2).shape)      # (3,1)</a:t>
            </a:r>
          </a:p>
          <a:p>
            <a:pPr algn="l">
              <a:lnSpc>
                <a:spcPct val="128000"/>
              </a:lnSpc>
            </a:pPr>
            <a:r>
              <a:rPr sz="1050" b="0" i="0">
                <a:solidFill>
                  <a:srgbClr val="E2E8F0"/>
                </a:solidFill>
                <a:latin typeface="Menlo"/>
              </a:rPr>
              <a:t>print(torch.broadcast_shapes((3,1), (3,)))</a:t>
            </a:r>
          </a:p>
          <a:p>
            <a:pPr algn="l">
              <a:lnSpc>
                <a:spcPct val="128000"/>
              </a:lnSpc>
            </a:pPr>
            <a:r>
              <a:rPr sz="1050" b="0" i="0">
                <a:solidFill>
                  <a:srgbClr val="E2E8F0"/>
                </a:solidFill>
                <a:latin typeface="Menlo"/>
              </a:rPr>
              <a:t># -&gt; (3,3): legal by the rules, not what you want</a:t>
            </a:r>
          </a:p>
          <a:p>
            <a:pPr algn="l">
              <a:lnSpc>
                <a:spcPct val="128000"/>
              </a:lnSpc>
            </a:pPr>
            <a:r>
              <a:rPr sz="1050" b="0" i="0">
                <a:solidFill>
                  <a:srgbClr val="E2E8F0"/>
                </a:solidFill>
                <a:latin typeface="Menlo"/>
              </a:rPr>
              <a:t/>
            </a:r>
          </a:p>
          <a:p>
            <a:pPr algn="l">
              <a:lnSpc>
                <a:spcPct val="128000"/>
              </a:lnSpc>
            </a:pPr>
            <a:r>
              <a:rPr sz="1050" b="0" i="0">
                <a:solidFill>
                  <a:srgbClr val="E2E8F0"/>
                </a:solidFill>
                <a:latin typeface="Menlo"/>
              </a:rPr>
              <a:t># The error kind: neither is 1, and they differ</a:t>
            </a:r>
          </a:p>
          <a:p>
            <a:pPr algn="l">
              <a:lnSpc>
                <a:spcPct val="128000"/>
              </a:lnSpc>
            </a:pPr>
            <a:r>
              <a:rPr sz="1050" b="0" i="0">
                <a:solidFill>
                  <a:srgbClr val="E2E8F0"/>
                </a:solidFill>
                <a:latin typeface="Menlo"/>
              </a:rPr>
              <a:t>print((torch.randn(4,3) + torch.randn(4,2)).shape)</a:t>
            </a:r>
          </a:p>
          <a:p>
            <a:pPr algn="l">
              <a:lnSpc>
                <a:spcPct val="128000"/>
              </a:lnSpc>
            </a:pPr>
            <a:r>
              <a:rPr sz="1050" b="0" i="0">
                <a:solidFill>
                  <a:srgbClr val="E2E8F0"/>
                </a:solidFill>
                <a:latin typeface="Menlo"/>
              </a:rPr>
              <a:t># RuntimeError: (4,3) vs (4,2) &lt;- a good error</a:t>
            </a:r>
          </a:p>
        </p:txBody>
      </p:sp>
      <p:sp>
        <p:nvSpPr>
          <p:cNvPr id="18" name="TextBox 17"/>
          <p:cNvSpPr txBox="1"/>
          <p:nvPr/>
        </p:nvSpPr>
        <p:spPr>
          <a:xfrm>
            <a:off x="799200" y="5526000"/>
            <a:ext cx="10593719" cy="612000"/>
          </a:xfrm>
          <a:prstGeom prst="rect">
            <a:avLst/>
          </a:prstGeom>
          <a:noFill/>
        </p:spPr>
        <p:txBody>
          <a:bodyPr wrap="square" anchor="t" lIns="0" rIns="0" tIns="0" bIns="0">
            <a:spAutoFit/>
          </a:bodyPr>
          <a:lstStyle/>
          <a:p>
            <a:pPr algn="l">
              <a:lnSpc>
                <a:spcPct val="135000"/>
              </a:lnSpc>
            </a:pPr>
            <a:r>
              <a:rPr sz="1200" b="0" i="0">
                <a:solidFill>
                  <a:srgbClr val="1F2937"/>
                </a:solidFill>
                <a:latin typeface="Source Han Sans SC"/>
              </a:rPr>
              <a:t>The last lines on the left are this week's most used trick: unsqueeze(1) turns (6,) into (6,1). Line 6 on the right is this week's most dangerous bug: it does not raise, it just turns (3,1) and (3,) into (3,3).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Seven Expressions: Which Ones Fail Silently</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An error that raises is a good error; a wrong answer that does not is a bad one</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1 · Week 2</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10 / 30</a:t>
            </a:r>
          </a:p>
        </p:txBody>
      </p:sp>
      <p:graphicFrame>
        <p:nvGraphicFramePr>
          <p:cNvPr id="10" name="Table 9"/>
          <p:cNvGraphicFramePr>
            <a:graphicFrameLocks noGrp="1"/>
          </p:cNvGraphicFramePr>
          <p:nvPr/>
        </p:nvGraphicFramePr>
        <p:xfrm>
          <a:off x="799200" y="1152000"/>
          <a:ext cx="10584000" cy="3384000"/>
        </p:xfrm>
        <a:graphic>
          <a:graphicData uri="http://schemas.openxmlformats.org/drawingml/2006/table">
            <a:tbl>
              <a:tblPr firstRow="1" bandRow="1">
                <a:tableStyleId>{5C22544A-7EE6-4342-B048-85BDC9FD1C3A}</a:tableStyleId>
              </a:tblPr>
              <a:tblGrid>
                <a:gridCol w="3168000"/>
                <a:gridCol w="2376000"/>
                <a:gridCol w="1584000"/>
                <a:gridCol w="3456000"/>
              </a:tblGrid>
              <a:tr h="423000">
                <a:tc>
                  <a:txBody>
                    <a:bodyPr/>
                    <a:lstStyle/>
                    <a:p>
                      <a:r>
                        <a:rPr sz="1250" b="1">
                          <a:solidFill>
                            <a:srgbClr val="FFFFFF"/>
                          </a:solidFill>
                          <a:latin typeface="Source Han Sans SC"/>
                        </a:rPr>
                        <a:t>Expression</a:t>
                      </a:r>
                    </a:p>
                  </a:txBody>
                  <a:tcPr>
                    <a:solidFill>
                      <a:srgbClr val="0E3F8C"/>
                    </a:solidFill>
                  </a:tcPr>
                </a:tc>
                <a:tc>
                  <a:txBody>
                    <a:bodyPr/>
                    <a:lstStyle/>
                    <a:p>
                      <a:r>
                        <a:rPr sz="1250" b="1">
                          <a:solidFill>
                            <a:srgbClr val="FFFFFF"/>
                          </a:solidFill>
                          <a:latin typeface="Source Han Sans SC"/>
                        </a:rPr>
                        <a:t>Shape Outcome</a:t>
                      </a:r>
                    </a:p>
                  </a:txBody>
                  <a:tcPr>
                    <a:solidFill>
                      <a:srgbClr val="0E3F8C"/>
                    </a:solidFill>
                  </a:tcPr>
                </a:tc>
                <a:tc>
                  <a:txBody>
                    <a:bodyPr/>
                    <a:lstStyle/>
                    <a:p>
                      <a:r>
                        <a:rPr sz="1250" b="1">
                          <a:solidFill>
                            <a:srgbClr val="FFFFFF"/>
                          </a:solidFill>
                          <a:latin typeface="Source Han Sans SC"/>
                        </a:rPr>
                        <a:t>Raises?</a:t>
                      </a:r>
                    </a:p>
                  </a:txBody>
                  <a:tcPr>
                    <a:solidFill>
                      <a:srgbClr val="0E3F8C"/>
                    </a:solidFill>
                  </a:tcPr>
                </a:tc>
                <a:tc>
                  <a:txBody>
                    <a:bodyPr/>
                    <a:lstStyle/>
                    <a:p>
                      <a:r>
                        <a:rPr sz="1250" b="1">
                          <a:solidFill>
                            <a:srgbClr val="FFFFFF"/>
                          </a:solidFill>
                          <a:latin typeface="Source Han Sans SC"/>
                        </a:rPr>
                        <a:t>What Happens</a:t>
                      </a:r>
                    </a:p>
                  </a:txBody>
                  <a:tcPr>
                    <a:solidFill>
                      <a:srgbClr val="0E3F8C"/>
                    </a:solidFill>
                  </a:tcPr>
                </a:tc>
              </a:tr>
              <a:tr h="423000">
                <a:tc>
                  <a:txBody>
                    <a:bodyPr/>
                    <a:lstStyle/>
                    <a:p>
                      <a:r>
                        <a:rPr sz="1150" b="1">
                          <a:solidFill>
                            <a:srgbClr val="1F2937"/>
                          </a:solidFill>
                          <a:latin typeface="Source Han Sans SC"/>
                        </a:rPr>
                        <a:t>X (4,3) + w (3,)</a:t>
                      </a:r>
                    </a:p>
                  </a:txBody>
                  <a:tcPr>
                    <a:solidFill>
                      <a:srgbClr val="FFFFFF"/>
                    </a:solidFill>
                  </a:tcPr>
                </a:tc>
                <a:tc>
                  <a:txBody>
                    <a:bodyPr/>
                    <a:lstStyle/>
                    <a:p>
                      <a:r>
                        <a:rPr sz="1150">
                          <a:solidFill>
                            <a:srgbClr val="1F2937"/>
                          </a:solidFill>
                          <a:latin typeface="Source Han Sans SC"/>
                        </a:rPr>
                        <a:t>(4,3) + (3,) -&gt; (4,3)</a:t>
                      </a:r>
                    </a:p>
                  </a:txBody>
                  <a:tcPr>
                    <a:solidFill>
                      <a:srgbClr val="FFFFFF"/>
                    </a:solidFill>
                  </a:tcPr>
                </a:tc>
                <a:tc>
                  <a:txBody>
                    <a:bodyPr/>
                    <a:lstStyle/>
                    <a:p>
                      <a:r>
                        <a:rPr sz="1150">
                          <a:solidFill>
                            <a:srgbClr val="1F2937"/>
                          </a:solidFill>
                          <a:latin typeface="Source Han Sans SC"/>
                        </a:rPr>
                        <a:t>no</a:t>
                      </a:r>
                    </a:p>
                  </a:txBody>
                  <a:tcPr>
                    <a:solidFill>
                      <a:srgbClr val="FFFFFF"/>
                    </a:solidFill>
                  </a:tcPr>
                </a:tc>
                <a:tc>
                  <a:txBody>
                    <a:bodyPr/>
                    <a:lstStyle/>
                    <a:p>
                      <a:r>
                        <a:rPr sz="1150">
                          <a:solidFill>
                            <a:srgbClr val="1F2937"/>
                          </a:solidFill>
                          <a:latin typeface="Source Han Sans SC"/>
                        </a:rPr>
                        <a:t>Right-aligned; w is copied onto every row - intuitive</a:t>
                      </a:r>
                    </a:p>
                  </a:txBody>
                  <a:tcPr>
                    <a:solidFill>
                      <a:srgbClr val="FFFFFF"/>
                    </a:solidFill>
                  </a:tcPr>
                </a:tc>
              </a:tr>
              <a:tr h="423000">
                <a:tc>
                  <a:txBody>
                    <a:bodyPr/>
                    <a:lstStyle/>
                    <a:p>
                      <a:r>
                        <a:rPr sz="1150" b="1">
                          <a:solidFill>
                            <a:srgbClr val="1F2937"/>
                          </a:solidFill>
                          <a:latin typeface="Source Han Sans SC"/>
                        </a:rPr>
                        <a:t>v (3,1) + w (3,)</a:t>
                      </a:r>
                    </a:p>
                  </a:txBody>
                  <a:tcPr>
                    <a:solidFill>
                      <a:srgbClr val="F0F5FC"/>
                    </a:solidFill>
                  </a:tcPr>
                </a:tc>
                <a:tc>
                  <a:txBody>
                    <a:bodyPr/>
                    <a:lstStyle/>
                    <a:p>
                      <a:r>
                        <a:rPr sz="1150">
                          <a:solidFill>
                            <a:srgbClr val="1F2937"/>
                          </a:solidFill>
                          <a:latin typeface="Source Han Sans SC"/>
                        </a:rPr>
                        <a:t>(3,1) + (3,) -&gt; (3,3)</a:t>
                      </a:r>
                    </a:p>
                  </a:txBody>
                  <a:tcPr>
                    <a:solidFill>
                      <a:srgbClr val="F0F5FC"/>
                    </a:solidFill>
                  </a:tcPr>
                </a:tc>
                <a:tc>
                  <a:txBody>
                    <a:bodyPr/>
                    <a:lstStyle/>
                    <a:p>
                      <a:r>
                        <a:rPr sz="1150">
                          <a:solidFill>
                            <a:srgbClr val="1F2937"/>
                          </a:solidFill>
                          <a:latin typeface="Source Han Sans SC"/>
                        </a:rPr>
                        <a:t>no, silent</a:t>
                      </a:r>
                    </a:p>
                  </a:txBody>
                  <a:tcPr>
                    <a:solidFill>
                      <a:srgbClr val="F0F5FC"/>
                    </a:solidFill>
                  </a:tcPr>
                </a:tc>
                <a:tc>
                  <a:txBody>
                    <a:bodyPr/>
                    <a:lstStyle/>
                    <a:p>
                      <a:r>
                        <a:rPr sz="1150">
                          <a:solidFill>
                            <a:srgbClr val="1F2937"/>
                          </a:solidFill>
                          <a:latin typeface="Source Han Sans SC"/>
                        </a:rPr>
                        <a:t>(3,1) spreads down columns, (3,) across rows: one extra dimension appears</a:t>
                      </a:r>
                    </a:p>
                  </a:txBody>
                  <a:tcPr>
                    <a:solidFill>
                      <a:srgbClr val="F0F5FC"/>
                    </a:solidFill>
                  </a:tcPr>
                </a:tc>
              </a:tr>
              <a:tr h="423000">
                <a:tc>
                  <a:txBody>
                    <a:bodyPr/>
                    <a:lstStyle/>
                    <a:p>
                      <a:r>
                        <a:rPr sz="1150" b="1">
                          <a:solidFill>
                            <a:srgbClr val="1F2937"/>
                          </a:solidFill>
                          <a:latin typeface="Source Han Sans SC"/>
                        </a:rPr>
                        <a:t>v + w.reshape(-1,1)</a:t>
                      </a:r>
                    </a:p>
                  </a:txBody>
                  <a:tcPr>
                    <a:solidFill>
                      <a:srgbClr val="FFFFFF"/>
                    </a:solidFill>
                  </a:tcPr>
                </a:tc>
                <a:tc>
                  <a:txBody>
                    <a:bodyPr/>
                    <a:lstStyle/>
                    <a:p>
                      <a:r>
                        <a:rPr sz="1150">
                          <a:solidFill>
                            <a:srgbClr val="1F2937"/>
                          </a:solidFill>
                          <a:latin typeface="Source Han Sans SC"/>
                        </a:rPr>
                        <a:t>(3,1) + (3,1) -&gt; (3,1)</a:t>
                      </a:r>
                    </a:p>
                  </a:txBody>
                  <a:tcPr>
                    <a:solidFill>
                      <a:srgbClr val="FFFFFF"/>
                    </a:solidFill>
                  </a:tcPr>
                </a:tc>
                <a:tc>
                  <a:txBody>
                    <a:bodyPr/>
                    <a:lstStyle/>
                    <a:p>
                      <a:r>
                        <a:rPr sz="1150">
                          <a:solidFill>
                            <a:srgbClr val="1F2937"/>
                          </a:solidFill>
                          <a:latin typeface="Source Han Sans SC"/>
                        </a:rPr>
                        <a:t>no</a:t>
                      </a:r>
                    </a:p>
                  </a:txBody>
                  <a:tcPr>
                    <a:solidFill>
                      <a:srgbClr val="FFFFFF"/>
                    </a:solidFill>
                  </a:tcPr>
                </a:tc>
                <a:tc>
                  <a:txBody>
                    <a:bodyPr/>
                    <a:lstStyle/>
                    <a:p>
                      <a:r>
                        <a:rPr sz="1150">
                          <a:solidFill>
                            <a:srgbClr val="1F2937"/>
                          </a:solidFill>
                          <a:latin typeface="Source Han Sans SC"/>
                        </a:rPr>
                        <a:t>The intent is written into the shape; the code explains itself</a:t>
                      </a:r>
                    </a:p>
                  </a:txBody>
                  <a:tcPr>
                    <a:solidFill>
                      <a:srgbClr val="FFFFFF"/>
                    </a:solidFill>
                  </a:tcPr>
                </a:tc>
              </a:tr>
              <a:tr h="423000">
                <a:tc>
                  <a:txBody>
                    <a:bodyPr/>
                    <a:lstStyle/>
                    <a:p>
                      <a:r>
                        <a:rPr sz="1150" b="1">
                          <a:solidFill>
                            <a:srgbClr val="1F2937"/>
                          </a:solidFill>
                          <a:latin typeface="Source Han Sans SC"/>
                        </a:rPr>
                        <a:t>X (100,1) @ w (1,1)</a:t>
                      </a:r>
                    </a:p>
                  </a:txBody>
                  <a:tcPr>
                    <a:solidFill>
                      <a:srgbClr val="F0F5FC"/>
                    </a:solidFill>
                  </a:tcPr>
                </a:tc>
                <a:tc>
                  <a:txBody>
                    <a:bodyPr/>
                    <a:lstStyle/>
                    <a:p>
                      <a:r>
                        <a:rPr sz="1150">
                          <a:solidFill>
                            <a:srgbClr val="1F2937"/>
                          </a:solidFill>
                          <a:latin typeface="Source Han Sans SC"/>
                        </a:rPr>
                        <a:t>(100,1), inner dims match</a:t>
                      </a:r>
                    </a:p>
                  </a:txBody>
                  <a:tcPr>
                    <a:solidFill>
                      <a:srgbClr val="F0F5FC"/>
                    </a:solidFill>
                  </a:tcPr>
                </a:tc>
                <a:tc>
                  <a:txBody>
                    <a:bodyPr/>
                    <a:lstStyle/>
                    <a:p>
                      <a:r>
                        <a:rPr sz="1150">
                          <a:solidFill>
                            <a:srgbClr val="1F2937"/>
                          </a:solidFill>
                          <a:latin typeface="Source Han Sans SC"/>
                        </a:rPr>
                        <a:t>no</a:t>
                      </a:r>
                    </a:p>
                  </a:txBody>
                  <a:tcPr>
                    <a:solidFill>
                      <a:srgbClr val="F0F5FC"/>
                    </a:solidFill>
                  </a:tcPr>
                </a:tc>
                <a:tc>
                  <a:txBody>
                    <a:bodyPr/>
                    <a:lstStyle/>
                    <a:p>
                      <a:r>
                        <a:rPr sz="1150">
                          <a:solidFill>
                            <a:srgbClr val="1F2937"/>
                          </a:solidFill>
                          <a:latin typeface="Source Han Sans SC"/>
                        </a:rPr>
                        <a:t>Matrix multiply does not broadcast; inner dims must match exactly</a:t>
                      </a:r>
                    </a:p>
                  </a:txBody>
                  <a:tcPr>
                    <a:solidFill>
                      <a:srgbClr val="F0F5FC"/>
                    </a:solidFill>
                  </a:tcPr>
                </a:tc>
              </a:tr>
              <a:tr h="423000">
                <a:tc>
                  <a:txBody>
                    <a:bodyPr/>
                    <a:lstStyle/>
                    <a:p>
                      <a:r>
                        <a:rPr sz="1150" b="1">
                          <a:solidFill>
                            <a:srgbClr val="1F2937"/>
                          </a:solidFill>
                          <a:latin typeface="Source Han Sans SC"/>
                        </a:rPr>
                        <a:t>X (100,1) @ w (3,)</a:t>
                      </a:r>
                    </a:p>
                  </a:txBody>
                  <a:tcPr>
                    <a:solidFill>
                      <a:srgbClr val="FFFFFF"/>
                    </a:solidFill>
                  </a:tcPr>
                </a:tc>
                <a:tc>
                  <a:txBody>
                    <a:bodyPr/>
                    <a:lstStyle/>
                    <a:p>
                      <a:r>
                        <a:rPr sz="1150">
                          <a:solidFill>
                            <a:srgbClr val="1F2937"/>
                          </a:solidFill>
                          <a:latin typeface="Source Han Sans SC"/>
                        </a:rPr>
                        <a:t>inner dims 1 and 3 differ</a:t>
                      </a:r>
                    </a:p>
                  </a:txBody>
                  <a:tcPr>
                    <a:solidFill>
                      <a:srgbClr val="FFFFFF"/>
                    </a:solidFill>
                  </a:tcPr>
                </a:tc>
                <a:tc>
                  <a:txBody>
                    <a:bodyPr/>
                    <a:lstStyle/>
                    <a:p>
                      <a:r>
                        <a:rPr sz="1150">
                          <a:solidFill>
                            <a:srgbClr val="1F2937"/>
                          </a:solidFill>
                          <a:latin typeface="Source Han Sans SC"/>
                        </a:rPr>
                        <a:t>yes</a:t>
                      </a:r>
                    </a:p>
                  </a:txBody>
                  <a:tcPr>
                    <a:solidFill>
                      <a:srgbClr val="FFFFFF"/>
                    </a:solidFill>
                  </a:tcPr>
                </a:tc>
                <a:tc>
                  <a:txBody>
                    <a:bodyPr/>
                    <a:lstStyle/>
                    <a:p>
                      <a:r>
                        <a:rPr sz="1150">
                          <a:solidFill>
                            <a:srgbClr val="1F2937"/>
                          </a:solidFill>
                          <a:latin typeface="Source Han Sans SC"/>
                        </a:rPr>
                        <a:t>RuntimeError: mat1 and mat2 shapes cannot be multiplied</a:t>
                      </a:r>
                    </a:p>
                  </a:txBody>
                  <a:tcPr>
                    <a:solidFill>
                      <a:srgbClr val="FFFFFF"/>
                    </a:solidFill>
                  </a:tcPr>
                </a:tc>
              </a:tr>
              <a:tr h="423000">
                <a:tc>
                  <a:txBody>
                    <a:bodyPr/>
                    <a:lstStyle/>
                    <a:p>
                      <a:r>
                        <a:rPr sz="1150" b="1">
                          <a:solidFill>
                            <a:srgbClr val="1F2937"/>
                          </a:solidFill>
                          <a:latin typeface="Source Han Sans SC"/>
                        </a:rPr>
                        <a:t>a (2,3).t().view(6)</a:t>
                      </a:r>
                    </a:p>
                  </a:txBody>
                  <a:tcPr>
                    <a:solidFill>
                      <a:srgbClr val="F0F5FC"/>
                    </a:solidFill>
                  </a:tcPr>
                </a:tc>
                <a:tc>
                  <a:txBody>
                    <a:bodyPr/>
                    <a:lstStyle/>
                    <a:p>
                      <a:r>
                        <a:rPr sz="1150">
                          <a:solidFill>
                            <a:srgbClr val="1F2937"/>
                          </a:solidFill>
                          <a:latin typeface="Source Han Sans SC"/>
                        </a:rPr>
                        <a:t>non-contiguous after transpose</a:t>
                      </a:r>
                    </a:p>
                  </a:txBody>
                  <a:tcPr>
                    <a:solidFill>
                      <a:srgbClr val="F0F5FC"/>
                    </a:solidFill>
                  </a:tcPr>
                </a:tc>
                <a:tc>
                  <a:txBody>
                    <a:bodyPr/>
                    <a:lstStyle/>
                    <a:p>
                      <a:r>
                        <a:rPr sz="1150">
                          <a:solidFill>
                            <a:srgbClr val="1F2937"/>
                          </a:solidFill>
                          <a:latin typeface="Source Han Sans SC"/>
                        </a:rPr>
                        <a:t>yes</a:t>
                      </a:r>
                    </a:p>
                  </a:txBody>
                  <a:tcPr>
                    <a:solidFill>
                      <a:srgbClr val="F0F5FC"/>
                    </a:solidFill>
                  </a:tcPr>
                </a:tc>
                <a:tc>
                  <a:txBody>
                    <a:bodyPr/>
                    <a:lstStyle/>
                    <a:p>
                      <a:r>
                        <a:rPr sz="1150">
                          <a:solidFill>
                            <a:srgbClr val="1F2937"/>
                          </a:solidFill>
                          <a:latin typeface="Source Han Sans SC"/>
                        </a:rPr>
                        <a:t>RuntimeError: view size is not compatible... use reshape instead</a:t>
                      </a:r>
                    </a:p>
                  </a:txBody>
                  <a:tcPr>
                    <a:solidFill>
                      <a:srgbClr val="F0F5FC"/>
                    </a:solidFill>
                  </a:tcPr>
                </a:tc>
              </a:tr>
              <a:tr h="423000">
                <a:tc>
                  <a:txBody>
                    <a:bodyPr/>
                    <a:lstStyle/>
                    <a:p>
                      <a:r>
                        <a:rPr sz="1150" b="1">
                          <a:solidFill>
                            <a:srgbClr val="1F2937"/>
                          </a:solidFill>
                          <a:latin typeface="Source Han Sans SC"/>
                        </a:rPr>
                        <a:t>x (4,6).reshape(-1,3)</a:t>
                      </a:r>
                    </a:p>
                  </a:txBody>
                  <a:tcPr>
                    <a:solidFill>
                      <a:srgbClr val="FFFFFF"/>
                    </a:solidFill>
                  </a:tcPr>
                </a:tc>
                <a:tc>
                  <a:txBody>
                    <a:bodyPr/>
                    <a:lstStyle/>
                    <a:p>
                      <a:r>
                        <a:rPr sz="1150">
                          <a:solidFill>
                            <a:srgbClr val="1F2937"/>
                          </a:solidFill>
                          <a:latin typeface="Source Han Sans SC"/>
                        </a:rPr>
                        <a:t>(4,6) -&gt; (8,3)</a:t>
                      </a:r>
                    </a:p>
                  </a:txBody>
                  <a:tcPr>
                    <a:solidFill>
                      <a:srgbClr val="FFFFFF"/>
                    </a:solidFill>
                  </a:tcPr>
                </a:tc>
                <a:tc>
                  <a:txBody>
                    <a:bodyPr/>
                    <a:lstStyle/>
                    <a:p>
                      <a:r>
                        <a:rPr sz="1150">
                          <a:solidFill>
                            <a:srgbClr val="1F2937"/>
                          </a:solidFill>
                          <a:latin typeface="Source Han Sans SC"/>
                        </a:rPr>
                        <a:t>no</a:t>
                      </a:r>
                    </a:p>
                  </a:txBody>
                  <a:tcPr>
                    <a:solidFill>
                      <a:srgbClr val="FFFFFF"/>
                    </a:solidFill>
                  </a:tcPr>
                </a:tc>
                <a:tc>
                  <a:txBody>
                    <a:bodyPr/>
                    <a:lstStyle/>
                    <a:p>
                      <a:r>
                        <a:rPr sz="1150">
                          <a:solidFill>
                            <a:srgbClr val="1F2937"/>
                          </a:solidFill>
                          <a:latin typeface="Source Han Sans SC"/>
                        </a:rPr>
                        <a:t>-1 is inferred; the other dimensions must divide evenly</a:t>
                      </a:r>
                    </a:p>
                  </a:txBody>
                  <a:tcPr>
                    <a:solidFill>
                      <a:srgbClr val="FFFFFF"/>
                    </a:solidFill>
                  </a:tcPr>
                </a:tc>
              </a:tr>
            </a:tbl>
          </a:graphicData>
        </a:graphic>
      </p:graphicFrame>
      <p:sp>
        <p:nvSpPr>
          <p:cNvPr id="11" name="TextBox 10"/>
          <p:cNvSpPr txBox="1"/>
          <p:nvPr/>
        </p:nvSpPr>
        <p:spPr>
          <a:xfrm>
            <a:off x="799200" y="4680000"/>
            <a:ext cx="10593719" cy="432000"/>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Row two is the most frequent mistake in this course and the most dangerous: it does not raise. So after any shape-related code, print the result's shape - not as debugging, as a habit.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The Rules, the Four Classic Mistakes, and the Fixes</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Read the error first, learn the rule second; write the shape first, the code second</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1 · Week 2</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11 / 30</a:t>
            </a:r>
          </a:p>
        </p:txBody>
      </p:sp>
      <p:sp>
        <p:nvSpPr>
          <p:cNvPr id="10" name="Rectangle 9"/>
          <p:cNvSpPr/>
          <p:nvPr/>
        </p:nvSpPr>
        <p:spPr>
          <a:xfrm>
            <a:off x="799200" y="1170000"/>
            <a:ext cx="3327240" cy="41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1170000"/>
            <a:ext cx="3327240" cy="540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15200" y="1321200"/>
            <a:ext cx="2895240" cy="251999"/>
          </a:xfrm>
          <a:prstGeom prst="rect">
            <a:avLst/>
          </a:prstGeom>
          <a:noFill/>
        </p:spPr>
        <p:txBody>
          <a:bodyPr wrap="square" anchor="t" lIns="0" rIns="0" tIns="0" bIns="0">
            <a:spAutoFit/>
          </a:bodyPr>
          <a:lstStyle/>
          <a:p>
            <a:pPr algn="l">
              <a:lnSpc>
                <a:spcPct val="125000"/>
              </a:lnSpc>
            </a:pPr>
            <a:r>
              <a:rPr sz="1600" b="1" i="0">
                <a:solidFill>
                  <a:srgbClr val="FFFFFF"/>
                </a:solidFill>
                <a:latin typeface="Source Han Sans SC"/>
              </a:rPr>
              <a:t>The Three Broadcast Rules</a:t>
            </a:r>
          </a:p>
        </p:txBody>
      </p:sp>
      <p:sp>
        <p:nvSpPr>
          <p:cNvPr id="13" name="TextBox 12"/>
          <p:cNvSpPr txBox="1"/>
          <p:nvPr/>
        </p:nvSpPr>
        <p:spPr>
          <a:xfrm>
            <a:off x="1015200" y="1890000"/>
            <a:ext cx="2895240" cy="3240000"/>
          </a:xfrm>
          <a:prstGeom prst="rect">
            <a:avLst/>
          </a:prstGeom>
          <a:noFill/>
        </p:spPr>
        <p:txBody>
          <a:bodyPr wrap="square" anchor="t" lIns="0" rIns="0" tIns="0" bIns="0">
            <a:spAutoFit/>
          </a:bodyPr>
          <a:lstStyle/>
          <a:p>
            <a:pPr algn="l">
              <a:lnSpc>
                <a:spcPct val="150000"/>
              </a:lnSpc>
              <a:spcAft>
                <a:spcPts val="800"/>
              </a:spcAft>
            </a:pPr>
            <a:r>
              <a:rPr sz="1250" b="0" i="0">
                <a:solidFill>
                  <a:srgbClr val="1F2937"/>
                </a:solidFill>
                <a:latin typeface="Source Han Sans SC"/>
              </a:rPr>
              <a:t>• Start at the rightmost dimension and walk left</a:t>
            </a:r>
          </a:p>
          <a:p>
            <a:pPr algn="l">
              <a:lnSpc>
                <a:spcPct val="150000"/>
              </a:lnSpc>
              <a:spcAft>
                <a:spcPts val="800"/>
              </a:spcAft>
            </a:pPr>
            <a:r>
              <a:rPr sz="1250" b="0" i="0">
                <a:solidFill>
                  <a:srgbClr val="1F2937"/>
                </a:solidFill>
                <a:latin typeface="Source Han Sans SC"/>
              </a:rPr>
              <a:t>• Equal sizes -&gt; align directly</a:t>
            </a:r>
          </a:p>
          <a:p>
            <a:pPr algn="l">
              <a:lnSpc>
                <a:spcPct val="150000"/>
              </a:lnSpc>
              <a:spcAft>
                <a:spcPts val="800"/>
              </a:spcAft>
            </a:pPr>
            <a:r>
              <a:rPr sz="1250" b="0" i="0">
                <a:solidFill>
                  <a:srgbClr val="1F2937"/>
                </a:solidFill>
                <a:latin typeface="Source Han Sans SC"/>
              </a:rPr>
              <a:t>• One of them is 1 -&gt; copy and stretch along it</a:t>
            </a:r>
          </a:p>
          <a:p>
            <a:pPr algn="l">
              <a:lnSpc>
                <a:spcPct val="150000"/>
              </a:lnSpc>
              <a:spcAft>
                <a:spcPts val="800"/>
              </a:spcAft>
            </a:pPr>
            <a:r>
              <a:rPr sz="1250" b="0" i="0">
                <a:solidFill>
                  <a:srgbClr val="1F2937"/>
                </a:solidFill>
                <a:latin typeface="Source Han Sans SC"/>
              </a:rPr>
              <a:t>• Neither is 1 and they differ -&gt; raise (that is good)</a:t>
            </a:r>
          </a:p>
          <a:p>
            <a:pPr algn="l">
              <a:lnSpc>
                <a:spcPct val="150000"/>
              </a:lnSpc>
              <a:spcAft>
                <a:spcPts val="800"/>
              </a:spcAft>
            </a:pPr>
            <a:r>
              <a:rPr sz="1250" b="0" i="0">
                <a:solidFill>
                  <a:srgbClr val="1F2937"/>
                </a:solidFill>
                <a:latin typeface="Source Han Sans SC"/>
              </a:rPr>
              <a:t>• Conclusion: broadcasting guarantees legality, not your intent</a:t>
            </a:r>
          </a:p>
        </p:txBody>
      </p:sp>
      <p:sp>
        <p:nvSpPr>
          <p:cNvPr id="14" name="Rectangle 13"/>
          <p:cNvSpPr/>
          <p:nvPr/>
        </p:nvSpPr>
        <p:spPr>
          <a:xfrm>
            <a:off x="4432440" y="1170000"/>
            <a:ext cx="3327240" cy="4104000"/>
          </a:xfrm>
          <a:prstGeom prst="rect">
            <a:avLst/>
          </a:prstGeom>
          <a:solidFill>
            <a:srgbClr val="FEF2F2"/>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32440" y="1170000"/>
            <a:ext cx="3327240" cy="54000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48440" y="1321200"/>
            <a:ext cx="2895240" cy="251999"/>
          </a:xfrm>
          <a:prstGeom prst="rect">
            <a:avLst/>
          </a:prstGeom>
          <a:noFill/>
        </p:spPr>
        <p:txBody>
          <a:bodyPr wrap="square" anchor="t" lIns="0" rIns="0" tIns="0" bIns="0">
            <a:spAutoFit/>
          </a:bodyPr>
          <a:lstStyle/>
          <a:p>
            <a:pPr algn="l">
              <a:lnSpc>
                <a:spcPct val="125000"/>
              </a:lnSpc>
            </a:pPr>
            <a:r>
              <a:rPr sz="1600" b="1" i="0">
                <a:solidFill>
                  <a:srgbClr val="FFFFFF"/>
                </a:solidFill>
                <a:latin typeface="Source Han Sans SC"/>
              </a:rPr>
              <a:t>Four Classic Shape Mistakes</a:t>
            </a:r>
          </a:p>
        </p:txBody>
      </p:sp>
      <p:sp>
        <p:nvSpPr>
          <p:cNvPr id="17" name="TextBox 16"/>
          <p:cNvSpPr txBox="1"/>
          <p:nvPr/>
        </p:nvSpPr>
        <p:spPr>
          <a:xfrm>
            <a:off x="4648440" y="1890000"/>
            <a:ext cx="2895240" cy="3240000"/>
          </a:xfrm>
          <a:prstGeom prst="rect">
            <a:avLst/>
          </a:prstGeom>
          <a:noFill/>
        </p:spPr>
        <p:txBody>
          <a:bodyPr wrap="square" anchor="t" lIns="0" rIns="0" tIns="0" bIns="0">
            <a:spAutoFit/>
          </a:bodyPr>
          <a:lstStyle/>
          <a:p>
            <a:pPr algn="l">
              <a:lnSpc>
                <a:spcPct val="150000"/>
              </a:lnSpc>
              <a:spcAft>
                <a:spcPts val="800"/>
              </a:spcAft>
            </a:pPr>
            <a:r>
              <a:rPr sz="1250" b="0" i="0">
                <a:solidFill>
                  <a:srgbClr val="1F2937"/>
                </a:solidFill>
                <a:latin typeface="Source Han Sans SC"/>
              </a:rPr>
              <a:t>• (3,) mixed with (3,1) -&gt; a silent (3,3)</a:t>
            </a:r>
          </a:p>
          <a:p>
            <a:pPr algn="l">
              <a:lnSpc>
                <a:spcPct val="150000"/>
              </a:lnSpc>
              <a:spcAft>
                <a:spcPts val="800"/>
              </a:spcAft>
            </a:pPr>
            <a:r>
              <a:rPr sz="1250" b="0" i="0">
                <a:solidFill>
                  <a:srgbClr val="1F2937"/>
                </a:solidFill>
                <a:latin typeface="Source Han Sans SC"/>
              </a:rPr>
              <a:t>• Forgetting a dimension where an outer product was meant, ending up element-wise</a:t>
            </a:r>
          </a:p>
          <a:p>
            <a:pPr algn="l">
              <a:lnSpc>
                <a:spcPct val="150000"/>
              </a:lnSpc>
              <a:spcAft>
                <a:spcPts val="800"/>
              </a:spcAft>
            </a:pPr>
            <a:r>
              <a:rPr sz="1250" b="0" i="0">
                <a:solidFill>
                  <a:srgbClr val="1F2937"/>
                </a:solidFill>
                <a:latin typeface="Source Han Sans SC"/>
              </a:rPr>
              <a:t>• view on a transposed tensor -&gt; non-contiguous error</a:t>
            </a:r>
          </a:p>
          <a:p>
            <a:pPr algn="l">
              <a:lnSpc>
                <a:spcPct val="150000"/>
              </a:lnSpc>
              <a:spcAft>
                <a:spcPts val="800"/>
              </a:spcAft>
            </a:pPr>
            <a:r>
              <a:rPr sz="1250" b="0" i="0">
                <a:solidFill>
                  <a:srgbClr val="1F2937"/>
                </a:solidFill>
                <a:latin typeface="Source Han Sans SC"/>
              </a:rPr>
              <a:t>• Updating with a mismatched shape -&gt; w silently becomes (n,n)</a:t>
            </a:r>
          </a:p>
          <a:p>
            <a:pPr algn="l">
              <a:lnSpc>
                <a:spcPct val="150000"/>
              </a:lnSpc>
              <a:spcAft>
                <a:spcPts val="800"/>
              </a:spcAft>
            </a:pPr>
            <a:r>
              <a:rPr sz="1250" b="0" i="0">
                <a:solidFill>
                  <a:srgbClr val="1F2937"/>
                </a:solidFill>
                <a:latin typeface="Source Han Sans SC"/>
              </a:rPr>
              <a:t>• Watching the loss but not the shape: it computes, and it is wrong</a:t>
            </a:r>
          </a:p>
        </p:txBody>
      </p:sp>
      <p:sp>
        <p:nvSpPr>
          <p:cNvPr id="18" name="Rectangle 17"/>
          <p:cNvSpPr/>
          <p:nvPr/>
        </p:nvSpPr>
        <p:spPr>
          <a:xfrm>
            <a:off x="8065679" y="1170000"/>
            <a:ext cx="3327240" cy="4104000"/>
          </a:xfrm>
          <a:prstGeom prst="rect">
            <a:avLst/>
          </a:prstGeom>
          <a:solidFill>
            <a:srgbClr val="ECFDF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65679" y="1170000"/>
            <a:ext cx="3327240" cy="540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81679" y="1321200"/>
            <a:ext cx="2895240" cy="251999"/>
          </a:xfrm>
          <a:prstGeom prst="rect">
            <a:avLst/>
          </a:prstGeom>
          <a:noFill/>
        </p:spPr>
        <p:txBody>
          <a:bodyPr wrap="square" anchor="t" lIns="0" rIns="0" tIns="0" bIns="0">
            <a:spAutoFit/>
          </a:bodyPr>
          <a:lstStyle/>
          <a:p>
            <a:pPr algn="l">
              <a:lnSpc>
                <a:spcPct val="125000"/>
              </a:lnSpc>
            </a:pPr>
            <a:r>
              <a:rPr sz="1600" b="1" i="0">
                <a:solidFill>
                  <a:srgbClr val="FFFFFF"/>
                </a:solidFill>
                <a:latin typeface="Source Han Sans SC"/>
              </a:rPr>
              <a:t>Five Fixes and Self-Checks</a:t>
            </a:r>
          </a:p>
        </p:txBody>
      </p:sp>
      <p:sp>
        <p:nvSpPr>
          <p:cNvPr id="21" name="TextBox 20"/>
          <p:cNvSpPr txBox="1"/>
          <p:nvPr/>
        </p:nvSpPr>
        <p:spPr>
          <a:xfrm>
            <a:off x="8281679" y="1890000"/>
            <a:ext cx="2895240" cy="3240000"/>
          </a:xfrm>
          <a:prstGeom prst="rect">
            <a:avLst/>
          </a:prstGeom>
          <a:noFill/>
        </p:spPr>
        <p:txBody>
          <a:bodyPr wrap="square" anchor="t" lIns="0" rIns="0" tIns="0" bIns="0">
            <a:spAutoFit/>
          </a:bodyPr>
          <a:lstStyle/>
          <a:p>
            <a:pPr algn="l">
              <a:lnSpc>
                <a:spcPct val="150000"/>
              </a:lnSpc>
              <a:spcAft>
                <a:spcPts val="800"/>
              </a:spcAft>
            </a:pPr>
            <a:r>
              <a:rPr sz="1250" b="0" i="0">
                <a:solidFill>
                  <a:srgbClr val="1F2937"/>
                </a:solidFill>
                <a:latin typeface="Source Han Sans SC"/>
              </a:rPr>
              <a:t>• Before shape code, write each line's shape into a comment</a:t>
            </a:r>
          </a:p>
          <a:p>
            <a:pPr algn="l">
              <a:lnSpc>
                <a:spcPct val="150000"/>
              </a:lnSpc>
              <a:spcAft>
                <a:spcPts val="800"/>
              </a:spcAft>
            </a:pPr>
            <a:r>
              <a:rPr sz="1250" b="0" i="0">
                <a:solidFill>
                  <a:srgbClr val="1F2937"/>
                </a:solidFill>
                <a:latin typeface="Source Han Sans SC"/>
              </a:rPr>
              <a:t>• Assert it: assert y_hat.shape == y.shape</a:t>
            </a:r>
          </a:p>
          <a:p>
            <a:pPr algn="l">
              <a:lnSpc>
                <a:spcPct val="150000"/>
              </a:lnSpc>
              <a:spcAft>
                <a:spcPts val="800"/>
              </a:spcAft>
            </a:pPr>
            <a:r>
              <a:rPr sz="1250" b="0" i="0">
                <a:solidFill>
                  <a:srgbClr val="1F2937"/>
                </a:solidFill>
                <a:latin typeface="Source Han Sans SC"/>
              </a:rPr>
              <a:t>• Make targets reshape(-1, 1); keep (n,) out of the fight</a:t>
            </a:r>
          </a:p>
          <a:p>
            <a:pPr algn="l">
              <a:lnSpc>
                <a:spcPct val="150000"/>
              </a:lnSpc>
              <a:spcAft>
                <a:spcPts val="800"/>
              </a:spcAft>
            </a:pPr>
            <a:r>
              <a:rPr sz="1250" b="0" i="0">
                <a:solidFill>
                  <a:srgbClr val="1F2937"/>
                </a:solidFill>
                <a:latin typeface="Source Han Sans SC"/>
              </a:rPr>
              <a:t>• For non-contiguous tensors use reshape, or .contiguous().view(...)</a:t>
            </a:r>
          </a:p>
          <a:p>
            <a:pPr algn="l">
              <a:lnSpc>
                <a:spcPct val="150000"/>
              </a:lnSpc>
              <a:spcAft>
                <a:spcPts val="800"/>
              </a:spcAft>
            </a:pPr>
            <a:r>
              <a:rPr sz="1250" b="0" i="0">
                <a:solidFill>
                  <a:srgbClr val="1F2937"/>
                </a:solidFill>
                <a:latin typeface="Source Han Sans SC"/>
              </a:rPr>
              <a:t>• Before training, print the shapes of data and parameters once</a:t>
            </a:r>
          </a:p>
        </p:txBody>
      </p:sp>
      <p:sp>
        <p:nvSpPr>
          <p:cNvPr id="22" name="TextBox 21"/>
          <p:cNvSpPr txBox="1"/>
          <p:nvPr/>
        </p:nvSpPr>
        <p:spPr>
          <a:xfrm>
            <a:off x="799200" y="5454000"/>
            <a:ext cx="10593719" cy="576000"/>
          </a:xfrm>
          <a:prstGeom prst="rect">
            <a:avLst/>
          </a:prstGeom>
          <a:noFill/>
        </p:spPr>
        <p:txBody>
          <a:bodyPr wrap="square" anchor="t" lIns="0" rIns="0" tIns="0" bIns="0">
            <a:spAutoFit/>
          </a:bodyPr>
          <a:lstStyle/>
          <a:p>
            <a:pPr algn="l">
              <a:lnSpc>
                <a:spcPct val="140000"/>
              </a:lnSpc>
            </a:pPr>
            <a:r>
              <a:rPr sz="1250" b="0" i="0">
                <a:solidFill>
                  <a:srgbClr val="1F2937"/>
                </a:solidFill>
                <a:latin typeface="Source Han Sans SC"/>
              </a:rPr>
              <a:t>Classroom method: write it wrong on purpose, read the error message out loud word by word, then fix it. Seeing one error clearly beats memorising ten rules.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03</a:t>
            </a:r>
          </a:p>
        </p:txBody>
      </p:sp>
      <p:sp>
        <p:nvSpPr>
          <p:cNvPr id="5" name="Rectangle 4"/>
          <p:cNvSpPr/>
          <p:nvPr/>
        </p:nvSpPr>
        <p:spPr>
          <a:xfrm>
            <a:off x="856800" y="1047600"/>
            <a:ext cx="1238400" cy="12384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0800" y="1314000"/>
            <a:ext cx="601200" cy="712800"/>
          </a:xfrm>
          <a:prstGeom prst="rect">
            <a:avLst/>
          </a:prstGeom>
          <a:noFill/>
        </p:spPr>
        <p:txBody>
          <a:bodyPr wrap="square" anchor="t" lIns="0" rIns="0" tIns="0" bIns="0">
            <a:spAutoFit/>
          </a:bodyPr>
          <a:lstStyle/>
          <a:p>
            <a:pPr algn="ctr">
              <a:lnSpc>
                <a:spcPct val="125000"/>
              </a:lnSpc>
            </a:pPr>
            <a:r>
              <a:rPr sz="3200" b="1" i="0">
                <a:solidFill>
                  <a:srgbClr val="FFFFFF"/>
                </a:solidFill>
                <a:latin typeface="Source Han Sans SC"/>
              </a:rPr>
              <a:t>03</a:t>
            </a:r>
          </a:p>
        </p:txBody>
      </p:sp>
      <p:sp>
        <p:nvSpPr>
          <p:cNvPr id="7" name="TextBox 6"/>
          <p:cNvSpPr txBox="1"/>
          <p:nvPr/>
        </p:nvSpPr>
        <p:spPr>
          <a:xfrm>
            <a:off x="2379600" y="1105200"/>
            <a:ext cx="5040000" cy="503999"/>
          </a:xfrm>
          <a:prstGeom prst="rect">
            <a:avLst/>
          </a:prstGeom>
          <a:noFill/>
        </p:spPr>
        <p:txBody>
          <a:bodyPr wrap="square" anchor="t" lIns="0" rIns="0" tIns="0" bIns="0">
            <a:spAutoFit/>
          </a:bodyPr>
          <a:lstStyle/>
          <a:p>
            <a:pPr algn="l">
              <a:lnSpc>
                <a:spcPct val="125000"/>
              </a:lnSpc>
            </a:pPr>
            <a:r>
              <a:rPr sz="3000" b="1" i="0">
                <a:solidFill>
                  <a:srgbClr val="0E3F8C"/>
                </a:solidFill>
                <a:latin typeface="Source Han Sans SC"/>
              </a:rPr>
              <a:t>Computational Graphs &amp; Autograd</a:t>
            </a:r>
          </a:p>
        </p:txBody>
      </p:sp>
      <p:sp>
        <p:nvSpPr>
          <p:cNvPr id="8" name="TextBox 7"/>
          <p:cNvSpPr txBox="1"/>
          <p:nvPr/>
        </p:nvSpPr>
        <p:spPr>
          <a:xfrm>
            <a:off x="2379600" y="1666800"/>
            <a:ext cx="5040000" cy="306000"/>
          </a:xfrm>
          <a:prstGeom prst="rect">
            <a:avLst/>
          </a:prstGeom>
          <a:noFill/>
        </p:spPr>
        <p:txBody>
          <a:bodyPr wrap="square" anchor="t" lIns="0" rIns="0" tIns="0" bIns="0">
            <a:spAutoFit/>
          </a:bodyPr>
          <a:lstStyle/>
          <a:p>
            <a:pPr algn="l">
              <a:lnSpc>
                <a:spcPct val="125000"/>
              </a:lnSpc>
            </a:pPr>
            <a:r>
              <a:rPr sz="1500" b="0" i="0">
                <a:solidFill>
                  <a:srgbClr val="3D7BD9"/>
                </a:solidFill>
                <a:latin typeface="Source Han Sans SC"/>
              </a:rPr>
              <a:t>Graphs &amp; Autograd</a:t>
            </a:r>
          </a:p>
        </p:txBody>
      </p:sp>
      <p:sp>
        <p:nvSpPr>
          <p:cNvPr id="9" name="TextBox 8"/>
          <p:cNvSpPr txBox="1"/>
          <p:nvPr/>
        </p:nvSpPr>
        <p:spPr>
          <a:xfrm>
            <a:off x="799200" y="2736000"/>
            <a:ext cx="8640000" cy="1620000"/>
          </a:xfrm>
          <a:prstGeom prst="rect">
            <a:avLst/>
          </a:prstGeom>
          <a:noFill/>
        </p:spPr>
        <p:txBody>
          <a:bodyPr wrap="square" anchor="t" lIns="0" rIns="0" tIns="0" bIns="0">
            <a:spAutoFit/>
          </a:bodyPr>
          <a:lstStyle/>
          <a:p>
            <a:pPr algn="l">
              <a:lnSpc>
                <a:spcPct val="150000"/>
              </a:lnSpc>
            </a:pPr>
            <a:r>
              <a:rPr sz="1500" b="0" i="0">
                <a:solidFill>
                  <a:srgbClr val="1F2937"/>
                </a:solidFill>
                <a:latin typeface="Source Han Sans SC"/>
              </a:rPr>
              <a:t>Autograd does exactly one thing: it records every forward step, then walks back applying the chain rule.
You never differentiate by hand, but you must know who is on the graph and who is not.</a:t>
            </a:r>
          </a:p>
        </p:txBody>
      </p:sp>
      <p:sp>
        <p:nvSpPr>
          <p:cNvPr id="10" name="Rectangle 9"/>
          <p:cNvSpPr/>
          <p:nvPr/>
        </p:nvSpPr>
        <p:spPr>
          <a:xfrm>
            <a:off x="79920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800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The Graph</a:t>
            </a:r>
          </a:p>
        </p:txBody>
      </p:sp>
      <p:sp>
        <p:nvSpPr>
          <p:cNvPr id="13" name="TextBox 12"/>
          <p:cNvSpPr txBox="1"/>
          <p:nvPr/>
        </p:nvSpPr>
        <p:spPr>
          <a:xfrm>
            <a:off x="100800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A by-product of the forward pass</a:t>
            </a:r>
          </a:p>
        </p:txBody>
      </p:sp>
      <p:sp>
        <p:nvSpPr>
          <p:cNvPr id="14" name="Rectangle 13"/>
          <p:cNvSpPr/>
          <p:nvPr/>
        </p:nvSpPr>
        <p:spPr>
          <a:xfrm>
            <a:off x="440604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604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1484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The Switch</a:t>
            </a:r>
          </a:p>
        </p:txBody>
      </p:sp>
      <p:sp>
        <p:nvSpPr>
          <p:cNvPr id="17" name="TextBox 16"/>
          <p:cNvSpPr txBox="1"/>
          <p:nvPr/>
        </p:nvSpPr>
        <p:spPr>
          <a:xfrm>
            <a:off x="461484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requires_grad decides who is differentiated</a:t>
            </a:r>
          </a:p>
        </p:txBody>
      </p:sp>
      <p:sp>
        <p:nvSpPr>
          <p:cNvPr id="18" name="Rectangle 17"/>
          <p:cNvSpPr/>
          <p:nvPr/>
        </p:nvSpPr>
        <p:spPr>
          <a:xfrm>
            <a:off x="8012879"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12879"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21679"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Read the Gradient</a:t>
            </a:r>
          </a:p>
        </p:txBody>
      </p:sp>
      <p:sp>
        <p:nvSpPr>
          <p:cNvPr id="21" name="TextBox 20"/>
          <p:cNvSpPr txBox="1"/>
          <p:nvPr/>
        </p:nvSpPr>
        <p:spPr>
          <a:xfrm>
            <a:off x="8221679"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Only leaves carry .grad</a:t>
            </a:r>
          </a:p>
        </p:txBody>
      </p:sp>
      <p:sp>
        <p:nvSpPr>
          <p:cNvPr id="22" name="TextBox 21"/>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23" name="TextBox 22"/>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The Three Concepts of Autograd</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1 · Week 2</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13 / 30</a:t>
            </a:r>
          </a:p>
        </p:txBody>
      </p:sp>
      <p:sp>
        <p:nvSpPr>
          <p:cNvPr id="9" name="Rectangle 8"/>
          <p:cNvSpPr/>
          <p:nvPr/>
        </p:nvSpPr>
        <p:spPr>
          <a:xfrm>
            <a:off x="799200" y="1260000"/>
            <a:ext cx="3387239" cy="2448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60000"/>
            <a:ext cx="32400" cy="2448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22400" y="1447199"/>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The Graph: a By-Product</a:t>
            </a:r>
          </a:p>
        </p:txBody>
      </p:sp>
      <p:sp>
        <p:nvSpPr>
          <p:cNvPr id="12" name="TextBox 11"/>
          <p:cNvSpPr txBox="1"/>
          <p:nvPr/>
        </p:nvSpPr>
        <p:spPr>
          <a:xfrm>
            <a:off x="1022400" y="1677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what got recorded</a:t>
            </a:r>
          </a:p>
        </p:txBody>
      </p:sp>
      <p:sp>
        <p:nvSpPr>
          <p:cNvPr id="13" name="TextBox 12"/>
          <p:cNvSpPr txBox="1"/>
          <p:nvPr/>
        </p:nvSpPr>
        <p:spPr>
          <a:xfrm>
            <a:off x="1022400" y="1879200"/>
            <a:ext cx="2940839" cy="16848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Every operation touching gradients records how it was computed</a:t>
            </a:r>
          </a:p>
          <a:p>
            <a:pPr algn="l">
              <a:lnSpc>
                <a:spcPct val="140000"/>
              </a:lnSpc>
              <a:spcAft>
                <a:spcPts val="400"/>
              </a:spcAft>
            </a:pPr>
            <a:r>
              <a:rPr sz="1200" b="0" i="0">
                <a:solidFill>
                  <a:srgbClr val="1F2937"/>
                </a:solidFill>
                <a:latin typeface="Source Han Sans SC"/>
              </a:rPr>
              <a:t>• Non-leaves carry grad_fn; leaves get their .grad filled</a:t>
            </a:r>
          </a:p>
          <a:p>
            <a:pPr algn="l">
              <a:lnSpc>
                <a:spcPct val="140000"/>
              </a:lnSpc>
              <a:spcAft>
                <a:spcPts val="400"/>
              </a:spcAft>
            </a:pPr>
            <a:r>
              <a:rPr sz="1200" b="0" i="0">
                <a:solidFill>
                  <a:srgbClr val="1F2937"/>
                </a:solidFill>
                <a:latin typeface="Source Han Sans SC"/>
              </a:rPr>
              <a:t>• The graph is freed after backward; re-use needs retain_graph</a:t>
            </a:r>
          </a:p>
        </p:txBody>
      </p:sp>
      <p:sp>
        <p:nvSpPr>
          <p:cNvPr id="14" name="Rectangle 13"/>
          <p:cNvSpPr/>
          <p:nvPr/>
        </p:nvSpPr>
        <p:spPr>
          <a:xfrm>
            <a:off x="4402440" y="1260000"/>
            <a:ext cx="3387239" cy="2448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2440" y="1260000"/>
            <a:ext cx="32400" cy="2448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25639" y="1447199"/>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requires_grad: Who Needs Gradients</a:t>
            </a:r>
          </a:p>
        </p:txBody>
      </p:sp>
      <p:sp>
        <p:nvSpPr>
          <p:cNvPr id="17" name="TextBox 16"/>
          <p:cNvSpPr txBox="1"/>
          <p:nvPr/>
        </p:nvSpPr>
        <p:spPr>
          <a:xfrm>
            <a:off x="4625639" y="1677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the switch</a:t>
            </a:r>
          </a:p>
        </p:txBody>
      </p:sp>
      <p:sp>
        <p:nvSpPr>
          <p:cNvPr id="18" name="TextBox 17"/>
          <p:cNvSpPr txBox="1"/>
          <p:nvPr/>
        </p:nvSpPr>
        <p:spPr>
          <a:xfrm>
            <a:off x="4625639" y="1879200"/>
            <a:ext cx="2940839" cy="16848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Only floating-point tensors accept requires_grad=True</a:t>
            </a:r>
          </a:p>
          <a:p>
            <a:pPr algn="l">
              <a:lnSpc>
                <a:spcPct val="140000"/>
              </a:lnSpc>
              <a:spcAft>
                <a:spcPts val="400"/>
              </a:spcAft>
            </a:pPr>
            <a:r>
              <a:rPr sz="1200" b="0" i="0">
                <a:solidFill>
                  <a:srgbClr val="1F2937"/>
                </a:solidFill>
                <a:latin typeface="Source Han Sans SC"/>
              </a:rPr>
              <a:t>• Data X and y do not need it; parameters w and b must have it</a:t>
            </a:r>
          </a:p>
          <a:p>
            <a:pPr algn="l">
              <a:lnSpc>
                <a:spcPct val="140000"/>
              </a:lnSpc>
              <a:spcAft>
                <a:spcPts val="400"/>
              </a:spcAft>
            </a:pPr>
            <a:r>
              <a:rPr sz="1200" b="0" i="0">
                <a:solidFill>
                  <a:srgbClr val="1F2937"/>
                </a:solidFill>
                <a:latin typeface="Source Han Sans SC"/>
              </a:rPr>
              <a:t>• Anything computed from it inherits requires_grad automatically</a:t>
            </a:r>
          </a:p>
        </p:txBody>
      </p:sp>
      <p:sp>
        <p:nvSpPr>
          <p:cNvPr id="19" name="Rectangle 18"/>
          <p:cNvSpPr/>
          <p:nvPr/>
        </p:nvSpPr>
        <p:spPr>
          <a:xfrm>
            <a:off x="8005679" y="1260000"/>
            <a:ext cx="3387239" cy="2448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005679" y="1260000"/>
            <a:ext cx="32400" cy="2448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228879" y="1447199"/>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backward and grad: Reading It</a:t>
            </a:r>
          </a:p>
        </p:txBody>
      </p:sp>
      <p:sp>
        <p:nvSpPr>
          <p:cNvPr id="22" name="TextBox 21"/>
          <p:cNvSpPr txBox="1"/>
          <p:nvPr/>
        </p:nvSpPr>
        <p:spPr>
          <a:xfrm>
            <a:off x="8228879" y="1677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the output</a:t>
            </a:r>
          </a:p>
        </p:txBody>
      </p:sp>
      <p:sp>
        <p:nvSpPr>
          <p:cNvPr id="23" name="TextBox 22"/>
          <p:cNvSpPr txBox="1"/>
          <p:nvPr/>
        </p:nvSpPr>
        <p:spPr>
          <a:xfrm>
            <a:off x="8228879" y="1879200"/>
            <a:ext cx="2940839" cy="16848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loss.backward() starts from a scalar and walks back</a:t>
            </a:r>
          </a:p>
          <a:p>
            <a:pPr algn="l">
              <a:lnSpc>
                <a:spcPct val="140000"/>
              </a:lnSpc>
              <a:spcAft>
                <a:spcPts val="400"/>
              </a:spcAft>
            </a:pPr>
            <a:r>
              <a:rPr sz="1200" b="0" i="0">
                <a:solidFill>
                  <a:srgbClr val="1F2937"/>
                </a:solidFill>
                <a:latin typeface="Source Han Sans SC"/>
              </a:rPr>
              <a:t>• Only leaves get .grad filled, with the same shape as the leaf</a:t>
            </a:r>
          </a:p>
          <a:p>
            <a:pPr algn="l">
              <a:lnSpc>
                <a:spcPct val="140000"/>
              </a:lnSpc>
              <a:spcAft>
                <a:spcPts val="400"/>
              </a:spcAft>
            </a:pPr>
            <a:r>
              <a:rPr sz="1200" b="0" i="0">
                <a:solidFill>
                  <a:srgbClr val="1F2937"/>
                </a:solidFill>
                <a:latin typeface="Source Han Sans SC"/>
              </a:rPr>
              <a:t>• .grad accumulates: without zeroing, the previous step is added 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The Smallest Autograd Example</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Eight lines that hide half of this week's pitfalls</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1 · Week 2</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14 / 30</a:t>
            </a:r>
          </a:p>
        </p:txBody>
      </p:sp>
      <p:sp>
        <p:nvSpPr>
          <p:cNvPr id="10" name="Rectangle 9"/>
          <p:cNvSpPr/>
          <p:nvPr/>
        </p:nvSpPr>
        <p:spPr>
          <a:xfrm>
            <a:off x="799200" y="1278000"/>
            <a:ext cx="10593719" cy="406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1278000"/>
            <a:ext cx="1059371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1200" y="1364400"/>
            <a:ext cx="951371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autograd_basics.py</a:t>
            </a:r>
          </a:p>
        </p:txBody>
      </p:sp>
      <p:sp>
        <p:nvSpPr>
          <p:cNvPr id="13" name="TextBox 12"/>
          <p:cNvSpPr txBox="1"/>
          <p:nvPr/>
        </p:nvSpPr>
        <p:spPr>
          <a:xfrm>
            <a:off x="997200" y="1691999"/>
            <a:ext cx="10197719" cy="3528000"/>
          </a:xfrm>
          <a:prstGeom prst="rect">
            <a:avLst/>
          </a:prstGeom>
          <a:noFill/>
        </p:spPr>
        <p:txBody>
          <a:bodyPr wrap="square" anchor="t" lIns="0" rIns="0" tIns="0" bIns="0">
            <a:spAutoFit/>
          </a:bodyPr>
          <a:lstStyle/>
          <a:p>
            <a:pPr algn="l">
              <a:lnSpc>
                <a:spcPct val="128000"/>
              </a:lnSpc>
            </a:pPr>
            <a:r>
              <a:rPr sz="1100" b="0" i="0">
                <a:solidFill>
                  <a:srgbClr val="E2E8F0"/>
                </a:solidFill>
                <a:latin typeface="Menlo"/>
              </a:rPr>
              <a:t>import torch</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x = torch.tensor(3.0, requires_grad=True)   # a leaf tensor</a:t>
            </a:r>
          </a:p>
          <a:p>
            <a:pPr algn="l">
              <a:lnSpc>
                <a:spcPct val="128000"/>
              </a:lnSpc>
            </a:pPr>
            <a:r>
              <a:rPr sz="1100" b="0" i="0">
                <a:solidFill>
                  <a:srgbClr val="E2E8F0"/>
                </a:solidFill>
                <a:latin typeface="Menlo"/>
              </a:rPr>
              <a:t>y = x ** 2 + 2 * x + 1                      # forward + build the graph</a:t>
            </a:r>
          </a:p>
          <a:p>
            <a:pPr algn="l">
              <a:lnSpc>
                <a:spcPct val="128000"/>
              </a:lnSpc>
            </a:pPr>
            <a:r>
              <a:rPr sz="1100" b="0" i="0">
                <a:solidFill>
                  <a:srgbClr val="E2E8F0"/>
                </a:solidFill>
                <a:latin typeface="Menlo"/>
              </a:rPr>
              <a:t>print(y.requires_grad, y.grad_fn)</a:t>
            </a:r>
          </a:p>
          <a:p>
            <a:pPr algn="l">
              <a:lnSpc>
                <a:spcPct val="128000"/>
              </a:lnSpc>
            </a:pPr>
            <a:r>
              <a:rPr sz="1100" b="0" i="0">
                <a:solidFill>
                  <a:srgbClr val="E2E8F0"/>
                </a:solidFill>
                <a:latin typeface="Menlo"/>
              </a:rPr>
              <a:t># True &lt;AddBackward0&gt; &lt;- a non-leaf remembers how it was made</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y.backward()                                # backward: walk the graph</a:t>
            </a:r>
          </a:p>
          <a:p>
            <a:pPr algn="l">
              <a:lnSpc>
                <a:spcPct val="128000"/>
              </a:lnSpc>
            </a:pPr>
            <a:r>
              <a:rPr sz="1100" b="0" i="0">
                <a:solidFill>
                  <a:srgbClr val="E2E8F0"/>
                </a:solidFill>
                <a:latin typeface="Menlo"/>
              </a:rPr>
              <a:t>print(x.grad)                               # tensor(8.) = 2*3 + 2</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x.grad = None                               # grad accumulates; clear it</a:t>
            </a:r>
          </a:p>
          <a:p>
            <a:pPr algn="l">
              <a:lnSpc>
                <a:spcPct val="128000"/>
              </a:lnSpc>
            </a:pPr>
            <a:r>
              <a:rPr sz="1100" b="0" i="0">
                <a:solidFill>
                  <a:srgbClr val="E2E8F0"/>
                </a:solidFill>
                <a:latin typeface="Menlo"/>
              </a:rPr>
              <a:t>z = (x ** 2).sum(); z.backward()</a:t>
            </a:r>
          </a:p>
          <a:p>
            <a:pPr algn="l">
              <a:lnSpc>
                <a:spcPct val="128000"/>
              </a:lnSpc>
            </a:pPr>
            <a:r>
              <a:rPr sz="1100" b="0" i="0">
                <a:solidFill>
                  <a:srgbClr val="E2E8F0"/>
                </a:solidFill>
                <a:latin typeface="Menlo"/>
              </a:rPr>
              <a:t>print(x.grad)                               # tensor(6.) = 2*3</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with torch.no_grad():                       # inference: no graph</a:t>
            </a:r>
          </a:p>
          <a:p>
            <a:pPr algn="l">
              <a:lnSpc>
                <a:spcPct val="128000"/>
              </a:lnSpc>
            </a:pPr>
            <a:r>
              <a:rPr sz="1100" b="0" i="0">
                <a:solidFill>
                  <a:srgbClr val="E2E8F0"/>
                </a:solidFill>
                <a:latin typeface="Menlo"/>
              </a:rPr>
              <a:t>    print((x * 2).requires_grad)            # False</a:t>
            </a:r>
          </a:p>
          <a:p>
            <a:pPr algn="l">
              <a:lnSpc>
                <a:spcPct val="128000"/>
              </a:lnSpc>
            </a:pPr>
            <a:r>
              <a:rPr sz="1100" b="0" i="0">
                <a:solidFill>
                  <a:srgbClr val="E2E8F0"/>
                </a:solidFill>
                <a:latin typeface="Menlo"/>
              </a:rPr>
              <a:t>print((x * 3).detach().requires_grad)       # False: cut off the graph</a:t>
            </a:r>
          </a:p>
        </p:txBody>
      </p:sp>
      <p:sp>
        <p:nvSpPr>
          <p:cNvPr id="14" name="TextBox 13"/>
          <p:cNvSpPr txBox="1"/>
          <p:nvPr/>
        </p:nvSpPr>
        <p:spPr>
          <a:xfrm>
            <a:off x="799200" y="5526000"/>
            <a:ext cx="10593719" cy="612000"/>
          </a:xfrm>
          <a:prstGeom prst="rect">
            <a:avLst/>
          </a:prstGeom>
          <a:noFill/>
        </p:spPr>
        <p:txBody>
          <a:bodyPr wrap="square" anchor="t" lIns="0" rIns="0" tIns="0" bIns="0">
            <a:spAutoFit/>
          </a:bodyPr>
          <a:lstStyle/>
          <a:p>
            <a:pPr algn="l">
              <a:lnSpc>
                <a:spcPct val="135000"/>
              </a:lnSpc>
            </a:pPr>
            <a:r>
              <a:rPr sz="1200" b="0" i="0">
                <a:solidFill>
                  <a:srgbClr val="1F2937"/>
                </a:solidFill>
                <a:latin typeface="Source Han Sans SC"/>
              </a:rPr>
              <a:t>Comment out x.grad = None and run again: x.grad becomes 8 + 6 = 14. That is the whole truth about gradient accumulation, and the direct cause of the oscillating loss in the lab.</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Five Moves in One Parameter Update</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1 · Week 2</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15 / 30</a:t>
            </a:r>
          </a:p>
        </p:txBody>
      </p:sp>
      <p:sp>
        <p:nvSpPr>
          <p:cNvPr id="9" name="Rectangle 8"/>
          <p:cNvSpPr/>
          <p:nvPr/>
        </p:nvSpPr>
        <p:spPr>
          <a:xfrm>
            <a:off x="799200" y="2232000"/>
            <a:ext cx="1600343" cy="176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2232000"/>
            <a:ext cx="1600343" cy="36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376172" y="2430000"/>
            <a:ext cx="446400" cy="4464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376172" y="2512800"/>
            <a:ext cx="446400" cy="288000"/>
          </a:xfrm>
          <a:prstGeom prst="rect">
            <a:avLst/>
          </a:prstGeom>
          <a:noFill/>
        </p:spPr>
        <p:txBody>
          <a:bodyPr wrap="square" anchor="t" lIns="0" rIns="0" tIns="0" bIns="0">
            <a:spAutoFit/>
          </a:bodyPr>
          <a:lstStyle/>
          <a:p>
            <a:pPr algn="ctr">
              <a:lnSpc>
                <a:spcPct val="125000"/>
              </a:lnSpc>
            </a:pPr>
            <a:r>
              <a:rPr sz="1800" b="1" i="0">
                <a:solidFill>
                  <a:srgbClr val="FFFFFF"/>
                </a:solidFill>
                <a:latin typeface="Source Han Sans SC"/>
              </a:rPr>
              <a:t>1</a:t>
            </a:r>
          </a:p>
        </p:txBody>
      </p:sp>
      <p:sp>
        <p:nvSpPr>
          <p:cNvPr id="13" name="TextBox 12"/>
          <p:cNvSpPr txBox="1"/>
          <p:nvPr/>
        </p:nvSpPr>
        <p:spPr>
          <a:xfrm>
            <a:off x="997200" y="2970000"/>
            <a:ext cx="1204343" cy="223200"/>
          </a:xfrm>
          <a:prstGeom prst="rect">
            <a:avLst/>
          </a:prstGeom>
          <a:noFill/>
        </p:spPr>
        <p:txBody>
          <a:bodyPr wrap="square" anchor="t" lIns="0" rIns="0" tIns="0" bIns="0">
            <a:spAutoFit/>
          </a:bodyPr>
          <a:lstStyle/>
          <a:p>
            <a:pPr algn="ctr">
              <a:lnSpc>
                <a:spcPct val="125000"/>
              </a:lnSpc>
            </a:pPr>
            <a:r>
              <a:rPr sz="1450" b="1" i="0">
                <a:solidFill>
                  <a:srgbClr val="0E3F8C"/>
                </a:solidFill>
                <a:latin typeface="Source Han Sans SC"/>
              </a:rPr>
              <a:t>Forward</a:t>
            </a:r>
          </a:p>
        </p:txBody>
      </p:sp>
      <p:sp>
        <p:nvSpPr>
          <p:cNvPr id="14" name="TextBox 13"/>
          <p:cNvSpPr txBox="1"/>
          <p:nvPr/>
        </p:nvSpPr>
        <p:spPr>
          <a:xfrm>
            <a:off x="997200" y="3196800"/>
            <a:ext cx="1204343" cy="144000"/>
          </a:xfrm>
          <a:prstGeom prst="rect">
            <a:avLst/>
          </a:prstGeom>
          <a:noFill/>
        </p:spPr>
        <p:txBody>
          <a:bodyPr wrap="square" anchor="t" lIns="0" rIns="0" tIns="0" bIns="0">
            <a:spAutoFit/>
          </a:bodyPr>
          <a:lstStyle/>
          <a:p>
            <a:pPr algn="ctr">
              <a:lnSpc>
                <a:spcPct val="125000"/>
              </a:lnSpc>
            </a:pPr>
            <a:r>
              <a:rPr sz="1050" b="0" i="0">
                <a:solidFill>
                  <a:srgbClr val="3D7BD9"/>
                </a:solidFill>
                <a:latin typeface="Source Han Sans SC"/>
              </a:rPr>
              <a:t>Forward</a:t>
            </a:r>
          </a:p>
        </p:txBody>
      </p:sp>
      <p:sp>
        <p:nvSpPr>
          <p:cNvPr id="15" name="TextBox 14"/>
          <p:cNvSpPr txBox="1"/>
          <p:nvPr/>
        </p:nvSpPr>
        <p:spPr>
          <a:xfrm>
            <a:off x="997200" y="3384000"/>
            <a:ext cx="1204343" cy="540000"/>
          </a:xfrm>
          <a:prstGeom prst="rect">
            <a:avLst/>
          </a:prstGeom>
          <a:noFill/>
        </p:spPr>
        <p:txBody>
          <a:bodyPr wrap="square" anchor="t" lIns="0" rIns="0" tIns="0" bIns="0">
            <a:spAutoFit/>
          </a:bodyPr>
          <a:lstStyle/>
          <a:p>
            <a:pPr algn="ctr">
              <a:lnSpc>
                <a:spcPct val="135000"/>
              </a:lnSpc>
            </a:pPr>
            <a:r>
              <a:rPr sz="1150" b="0" i="0">
                <a:solidFill>
                  <a:srgbClr val="6B7280"/>
                </a:solidFill>
                <a:latin typeface="Source Han Sans SC"/>
              </a:rPr>
              <a:t>Compute a prediction from
the current parameters</a:t>
            </a:r>
          </a:p>
        </p:txBody>
      </p:sp>
      <p:sp>
        <p:nvSpPr>
          <p:cNvPr id="16" name="Right Arrow 15"/>
          <p:cNvSpPr/>
          <p:nvPr/>
        </p:nvSpPr>
        <p:spPr>
          <a:xfrm>
            <a:off x="2417544" y="2998800"/>
            <a:ext cx="306000" cy="2304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741544" y="2232000"/>
            <a:ext cx="1600343" cy="176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741544" y="2232000"/>
            <a:ext cx="1600343" cy="36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3318516" y="2430000"/>
            <a:ext cx="446400" cy="4464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318516" y="2512800"/>
            <a:ext cx="446400" cy="288000"/>
          </a:xfrm>
          <a:prstGeom prst="rect">
            <a:avLst/>
          </a:prstGeom>
          <a:noFill/>
        </p:spPr>
        <p:txBody>
          <a:bodyPr wrap="square" anchor="t" lIns="0" rIns="0" tIns="0" bIns="0">
            <a:spAutoFit/>
          </a:bodyPr>
          <a:lstStyle/>
          <a:p>
            <a:pPr algn="ctr">
              <a:lnSpc>
                <a:spcPct val="125000"/>
              </a:lnSpc>
            </a:pPr>
            <a:r>
              <a:rPr sz="1800" b="1" i="0">
                <a:solidFill>
                  <a:srgbClr val="FFFFFF"/>
                </a:solidFill>
                <a:latin typeface="Source Han Sans SC"/>
              </a:rPr>
              <a:t>2</a:t>
            </a:r>
          </a:p>
        </p:txBody>
      </p:sp>
      <p:sp>
        <p:nvSpPr>
          <p:cNvPr id="21" name="TextBox 20"/>
          <p:cNvSpPr txBox="1"/>
          <p:nvPr/>
        </p:nvSpPr>
        <p:spPr>
          <a:xfrm>
            <a:off x="2939544" y="2970000"/>
            <a:ext cx="1204343" cy="223200"/>
          </a:xfrm>
          <a:prstGeom prst="rect">
            <a:avLst/>
          </a:prstGeom>
          <a:noFill/>
        </p:spPr>
        <p:txBody>
          <a:bodyPr wrap="square" anchor="t" lIns="0" rIns="0" tIns="0" bIns="0">
            <a:spAutoFit/>
          </a:bodyPr>
          <a:lstStyle/>
          <a:p>
            <a:pPr algn="ctr">
              <a:lnSpc>
                <a:spcPct val="125000"/>
              </a:lnSpc>
            </a:pPr>
            <a:r>
              <a:rPr sz="1450" b="1" i="0">
                <a:solidFill>
                  <a:srgbClr val="0E3F8C"/>
                </a:solidFill>
                <a:latin typeface="Source Han Sans SC"/>
              </a:rPr>
              <a:t>Build Graph</a:t>
            </a:r>
          </a:p>
        </p:txBody>
      </p:sp>
      <p:sp>
        <p:nvSpPr>
          <p:cNvPr id="22" name="TextBox 21"/>
          <p:cNvSpPr txBox="1"/>
          <p:nvPr/>
        </p:nvSpPr>
        <p:spPr>
          <a:xfrm>
            <a:off x="2939544" y="3196800"/>
            <a:ext cx="1204343" cy="144000"/>
          </a:xfrm>
          <a:prstGeom prst="rect">
            <a:avLst/>
          </a:prstGeom>
          <a:noFill/>
        </p:spPr>
        <p:txBody>
          <a:bodyPr wrap="square" anchor="t" lIns="0" rIns="0" tIns="0" bIns="0">
            <a:spAutoFit/>
          </a:bodyPr>
          <a:lstStyle/>
          <a:p>
            <a:pPr algn="ctr">
              <a:lnSpc>
                <a:spcPct val="125000"/>
              </a:lnSpc>
            </a:pPr>
            <a:r>
              <a:rPr sz="1050" b="0" i="0">
                <a:solidFill>
                  <a:srgbClr val="3D7BD9"/>
                </a:solidFill>
                <a:latin typeface="Source Han Sans SC"/>
              </a:rPr>
              <a:t>Build graph</a:t>
            </a:r>
          </a:p>
        </p:txBody>
      </p:sp>
      <p:sp>
        <p:nvSpPr>
          <p:cNvPr id="23" name="TextBox 22"/>
          <p:cNvSpPr txBox="1"/>
          <p:nvPr/>
        </p:nvSpPr>
        <p:spPr>
          <a:xfrm>
            <a:off x="2939544" y="3384000"/>
            <a:ext cx="1204343" cy="540000"/>
          </a:xfrm>
          <a:prstGeom prst="rect">
            <a:avLst/>
          </a:prstGeom>
          <a:noFill/>
        </p:spPr>
        <p:txBody>
          <a:bodyPr wrap="square" anchor="t" lIns="0" rIns="0" tIns="0" bIns="0">
            <a:spAutoFit/>
          </a:bodyPr>
          <a:lstStyle/>
          <a:p>
            <a:pPr algn="ctr">
              <a:lnSpc>
                <a:spcPct val="135000"/>
              </a:lnSpc>
            </a:pPr>
            <a:r>
              <a:rPr sz="1150" b="0" i="0">
                <a:solidFill>
                  <a:srgbClr val="6B7280"/>
                </a:solidFill>
                <a:latin typeface="Source Han Sans SC"/>
              </a:rPr>
              <a:t>Every step is recorded in
the graph - automatically</a:t>
            </a:r>
          </a:p>
        </p:txBody>
      </p:sp>
      <p:sp>
        <p:nvSpPr>
          <p:cNvPr id="24" name="Right Arrow 23"/>
          <p:cNvSpPr/>
          <p:nvPr/>
        </p:nvSpPr>
        <p:spPr>
          <a:xfrm>
            <a:off x="4359888" y="2998800"/>
            <a:ext cx="306000" cy="2304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4683888" y="2232000"/>
            <a:ext cx="1600343" cy="176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4683888" y="2232000"/>
            <a:ext cx="1600343" cy="36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5260860" y="2430000"/>
            <a:ext cx="446400" cy="4464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5260860" y="2512800"/>
            <a:ext cx="446400" cy="288000"/>
          </a:xfrm>
          <a:prstGeom prst="rect">
            <a:avLst/>
          </a:prstGeom>
          <a:noFill/>
        </p:spPr>
        <p:txBody>
          <a:bodyPr wrap="square" anchor="t" lIns="0" rIns="0" tIns="0" bIns="0">
            <a:spAutoFit/>
          </a:bodyPr>
          <a:lstStyle/>
          <a:p>
            <a:pPr algn="ctr">
              <a:lnSpc>
                <a:spcPct val="125000"/>
              </a:lnSpc>
            </a:pPr>
            <a:r>
              <a:rPr sz="1800" b="1" i="0">
                <a:solidFill>
                  <a:srgbClr val="FFFFFF"/>
                </a:solidFill>
                <a:latin typeface="Source Han Sans SC"/>
              </a:rPr>
              <a:t>3</a:t>
            </a:r>
          </a:p>
        </p:txBody>
      </p:sp>
      <p:sp>
        <p:nvSpPr>
          <p:cNvPr id="29" name="TextBox 28"/>
          <p:cNvSpPr txBox="1"/>
          <p:nvPr/>
        </p:nvSpPr>
        <p:spPr>
          <a:xfrm>
            <a:off x="4881888" y="2970000"/>
            <a:ext cx="1204343" cy="223200"/>
          </a:xfrm>
          <a:prstGeom prst="rect">
            <a:avLst/>
          </a:prstGeom>
          <a:noFill/>
        </p:spPr>
        <p:txBody>
          <a:bodyPr wrap="square" anchor="t" lIns="0" rIns="0" tIns="0" bIns="0">
            <a:spAutoFit/>
          </a:bodyPr>
          <a:lstStyle/>
          <a:p>
            <a:pPr algn="ctr">
              <a:lnSpc>
                <a:spcPct val="125000"/>
              </a:lnSpc>
            </a:pPr>
            <a:r>
              <a:rPr sz="1450" b="1" i="0">
                <a:solidFill>
                  <a:srgbClr val="0E3F8C"/>
                </a:solidFill>
                <a:latin typeface="Source Han Sans SC"/>
              </a:rPr>
              <a:t>Loss</a:t>
            </a:r>
          </a:p>
        </p:txBody>
      </p:sp>
      <p:sp>
        <p:nvSpPr>
          <p:cNvPr id="30" name="TextBox 29"/>
          <p:cNvSpPr txBox="1"/>
          <p:nvPr/>
        </p:nvSpPr>
        <p:spPr>
          <a:xfrm>
            <a:off x="4881888" y="3196800"/>
            <a:ext cx="1204343" cy="144000"/>
          </a:xfrm>
          <a:prstGeom prst="rect">
            <a:avLst/>
          </a:prstGeom>
          <a:noFill/>
        </p:spPr>
        <p:txBody>
          <a:bodyPr wrap="square" anchor="t" lIns="0" rIns="0" tIns="0" bIns="0">
            <a:spAutoFit/>
          </a:bodyPr>
          <a:lstStyle/>
          <a:p>
            <a:pPr algn="ctr">
              <a:lnSpc>
                <a:spcPct val="125000"/>
              </a:lnSpc>
            </a:pPr>
            <a:r>
              <a:rPr sz="1050" b="0" i="0">
                <a:solidFill>
                  <a:srgbClr val="3D7BD9"/>
                </a:solidFill>
                <a:latin typeface="Source Han Sans SC"/>
              </a:rPr>
              <a:t>Scalar loss</a:t>
            </a:r>
          </a:p>
        </p:txBody>
      </p:sp>
      <p:sp>
        <p:nvSpPr>
          <p:cNvPr id="31" name="TextBox 30"/>
          <p:cNvSpPr txBox="1"/>
          <p:nvPr/>
        </p:nvSpPr>
        <p:spPr>
          <a:xfrm>
            <a:off x="4881888" y="3384000"/>
            <a:ext cx="1204343" cy="540000"/>
          </a:xfrm>
          <a:prstGeom prst="rect">
            <a:avLst/>
          </a:prstGeom>
          <a:noFill/>
        </p:spPr>
        <p:txBody>
          <a:bodyPr wrap="square" anchor="t" lIns="0" rIns="0" tIns="0" bIns="0">
            <a:spAutoFit/>
          </a:bodyPr>
          <a:lstStyle/>
          <a:p>
            <a:pPr algn="ctr">
              <a:lnSpc>
                <a:spcPct val="135000"/>
              </a:lnSpc>
            </a:pPr>
            <a:r>
              <a:rPr sz="1150" b="0" i="0">
                <a:solidFill>
                  <a:srgbClr val="6B7280"/>
                </a:solidFill>
                <a:latin typeface="Source Han Sans SC"/>
              </a:rPr>
              <a:t>Compress the error into one
scalar: loss = MSE(y_hat, y)</a:t>
            </a:r>
          </a:p>
        </p:txBody>
      </p:sp>
      <p:sp>
        <p:nvSpPr>
          <p:cNvPr id="32" name="Right Arrow 31"/>
          <p:cNvSpPr/>
          <p:nvPr/>
        </p:nvSpPr>
        <p:spPr>
          <a:xfrm>
            <a:off x="6302232" y="2998800"/>
            <a:ext cx="306000" cy="2304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626231" y="2232000"/>
            <a:ext cx="1600343" cy="176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6626231" y="2232000"/>
            <a:ext cx="1600343" cy="36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7203203" y="2430000"/>
            <a:ext cx="446400" cy="4464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203203" y="2512800"/>
            <a:ext cx="446400" cy="288000"/>
          </a:xfrm>
          <a:prstGeom prst="rect">
            <a:avLst/>
          </a:prstGeom>
          <a:noFill/>
        </p:spPr>
        <p:txBody>
          <a:bodyPr wrap="square" anchor="t" lIns="0" rIns="0" tIns="0" bIns="0">
            <a:spAutoFit/>
          </a:bodyPr>
          <a:lstStyle/>
          <a:p>
            <a:pPr algn="ctr">
              <a:lnSpc>
                <a:spcPct val="125000"/>
              </a:lnSpc>
            </a:pPr>
            <a:r>
              <a:rPr sz="1800" b="1" i="0">
                <a:solidFill>
                  <a:srgbClr val="FFFFFF"/>
                </a:solidFill>
                <a:latin typeface="Source Han Sans SC"/>
              </a:rPr>
              <a:t>4</a:t>
            </a:r>
          </a:p>
        </p:txBody>
      </p:sp>
      <p:sp>
        <p:nvSpPr>
          <p:cNvPr id="37" name="TextBox 36"/>
          <p:cNvSpPr txBox="1"/>
          <p:nvPr/>
        </p:nvSpPr>
        <p:spPr>
          <a:xfrm>
            <a:off x="6824232" y="2970000"/>
            <a:ext cx="1204343" cy="223200"/>
          </a:xfrm>
          <a:prstGeom prst="rect">
            <a:avLst/>
          </a:prstGeom>
          <a:noFill/>
        </p:spPr>
        <p:txBody>
          <a:bodyPr wrap="square" anchor="t" lIns="0" rIns="0" tIns="0" bIns="0">
            <a:spAutoFit/>
          </a:bodyPr>
          <a:lstStyle/>
          <a:p>
            <a:pPr algn="ctr">
              <a:lnSpc>
                <a:spcPct val="125000"/>
              </a:lnSpc>
            </a:pPr>
            <a:r>
              <a:rPr sz="1450" b="1" i="0">
                <a:solidFill>
                  <a:srgbClr val="0E3F8C"/>
                </a:solidFill>
                <a:latin typeface="Source Han Sans SC"/>
              </a:rPr>
              <a:t>Backward</a:t>
            </a:r>
          </a:p>
        </p:txBody>
      </p:sp>
      <p:sp>
        <p:nvSpPr>
          <p:cNvPr id="38" name="TextBox 37"/>
          <p:cNvSpPr txBox="1"/>
          <p:nvPr/>
        </p:nvSpPr>
        <p:spPr>
          <a:xfrm>
            <a:off x="6824232" y="3196800"/>
            <a:ext cx="1204343" cy="144000"/>
          </a:xfrm>
          <a:prstGeom prst="rect">
            <a:avLst/>
          </a:prstGeom>
          <a:noFill/>
        </p:spPr>
        <p:txBody>
          <a:bodyPr wrap="square" anchor="t" lIns="0" rIns="0" tIns="0" bIns="0">
            <a:spAutoFit/>
          </a:bodyPr>
          <a:lstStyle/>
          <a:p>
            <a:pPr algn="ctr">
              <a:lnSpc>
                <a:spcPct val="125000"/>
              </a:lnSpc>
            </a:pPr>
            <a:r>
              <a:rPr sz="1050" b="0" i="0">
                <a:solidFill>
                  <a:srgbClr val="3D7BD9"/>
                </a:solidFill>
                <a:latin typeface="Source Han Sans SC"/>
              </a:rPr>
              <a:t>Backward</a:t>
            </a:r>
          </a:p>
        </p:txBody>
      </p:sp>
      <p:sp>
        <p:nvSpPr>
          <p:cNvPr id="39" name="TextBox 38"/>
          <p:cNvSpPr txBox="1"/>
          <p:nvPr/>
        </p:nvSpPr>
        <p:spPr>
          <a:xfrm>
            <a:off x="6824232" y="3384000"/>
            <a:ext cx="1204343" cy="540000"/>
          </a:xfrm>
          <a:prstGeom prst="rect">
            <a:avLst/>
          </a:prstGeom>
          <a:noFill/>
        </p:spPr>
        <p:txBody>
          <a:bodyPr wrap="square" anchor="t" lIns="0" rIns="0" tIns="0" bIns="0">
            <a:spAutoFit/>
          </a:bodyPr>
          <a:lstStyle/>
          <a:p>
            <a:pPr algn="ctr">
              <a:lnSpc>
                <a:spcPct val="135000"/>
              </a:lnSpc>
            </a:pPr>
            <a:r>
              <a:rPr sz="1150" b="0" i="0">
                <a:solidFill>
                  <a:srgbClr val="6B7280"/>
                </a:solidFill>
                <a:latin typeface="Source Han Sans SC"/>
              </a:rPr>
              <a:t>loss.backward() walks back and
fills .grad on every leaf</a:t>
            </a:r>
          </a:p>
        </p:txBody>
      </p:sp>
      <p:sp>
        <p:nvSpPr>
          <p:cNvPr id="40" name="Right Arrow 39"/>
          <p:cNvSpPr/>
          <p:nvPr/>
        </p:nvSpPr>
        <p:spPr>
          <a:xfrm>
            <a:off x="8244575" y="2998800"/>
            <a:ext cx="306000" cy="2304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8568575" y="2232000"/>
            <a:ext cx="1600343" cy="176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8568575" y="2232000"/>
            <a:ext cx="1600343" cy="36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9145547" y="2430000"/>
            <a:ext cx="446400" cy="4464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145547" y="2512800"/>
            <a:ext cx="446400" cy="288000"/>
          </a:xfrm>
          <a:prstGeom prst="rect">
            <a:avLst/>
          </a:prstGeom>
          <a:noFill/>
        </p:spPr>
        <p:txBody>
          <a:bodyPr wrap="square" anchor="t" lIns="0" rIns="0" tIns="0" bIns="0">
            <a:spAutoFit/>
          </a:bodyPr>
          <a:lstStyle/>
          <a:p>
            <a:pPr algn="ctr">
              <a:lnSpc>
                <a:spcPct val="125000"/>
              </a:lnSpc>
            </a:pPr>
            <a:r>
              <a:rPr sz="1800" b="1" i="0">
                <a:solidFill>
                  <a:srgbClr val="FFFFFF"/>
                </a:solidFill>
                <a:latin typeface="Source Han Sans SC"/>
              </a:rPr>
              <a:t>5</a:t>
            </a:r>
          </a:p>
        </p:txBody>
      </p:sp>
      <p:sp>
        <p:nvSpPr>
          <p:cNvPr id="45" name="TextBox 44"/>
          <p:cNvSpPr txBox="1"/>
          <p:nvPr/>
        </p:nvSpPr>
        <p:spPr>
          <a:xfrm>
            <a:off x="8766576" y="2970000"/>
            <a:ext cx="1204343" cy="223200"/>
          </a:xfrm>
          <a:prstGeom prst="rect">
            <a:avLst/>
          </a:prstGeom>
          <a:noFill/>
        </p:spPr>
        <p:txBody>
          <a:bodyPr wrap="square" anchor="t" lIns="0" rIns="0" tIns="0" bIns="0">
            <a:spAutoFit/>
          </a:bodyPr>
          <a:lstStyle/>
          <a:p>
            <a:pPr algn="ctr">
              <a:lnSpc>
                <a:spcPct val="125000"/>
              </a:lnSpc>
            </a:pPr>
            <a:r>
              <a:rPr sz="1450" b="1" i="0">
                <a:solidFill>
                  <a:srgbClr val="0E3F8C"/>
                </a:solidFill>
                <a:latin typeface="Source Han Sans SC"/>
              </a:rPr>
              <a:t>Update &amp; Zero</a:t>
            </a:r>
          </a:p>
        </p:txBody>
      </p:sp>
      <p:sp>
        <p:nvSpPr>
          <p:cNvPr id="46" name="TextBox 45"/>
          <p:cNvSpPr txBox="1"/>
          <p:nvPr/>
        </p:nvSpPr>
        <p:spPr>
          <a:xfrm>
            <a:off x="8766576" y="3196800"/>
            <a:ext cx="1204343" cy="144000"/>
          </a:xfrm>
          <a:prstGeom prst="rect">
            <a:avLst/>
          </a:prstGeom>
          <a:noFill/>
        </p:spPr>
        <p:txBody>
          <a:bodyPr wrap="square" anchor="t" lIns="0" rIns="0" tIns="0" bIns="0">
            <a:spAutoFit/>
          </a:bodyPr>
          <a:lstStyle/>
          <a:p>
            <a:pPr algn="ctr">
              <a:lnSpc>
                <a:spcPct val="125000"/>
              </a:lnSpc>
            </a:pPr>
            <a:r>
              <a:rPr sz="1050" b="0" i="0">
                <a:solidFill>
                  <a:srgbClr val="3D7BD9"/>
                </a:solidFill>
                <a:latin typeface="Source Han Sans SC"/>
              </a:rPr>
              <a:t>Update</a:t>
            </a:r>
          </a:p>
        </p:txBody>
      </p:sp>
      <p:sp>
        <p:nvSpPr>
          <p:cNvPr id="47" name="TextBox 46"/>
          <p:cNvSpPr txBox="1"/>
          <p:nvPr/>
        </p:nvSpPr>
        <p:spPr>
          <a:xfrm>
            <a:off x="8766576" y="3384000"/>
            <a:ext cx="1204343" cy="540000"/>
          </a:xfrm>
          <a:prstGeom prst="rect">
            <a:avLst/>
          </a:prstGeom>
          <a:noFill/>
        </p:spPr>
        <p:txBody>
          <a:bodyPr wrap="square" anchor="t" lIns="0" rIns="0" tIns="0" bIns="0">
            <a:spAutoFit/>
          </a:bodyPr>
          <a:lstStyle/>
          <a:p>
            <a:pPr algn="ctr">
              <a:lnSpc>
                <a:spcPct val="135000"/>
              </a:lnSpc>
            </a:pPr>
            <a:r>
              <a:rPr sz="1150" b="0" i="0">
                <a:solidFill>
                  <a:srgbClr val="6B7280"/>
                </a:solidFill>
                <a:latin typeface="Source Han Sans SC"/>
              </a:rPr>
              <a:t>Edit the parameters under
no_grad, then zero the grads</a:t>
            </a:r>
          </a:p>
        </p:txBody>
      </p:sp>
      <p:sp>
        <p:nvSpPr>
          <p:cNvPr id="48" name="TextBox 47"/>
          <p:cNvSpPr txBox="1"/>
          <p:nvPr/>
        </p:nvSpPr>
        <p:spPr>
          <a:xfrm>
            <a:off x="799200" y="4302000"/>
            <a:ext cx="10593719" cy="576000"/>
          </a:xfrm>
          <a:prstGeom prst="rect">
            <a:avLst/>
          </a:prstGeom>
          <a:noFill/>
        </p:spPr>
        <p:txBody>
          <a:bodyPr wrap="square" anchor="t" lIns="0" rIns="0" tIns="0" bIns="0">
            <a:spAutoFit/>
          </a:bodyPr>
          <a:lstStyle/>
          <a:p>
            <a:pPr algn="l">
              <a:lnSpc>
                <a:spcPct val="140000"/>
              </a:lnSpc>
            </a:pPr>
            <a:r>
              <a:rPr sz="1250" b="0" i="0">
                <a:solidFill>
                  <a:srgbClr val="1F2937"/>
                </a:solidFill>
                <a:latin typeface="Source Han Sans SC"/>
              </a:rPr>
              <a:t>Step 5 is two moves in a fixed order: update, then zero. The update must sit inside with torch.no_grad(): otherwise PyTorch records the update itself into the graph and training slows down as it goes.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Gradients Wrong? Work Down This Table</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Five symptoms, five causes, five fixes</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1 · Week 2</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16 / 30</a:t>
            </a:r>
          </a:p>
        </p:txBody>
      </p:sp>
      <p:graphicFrame>
        <p:nvGraphicFramePr>
          <p:cNvPr id="10" name="Table 9"/>
          <p:cNvGraphicFramePr>
            <a:graphicFrameLocks noGrp="1"/>
          </p:cNvGraphicFramePr>
          <p:nvPr/>
        </p:nvGraphicFramePr>
        <p:xfrm>
          <a:off x="799200" y="1152000"/>
          <a:ext cx="10584000" cy="3240000"/>
        </p:xfrm>
        <a:graphic>
          <a:graphicData uri="http://schemas.openxmlformats.org/drawingml/2006/table">
            <a:tbl>
              <a:tblPr firstRow="1" bandRow="1">
                <a:tableStyleId>{5C22544A-7EE6-4342-B048-85BDC9FD1C3A}</a:tableStyleId>
              </a:tblPr>
              <a:tblGrid>
                <a:gridCol w="2664000"/>
                <a:gridCol w="3024000"/>
                <a:gridCol w="2376000"/>
                <a:gridCol w="2520000"/>
              </a:tblGrid>
              <a:tr h="540000">
                <a:tc>
                  <a:txBody>
                    <a:bodyPr/>
                    <a:lstStyle/>
                    <a:p>
                      <a:r>
                        <a:rPr sz="1250" b="1">
                          <a:solidFill>
                            <a:srgbClr val="FFFFFF"/>
                          </a:solidFill>
                          <a:latin typeface="Source Han Sans SC"/>
                        </a:rPr>
                        <a:t>Symptom</a:t>
                      </a:r>
                    </a:p>
                  </a:txBody>
                  <a:tcPr>
                    <a:solidFill>
                      <a:srgbClr val="0E3F8C"/>
                    </a:solidFill>
                  </a:tcPr>
                </a:tc>
                <a:tc>
                  <a:txBody>
                    <a:bodyPr/>
                    <a:lstStyle/>
                    <a:p>
                      <a:r>
                        <a:rPr sz="1250" b="1">
                          <a:solidFill>
                            <a:srgbClr val="FFFFFF"/>
                          </a:solidFill>
                          <a:latin typeface="Source Han Sans SC"/>
                        </a:rPr>
                        <a:t>Most Likely Cause</a:t>
                      </a:r>
                    </a:p>
                  </a:txBody>
                  <a:tcPr>
                    <a:solidFill>
                      <a:srgbClr val="0E3F8C"/>
                    </a:solidFill>
                  </a:tcPr>
                </a:tc>
                <a:tc>
                  <a:txBody>
                    <a:bodyPr/>
                    <a:lstStyle/>
                    <a:p>
                      <a:r>
                        <a:rPr sz="1250" b="1">
                          <a:solidFill>
                            <a:srgbClr val="FFFFFF"/>
                          </a:solidFill>
                          <a:latin typeface="Source Han Sans SC"/>
                        </a:rPr>
                        <a:t>One-Line Diagnosis</a:t>
                      </a:r>
                    </a:p>
                  </a:txBody>
                  <a:tcPr>
                    <a:solidFill>
                      <a:srgbClr val="0E3F8C"/>
                    </a:solidFill>
                  </a:tcPr>
                </a:tc>
                <a:tc>
                  <a:txBody>
                    <a:bodyPr/>
                    <a:lstStyle/>
                    <a:p>
                      <a:r>
                        <a:rPr sz="1250" b="1">
                          <a:solidFill>
                            <a:srgbClr val="FFFFFF"/>
                          </a:solidFill>
                          <a:latin typeface="Source Han Sans SC"/>
                        </a:rPr>
                        <a:t>Fix</a:t>
                      </a:r>
                    </a:p>
                  </a:txBody>
                  <a:tcPr>
                    <a:solidFill>
                      <a:srgbClr val="0E3F8C"/>
                    </a:solidFill>
                  </a:tcPr>
                </a:tc>
              </a:tr>
              <a:tr h="540000">
                <a:tc>
                  <a:txBody>
                    <a:bodyPr/>
                    <a:lstStyle/>
                    <a:p>
                      <a:r>
                        <a:rPr sz="1150" b="1">
                          <a:solidFill>
                            <a:srgbClr val="1F2937"/>
                          </a:solidFill>
                          <a:latin typeface="Source Han Sans SC"/>
                        </a:rPr>
                        <a:t>Loss oscillates, never drops</a:t>
                      </a:r>
                    </a:p>
                  </a:txBody>
                  <a:tcPr>
                    <a:solidFill>
                      <a:srgbClr val="FFFFFF"/>
                    </a:solidFill>
                  </a:tcPr>
                </a:tc>
                <a:tc>
                  <a:txBody>
                    <a:bodyPr/>
                    <a:lstStyle/>
                    <a:p>
                      <a:r>
                        <a:rPr sz="1150">
                          <a:solidFill>
                            <a:srgbClr val="1F2937"/>
                          </a:solidFill>
                          <a:latin typeface="Source Han Sans SC"/>
                        </a:rPr>
                        <a:t>Gradients are never zeroed and accumulate</a:t>
                      </a:r>
                    </a:p>
                  </a:txBody>
                  <a:tcPr>
                    <a:solidFill>
                      <a:srgbClr val="FFFFFF"/>
                    </a:solidFill>
                  </a:tcPr>
                </a:tc>
                <a:tc>
                  <a:txBody>
                    <a:bodyPr/>
                    <a:lstStyle/>
                    <a:p>
                      <a:r>
                        <a:rPr sz="1150">
                          <a:solidFill>
                            <a:srgbClr val="1F2937"/>
                          </a:solidFill>
                          <a:latin typeface="Source Han Sans SC"/>
                        </a:rPr>
                        <a:t>print(w.grad) on two consecutive steps</a:t>
                      </a:r>
                    </a:p>
                  </a:txBody>
                  <a:tcPr>
                    <a:solidFill>
                      <a:srgbClr val="FFFFFF"/>
                    </a:solidFill>
                  </a:tcPr>
                </a:tc>
                <a:tc>
                  <a:txBody>
                    <a:bodyPr/>
                    <a:lstStyle/>
                    <a:p>
                      <a:r>
                        <a:rPr sz="1150">
                          <a:solidFill>
                            <a:srgbClr val="1F2937"/>
                          </a:solidFill>
                          <a:latin typeface="Source Han Sans SC"/>
                        </a:rPr>
                        <a:t>Call w.grad.zero_() right after the update</a:t>
                      </a:r>
                    </a:p>
                  </a:txBody>
                  <a:tcPr>
                    <a:solidFill>
                      <a:srgbClr val="FFFFFF"/>
                    </a:solidFill>
                  </a:tcPr>
                </a:tc>
              </a:tr>
              <a:tr h="540000">
                <a:tc>
                  <a:txBody>
                    <a:bodyPr/>
                    <a:lstStyle/>
                    <a:p>
                      <a:r>
                        <a:rPr sz="1150" b="1">
                          <a:solidFill>
                            <a:srgbClr val="1F2937"/>
                          </a:solidFill>
                          <a:latin typeface="Source Han Sans SC"/>
                        </a:rPr>
                        <a:t>w.grad stays None</a:t>
                      </a:r>
                    </a:p>
                  </a:txBody>
                  <a:tcPr>
                    <a:solidFill>
                      <a:srgbClr val="F0F5FC"/>
                    </a:solidFill>
                  </a:tcPr>
                </a:tc>
                <a:tc>
                  <a:txBody>
                    <a:bodyPr/>
                    <a:lstStyle/>
                    <a:p>
                      <a:r>
                        <a:rPr sz="1150">
                          <a:solidFill>
                            <a:srgbClr val="1F2937"/>
                          </a:solidFill>
                          <a:latin typeface="Source Han Sans SC"/>
                        </a:rPr>
                        <a:t>It is not a leaf, or requires_grad=False</a:t>
                      </a:r>
                    </a:p>
                  </a:txBody>
                  <a:tcPr>
                    <a:solidFill>
                      <a:srgbClr val="F0F5FC"/>
                    </a:solidFill>
                  </a:tcPr>
                </a:tc>
                <a:tc>
                  <a:txBody>
                    <a:bodyPr/>
                    <a:lstStyle/>
                    <a:p>
                      <a:r>
                        <a:rPr sz="1150">
                          <a:solidFill>
                            <a:srgbClr val="1F2937"/>
                          </a:solidFill>
                          <a:latin typeface="Source Han Sans SC"/>
                        </a:rPr>
                        <a:t>print(w.is_leaf, w.requires_grad)</a:t>
                      </a:r>
                    </a:p>
                  </a:txBody>
                  <a:tcPr>
                    <a:solidFill>
                      <a:srgbClr val="F0F5FC"/>
                    </a:solidFill>
                  </a:tcPr>
                </a:tc>
                <a:tc>
                  <a:txBody>
                    <a:bodyPr/>
                    <a:lstStyle/>
                    <a:p>
                      <a:r>
                        <a:rPr sz="1150">
                          <a:solidFill>
                            <a:srgbClr val="1F2937"/>
                          </a:solidFill>
                          <a:latin typeface="Source Han Sans SC"/>
                        </a:rPr>
                        <a:t>Set requires_grad=True on leaves only</a:t>
                      </a:r>
                    </a:p>
                  </a:txBody>
                  <a:tcPr>
                    <a:solidFill>
                      <a:srgbClr val="F0F5FC"/>
                    </a:solidFill>
                  </a:tcPr>
                </a:tc>
              </a:tr>
              <a:tr h="540000">
                <a:tc>
                  <a:txBody>
                    <a:bodyPr/>
                    <a:lstStyle/>
                    <a:p>
                      <a:r>
                        <a:rPr sz="1150" b="1">
                          <a:solidFill>
                            <a:srgbClr val="1F2937"/>
                          </a:solidFill>
                          <a:latin typeface="Source Han Sans SC"/>
                        </a:rPr>
                        <a:t>In-place operation error on the update line</a:t>
                      </a:r>
                    </a:p>
                  </a:txBody>
                  <a:tcPr>
                    <a:solidFill>
                      <a:srgbClr val="FFFFFF"/>
                    </a:solidFill>
                  </a:tcPr>
                </a:tc>
                <a:tc>
                  <a:txBody>
                    <a:bodyPr/>
                    <a:lstStyle/>
                    <a:p>
                      <a:r>
                        <a:rPr sz="1150">
                          <a:solidFill>
                            <a:srgbClr val="1F2937"/>
                          </a:solidFill>
                          <a:latin typeface="Source Han Sans SC"/>
                        </a:rPr>
                        <a:t>The update sits inside the graph, or an intermediate was edited in place</a:t>
                      </a:r>
                    </a:p>
                  </a:txBody>
                  <a:tcPr>
                    <a:solidFill>
                      <a:srgbClr val="FFFFFF"/>
                    </a:solidFill>
                  </a:tcPr>
                </a:tc>
                <a:tc>
                  <a:txBody>
                    <a:bodyPr/>
                    <a:lstStyle/>
                    <a:p>
                      <a:r>
                        <a:rPr sz="1150">
                          <a:solidFill>
                            <a:srgbClr val="1F2937"/>
                          </a:solidFill>
                          <a:latin typeface="Source Han Sans SC"/>
                        </a:rPr>
                        <a:t>Check whether the error points at the -= line</a:t>
                      </a:r>
                    </a:p>
                  </a:txBody>
                  <a:tcPr>
                    <a:solidFill>
                      <a:srgbClr val="FFFFFF"/>
                    </a:solidFill>
                  </a:tcPr>
                </a:tc>
                <a:tc>
                  <a:txBody>
                    <a:bodyPr/>
                    <a:lstStyle/>
                    <a:p>
                      <a:r>
                        <a:rPr sz="1150">
                          <a:solidFill>
                            <a:srgbClr val="1F2937"/>
                          </a:solidFill>
                          <a:latin typeface="Source Han Sans SC"/>
                        </a:rPr>
                        <a:t>Wrap the update in with torch.no_grad():</a:t>
                      </a:r>
                    </a:p>
                  </a:txBody>
                  <a:tcPr>
                    <a:solidFill>
                      <a:srgbClr val="FFFFFF"/>
                    </a:solidFill>
                  </a:tcPr>
                </a:tc>
              </a:tr>
              <a:tr h="540000">
                <a:tc>
                  <a:txBody>
                    <a:bodyPr/>
                    <a:lstStyle/>
                    <a:p>
                      <a:r>
                        <a:rPr sz="1150" b="1">
                          <a:solidFill>
                            <a:srgbClr val="1F2937"/>
                          </a:solidFill>
                          <a:latin typeface="Source Han Sans SC"/>
                        </a:rPr>
                        <a:t>Loss grows until it becomes nan</a:t>
                      </a:r>
                    </a:p>
                  </a:txBody>
                  <a:tcPr>
                    <a:solidFill>
                      <a:srgbClr val="F0F5FC"/>
                    </a:solidFill>
                  </a:tcPr>
                </a:tc>
                <a:tc>
                  <a:txBody>
                    <a:bodyPr/>
                    <a:lstStyle/>
                    <a:p>
                      <a:r>
                        <a:rPr sz="1150">
                          <a:solidFill>
                            <a:srgbClr val="1F2937"/>
                          </a:solidFill>
                          <a:latin typeface="Source Han Sans SC"/>
                        </a:rPr>
                        <a:t>Learning rate too large, or grads not zeroed</a:t>
                      </a:r>
                    </a:p>
                  </a:txBody>
                  <a:tcPr>
                    <a:solidFill>
                      <a:srgbClr val="F0F5FC"/>
                    </a:solidFill>
                  </a:tcPr>
                </a:tc>
                <a:tc>
                  <a:txBody>
                    <a:bodyPr/>
                    <a:lstStyle/>
                    <a:p>
                      <a:r>
                        <a:rPr sz="1150">
                          <a:solidFill>
                            <a:srgbClr val="1F2937"/>
                          </a:solidFill>
                          <a:latin typeface="Source Han Sans SC"/>
                        </a:rPr>
                        <a:t>Print the last five values of history</a:t>
                      </a:r>
                    </a:p>
                  </a:txBody>
                  <a:tcPr>
                    <a:solidFill>
                      <a:srgbClr val="F0F5FC"/>
                    </a:solidFill>
                  </a:tcPr>
                </a:tc>
                <a:tc>
                  <a:txBody>
                    <a:bodyPr/>
                    <a:lstStyle/>
                    <a:p>
                      <a:r>
                        <a:rPr sz="1150">
                          <a:solidFill>
                            <a:srgbClr val="1F2937"/>
                          </a:solidFill>
                          <a:latin typeface="Source Han Sans SC"/>
                        </a:rPr>
                        <a:t>Halve and halve the lr, and confirm zeroing</a:t>
                      </a:r>
                    </a:p>
                  </a:txBody>
                  <a:tcPr>
                    <a:solidFill>
                      <a:srgbClr val="F0F5FC"/>
                    </a:solidFill>
                  </a:tcPr>
                </a:tc>
              </a:tr>
              <a:tr h="540000">
                <a:tc>
                  <a:txBody>
                    <a:bodyPr/>
                    <a:lstStyle/>
                    <a:p>
                      <a:r>
                        <a:rPr sz="1150" b="1">
                          <a:solidFill>
                            <a:srgbClr val="1F2937"/>
                          </a:solidFill>
                          <a:latin typeface="Source Han Sans SC"/>
                        </a:rPr>
                        <a:t>The shape of w grew unexpectedly</a:t>
                      </a:r>
                    </a:p>
                  </a:txBody>
                  <a:tcPr>
                    <a:solidFill>
                      <a:srgbClr val="FFFFFF"/>
                    </a:solidFill>
                  </a:tcPr>
                </a:tc>
                <a:tc>
                  <a:txBody>
                    <a:bodyPr/>
                    <a:lstStyle/>
                    <a:p>
                      <a:r>
                        <a:rPr sz="1150">
                          <a:solidFill>
                            <a:srgbClr val="1F2937"/>
                          </a:solidFill>
                          <a:latin typeface="Source Han Sans SC"/>
                        </a:rPr>
                        <a:t>Broadcasting turned (n,) and (n,1) into (n,n)</a:t>
                      </a:r>
                    </a:p>
                  </a:txBody>
                  <a:tcPr>
                    <a:solidFill>
                      <a:srgbClr val="FFFFFF"/>
                    </a:solidFill>
                  </a:tcPr>
                </a:tc>
                <a:tc>
                  <a:txBody>
                    <a:bodyPr/>
                    <a:lstStyle/>
                    <a:p>
                      <a:r>
                        <a:rPr sz="1150">
                          <a:solidFill>
                            <a:srgbClr val="1F2937"/>
                          </a:solidFill>
                          <a:latin typeface="Source Han Sans SC"/>
                        </a:rPr>
                        <a:t>print(w.shape) against the initial shape</a:t>
                      </a:r>
                    </a:p>
                  </a:txBody>
                  <a:tcPr>
                    <a:solidFill>
                      <a:srgbClr val="FFFFFF"/>
                    </a:solidFill>
                  </a:tcPr>
                </a:tc>
                <a:tc>
                  <a:txBody>
                    <a:bodyPr/>
                    <a:lstStyle/>
                    <a:p>
                      <a:r>
                        <a:rPr sz="1150">
                          <a:solidFill>
                            <a:srgbClr val="1F2937"/>
                          </a:solidFill>
                          <a:latin typeface="Source Han Sans SC"/>
                        </a:rPr>
                        <a:t>Make data and targets reshape(-1, 1)</a:t>
                      </a:r>
                    </a:p>
                  </a:txBody>
                  <a:tcPr>
                    <a:solidFill>
                      <a:srgbClr val="FFFFFF"/>
                    </a:solidFill>
                  </a:tcPr>
                </a:tc>
              </a:tr>
            </a:tbl>
          </a:graphicData>
        </a:graphic>
      </p:graphicFrame>
      <p:sp>
        <p:nvSpPr>
          <p:cNvPr id="11" name="TextBox 10"/>
          <p:cNvSpPr txBox="1"/>
          <p:nvPr/>
        </p:nvSpPr>
        <p:spPr>
          <a:xfrm>
            <a:off x="799200" y="4536000"/>
            <a:ext cx="10593719" cy="432000"/>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Rows 1 and 3 are the two most common training bugs in this course, and both come from autograd's behaviour rather than from the model.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04</a:t>
            </a:r>
          </a:p>
        </p:txBody>
      </p:sp>
      <p:sp>
        <p:nvSpPr>
          <p:cNvPr id="5" name="Rectangle 4"/>
          <p:cNvSpPr/>
          <p:nvPr/>
        </p:nvSpPr>
        <p:spPr>
          <a:xfrm>
            <a:off x="856800" y="1047600"/>
            <a:ext cx="1238400" cy="12384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0800" y="1314000"/>
            <a:ext cx="601200" cy="712800"/>
          </a:xfrm>
          <a:prstGeom prst="rect">
            <a:avLst/>
          </a:prstGeom>
          <a:noFill/>
        </p:spPr>
        <p:txBody>
          <a:bodyPr wrap="square" anchor="t" lIns="0" rIns="0" tIns="0" bIns="0">
            <a:spAutoFit/>
          </a:bodyPr>
          <a:lstStyle/>
          <a:p>
            <a:pPr algn="ctr">
              <a:lnSpc>
                <a:spcPct val="125000"/>
              </a:lnSpc>
            </a:pPr>
            <a:r>
              <a:rPr sz="3200" b="1" i="0">
                <a:solidFill>
                  <a:srgbClr val="FFFFFF"/>
                </a:solidFill>
                <a:latin typeface="Source Han Sans SC"/>
              </a:rPr>
              <a:t>04</a:t>
            </a:r>
          </a:p>
        </p:txBody>
      </p:sp>
      <p:sp>
        <p:nvSpPr>
          <p:cNvPr id="7" name="TextBox 6"/>
          <p:cNvSpPr txBox="1"/>
          <p:nvPr/>
        </p:nvSpPr>
        <p:spPr>
          <a:xfrm>
            <a:off x="2379600" y="1105200"/>
            <a:ext cx="5040000" cy="503999"/>
          </a:xfrm>
          <a:prstGeom prst="rect">
            <a:avLst/>
          </a:prstGeom>
          <a:noFill/>
        </p:spPr>
        <p:txBody>
          <a:bodyPr wrap="square" anchor="t" lIns="0" rIns="0" tIns="0" bIns="0">
            <a:spAutoFit/>
          </a:bodyPr>
          <a:lstStyle/>
          <a:p>
            <a:pPr algn="l">
              <a:lnSpc>
                <a:spcPct val="125000"/>
              </a:lnSpc>
            </a:pPr>
            <a:r>
              <a:rPr sz="3000" b="1" i="0">
                <a:solidFill>
                  <a:srgbClr val="0E3F8C"/>
                </a:solidFill>
                <a:latin typeface="Source Han Sans SC"/>
              </a:rPr>
              <a:t>Gradient Descent with Tensors</a:t>
            </a:r>
          </a:p>
        </p:txBody>
      </p:sp>
      <p:sp>
        <p:nvSpPr>
          <p:cNvPr id="8" name="TextBox 7"/>
          <p:cNvSpPr txBox="1"/>
          <p:nvPr/>
        </p:nvSpPr>
        <p:spPr>
          <a:xfrm>
            <a:off x="2379600" y="1666800"/>
            <a:ext cx="5040000" cy="306000"/>
          </a:xfrm>
          <a:prstGeom prst="rect">
            <a:avLst/>
          </a:prstGeom>
          <a:noFill/>
        </p:spPr>
        <p:txBody>
          <a:bodyPr wrap="square" anchor="t" lIns="0" rIns="0" tIns="0" bIns="0">
            <a:spAutoFit/>
          </a:bodyPr>
          <a:lstStyle/>
          <a:p>
            <a:pPr algn="l">
              <a:lnSpc>
                <a:spcPct val="125000"/>
              </a:lnSpc>
            </a:pPr>
            <a:r>
              <a:rPr sz="1500" b="0" i="0">
                <a:solidFill>
                  <a:srgbClr val="3D7BD9"/>
                </a:solidFill>
                <a:latin typeface="Source Han Sans SC"/>
              </a:rPr>
              <a:t>Gradient Descent</a:t>
            </a:r>
          </a:p>
        </p:txBody>
      </p:sp>
      <p:sp>
        <p:nvSpPr>
          <p:cNvPr id="9" name="TextBox 8"/>
          <p:cNvSpPr txBox="1"/>
          <p:nvPr/>
        </p:nvSpPr>
        <p:spPr>
          <a:xfrm>
            <a:off x="799200" y="2736000"/>
            <a:ext cx="8640000" cy="1620000"/>
          </a:xfrm>
          <a:prstGeom prst="rect">
            <a:avLst/>
          </a:prstGeom>
          <a:noFill/>
        </p:spPr>
        <p:txBody>
          <a:bodyPr wrap="square" anchor="t" lIns="0" rIns="0" tIns="0" bIns="0">
            <a:spAutoFit/>
          </a:bodyPr>
          <a:lstStyle/>
          <a:p>
            <a:pPr algn="l">
              <a:lnSpc>
                <a:spcPct val="150000"/>
              </a:lnSpc>
            </a:pPr>
            <a:r>
              <a:rPr sz="1500" b="0" i="0">
                <a:solidFill>
                  <a:srgbClr val="1F2937"/>
                </a:solidFill>
                <a:latin typeface="Source Han Sans SC"/>
              </a:rPr>
              <a:t>Put the first three parts together: tensors hold the data, shapes line up, autograd supplies the gradient, and we write the descent step ourselves.
The code below is the entire skeleton of Lab 1.</a:t>
            </a:r>
          </a:p>
        </p:txBody>
      </p:sp>
      <p:sp>
        <p:nvSpPr>
          <p:cNvPr id="10" name="Rectangle 9"/>
          <p:cNvSpPr/>
          <p:nvPr/>
        </p:nvSpPr>
        <p:spPr>
          <a:xfrm>
            <a:off x="79920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800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The Loss</a:t>
            </a:r>
          </a:p>
        </p:txBody>
      </p:sp>
      <p:sp>
        <p:nvSpPr>
          <p:cNvPr id="13" name="TextBox 12"/>
          <p:cNvSpPr txBox="1"/>
          <p:nvPr/>
        </p:nvSpPr>
        <p:spPr>
          <a:xfrm>
            <a:off x="100800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MSE turns error into one number</a:t>
            </a:r>
          </a:p>
        </p:txBody>
      </p:sp>
      <p:sp>
        <p:nvSpPr>
          <p:cNvPr id="14" name="Rectangle 13"/>
          <p:cNvSpPr/>
          <p:nvPr/>
        </p:nvSpPr>
        <p:spPr>
          <a:xfrm>
            <a:off x="440604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604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1484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The Update</a:t>
            </a:r>
          </a:p>
        </p:txBody>
      </p:sp>
      <p:sp>
        <p:nvSpPr>
          <p:cNvPr id="17" name="TextBox 16"/>
          <p:cNvSpPr txBox="1"/>
          <p:nvPr/>
        </p:nvSpPr>
        <p:spPr>
          <a:xfrm>
            <a:off x="461484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w -= lr * w.grad</a:t>
            </a:r>
          </a:p>
        </p:txBody>
      </p:sp>
      <p:sp>
        <p:nvSpPr>
          <p:cNvPr id="18" name="Rectangle 17"/>
          <p:cNvSpPr/>
          <p:nvPr/>
        </p:nvSpPr>
        <p:spPr>
          <a:xfrm>
            <a:off x="8012879"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12879"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21679"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Reproducibility</a:t>
            </a:r>
          </a:p>
        </p:txBody>
      </p:sp>
      <p:sp>
        <p:nvSpPr>
          <p:cNvPr id="21" name="TextBox 20"/>
          <p:cNvSpPr txBox="1"/>
          <p:nvPr/>
        </p:nvSpPr>
        <p:spPr>
          <a:xfrm>
            <a:off x="8221679"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Fix the seed so others get the same curve</a:t>
            </a:r>
          </a:p>
        </p:txBody>
      </p:sp>
      <p:sp>
        <p:nvSpPr>
          <p:cNvPr id="22" name="TextBox 21"/>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23" name="TextBox 22"/>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Linear Regression with Tensors and Autograd Only</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No nn.Linear and no torch.optim inside this loop</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1 · Week 2</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18 / 30</a:t>
            </a:r>
          </a:p>
        </p:txBody>
      </p:sp>
      <p:sp>
        <p:nvSpPr>
          <p:cNvPr id="10" name="Rectangle 9"/>
          <p:cNvSpPr/>
          <p:nvPr/>
        </p:nvSpPr>
        <p:spPr>
          <a:xfrm>
            <a:off x="799200" y="1278000"/>
            <a:ext cx="10593719" cy="406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1278000"/>
            <a:ext cx="1059371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1200" y="1364400"/>
            <a:ext cx="951371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gd_by_hand.py</a:t>
            </a:r>
          </a:p>
        </p:txBody>
      </p:sp>
      <p:sp>
        <p:nvSpPr>
          <p:cNvPr id="13" name="TextBox 12"/>
          <p:cNvSpPr txBox="1"/>
          <p:nvPr/>
        </p:nvSpPr>
        <p:spPr>
          <a:xfrm>
            <a:off x="997200" y="1691999"/>
            <a:ext cx="10197719" cy="3528000"/>
          </a:xfrm>
          <a:prstGeom prst="rect">
            <a:avLst/>
          </a:prstGeom>
          <a:noFill/>
        </p:spPr>
        <p:txBody>
          <a:bodyPr wrap="square" anchor="t" lIns="0" rIns="0" tIns="0" bIns="0">
            <a:spAutoFit/>
          </a:bodyPr>
          <a:lstStyle/>
          <a:p>
            <a:pPr algn="l">
              <a:lnSpc>
                <a:spcPct val="128000"/>
              </a:lnSpc>
            </a:pPr>
            <a:r>
              <a:rPr sz="1050" b="0" i="0">
                <a:solidFill>
                  <a:srgbClr val="E2E8F0"/>
                </a:solidFill>
                <a:latin typeface="Menlo"/>
              </a:rPr>
              <a:t>import torch</a:t>
            </a:r>
          </a:p>
          <a:p>
            <a:pPr algn="l">
              <a:lnSpc>
                <a:spcPct val="128000"/>
              </a:lnSpc>
            </a:pPr>
            <a:r>
              <a:rPr sz="1050" b="0" i="0">
                <a:solidFill>
                  <a:srgbClr val="E2E8F0"/>
                </a:solidFill>
                <a:latin typeface="Menlo"/>
              </a:rPr>
              <a:t>torch.manual_seed(42)                  # fixed seed: reproducible</a:t>
            </a:r>
          </a:p>
          <a:p>
            <a:pPr algn="l">
              <a:lnSpc>
                <a:spcPct val="128000"/>
              </a:lnSpc>
            </a:pPr>
            <a:r>
              <a:rPr sz="1050" b="0" i="0">
                <a:solidFill>
                  <a:srgbClr val="E2E8F0"/>
                </a:solidFill>
                <a:latin typeface="Menlo"/>
              </a:rPr>
              <a:t/>
            </a:r>
          </a:p>
          <a:p>
            <a:pPr algn="l">
              <a:lnSpc>
                <a:spcPct val="128000"/>
              </a:lnSpc>
            </a:pPr>
            <a:r>
              <a:rPr sz="1050" b="0" i="0">
                <a:solidFill>
                  <a:srgbClr val="E2E8F0"/>
                </a:solidFill>
                <a:latin typeface="Menlo"/>
              </a:rPr>
              <a:t>X = torch.randn(100, 1)                # (100, 1)</a:t>
            </a:r>
          </a:p>
          <a:p>
            <a:pPr algn="l">
              <a:lnSpc>
                <a:spcPct val="128000"/>
              </a:lnSpc>
            </a:pPr>
            <a:r>
              <a:rPr sz="1050" b="0" i="0">
                <a:solidFill>
                  <a:srgbClr val="E2E8F0"/>
                </a:solidFill>
                <a:latin typeface="Menlo"/>
              </a:rPr>
              <a:t>y = 3.0 * X + 2.0 + 0.1 * torch.randn(100, 1)</a:t>
            </a:r>
          </a:p>
          <a:p>
            <a:pPr algn="l">
              <a:lnSpc>
                <a:spcPct val="128000"/>
              </a:lnSpc>
            </a:pPr>
            <a:r>
              <a:rPr sz="1050" b="0" i="0">
                <a:solidFill>
                  <a:srgbClr val="E2E8F0"/>
                </a:solidFill>
                <a:latin typeface="Menlo"/>
              </a:rPr>
              <a:t>w = torch.zeros(1, 1, requires_grad=True)</a:t>
            </a:r>
          </a:p>
          <a:p>
            <a:pPr algn="l">
              <a:lnSpc>
                <a:spcPct val="128000"/>
              </a:lnSpc>
            </a:pPr>
            <a:r>
              <a:rPr sz="1050" b="0" i="0">
                <a:solidFill>
                  <a:srgbClr val="E2E8F0"/>
                </a:solidFill>
                <a:latin typeface="Menlo"/>
              </a:rPr>
              <a:t>b = torch.zeros(1, requires_grad=True)</a:t>
            </a:r>
          </a:p>
          <a:p>
            <a:pPr algn="l">
              <a:lnSpc>
                <a:spcPct val="128000"/>
              </a:lnSpc>
            </a:pPr>
            <a:r>
              <a:rPr sz="1050" b="0" i="0">
                <a:solidFill>
                  <a:srgbClr val="E2E8F0"/>
                </a:solidFill>
                <a:latin typeface="Menlo"/>
              </a:rPr>
              <a:t>lr, history = 0.1, []</a:t>
            </a:r>
          </a:p>
          <a:p>
            <a:pPr algn="l">
              <a:lnSpc>
                <a:spcPct val="128000"/>
              </a:lnSpc>
            </a:pPr>
            <a:r>
              <a:rPr sz="1050" b="0" i="0">
                <a:solidFill>
                  <a:srgbClr val="E2E8F0"/>
                </a:solidFill>
                <a:latin typeface="Menlo"/>
              </a:rPr>
              <a:t/>
            </a:r>
          </a:p>
          <a:p>
            <a:pPr algn="l">
              <a:lnSpc>
                <a:spcPct val="128000"/>
              </a:lnSpc>
            </a:pPr>
            <a:r>
              <a:rPr sz="1050" b="0" i="0">
                <a:solidFill>
                  <a:srgbClr val="E2E8F0"/>
                </a:solidFill>
                <a:latin typeface="Menlo"/>
              </a:rPr>
              <a:t>for step in range(200):</a:t>
            </a:r>
          </a:p>
          <a:p>
            <a:pPr algn="l">
              <a:lnSpc>
                <a:spcPct val="128000"/>
              </a:lnSpc>
            </a:pPr>
            <a:r>
              <a:rPr sz="1050" b="0" i="0">
                <a:solidFill>
                  <a:srgbClr val="E2E8F0"/>
                </a:solidFill>
                <a:latin typeface="Menlo"/>
              </a:rPr>
              <a:t>    y_hat = X @ w + b                  # forward: (100,1)</a:t>
            </a:r>
          </a:p>
          <a:p>
            <a:pPr algn="l">
              <a:lnSpc>
                <a:spcPct val="128000"/>
              </a:lnSpc>
            </a:pPr>
            <a:r>
              <a:rPr sz="1050" b="0" i="0">
                <a:solidFill>
                  <a:srgbClr val="E2E8F0"/>
                </a:solidFill>
                <a:latin typeface="Menlo"/>
              </a:rPr>
              <a:t>    loss = ((y_hat - y) ** 2).mean()   # MSE</a:t>
            </a:r>
          </a:p>
          <a:p>
            <a:pPr algn="l">
              <a:lnSpc>
                <a:spcPct val="128000"/>
              </a:lnSpc>
            </a:pPr>
            <a:r>
              <a:rPr sz="1050" b="0" i="0">
                <a:solidFill>
                  <a:srgbClr val="E2E8F0"/>
                </a:solidFill>
                <a:latin typeface="Menlo"/>
              </a:rPr>
              <a:t>    loss.backward()                    # backward: fills w.grad</a:t>
            </a:r>
          </a:p>
          <a:p>
            <a:pPr algn="l">
              <a:lnSpc>
                <a:spcPct val="128000"/>
              </a:lnSpc>
            </a:pPr>
            <a:r>
              <a:rPr sz="1050" b="0" i="0">
                <a:solidFill>
                  <a:srgbClr val="E2E8F0"/>
                </a:solidFill>
                <a:latin typeface="Menlo"/>
              </a:rPr>
              <a:t>    with torch.no_grad():              # the update must not be traced</a:t>
            </a:r>
          </a:p>
          <a:p>
            <a:pPr algn="l">
              <a:lnSpc>
                <a:spcPct val="128000"/>
              </a:lnSpc>
            </a:pPr>
            <a:r>
              <a:rPr sz="1050" b="0" i="0">
                <a:solidFill>
                  <a:srgbClr val="E2E8F0"/>
                </a:solidFill>
                <a:latin typeface="Menlo"/>
              </a:rPr>
              <a:t>        w -= lr * w.grad</a:t>
            </a:r>
          </a:p>
          <a:p>
            <a:pPr algn="l">
              <a:lnSpc>
                <a:spcPct val="128000"/>
              </a:lnSpc>
            </a:pPr>
            <a:r>
              <a:rPr sz="1050" b="0" i="0">
                <a:solidFill>
                  <a:srgbClr val="E2E8F0"/>
                </a:solidFill>
                <a:latin typeface="Menlo"/>
              </a:rPr>
              <a:t>        b -= lr * b.grad</a:t>
            </a:r>
          </a:p>
          <a:p>
            <a:pPr algn="l">
              <a:lnSpc>
                <a:spcPct val="128000"/>
              </a:lnSpc>
            </a:pPr>
            <a:r>
              <a:rPr sz="1050" b="0" i="0">
                <a:solidFill>
                  <a:srgbClr val="E2E8F0"/>
                </a:solidFill>
                <a:latin typeface="Menlo"/>
              </a:rPr>
              <a:t>    w.grad.zero_(); b.grad.zero_()     # skip this -&gt; accumulation</a:t>
            </a:r>
          </a:p>
          <a:p>
            <a:pPr algn="l">
              <a:lnSpc>
                <a:spcPct val="128000"/>
              </a:lnSpc>
            </a:pPr>
            <a:r>
              <a:rPr sz="1050" b="0" i="0">
                <a:solidFill>
                  <a:srgbClr val="E2E8F0"/>
                </a:solidFill>
                <a:latin typeface="Menlo"/>
              </a:rPr>
              <a:t>    history.append(loss.item())</a:t>
            </a:r>
          </a:p>
          <a:p>
            <a:pPr algn="l">
              <a:lnSpc>
                <a:spcPct val="128000"/>
              </a:lnSpc>
            </a:pPr>
            <a:r>
              <a:rPr sz="1050" b="0" i="0">
                <a:solidFill>
                  <a:srgbClr val="E2E8F0"/>
                </a:solidFill>
                <a:latin typeface="Menlo"/>
              </a:rPr>
              <a:t/>
            </a:r>
          </a:p>
          <a:p>
            <a:pPr algn="l">
              <a:lnSpc>
                <a:spcPct val="128000"/>
              </a:lnSpc>
            </a:pPr>
            <a:r>
              <a:rPr sz="1050" b="0" i="0">
                <a:solidFill>
                  <a:srgbClr val="E2E8F0"/>
                </a:solidFill>
                <a:latin typeface="Menlo"/>
              </a:rPr>
              <a:t>print(round(w.item(), 3), round(b.item(), 3))   # 2.987 2.013</a:t>
            </a:r>
          </a:p>
        </p:txBody>
      </p:sp>
      <p:sp>
        <p:nvSpPr>
          <p:cNvPr id="14" name="TextBox 13"/>
          <p:cNvSpPr txBox="1"/>
          <p:nvPr/>
        </p:nvSpPr>
        <p:spPr>
          <a:xfrm>
            <a:off x="799200" y="5526000"/>
            <a:ext cx="10593719" cy="612000"/>
          </a:xfrm>
          <a:prstGeom prst="rect">
            <a:avLst/>
          </a:prstGeom>
          <a:noFill/>
        </p:spPr>
        <p:txBody>
          <a:bodyPr wrap="square" anchor="t" lIns="0" rIns="0" tIns="0" bIns="0">
            <a:spAutoFit/>
          </a:bodyPr>
          <a:lstStyle/>
          <a:p>
            <a:pPr algn="l">
              <a:lnSpc>
                <a:spcPct val="135000"/>
              </a:lnSpc>
            </a:pPr>
            <a:r>
              <a:rPr sz="1200" b="0" i="0">
                <a:solidFill>
                  <a:srgbClr val="1F2937"/>
                </a:solidFill>
                <a:latin typeface="Source Han Sans SC"/>
              </a:rPr>
              <a:t>Three things must happen inside the loop: loss.backward(), the update wrapped in with torch.no_grad():, and w.grad.zero_(). Remove any one and training will not converge as you expect.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Three Loss Curves, Three Traps at Once</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1 · Week 2</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19 / 30</a:t>
            </a:r>
          </a:p>
        </p:txBody>
      </p:sp>
      <p:graphicFrame>
        <p:nvGraphicFramePr>
          <p:cNvPr id="9" name="Chart 8"/>
          <p:cNvGraphicFramePr>
            <a:graphicFrameLocks noGrp="1"/>
          </p:cNvGraphicFramePr>
          <p:nvPr/>
        </p:nvGraphicFramePr>
        <p:xfrm>
          <a:off x="799200" y="1152000"/>
          <a:ext cx="6840000" cy="4320000"/>
        </p:xfrm>
        <a:graphic>
          <a:graphicData uri="http://schemas.openxmlformats.org/drawingml/2006/chart">
            <c:chart xmlns:c="http://schemas.openxmlformats.org/drawingml/2006/chart" r:id="rId2"/>
          </a:graphicData>
        </a:graphic>
      </p:graphicFrame>
      <p:sp>
        <p:nvSpPr>
          <p:cNvPr id="10" name="TextBox 9"/>
          <p:cNvSpPr txBox="1"/>
          <p:nvPr/>
        </p:nvSpPr>
        <p:spPr>
          <a:xfrm>
            <a:off x="7963199" y="1259999"/>
            <a:ext cx="3429720" cy="3240000"/>
          </a:xfrm>
          <a:prstGeom prst="rect">
            <a:avLst/>
          </a:prstGeom>
          <a:noFill/>
        </p:spPr>
        <p:txBody>
          <a:bodyPr wrap="square" anchor="t" lIns="0" rIns="0" tIns="0" bIns="0">
            <a:spAutoFit/>
          </a:bodyPr>
          <a:lstStyle/>
          <a:p>
            <a:pPr algn="l">
              <a:lnSpc>
                <a:spcPct val="145000"/>
              </a:lnSpc>
              <a:spcAft>
                <a:spcPts val="800"/>
              </a:spcAft>
            </a:pPr>
            <a:r>
              <a:rPr sz="1250" b="0" i="0">
                <a:solidFill>
                  <a:srgbClr val="1F2937"/>
                </a:solidFill>
                <a:latin typeface="Source Han Sans SC"/>
              </a:rPr>
              <a:t>• The blue line bottoms out near step 40; after that there is almost nothing to gain</a:t>
            </a:r>
          </a:p>
          <a:p>
            <a:pPr algn="l">
              <a:lnSpc>
                <a:spcPct val="145000"/>
              </a:lnSpc>
              <a:spcAft>
                <a:spcPts val="800"/>
              </a:spcAft>
            </a:pPr>
            <a:r>
              <a:rPr sz="1250" b="0" i="0">
                <a:solidFill>
                  <a:srgbClr val="1F2937"/>
                </a:solidFill>
                <a:latin typeface="Source Han Sans SC"/>
              </a:rPr>
              <a:t>• Orange jumps between 3 and 14: not a failure to learn, but accumulated gradients</a:t>
            </a:r>
          </a:p>
          <a:p>
            <a:pPr algn="l">
              <a:lnSpc>
                <a:spcPct val="145000"/>
              </a:lnSpc>
              <a:spcAft>
                <a:spcPts val="800"/>
              </a:spcAft>
            </a:pPr>
            <a:r>
              <a:rPr sz="1250" b="0" i="0">
                <a:solidFill>
                  <a:srgbClr val="1F2937"/>
                </a:solidFill>
                <a:latin typeface="Source Han Sans SC"/>
              </a:rPr>
              <a:t>• Red climbs: the learning rate is too large and every step overshoots the valley</a:t>
            </a:r>
          </a:p>
          <a:p>
            <a:pPr algn="l">
              <a:lnSpc>
                <a:spcPct val="145000"/>
              </a:lnSpc>
              <a:spcAft>
                <a:spcPts val="800"/>
              </a:spcAft>
            </a:pPr>
            <a:r>
              <a:rPr sz="1250" b="0" i="0">
                <a:solidFill>
                  <a:srgbClr val="1F2937"/>
                </a:solidFill>
                <a:latin typeface="Source Han Sans SC"/>
              </a:rPr>
              <a:t>• Given any loss curve, ask first: does it have a monotone downward trend?</a:t>
            </a:r>
          </a:p>
        </p:txBody>
      </p:sp>
      <p:sp>
        <p:nvSpPr>
          <p:cNvPr id="11" name="TextBox 10"/>
          <p:cNvSpPr txBox="1"/>
          <p:nvPr/>
        </p:nvSpPr>
        <p:spPr>
          <a:xfrm>
            <a:off x="799200" y="5633999"/>
            <a:ext cx="10593719" cy="576000"/>
          </a:xfrm>
          <a:prstGeom prst="rect">
            <a:avLst/>
          </a:prstGeom>
          <a:noFill/>
        </p:spPr>
        <p:txBody>
          <a:bodyPr wrap="square" anchor="t" lIns="0" rIns="0" tIns="0" bIns="0">
            <a:spAutoFit/>
          </a:bodyPr>
          <a:lstStyle/>
          <a:p>
            <a:pPr algn="l">
              <a:lnSpc>
                <a:spcPct val="135000"/>
              </a:lnSpc>
            </a:pPr>
            <a:r>
              <a:rPr sz="1200" b="0" i="0">
                <a:solidFill>
                  <a:srgbClr val="6B7280"/>
                </a:solidFill>
                <a:latin typeface="Source Han Sans SC"/>
              </a:rPr>
              <a:t>Lab 1 requires the top one of these three: your own run, hugging the floor. The other two are the comparisons you explain in the report.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Where "Converged" Means: Three Numbers, Do Not Mix Them</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Truth, closed-form solution, trained solution - they are not supposed to be identical</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1 · Week 2</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20 / 30</a:t>
            </a:r>
          </a:p>
        </p:txBody>
      </p:sp>
      <p:graphicFrame>
        <p:nvGraphicFramePr>
          <p:cNvPr id="10" name="Table 9"/>
          <p:cNvGraphicFramePr>
            <a:graphicFrameLocks noGrp="1"/>
          </p:cNvGraphicFramePr>
          <p:nvPr/>
        </p:nvGraphicFramePr>
        <p:xfrm>
          <a:off x="799200" y="1152000"/>
          <a:ext cx="10584000" cy="2376000"/>
        </p:xfrm>
        <a:graphic>
          <a:graphicData uri="http://schemas.openxmlformats.org/drawingml/2006/table">
            <a:tbl>
              <a:tblPr firstRow="1" bandRow="1">
                <a:tableStyleId>{5C22544A-7EE6-4342-B048-85BDC9FD1C3A}</a:tableStyleId>
              </a:tblPr>
              <a:tblGrid>
                <a:gridCol w="1584000"/>
                <a:gridCol w="2304000"/>
                <a:gridCol w="2448000"/>
                <a:gridCol w="2448000"/>
                <a:gridCol w="1800000"/>
              </a:tblGrid>
              <a:tr h="594000">
                <a:tc>
                  <a:txBody>
                    <a:bodyPr/>
                    <a:lstStyle/>
                    <a:p>
                      <a:r>
                        <a:rPr sz="1250" b="1">
                          <a:solidFill>
                            <a:srgbClr val="FFFFFF"/>
                          </a:solidFill>
                          <a:latin typeface="Source Han Sans SC"/>
                        </a:rPr>
                        <a:t>Parameter</a:t>
                      </a:r>
                    </a:p>
                  </a:txBody>
                  <a:tcPr>
                    <a:solidFill>
                      <a:srgbClr val="0E3F8C"/>
                    </a:solidFill>
                  </a:tcPr>
                </a:tc>
                <a:tc>
                  <a:txBody>
                    <a:bodyPr/>
                    <a:lstStyle/>
                    <a:p>
                      <a:r>
                        <a:rPr sz="1250" b="1">
                          <a:solidFill>
                            <a:srgbClr val="FFFFFF"/>
                          </a:solidFill>
                          <a:latin typeface="Source Han Sans SC"/>
                        </a:rPr>
                        <a:t>Generating Truth</a:t>
                      </a:r>
                    </a:p>
                  </a:txBody>
                  <a:tcPr>
                    <a:solidFill>
                      <a:srgbClr val="0E3F8C"/>
                    </a:solidFill>
                  </a:tcPr>
                </a:tc>
                <a:tc>
                  <a:txBody>
                    <a:bodyPr/>
                    <a:lstStyle/>
                    <a:p>
                      <a:r>
                        <a:rPr sz="1250" b="1">
                          <a:solidFill>
                            <a:srgbClr val="FFFFFF"/>
                          </a:solidFill>
                          <a:latin typeface="Source Han Sans SC"/>
                        </a:rPr>
                        <a:t>Closed-Form OLS</a:t>
                      </a:r>
                    </a:p>
                  </a:txBody>
                  <a:tcPr>
                    <a:solidFill>
                      <a:srgbClr val="0E3F8C"/>
                    </a:solidFill>
                  </a:tcPr>
                </a:tc>
                <a:tc>
                  <a:txBody>
                    <a:bodyPr/>
                    <a:lstStyle/>
                    <a:p>
                      <a:r>
                        <a:rPr sz="1250" b="1">
                          <a:solidFill>
                            <a:srgbClr val="FFFFFF"/>
                          </a:solidFill>
                          <a:latin typeface="Source Han Sans SC"/>
                        </a:rPr>
                        <a:t>GD, 200 Steps</a:t>
                      </a:r>
                    </a:p>
                  </a:txBody>
                  <a:tcPr>
                    <a:solidFill>
                      <a:srgbClr val="0E3F8C"/>
                    </a:solidFill>
                  </a:tcPr>
                </a:tc>
                <a:tc>
                  <a:txBody>
                    <a:bodyPr/>
                    <a:lstStyle/>
                    <a:p>
                      <a:r>
                        <a:rPr sz="1250" b="1">
                          <a:solidFill>
                            <a:srgbClr val="FFFFFF"/>
                          </a:solidFill>
                          <a:latin typeface="Source Han Sans SC"/>
                        </a:rPr>
                        <a:t>Rel. Error</a:t>
                      </a:r>
                    </a:p>
                  </a:txBody>
                  <a:tcPr>
                    <a:solidFill>
                      <a:srgbClr val="0E3F8C"/>
                    </a:solidFill>
                  </a:tcPr>
                </a:tc>
              </a:tr>
              <a:tr h="594000">
                <a:tc>
                  <a:txBody>
                    <a:bodyPr/>
                    <a:lstStyle/>
                    <a:p>
                      <a:r>
                        <a:rPr sz="1150" b="1">
                          <a:solidFill>
                            <a:srgbClr val="1F2937"/>
                          </a:solidFill>
                          <a:latin typeface="Source Han Sans SC"/>
                        </a:rPr>
                        <a:t>w (slope)</a:t>
                      </a:r>
                    </a:p>
                  </a:txBody>
                  <a:tcPr>
                    <a:solidFill>
                      <a:srgbClr val="FFFFFF"/>
                    </a:solidFill>
                  </a:tcPr>
                </a:tc>
                <a:tc>
                  <a:txBody>
                    <a:bodyPr/>
                    <a:lstStyle/>
                    <a:p>
                      <a:r>
                        <a:rPr sz="1150">
                          <a:solidFill>
                            <a:srgbClr val="1F2937"/>
                          </a:solidFill>
                          <a:latin typeface="Source Han Sans SC"/>
                        </a:rPr>
                        <a:t>3.000</a:t>
                      </a:r>
                    </a:p>
                  </a:txBody>
                  <a:tcPr>
                    <a:solidFill>
                      <a:srgbClr val="FFFFFF"/>
                    </a:solidFill>
                  </a:tcPr>
                </a:tc>
                <a:tc>
                  <a:txBody>
                    <a:bodyPr/>
                    <a:lstStyle/>
                    <a:p>
                      <a:r>
                        <a:rPr sz="1150">
                          <a:solidFill>
                            <a:srgbClr val="1F2937"/>
                          </a:solidFill>
                          <a:latin typeface="Source Han Sans SC"/>
                        </a:rPr>
                        <a:t>2.991</a:t>
                      </a:r>
                    </a:p>
                  </a:txBody>
                  <a:tcPr>
                    <a:solidFill>
                      <a:srgbClr val="FFFFFF"/>
                    </a:solidFill>
                  </a:tcPr>
                </a:tc>
                <a:tc>
                  <a:txBody>
                    <a:bodyPr/>
                    <a:lstStyle/>
                    <a:p>
                      <a:r>
                        <a:rPr sz="1150">
                          <a:solidFill>
                            <a:srgbClr val="1F2937"/>
                          </a:solidFill>
                          <a:latin typeface="Source Han Sans SC"/>
                        </a:rPr>
                        <a:t>2.987</a:t>
                      </a:r>
                    </a:p>
                  </a:txBody>
                  <a:tcPr>
                    <a:solidFill>
                      <a:srgbClr val="FFFFFF"/>
                    </a:solidFill>
                  </a:tcPr>
                </a:tc>
                <a:tc>
                  <a:txBody>
                    <a:bodyPr/>
                    <a:lstStyle/>
                    <a:p>
                      <a:r>
                        <a:rPr sz="1150">
                          <a:solidFill>
                            <a:srgbClr val="1F2937"/>
                          </a:solidFill>
                          <a:latin typeface="Source Han Sans SC"/>
                        </a:rPr>
                        <a:t>0.13%</a:t>
                      </a:r>
                    </a:p>
                  </a:txBody>
                  <a:tcPr>
                    <a:solidFill>
                      <a:srgbClr val="FFFFFF"/>
                    </a:solidFill>
                  </a:tcPr>
                </a:tc>
              </a:tr>
              <a:tr h="594000">
                <a:tc>
                  <a:txBody>
                    <a:bodyPr/>
                    <a:lstStyle/>
                    <a:p>
                      <a:r>
                        <a:rPr sz="1150" b="1">
                          <a:solidFill>
                            <a:srgbClr val="1F2937"/>
                          </a:solidFill>
                          <a:latin typeface="Source Han Sans SC"/>
                        </a:rPr>
                        <a:t>b (intercept)</a:t>
                      </a:r>
                    </a:p>
                  </a:txBody>
                  <a:tcPr>
                    <a:solidFill>
                      <a:srgbClr val="F0F5FC"/>
                    </a:solidFill>
                  </a:tcPr>
                </a:tc>
                <a:tc>
                  <a:txBody>
                    <a:bodyPr/>
                    <a:lstStyle/>
                    <a:p>
                      <a:r>
                        <a:rPr sz="1150">
                          <a:solidFill>
                            <a:srgbClr val="1F2937"/>
                          </a:solidFill>
                          <a:latin typeface="Source Han Sans SC"/>
                        </a:rPr>
                        <a:t>2.000</a:t>
                      </a:r>
                    </a:p>
                  </a:txBody>
                  <a:tcPr>
                    <a:solidFill>
                      <a:srgbClr val="F0F5FC"/>
                    </a:solidFill>
                  </a:tcPr>
                </a:tc>
                <a:tc>
                  <a:txBody>
                    <a:bodyPr/>
                    <a:lstStyle/>
                    <a:p>
                      <a:r>
                        <a:rPr sz="1150">
                          <a:solidFill>
                            <a:srgbClr val="1F2937"/>
                          </a:solidFill>
                          <a:latin typeface="Source Han Sans SC"/>
                        </a:rPr>
                        <a:t>2.014</a:t>
                      </a:r>
                    </a:p>
                  </a:txBody>
                  <a:tcPr>
                    <a:solidFill>
                      <a:srgbClr val="F0F5FC"/>
                    </a:solidFill>
                  </a:tcPr>
                </a:tc>
                <a:tc>
                  <a:txBody>
                    <a:bodyPr/>
                    <a:lstStyle/>
                    <a:p>
                      <a:r>
                        <a:rPr sz="1150">
                          <a:solidFill>
                            <a:srgbClr val="1F2937"/>
                          </a:solidFill>
                          <a:latin typeface="Source Han Sans SC"/>
                        </a:rPr>
                        <a:t>2.013</a:t>
                      </a:r>
                    </a:p>
                  </a:txBody>
                  <a:tcPr>
                    <a:solidFill>
                      <a:srgbClr val="F0F5FC"/>
                    </a:solidFill>
                  </a:tcPr>
                </a:tc>
                <a:tc>
                  <a:txBody>
                    <a:bodyPr/>
                    <a:lstStyle/>
                    <a:p>
                      <a:r>
                        <a:rPr sz="1150">
                          <a:solidFill>
                            <a:srgbClr val="1F2937"/>
                          </a:solidFill>
                          <a:latin typeface="Source Han Sans SC"/>
                        </a:rPr>
                        <a:t>0.05%</a:t>
                      </a:r>
                    </a:p>
                  </a:txBody>
                  <a:tcPr>
                    <a:solidFill>
                      <a:srgbClr val="F0F5FC"/>
                    </a:solidFill>
                  </a:tcPr>
                </a:tc>
              </a:tr>
              <a:tr h="594000">
                <a:tc>
                  <a:txBody>
                    <a:bodyPr/>
                    <a:lstStyle/>
                    <a:p>
                      <a:r>
                        <a:rPr sz="1150" b="1">
                          <a:solidFill>
                            <a:srgbClr val="1F2937"/>
                          </a:solidFill>
                          <a:latin typeface="Source Han Sans SC"/>
                        </a:rPr>
                        <a:t>Train MSE</a:t>
                      </a:r>
                    </a:p>
                  </a:txBody>
                  <a:tcPr>
                    <a:solidFill>
                      <a:srgbClr val="FFFFFF"/>
                    </a:solidFill>
                  </a:tcPr>
                </a:tc>
                <a:tc>
                  <a:txBody>
                    <a:bodyPr/>
                    <a:lstStyle/>
                    <a:p>
                      <a:r>
                        <a:rPr sz="1150">
                          <a:solidFill>
                            <a:srgbClr val="1F2937"/>
                          </a:solidFill>
                          <a:latin typeface="Source Han Sans SC"/>
                        </a:rPr>
                        <a:t>0.0100 (noise variance)</a:t>
                      </a:r>
                    </a:p>
                  </a:txBody>
                  <a:tcPr>
                    <a:solidFill>
                      <a:srgbClr val="FFFFFF"/>
                    </a:solidFill>
                  </a:tcPr>
                </a:tc>
                <a:tc>
                  <a:txBody>
                    <a:bodyPr/>
                    <a:lstStyle/>
                    <a:p>
                      <a:r>
                        <a:rPr sz="1150">
                          <a:solidFill>
                            <a:srgbClr val="1F2937"/>
                          </a:solidFill>
                          <a:latin typeface="Source Han Sans SC"/>
                        </a:rPr>
                        <a:t>0.0098</a:t>
                      </a:r>
                    </a:p>
                  </a:txBody>
                  <a:tcPr>
                    <a:solidFill>
                      <a:srgbClr val="FFFFFF"/>
                    </a:solidFill>
                  </a:tcPr>
                </a:tc>
                <a:tc>
                  <a:txBody>
                    <a:bodyPr/>
                    <a:lstStyle/>
                    <a:p>
                      <a:r>
                        <a:rPr sz="1150">
                          <a:solidFill>
                            <a:srgbClr val="1F2937"/>
                          </a:solidFill>
                          <a:latin typeface="Source Han Sans SC"/>
                        </a:rPr>
                        <a:t>0.0099</a:t>
                      </a:r>
                    </a:p>
                  </a:txBody>
                  <a:tcPr>
                    <a:solidFill>
                      <a:srgbClr val="FFFFFF"/>
                    </a:solidFill>
                  </a:tcPr>
                </a:tc>
                <a:tc>
                  <a:txBody>
                    <a:bodyPr/>
                    <a:lstStyle/>
                    <a:p>
                      <a:r>
                        <a:rPr sz="1150">
                          <a:solidFill>
                            <a:srgbClr val="1F2937"/>
                          </a:solidFill>
                          <a:latin typeface="Source Han Sans SC"/>
                        </a:rPr>
                        <a:t>not comparable</a:t>
                      </a:r>
                    </a:p>
                  </a:txBody>
                  <a:tcPr>
                    <a:solidFill>
                      <a:srgbClr val="FFFFFF"/>
                    </a:solidFill>
                  </a:tcPr>
                </a:tc>
              </a:tr>
            </a:tbl>
          </a:graphicData>
        </a:graphic>
      </p:graphicFrame>
      <p:sp>
        <p:nvSpPr>
          <p:cNvPr id="11" name="TextBox 10"/>
          <p:cNvSpPr txBox="1"/>
          <p:nvPr/>
        </p:nvSpPr>
        <p:spPr>
          <a:xfrm>
            <a:off x="799200" y="3671999"/>
            <a:ext cx="10593719" cy="432000"/>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Each number means something different: the truth is what you generated with, the closed-form solution is optimal on this sample, and the trained solution is what 200 steps gave you. Your report must say which one you compare against, or the word error means nothing.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Three Learning Rates: Too Small, Right, Too Large</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1 · Week 2</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21 / 30</a:t>
            </a:r>
          </a:p>
        </p:txBody>
      </p:sp>
      <p:sp>
        <p:nvSpPr>
          <p:cNvPr id="9" name="Rectangle 8"/>
          <p:cNvSpPr/>
          <p:nvPr/>
        </p:nvSpPr>
        <p:spPr>
          <a:xfrm>
            <a:off x="799200" y="1260000"/>
            <a:ext cx="3387239" cy="2448000"/>
          </a:xfrm>
          <a:prstGeom prst="rect">
            <a:avLst/>
          </a:prstGeom>
          <a:solidFill>
            <a:srgbClr val="FFFBEB"/>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60000"/>
            <a:ext cx="32400" cy="2448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22400" y="1447199"/>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Too Small, lr = 0.001</a:t>
            </a:r>
          </a:p>
        </p:txBody>
      </p:sp>
      <p:sp>
        <p:nvSpPr>
          <p:cNvPr id="12" name="TextBox 11"/>
          <p:cNvSpPr txBox="1"/>
          <p:nvPr/>
        </p:nvSpPr>
        <p:spPr>
          <a:xfrm>
            <a:off x="1022400" y="1677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looks like it failed</a:t>
            </a:r>
          </a:p>
        </p:txBody>
      </p:sp>
      <p:sp>
        <p:nvSpPr>
          <p:cNvPr id="13" name="TextBox 12"/>
          <p:cNvSpPr txBox="1"/>
          <p:nvPr/>
        </p:nvSpPr>
        <p:spPr>
          <a:xfrm>
            <a:off x="1022400" y="1879200"/>
            <a:ext cx="2940839" cy="16848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The loss creeps down; the curve looks almost flat</a:t>
            </a:r>
          </a:p>
          <a:p>
            <a:pPr algn="l">
              <a:lnSpc>
                <a:spcPct val="140000"/>
              </a:lnSpc>
              <a:spcAft>
                <a:spcPts val="400"/>
              </a:spcAft>
            </a:pPr>
            <a:r>
              <a:rPr sz="1200" b="0" i="0">
                <a:solidFill>
                  <a:srgbClr val="1F2937"/>
                </a:solidFill>
                <a:latin typeface="Source Han Sans SC"/>
              </a:rPr>
              <a:t>• 200 steps never reach the bottom - easily misread as a broken model</a:t>
            </a:r>
          </a:p>
          <a:p>
            <a:pPr algn="l">
              <a:lnSpc>
                <a:spcPct val="140000"/>
              </a:lnSpc>
              <a:spcAft>
                <a:spcPts val="400"/>
              </a:spcAft>
            </a:pPr>
            <a:r>
              <a:rPr sz="1200" b="0" i="0">
                <a:solidFill>
                  <a:srgbClr val="1F2937"/>
                </a:solidFill>
                <a:latin typeface="Source Han Sans SC"/>
              </a:rPr>
              <a:t>• Fix: try 0.1 first, then one order of magnitude either way</a:t>
            </a:r>
          </a:p>
        </p:txBody>
      </p:sp>
      <p:sp>
        <p:nvSpPr>
          <p:cNvPr id="14" name="Rectangle 13"/>
          <p:cNvSpPr/>
          <p:nvPr/>
        </p:nvSpPr>
        <p:spPr>
          <a:xfrm>
            <a:off x="4402440" y="1260000"/>
            <a:ext cx="3387239" cy="2448000"/>
          </a:xfrm>
          <a:prstGeom prst="rect">
            <a:avLst/>
          </a:prstGeom>
          <a:solidFill>
            <a:srgbClr val="ECFDF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2440" y="1260000"/>
            <a:ext cx="32400" cy="2448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25639" y="1447199"/>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Just Right, lr = 0.1</a:t>
            </a:r>
          </a:p>
        </p:txBody>
      </p:sp>
      <p:sp>
        <p:nvSpPr>
          <p:cNvPr id="17" name="TextBox 16"/>
          <p:cNvSpPr txBox="1"/>
          <p:nvPr/>
        </p:nvSpPr>
        <p:spPr>
          <a:xfrm>
            <a:off x="4625639" y="1677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the default here</a:t>
            </a:r>
          </a:p>
        </p:txBody>
      </p:sp>
      <p:sp>
        <p:nvSpPr>
          <p:cNvPr id="18" name="TextBox 17"/>
          <p:cNvSpPr txBox="1"/>
          <p:nvPr/>
        </p:nvSpPr>
        <p:spPr>
          <a:xfrm>
            <a:off x="4625639" y="1879200"/>
            <a:ext cx="2940839" cy="16848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The loss drops within tens of steps, then flattens onto the floor</a:t>
            </a:r>
          </a:p>
          <a:p>
            <a:pPr algn="l">
              <a:lnSpc>
                <a:spcPct val="140000"/>
              </a:lnSpc>
              <a:spcAft>
                <a:spcPts val="400"/>
              </a:spcAft>
            </a:pPr>
            <a:r>
              <a:rPr sz="1200" b="0" i="0">
                <a:solidFill>
                  <a:srgbClr val="1F2937"/>
                </a:solidFill>
                <a:latin typeface="Source Han Sans SC"/>
              </a:rPr>
              <a:t>• This is the Lab 1 default and the baseline for the comparison</a:t>
            </a:r>
          </a:p>
          <a:p>
            <a:pPr algn="l">
              <a:lnSpc>
                <a:spcPct val="140000"/>
              </a:lnSpc>
              <a:spcAft>
                <a:spcPts val="400"/>
              </a:spcAft>
            </a:pPr>
            <a:r>
              <a:rPr sz="1200" b="0" i="0">
                <a:solidFill>
                  <a:srgbClr val="1F2937"/>
                </a:solidFill>
                <a:latin typeface="Source Han Sans SC"/>
              </a:rPr>
              <a:t>• The pattern to look for: a clear descent, then a plateau</a:t>
            </a:r>
          </a:p>
        </p:txBody>
      </p:sp>
      <p:sp>
        <p:nvSpPr>
          <p:cNvPr id="19" name="Rectangle 18"/>
          <p:cNvSpPr/>
          <p:nvPr/>
        </p:nvSpPr>
        <p:spPr>
          <a:xfrm>
            <a:off x="8005679" y="1260000"/>
            <a:ext cx="3387239" cy="2448000"/>
          </a:xfrm>
          <a:prstGeom prst="rect">
            <a:avLst/>
          </a:prstGeom>
          <a:solidFill>
            <a:srgbClr val="FEF2F2"/>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005679" y="1260000"/>
            <a:ext cx="32400" cy="244800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228879" y="1447199"/>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Too Large, lr = 1.0</a:t>
            </a:r>
          </a:p>
        </p:txBody>
      </p:sp>
      <p:sp>
        <p:nvSpPr>
          <p:cNvPr id="22" name="TextBox 21"/>
          <p:cNvSpPr txBox="1"/>
          <p:nvPr/>
        </p:nvSpPr>
        <p:spPr>
          <a:xfrm>
            <a:off x="8228879" y="1677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divergence</a:t>
            </a:r>
          </a:p>
        </p:txBody>
      </p:sp>
      <p:sp>
        <p:nvSpPr>
          <p:cNvPr id="23" name="TextBox 22"/>
          <p:cNvSpPr txBox="1"/>
          <p:nvPr/>
        </p:nvSpPr>
        <p:spPr>
          <a:xfrm>
            <a:off x="8228879" y="1879200"/>
            <a:ext cx="2940839" cy="16848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The loss climbs instead of falling, and eventually turns to nan</a:t>
            </a:r>
          </a:p>
          <a:p>
            <a:pPr algn="l">
              <a:lnSpc>
                <a:spcPct val="140000"/>
              </a:lnSpc>
              <a:spcAft>
                <a:spcPts val="400"/>
              </a:spcAft>
            </a:pPr>
            <a:r>
              <a:rPr sz="1200" b="0" i="0">
                <a:solidFill>
                  <a:srgbClr val="1F2937"/>
                </a:solidFill>
                <a:latin typeface="Source Han Sans SC"/>
              </a:rPr>
              <a:t>• Every step overshoots the valley and lands further away</a:t>
            </a:r>
          </a:p>
          <a:p>
            <a:pPr algn="l">
              <a:lnSpc>
                <a:spcPct val="140000"/>
              </a:lnSpc>
              <a:spcAft>
                <a:spcPts val="400"/>
              </a:spcAft>
            </a:pPr>
            <a:r>
              <a:rPr sz="1200" b="0" i="0">
                <a:solidFill>
                  <a:srgbClr val="1F2937"/>
                </a:solidFill>
                <a:latin typeface="Source Han Sans SC"/>
              </a:rPr>
              <a:t>• Fix: halve it, then halve it again; do not hope it recovers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05</a:t>
            </a:r>
          </a:p>
        </p:txBody>
      </p:sp>
      <p:sp>
        <p:nvSpPr>
          <p:cNvPr id="5" name="Rectangle 4"/>
          <p:cNvSpPr/>
          <p:nvPr/>
        </p:nvSpPr>
        <p:spPr>
          <a:xfrm>
            <a:off x="856800" y="1047600"/>
            <a:ext cx="1238400" cy="12384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0800" y="1314000"/>
            <a:ext cx="601200" cy="712800"/>
          </a:xfrm>
          <a:prstGeom prst="rect">
            <a:avLst/>
          </a:prstGeom>
          <a:noFill/>
        </p:spPr>
        <p:txBody>
          <a:bodyPr wrap="square" anchor="t" lIns="0" rIns="0" tIns="0" bIns="0">
            <a:spAutoFit/>
          </a:bodyPr>
          <a:lstStyle/>
          <a:p>
            <a:pPr algn="ctr">
              <a:lnSpc>
                <a:spcPct val="125000"/>
              </a:lnSpc>
            </a:pPr>
            <a:r>
              <a:rPr sz="3200" b="1" i="0">
                <a:solidFill>
                  <a:srgbClr val="FFFFFF"/>
                </a:solidFill>
                <a:latin typeface="Source Han Sans SC"/>
              </a:rPr>
              <a:t>05</a:t>
            </a:r>
          </a:p>
        </p:txBody>
      </p:sp>
      <p:sp>
        <p:nvSpPr>
          <p:cNvPr id="7" name="TextBox 6"/>
          <p:cNvSpPr txBox="1"/>
          <p:nvPr/>
        </p:nvSpPr>
        <p:spPr>
          <a:xfrm>
            <a:off x="2379600" y="1105200"/>
            <a:ext cx="5040000" cy="503999"/>
          </a:xfrm>
          <a:prstGeom prst="rect">
            <a:avLst/>
          </a:prstGeom>
          <a:noFill/>
        </p:spPr>
        <p:txBody>
          <a:bodyPr wrap="square" anchor="t" lIns="0" rIns="0" tIns="0" bIns="0">
            <a:spAutoFit/>
          </a:bodyPr>
          <a:lstStyle/>
          <a:p>
            <a:pPr algn="l">
              <a:lnSpc>
                <a:spcPct val="125000"/>
              </a:lnSpc>
            </a:pPr>
            <a:r>
              <a:rPr sz="3000" b="1" i="0">
                <a:solidFill>
                  <a:srgbClr val="0E3F8C"/>
                </a:solidFill>
                <a:latin typeface="Source Han Sans SC"/>
              </a:rPr>
              <a:t>Lab · Experiment 1: Linear Regression</a:t>
            </a:r>
          </a:p>
        </p:txBody>
      </p:sp>
      <p:sp>
        <p:nvSpPr>
          <p:cNvPr id="8" name="TextBox 7"/>
          <p:cNvSpPr txBox="1"/>
          <p:nvPr/>
        </p:nvSpPr>
        <p:spPr>
          <a:xfrm>
            <a:off x="2379600" y="1666800"/>
            <a:ext cx="5040000" cy="306000"/>
          </a:xfrm>
          <a:prstGeom prst="rect">
            <a:avLst/>
          </a:prstGeom>
          <a:noFill/>
        </p:spPr>
        <p:txBody>
          <a:bodyPr wrap="square" anchor="t" lIns="0" rIns="0" tIns="0" bIns="0">
            <a:spAutoFit/>
          </a:bodyPr>
          <a:lstStyle/>
          <a:p>
            <a:pPr algn="l">
              <a:lnSpc>
                <a:spcPct val="125000"/>
              </a:lnSpc>
            </a:pPr>
            <a:r>
              <a:rPr sz="1500" b="0" i="0">
                <a:solidFill>
                  <a:srgbClr val="3D7BD9"/>
                </a:solidFill>
                <a:latin typeface="Source Han Sans SC"/>
              </a:rPr>
              <a:t>Tensors and Autograd Only</a:t>
            </a:r>
          </a:p>
        </p:txBody>
      </p:sp>
      <p:sp>
        <p:nvSpPr>
          <p:cNvPr id="9" name="TextBox 8"/>
          <p:cNvSpPr txBox="1"/>
          <p:nvPr/>
        </p:nvSpPr>
        <p:spPr>
          <a:xfrm>
            <a:off x="799200" y="2736000"/>
            <a:ext cx="8640000" cy="1620000"/>
          </a:xfrm>
          <a:prstGeom prst="rect">
            <a:avLst/>
          </a:prstGeom>
          <a:noFill/>
        </p:spPr>
        <p:txBody>
          <a:bodyPr wrap="square" anchor="t" lIns="0" rIns="0" tIns="0" bIns="0">
            <a:spAutoFit/>
          </a:bodyPr>
          <a:lstStyle/>
          <a:p>
            <a:pPr algn="l">
              <a:lnSpc>
                <a:spcPct val="150000"/>
              </a:lnSpc>
            </a:pPr>
            <a:r>
              <a:rPr sz="1500" b="0" i="0">
                <a:solidFill>
                  <a:srgbClr val="1F2937"/>
                </a:solidFill>
                <a:latin typeface="Source Han Sans SC"/>
              </a:rPr>
              <a:t>No nn.Module, no optimiser of any kind - learn a straight line with tensors and autograd alone.
Four tasks: make the data, train, record the loss curve, verify the parameters converged.</a:t>
            </a:r>
          </a:p>
        </p:txBody>
      </p:sp>
      <p:sp>
        <p:nvSpPr>
          <p:cNvPr id="10" name="Rectangle 9"/>
          <p:cNvSpPr/>
          <p:nvPr/>
        </p:nvSpPr>
        <p:spPr>
          <a:xfrm>
            <a:off x="79920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800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Make the Data</a:t>
            </a:r>
          </a:p>
        </p:txBody>
      </p:sp>
      <p:sp>
        <p:nvSpPr>
          <p:cNvPr id="13" name="TextBox 12"/>
          <p:cNvSpPr txBox="1"/>
          <p:nvPr/>
        </p:nvSpPr>
        <p:spPr>
          <a:xfrm>
            <a:off x="100800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Fixed seed + a baseline loss</a:t>
            </a:r>
          </a:p>
        </p:txBody>
      </p:sp>
      <p:sp>
        <p:nvSpPr>
          <p:cNvPr id="14" name="Rectangle 13"/>
          <p:cNvSpPr/>
          <p:nvPr/>
        </p:nvSpPr>
        <p:spPr>
          <a:xfrm>
            <a:off x="440604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604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1484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Train</a:t>
            </a:r>
          </a:p>
        </p:txBody>
      </p:sp>
      <p:sp>
        <p:nvSpPr>
          <p:cNvPr id="17" name="TextBox 16"/>
          <p:cNvSpPr txBox="1"/>
          <p:nvPr/>
        </p:nvSpPr>
        <p:spPr>
          <a:xfrm>
            <a:off x="461484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A hand-written loop, no optimiser</a:t>
            </a:r>
          </a:p>
        </p:txBody>
      </p:sp>
      <p:sp>
        <p:nvSpPr>
          <p:cNvPr id="18" name="Rectangle 17"/>
          <p:cNvSpPr/>
          <p:nvPr/>
        </p:nvSpPr>
        <p:spPr>
          <a:xfrm>
            <a:off x="8012879"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12879"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21679"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Verify</a:t>
            </a:r>
          </a:p>
        </p:txBody>
      </p:sp>
      <p:sp>
        <p:nvSpPr>
          <p:cNvPr id="21" name="TextBox 20"/>
          <p:cNvSpPr txBox="1"/>
          <p:nvPr/>
        </p:nvSpPr>
        <p:spPr>
          <a:xfrm>
            <a:off x="8221679"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The curve + a parameter comparison</a:t>
            </a:r>
          </a:p>
        </p:txBody>
      </p:sp>
      <p:sp>
        <p:nvSpPr>
          <p:cNvPr id="22" name="TextBox 21"/>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23" name="TextBox 22"/>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The Four Tasks of Experiment 1</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1 · Week 2</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23 / 30</a:t>
            </a:r>
          </a:p>
        </p:txBody>
      </p:sp>
      <p:sp>
        <p:nvSpPr>
          <p:cNvPr id="9" name="Rectangle 8"/>
          <p:cNvSpPr/>
          <p:nvPr/>
        </p:nvSpPr>
        <p:spPr>
          <a:xfrm>
            <a:off x="799200" y="1296000"/>
            <a:ext cx="5188859" cy="194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96000"/>
            <a:ext cx="32400" cy="1944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22400" y="1483200"/>
            <a:ext cx="474245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A · Data and Baseline</a:t>
            </a:r>
          </a:p>
        </p:txBody>
      </p:sp>
      <p:sp>
        <p:nvSpPr>
          <p:cNvPr id="12" name="TextBox 11"/>
          <p:cNvSpPr txBox="1"/>
          <p:nvPr/>
        </p:nvSpPr>
        <p:spPr>
          <a:xfrm>
            <a:off x="1022400" y="1713600"/>
            <a:ext cx="474245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task A</a:t>
            </a:r>
          </a:p>
        </p:txBody>
      </p:sp>
      <p:sp>
        <p:nvSpPr>
          <p:cNvPr id="13" name="TextBox 12"/>
          <p:cNvSpPr txBox="1"/>
          <p:nvPr/>
        </p:nvSpPr>
        <p:spPr>
          <a:xfrm>
            <a:off x="1022400" y="1915200"/>
            <a:ext cx="4742459" cy="11808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Fix the seed and generate y = 3x + 2 + noise, n = 100</a:t>
            </a:r>
          </a:p>
          <a:p>
            <a:pPr algn="l">
              <a:lnSpc>
                <a:spcPct val="140000"/>
              </a:lnSpc>
              <a:spcAft>
                <a:spcPts val="400"/>
              </a:spcAft>
            </a:pPr>
            <a:r>
              <a:rPr sz="1200" b="0" i="0">
                <a:solidFill>
                  <a:srgbClr val="1F2937"/>
                </a:solidFill>
                <a:latin typeface="Source Han Sans SC"/>
              </a:rPr>
              <a:t>• Compute the baseline loss at w = b = 0</a:t>
            </a:r>
          </a:p>
          <a:p>
            <a:pPr algn="l">
              <a:lnSpc>
                <a:spcPct val="140000"/>
              </a:lnSpc>
              <a:spcAft>
                <a:spcPts val="400"/>
              </a:spcAft>
            </a:pPr>
            <a:r>
              <a:rPr sz="1200" b="0" i="0">
                <a:solidFill>
                  <a:srgbClr val="1F2937"/>
                </a:solidFill>
                <a:latin typeface="Source Han Sans SC"/>
              </a:rPr>
              <a:t>• Output: one number proving training is needed</a:t>
            </a:r>
          </a:p>
        </p:txBody>
      </p:sp>
      <p:sp>
        <p:nvSpPr>
          <p:cNvPr id="14" name="Rectangle 13"/>
          <p:cNvSpPr/>
          <p:nvPr/>
        </p:nvSpPr>
        <p:spPr>
          <a:xfrm>
            <a:off x="6204059" y="1296000"/>
            <a:ext cx="5188859" cy="194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204059" y="1296000"/>
            <a:ext cx="32400" cy="1944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27259" y="1483200"/>
            <a:ext cx="474245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B · Train with Tensors Only</a:t>
            </a:r>
          </a:p>
        </p:txBody>
      </p:sp>
      <p:sp>
        <p:nvSpPr>
          <p:cNvPr id="17" name="TextBox 16"/>
          <p:cNvSpPr txBox="1"/>
          <p:nvPr/>
        </p:nvSpPr>
        <p:spPr>
          <a:xfrm>
            <a:off x="6427259" y="1713600"/>
            <a:ext cx="474245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task B</a:t>
            </a:r>
          </a:p>
        </p:txBody>
      </p:sp>
      <p:sp>
        <p:nvSpPr>
          <p:cNvPr id="18" name="TextBox 17"/>
          <p:cNvSpPr txBox="1"/>
          <p:nvPr/>
        </p:nvSpPr>
        <p:spPr>
          <a:xfrm>
            <a:off x="6427259" y="1915200"/>
            <a:ext cx="4742459" cy="11808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Initialise w and b with zeros(..., requires_grad=True)</a:t>
            </a:r>
          </a:p>
          <a:p>
            <a:pPr algn="l">
              <a:lnSpc>
                <a:spcPct val="140000"/>
              </a:lnSpc>
              <a:spcAft>
                <a:spcPts val="400"/>
              </a:spcAft>
            </a:pPr>
            <a:r>
              <a:rPr sz="1200" b="0" i="0">
                <a:solidFill>
                  <a:srgbClr val="1F2937"/>
                </a:solidFill>
                <a:latin typeface="Source Han Sans SC"/>
              </a:rPr>
              <a:t>• Inside the loop: forward, MSE, backward, update, zero</a:t>
            </a:r>
          </a:p>
          <a:p>
            <a:pPr algn="l">
              <a:lnSpc>
                <a:spcPct val="140000"/>
              </a:lnSpc>
              <a:spcAft>
                <a:spcPts val="400"/>
              </a:spcAft>
            </a:pPr>
            <a:r>
              <a:rPr sz="1200" b="0" i="0">
                <a:solidFill>
                  <a:srgbClr val="1F2937"/>
                </a:solidFill>
                <a:latin typeface="Source Han Sans SC"/>
              </a:rPr>
              <a:t>• nn.Linear and every torch.optim are forbidden</a:t>
            </a:r>
          </a:p>
        </p:txBody>
      </p:sp>
      <p:sp>
        <p:nvSpPr>
          <p:cNvPr id="19" name="Rectangle 18"/>
          <p:cNvSpPr/>
          <p:nvPr/>
        </p:nvSpPr>
        <p:spPr>
          <a:xfrm>
            <a:off x="799200" y="3456000"/>
            <a:ext cx="5188859" cy="194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799200" y="3456000"/>
            <a:ext cx="32400" cy="1944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22400" y="3643199"/>
            <a:ext cx="474245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C · Record the Loss Curve</a:t>
            </a:r>
          </a:p>
        </p:txBody>
      </p:sp>
      <p:sp>
        <p:nvSpPr>
          <p:cNvPr id="22" name="TextBox 21"/>
          <p:cNvSpPr txBox="1"/>
          <p:nvPr/>
        </p:nvSpPr>
        <p:spPr>
          <a:xfrm>
            <a:off x="1022400" y="3873600"/>
            <a:ext cx="474245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task C</a:t>
            </a:r>
          </a:p>
        </p:txBody>
      </p:sp>
      <p:sp>
        <p:nvSpPr>
          <p:cNvPr id="23" name="TextBox 22"/>
          <p:cNvSpPr txBox="1"/>
          <p:nvPr/>
        </p:nvSpPr>
        <p:spPr>
          <a:xfrm>
            <a:off x="1022400" y="4075200"/>
            <a:ext cx="4742459" cy="11808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Record loss.item() each step and plot it afterwards</a:t>
            </a:r>
          </a:p>
          <a:p>
            <a:pPr algn="l">
              <a:lnSpc>
                <a:spcPct val="140000"/>
              </a:lnSpc>
              <a:spcAft>
                <a:spcPts val="400"/>
              </a:spcAft>
            </a:pPr>
            <a:r>
              <a:rPr sz="1200" b="0" i="0">
                <a:solidFill>
                  <a:srgbClr val="1F2937"/>
                </a:solidFill>
                <a:latin typeface="Source Han Sans SC"/>
              </a:rPr>
              <a:t>• Mark the point where the loss stops dropping noticeably</a:t>
            </a:r>
          </a:p>
          <a:p>
            <a:pPr algn="l">
              <a:lnSpc>
                <a:spcPct val="140000"/>
              </a:lnSpc>
              <a:spcAft>
                <a:spcPts val="400"/>
              </a:spcAft>
            </a:pPr>
            <a:r>
              <a:rPr sz="1200" b="0" i="0">
                <a:solidFill>
                  <a:srgbClr val="1F2937"/>
                </a:solidFill>
                <a:latin typeface="Source Han Sans SC"/>
              </a:rPr>
              <a:t>• Output: loss.png plus a one-sentence reading</a:t>
            </a:r>
          </a:p>
        </p:txBody>
      </p:sp>
      <p:sp>
        <p:nvSpPr>
          <p:cNvPr id="24" name="Rectangle 23"/>
          <p:cNvSpPr/>
          <p:nvPr/>
        </p:nvSpPr>
        <p:spPr>
          <a:xfrm>
            <a:off x="6204059" y="3456000"/>
            <a:ext cx="5188859" cy="194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204059" y="3456000"/>
            <a:ext cx="32400" cy="1944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427259" y="3643199"/>
            <a:ext cx="474245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D · Verify Convergence</a:t>
            </a:r>
          </a:p>
        </p:txBody>
      </p:sp>
      <p:sp>
        <p:nvSpPr>
          <p:cNvPr id="27" name="TextBox 26"/>
          <p:cNvSpPr txBox="1"/>
          <p:nvPr/>
        </p:nvSpPr>
        <p:spPr>
          <a:xfrm>
            <a:off x="6427259" y="3873600"/>
            <a:ext cx="474245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task D</a:t>
            </a:r>
          </a:p>
        </p:txBody>
      </p:sp>
      <p:sp>
        <p:nvSpPr>
          <p:cNvPr id="28" name="TextBox 27"/>
          <p:cNvSpPr txBox="1"/>
          <p:nvPr/>
        </p:nvSpPr>
        <p:spPr>
          <a:xfrm>
            <a:off x="6427259" y="4075200"/>
            <a:ext cx="4742459" cy="11808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Compare against the truth (3, 2) and the closed-form OLS solution</a:t>
            </a:r>
          </a:p>
          <a:p>
            <a:pPr algn="l">
              <a:lnSpc>
                <a:spcPct val="140000"/>
              </a:lnSpc>
              <a:spcAft>
                <a:spcPts val="400"/>
              </a:spcAft>
            </a:pPr>
            <a:r>
              <a:rPr sz="1200" b="0" i="0">
                <a:solidFill>
                  <a:srgbClr val="1F2937"/>
                </a:solidFill>
                <a:latin typeface="Source Han Sans SC"/>
              </a:rPr>
              <a:t>• State the relative error and explain why the three differ</a:t>
            </a:r>
          </a:p>
          <a:p>
            <a:pPr algn="l">
              <a:lnSpc>
                <a:spcPct val="140000"/>
              </a:lnSpc>
              <a:spcAft>
                <a:spcPts val="400"/>
              </a:spcAft>
            </a:pPr>
            <a:r>
              <a:rPr sz="1200" b="0" i="0">
                <a:solidFill>
                  <a:srgbClr val="1F2937"/>
                </a:solidFill>
                <a:latin typeface="Source Han Sans SC"/>
              </a:rPr>
              <a:t>• Output: a parameter comparison table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Lab 1 Script Skeleton</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Turn this straight into the body of your report</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1 · Week 2</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24 / 30</a:t>
            </a:r>
          </a:p>
        </p:txBody>
      </p:sp>
      <p:sp>
        <p:nvSpPr>
          <p:cNvPr id="10" name="Rectangle 9"/>
          <p:cNvSpPr/>
          <p:nvPr/>
        </p:nvSpPr>
        <p:spPr>
          <a:xfrm>
            <a:off x="799200" y="1206000"/>
            <a:ext cx="10593719" cy="4392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1206000"/>
            <a:ext cx="1059371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1200" y="1292400"/>
            <a:ext cx="951371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lab1_linear_regression.py</a:t>
            </a:r>
          </a:p>
        </p:txBody>
      </p:sp>
      <p:sp>
        <p:nvSpPr>
          <p:cNvPr id="13" name="TextBox 12"/>
          <p:cNvSpPr txBox="1"/>
          <p:nvPr/>
        </p:nvSpPr>
        <p:spPr>
          <a:xfrm>
            <a:off x="997200" y="1620000"/>
            <a:ext cx="10197719" cy="3851999"/>
          </a:xfrm>
          <a:prstGeom prst="rect">
            <a:avLst/>
          </a:prstGeom>
          <a:noFill/>
        </p:spPr>
        <p:txBody>
          <a:bodyPr wrap="square" anchor="t" lIns="0" rIns="0" tIns="0" bIns="0">
            <a:spAutoFit/>
          </a:bodyPr>
          <a:lstStyle/>
          <a:p>
            <a:pPr algn="l">
              <a:lnSpc>
                <a:spcPct val="128000"/>
              </a:lnSpc>
            </a:pPr>
            <a:r>
              <a:rPr sz="1050" b="0" i="0">
                <a:solidFill>
                  <a:srgbClr val="E2E8F0"/>
                </a:solidFill>
                <a:latin typeface="Menlo"/>
              </a:rPr>
              <a:t>import torch, matplotlib.pyplot as plt</a:t>
            </a:r>
          </a:p>
          <a:p>
            <a:pPr algn="l">
              <a:lnSpc>
                <a:spcPct val="128000"/>
              </a:lnSpc>
            </a:pPr>
            <a:r>
              <a:rPr sz="1050" b="0" i="0">
                <a:solidFill>
                  <a:srgbClr val="E2E8F0"/>
                </a:solidFill>
                <a:latin typeface="Menlo"/>
              </a:rPr>
              <a:t/>
            </a:r>
          </a:p>
          <a:p>
            <a:pPr algn="l">
              <a:lnSpc>
                <a:spcPct val="128000"/>
              </a:lnSpc>
            </a:pPr>
            <a:r>
              <a:rPr sz="1050" b="0" i="0">
                <a:solidFill>
                  <a:srgbClr val="E2E8F0"/>
                </a:solidFill>
                <a:latin typeface="Menlo"/>
              </a:rPr>
              <a:t>torch.manual_seed(42)                 # fixed seed: a report requirement</a:t>
            </a:r>
          </a:p>
          <a:p>
            <a:pPr algn="l">
              <a:lnSpc>
                <a:spcPct val="128000"/>
              </a:lnSpc>
            </a:pPr>
            <a:r>
              <a:rPr sz="1050" b="0" i="0">
                <a:solidFill>
                  <a:srgbClr val="E2E8F0"/>
                </a:solidFill>
                <a:latin typeface="Menlo"/>
              </a:rPr>
              <a:t>lr = 0.1</a:t>
            </a:r>
          </a:p>
          <a:p>
            <a:pPr algn="l">
              <a:lnSpc>
                <a:spcPct val="128000"/>
              </a:lnSpc>
            </a:pPr>
            <a:r>
              <a:rPr sz="1050" b="0" i="0">
                <a:solidFill>
                  <a:srgbClr val="E2E8F0"/>
                </a:solidFill>
                <a:latin typeface="Menlo"/>
              </a:rPr>
              <a:t>X = torch.randn(100, 1)               # (100, 1)</a:t>
            </a:r>
          </a:p>
          <a:p>
            <a:pPr algn="l">
              <a:lnSpc>
                <a:spcPct val="128000"/>
              </a:lnSpc>
            </a:pPr>
            <a:r>
              <a:rPr sz="1050" b="0" i="0">
                <a:solidFill>
                  <a:srgbClr val="E2E8F0"/>
                </a:solidFill>
                <a:latin typeface="Menlo"/>
              </a:rPr>
              <a:t>y = 3.0 * X + 2.0 + 0.1 * torch.randn(100, 1)</a:t>
            </a:r>
          </a:p>
          <a:p>
            <a:pPr algn="l">
              <a:lnSpc>
                <a:spcPct val="128000"/>
              </a:lnSpc>
            </a:pPr>
            <a:r>
              <a:rPr sz="1050" b="0" i="0">
                <a:solidFill>
                  <a:srgbClr val="E2E8F0"/>
                </a:solidFill>
                <a:latin typeface="Menlo"/>
              </a:rPr>
              <a:t/>
            </a:r>
          </a:p>
          <a:p>
            <a:pPr algn="l">
              <a:lnSpc>
                <a:spcPct val="128000"/>
              </a:lnSpc>
            </a:pPr>
            <a:r>
              <a:rPr sz="1050" b="0" i="0">
                <a:solidFill>
                  <a:srgbClr val="E2E8F0"/>
                </a:solidFill>
                <a:latin typeface="Menlo"/>
              </a:rPr>
              <a:t>w = torch.zeros(1, 1, requires_grad=True)</a:t>
            </a:r>
          </a:p>
          <a:p>
            <a:pPr algn="l">
              <a:lnSpc>
                <a:spcPct val="128000"/>
              </a:lnSpc>
            </a:pPr>
            <a:r>
              <a:rPr sz="1050" b="0" i="0">
                <a:solidFill>
                  <a:srgbClr val="E2E8F0"/>
                </a:solidFill>
                <a:latin typeface="Menlo"/>
              </a:rPr>
              <a:t>b = torch.zeros(1, requires_grad=True)</a:t>
            </a:r>
          </a:p>
          <a:p>
            <a:pPr algn="l">
              <a:lnSpc>
                <a:spcPct val="128000"/>
              </a:lnSpc>
            </a:pPr>
            <a:r>
              <a:rPr sz="1050" b="0" i="0">
                <a:solidFill>
                  <a:srgbClr val="E2E8F0"/>
                </a:solidFill>
                <a:latin typeface="Menlo"/>
              </a:rPr>
              <a:t>hist = []</a:t>
            </a:r>
          </a:p>
          <a:p>
            <a:pPr algn="l">
              <a:lnSpc>
                <a:spcPct val="128000"/>
              </a:lnSpc>
            </a:pPr>
            <a:r>
              <a:rPr sz="1050" b="0" i="0">
                <a:solidFill>
                  <a:srgbClr val="E2E8F0"/>
                </a:solidFill>
                <a:latin typeface="Menlo"/>
              </a:rPr>
              <a:t>for s in range(200):</a:t>
            </a:r>
          </a:p>
          <a:p>
            <a:pPr algn="l">
              <a:lnSpc>
                <a:spcPct val="128000"/>
              </a:lnSpc>
            </a:pPr>
            <a:r>
              <a:rPr sz="1050" b="0" i="0">
                <a:solidFill>
                  <a:srgbClr val="E2E8F0"/>
                </a:solidFill>
                <a:latin typeface="Menlo"/>
              </a:rPr>
              <a:t>    loss = ((X @ w + b - y) ** 2).mean()   # MSE</a:t>
            </a:r>
          </a:p>
          <a:p>
            <a:pPr algn="l">
              <a:lnSpc>
                <a:spcPct val="128000"/>
              </a:lnSpc>
            </a:pPr>
            <a:r>
              <a:rPr sz="1050" b="0" i="0">
                <a:solidFill>
                  <a:srgbClr val="E2E8F0"/>
                </a:solidFill>
                <a:latin typeface="Menlo"/>
              </a:rPr>
              <a:t>    loss.backward()                        # backward</a:t>
            </a:r>
          </a:p>
          <a:p>
            <a:pPr algn="l">
              <a:lnSpc>
                <a:spcPct val="128000"/>
              </a:lnSpc>
            </a:pPr>
            <a:r>
              <a:rPr sz="1050" b="0" i="0">
                <a:solidFill>
                  <a:srgbClr val="E2E8F0"/>
                </a:solidFill>
                <a:latin typeface="Menlo"/>
              </a:rPr>
              <a:t>    with torch.no_grad():                  # update, no graph</a:t>
            </a:r>
          </a:p>
          <a:p>
            <a:pPr algn="l">
              <a:lnSpc>
                <a:spcPct val="128000"/>
              </a:lnSpc>
            </a:pPr>
            <a:r>
              <a:rPr sz="1050" b="0" i="0">
                <a:solidFill>
                  <a:srgbClr val="E2E8F0"/>
                </a:solidFill>
                <a:latin typeface="Menlo"/>
              </a:rPr>
              <a:t>        w -= lr * w.grad; b -= lr * b.grad</a:t>
            </a:r>
          </a:p>
          <a:p>
            <a:pPr algn="l">
              <a:lnSpc>
                <a:spcPct val="128000"/>
              </a:lnSpc>
            </a:pPr>
            <a:r>
              <a:rPr sz="1050" b="0" i="0">
                <a:solidFill>
                  <a:srgbClr val="E2E8F0"/>
                </a:solidFill>
                <a:latin typeface="Menlo"/>
              </a:rPr>
              <a:t>    w.grad.zero_(); b.grad.zero_()         # mandatory: zero</a:t>
            </a:r>
          </a:p>
          <a:p>
            <a:pPr algn="l">
              <a:lnSpc>
                <a:spcPct val="128000"/>
              </a:lnSpc>
            </a:pPr>
            <a:r>
              <a:rPr sz="1050" b="0" i="0">
                <a:solidFill>
                  <a:srgbClr val="E2E8F0"/>
                </a:solidFill>
                <a:latin typeface="Menlo"/>
              </a:rPr>
              <a:t>    hist.append(loss.item())               # log the loss</a:t>
            </a:r>
          </a:p>
          <a:p>
            <a:pPr algn="l">
              <a:lnSpc>
                <a:spcPct val="128000"/>
              </a:lnSpc>
            </a:pPr>
            <a:r>
              <a:rPr sz="1050" b="0" i="0">
                <a:solidFill>
                  <a:srgbClr val="E2E8F0"/>
                </a:solidFill>
                <a:latin typeface="Menlo"/>
              </a:rPr>
              <a:t/>
            </a:r>
          </a:p>
          <a:p>
            <a:pPr algn="l">
              <a:lnSpc>
                <a:spcPct val="128000"/>
              </a:lnSpc>
            </a:pPr>
            <a:r>
              <a:rPr sz="1050" b="0" i="0">
                <a:solidFill>
                  <a:srgbClr val="E2E8F0"/>
                </a:solidFill>
                <a:latin typeface="Menlo"/>
              </a:rPr>
              <a:t>print("trained:", round(w.item(), 3), round(b.item(), 3))</a:t>
            </a:r>
          </a:p>
          <a:p>
            <a:pPr algn="l">
              <a:lnSpc>
                <a:spcPct val="128000"/>
              </a:lnSpc>
            </a:pPr>
            <a:r>
              <a:rPr sz="1050" b="0" i="0">
                <a:solidFill>
                  <a:srgbClr val="E2E8F0"/>
                </a:solidFill>
                <a:latin typeface="Menlo"/>
              </a:rPr>
              <a:t>print("truth  :", 3.0, 2.0)             # compare with the truth</a:t>
            </a:r>
          </a:p>
          <a:p>
            <a:pPr algn="l">
              <a:lnSpc>
                <a:spcPct val="128000"/>
              </a:lnSpc>
            </a:pPr>
            <a:r>
              <a:rPr sz="1050" b="0" i="0">
                <a:solidFill>
                  <a:srgbClr val="E2E8F0"/>
                </a:solidFill>
                <a:latin typeface="Menlo"/>
              </a:rPr>
              <a:t>plt.plot(hist); plt.yscale("log")         # see the late descent</a:t>
            </a:r>
          </a:p>
          <a:p>
            <a:pPr algn="l">
              <a:lnSpc>
                <a:spcPct val="128000"/>
              </a:lnSpc>
            </a:pPr>
            <a:r>
              <a:rPr sz="1050" b="0" i="0">
                <a:solidFill>
                  <a:srgbClr val="E2E8F0"/>
                </a:solidFill>
                <a:latin typeface="Menlo"/>
              </a:rPr>
              <a:t>plt.savefig("loss.png")                  # submit: loss curve</a:t>
            </a:r>
          </a:p>
        </p:txBody>
      </p:sp>
      <p:sp>
        <p:nvSpPr>
          <p:cNvPr id="14" name="TextBox 13"/>
          <p:cNvSpPr txBox="1"/>
          <p:nvPr/>
        </p:nvSpPr>
        <p:spPr>
          <a:xfrm>
            <a:off x="799200" y="5777999"/>
            <a:ext cx="10593719" cy="612000"/>
          </a:xfrm>
          <a:prstGeom prst="rect">
            <a:avLst/>
          </a:prstGeom>
          <a:noFill/>
        </p:spPr>
        <p:txBody>
          <a:bodyPr wrap="square" anchor="t" lIns="0" rIns="0" tIns="0" bIns="0">
            <a:spAutoFit/>
          </a:bodyPr>
          <a:lstStyle/>
          <a:p>
            <a:pPr algn="l">
              <a:lnSpc>
                <a:spcPct val="135000"/>
              </a:lnSpc>
            </a:pPr>
            <a:r>
              <a:rPr sz="1200" b="0" i="0">
                <a:solidFill>
                  <a:srgbClr val="1F2937"/>
                </a:solidFill>
                <a:latin typeface="Source Han Sans SC"/>
              </a:rPr>
              <a:t>Run it three times with lr = 0.001, 0.1 and 1.0, and plot the three curves together - that is the comparison the assignment asks for.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Experiment 1 Submission Checklist</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1 · Week 2</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25 / 30</a:t>
            </a:r>
          </a:p>
        </p:txBody>
      </p:sp>
      <p:sp>
        <p:nvSpPr>
          <p:cNvPr id="9" name="Rectangle 8"/>
          <p:cNvSpPr/>
          <p:nvPr/>
        </p:nvSpPr>
        <p:spPr>
          <a:xfrm>
            <a:off x="799200" y="1278000"/>
            <a:ext cx="10593719" cy="737999"/>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78000"/>
            <a:ext cx="32400" cy="737999"/>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979200" y="1465200"/>
            <a:ext cx="900000" cy="324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79200" y="1537199"/>
            <a:ext cx="900000" cy="180000"/>
          </a:xfrm>
          <a:prstGeom prst="rect">
            <a:avLst/>
          </a:prstGeom>
          <a:noFill/>
        </p:spPr>
        <p:txBody>
          <a:bodyPr wrap="square" anchor="t" lIns="0" rIns="0" tIns="0" bIns="0">
            <a:spAutoFit/>
          </a:bodyPr>
          <a:lstStyle/>
          <a:p>
            <a:pPr algn="ctr">
              <a:lnSpc>
                <a:spcPct val="125000"/>
              </a:lnSpc>
            </a:pPr>
            <a:r>
              <a:rPr sz="1150" b="1" i="0">
                <a:solidFill>
                  <a:srgbClr val="FFFFFF"/>
                </a:solidFill>
                <a:latin typeface="Source Han Sans SC"/>
              </a:rPr>
              <a:t>MUST</a:t>
            </a:r>
          </a:p>
        </p:txBody>
      </p:sp>
      <p:sp>
        <p:nvSpPr>
          <p:cNvPr id="13" name="TextBox 12"/>
          <p:cNvSpPr txBox="1"/>
          <p:nvPr/>
        </p:nvSpPr>
        <p:spPr>
          <a:xfrm>
            <a:off x="2023200" y="1393199"/>
            <a:ext cx="9153719" cy="198000"/>
          </a:xfrm>
          <a:prstGeom prst="rect">
            <a:avLst/>
          </a:prstGeom>
          <a:noFill/>
        </p:spPr>
        <p:txBody>
          <a:bodyPr wrap="square" anchor="t" lIns="0" rIns="0" tIns="0" bIns="0">
            <a:spAutoFit/>
          </a:bodyPr>
          <a:lstStyle/>
          <a:p>
            <a:pPr algn="l">
              <a:lnSpc>
                <a:spcPct val="125000"/>
              </a:lnSpc>
            </a:pPr>
            <a:r>
              <a:rPr sz="1400" b="1" i="0">
                <a:solidFill>
                  <a:srgbClr val="0E3F8C"/>
                </a:solidFill>
                <a:latin typeface="Source Han Sans SC"/>
              </a:rPr>
              <a:t>Loss curve</a:t>
            </a:r>
          </a:p>
        </p:txBody>
      </p:sp>
      <p:sp>
        <p:nvSpPr>
          <p:cNvPr id="14" name="TextBox 13"/>
          <p:cNvSpPr txBox="1"/>
          <p:nvPr/>
        </p:nvSpPr>
        <p:spPr>
          <a:xfrm>
            <a:off x="2023200" y="1620000"/>
            <a:ext cx="9153719" cy="3419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Three learning-rate curves on one figure, each with its convergence point and a reading.</a:t>
            </a:r>
          </a:p>
        </p:txBody>
      </p:sp>
      <p:sp>
        <p:nvSpPr>
          <p:cNvPr id="15" name="Rectangle 14"/>
          <p:cNvSpPr/>
          <p:nvPr/>
        </p:nvSpPr>
        <p:spPr>
          <a:xfrm>
            <a:off x="799200" y="2167200"/>
            <a:ext cx="10593719" cy="737999"/>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799200" y="2167200"/>
            <a:ext cx="32400" cy="737999"/>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979200" y="2354399"/>
            <a:ext cx="900000" cy="324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79200" y="2426399"/>
            <a:ext cx="900000" cy="180000"/>
          </a:xfrm>
          <a:prstGeom prst="rect">
            <a:avLst/>
          </a:prstGeom>
          <a:noFill/>
        </p:spPr>
        <p:txBody>
          <a:bodyPr wrap="square" anchor="t" lIns="0" rIns="0" tIns="0" bIns="0">
            <a:spAutoFit/>
          </a:bodyPr>
          <a:lstStyle/>
          <a:p>
            <a:pPr algn="ctr">
              <a:lnSpc>
                <a:spcPct val="125000"/>
              </a:lnSpc>
            </a:pPr>
            <a:r>
              <a:rPr sz="1150" b="1" i="0">
                <a:solidFill>
                  <a:srgbClr val="FFFFFF"/>
                </a:solidFill>
                <a:latin typeface="Source Han Sans SC"/>
              </a:rPr>
              <a:t>MUST</a:t>
            </a:r>
          </a:p>
        </p:txBody>
      </p:sp>
      <p:sp>
        <p:nvSpPr>
          <p:cNvPr id="19" name="TextBox 18"/>
          <p:cNvSpPr txBox="1"/>
          <p:nvPr/>
        </p:nvSpPr>
        <p:spPr>
          <a:xfrm>
            <a:off x="2023200" y="2282400"/>
            <a:ext cx="9153719" cy="198000"/>
          </a:xfrm>
          <a:prstGeom prst="rect">
            <a:avLst/>
          </a:prstGeom>
          <a:noFill/>
        </p:spPr>
        <p:txBody>
          <a:bodyPr wrap="square" anchor="t" lIns="0" rIns="0" tIns="0" bIns="0">
            <a:spAutoFit/>
          </a:bodyPr>
          <a:lstStyle/>
          <a:p>
            <a:pPr algn="l">
              <a:lnSpc>
                <a:spcPct val="125000"/>
              </a:lnSpc>
            </a:pPr>
            <a:r>
              <a:rPr sz="1400" b="1" i="0">
                <a:solidFill>
                  <a:srgbClr val="0E3F8C"/>
                </a:solidFill>
                <a:latin typeface="Source Han Sans SC"/>
              </a:rPr>
              <a:t>Parameter convergence table</a:t>
            </a:r>
          </a:p>
        </p:txBody>
      </p:sp>
      <p:sp>
        <p:nvSpPr>
          <p:cNvPr id="20" name="TextBox 19"/>
          <p:cNvSpPr txBox="1"/>
          <p:nvPr/>
        </p:nvSpPr>
        <p:spPr>
          <a:xfrm>
            <a:off x="2023200" y="2509200"/>
            <a:ext cx="9153719" cy="3419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Trained w and b beside the truth and the closed-form OLS solution, with relative errors and why they differ.</a:t>
            </a:r>
          </a:p>
        </p:txBody>
      </p:sp>
      <p:sp>
        <p:nvSpPr>
          <p:cNvPr id="21" name="Rectangle 20"/>
          <p:cNvSpPr/>
          <p:nvPr/>
        </p:nvSpPr>
        <p:spPr>
          <a:xfrm>
            <a:off x="799200" y="3056399"/>
            <a:ext cx="10593719" cy="737999"/>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799200" y="3056399"/>
            <a:ext cx="32400" cy="737999"/>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979200" y="3243599"/>
            <a:ext cx="900000" cy="324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79200" y="3315599"/>
            <a:ext cx="900000" cy="180000"/>
          </a:xfrm>
          <a:prstGeom prst="rect">
            <a:avLst/>
          </a:prstGeom>
          <a:noFill/>
        </p:spPr>
        <p:txBody>
          <a:bodyPr wrap="square" anchor="t" lIns="0" rIns="0" tIns="0" bIns="0">
            <a:spAutoFit/>
          </a:bodyPr>
          <a:lstStyle/>
          <a:p>
            <a:pPr algn="ctr">
              <a:lnSpc>
                <a:spcPct val="125000"/>
              </a:lnSpc>
            </a:pPr>
            <a:r>
              <a:rPr sz="1150" b="1" i="0">
                <a:solidFill>
                  <a:srgbClr val="FFFFFF"/>
                </a:solidFill>
                <a:latin typeface="Source Han Sans SC"/>
              </a:rPr>
              <a:t>MUST</a:t>
            </a:r>
          </a:p>
        </p:txBody>
      </p:sp>
      <p:sp>
        <p:nvSpPr>
          <p:cNvPr id="25" name="TextBox 24"/>
          <p:cNvSpPr txBox="1"/>
          <p:nvPr/>
        </p:nvSpPr>
        <p:spPr>
          <a:xfrm>
            <a:off x="2023200" y="3171599"/>
            <a:ext cx="9153719" cy="198000"/>
          </a:xfrm>
          <a:prstGeom prst="rect">
            <a:avLst/>
          </a:prstGeom>
          <a:noFill/>
        </p:spPr>
        <p:txBody>
          <a:bodyPr wrap="square" anchor="t" lIns="0" rIns="0" tIns="0" bIns="0">
            <a:spAutoFit/>
          </a:bodyPr>
          <a:lstStyle/>
          <a:p>
            <a:pPr algn="l">
              <a:lnSpc>
                <a:spcPct val="125000"/>
              </a:lnSpc>
            </a:pPr>
            <a:r>
              <a:rPr sz="1400" b="1" i="0">
                <a:solidFill>
                  <a:srgbClr val="0E3F8C"/>
                </a:solidFill>
                <a:latin typeface="Source Han Sans SC"/>
              </a:rPr>
              <a:t>Shape pitfall log</a:t>
            </a:r>
          </a:p>
        </p:txBody>
      </p:sp>
      <p:sp>
        <p:nvSpPr>
          <p:cNvPr id="26" name="TextBox 25"/>
          <p:cNvSpPr txBox="1"/>
          <p:nvPr/>
        </p:nvSpPr>
        <p:spPr>
          <a:xfrm>
            <a:off x="2023200" y="3398399"/>
            <a:ext cx="9153719" cy="3419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At least two entries: the wrong expression, the full error message, and how you fixed it.</a:t>
            </a:r>
          </a:p>
        </p:txBody>
      </p:sp>
      <p:sp>
        <p:nvSpPr>
          <p:cNvPr id="27" name="Rectangle 26"/>
          <p:cNvSpPr/>
          <p:nvPr/>
        </p:nvSpPr>
        <p:spPr>
          <a:xfrm>
            <a:off x="799200" y="3945599"/>
            <a:ext cx="10593719" cy="737999"/>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799200" y="3945599"/>
            <a:ext cx="32400" cy="737999"/>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979200" y="4132799"/>
            <a:ext cx="900000" cy="324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979200" y="4204800"/>
            <a:ext cx="900000" cy="180000"/>
          </a:xfrm>
          <a:prstGeom prst="rect">
            <a:avLst/>
          </a:prstGeom>
          <a:noFill/>
        </p:spPr>
        <p:txBody>
          <a:bodyPr wrap="square" anchor="t" lIns="0" rIns="0" tIns="0" bIns="0">
            <a:spAutoFit/>
          </a:bodyPr>
          <a:lstStyle/>
          <a:p>
            <a:pPr algn="ctr">
              <a:lnSpc>
                <a:spcPct val="125000"/>
              </a:lnSpc>
            </a:pPr>
            <a:r>
              <a:rPr sz="1150" b="1" i="0">
                <a:solidFill>
                  <a:srgbClr val="FFFFFF"/>
                </a:solidFill>
                <a:latin typeface="Source Han Sans SC"/>
              </a:rPr>
              <a:t>MUST</a:t>
            </a:r>
          </a:p>
        </p:txBody>
      </p:sp>
      <p:sp>
        <p:nvSpPr>
          <p:cNvPr id="31" name="TextBox 30"/>
          <p:cNvSpPr txBox="1"/>
          <p:nvPr/>
        </p:nvSpPr>
        <p:spPr>
          <a:xfrm>
            <a:off x="2023200" y="4060800"/>
            <a:ext cx="9153719" cy="198000"/>
          </a:xfrm>
          <a:prstGeom prst="rect">
            <a:avLst/>
          </a:prstGeom>
          <a:noFill/>
        </p:spPr>
        <p:txBody>
          <a:bodyPr wrap="square" anchor="t" lIns="0" rIns="0" tIns="0" bIns="0">
            <a:spAutoFit/>
          </a:bodyPr>
          <a:lstStyle/>
          <a:p>
            <a:pPr algn="l">
              <a:lnSpc>
                <a:spcPct val="125000"/>
              </a:lnSpc>
            </a:pPr>
            <a:r>
              <a:rPr sz="1400" b="1" i="0">
                <a:solidFill>
                  <a:srgbClr val="0E3F8C"/>
                </a:solidFill>
                <a:latin typeface="Source Han Sans SC"/>
              </a:rPr>
              <a:t>Reproducible command</a:t>
            </a:r>
          </a:p>
        </p:txBody>
      </p:sp>
      <p:sp>
        <p:nvSpPr>
          <p:cNvPr id="32" name="TextBox 31"/>
          <p:cNvSpPr txBox="1"/>
          <p:nvPr/>
        </p:nvSpPr>
        <p:spPr>
          <a:xfrm>
            <a:off x="2023200" y="4287599"/>
            <a:ext cx="9153719" cy="3419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One command in the README plus the seed and the environment version, so others reproduce the same curve.</a:t>
            </a:r>
          </a:p>
        </p:txBody>
      </p:sp>
      <p:sp>
        <p:nvSpPr>
          <p:cNvPr id="33" name="Rectangle 32"/>
          <p:cNvSpPr/>
          <p:nvPr/>
        </p:nvSpPr>
        <p:spPr>
          <a:xfrm>
            <a:off x="799200" y="4834800"/>
            <a:ext cx="10593719" cy="737999"/>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799200" y="4834800"/>
            <a:ext cx="32400" cy="737999"/>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979200" y="5022000"/>
            <a:ext cx="900000" cy="324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79200" y="5094000"/>
            <a:ext cx="900000" cy="180000"/>
          </a:xfrm>
          <a:prstGeom prst="rect">
            <a:avLst/>
          </a:prstGeom>
          <a:noFill/>
        </p:spPr>
        <p:txBody>
          <a:bodyPr wrap="square" anchor="t" lIns="0" rIns="0" tIns="0" bIns="0">
            <a:spAutoFit/>
          </a:bodyPr>
          <a:lstStyle/>
          <a:p>
            <a:pPr algn="ctr">
              <a:lnSpc>
                <a:spcPct val="125000"/>
              </a:lnSpc>
            </a:pPr>
            <a:r>
              <a:rPr sz="1150" b="1" i="0">
                <a:solidFill>
                  <a:srgbClr val="FFFFFF"/>
                </a:solidFill>
                <a:latin typeface="Source Han Sans SC"/>
              </a:rPr>
              <a:t>MUST</a:t>
            </a:r>
          </a:p>
        </p:txBody>
      </p:sp>
      <p:sp>
        <p:nvSpPr>
          <p:cNvPr id="37" name="TextBox 36"/>
          <p:cNvSpPr txBox="1"/>
          <p:nvPr/>
        </p:nvSpPr>
        <p:spPr>
          <a:xfrm>
            <a:off x="2023200" y="4950000"/>
            <a:ext cx="9153719" cy="198000"/>
          </a:xfrm>
          <a:prstGeom prst="rect">
            <a:avLst/>
          </a:prstGeom>
          <a:noFill/>
        </p:spPr>
        <p:txBody>
          <a:bodyPr wrap="square" anchor="t" lIns="0" rIns="0" tIns="0" bIns="0">
            <a:spAutoFit/>
          </a:bodyPr>
          <a:lstStyle/>
          <a:p>
            <a:pPr algn="l">
              <a:lnSpc>
                <a:spcPct val="125000"/>
              </a:lnSpc>
            </a:pPr>
            <a:r>
              <a:rPr sz="1400" b="1" i="0">
                <a:solidFill>
                  <a:srgbClr val="0E3F8C"/>
                </a:solidFill>
                <a:latin typeface="Source Han Sans SC"/>
              </a:rPr>
              <a:t>At least one AI collaboration trace</a:t>
            </a:r>
          </a:p>
        </p:txBody>
      </p:sp>
      <p:sp>
        <p:nvSpPr>
          <p:cNvPr id="38" name="TextBox 37"/>
          <p:cNvSpPr txBox="1"/>
          <p:nvPr/>
        </p:nvSpPr>
        <p:spPr>
          <a:xfrm>
            <a:off x="2023200" y="5176800"/>
            <a:ext cx="9153719" cy="3419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What you found wrong in the AI-generated code and how you fixed it, with a before/after comparison.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AI-Generated Code: the Skeleton Works, the Bugs Are Yours</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Generate with AI, explain line by line, find the shape and broadcast bugs, keep the record</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1 · Week 2</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26 / 30</a:t>
            </a:r>
          </a:p>
        </p:txBody>
      </p:sp>
      <p:sp>
        <p:nvSpPr>
          <p:cNvPr id="10" name="Rectangle 9"/>
          <p:cNvSpPr/>
          <p:nvPr/>
        </p:nvSpPr>
        <p:spPr>
          <a:xfrm>
            <a:off x="799200" y="1170000"/>
            <a:ext cx="3327240" cy="41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1170000"/>
            <a:ext cx="3327240" cy="540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15200" y="1321200"/>
            <a:ext cx="2895240" cy="251999"/>
          </a:xfrm>
          <a:prstGeom prst="rect">
            <a:avLst/>
          </a:prstGeom>
          <a:noFill/>
        </p:spPr>
        <p:txBody>
          <a:bodyPr wrap="square" anchor="t" lIns="0" rIns="0" tIns="0" bIns="0">
            <a:spAutoFit/>
          </a:bodyPr>
          <a:lstStyle/>
          <a:p>
            <a:pPr algn="l">
              <a:lnSpc>
                <a:spcPct val="125000"/>
              </a:lnSpc>
            </a:pPr>
            <a:r>
              <a:rPr sz="1600" b="1" i="0">
                <a:solidFill>
                  <a:srgbClr val="FFFFFF"/>
                </a:solidFill>
                <a:latin typeface="Source Han Sans SC"/>
              </a:rPr>
              <a:t>The Version AI Hands You (Looks Right)</a:t>
            </a:r>
          </a:p>
        </p:txBody>
      </p:sp>
      <p:sp>
        <p:nvSpPr>
          <p:cNvPr id="13" name="TextBox 12"/>
          <p:cNvSpPr txBox="1"/>
          <p:nvPr/>
        </p:nvSpPr>
        <p:spPr>
          <a:xfrm>
            <a:off x="1015200" y="1890000"/>
            <a:ext cx="2895240" cy="3240000"/>
          </a:xfrm>
          <a:prstGeom prst="rect">
            <a:avLst/>
          </a:prstGeom>
          <a:noFill/>
        </p:spPr>
        <p:txBody>
          <a:bodyPr wrap="square" anchor="t" lIns="0" rIns="0" tIns="0" bIns="0">
            <a:spAutoFit/>
          </a:bodyPr>
          <a:lstStyle/>
          <a:p>
            <a:pPr algn="l">
              <a:lnSpc>
                <a:spcPct val="150000"/>
              </a:lnSpc>
              <a:spcAft>
                <a:spcPts val="800"/>
              </a:spcAft>
            </a:pPr>
            <a:r>
              <a:rPr sz="1250" b="0" i="0">
                <a:solidFill>
                  <a:srgbClr val="1F2937"/>
                </a:solidFill>
                <a:latin typeface="Source Han Sans SC"/>
              </a:rPr>
              <a:t>• The skeleton for data, forward, MSE and backward is broadly correct</a:t>
            </a:r>
          </a:p>
          <a:p>
            <a:pPr algn="l">
              <a:lnSpc>
                <a:spcPct val="150000"/>
              </a:lnSpc>
              <a:spcAft>
                <a:spcPts val="800"/>
              </a:spcAft>
            </a:pPr>
            <a:r>
              <a:rPr sz="1250" b="0" i="0">
                <a:solidFill>
                  <a:srgbClr val="1F2937"/>
                </a:solidFill>
                <a:latin typeface="Source Han Sans SC"/>
              </a:rPr>
              <a:t>• The loop is reasonable and the hyper-parameters sit in plain sight</a:t>
            </a:r>
          </a:p>
          <a:p>
            <a:pPr algn="l">
              <a:lnSpc>
                <a:spcPct val="150000"/>
              </a:lnSpc>
              <a:spcAft>
                <a:spcPts val="800"/>
              </a:spcAft>
            </a:pPr>
            <a:r>
              <a:rPr sz="1250" b="0" i="0">
                <a:solidFill>
                  <a:srgbClr val="1F2937"/>
                </a:solidFill>
                <a:latin typeface="Source Han Sans SC"/>
              </a:rPr>
              <a:t>• The problem is that it looks right rather than being verified right</a:t>
            </a:r>
          </a:p>
          <a:p>
            <a:pPr algn="l">
              <a:lnSpc>
                <a:spcPct val="150000"/>
              </a:lnSpc>
              <a:spcAft>
                <a:spcPts val="800"/>
              </a:spcAft>
            </a:pPr>
            <a:r>
              <a:rPr sz="1250" b="0" i="0">
                <a:solidFill>
                  <a:srgbClr val="1F2937"/>
                </a:solidFill>
                <a:latin typeface="Source Han Sans SC"/>
              </a:rPr>
              <a:t>• Submitting it as-is hands the debugging to someone who will not defend your work</a:t>
            </a:r>
          </a:p>
        </p:txBody>
      </p:sp>
      <p:sp>
        <p:nvSpPr>
          <p:cNvPr id="14" name="Rectangle 13"/>
          <p:cNvSpPr/>
          <p:nvPr/>
        </p:nvSpPr>
        <p:spPr>
          <a:xfrm>
            <a:off x="4432440" y="1170000"/>
            <a:ext cx="3327240" cy="4104000"/>
          </a:xfrm>
          <a:prstGeom prst="rect">
            <a:avLst/>
          </a:prstGeom>
          <a:solidFill>
            <a:srgbClr val="FEF2F2"/>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32440" y="1170000"/>
            <a:ext cx="3327240" cy="54000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48440" y="1321200"/>
            <a:ext cx="2895240" cy="251999"/>
          </a:xfrm>
          <a:prstGeom prst="rect">
            <a:avLst/>
          </a:prstGeom>
          <a:noFill/>
        </p:spPr>
        <p:txBody>
          <a:bodyPr wrap="square" anchor="t" lIns="0" rIns="0" tIns="0" bIns="0">
            <a:spAutoFit/>
          </a:bodyPr>
          <a:lstStyle/>
          <a:p>
            <a:pPr algn="l">
              <a:lnSpc>
                <a:spcPct val="125000"/>
              </a:lnSpc>
            </a:pPr>
            <a:r>
              <a:rPr sz="1600" b="1" i="0">
                <a:solidFill>
                  <a:srgbClr val="FFFFFF"/>
                </a:solidFill>
                <a:latin typeface="Source Han Sans SC"/>
              </a:rPr>
              <a:t>Four Bugs Found by Reading Line by Line</a:t>
            </a:r>
          </a:p>
        </p:txBody>
      </p:sp>
      <p:sp>
        <p:nvSpPr>
          <p:cNvPr id="17" name="TextBox 16"/>
          <p:cNvSpPr txBox="1"/>
          <p:nvPr/>
        </p:nvSpPr>
        <p:spPr>
          <a:xfrm>
            <a:off x="4648440" y="1890000"/>
            <a:ext cx="2895240" cy="3240000"/>
          </a:xfrm>
          <a:prstGeom prst="rect">
            <a:avLst/>
          </a:prstGeom>
          <a:noFill/>
        </p:spPr>
        <p:txBody>
          <a:bodyPr wrap="square" anchor="t" lIns="0" rIns="0" tIns="0" bIns="0">
            <a:spAutoFit/>
          </a:bodyPr>
          <a:lstStyle/>
          <a:p>
            <a:pPr algn="l">
              <a:lnSpc>
                <a:spcPct val="150000"/>
              </a:lnSpc>
              <a:spcAft>
                <a:spcPts val="800"/>
              </a:spcAft>
            </a:pPr>
            <a:r>
              <a:rPr sz="1250" b="0" i="0">
                <a:solidFill>
                  <a:srgbClr val="1F2937"/>
                </a:solidFill>
                <a:latin typeface="Source Han Sans SC"/>
              </a:rPr>
              <a:t>• No w.grad.zero_(): gradients accumulate and the loss swings between 3 and 14</a:t>
            </a:r>
          </a:p>
          <a:p>
            <a:pPr algn="l">
              <a:lnSpc>
                <a:spcPct val="150000"/>
              </a:lnSpc>
              <a:spcAft>
                <a:spcPts val="800"/>
              </a:spcAft>
            </a:pPr>
            <a:r>
              <a:rPr sz="1250" b="0" i="0">
                <a:solidFill>
                  <a:srgbClr val="1F2937"/>
                </a:solidFill>
                <a:latin typeface="Source Han Sans SC"/>
              </a:rPr>
              <a:t>• y is (n,) not (n,1): broadcasting gives (n,n) and the MSE scale is wrong</a:t>
            </a:r>
          </a:p>
          <a:p>
            <a:pPr algn="l">
              <a:lnSpc>
                <a:spcPct val="150000"/>
              </a:lnSpc>
              <a:spcAft>
                <a:spcPts val="800"/>
              </a:spcAft>
            </a:pPr>
            <a:r>
              <a:rPr sz="1250" b="0" i="0">
                <a:solidFill>
                  <a:srgbClr val="1F2937"/>
                </a:solidFill>
                <a:latin typeface="Source Han Sans SC"/>
              </a:rPr>
              <a:t>• The update is outside no_grad: it enters the graph and memory creeps up</a:t>
            </a:r>
          </a:p>
          <a:p>
            <a:pPr algn="l">
              <a:lnSpc>
                <a:spcPct val="150000"/>
              </a:lnSpc>
              <a:spcAft>
                <a:spcPts val="800"/>
              </a:spcAft>
            </a:pPr>
            <a:r>
              <a:rPr sz="1250" b="0" i="0">
                <a:solidFill>
                  <a:srgbClr val="1F2937"/>
                </a:solidFill>
                <a:latin typeface="Source Han Sans SC"/>
              </a:rPr>
              <a:t>• No fixed seed: every run gives a different curve, so no comparison is possible</a:t>
            </a:r>
          </a:p>
        </p:txBody>
      </p:sp>
      <p:sp>
        <p:nvSpPr>
          <p:cNvPr id="18" name="Rectangle 17"/>
          <p:cNvSpPr/>
          <p:nvPr/>
        </p:nvSpPr>
        <p:spPr>
          <a:xfrm>
            <a:off x="8065679" y="1170000"/>
            <a:ext cx="3327240" cy="4104000"/>
          </a:xfrm>
          <a:prstGeom prst="rect">
            <a:avLst/>
          </a:prstGeom>
          <a:solidFill>
            <a:srgbClr val="ECFDF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65679" y="1170000"/>
            <a:ext cx="3327240" cy="540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81679" y="1321200"/>
            <a:ext cx="2895240" cy="251999"/>
          </a:xfrm>
          <a:prstGeom prst="rect">
            <a:avLst/>
          </a:prstGeom>
          <a:noFill/>
        </p:spPr>
        <p:txBody>
          <a:bodyPr wrap="square" anchor="t" lIns="0" rIns="0" tIns="0" bIns="0">
            <a:spAutoFit/>
          </a:bodyPr>
          <a:lstStyle/>
          <a:p>
            <a:pPr algn="l">
              <a:lnSpc>
                <a:spcPct val="125000"/>
              </a:lnSpc>
            </a:pPr>
            <a:r>
              <a:rPr sz="1600" b="1" i="0">
                <a:solidFill>
                  <a:srgbClr val="FFFFFF"/>
                </a:solidFill>
                <a:latin typeface="Source Han Sans SC"/>
              </a:rPr>
              <a:t>Four Questions You Must Answer Line by Line</a:t>
            </a:r>
          </a:p>
        </p:txBody>
      </p:sp>
      <p:sp>
        <p:nvSpPr>
          <p:cNvPr id="21" name="TextBox 20"/>
          <p:cNvSpPr txBox="1"/>
          <p:nvPr/>
        </p:nvSpPr>
        <p:spPr>
          <a:xfrm>
            <a:off x="8281679" y="1890000"/>
            <a:ext cx="2895240" cy="3240000"/>
          </a:xfrm>
          <a:prstGeom prst="rect">
            <a:avLst/>
          </a:prstGeom>
          <a:noFill/>
        </p:spPr>
        <p:txBody>
          <a:bodyPr wrap="square" anchor="t" lIns="0" rIns="0" tIns="0" bIns="0">
            <a:spAutoFit/>
          </a:bodyPr>
          <a:lstStyle/>
          <a:p>
            <a:pPr algn="l">
              <a:lnSpc>
                <a:spcPct val="150000"/>
              </a:lnSpc>
              <a:spcAft>
                <a:spcPts val="800"/>
              </a:spcAft>
            </a:pPr>
            <a:r>
              <a:rPr sz="1250" b="0" i="0">
                <a:solidFill>
                  <a:srgbClr val="1F2937"/>
                </a:solidFill>
                <a:latin typeface="Source Han Sans SC"/>
              </a:rPr>
              <a:t>• What are the input and output shapes of this line?</a:t>
            </a:r>
          </a:p>
          <a:p>
            <a:pPr algn="l">
              <a:lnSpc>
                <a:spcPct val="150000"/>
              </a:lnSpc>
              <a:spcAft>
                <a:spcPts val="800"/>
              </a:spcAft>
            </a:pPr>
            <a:r>
              <a:rPr sz="1250" b="0" i="0">
                <a:solidFill>
                  <a:srgbClr val="1F2937"/>
                </a:solidFill>
                <a:latin typeface="Source Han Sans SC"/>
              </a:rPr>
              <a:t>• Will its gradient accumulate, and who zeroes it?</a:t>
            </a:r>
          </a:p>
          <a:p>
            <a:pPr algn="l">
              <a:lnSpc>
                <a:spcPct val="150000"/>
              </a:lnSpc>
              <a:spcAft>
                <a:spcPts val="800"/>
              </a:spcAft>
            </a:pPr>
            <a:r>
              <a:rPr sz="1250" b="0" i="0">
                <a:solidFill>
                  <a:srgbClr val="1F2937"/>
                </a:solidFill>
                <a:latin typeface="Source Han Sans SC"/>
              </a:rPr>
              <a:t>• Is it in the graph? Why, or why not?</a:t>
            </a:r>
          </a:p>
          <a:p>
            <a:pPr algn="l">
              <a:lnSpc>
                <a:spcPct val="150000"/>
              </a:lnSpc>
              <a:spcAft>
                <a:spcPts val="800"/>
              </a:spcAft>
            </a:pPr>
            <a:r>
              <a:rPr sz="1250" b="0" i="0">
                <a:solidFill>
                  <a:srgbClr val="1F2937"/>
                </a:solidFill>
                <a:latin typeface="Source Han Sans SC"/>
              </a:rPr>
              <a:t>• Replace (3,) with (3,1): what does this line return now?</a:t>
            </a:r>
          </a:p>
          <a:p>
            <a:pPr algn="l">
              <a:lnSpc>
                <a:spcPct val="150000"/>
              </a:lnSpc>
              <a:spcAft>
                <a:spcPts val="800"/>
              </a:spcAft>
            </a:pPr>
            <a:r>
              <a:rPr sz="1250" b="0" i="0">
                <a:solidFill>
                  <a:srgbClr val="1F2937"/>
                </a:solidFill>
                <a:latin typeface="Source Han Sans SC"/>
              </a:rPr>
              <a:t>• A line you cannot explain does not belong in the submission</a:t>
            </a:r>
          </a:p>
        </p:txBody>
      </p:sp>
      <p:sp>
        <p:nvSpPr>
          <p:cNvPr id="22" name="TextBox 21"/>
          <p:cNvSpPr txBox="1"/>
          <p:nvPr/>
        </p:nvSpPr>
        <p:spPr>
          <a:xfrm>
            <a:off x="799200" y="5454000"/>
            <a:ext cx="10593719" cy="576000"/>
          </a:xfrm>
          <a:prstGeom prst="rect">
            <a:avLst/>
          </a:prstGeom>
          <a:noFill/>
        </p:spPr>
        <p:txBody>
          <a:bodyPr wrap="square" anchor="t" lIns="0" rIns="0" tIns="0" bIns="0">
            <a:spAutoFit/>
          </a:bodyPr>
          <a:lstStyle/>
          <a:p>
            <a:pPr algn="l">
              <a:lnSpc>
                <a:spcPct val="140000"/>
              </a:lnSpc>
            </a:pPr>
            <a:r>
              <a:rPr sz="1250" b="0" i="0">
                <a:solidFill>
                  <a:srgbClr val="1F2937"/>
                </a:solidFill>
                <a:latin typeface="Source Han Sans SC"/>
              </a:rPr>
              <a:t>A trace says "the AI was wrong here, and this is how I found it" - not "the AI helped me". The second bug, the (n,) broadcast, raises no error and can only be caught by a shape check.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Professional Integrity: Why the Seed Must Be Fixed</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1 · Week 2</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27 / 30</a:t>
            </a:r>
          </a:p>
        </p:txBody>
      </p:sp>
      <p:sp>
        <p:nvSpPr>
          <p:cNvPr id="9" name="Rectangle 8"/>
          <p:cNvSpPr/>
          <p:nvPr/>
        </p:nvSpPr>
        <p:spPr>
          <a:xfrm>
            <a:off x="799200" y="1260000"/>
            <a:ext cx="3387239" cy="2448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60000"/>
            <a:ext cx="32400" cy="2448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22400" y="1447199"/>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Randomness Is Part of Training</a:t>
            </a:r>
          </a:p>
        </p:txBody>
      </p:sp>
      <p:sp>
        <p:nvSpPr>
          <p:cNvPr id="12" name="TextBox 11"/>
          <p:cNvSpPr txBox="1"/>
          <p:nvPr/>
        </p:nvSpPr>
        <p:spPr>
          <a:xfrm>
            <a:off x="1022400" y="1677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so pin it down</a:t>
            </a:r>
          </a:p>
        </p:txBody>
      </p:sp>
      <p:sp>
        <p:nvSpPr>
          <p:cNvPr id="13" name="TextBox 12"/>
          <p:cNvSpPr txBox="1"/>
          <p:nvPr/>
        </p:nvSpPr>
        <p:spPr>
          <a:xfrm>
            <a:off x="1022400" y="1879200"/>
            <a:ext cx="2940839" cy="16848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Initialisation, noise and shuffling are random and all change the result</a:t>
            </a:r>
          </a:p>
          <a:p>
            <a:pPr algn="l">
              <a:lnSpc>
                <a:spcPct val="140000"/>
              </a:lnSpc>
              <a:spcAft>
                <a:spcPts val="400"/>
              </a:spcAft>
            </a:pPr>
            <a:r>
              <a:rPr sz="1200" b="0" i="0">
                <a:solidFill>
                  <a:srgbClr val="1F2937"/>
                </a:solidFill>
                <a:latin typeface="Source Han Sans SC"/>
              </a:rPr>
              <a:t>• Without a seed nobody can re-check your run - including you in three days</a:t>
            </a:r>
          </a:p>
          <a:p>
            <a:pPr algn="l">
              <a:lnSpc>
                <a:spcPct val="140000"/>
              </a:lnSpc>
              <a:spcAft>
                <a:spcPts val="400"/>
              </a:spcAft>
            </a:pPr>
            <a:r>
              <a:rPr sz="1200" b="0" i="0">
                <a:solidFill>
                  <a:srgbClr val="1F2937"/>
                </a:solidFill>
                <a:latin typeface="Source Han Sans SC"/>
              </a:rPr>
              <a:t>• One line, torch.manual_seed(42), buys you verifiability</a:t>
            </a:r>
          </a:p>
        </p:txBody>
      </p:sp>
      <p:sp>
        <p:nvSpPr>
          <p:cNvPr id="14" name="Rectangle 13"/>
          <p:cNvSpPr/>
          <p:nvPr/>
        </p:nvSpPr>
        <p:spPr>
          <a:xfrm>
            <a:off x="4402440" y="1260000"/>
            <a:ext cx="3387239" cy="2448000"/>
          </a:xfrm>
          <a:prstGeom prst="rect">
            <a:avLst/>
          </a:prstGeom>
          <a:solidFill>
            <a:srgbClr val="ECFDF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2440" y="1260000"/>
            <a:ext cx="32400" cy="2448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25639" y="1447199"/>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Reproducibility Is the Standard</a:t>
            </a:r>
          </a:p>
        </p:txBody>
      </p:sp>
      <p:sp>
        <p:nvSpPr>
          <p:cNvPr id="17" name="TextBox 16"/>
          <p:cNvSpPr txBox="1"/>
          <p:nvPr/>
        </p:nvSpPr>
        <p:spPr>
          <a:xfrm>
            <a:off x="4625639" y="1677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not a nice-to-have</a:t>
            </a:r>
          </a:p>
        </p:txBody>
      </p:sp>
      <p:sp>
        <p:nvSpPr>
          <p:cNvPr id="18" name="TextBox 17"/>
          <p:cNvSpPr txBox="1"/>
          <p:nvPr/>
        </p:nvSpPr>
        <p:spPr>
          <a:xfrm>
            <a:off x="4625639" y="1879200"/>
            <a:ext cx="2940839" cy="16848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One good run is not a conclusion; a repeatable one is</a:t>
            </a:r>
          </a:p>
          <a:p>
            <a:pPr algn="l">
              <a:lnSpc>
                <a:spcPct val="140000"/>
              </a:lnSpc>
              <a:spcAft>
                <a:spcPts val="400"/>
              </a:spcAft>
            </a:pPr>
            <a:r>
              <a:rPr sz="1200" b="0" i="0">
                <a:solidFill>
                  <a:srgbClr val="1F2937"/>
                </a:solidFill>
                <a:latin typeface="Source Han Sans SC"/>
              </a:rPr>
              <a:t>• Every report carries three things: seed, environment version, one runnable command</a:t>
            </a:r>
          </a:p>
          <a:p>
            <a:pPr algn="l">
              <a:lnSpc>
                <a:spcPct val="140000"/>
              </a:lnSpc>
              <a:spcAft>
                <a:spcPts val="400"/>
              </a:spcAft>
            </a:pPr>
            <a:r>
              <a:rPr sz="1200" b="0" i="0">
                <a:solidFill>
                  <a:srgbClr val="1F2937"/>
                </a:solidFill>
                <a:latin typeface="Source Han Sans SC"/>
              </a:rPr>
              <a:t>• Small cross-device differences are normal; state them instead of quietly keeping the best run</a:t>
            </a:r>
          </a:p>
        </p:txBody>
      </p:sp>
      <p:sp>
        <p:nvSpPr>
          <p:cNvPr id="19" name="Rectangle 18"/>
          <p:cNvSpPr/>
          <p:nvPr/>
        </p:nvSpPr>
        <p:spPr>
          <a:xfrm>
            <a:off x="8005679" y="1260000"/>
            <a:ext cx="3387239" cy="2448000"/>
          </a:xfrm>
          <a:prstGeom prst="rect">
            <a:avLst/>
          </a:prstGeom>
          <a:solidFill>
            <a:srgbClr val="FFFBEB"/>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005679" y="1260000"/>
            <a:ext cx="32400" cy="2448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228879" y="1447199"/>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Keep the Errors in the Record</a:t>
            </a:r>
          </a:p>
        </p:txBody>
      </p:sp>
      <p:sp>
        <p:nvSpPr>
          <p:cNvPr id="22" name="TextBox 21"/>
          <p:cNvSpPr txBox="1"/>
          <p:nvPr/>
        </p:nvSpPr>
        <p:spPr>
          <a:xfrm>
            <a:off x="8228879" y="1677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failures are evidence</a:t>
            </a:r>
          </a:p>
        </p:txBody>
      </p:sp>
      <p:sp>
        <p:nvSpPr>
          <p:cNvPr id="23" name="TextBox 22"/>
          <p:cNvSpPr txBox="1"/>
          <p:nvPr/>
        </p:nvSpPr>
        <p:spPr>
          <a:xfrm>
            <a:off x="8228879" y="1879200"/>
            <a:ext cx="2940839" cy="16848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Shape errors and debugging are evidence of skill, not marks to hide</a:t>
            </a:r>
          </a:p>
          <a:p>
            <a:pPr algn="l">
              <a:lnSpc>
                <a:spcPct val="140000"/>
              </a:lnSpc>
              <a:spcAft>
                <a:spcPts val="400"/>
              </a:spcAft>
            </a:pPr>
            <a:r>
              <a:rPr sz="1200" b="0" i="0">
                <a:solidFill>
                  <a:srgbClr val="1F2937"/>
                </a:solidFill>
                <a:latin typeface="Source Han Sans SC"/>
              </a:rPr>
              <a:t>• A report with only the successful run says nothing about whether you did the work</a:t>
            </a:r>
          </a:p>
          <a:p>
            <a:pPr algn="l">
              <a:lnSpc>
                <a:spcPct val="140000"/>
              </a:lnSpc>
              <a:spcAft>
                <a:spcPts val="400"/>
              </a:spcAft>
            </a:pPr>
            <a:r>
              <a:rPr sz="1200" b="0" i="0">
                <a:solidFill>
                  <a:srgbClr val="1F2937"/>
                </a:solidFill>
                <a:latin typeface="Source Han Sans SC"/>
              </a:rPr>
              <a:t>• The bottom line: never fabricate output, never prettify a curve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Quick Check</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1 · Week 2</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28 / 30</a:t>
            </a:r>
          </a:p>
        </p:txBody>
      </p:sp>
      <p:sp>
        <p:nvSpPr>
          <p:cNvPr id="9" name="Rectangle 8"/>
          <p:cNvSpPr/>
          <p:nvPr/>
        </p:nvSpPr>
        <p:spPr>
          <a:xfrm>
            <a:off x="799200" y="1116000"/>
            <a:ext cx="5197859" cy="149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997200" y="1278000"/>
            <a:ext cx="900000" cy="2232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97200" y="1324800"/>
            <a:ext cx="900000" cy="151200"/>
          </a:xfrm>
          <a:prstGeom prst="rect">
            <a:avLst/>
          </a:prstGeom>
          <a:noFill/>
        </p:spPr>
        <p:txBody>
          <a:bodyPr wrap="square" anchor="t" lIns="0" rIns="0" tIns="0" bIns="0">
            <a:spAutoFit/>
          </a:bodyPr>
          <a:lstStyle/>
          <a:p>
            <a:pPr algn="ctr">
              <a:lnSpc>
                <a:spcPct val="125000"/>
              </a:lnSpc>
            </a:pPr>
            <a:r>
              <a:rPr sz="1050" b="1" i="0">
                <a:solidFill>
                  <a:srgbClr val="FFFFFF"/>
                </a:solidFill>
                <a:latin typeface="Source Han Sans SC"/>
              </a:rPr>
              <a:t>Shapes</a:t>
            </a:r>
          </a:p>
        </p:txBody>
      </p:sp>
      <p:sp>
        <p:nvSpPr>
          <p:cNvPr id="12" name="TextBox 11"/>
          <p:cNvSpPr txBox="1"/>
          <p:nvPr/>
        </p:nvSpPr>
        <p:spPr>
          <a:xfrm>
            <a:off x="2005200" y="1278000"/>
            <a:ext cx="3793859" cy="540000"/>
          </a:xfrm>
          <a:prstGeom prst="rect">
            <a:avLst/>
          </a:prstGeom>
          <a:noFill/>
        </p:spPr>
        <p:txBody>
          <a:bodyPr wrap="square" anchor="t" lIns="0" rIns="0" tIns="0" bIns="0">
            <a:spAutoFit/>
          </a:bodyPr>
          <a:lstStyle/>
          <a:p>
            <a:pPr algn="l">
              <a:lnSpc>
                <a:spcPct val="130000"/>
              </a:lnSpc>
            </a:pPr>
            <a:r>
              <a:rPr sz="1250" b="1" i="0">
                <a:solidFill>
                  <a:srgbClr val="0E3F8C"/>
                </a:solidFill>
                <a:latin typeface="Source Han Sans SC"/>
              </a:rPr>
              <a:t>X has shape (100, 1) and w has shape (1, 1). What is the shape of X @ w?</a:t>
            </a:r>
          </a:p>
        </p:txBody>
      </p:sp>
      <p:sp>
        <p:nvSpPr>
          <p:cNvPr id="13" name="TextBox 12"/>
          <p:cNvSpPr txBox="1"/>
          <p:nvPr/>
        </p:nvSpPr>
        <p:spPr>
          <a:xfrm>
            <a:off x="997200" y="1890000"/>
            <a:ext cx="4801859" cy="630000"/>
          </a:xfrm>
          <a:prstGeom prst="rect">
            <a:avLst/>
          </a:prstGeom>
          <a:noFill/>
        </p:spPr>
        <p:txBody>
          <a:bodyPr wrap="square" anchor="t" lIns="0" rIns="0" tIns="0" bIns="0">
            <a:spAutoFit/>
          </a:bodyPr>
          <a:lstStyle/>
          <a:p>
            <a:pPr algn="l">
              <a:lnSpc>
                <a:spcPct val="140000"/>
              </a:lnSpc>
              <a:spcAft>
                <a:spcPts val="300"/>
              </a:spcAft>
            </a:pPr>
            <a:r>
              <a:rPr sz="1150" b="0" i="0">
                <a:solidFill>
                  <a:srgbClr val="1F2937"/>
                </a:solidFill>
                <a:latin typeface="Source Han Sans SC"/>
              </a:rPr>
              <a:t>(100, 1)</a:t>
            </a:r>
          </a:p>
          <a:p>
            <a:pPr algn="l">
              <a:lnSpc>
                <a:spcPct val="140000"/>
              </a:lnSpc>
              <a:spcAft>
                <a:spcPts val="300"/>
              </a:spcAft>
            </a:pPr>
            <a:r>
              <a:rPr sz="1150" b="0" i="0">
                <a:solidFill>
                  <a:srgbClr val="1F2937"/>
                </a:solidFill>
                <a:latin typeface="Source Han Sans SC"/>
              </a:rPr>
              <a:t>(100, 100)</a:t>
            </a:r>
          </a:p>
          <a:p>
            <a:pPr algn="l">
              <a:lnSpc>
                <a:spcPct val="140000"/>
              </a:lnSpc>
              <a:spcAft>
                <a:spcPts val="300"/>
              </a:spcAft>
            </a:pPr>
            <a:r>
              <a:rPr sz="1150" b="0" i="0">
                <a:solidFill>
                  <a:srgbClr val="1F2937"/>
                </a:solidFill>
                <a:latin typeface="Source Han Sans SC"/>
              </a:rPr>
              <a:t>(1, 1)</a:t>
            </a:r>
          </a:p>
          <a:p>
            <a:pPr algn="l">
              <a:lnSpc>
                <a:spcPct val="140000"/>
              </a:lnSpc>
              <a:spcAft>
                <a:spcPts val="300"/>
              </a:spcAft>
            </a:pPr>
            <a:r>
              <a:rPr sz="1150" b="0" i="0">
                <a:solidFill>
                  <a:srgbClr val="1F2937"/>
                </a:solidFill>
                <a:latin typeface="Source Han Sans SC"/>
              </a:rPr>
              <a:t>An error - matrix multiply needs broadcasting</a:t>
            </a:r>
          </a:p>
        </p:txBody>
      </p:sp>
      <p:sp>
        <p:nvSpPr>
          <p:cNvPr id="14" name="Rectangle 13"/>
          <p:cNvSpPr/>
          <p:nvPr/>
        </p:nvSpPr>
        <p:spPr>
          <a:xfrm>
            <a:off x="6195059" y="1116000"/>
            <a:ext cx="5197859" cy="149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393059" y="1278000"/>
            <a:ext cx="900000" cy="2232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393059" y="1324800"/>
            <a:ext cx="900000" cy="151200"/>
          </a:xfrm>
          <a:prstGeom prst="rect">
            <a:avLst/>
          </a:prstGeom>
          <a:noFill/>
        </p:spPr>
        <p:txBody>
          <a:bodyPr wrap="square" anchor="t" lIns="0" rIns="0" tIns="0" bIns="0">
            <a:spAutoFit/>
          </a:bodyPr>
          <a:lstStyle/>
          <a:p>
            <a:pPr algn="ctr">
              <a:lnSpc>
                <a:spcPct val="125000"/>
              </a:lnSpc>
            </a:pPr>
            <a:r>
              <a:rPr sz="1050" b="1" i="0">
                <a:solidFill>
                  <a:srgbClr val="FFFFFF"/>
                </a:solidFill>
                <a:latin typeface="Source Han Sans SC"/>
              </a:rPr>
              <a:t>Broadcasting</a:t>
            </a:r>
          </a:p>
        </p:txBody>
      </p:sp>
      <p:sp>
        <p:nvSpPr>
          <p:cNvPr id="17" name="TextBox 16"/>
          <p:cNvSpPr txBox="1"/>
          <p:nvPr/>
        </p:nvSpPr>
        <p:spPr>
          <a:xfrm>
            <a:off x="7401059" y="1278000"/>
            <a:ext cx="3793859" cy="540000"/>
          </a:xfrm>
          <a:prstGeom prst="rect">
            <a:avLst/>
          </a:prstGeom>
          <a:noFill/>
        </p:spPr>
        <p:txBody>
          <a:bodyPr wrap="square" anchor="t" lIns="0" rIns="0" tIns="0" bIns="0">
            <a:spAutoFit/>
          </a:bodyPr>
          <a:lstStyle/>
          <a:p>
            <a:pPr algn="l">
              <a:lnSpc>
                <a:spcPct val="130000"/>
              </a:lnSpc>
            </a:pPr>
            <a:r>
              <a:rPr sz="1250" b="1" i="0">
                <a:solidFill>
                  <a:srgbClr val="0E3F8C"/>
                </a:solidFill>
                <a:latin typeface="Source Han Sans SC"/>
              </a:rPr>
              <a:t>A tensor of shape (3, 1) is added to one of shape (3,). What shape comes out?</a:t>
            </a:r>
          </a:p>
        </p:txBody>
      </p:sp>
      <p:sp>
        <p:nvSpPr>
          <p:cNvPr id="18" name="TextBox 17"/>
          <p:cNvSpPr txBox="1"/>
          <p:nvPr/>
        </p:nvSpPr>
        <p:spPr>
          <a:xfrm>
            <a:off x="6393059" y="1890000"/>
            <a:ext cx="4801859" cy="630000"/>
          </a:xfrm>
          <a:prstGeom prst="rect">
            <a:avLst/>
          </a:prstGeom>
          <a:noFill/>
        </p:spPr>
        <p:txBody>
          <a:bodyPr wrap="square" anchor="t" lIns="0" rIns="0" tIns="0" bIns="0">
            <a:spAutoFit/>
          </a:bodyPr>
          <a:lstStyle/>
          <a:p>
            <a:pPr algn="l">
              <a:lnSpc>
                <a:spcPct val="140000"/>
              </a:lnSpc>
              <a:spcAft>
                <a:spcPts val="300"/>
              </a:spcAft>
            </a:pPr>
            <a:r>
              <a:rPr sz="1150" b="0" i="0">
                <a:solidFill>
                  <a:srgbClr val="1F2937"/>
                </a:solidFill>
                <a:latin typeface="Source Han Sans SC"/>
              </a:rPr>
              <a:t>(3,)</a:t>
            </a:r>
          </a:p>
          <a:p>
            <a:pPr algn="l">
              <a:lnSpc>
                <a:spcPct val="140000"/>
              </a:lnSpc>
              <a:spcAft>
                <a:spcPts val="300"/>
              </a:spcAft>
            </a:pPr>
            <a:r>
              <a:rPr sz="1150" b="0" i="0">
                <a:solidFill>
                  <a:srgbClr val="1F2937"/>
                </a:solidFill>
                <a:latin typeface="Source Han Sans SC"/>
              </a:rPr>
              <a:t>(3, 1)</a:t>
            </a:r>
          </a:p>
          <a:p>
            <a:pPr algn="l">
              <a:lnSpc>
                <a:spcPct val="140000"/>
              </a:lnSpc>
              <a:spcAft>
                <a:spcPts val="300"/>
              </a:spcAft>
            </a:pPr>
            <a:r>
              <a:rPr sz="1150" b="0" i="0">
                <a:solidFill>
                  <a:srgbClr val="1F2937"/>
                </a:solidFill>
                <a:latin typeface="Source Han Sans SC"/>
              </a:rPr>
              <a:t>(3, 3)</a:t>
            </a:r>
          </a:p>
          <a:p>
            <a:pPr algn="l">
              <a:lnSpc>
                <a:spcPct val="140000"/>
              </a:lnSpc>
              <a:spcAft>
                <a:spcPts val="300"/>
              </a:spcAft>
            </a:pPr>
            <a:r>
              <a:rPr sz="1150" b="0" i="0">
                <a:solidFill>
                  <a:srgbClr val="1F2937"/>
                </a:solidFill>
                <a:latin typeface="Source Han Sans SC"/>
              </a:rPr>
              <a:t>An error - the ranks differ</a:t>
            </a:r>
          </a:p>
        </p:txBody>
      </p:sp>
      <p:sp>
        <p:nvSpPr>
          <p:cNvPr id="19" name="Rectangle 18"/>
          <p:cNvSpPr/>
          <p:nvPr/>
        </p:nvSpPr>
        <p:spPr>
          <a:xfrm>
            <a:off x="799200" y="2808000"/>
            <a:ext cx="5197859" cy="149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997200" y="2970000"/>
            <a:ext cx="900000" cy="2232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97200" y="3016800"/>
            <a:ext cx="900000" cy="151200"/>
          </a:xfrm>
          <a:prstGeom prst="rect">
            <a:avLst/>
          </a:prstGeom>
          <a:noFill/>
        </p:spPr>
        <p:txBody>
          <a:bodyPr wrap="square" anchor="t" lIns="0" rIns="0" tIns="0" bIns="0">
            <a:spAutoFit/>
          </a:bodyPr>
          <a:lstStyle/>
          <a:p>
            <a:pPr algn="ctr">
              <a:lnSpc>
                <a:spcPct val="125000"/>
              </a:lnSpc>
            </a:pPr>
            <a:r>
              <a:rPr sz="1050" b="1" i="0">
                <a:solidFill>
                  <a:srgbClr val="FFFFFF"/>
                </a:solidFill>
                <a:latin typeface="Source Han Sans SC"/>
              </a:rPr>
              <a:t>Autograd</a:t>
            </a:r>
          </a:p>
        </p:txBody>
      </p:sp>
      <p:sp>
        <p:nvSpPr>
          <p:cNvPr id="22" name="TextBox 21"/>
          <p:cNvSpPr txBox="1"/>
          <p:nvPr/>
        </p:nvSpPr>
        <p:spPr>
          <a:xfrm>
            <a:off x="2005200" y="2970000"/>
            <a:ext cx="3793859" cy="540000"/>
          </a:xfrm>
          <a:prstGeom prst="rect">
            <a:avLst/>
          </a:prstGeom>
          <a:noFill/>
        </p:spPr>
        <p:txBody>
          <a:bodyPr wrap="square" anchor="t" lIns="0" rIns="0" tIns="0" bIns="0">
            <a:spAutoFit/>
          </a:bodyPr>
          <a:lstStyle/>
          <a:p>
            <a:pPr algn="l">
              <a:lnSpc>
                <a:spcPct val="130000"/>
              </a:lnSpc>
            </a:pPr>
            <a:r>
              <a:rPr sz="1250" b="1" i="0">
                <a:solidFill>
                  <a:srgbClr val="0E3F8C"/>
                </a:solidFill>
                <a:latin typeface="Source Han Sans SC"/>
              </a:rPr>
              <a:t>x = torch.tensor(2.0, requires_grad=True); y = x ** 3; after y.backward(), x.grad is?</a:t>
            </a:r>
          </a:p>
        </p:txBody>
      </p:sp>
      <p:sp>
        <p:nvSpPr>
          <p:cNvPr id="23" name="TextBox 22"/>
          <p:cNvSpPr txBox="1"/>
          <p:nvPr/>
        </p:nvSpPr>
        <p:spPr>
          <a:xfrm>
            <a:off x="997200" y="3582000"/>
            <a:ext cx="4801859" cy="630000"/>
          </a:xfrm>
          <a:prstGeom prst="rect">
            <a:avLst/>
          </a:prstGeom>
          <a:noFill/>
        </p:spPr>
        <p:txBody>
          <a:bodyPr wrap="square" anchor="t" lIns="0" rIns="0" tIns="0" bIns="0">
            <a:spAutoFit/>
          </a:bodyPr>
          <a:lstStyle/>
          <a:p>
            <a:pPr algn="l">
              <a:lnSpc>
                <a:spcPct val="140000"/>
              </a:lnSpc>
              <a:spcAft>
                <a:spcPts val="300"/>
              </a:spcAft>
            </a:pPr>
            <a:r>
              <a:rPr sz="1150" b="0" i="0">
                <a:solidFill>
                  <a:srgbClr val="1F2937"/>
                </a:solidFill>
                <a:latin typeface="Source Han Sans SC"/>
              </a:rPr>
              <a:t>6</a:t>
            </a:r>
          </a:p>
          <a:p>
            <a:pPr algn="l">
              <a:lnSpc>
                <a:spcPct val="140000"/>
              </a:lnSpc>
              <a:spcAft>
                <a:spcPts val="300"/>
              </a:spcAft>
            </a:pPr>
            <a:r>
              <a:rPr sz="1150" b="0" i="0">
                <a:solidFill>
                  <a:srgbClr val="1F2937"/>
                </a:solidFill>
                <a:latin typeface="Source Han Sans SC"/>
              </a:rPr>
              <a:t>8</a:t>
            </a:r>
          </a:p>
          <a:p>
            <a:pPr algn="l">
              <a:lnSpc>
                <a:spcPct val="140000"/>
              </a:lnSpc>
              <a:spcAft>
                <a:spcPts val="300"/>
              </a:spcAft>
            </a:pPr>
            <a:r>
              <a:rPr sz="1150" b="0" i="0">
                <a:solidFill>
                  <a:srgbClr val="1F2937"/>
                </a:solidFill>
                <a:latin typeface="Source Han Sans SC"/>
              </a:rPr>
              <a:t>12</a:t>
            </a:r>
          </a:p>
          <a:p>
            <a:pPr algn="l">
              <a:lnSpc>
                <a:spcPct val="140000"/>
              </a:lnSpc>
              <a:spcAft>
                <a:spcPts val="300"/>
              </a:spcAft>
            </a:pPr>
            <a:r>
              <a:rPr sz="1150" b="0" i="0">
                <a:solidFill>
                  <a:srgbClr val="1F2937"/>
                </a:solidFill>
                <a:latin typeface="Source Han Sans SC"/>
              </a:rPr>
              <a:t>None</a:t>
            </a:r>
          </a:p>
        </p:txBody>
      </p:sp>
      <p:sp>
        <p:nvSpPr>
          <p:cNvPr id="24" name="Rectangle 23"/>
          <p:cNvSpPr/>
          <p:nvPr/>
        </p:nvSpPr>
        <p:spPr>
          <a:xfrm>
            <a:off x="6195059" y="2808000"/>
            <a:ext cx="5197859" cy="149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393059" y="2970000"/>
            <a:ext cx="900000" cy="2232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393059" y="3016800"/>
            <a:ext cx="900000" cy="151200"/>
          </a:xfrm>
          <a:prstGeom prst="rect">
            <a:avLst/>
          </a:prstGeom>
          <a:noFill/>
        </p:spPr>
        <p:txBody>
          <a:bodyPr wrap="square" anchor="t" lIns="0" rIns="0" tIns="0" bIns="0">
            <a:spAutoFit/>
          </a:bodyPr>
          <a:lstStyle/>
          <a:p>
            <a:pPr algn="ctr">
              <a:lnSpc>
                <a:spcPct val="125000"/>
              </a:lnSpc>
            </a:pPr>
            <a:r>
              <a:rPr sz="1050" b="1" i="0">
                <a:solidFill>
                  <a:srgbClr val="FFFFFF"/>
                </a:solidFill>
                <a:latin typeface="Source Han Sans SC"/>
              </a:rPr>
              <a:t>Debug</a:t>
            </a:r>
          </a:p>
        </p:txBody>
      </p:sp>
      <p:sp>
        <p:nvSpPr>
          <p:cNvPr id="27" name="TextBox 26"/>
          <p:cNvSpPr txBox="1"/>
          <p:nvPr/>
        </p:nvSpPr>
        <p:spPr>
          <a:xfrm>
            <a:off x="7401059" y="2970000"/>
            <a:ext cx="3793859" cy="540000"/>
          </a:xfrm>
          <a:prstGeom prst="rect">
            <a:avLst/>
          </a:prstGeom>
          <a:noFill/>
        </p:spPr>
        <p:txBody>
          <a:bodyPr wrap="square" anchor="t" lIns="0" rIns="0" tIns="0" bIns="0">
            <a:spAutoFit/>
          </a:bodyPr>
          <a:lstStyle/>
          <a:p>
            <a:pPr algn="l">
              <a:lnSpc>
                <a:spcPct val="130000"/>
              </a:lnSpc>
            </a:pPr>
            <a:r>
              <a:rPr sz="1250" b="1" i="0">
                <a:solidFill>
                  <a:srgbClr val="0E3F8C"/>
                </a:solidFill>
                <a:latin typeface="Source Han Sans SC"/>
              </a:rPr>
              <a:t>During training the loss keeps oscillating and never falls. What should you check first?</a:t>
            </a:r>
          </a:p>
        </p:txBody>
      </p:sp>
      <p:sp>
        <p:nvSpPr>
          <p:cNvPr id="28" name="TextBox 27"/>
          <p:cNvSpPr txBox="1"/>
          <p:nvPr/>
        </p:nvSpPr>
        <p:spPr>
          <a:xfrm>
            <a:off x="6393059" y="3582000"/>
            <a:ext cx="4801859" cy="630000"/>
          </a:xfrm>
          <a:prstGeom prst="rect">
            <a:avLst/>
          </a:prstGeom>
          <a:noFill/>
        </p:spPr>
        <p:txBody>
          <a:bodyPr wrap="square" anchor="t" lIns="0" rIns="0" tIns="0" bIns="0">
            <a:spAutoFit/>
          </a:bodyPr>
          <a:lstStyle/>
          <a:p>
            <a:pPr algn="l">
              <a:lnSpc>
                <a:spcPct val="140000"/>
              </a:lnSpc>
              <a:spcAft>
                <a:spcPts val="300"/>
              </a:spcAft>
            </a:pPr>
            <a:r>
              <a:rPr sz="1150" b="0" i="0">
                <a:solidFill>
                  <a:srgbClr val="1F2937"/>
                </a:solidFill>
                <a:latin typeface="Source Han Sans SC"/>
              </a:rPr>
              <a:t>Switch to a bigger model</a:t>
            </a:r>
          </a:p>
          <a:p>
            <a:pPr algn="l">
              <a:lnSpc>
                <a:spcPct val="140000"/>
              </a:lnSpc>
              <a:spcAft>
                <a:spcPts val="300"/>
              </a:spcAft>
            </a:pPr>
            <a:r>
              <a:rPr sz="1150" b="0" i="0">
                <a:solidFill>
                  <a:srgbClr val="1F2937"/>
                </a:solidFill>
                <a:latin typeface="Source Han Sans SC"/>
              </a:rPr>
              <a:t>Whether the gradients are zeroed each step</a:t>
            </a:r>
          </a:p>
          <a:p>
            <a:pPr algn="l">
              <a:lnSpc>
                <a:spcPct val="140000"/>
              </a:lnSpc>
              <a:spcAft>
                <a:spcPts val="300"/>
              </a:spcAft>
            </a:pPr>
            <a:r>
              <a:rPr sz="1150" b="0" i="0">
                <a:solidFill>
                  <a:srgbClr val="1F2937"/>
                </a:solidFill>
                <a:latin typeface="Source Han Sans SC"/>
              </a:rPr>
              <a:t>Normalise all the data</a:t>
            </a:r>
          </a:p>
          <a:p>
            <a:pPr algn="l">
              <a:lnSpc>
                <a:spcPct val="140000"/>
              </a:lnSpc>
              <a:spcAft>
                <a:spcPts val="300"/>
              </a:spcAft>
            </a:pPr>
            <a:r>
              <a:rPr sz="1150" b="0" i="0">
                <a:solidFill>
                  <a:srgbClr val="1F2937"/>
                </a:solidFill>
                <a:latin typeface="Source Han Sans SC"/>
              </a:rPr>
              <a:t>Move the run onto a GPU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Week 2 Summary</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1 · Week 2</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29 / 30</a:t>
            </a:r>
          </a:p>
        </p:txBody>
      </p:sp>
      <p:sp>
        <p:nvSpPr>
          <p:cNvPr id="9" name="Rectangle 8"/>
          <p:cNvSpPr/>
          <p:nvPr/>
        </p:nvSpPr>
        <p:spPr>
          <a:xfrm>
            <a:off x="799200" y="1152000"/>
            <a:ext cx="6696000" cy="666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152000"/>
            <a:ext cx="475200" cy="666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99200" y="1350000"/>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1</a:t>
            </a:r>
          </a:p>
        </p:txBody>
      </p:sp>
      <p:sp>
        <p:nvSpPr>
          <p:cNvPr id="12" name="TextBox 11"/>
          <p:cNvSpPr txBox="1"/>
          <p:nvPr/>
        </p:nvSpPr>
        <p:spPr>
          <a:xfrm>
            <a:off x="1429200" y="1278000"/>
            <a:ext cx="5832000" cy="414000"/>
          </a:xfrm>
          <a:prstGeom prst="rect">
            <a:avLst/>
          </a:prstGeom>
          <a:noFill/>
        </p:spPr>
        <p:txBody>
          <a:bodyPr wrap="square" anchor="ctr" lIns="0" rIns="0" tIns="0" bIns="0">
            <a:spAutoFit/>
          </a:bodyPr>
          <a:lstStyle/>
          <a:p>
            <a:pPr algn="l">
              <a:lnSpc>
                <a:spcPct val="135000"/>
              </a:lnSpc>
            </a:pPr>
            <a:r>
              <a:rPr sz="1300" b="0" i="0">
                <a:solidFill>
                  <a:srgbClr val="1F2937"/>
                </a:solidFill>
                <a:latin typeface="Source Han Sans SC"/>
              </a:rPr>
              <a:t>A tensor is the only container: report four things first - shape, dtype, device, requires_grad.</a:t>
            </a:r>
          </a:p>
        </p:txBody>
      </p:sp>
      <p:sp>
        <p:nvSpPr>
          <p:cNvPr id="13" name="Rectangle 12"/>
          <p:cNvSpPr/>
          <p:nvPr/>
        </p:nvSpPr>
        <p:spPr>
          <a:xfrm>
            <a:off x="799200" y="1969200"/>
            <a:ext cx="6696000" cy="666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9200" y="1969200"/>
            <a:ext cx="475200" cy="666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99200" y="2167200"/>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2</a:t>
            </a:r>
          </a:p>
        </p:txBody>
      </p:sp>
      <p:sp>
        <p:nvSpPr>
          <p:cNvPr id="16" name="TextBox 15"/>
          <p:cNvSpPr txBox="1"/>
          <p:nvPr/>
        </p:nvSpPr>
        <p:spPr>
          <a:xfrm>
            <a:off x="1429200" y="2095199"/>
            <a:ext cx="5832000" cy="414000"/>
          </a:xfrm>
          <a:prstGeom prst="rect">
            <a:avLst/>
          </a:prstGeom>
          <a:noFill/>
        </p:spPr>
        <p:txBody>
          <a:bodyPr wrap="square" anchor="ctr" lIns="0" rIns="0" tIns="0" bIns="0">
            <a:spAutoFit/>
          </a:bodyPr>
          <a:lstStyle/>
          <a:p>
            <a:pPr algn="l">
              <a:lnSpc>
                <a:spcPct val="135000"/>
              </a:lnSpc>
            </a:pPr>
            <a:r>
              <a:rPr sz="1300" b="0" i="0">
                <a:solidFill>
                  <a:srgbClr val="1F2937"/>
                </a:solidFill>
                <a:latin typeface="Source Han Sans SC"/>
              </a:rPr>
              <a:t>Prefer reshape; add dimensions with unsqueeze(1); view is safe only on contiguous tensors.</a:t>
            </a:r>
          </a:p>
        </p:txBody>
      </p:sp>
      <p:sp>
        <p:nvSpPr>
          <p:cNvPr id="17" name="Rectangle 16"/>
          <p:cNvSpPr/>
          <p:nvPr/>
        </p:nvSpPr>
        <p:spPr>
          <a:xfrm>
            <a:off x="799200" y="2786400"/>
            <a:ext cx="6696000" cy="666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799200" y="2786400"/>
            <a:ext cx="475200" cy="666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99200" y="2984400"/>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3</a:t>
            </a:r>
          </a:p>
        </p:txBody>
      </p:sp>
      <p:sp>
        <p:nvSpPr>
          <p:cNvPr id="20" name="TextBox 19"/>
          <p:cNvSpPr txBox="1"/>
          <p:nvPr/>
        </p:nvSpPr>
        <p:spPr>
          <a:xfrm>
            <a:off x="1429200" y="2912400"/>
            <a:ext cx="5832000" cy="414000"/>
          </a:xfrm>
          <a:prstGeom prst="rect">
            <a:avLst/>
          </a:prstGeom>
          <a:noFill/>
        </p:spPr>
        <p:txBody>
          <a:bodyPr wrap="square" anchor="ctr" lIns="0" rIns="0" tIns="0" bIns="0">
            <a:spAutoFit/>
          </a:bodyPr>
          <a:lstStyle/>
          <a:p>
            <a:pPr algn="l">
              <a:lnSpc>
                <a:spcPct val="135000"/>
              </a:lnSpc>
            </a:pPr>
            <a:r>
              <a:rPr sz="1300" b="0" i="0">
                <a:solidFill>
                  <a:srgbClr val="1F2937"/>
                </a:solidFill>
                <a:latin typeface="Source Han Sans SC"/>
              </a:rPr>
              <a:t>Broadcasting aligns from the right and stretches every 1: (3,) plus (3,1) silently gives (3,3) - this week's most dangerous bug.</a:t>
            </a:r>
          </a:p>
        </p:txBody>
      </p:sp>
      <p:sp>
        <p:nvSpPr>
          <p:cNvPr id="21" name="Rectangle 20"/>
          <p:cNvSpPr/>
          <p:nvPr/>
        </p:nvSpPr>
        <p:spPr>
          <a:xfrm>
            <a:off x="799200" y="3603600"/>
            <a:ext cx="6696000" cy="666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799200" y="3603600"/>
            <a:ext cx="475200" cy="666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99200" y="3801600"/>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4</a:t>
            </a:r>
          </a:p>
        </p:txBody>
      </p:sp>
      <p:sp>
        <p:nvSpPr>
          <p:cNvPr id="24" name="TextBox 23"/>
          <p:cNvSpPr txBox="1"/>
          <p:nvPr/>
        </p:nvSpPr>
        <p:spPr>
          <a:xfrm>
            <a:off x="1429200" y="3729600"/>
            <a:ext cx="5832000" cy="414000"/>
          </a:xfrm>
          <a:prstGeom prst="rect">
            <a:avLst/>
          </a:prstGeom>
          <a:noFill/>
        </p:spPr>
        <p:txBody>
          <a:bodyPr wrap="square" anchor="ctr" lIns="0" rIns="0" tIns="0" bIns="0">
            <a:spAutoFit/>
          </a:bodyPr>
          <a:lstStyle/>
          <a:p>
            <a:pPr algn="l">
              <a:lnSpc>
                <a:spcPct val="135000"/>
              </a:lnSpc>
            </a:pPr>
            <a:r>
              <a:rPr sz="1300" b="0" i="0">
                <a:solidFill>
                  <a:srgbClr val="1F2937"/>
                </a:solidFill>
                <a:latin typeface="Source Han Sans SC"/>
              </a:rPr>
              <a:t>Autograd has two rules: only leaves receive .grad, and .grad accumulates.</a:t>
            </a:r>
          </a:p>
        </p:txBody>
      </p:sp>
      <p:sp>
        <p:nvSpPr>
          <p:cNvPr id="25" name="Rectangle 24"/>
          <p:cNvSpPr/>
          <p:nvPr/>
        </p:nvSpPr>
        <p:spPr>
          <a:xfrm>
            <a:off x="799200" y="4420800"/>
            <a:ext cx="6696000" cy="666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799200" y="4420800"/>
            <a:ext cx="475200" cy="666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99200" y="4618800"/>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5</a:t>
            </a:r>
          </a:p>
        </p:txBody>
      </p:sp>
      <p:sp>
        <p:nvSpPr>
          <p:cNvPr id="28" name="TextBox 27"/>
          <p:cNvSpPr txBox="1"/>
          <p:nvPr/>
        </p:nvSpPr>
        <p:spPr>
          <a:xfrm>
            <a:off x="1429200" y="4546800"/>
            <a:ext cx="5832000" cy="414000"/>
          </a:xfrm>
          <a:prstGeom prst="rect">
            <a:avLst/>
          </a:prstGeom>
          <a:noFill/>
        </p:spPr>
        <p:txBody>
          <a:bodyPr wrap="square" anchor="ctr" lIns="0" rIns="0" tIns="0" bIns="0">
            <a:spAutoFit/>
          </a:bodyPr>
          <a:lstStyle/>
          <a:p>
            <a:pPr algn="l">
              <a:lnSpc>
                <a:spcPct val="135000"/>
              </a:lnSpc>
            </a:pPr>
            <a:r>
              <a:rPr sz="1300" b="0" i="0">
                <a:solidFill>
                  <a:srgbClr val="1F2937"/>
                </a:solidFill>
                <a:latin typeface="Source Han Sans SC"/>
              </a:rPr>
              <a:t>Four moves per update: backward, update under no_grad, zero the grads, log the loss - in that order.</a:t>
            </a:r>
          </a:p>
        </p:txBody>
      </p:sp>
      <p:sp>
        <p:nvSpPr>
          <p:cNvPr id="29" name="Rectangle 28"/>
          <p:cNvSpPr/>
          <p:nvPr/>
        </p:nvSpPr>
        <p:spPr>
          <a:xfrm>
            <a:off x="7801200" y="1152000"/>
            <a:ext cx="3591719" cy="486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017200" y="1281599"/>
            <a:ext cx="3159719" cy="216000"/>
          </a:xfrm>
          <a:prstGeom prst="rect">
            <a:avLst/>
          </a:prstGeom>
          <a:noFill/>
        </p:spPr>
        <p:txBody>
          <a:bodyPr wrap="square" anchor="t" lIns="0" rIns="0" tIns="0" bIns="0">
            <a:spAutoFit/>
          </a:bodyPr>
          <a:lstStyle/>
          <a:p>
            <a:pPr algn="l">
              <a:lnSpc>
                <a:spcPct val="125000"/>
              </a:lnSpc>
            </a:pPr>
            <a:r>
              <a:rPr sz="1400" b="1" i="0">
                <a:solidFill>
                  <a:srgbClr val="FFFFFF"/>
                </a:solidFill>
                <a:latin typeface="Source Han Sans SC"/>
              </a:rPr>
              <a:t>After Class</a:t>
            </a:r>
          </a:p>
        </p:txBody>
      </p:sp>
      <p:sp>
        <p:nvSpPr>
          <p:cNvPr id="31" name="Rectangle 30"/>
          <p:cNvSpPr/>
          <p:nvPr/>
        </p:nvSpPr>
        <p:spPr>
          <a:xfrm>
            <a:off x="7801200" y="1818000"/>
            <a:ext cx="3591719" cy="936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017200" y="1969200"/>
            <a:ext cx="3159719" cy="216000"/>
          </a:xfrm>
          <a:prstGeom prst="rect">
            <a:avLst/>
          </a:prstGeom>
          <a:noFill/>
        </p:spPr>
        <p:txBody>
          <a:bodyPr wrap="square" anchor="t" lIns="0" rIns="0" tIns="0" bIns="0">
            <a:spAutoFit/>
          </a:bodyPr>
          <a:lstStyle/>
          <a:p>
            <a:pPr algn="l">
              <a:lnSpc>
                <a:spcPct val="125000"/>
              </a:lnSpc>
            </a:pPr>
            <a:r>
              <a:rPr sz="1350" b="1" i="0">
                <a:solidFill>
                  <a:srgbClr val="0E3F8C"/>
                </a:solidFill>
                <a:latin typeface="Source Han Sans SC"/>
              </a:rPr>
              <a:t>Finish the Lab 1 report</a:t>
            </a:r>
          </a:p>
        </p:txBody>
      </p:sp>
      <p:sp>
        <p:nvSpPr>
          <p:cNvPr id="33" name="TextBox 32"/>
          <p:cNvSpPr txBox="1"/>
          <p:nvPr/>
        </p:nvSpPr>
        <p:spPr>
          <a:xfrm>
            <a:off x="8017200" y="2221200"/>
            <a:ext cx="3159719" cy="468000"/>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Loss curves for three learning rates, the parameter comparison, the shape pitfall log, and a reproducible command.</a:t>
            </a:r>
          </a:p>
        </p:txBody>
      </p:sp>
      <p:sp>
        <p:nvSpPr>
          <p:cNvPr id="34" name="Rectangle 33"/>
          <p:cNvSpPr/>
          <p:nvPr/>
        </p:nvSpPr>
        <p:spPr>
          <a:xfrm>
            <a:off x="7801200" y="2880000"/>
            <a:ext cx="3591719" cy="936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017200" y="3031200"/>
            <a:ext cx="3159719" cy="216000"/>
          </a:xfrm>
          <a:prstGeom prst="rect">
            <a:avLst/>
          </a:prstGeom>
          <a:noFill/>
        </p:spPr>
        <p:txBody>
          <a:bodyPr wrap="square" anchor="t" lIns="0" rIns="0" tIns="0" bIns="0">
            <a:spAutoFit/>
          </a:bodyPr>
          <a:lstStyle/>
          <a:p>
            <a:pPr algn="l">
              <a:lnSpc>
                <a:spcPct val="125000"/>
              </a:lnSpc>
            </a:pPr>
            <a:r>
              <a:rPr sz="1350" b="1" i="0">
                <a:solidFill>
                  <a:srgbClr val="0E3F8C"/>
                </a:solidFill>
                <a:latin typeface="Source Han Sans SC"/>
              </a:rPr>
              <a:t>Submit at least one AI collaboration trace</a:t>
            </a:r>
          </a:p>
        </p:txBody>
      </p:sp>
      <p:sp>
        <p:nvSpPr>
          <p:cNvPr id="36" name="TextBox 35"/>
          <p:cNvSpPr txBox="1"/>
          <p:nvPr/>
        </p:nvSpPr>
        <p:spPr>
          <a:xfrm>
            <a:off x="8017200" y="3283200"/>
            <a:ext cx="3159719" cy="468000"/>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What you found wrong in the AI-generated code and how you fixed it, with a before/after comparison.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02</a:t>
            </a:r>
          </a:p>
        </p:txBody>
      </p:sp>
      <p:sp>
        <p:nvSpPr>
          <p:cNvPr id="5" name="Rectangle 4"/>
          <p:cNvSpPr/>
          <p:nvPr/>
        </p:nvSpPr>
        <p:spPr>
          <a:xfrm>
            <a:off x="856800" y="936000"/>
            <a:ext cx="417600" cy="4176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14400" y="1029600"/>
            <a:ext cx="306000" cy="230400"/>
          </a:xfrm>
          <a:prstGeom prst="rect">
            <a:avLst/>
          </a:prstGeom>
          <a:noFill/>
        </p:spPr>
        <p:txBody>
          <a:bodyPr wrap="square" anchor="t" lIns="0" rIns="0" tIns="0" bIns="0">
            <a:spAutoFit/>
          </a:bodyPr>
          <a:lstStyle/>
          <a:p>
            <a:pPr algn="l">
              <a:lnSpc>
                <a:spcPct val="125000"/>
              </a:lnSpc>
            </a:pPr>
            <a:r>
              <a:rPr sz="1100" b="1" i="0">
                <a:solidFill>
                  <a:srgbClr val="FFFFFF"/>
                </a:solidFill>
                <a:latin typeface="Source Han Sans SC"/>
              </a:rPr>
              <a:t>W2</a:t>
            </a:r>
          </a:p>
        </p:txBody>
      </p:sp>
      <p:sp>
        <p:nvSpPr>
          <p:cNvPr id="7" name="Rectangle 6"/>
          <p:cNvSpPr/>
          <p:nvPr/>
        </p:nvSpPr>
        <p:spPr>
          <a:xfrm>
            <a:off x="799200" y="1584000"/>
            <a:ext cx="608400" cy="39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9200" y="1908000"/>
            <a:ext cx="8640000" cy="1980000"/>
          </a:xfrm>
          <a:prstGeom prst="rect">
            <a:avLst/>
          </a:prstGeom>
          <a:noFill/>
        </p:spPr>
        <p:txBody>
          <a:bodyPr wrap="square" anchor="t" lIns="0" rIns="0" tIns="0" bIns="0">
            <a:spAutoFit/>
          </a:bodyPr>
          <a:lstStyle/>
          <a:p>
            <a:pPr algn="l">
              <a:lnSpc>
                <a:spcPct val="135000"/>
              </a:lnSpc>
            </a:pPr>
            <a:r>
              <a:rPr sz="2700" b="1" i="0">
                <a:solidFill>
                  <a:srgbClr val="0E3F8C"/>
                </a:solidFill>
                <a:latin typeface="Source Han Sans SC"/>
              </a:rPr>
              <a:t>"A model does not improve by itself -
you change it correctly, one step at a time."</a:t>
            </a:r>
          </a:p>
        </p:txBody>
      </p:sp>
      <p:sp>
        <p:nvSpPr>
          <p:cNvPr id="9" name="TextBox 8"/>
          <p:cNvSpPr txBox="1"/>
          <p:nvPr/>
        </p:nvSpPr>
        <p:spPr>
          <a:xfrm>
            <a:off x="799200" y="3384000"/>
            <a:ext cx="8640000" cy="432000"/>
          </a:xfrm>
          <a:prstGeom prst="rect">
            <a:avLst/>
          </a:prstGeom>
          <a:noFill/>
        </p:spPr>
        <p:txBody>
          <a:bodyPr wrap="square" anchor="t" lIns="0" rIns="0" tIns="0" bIns="0">
            <a:spAutoFit/>
          </a:bodyPr>
          <a:lstStyle/>
          <a:p>
            <a:pPr algn="l">
              <a:lnSpc>
                <a:spcPct val="125000"/>
              </a:lnSpc>
            </a:pPr>
            <a:r>
              <a:rPr sz="1350" b="0" i="0">
                <a:solidFill>
                  <a:srgbClr val="6B7280"/>
                </a:solidFill>
                <a:latin typeface="Source Han Sans SC"/>
              </a:rPr>
              <a:t>This week you deliver: a hand-written training loop + a loss curve you can explain + a shape pitfall log.</a:t>
            </a:r>
          </a:p>
        </p:txBody>
      </p:sp>
      <p:sp>
        <p:nvSpPr>
          <p:cNvPr id="10" name="TextBox 9"/>
          <p:cNvSpPr txBox="1"/>
          <p:nvPr/>
        </p:nvSpPr>
        <p:spPr>
          <a:xfrm>
            <a:off x="799200" y="4176000"/>
            <a:ext cx="7920000" cy="324000"/>
          </a:xfrm>
          <a:prstGeom prst="rect">
            <a:avLst/>
          </a:prstGeom>
          <a:noFill/>
        </p:spPr>
        <p:txBody>
          <a:bodyPr wrap="square" anchor="t" lIns="0" rIns="0" tIns="0" bIns="0">
            <a:spAutoFit/>
          </a:bodyPr>
          <a:lstStyle/>
          <a:p>
            <a:pPr algn="l">
              <a:lnSpc>
                <a:spcPct val="125000"/>
              </a:lnSpc>
            </a:pPr>
            <a:r>
              <a:rPr sz="2200" b="1" i="0">
                <a:solidFill>
                  <a:srgbClr val="1F2937"/>
                </a:solidFill>
                <a:latin typeface="Source Han Sans SC"/>
              </a:rPr>
              <a:t>Thank you</a:t>
            </a:r>
          </a:p>
        </p:txBody>
      </p:sp>
      <p:sp>
        <p:nvSpPr>
          <p:cNvPr id="11" name="Rectangle 10"/>
          <p:cNvSpPr/>
          <p:nvPr/>
        </p:nvSpPr>
        <p:spPr>
          <a:xfrm>
            <a:off x="799200" y="4788000"/>
            <a:ext cx="10593719" cy="720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51200" y="4903200"/>
            <a:ext cx="10089720" cy="180000"/>
          </a:xfrm>
          <a:prstGeom prst="rect">
            <a:avLst/>
          </a:prstGeom>
          <a:noFill/>
        </p:spPr>
        <p:txBody>
          <a:bodyPr wrap="square" anchor="t" lIns="0" rIns="0" tIns="0" bIns="0">
            <a:spAutoFit/>
          </a:bodyPr>
          <a:lstStyle/>
          <a:p>
            <a:pPr algn="l">
              <a:lnSpc>
                <a:spcPct val="125000"/>
              </a:lnSpc>
            </a:pPr>
            <a:r>
              <a:rPr sz="1150" b="1" i="0">
                <a:solidFill>
                  <a:srgbClr val="1E4FA8"/>
                </a:solidFill>
                <a:latin typeface="Source Han Sans SC"/>
              </a:rPr>
              <a:t>Next week</a:t>
            </a:r>
          </a:p>
        </p:txBody>
      </p:sp>
      <p:sp>
        <p:nvSpPr>
          <p:cNvPr id="13" name="TextBox 12"/>
          <p:cNvSpPr txBox="1"/>
          <p:nvPr/>
        </p:nvSpPr>
        <p:spPr>
          <a:xfrm>
            <a:off x="1051200" y="5094000"/>
            <a:ext cx="10089720" cy="324000"/>
          </a:xfrm>
          <a:prstGeom prst="rect">
            <a:avLst/>
          </a:prstGeom>
          <a:noFill/>
        </p:spPr>
        <p:txBody>
          <a:bodyPr wrap="square" anchor="t" lIns="0" rIns="0" tIns="0" bIns="0">
            <a:spAutoFit/>
          </a:bodyPr>
          <a:lstStyle/>
          <a:p>
            <a:pPr algn="l">
              <a:lnSpc>
                <a:spcPct val="130000"/>
              </a:lnSpc>
            </a:pPr>
            <a:r>
              <a:rPr sz="1400" b="0" i="0">
                <a:solidFill>
                  <a:srgbClr val="0E3F8C"/>
                </a:solidFill>
                <a:latin typeface="Source Han Sans SC"/>
              </a:rPr>
              <a:t>W3 · Machine learning foundations and the scikit-learn workflow - the same straight line, different tools: what the framework does for you, and what it hides from you.</a:t>
            </a:r>
          </a:p>
        </p:txBody>
      </p:sp>
      <p:sp>
        <p:nvSpPr>
          <p:cNvPr id="14" name="TextBox 13"/>
          <p:cNvSpPr txBox="1"/>
          <p:nvPr/>
        </p:nvSpPr>
        <p:spPr>
          <a:xfrm>
            <a:off x="799200" y="6494400"/>
            <a:ext cx="720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2 Lecture · 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