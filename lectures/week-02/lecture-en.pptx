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19.svg" ContentType="image/svg+xml"/>
  <Override PartName="/ppt/slides/media/image2.svg" ContentType="image/svg+xml"/>
  <Override PartName="/ppt/slides/media/image20.svg" ContentType="image/svg+xml"/>
  <Override PartName="/ppt/slides/media/image21.svg" ContentType="image/svg+xml"/>
  <Override PartName="/ppt/slides/media/image22.svg" ContentType="image/svg+xml"/>
  <Override PartName="/ppt/slides/media/image23.svg" ContentType="image/svg+xml"/>
  <Override PartName="/ppt/slides/media/image24.svg" ContentType="image/svg+xml"/>
  <Override PartName="/ppt/slides/media/image25.svg" ContentType="image/svg+xml"/>
  <Override PartName="/ppt/slides/media/image26.svg" ContentType="image/svg+xml"/>
  <Override PartName="/ppt/slides/media/image27.svg" ContentType="image/svg+xml"/>
  <Override PartName="/ppt/slides/media/image28.svg" ContentType="image/svg+xml"/>
  <Override PartName="/ppt/slides/media/image29.svg" ContentType="image/svg+xml"/>
  <Override PartName="/ppt/slides/media/image3.svg" ContentType="image/svg+xml"/>
  <Override PartName="/ppt/slides/media/image30.svg" ContentType="image/svg+xml"/>
  <Override PartName="/ppt/slides/media/image31.svg" ContentType="image/svg+xml"/>
  <Override PartName="/ppt/slides/media/image32.svg" ContentType="image/svg+xml"/>
  <Override PartName="/ppt/slides/media/image33.svg" ContentType="image/svg+xml"/>
  <Override PartName="/ppt/slides/media/image34.svg" ContentType="image/svg+xml"/>
  <Override PartName="/ppt/slides/media/image35.svg" ContentType="image/svg+xml"/>
  <Override PartName="/ppt/slides/media/image36.svg" ContentType="image/svg+xml"/>
  <Override PartName="/ppt/slides/media/image37.svg" ContentType="image/svg+xml"/>
  <Override PartName="/ppt/slides/media/image38.svg" ContentType="image/svg+xml"/>
  <Override PartName="/ppt/slides/media/image39.svg" ContentType="image/svg+xml"/>
  <Override PartName="/ppt/slides/media/image4.svg" ContentType="image/svg+xml"/>
  <Override PartName="/ppt/slides/media/image40.svg" ContentType="image/svg+xml"/>
  <Override PartName="/ppt/slides/media/image41.svg" ContentType="image/svg+xml"/>
  <Override PartName="/ppt/slides/media/image42.svg" ContentType="image/svg+xml"/>
  <Override PartName="/ppt/slides/media/image43.svg" ContentType="image/svg+xml"/>
  <Override PartName="/ppt/slides/media/image4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tableStyles" Target="tableStyles.xml"/><Relationship Id="rId3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32.svg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3.svg"/><Relationship Id="rId2" Type="http://schemas.openxmlformats.org/officeDocument/2006/relationships/image" Target="media/image34.svg"/><Relationship Id="rId3" Type="http://schemas.openxmlformats.org/officeDocument/2006/relationships/image" Target="media/image35.svg"/><Relationship Id="rId4" Type="http://schemas.openxmlformats.org/officeDocument/2006/relationships/image" Target="media/image16.svg"/><Relationship Id="rId5" Type="http://schemas.openxmlformats.org/officeDocument/2006/relationships/image" Target="media/image36.svg"/><Relationship Id="rId6" Type="http://schemas.openxmlformats.org/officeDocument/2006/relationships/image" Target="media/image37.svg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8.svg"/><Relationship Id="rId2" Type="http://schemas.openxmlformats.org/officeDocument/2006/relationships/image" Target="media/image39.svg"/><Relationship Id="rId3" Type="http://schemas.openxmlformats.org/officeDocument/2006/relationships/image" Target="media/image40.svg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1.svg"/><Relationship Id="rId2" Type="http://schemas.openxmlformats.org/officeDocument/2006/relationships/image" Target="media/image42.svg"/><Relationship Id="rId3" Type="http://schemas.openxmlformats.org/officeDocument/2006/relationships/image" Target="media/image43.svg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4.svg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2" Type="http://schemas.openxmlformats.org/officeDocument/2006/relationships/image" Target="media/image2.svg"/><Relationship Id="rId3" Type="http://schemas.openxmlformats.org/officeDocument/2006/relationships/image" Target="media/image3.svg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5.svg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2" Type="http://schemas.openxmlformats.org/officeDocument/2006/relationships/image" Target="media/image8.svg"/><Relationship Id="rId3" Type="http://schemas.openxmlformats.org/officeDocument/2006/relationships/image" Target="media/image9.svg"/><Relationship Id="rId4" Type="http://schemas.openxmlformats.org/officeDocument/2006/relationships/image" Target="media/image10.svg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/Relationships>
</file>

<file path=ppt/slides/_rels/slide2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2" Type="http://schemas.openxmlformats.org/officeDocument/2006/relationships/image" Target="media/image13.svg"/><Relationship Id="rId3" Type="http://schemas.openxmlformats.org/officeDocument/2006/relationships/image" Target="media/image14.svg"/><Relationship Id="rId4" Type="http://schemas.openxmlformats.org/officeDocument/2006/relationships/image" Target="media/image15.svg"/><Relationship Id="rId5" Type="http://schemas.openxmlformats.org/officeDocument/2006/relationships/image" Target="media/image16.svg"/></Relationships>
</file>

<file path=ppt/slides/_rels/slide2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7.svg"/><Relationship Id="rId2" Type="http://schemas.openxmlformats.org/officeDocument/2006/relationships/image" Target="media/image13.svg"/><Relationship Id="rId3" Type="http://schemas.openxmlformats.org/officeDocument/2006/relationships/image" Target="media/image18.svg"/></Relationships>
</file>

<file path=ppt/slides/_rels/slide2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9.svg"/><Relationship Id="rId2" Type="http://schemas.openxmlformats.org/officeDocument/2006/relationships/image" Target="media/image20.svg"/><Relationship Id="rId3" Type="http://schemas.openxmlformats.org/officeDocument/2006/relationships/image" Target="media/image21.svg"/><Relationship Id="rId4" Type="http://schemas.openxmlformats.org/officeDocument/2006/relationships/image" Target="media/image22.svg"/><Relationship Id="rId5" Type="http://schemas.openxmlformats.org/officeDocument/2006/relationships/image" Target="media/image23.svg"/><Relationship Id="rId6" Type="http://schemas.openxmlformats.org/officeDocument/2006/relationships/image" Target="media/image6.svg"/></Relationships>
</file>

<file path=ppt/slides/_rels/slide2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4.svg"/><Relationship Id="rId2" Type="http://schemas.openxmlformats.org/officeDocument/2006/relationships/image" Target="media/image25.svg"/><Relationship Id="rId3" Type="http://schemas.openxmlformats.org/officeDocument/2006/relationships/image" Target="media/image26.svg"/></Relationships>
</file>

<file path=ppt/slides/_rels/slide2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7.svg"/><Relationship Id="rId2" Type="http://schemas.openxmlformats.org/officeDocument/2006/relationships/image" Target="media/image4.svg"/><Relationship Id="rId3" Type="http://schemas.openxmlformats.org/officeDocument/2006/relationships/image" Target="media/image28.svg"/><Relationship Id="rId4" Type="http://schemas.openxmlformats.org/officeDocument/2006/relationships/image" Target="media/image29.svg"/><Relationship Id="rId5" Type="http://schemas.openxmlformats.org/officeDocument/2006/relationships/image" Target="media/image30.svg"/></Relationships>
</file>

<file path=ppt/slides/_rels/slide3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2" Type="http://schemas.openxmlformats.org/officeDocument/2006/relationships/image" Target="media/image27.svg"/><Relationship Id="rId3" Type="http://schemas.openxmlformats.org/officeDocument/2006/relationships/image" Target="media/image30.svg"/><Relationship Id="rId4" Type="http://schemas.openxmlformats.org/officeDocument/2006/relationships/image" Target="media/image31.svg"/></Relationships>
</file>

<file path=ppt/slides/_rels/slide3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width: '1280px', height: '720px', background: '#FFFFFF', padding: '0px', position: 'relative', overflow: 'hidden', fontFamily: 'Inter, Helvetica, Arial, sans-serif' }}&gt;&#10;  &lt;Box style={{ position: 'absolute', top: 0, left: 0, width: '100%', height: 14, background: '#1E4FA8' }} /&gt;&#10;  &lt;Box style={{ position: 'absolute', top: 14, left: 0, width: '100%', height: 6, background: '#3D7BD9' }} /&gt;&#10;  &lt;Box style={{ position: 'absolute', right: 0, top: 90, opacity: 0.07, width: 640, height: 420, overflow: 'hidden' }}&gt;&#10;    &lt;Text style={{ fontSize: 400, fontWeight: 'bold', color: '#1E4FA8', lineHeight: 1, textAlign: 'right' }}&gt;02&lt;/Text&gt;&#10;  &lt;/Box&gt;&#10;  &lt;Box style={{ position: 'relative', width: '100%', height: '100%', padding: '90px 84px 60px', justifyContent: 'space-between' }}&gt;&#10;    &lt;Box&gt;&#10;      &lt;Text style={{ fontSize: 19, color: '#8B97A8', fontWeight: '600', letterSpacing: 3 }}&gt;SE 4XXX · UNDERGRADUATE COURSE&lt;/Text&gt;&#10;      &lt;Box style={{ width: 64, height: 4, background: '#1E4FA8', marginTop: 20 }} /&gt;&#10;      &lt;Text style={{ fontSize: 44, fontStyle: 'italic', color: '#4A5568', fontFamily: 'Georgia, Times, serif', marginTop: 32, letterSpacing: 0.5 }}&gt;&#10;        AI Application Development&#10;      &lt;/Text&gt;&#10;      &lt;Text style={{ fontSize: 74, fontWeight: 'bold', color: '#0E3F8C', lineHeight: 1.15, marginTop: 10 }}&gt;Data Handling Fundamentals&lt;/Text&gt;&#10;      &lt;Text style={{ fontSize: 25, color: '#1A2230', marginTop: 16 }}&gt;&#10;        Week 2 · &lt;span style={{ color: '#4A5568' }}&gt;NumPy · Pandas · Visualization · EDA&lt;/span&gt;&#10;      &lt;/Text&gt;&#10;    &lt;/Box&gt;&#10;    &lt;Box&gt;&#10;      &lt;Box style={{ flexDirection: 'row', gap: 14, flexWrap: 'wrap' }}&gt;&#10;        {['Module 1 · W2–4', '180 min · Lecture + Lab + Quiz', 'Python · NumPy · Pandas', 'International Students'].map((t, i) =&gt; (&#10;          &lt;Box key={i} style={{ background: '#F0F5FC', border: '1px solid #D6DCE5', borderRadius: 22, padding: '7px 18px' }}&gt;&#10;            &lt;Text style={{ fontSize: 16, color: '#1E4FA8', fontWeight: '600' }}&gt;{t}&lt;/Text&gt;&#10;          &lt;/Box&gt;&#10;        ))}&#10;      &lt;/Box&gt;&#10;      &lt;Box style={{ flexDirection: 'row', alignItems: 'center', marginTop: 26, gap: 12 }}&gt;&#10;        &lt;Box style={{ width: 44, height: 44, borderRadius: 10, background: '#0E3F8C', justifyContent: 'center', alignItems: 'center' }}&gt;&#10;          &lt;Text style={{ fontSize: 20, color: '#FFFFFF', fontWeight: 'bold' }}&gt;W2&lt;/Text&gt;&#10;        &lt;/Box&gt;&#10;        &lt;Text style={{ fontSize: 17, color: '#4A5568' }}&gt;&#10;          Lecturer: ____________&amp;nbsp;&amp;nbsp;·&amp;nbsp;&amp;nbsp;School of Software Engineering&#10;        &lt;/Text&gt;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333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/>
          <p:cNvSpPr/>
          <p:nvPr/>
        </p:nvSpPr>
        <p:spPr>
          <a:xfrm rot="0" flipH="0" flipV="0">
            <a:off x="0" y="133350"/>
            <a:ext cx="12192000" cy="571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0" y="857250"/>
            <a:ext cx="6096000" cy="45720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30000" b="1">
                <a:solidFill>
                  <a:srgbClr val="1E4FA8">
                    <a:alpha val="7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00100" y="857250"/>
            <a:ext cx="10591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 spc="225">
                <a:solidFill>
                  <a:srgbClr val="8B97A8"/>
                </a:solidFill>
                <a:latin typeface="Inter"/>
                <a:ea typeface="Inter"/>
              </a:rPr>
              <a:t>SE 4XXX · UNDERGRADUATE COURSE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800100" y="1266825"/>
            <a:ext cx="609600" cy="381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800100" y="1609725"/>
            <a:ext cx="1059180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i="1" spc="38">
                <a:solidFill>
                  <a:srgbClr val="4A5568"/>
                </a:solidFill>
                <a:latin typeface="Georgia"/>
                <a:ea typeface="Georgia"/>
              </a:rPr>
              <a:t>AI Application Development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00100" y="2209800"/>
            <a:ext cx="10591800" cy="9810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5550" b="1">
                <a:solidFill>
                  <a:srgbClr val="0E3F8C"/>
                </a:solidFill>
                <a:latin typeface="Inter"/>
                <a:ea typeface="Inter"/>
              </a:rPr>
              <a:t>Data Handling Fundamentals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00100" y="3343275"/>
            <a:ext cx="10591800" cy="2857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75">
                <a:solidFill>
                  <a:srgbClr val="1A2230"/>
                </a:solidFill>
                <a:latin typeface="Inter"/>
                <a:ea typeface="Inter"/>
              </a:rPr>
              <a:t>Week 2 · </a:t>
            </a:r>
            <a:r>
              <a:rPr lang="en-US" sz="1875">
                <a:solidFill>
                  <a:srgbClr val="4A5568"/>
                </a:solidFill>
                <a:latin typeface="Inter"/>
                <a:ea typeface="Inter"/>
              </a:rPr>
              <a:t>NumPy · Pandas · Visualization · EDA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0100" y="5295900"/>
            <a:ext cx="15335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71550" y="5362575"/>
            <a:ext cx="1190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Module 1 · W2–4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2466975" y="5295900"/>
            <a:ext cx="254317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2638425" y="5362575"/>
            <a:ext cx="2200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180 min · Lecture + Lab + Quiz</a:t>
            </a:r>
            <a:endParaRPr/>
          </a:p>
        </p:txBody>
      </p:sp>
      <p:sp>
        <p:nvSpPr>
          <p:cNvPr id="15" name=""/>
          <p:cNvSpPr/>
          <p:nvPr/>
        </p:nvSpPr>
        <p:spPr>
          <a:xfrm rot="0" flipH="0" flipV="0">
            <a:off x="5143500" y="5295900"/>
            <a:ext cx="21812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5314950" y="5362575"/>
            <a:ext cx="1838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Python · NumPy · Pandas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7458075" y="5295900"/>
            <a:ext cx="1952625" cy="323850"/>
          </a:xfrm>
          <a:prstGeom prst="roundRect">
            <a:avLst>
              <a:gd name="adj" fmla="val 64706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629525" y="5362575"/>
            <a:ext cx="1609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International Students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00100" y="5867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66775" y="596265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1333500" y="5981700"/>
            <a:ext cx="4267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Lecturer: ____________  ·  School of Software Engineering</a:t>
            </a:r>
            <a:endParaRPr/>
          </a:p>
        </p:txBody>
      </p:sp>
    </p:spTree>
  </p:cSld>
</p:sld>
</file>

<file path=ppt/slides/slide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0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Contents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28 }}&gt;&#10;    &lt;Box style={{ width: 300, background: '#F0F5FC', borderRadius: 14, padding: '30px 26px', justifyContent: 'center', border: '1px solid #D6DCE5' }}&gt;&#10;      &lt;Text style={{ fontSize: 34, color: '#0E3F8C', fontWeight: 'bold' }}&gt;5 Parts&lt;/Text&gt;&#10;      &lt;Text style={{ fontSize: 16, color: '#4A5568', marginTop: 8 }}&gt;Today&amp;apos;s Lecture&lt;/Text&gt;&#10;      &lt;Box style={{ width: '100%', height: 2, background: '#D6DCE5', marginTop: 18 }} /&gt;&#10;      &lt;Text style={{ fontSize: 16, color: '#1A2230', lineHeight: 1.7, marginTop: 16 }}&gt;&#10;        Before models, master &lt;b&gt;data&lt;/b&gt; —&#10;        &lt;br /&gt;&#10;        your first hands-on data week.&#10;        &lt;span style={{ color: '#8B97A8', fontSize: 14 }}&gt;Before models, master data.&lt;/span&gt;&#10;      &lt;/Text&gt;&#10;      &lt;Box style={{ background: '#0E3F8C', borderRadius: 10, padding: '10px 14px', marginTop: 16 }}&gt;&#10;        &lt;Text style={{ fontSize: 13.5, color: '#FFFFFF', lineHeight: 1.6 }}&gt;Theory ~90 min · Lab ~75 min · Quiz &amp;amp; Summary 15 min&lt;/Text&gt;&#10;      &lt;/Box&gt;&#10;    &lt;/Box&gt;&#10;    &lt;Box style={{ flex: 1, justifyContent: 'center', gap: 0 }}&gt;&#10;      {[&#10;        { n: '01', t: 'Why Data', d: 'Role · types &amp; sources · 6 quality dimensions · bad-data cases' },&#10;        { n: '02', t: 'Core Tools', d: 'Arrays vs tables · vectorization · indexing &amp; slicing · cheat sheet' },&#10;        { n: '03', t: 'Visualization &amp; EDA', d: 'Chart selection · 5-step routine · Titanic walkthrough' },&#10;        { n: '04', t: 'Data Cleaning', d: '6-step workflow · missing-value decisions · 3 outlier methods · GIGO' },&#10;        { n: '05', t: 'Hands-On Lab', d: 'Warm-up → explore → visualize → clean → submit · quiz included' },&#10;      ].map((it, i) =&gt; (&#10;        &lt;Box key={i} style={{ flexDirection: 'row', alignItems: 'center', gap: 20, padding: '13px 8px', borderBottom: i &lt; 4 ? '1px solid #E5E7EB' : 'none' }}&gt;&#10;          &lt;Box style={{ width: 52, height: 52, borderRadius: 12, background: i === 4 ? '#0E3F8C' : '#1E4FA8', justifyContent: 'center', alignItems: 'center' }}&gt;&#10;            &lt;Text style={{ fontSize: 20, color: '#FFFFFF', fontWeight: 'bold' }}&gt;{it.n}&lt;/Text&gt;&#10;          &lt;/Box&gt;&#10;          &lt;Box style={{ flex: 1 }}&gt;&#10;            &lt;Text style={{ fontSize: 24, color: '#1A2230', fontWeight: 'bold' }}&gt;{it.t}&lt;/Text&gt;&#10;            &lt;Text style={{ fontSize: 14, color: '#4A5568', marginTop: 2 }}&gt;{it.d}&lt;/Text&gt;&#10;          &lt;/Box&gt;&#10;          &lt;FAIcon name='chevron-right' style={{ fill: '#8B97A8', width: 20, height: 20 }} /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14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Contents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800100" y="1047750"/>
            <a:ext cx="2857500" cy="4953000"/>
          </a:xfrm>
          <a:prstGeom prst="roundRect">
            <a:avLst>
              <a:gd name="adj" fmla="val 466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1047750" y="2143125"/>
            <a:ext cx="2362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Inter"/>
                <a:ea typeface="Inter"/>
              </a:rPr>
              <a:t>5 Parts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1047750" y="2609850"/>
            <a:ext cx="2362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Inter"/>
                <a:ea typeface="Inter"/>
              </a:rPr>
              <a:t>Today's Lecture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1047750" y="2971800"/>
            <a:ext cx="23622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1047750" y="3143250"/>
            <a:ext cx="2362200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Before models, master 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data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—</a:t>
            </a:r>
            <a:endParaRPr/>
          </a:p>
          <a:p>
            <a:pPr>
              <a:lnSpc>
                <a:spcPct val="17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your first hands-on data week.</a:t>
            </a: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Before models, master data.</a:t>
            </a:r>
            <a:endParaRPr/>
          </a:p>
        </p:txBody>
      </p:sp>
      <p:sp>
        <p:nvSpPr>
          <p:cNvPr id="416" name=""/>
          <p:cNvSpPr/>
          <p:nvPr/>
        </p:nvSpPr>
        <p:spPr>
          <a:xfrm rot="0" flipH="0" flipV="0">
            <a:off x="1047750" y="4229100"/>
            <a:ext cx="2362200" cy="685800"/>
          </a:xfrm>
          <a:prstGeom prst="roundRect">
            <a:avLst>
              <a:gd name="adj" fmla="val 1388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1181100" y="4324350"/>
            <a:ext cx="20955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FFFFFF"/>
                </a:solidFill>
                <a:latin typeface="Inter"/>
                <a:ea typeface="Inter"/>
              </a:rPr>
              <a:t>Theory ~90 min · Lab ~75 min · Quiz &amp; Summary 15 min</a:t>
            </a:r>
            <a:endParaRPr/>
          </a:p>
        </p:txBody>
      </p:sp>
      <p:sp>
        <p:nvSpPr>
          <p:cNvPr id="418" name=""/>
          <p:cNvSpPr/>
          <p:nvPr/>
        </p:nvSpPr>
        <p:spPr>
          <a:xfrm rot="0" flipH="0" flipV="0">
            <a:off x="3924300" y="164782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19" name=""/>
          <p:cNvSpPr/>
          <p:nvPr/>
        </p:nvSpPr>
        <p:spPr>
          <a:xfrm rot="0" flipH="0" flipV="0">
            <a:off x="4000500" y="17716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4143375" y="19050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4686300" y="179070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Why Data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4686300" y="20859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Role · types &amp; sources · 6 quality dimensions · bad-data cases</a:t>
            </a:r>
            <a:endParaRPr/>
          </a:p>
        </p:txBody>
      </p:sp>
      <p:pic>
        <p:nvPicPr>
          <p:cNvPr id="4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1924050"/>
            <a:ext cx="190500" cy="190500"/>
          </a:xfrm>
          <a:prstGeom prst="rect">
            <a:avLst/>
          </a:prstGeom>
          <a:ln/>
        </p:spPr>
      </p:pic>
      <p:sp>
        <p:nvSpPr>
          <p:cNvPr id="424" name=""/>
          <p:cNvSpPr/>
          <p:nvPr/>
        </p:nvSpPr>
        <p:spPr>
          <a:xfrm rot="0" flipH="0" flipV="0">
            <a:off x="3924300" y="240030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25" name=""/>
          <p:cNvSpPr/>
          <p:nvPr/>
        </p:nvSpPr>
        <p:spPr>
          <a:xfrm rot="0" flipH="0" flipV="0">
            <a:off x="4000500" y="252412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6" name="" descr="{&quot;isTemplate&quot;:true,&quot;type&quot;:&quot;text&quot;}"/>
          <p:cNvSpPr txBox="1"/>
          <p:nvPr/>
        </p:nvSpPr>
        <p:spPr>
          <a:xfrm rot="0" flipH="0" flipV="0">
            <a:off x="4143375" y="265747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4686300" y="2543175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Core Tools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4686300" y="283845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Arrays vs tables · vectorization · indexing &amp; slicing · cheat sheet</a:t>
            </a:r>
            <a:endParaRPr/>
          </a:p>
        </p:txBody>
      </p:sp>
      <p:pic>
        <p:nvPicPr>
          <p:cNvPr id="4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2676525"/>
            <a:ext cx="190500" cy="190500"/>
          </a:xfrm>
          <a:prstGeom prst="rect">
            <a:avLst/>
          </a:prstGeom>
          <a:ln/>
        </p:spPr>
      </p:pic>
      <p:sp>
        <p:nvSpPr>
          <p:cNvPr id="430" name=""/>
          <p:cNvSpPr/>
          <p:nvPr/>
        </p:nvSpPr>
        <p:spPr>
          <a:xfrm rot="0" flipH="0" flipV="0">
            <a:off x="3924300" y="3152775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4000500" y="327660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4143375" y="3409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4686300" y="329565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Visualization &amp; EDA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4686300" y="359092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Chart selection · 5-step routine · Titanic walkthrough</a:t>
            </a:r>
            <a:endParaRPr/>
          </a:p>
        </p:txBody>
      </p:sp>
      <p:pic>
        <p:nvPicPr>
          <p:cNvPr id="4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3429000"/>
            <a:ext cx="190500" cy="190500"/>
          </a:xfrm>
          <a:prstGeom prst="rect">
            <a:avLst/>
          </a:prstGeom>
          <a:ln/>
        </p:spPr>
      </p:pic>
      <p:sp>
        <p:nvSpPr>
          <p:cNvPr id="436" name=""/>
          <p:cNvSpPr/>
          <p:nvPr/>
        </p:nvSpPr>
        <p:spPr>
          <a:xfrm rot="0" flipH="0" flipV="0">
            <a:off x="3924300" y="3905250"/>
            <a:ext cx="7467600" cy="762000"/>
          </a:xfrm>
          <a:custGeom>
            <a:pathLst>
              <a:path w="784" h="80">
                <a:moveTo>
                  <a:pt x="0" y="79"/>
                </a:moveTo>
                <a:lnTo>
                  <a:pt x="784" y="79"/>
                </a:lnTo>
                <a:lnTo>
                  <a:pt x="78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437" name=""/>
          <p:cNvSpPr/>
          <p:nvPr/>
        </p:nvSpPr>
        <p:spPr>
          <a:xfrm rot="0" flipH="0" flipV="0">
            <a:off x="4000500" y="4029075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4143375" y="4162425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4686300" y="4048125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Data Cleaning</a:t>
            </a:r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4686300" y="4343400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6-step workflow · missing-value decisions · 3 outlier methods · GIGO</a:t>
            </a:r>
            <a:endParaRPr/>
          </a:p>
        </p:txBody>
      </p:sp>
      <p:pic>
        <p:nvPicPr>
          <p:cNvPr id="4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181475"/>
            <a:ext cx="190500" cy="190500"/>
          </a:xfrm>
          <a:prstGeom prst="rect">
            <a:avLst/>
          </a:prstGeom>
          <a:ln/>
        </p:spPr>
      </p:pic>
      <p:sp>
        <p:nvSpPr>
          <p:cNvPr id="442" name=""/>
          <p:cNvSpPr/>
          <p:nvPr/>
        </p:nvSpPr>
        <p:spPr>
          <a:xfrm rot="0" flipH="0" flipV="0">
            <a:off x="4000500" y="4781550"/>
            <a:ext cx="495300" cy="495300"/>
          </a:xfrm>
          <a:prstGeom prst="roundRect">
            <a:avLst>
              <a:gd name="adj" fmla="val 2307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4143375" y="4914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4686300" y="4800600"/>
            <a:ext cx="62484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Inter"/>
                <a:ea typeface="Inter"/>
              </a:rPr>
              <a:t>Hands-On Lab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4686300" y="5095875"/>
            <a:ext cx="6248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Warm-up → explore → visualize → clean → submit · quiz included</a:t>
            </a:r>
            <a:endParaRPr/>
          </a:p>
        </p:txBody>
      </p:sp>
      <p:pic>
        <p:nvPicPr>
          <p:cNvPr id="4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125200" y="4933950"/>
            <a:ext cx="190500" cy="190500"/>
          </a:xfrm>
          <a:prstGeom prst="rect">
            <a:avLst/>
          </a:prstGeom>
          <a:ln/>
        </p:spPr>
      </p:pic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4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02 / 32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818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1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1&lt;/Text&gt;&#10;      &lt;/Box&gt;&#10;      &lt;Box style={{ paddingTop: 6 }}&gt;&#10;        &lt;Text style={{ fontSize: 44, color: '#1A2230', fontWeight: 'bold' }}&gt;Why Data Matters&lt;/Text&gt;&#10;        &lt;Text style={{ fontSize: 26, color: '#8B97A8', fontWeight: '600', marginTop: 6 }}&gt;The Role &amp;amp; Quality of Data&lt;/Text&gt;&#10;      &lt;/Box&gt;&#10;    &lt;/Box&gt;&#10;    &lt;Box style={{ flexDirection: 'row', gap: 24 }}&gt;&#10;      {[&#10;        { t: 'Data is Fuel', e: 'No data, no learning' },&#10;        { t: '6 Quality Dimensions', e: 'How to judge a dataset' },&#10;        { t: 'Flaws Amplify', e: 'Errors propagate to predictions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20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1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822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01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5242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Why Data Matters</a:t>
            </a:r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524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The Role &amp; Quality of Data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27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Data is Fuel</a:t>
            </a:r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No data, no learning</a:t>
            </a:r>
            <a:endParaRPr/>
          </a:p>
        </p:txBody>
      </p:sp>
      <p:sp>
        <p:nvSpPr>
          <p:cNvPr id="830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1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 Quality Dimensions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How to judge a dataset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35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Flaws Amplify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Errors propagate to predictions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2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eek 1 Review &amp;amp; This Week&amp;apos;s Roadmap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, gap: 12 }}&gt;&#10;      &lt;Text style={{ fontSize: 18, color: '#8B97A8', fontWeight: '600' }}&gt;Week 1 · Key Takeaways&lt;/Text&gt;&#10;      {[&#10;        { t: 'AI ⊃ ML ⊃ DL ⊃ GenAI', d: 'How to classify: learns from data? neural nets? generates content?' },&#10;        { t: 'Six-phase AI project lifecycle', d: 'Define → Data → Model → Evaluate → Deploy → Monitor' },&#10;        { t: 'The 80% rule', d: 'Most effort goes into data &amp; engineering, not model training' },&#10;        { t: 'Environment ready', d: 'conda ai-app · Jupyter/Colab · Git push' },&#10;        { t: 'First ML program', d: 'Iris classifier: fit → predict → evaluate' },&#10;      ].map((r, i) =&gt; (&#10;        &lt;Box key={i} style={{ flexDirection: 'row', gap: 12, alignItems: 'flex-start', background: '#F7F9FC', border: '1px solid #E5E7EB', borderRadius: 10, padding: '11px 16px' }}&gt;&#10;          &lt;FAIcon name='check-circle' style={{ fill: '#1E4FA8', width: 20, height: 20, marginTop: 2 }} /&gt;&#10;          &lt;Box style={{ flex: 1 }}&gt;&#10;            &lt;Text style={{ fontSize: 16, color: '#1A2230', fontWeight: 'bold' }}&gt;{r.t}&lt;/Text&gt;&#10;            &lt;Text style={{ fontSize: 13.5, color: '#4A5568', marginTop: 1 }}&gt;{r.d}&lt;/Text&gt;&#10;          &lt;/Box&gt;&#10;        &lt;/Box&gt;&#10;      ))}&#10;    &lt;/Box&gt;&#10;    &lt;Box style={{ width: 480, gap: 14, flexShrink: 0 }}&gt;&#10;      &lt;Text style={{ fontSize: 18, color: '#8B97A8', fontWeight: '600' }}&gt;Module 1 · The Four Weeks&lt;/Text&gt;&#10;      &lt;Box style={{ background: '#F0F5FC', border: '1px solid #D6DCE5', borderRadius: 14, padding: '20px 22px', gap: 10 }}&gt;&#10;        {[&#10;          { w: 'W1', t: 'Intro &amp; environment', s: 'done' },&#10;          { w: 'W2', t: 'Data handling (today)', s: 'now' },&#10;          { w: 'W3', t: 'Machine learning with scikit-learn', s: 'next' },&#10;          { w: 'W4', t: 'Model evaluation &amp; tuning', s: 'next' },&#10;        ].map((r, i) =&gt; (&#10;          &lt;Box key={i} style={{ flexDirection: 'row', alignItems: 'center', gap: 12 }}&gt;&#10;            &lt;Box style={{ width: 44, height: 30, borderRadius: 8, background: r.s === 'now' ? '#0E3F8C' : r.s === 'done' ? '#1E4FA8' : '#E8EFF8', justifyContent: 'center', alignItems: 'center', flexShrink: 0 }}&gt;&#10;              &lt;Text style={{ fontSize: 13.5, color: r.s === 'next' ? '#1E4FA8' : '#FFFFFF', fontWeight: 'bold' }}&gt;{r.w}&lt;/Text&gt;&#10;            &lt;/Box&gt;&#10;            &lt;Text style={{ fontSize: 15, color: r.s === 'now' ? '#0E3F8C' : '#4A5568', fontWeight: r.s === 'now' ? 'bold' : '400' }}&gt;{r.t}&lt;/Text&gt;&#10;            {r.s === 'done' &amp;&amp; &lt;FAIcon name='check' style={{ fill: '#1E4FA8', width: 15, height: 15 }} /&gt;}&#10;            {r.s === 'now' &amp;&amp; &lt;Box style={{ background: '#0E3F8C', borderRadius: 10, padding: '2px 10px' }}&gt;&lt;Text style={{ fontSize: 12, color: '#FFFFFF', fontWeight: 'bold' }}&gt;NOW&lt;/Text&gt;&lt;/Box&gt;}&#10;          &lt;/Box&gt;&#10;        ))}&#10;      &lt;/Box&gt;&#10;      &lt;Box style={{ background: '#0E3F8C', borderRadius: 14, padding: '18px 22px' }}&gt;&#10;        &lt;Text style={{ fontSize: 17, color: '#FFFFFF', fontWeight: 'bold' }}&gt;Today&amp;apos;s Three Goals&lt;/Text&gt;&#10;        {['Manipulate data with NumPy / Pandas', 'Plot charts and run the 5-step EDA', 'Clean missing values, outliers &amp; duplicates'].map((t, i) =&gt; (&#10;          &lt;Box key={i} style={{ flexDirection: 'row', gap: 10, alignItems: 'center', marginTop: 10 }}&gt;&#10;            &lt;Box style={{ width: 24, height: 24, borderRadius: 7, background: 'rgba(255,255,255,0.18)', justifyContent: 'center', alignItems: 'center' }}&gt;&#10;              &lt;Text style={{ fontSize: 13, color: '#FFC107', fontWeight: 'bold' }}&gt;{i + 1}&lt;/Text&gt;&#10;            &lt;/Box&gt;&#10;            &lt;Text style={{ fontSize: 15, color: 'rgba(255,255,255,0.92)'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2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2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81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Week 1 Review &amp; This Week's Roadmap</a:t>
            </a:r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800100" y="1681762"/>
            <a:ext cx="5753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Week 1 · Key Takeaways</a:t>
            </a:r>
            <a:endParaRPr/>
          </a:p>
        </p:txBody>
      </p:sp>
      <p:sp>
        <p:nvSpPr>
          <p:cNvPr id="932" name=""/>
          <p:cNvSpPr/>
          <p:nvPr/>
        </p:nvSpPr>
        <p:spPr>
          <a:xfrm rot="0" flipH="0" flipV="0">
            <a:off x="800100" y="20056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129437"/>
            <a:ext cx="190500" cy="190500"/>
          </a:xfrm>
          <a:prstGeom prst="rect">
            <a:avLst/>
          </a:prstGeom>
          <a:ln/>
        </p:spPr>
      </p:pic>
      <p:sp>
        <p:nvSpPr>
          <p:cNvPr id="934" name="" descr="{&quot;isTemplate&quot;:true,&quot;type&quot;:&quot;text&quot;}"/>
          <p:cNvSpPr txBox="1"/>
          <p:nvPr/>
        </p:nvSpPr>
        <p:spPr>
          <a:xfrm rot="0" flipH="0" flipV="0">
            <a:off x="1257300" y="21103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AI ⊃ ML ⊃ DL ⊃ GenAI</a:t>
            </a:r>
            <a:endParaRPr/>
          </a:p>
        </p:txBody>
      </p:sp>
      <p:sp>
        <p:nvSpPr>
          <p:cNvPr id="935" name="" descr="{&quot;isTemplate&quot;:true,&quot;type&quot;:&quot;text&quot;}"/>
          <p:cNvSpPr txBox="1"/>
          <p:nvPr/>
        </p:nvSpPr>
        <p:spPr>
          <a:xfrm rot="0" flipH="0" flipV="0">
            <a:off x="1257300" y="23104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How to classify: learns from data? neural nets? generates content?</a:t>
            </a:r>
            <a:endParaRPr/>
          </a:p>
        </p:txBody>
      </p:sp>
      <p:sp>
        <p:nvSpPr>
          <p:cNvPr id="936" name=""/>
          <p:cNvSpPr/>
          <p:nvPr/>
        </p:nvSpPr>
        <p:spPr>
          <a:xfrm rot="0" flipH="0" flipV="0">
            <a:off x="800100" y="26914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2815237"/>
            <a:ext cx="190500" cy="190500"/>
          </a:xfrm>
          <a:prstGeom prst="rect">
            <a:avLst/>
          </a:prstGeom>
          <a:ln/>
        </p:spPr>
      </p:pic>
      <p:sp>
        <p:nvSpPr>
          <p:cNvPr id="938" name="" descr="{&quot;isTemplate&quot;:true,&quot;type&quot;:&quot;text&quot;}"/>
          <p:cNvSpPr txBox="1"/>
          <p:nvPr/>
        </p:nvSpPr>
        <p:spPr>
          <a:xfrm rot="0" flipH="0" flipV="0">
            <a:off x="1257300" y="27961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Six-phase AI project lifecycle</a:t>
            </a:r>
            <a:endParaRPr/>
          </a:p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1257300" y="29962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Define → Data → Model → Evaluate → Deploy → Monitor</a:t>
            </a:r>
            <a:endParaRPr/>
          </a:p>
        </p:txBody>
      </p:sp>
      <p:sp>
        <p:nvSpPr>
          <p:cNvPr id="940" name=""/>
          <p:cNvSpPr/>
          <p:nvPr/>
        </p:nvSpPr>
        <p:spPr>
          <a:xfrm rot="0" flipH="0" flipV="0">
            <a:off x="800100" y="33772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3501037"/>
            <a:ext cx="190500" cy="190500"/>
          </a:xfrm>
          <a:prstGeom prst="rect">
            <a:avLst/>
          </a:prstGeom>
          <a:ln/>
        </p:spPr>
      </p:pic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1257300" y="34819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The 80% rule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1257300" y="36820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Most effort goes into data &amp; engineering, not model training</a:t>
            </a:r>
            <a:endParaRPr/>
          </a:p>
        </p:txBody>
      </p:sp>
      <p:sp>
        <p:nvSpPr>
          <p:cNvPr id="944" name=""/>
          <p:cNvSpPr/>
          <p:nvPr/>
        </p:nvSpPr>
        <p:spPr>
          <a:xfrm rot="0" flipH="0" flipV="0">
            <a:off x="800100" y="40630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186837"/>
            <a:ext cx="190500" cy="190500"/>
          </a:xfrm>
          <a:prstGeom prst="rect">
            <a:avLst/>
          </a:prstGeom>
          <a:ln/>
        </p:spPr>
      </p:pic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1257300" y="41677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Environment ready</a:t>
            </a:r>
            <a:endParaRPr/>
          </a:p>
        </p:txBody>
      </p:sp>
      <p:sp>
        <p:nvSpPr>
          <p:cNvPr id="947" name="" descr="{&quot;isTemplate&quot;:true,&quot;type&quot;:&quot;text&quot;}"/>
          <p:cNvSpPr txBox="1"/>
          <p:nvPr/>
        </p:nvSpPr>
        <p:spPr>
          <a:xfrm rot="0" flipH="0" flipV="0">
            <a:off x="1257300" y="43678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conda ai-app · Jupyter/Colab · Git push</a:t>
            </a:r>
            <a:endParaRPr/>
          </a:p>
        </p:txBody>
      </p:sp>
      <p:sp>
        <p:nvSpPr>
          <p:cNvPr id="948" name=""/>
          <p:cNvSpPr/>
          <p:nvPr/>
        </p:nvSpPr>
        <p:spPr>
          <a:xfrm rot="0" flipH="0" flipV="0">
            <a:off x="800100" y="4748812"/>
            <a:ext cx="5753100" cy="571500"/>
          </a:xfrm>
          <a:prstGeom prst="roundRect">
            <a:avLst>
              <a:gd name="adj" fmla="val 1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9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2500" y="4872637"/>
            <a:ext cx="190500" cy="190500"/>
          </a:xfrm>
          <a:prstGeom prst="rect">
            <a:avLst/>
          </a:prstGeom>
          <a:ln/>
        </p:spPr>
      </p:pic>
      <p:sp>
        <p:nvSpPr>
          <p:cNvPr id="950" name="" descr="{&quot;isTemplate&quot;:true,&quot;type&quot;:&quot;text&quot;}"/>
          <p:cNvSpPr txBox="1"/>
          <p:nvPr/>
        </p:nvSpPr>
        <p:spPr>
          <a:xfrm rot="0" flipH="0" flipV="0">
            <a:off x="1257300" y="4853587"/>
            <a:ext cx="5143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First ML program</a:t>
            </a:r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1257300" y="5053612"/>
            <a:ext cx="5143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Iris classifier: fit → predict → evaluate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6819900" y="1681762"/>
            <a:ext cx="4572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Module 1 · The Four Weeks</a:t>
            </a:r>
            <a:endParaRPr/>
          </a:p>
        </p:txBody>
      </p:sp>
      <p:sp>
        <p:nvSpPr>
          <p:cNvPr id="953" name=""/>
          <p:cNvSpPr/>
          <p:nvPr/>
        </p:nvSpPr>
        <p:spPr>
          <a:xfrm rot="0" flipH="0" flipV="0">
            <a:off x="6819900" y="2024662"/>
            <a:ext cx="4572000" cy="1809750"/>
          </a:xfrm>
          <a:prstGeom prst="roundRect">
            <a:avLst>
              <a:gd name="adj" fmla="val 736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54" name=""/>
          <p:cNvSpPr/>
          <p:nvPr/>
        </p:nvSpPr>
        <p:spPr>
          <a:xfrm rot="0" flipH="0" flipV="0">
            <a:off x="7029450" y="2215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7143750" y="2281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W1</a:t>
            </a:r>
            <a:endParaRPr/>
          </a:p>
        </p:txBody>
      </p:sp>
      <p:sp>
        <p:nvSpPr>
          <p:cNvPr id="956" name="" descr="{&quot;isTemplate&quot;:true,&quot;type&quot;:&quot;text&quot;}"/>
          <p:cNvSpPr txBox="1"/>
          <p:nvPr/>
        </p:nvSpPr>
        <p:spPr>
          <a:xfrm rot="0" flipH="0" flipV="0">
            <a:off x="7562850" y="2272312"/>
            <a:ext cx="1247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Intro &amp; environment</a:t>
            </a:r>
            <a:endParaRPr/>
          </a:p>
        </p:txBody>
      </p:sp>
      <p:pic>
        <p:nvPicPr>
          <p:cNvPr id="9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924925" y="2291362"/>
            <a:ext cx="142875" cy="142875"/>
          </a:xfrm>
          <a:prstGeom prst="rect">
            <a:avLst/>
          </a:prstGeom>
          <a:ln/>
        </p:spPr>
      </p:pic>
      <p:sp>
        <p:nvSpPr>
          <p:cNvPr id="958" name=""/>
          <p:cNvSpPr/>
          <p:nvPr/>
        </p:nvSpPr>
        <p:spPr>
          <a:xfrm rot="0" flipH="0" flipV="0">
            <a:off x="7029450" y="2596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59" name="" descr="{&quot;isTemplate&quot;:true,&quot;type&quot;:&quot;text&quot;}"/>
          <p:cNvSpPr txBox="1"/>
          <p:nvPr/>
        </p:nvSpPr>
        <p:spPr>
          <a:xfrm rot="0" flipH="0" flipV="0">
            <a:off x="7143750" y="2662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7562850" y="2653312"/>
            <a:ext cx="1466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Data handling (today)</a:t>
            </a:r>
            <a:endParaRPr/>
          </a:p>
        </p:txBody>
      </p:sp>
      <p:sp>
        <p:nvSpPr>
          <p:cNvPr id="961" name=""/>
          <p:cNvSpPr/>
          <p:nvPr/>
        </p:nvSpPr>
        <p:spPr>
          <a:xfrm rot="0" flipH="0" flipV="0">
            <a:off x="9144000" y="2653312"/>
            <a:ext cx="476250" cy="180975"/>
          </a:xfrm>
          <a:prstGeom prst="roundRect">
            <a:avLst>
              <a:gd name="adj" fmla="val 5263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62" name="" descr="{&quot;isTemplate&quot;:true,&quot;type&quot;:&quot;text&quot;}"/>
          <p:cNvSpPr txBox="1"/>
          <p:nvPr/>
        </p:nvSpPr>
        <p:spPr>
          <a:xfrm rot="0" flipH="0" flipV="0">
            <a:off x="9239250" y="2672362"/>
            <a:ext cx="285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NOW</a:t>
            </a:r>
            <a:endParaRPr/>
          </a:p>
        </p:txBody>
      </p:sp>
      <p:sp>
        <p:nvSpPr>
          <p:cNvPr id="963" name=""/>
          <p:cNvSpPr/>
          <p:nvPr/>
        </p:nvSpPr>
        <p:spPr>
          <a:xfrm rot="0" flipH="0" flipV="0">
            <a:off x="7029450" y="2977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7143750" y="3043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W3</a:t>
            </a:r>
            <a:endParaRPr/>
          </a:p>
        </p:txBody>
      </p:sp>
      <p:sp>
        <p:nvSpPr>
          <p:cNvPr id="965" name="" descr="{&quot;isTemplate&quot;:true,&quot;type&quot;:&quot;text&quot;}"/>
          <p:cNvSpPr txBox="1"/>
          <p:nvPr/>
        </p:nvSpPr>
        <p:spPr>
          <a:xfrm rot="0" flipH="0" flipV="0">
            <a:off x="7562850" y="3034312"/>
            <a:ext cx="2105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Machine learning with scikit-learn</a:t>
            </a:r>
            <a:endParaRPr/>
          </a:p>
        </p:txBody>
      </p:sp>
      <p:sp>
        <p:nvSpPr>
          <p:cNvPr id="966" name=""/>
          <p:cNvSpPr/>
          <p:nvPr/>
        </p:nvSpPr>
        <p:spPr>
          <a:xfrm rot="0" flipH="0" flipV="0">
            <a:off x="7029450" y="3358162"/>
            <a:ext cx="419100" cy="285750"/>
          </a:xfrm>
          <a:prstGeom prst="roundRect">
            <a:avLst>
              <a:gd name="adj" fmla="val 2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67" name="" descr="{&quot;isTemplate&quot;:true,&quot;type&quot;:&quot;text&quot;}"/>
          <p:cNvSpPr txBox="1"/>
          <p:nvPr/>
        </p:nvSpPr>
        <p:spPr>
          <a:xfrm rot="0" flipH="0" flipV="0">
            <a:off x="7143750" y="3424837"/>
            <a:ext cx="200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W4</a:t>
            </a:r>
            <a:endParaRPr/>
          </a:p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7562850" y="3415312"/>
            <a:ext cx="1647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Model evaluation &amp; tuning</a:t>
            </a:r>
            <a:endParaRPr/>
          </a:p>
        </p:txBody>
      </p:sp>
      <p:sp>
        <p:nvSpPr>
          <p:cNvPr id="969" name=""/>
          <p:cNvSpPr/>
          <p:nvPr/>
        </p:nvSpPr>
        <p:spPr>
          <a:xfrm rot="0" flipH="0" flipV="0">
            <a:off x="6819900" y="3967762"/>
            <a:ext cx="4572000" cy="1514475"/>
          </a:xfrm>
          <a:prstGeom prst="roundRect">
            <a:avLst>
              <a:gd name="adj" fmla="val 880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7029450" y="4139212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Inter"/>
                <a:ea typeface="Inter"/>
              </a:rPr>
              <a:t>Today's Three Goals</a:t>
            </a:r>
            <a:endParaRPr/>
          </a:p>
        </p:txBody>
      </p:sp>
      <p:sp>
        <p:nvSpPr>
          <p:cNvPr id="971" name=""/>
          <p:cNvSpPr/>
          <p:nvPr/>
        </p:nvSpPr>
        <p:spPr>
          <a:xfrm rot="0" flipH="0" flipV="0">
            <a:off x="7029450" y="44344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2" name="" descr="{&quot;isTemplate&quot;:true,&quot;type&quot;:&quot;text&quot;}"/>
          <p:cNvSpPr txBox="1"/>
          <p:nvPr/>
        </p:nvSpPr>
        <p:spPr>
          <a:xfrm rot="0" flipH="0" flipV="0">
            <a:off x="7105650" y="447258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7353300" y="4463062"/>
            <a:ext cx="2428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Manipulate data with NumPy / Pandas</a:t>
            </a:r>
            <a:endParaRPr/>
          </a:p>
        </p:txBody>
      </p:sp>
      <p:sp>
        <p:nvSpPr>
          <p:cNvPr id="974" name=""/>
          <p:cNvSpPr/>
          <p:nvPr/>
        </p:nvSpPr>
        <p:spPr>
          <a:xfrm rot="0" flipH="0" flipV="0">
            <a:off x="7029450" y="475833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5" name="" descr="{&quot;isTemplate&quot;:true,&quot;type&quot;:&quot;text&quot;}"/>
          <p:cNvSpPr txBox="1"/>
          <p:nvPr/>
        </p:nvSpPr>
        <p:spPr>
          <a:xfrm rot="0" flipH="0" flipV="0">
            <a:off x="7105650" y="479643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976" name="" descr="{&quot;isTemplate&quot;:true,&quot;type&quot;:&quot;text&quot;}"/>
          <p:cNvSpPr txBox="1"/>
          <p:nvPr/>
        </p:nvSpPr>
        <p:spPr>
          <a:xfrm rot="0" flipH="0" flipV="0">
            <a:off x="7353300" y="4786912"/>
            <a:ext cx="2209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Plot charts and run the 5-step EDA</a:t>
            </a:r>
            <a:endParaRPr/>
          </a:p>
        </p:txBody>
      </p:sp>
      <p:sp>
        <p:nvSpPr>
          <p:cNvPr id="977" name=""/>
          <p:cNvSpPr/>
          <p:nvPr/>
        </p:nvSpPr>
        <p:spPr>
          <a:xfrm rot="0" flipH="0" flipV="0">
            <a:off x="7029450" y="5082187"/>
            <a:ext cx="228600" cy="228600"/>
          </a:xfrm>
          <a:prstGeom prst="roundRect">
            <a:avLst>
              <a:gd name="adj" fmla="val 29167"/>
            </a:avLst>
          </a:prstGeom>
          <a:solidFill>
            <a:srgbClr val="FFFFFF">
              <a:alpha val="18000"/>
            </a:srgbClr>
          </a:solidFill>
          <a:ln/>
        </p:spPr>
        <p:txBody>
          <a:bodyPr/>
          <a:p/>
        </p:txBody>
      </p:sp>
      <p:sp>
        <p:nvSpPr>
          <p:cNvPr id="978" name="" descr="{&quot;isTemplate&quot;:true,&quot;type&quot;:&quot;text&quot;}"/>
          <p:cNvSpPr txBox="1"/>
          <p:nvPr/>
        </p:nvSpPr>
        <p:spPr>
          <a:xfrm rot="0" flipH="0" flipV="0">
            <a:off x="7105650" y="5120287"/>
            <a:ext cx="76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979" name="" descr="{&quot;isTemplate&quot;:true,&quot;type&quot;:&quot;text&quot;}"/>
          <p:cNvSpPr txBox="1"/>
          <p:nvPr/>
        </p:nvSpPr>
        <p:spPr>
          <a:xfrm rot="0" flipH="0" flipV="0">
            <a:off x="7353300" y="5110762"/>
            <a:ext cx="2714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Clean missing values, outliers &amp; duplicates</a:t>
            </a:r>
            <a:endParaRPr/>
          </a:p>
        </p:txBody>
      </p:sp>
      <p:sp>
        <p:nvSpPr>
          <p:cNvPr id="9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98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04 / 32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98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Role &amp;amp; Quality of Data&lt;/Text&gt;&#10;    &lt;Text style={{ fontSize: 15, color: 'rgba(255,255,255,0.85)' }}&gt;Module 1 · Week 2&lt;/Text&gt;&#10;  &lt;/Box&gt;&#10;  &lt;Box style={{ position: 'absolute', top: 100, left: 0, width: '100%', height: 540, padding: '6px 84px', flexDirection: 'row', gap: 26 }}&gt;&#10;    &lt;Box style={{ flex: 1, gap: 14, justifyContent: 'center' }}&gt;&#10;      &lt;Text style={{ fontSize: 18, color: '#8B97A8', fontWeight: '600', marginBottom: 2 }}&gt;Models learn everything from data&lt;/Text&gt;&#10;      &lt;Box style={{ background: '#F7F9FC', border: '1px solid #E5E7EB', borderLeft: '5px solid #1E4FA8', borderRadius: 10, padding: '16px 20px' }}&gt;&#10;        &lt;Text style={{ fontSize: 17, color: '#1A2230', lineHeight: 1.65 }}&gt;&#10;          Without &lt;span style={{ fontWeight: 'bold', color: '#0E3F8C' }}&gt;good data&lt;/span&gt;, even the most advanced algorithm can only learn &lt;span style={{ fontWeight: 'bold', color: '#0E3F8C' }}&gt;bias and noise&lt;/span&gt;.&#10;          Data sets the &lt;span style={{ fontWeight: 'bold', color: '#0E3F8C' }}&gt;ceiling&lt;/span&gt; of model performance; algorithms only approach that ceiling.&#10;        &lt;/Text&gt;&#10;      &lt;/Box&gt;&#10;      &lt;Box style={{ background: '#F0F5FC', border: '1px solid #D6DCE5', borderRadius: 10, padding: '14px 20px' }}&gt;&#10;        &lt;Text style={{ fontSize: 15, color: '#1A2230', lineHeight: 1.6 }}&gt;&#10;          &lt;span style={{ fontWeight: 'bold', color: '#1E4FA8' }}&gt;The AI data workflow:&lt;/span&gt;&#10;          raw data &lt;FAIcon name='arrow-right' style={{ fill: '#8B97A8', width: 13, height: 13 }} /&gt; clean &lt;FAIcon name='arrow-right' style={{ fill: '#8B97A8', width: 13, height: 13 }} /&gt; features &lt;FAIcon name='arrow-right' style={{ fill: '#8B97A8', width: 13, height: 13 }} /&gt; train &lt;FAIcon name='arrow-right' style={{ fill: '#8B97A8', width: 13, height: 13 }} /&gt; evaluate &lt;FAIcon name='arrow-right' style={{ fill: '#8B97A8', width: 13, height: 13 }} /&gt; deploy — flaws can creep in at every step.&#10;        &lt;/Text&gt;&#10;      &lt;/Box&gt;&#10;      &lt;Box style={{ borderLeft: '4px solid #0E3F8C', paddingLeft: 14 }}&gt;&#10;        &lt;Text style={{ fontSize: 15.5, color: '#1A2230', lineHeight: 1.6 }}&gt;&#10;          &lt;span style={{ fontWeight: 'bold', color: '#0E3F8C' }}&gt;Key insight:&lt;/span&gt; data flaws never disappear — they get &lt;span style={{ fontWeight: 'bold', color: '#0E3F8C' }}&gt;amplified and locked into&lt;/span&gt; every prediction the model makes.&#10;        &lt;/Text&gt;&#10;      &lt;/Box&gt;&#10;    &lt;/Box&gt;&#10;    &lt;Box style={{ flex: 1.1, justifyContent: 'center' }}&gt;&#10;      &lt;Text style={{ fontSize: 19, color: '#0E3F8C', fontWeight: 'bold', marginBottom: 12 }}&gt;6 Dimensions of Data Quality&lt;/Text&gt;&#10;      &lt;Box style={{ flexDirection: 'row', flexWrap: 'wrap', gap: 12 }}&gt;&#10;        {[&#10;          { i: 'bullseye', t: 'Accuracy', d: 'Values match the real world' },&#10;          { i: 'puzzle-piece', t: 'Completeness', d: 'No systematic missingness' },&#10;          { i: 'equals', t: 'Consistency', d: 'Same definitions across sources' },&#10;          { i: 'clock', t: 'Timeliness', d: 'Reflects the current state' },&#10;          { i: 'link', t: 'Relevance', d: 'Features relate to the target' },&#10;          { i: 'database', t: 'Volume &amp; Bias', d: 'Enough data, unbiased sampling' },&#10;        ].map((d, i) =&gt; (&#10;          &lt;Box key={i} style={{ width: '47%', background: '#F7F9FC', border: '1px solid #E5E7EB', borderRadius: 10, padding: '13px 15px' }}&gt;&#10;            &lt;Box style={{ flexDirection: 'row', alignItems: 'center', gap: 10 }}&gt;&#10;              &lt;Box style={{ width: 34, height: 34, borderRadius: 9, background: '#E8EFF8', justifyContent: 'center', alignItems: 'center', flexShrink: 0 }}&gt;&#10;                &lt;FAIcon name={d.i} style={{ fill: '#1E4FA8', width: 17, height: 17 }} /&gt;&#10;              &lt;/Box&gt;&#10;              &lt;Text style={{ fontSize: 17, color: '#1A2230', fontWeight: 'bold' }}&gt;{d.t}&lt;/Text&gt;&#10;            &lt;/Box&gt;&#10;            &lt;Text style={{ fontSize: 13.5, color: '#4A5568', marginTop: 8 }}&gt;{d.d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8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638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Role &amp; Quality of Data</a:t>
            </a:r>
            <a:endParaRPr/>
          </a:p>
        </p:txBody>
      </p:sp>
      <p:sp>
        <p:nvSpPr>
          <p:cNvPr id="98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87" name="" descr="{&quot;isTemplate&quot;:true,&quot;type&quot;:&quot;text&quot;}"/>
          <p:cNvSpPr txBox="1"/>
          <p:nvPr/>
        </p:nvSpPr>
        <p:spPr>
          <a:xfrm rot="0" flipH="0" flipV="0">
            <a:off x="800100" y="1885950"/>
            <a:ext cx="4924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Models learn everything from data</a:t>
            </a:r>
            <a:endParaRPr/>
          </a:p>
        </p:txBody>
      </p:sp>
      <p:sp>
        <p:nvSpPr>
          <p:cNvPr id="988" name=""/>
          <p:cNvSpPr/>
          <p:nvPr/>
        </p:nvSpPr>
        <p:spPr>
          <a:xfrm rot="0" flipH="0" flipV="0">
            <a:off x="847725" y="2247900"/>
            <a:ext cx="49244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89" name=""/>
          <p:cNvSpPr/>
          <p:nvPr/>
        </p:nvSpPr>
        <p:spPr>
          <a:xfrm rot="0" flipH="0" flipV="0">
            <a:off x="847725" y="2247900"/>
            <a:ext cx="4924425" cy="1266825"/>
          </a:xfrm>
          <a:custGeom>
            <a:pathLst>
              <a:path w="517" h="13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28"/>
                </a:lnTo>
                <a:cubicBezTo>
                  <a:pt x="5" y="130"/>
                  <a:pt x="7" y="132"/>
                  <a:pt x="9" y="133"/>
                </a:cubicBezTo>
                <a:cubicBezTo>
                  <a:pt x="4" y="132"/>
                  <a:pt x="0" y="128"/>
                  <a:pt x="0" y="12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90" name="" descr="{&quot;isTemplate&quot;:true,&quot;type&quot;:&quot;text&quot;}"/>
          <p:cNvSpPr txBox="1"/>
          <p:nvPr/>
        </p:nvSpPr>
        <p:spPr>
          <a:xfrm rot="0" flipH="0" flipV="0">
            <a:off x="1038225" y="2400300"/>
            <a:ext cx="4495800" cy="962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Without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good data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, even the most advanced algorithm can only learn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bias and noise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. Data sets the </a:t>
            </a: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ceiling</a:t>
            </a:r>
            <a:r>
              <a:rPr lang="en-US" sz="1275">
                <a:solidFill>
                  <a:srgbClr val="1A2230"/>
                </a:solidFill>
                <a:latin typeface="Inter"/>
                <a:ea typeface="Inter"/>
              </a:rPr>
              <a:t> of model performance; algorithms only approach that ceiling.</a:t>
            </a:r>
            <a:endParaRPr/>
          </a:p>
        </p:txBody>
      </p:sp>
      <p:sp>
        <p:nvSpPr>
          <p:cNvPr id="991" name=""/>
          <p:cNvSpPr/>
          <p:nvPr/>
        </p:nvSpPr>
        <p:spPr>
          <a:xfrm rot="0" flipH="0" flipV="0">
            <a:off x="800100" y="3648075"/>
            <a:ext cx="4924425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992" name="" descr="{&quot;isTemplate&quot;:true,&quot;type&quot;:&quot;text&quot;}"/>
          <p:cNvSpPr txBox="1"/>
          <p:nvPr/>
        </p:nvSpPr>
        <p:spPr>
          <a:xfrm rot="0" flipH="0" flipV="0">
            <a:off x="990600" y="3781425"/>
            <a:ext cx="45434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The AI data workflow: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raw data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clean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features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train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evaluate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deploy — flaws can creep in at every step.</a:t>
            </a:r>
            <a:endParaRPr/>
          </a:p>
        </p:txBody>
      </p:sp>
      <p:sp>
        <p:nvSpPr>
          <p:cNvPr id="993" name=""/>
          <p:cNvSpPr/>
          <p:nvPr/>
        </p:nvSpPr>
        <p:spPr>
          <a:xfrm rot="0" flipH="0" flipV="0">
            <a:off x="800100" y="4600575"/>
            <a:ext cx="4962525" cy="571500"/>
          </a:xfrm>
          <a:custGeom>
            <a:pathLst>
              <a:path w="521" h="60">
                <a:moveTo>
                  <a:pt x="0" y="0"/>
                </a:moveTo>
                <a:lnTo>
                  <a:pt x="4" y="0"/>
                </a:lnTo>
                <a:lnTo>
                  <a:pt x="4" y="60"/>
                </a:lnTo>
                <a:lnTo>
                  <a:pt x="0" y="6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4" name="" descr="{&quot;isTemplate&quot;:true,&quot;type&quot;:&quot;text&quot;}"/>
          <p:cNvSpPr txBox="1"/>
          <p:nvPr/>
        </p:nvSpPr>
        <p:spPr>
          <a:xfrm rot="0" flipH="0" flipV="0">
            <a:off x="971550" y="4600575"/>
            <a:ext cx="475297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data flaws never disappear — they get </a:t>
            </a: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amplified and locked into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every prediction the model makes.</a:t>
            </a:r>
            <a:endParaRPr/>
          </a:p>
        </p:txBody>
      </p:sp>
      <p:sp>
        <p:nvSpPr>
          <p:cNvPr id="995" name="" descr="{&quot;isTemplate&quot;:true,&quot;type&quot;:&quot;text&quot;}"/>
          <p:cNvSpPr txBox="1"/>
          <p:nvPr/>
        </p:nvSpPr>
        <p:spPr>
          <a:xfrm rot="0" flipH="0" flipV="0">
            <a:off x="5972175" y="2028825"/>
            <a:ext cx="541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Inter"/>
                <a:ea typeface="Inter"/>
              </a:rPr>
              <a:t>6 Dimensions of Data Quality</a:t>
            </a:r>
            <a:endParaRPr/>
          </a:p>
        </p:txBody>
      </p:sp>
      <p:sp>
        <p:nvSpPr>
          <p:cNvPr id="996" name=""/>
          <p:cNvSpPr/>
          <p:nvPr/>
        </p:nvSpPr>
        <p:spPr>
          <a:xfrm rot="0" flipH="0" flipV="0">
            <a:off x="5972175" y="2362200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97" name=""/>
          <p:cNvSpPr/>
          <p:nvPr/>
        </p:nvSpPr>
        <p:spPr>
          <a:xfrm rot="0" flipH="0" flipV="0">
            <a:off x="6115050" y="24860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99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200775" y="2571750"/>
            <a:ext cx="161925" cy="161925"/>
          </a:xfrm>
          <a:prstGeom prst="rect">
            <a:avLst/>
          </a:prstGeom>
          <a:ln/>
        </p:spPr>
      </p:pic>
      <p:sp>
        <p:nvSpPr>
          <p:cNvPr id="999" name="" descr="{&quot;isTemplate&quot;:true,&quot;type&quot;:&quot;text&quot;}"/>
          <p:cNvSpPr txBox="1"/>
          <p:nvPr/>
        </p:nvSpPr>
        <p:spPr>
          <a:xfrm rot="0" flipH="0" flipV="0">
            <a:off x="6534150" y="2552700"/>
            <a:ext cx="733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Accuracy</a:t>
            </a:r>
            <a:endParaRPr/>
          </a:p>
        </p:txBody>
      </p:sp>
      <p:sp>
        <p:nvSpPr>
          <p:cNvPr id="1000" name="" descr="{&quot;isTemplate&quot;:true,&quot;type&quot;:&quot;text&quot;}"/>
          <p:cNvSpPr txBox="1"/>
          <p:nvPr/>
        </p:nvSpPr>
        <p:spPr>
          <a:xfrm rot="0" flipH="0" flipV="0">
            <a:off x="6115050" y="288607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Values match the real world</a:t>
            </a:r>
            <a:endParaRPr/>
          </a:p>
        </p:txBody>
      </p:sp>
      <p:sp>
        <p:nvSpPr>
          <p:cNvPr id="1001" name=""/>
          <p:cNvSpPr/>
          <p:nvPr/>
        </p:nvSpPr>
        <p:spPr>
          <a:xfrm rot="0" flipH="0" flipV="0">
            <a:off x="8629650" y="2362200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2" name=""/>
          <p:cNvSpPr/>
          <p:nvPr/>
        </p:nvSpPr>
        <p:spPr>
          <a:xfrm rot="0" flipH="0" flipV="0">
            <a:off x="8772525" y="248602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858250" y="2571750"/>
            <a:ext cx="161925" cy="161925"/>
          </a:xfrm>
          <a:prstGeom prst="rect">
            <a:avLst/>
          </a:prstGeom>
          <a:ln/>
        </p:spPr>
      </p:pic>
      <p:sp>
        <p:nvSpPr>
          <p:cNvPr id="1004" name="" descr="{&quot;isTemplate&quot;:true,&quot;type&quot;:&quot;text&quot;}"/>
          <p:cNvSpPr txBox="1"/>
          <p:nvPr/>
        </p:nvSpPr>
        <p:spPr>
          <a:xfrm rot="0" flipH="0" flipV="0">
            <a:off x="9191625" y="2552700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Completeness</a:t>
            </a:r>
            <a:endParaRPr/>
          </a:p>
        </p:txBody>
      </p:sp>
      <p:sp>
        <p:nvSpPr>
          <p:cNvPr id="1005" name="" descr="{&quot;isTemplate&quot;:true,&quot;type&quot;:&quot;text&quot;}"/>
          <p:cNvSpPr txBox="1"/>
          <p:nvPr/>
        </p:nvSpPr>
        <p:spPr>
          <a:xfrm rot="0" flipH="0" flipV="0">
            <a:off x="8772525" y="288607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No systematic missingness</a:t>
            </a:r>
            <a:endParaRPr/>
          </a:p>
        </p:txBody>
      </p:sp>
      <p:sp>
        <p:nvSpPr>
          <p:cNvPr id="1006" name=""/>
          <p:cNvSpPr/>
          <p:nvPr/>
        </p:nvSpPr>
        <p:spPr>
          <a:xfrm rot="0" flipH="0" flipV="0">
            <a:off x="5972175" y="3286125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07" name=""/>
          <p:cNvSpPr/>
          <p:nvPr/>
        </p:nvSpPr>
        <p:spPr>
          <a:xfrm rot="0" flipH="0" flipV="0">
            <a:off x="6115050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00775" y="3495675"/>
            <a:ext cx="161925" cy="161925"/>
          </a:xfrm>
          <a:prstGeom prst="rect">
            <a:avLst/>
          </a:prstGeom>
          <a:ln/>
        </p:spPr>
      </p:pic>
      <p:sp>
        <p:nvSpPr>
          <p:cNvPr id="1009" name="" descr="{&quot;isTemplate&quot;:true,&quot;type&quot;:&quot;text&quot;}"/>
          <p:cNvSpPr txBox="1"/>
          <p:nvPr/>
        </p:nvSpPr>
        <p:spPr>
          <a:xfrm rot="0" flipH="0" flipV="0">
            <a:off x="6534150" y="3476625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Consistency</a:t>
            </a:r>
            <a:endParaRPr/>
          </a:p>
        </p:txBody>
      </p:sp>
      <p:sp>
        <p:nvSpPr>
          <p:cNvPr id="1010" name="" descr="{&quot;isTemplate&quot;:true,&quot;type&quot;:&quot;text&quot;}"/>
          <p:cNvSpPr txBox="1"/>
          <p:nvPr/>
        </p:nvSpPr>
        <p:spPr>
          <a:xfrm rot="0" flipH="0" flipV="0">
            <a:off x="6115050" y="3810000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Same definitions across sources</a:t>
            </a:r>
            <a:endParaRPr/>
          </a:p>
        </p:txBody>
      </p:sp>
      <p:sp>
        <p:nvSpPr>
          <p:cNvPr id="1011" name=""/>
          <p:cNvSpPr/>
          <p:nvPr/>
        </p:nvSpPr>
        <p:spPr>
          <a:xfrm rot="0" flipH="0" flipV="0">
            <a:off x="8629650" y="3286125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2" name=""/>
          <p:cNvSpPr/>
          <p:nvPr/>
        </p:nvSpPr>
        <p:spPr>
          <a:xfrm rot="0" flipH="0" flipV="0">
            <a:off x="8772525" y="3409950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858250" y="3495675"/>
            <a:ext cx="161925" cy="161925"/>
          </a:xfrm>
          <a:prstGeom prst="rect">
            <a:avLst/>
          </a:prstGeom>
          <a:ln/>
        </p:spPr>
      </p:pic>
      <p:sp>
        <p:nvSpPr>
          <p:cNvPr id="1014" name="" descr="{&quot;isTemplate&quot;:true,&quot;type&quot;:&quot;text&quot;}"/>
          <p:cNvSpPr txBox="1"/>
          <p:nvPr/>
        </p:nvSpPr>
        <p:spPr>
          <a:xfrm rot="0" flipH="0" flipV="0">
            <a:off x="9191625" y="3476625"/>
            <a:ext cx="8382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Timeliness</a:t>
            </a:r>
            <a:endParaRPr/>
          </a:p>
        </p:txBody>
      </p:sp>
      <p:sp>
        <p:nvSpPr>
          <p:cNvPr id="1015" name="" descr="{&quot;isTemplate&quot;:true,&quot;type&quot;:&quot;text&quot;}"/>
          <p:cNvSpPr txBox="1"/>
          <p:nvPr/>
        </p:nvSpPr>
        <p:spPr>
          <a:xfrm rot="0" flipH="0" flipV="0">
            <a:off x="8772525" y="3810000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Reflects the current state</a:t>
            </a:r>
            <a:endParaRPr/>
          </a:p>
        </p:txBody>
      </p:sp>
      <p:sp>
        <p:nvSpPr>
          <p:cNvPr id="1016" name=""/>
          <p:cNvSpPr/>
          <p:nvPr/>
        </p:nvSpPr>
        <p:spPr>
          <a:xfrm rot="0" flipH="0" flipV="0">
            <a:off x="5972175" y="4210050"/>
            <a:ext cx="2543175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7" name=""/>
          <p:cNvSpPr/>
          <p:nvPr/>
        </p:nvSpPr>
        <p:spPr>
          <a:xfrm rot="0" flipH="0" flipV="0">
            <a:off x="6115050" y="43338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00775" y="4419600"/>
            <a:ext cx="161925" cy="161925"/>
          </a:xfrm>
          <a:prstGeom prst="rect">
            <a:avLst/>
          </a:prstGeom>
          <a:ln/>
        </p:spPr>
      </p:pic>
      <p:sp>
        <p:nvSpPr>
          <p:cNvPr id="1019" name="" descr="{&quot;isTemplate&quot;:true,&quot;type&quot;:&quot;text&quot;}"/>
          <p:cNvSpPr txBox="1"/>
          <p:nvPr/>
        </p:nvSpPr>
        <p:spPr>
          <a:xfrm rot="0" flipH="0" flipV="0">
            <a:off x="6534150" y="4400550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Relevance</a:t>
            </a:r>
            <a:endParaRPr/>
          </a:p>
        </p:txBody>
      </p:sp>
      <p:sp>
        <p:nvSpPr>
          <p:cNvPr id="1020" name="" descr="{&quot;isTemplate&quot;:true,&quot;type&quot;:&quot;text&quot;}"/>
          <p:cNvSpPr txBox="1"/>
          <p:nvPr/>
        </p:nvSpPr>
        <p:spPr>
          <a:xfrm rot="0" flipH="0" flipV="0">
            <a:off x="6115050" y="4733925"/>
            <a:ext cx="22574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Features relate to the target</a:t>
            </a:r>
            <a:endParaRPr/>
          </a:p>
        </p:txBody>
      </p:sp>
      <p:sp>
        <p:nvSpPr>
          <p:cNvPr id="1021" name=""/>
          <p:cNvSpPr/>
          <p:nvPr/>
        </p:nvSpPr>
        <p:spPr>
          <a:xfrm rot="0" flipH="0" flipV="0">
            <a:off x="8629650" y="4210050"/>
            <a:ext cx="2552700" cy="809625"/>
          </a:xfrm>
          <a:prstGeom prst="roundRect">
            <a:avLst>
              <a:gd name="adj" fmla="val 117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22" name=""/>
          <p:cNvSpPr/>
          <p:nvPr/>
        </p:nvSpPr>
        <p:spPr>
          <a:xfrm rot="0" flipH="0" flipV="0">
            <a:off x="8772525" y="4333875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8858250" y="4419600"/>
            <a:ext cx="161925" cy="161925"/>
          </a:xfrm>
          <a:prstGeom prst="rect">
            <a:avLst/>
          </a:prstGeom>
          <a:ln/>
        </p:spPr>
      </p:pic>
      <p:sp>
        <p:nvSpPr>
          <p:cNvPr id="1024" name="" descr="{&quot;isTemplate&quot;:true,&quot;type&quot;:&quot;text&quot;}"/>
          <p:cNvSpPr txBox="1"/>
          <p:nvPr/>
        </p:nvSpPr>
        <p:spPr>
          <a:xfrm rot="0" flipH="0" flipV="0">
            <a:off x="9191625" y="4400550"/>
            <a:ext cx="11239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Volume &amp; Bias</a:t>
            </a:r>
            <a:endParaRPr/>
          </a:p>
        </p:txBody>
      </p:sp>
      <p:sp>
        <p:nvSpPr>
          <p:cNvPr id="1025" name="" descr="{&quot;isTemplate&quot;:true,&quot;type&quot;:&quot;text&quot;}"/>
          <p:cNvSpPr txBox="1"/>
          <p:nvPr/>
        </p:nvSpPr>
        <p:spPr>
          <a:xfrm rot="0" flipH="0" flipV="0">
            <a:off x="8772525" y="4733925"/>
            <a:ext cx="2266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Enough data, unbiased sampling</a:t>
            </a:r>
            <a:endParaRPr/>
          </a:p>
        </p:txBody>
      </p:sp>
      <p:sp>
        <p:nvSpPr>
          <p:cNvPr id="102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02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05 / 32</a:t>
            </a:r>
            <a:endParaRPr/>
          </a:p>
        </p:txBody>
      </p:sp>
    </p:spTree>
  </p:cSld>
</p:sld>
</file>

<file path=ppt/slides/slide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2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ata Types &amp;amp; Source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t: 'Structured Data', e: 'Structured', i: 'table',&#10;          d: 'Neat rows and columns; fixed types per column — ready for a DataFrame.',&#10;          ex: 'Database tables · CSV · Excel reports',&#10;          c: '#1E4FA8',&#10;        },&#10;        {&#10;          t: 'Semi-structured Data', e: 'Semi-structured', i: 'code',&#10;          d: 'Has labels but no fixed schema — parse first, then tabulate.',&#10;          ex: 'JSON API responses · Log files · XML',&#10;          c: '#3D7BD9',&#10;        },&#10;        {&#10;          t: 'Unstructured Data', e: 'Unstructured', i: 'image',&#10;          d: 'Free-form content — the battleground of Modules 2 &amp; 3.',&#10;          ex: 'Images · Text · Audio · Video',&#10;          c: '#0E3F8C',&#10;        },&#10;      ].map((k, i) =&gt; (&#10;        &lt;Box key={i} style={{ flex: 1, background: '#F7F9FC', border: '1px solid #E5E7EB', borderTop: '4px solid ' + k.c, borderRadius: 12, padding: '18px 20px', justifyContent: 'space-between' }}&gt;&#10;          &lt;Box&gt;&#10;            &lt;Box style={{ flexDirection: 'row', alignItems: 'center', gap: 12 }}&gt;&#10;              &lt;Box style={{ width: 40, height: 40, borderRadius: 10, background: '#E8EFF8', justifyContent: 'center', alignItems: 'center' }}&gt;&#10;                &lt;FAIcon name={k.i} style={{ fill: k.c, width: 20, height: 20 }} /&gt;&#10;              &lt;/Box&gt;&#10;              &lt;Box&gt;&#10;                &lt;Text style={{ fontSize: 19, color: '#1A2230', fontWeight: 'bold' }}&gt;{k.t}&lt;/Text&gt;&#10;                &lt;Text style={{ fontSize: 13, color: '#8B97A8' }}&gt;{k.e}&lt;/Text&gt;&#10;              &lt;/Box&gt;&#10;            &lt;/Box&gt;&#10;            &lt;Text style={{ fontSize: 14.5, color: '#4A5568', lineHeight: 1.6, marginTop: 12 }}&gt;{k.d}&lt;/Text&gt;&#10;          &lt;/Box&gt;&#10;          &lt;Box style={{ background: '#F0F5FC', borderRadius: 8, padding: '10px 14px' }}&gt;&#10;            &lt;Text style={{ fontSize: 13, color: '#8B97A8', marginBottom: 3 }}&gt;Examples&lt;/Text&gt;&#10;            &lt;Text style={{ fontSize: 14.5, color: k.c, fontWeight: '600' }}&gt;{k.ex}&lt;/Text&gt;&#10;          &lt;/Box&gt;&#10;        &lt;/Box&gt;&#10;      ))}&#10;    &lt;/Box&gt;&#10;    &lt;Box style={{ flexDirection: 'row', gap: 20, marginTop: 16 }}&gt;&#10;      &lt;Box style={{ flex: 1, background: '#F0F5FC', border: '1px solid #D6DCE5', borderRadius: 10, padding: '13px 20px' }}&gt;&#10;        &lt;Text style={{ fontSize: 15, color: '#1A2230', lineHeight: 1.6 }}&gt;&#10;          &lt;span style={{ fontWeight: 'bold', color: '#1E4FA8' }}&gt;Where data comes from:&lt;/span&gt;&#10;          Internal business databases / open datasets (Kaggle · UCI · government data) / scrapers &amp;amp; logs / sensors &amp;amp; user-behavior tracking.&#10;        &lt;/Text&gt;&#10;      &lt;/Box&gt;&#10;      &lt;Box style={{ flex: 1, borderLeft: '4px solid #0E3F8C', paddingLeft: 14, justifyContent: 'center' }}&gt;&#10;        &lt;Text style={{ fontSize: 15, color: '#1A2230', lineHeight: 1.6 }}&gt;&#10;          &lt;span style={{ fontWeight: 'bold', color: '#0E3F8C' }}&gt;Caution:&lt;/span&gt; sources set the quality ceiling —&#10;          cleaning cannot recover fields lost at collection time.&#10;          &lt;span style={{ fontSize: 13, color: '#8B97A8' }}&gt;Sources set the ceiling of quality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200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Data Types &amp; Sources</a:t>
            </a:r>
            <a:endParaRPr/>
          </a:p>
        </p:txBody>
      </p:sp>
      <p:sp>
        <p:nvSpPr>
          <p:cNvPr id="103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033" name=""/>
          <p:cNvSpPr/>
          <p:nvPr/>
        </p:nvSpPr>
        <p:spPr>
          <a:xfrm rot="0" flipH="0" flipV="0">
            <a:off x="800100" y="1917150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34" name=""/>
          <p:cNvSpPr/>
          <p:nvPr/>
        </p:nvSpPr>
        <p:spPr>
          <a:xfrm rot="0" flipH="0" flipV="0">
            <a:off x="800100" y="1917150"/>
            <a:ext cx="3400425" cy="2139074"/>
          </a:xfrm>
          <a:custGeom>
            <a:pathLst>
              <a:path w="357" h="383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5" name=""/>
          <p:cNvSpPr/>
          <p:nvPr/>
        </p:nvSpPr>
        <p:spPr>
          <a:xfrm rot="0" flipH="0" flipV="0">
            <a:off x="990600" y="208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85850" y="2183850"/>
            <a:ext cx="190500" cy="190500"/>
          </a:xfrm>
          <a:prstGeom prst="rect">
            <a:avLst/>
          </a:prstGeom>
          <a:ln/>
        </p:spPr>
      </p:pic>
      <p:sp>
        <p:nvSpPr>
          <p:cNvPr id="1037" name="" descr="{&quot;isTemplate&quot;:true,&quot;type&quot;:&quot;text&quot;}"/>
          <p:cNvSpPr txBox="1"/>
          <p:nvPr/>
        </p:nvSpPr>
        <p:spPr>
          <a:xfrm rot="0" flipH="0" flipV="0">
            <a:off x="1485900" y="2098125"/>
            <a:ext cx="1362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Structured Data</a:t>
            </a:r>
            <a:endParaRPr/>
          </a:p>
        </p:txBody>
      </p:sp>
      <p:sp>
        <p:nvSpPr>
          <p:cNvPr id="1038" name="" descr="{&quot;isTemplate&quot;:true,&quot;type&quot;:&quot;text&quot;}"/>
          <p:cNvSpPr txBox="1"/>
          <p:nvPr/>
        </p:nvSpPr>
        <p:spPr>
          <a:xfrm rot="0" flipH="0" flipV="0">
            <a:off x="1485900" y="2317200"/>
            <a:ext cx="1362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Structured</a:t>
            </a:r>
            <a:endParaRPr/>
          </a:p>
        </p:txBody>
      </p:sp>
      <p:sp>
        <p:nvSpPr>
          <p:cNvPr id="1039" name="" descr="{&quot;isTemplate&quot;:true,&quot;type&quot;:&quot;text&quot;}"/>
          <p:cNvSpPr txBox="1"/>
          <p:nvPr/>
        </p:nvSpPr>
        <p:spPr>
          <a:xfrm rot="0" flipH="0" flipV="0">
            <a:off x="990600" y="2583900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Neat rows and columns; fixed types per column — ready for a DataFrame.</a:t>
            </a:r>
            <a:endParaRPr/>
          </a:p>
        </p:txBody>
      </p:sp>
      <p:sp>
        <p:nvSpPr>
          <p:cNvPr id="1040" name=""/>
          <p:cNvSpPr/>
          <p:nvPr/>
        </p:nvSpPr>
        <p:spPr>
          <a:xfrm rot="0" flipH="0" flipV="0">
            <a:off x="990600" y="3333300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41" name="" descr="{&quot;isTemplate&quot;:true,&quot;type&quot;:&quot;text&quot;}"/>
          <p:cNvSpPr txBox="1"/>
          <p:nvPr/>
        </p:nvSpPr>
        <p:spPr>
          <a:xfrm rot="0" flipH="0" flipV="0">
            <a:off x="1123950" y="3428549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42" name="" descr="{&quot;isTemplate&quot;:true,&quot;type&quot;:&quot;text&quot;}"/>
          <p:cNvSpPr txBox="1"/>
          <p:nvPr/>
        </p:nvSpPr>
        <p:spPr>
          <a:xfrm rot="0" flipH="0" flipV="0">
            <a:off x="1123950" y="3609525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Database tables · CSV · Excel reports</a:t>
            </a:r>
            <a:endParaRPr/>
          </a:p>
        </p:txBody>
      </p:sp>
      <p:sp>
        <p:nvSpPr>
          <p:cNvPr id="1043" name=""/>
          <p:cNvSpPr/>
          <p:nvPr/>
        </p:nvSpPr>
        <p:spPr>
          <a:xfrm rot="0" flipH="0" flipV="0">
            <a:off x="4391025" y="1917150"/>
            <a:ext cx="3409950" cy="2139074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44" name=""/>
          <p:cNvSpPr/>
          <p:nvPr/>
        </p:nvSpPr>
        <p:spPr>
          <a:xfrm rot="0" flipH="0" flipV="0">
            <a:off x="4391025" y="1917150"/>
            <a:ext cx="3409950" cy="2139074"/>
          </a:xfrm>
          <a:custGeom>
            <a:pathLst>
              <a:path w="358" h="383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45" name=""/>
          <p:cNvSpPr/>
          <p:nvPr/>
        </p:nvSpPr>
        <p:spPr>
          <a:xfrm rot="0" flipH="0" flipV="0">
            <a:off x="4581525" y="208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76775" y="2183850"/>
            <a:ext cx="190500" cy="190500"/>
          </a:xfrm>
          <a:prstGeom prst="rect">
            <a:avLst/>
          </a:prstGeom>
          <a:ln/>
        </p:spPr>
      </p:pic>
      <p:sp>
        <p:nvSpPr>
          <p:cNvPr id="1047" name="" descr="{&quot;isTemplate&quot;:true,&quot;type&quot;:&quot;text&quot;}"/>
          <p:cNvSpPr txBox="1"/>
          <p:nvPr/>
        </p:nvSpPr>
        <p:spPr>
          <a:xfrm rot="0" flipH="0" flipV="0">
            <a:off x="5076825" y="2098125"/>
            <a:ext cx="1838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Semi-structured Data</a:t>
            </a:r>
            <a:endParaRPr/>
          </a:p>
        </p:txBody>
      </p:sp>
      <p:sp>
        <p:nvSpPr>
          <p:cNvPr id="1048" name="" descr="{&quot;isTemplate&quot;:true,&quot;type&quot;:&quot;text&quot;}"/>
          <p:cNvSpPr txBox="1"/>
          <p:nvPr/>
        </p:nvSpPr>
        <p:spPr>
          <a:xfrm rot="0" flipH="0" flipV="0">
            <a:off x="5076825" y="2317200"/>
            <a:ext cx="18383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Semi-structured</a:t>
            </a:r>
            <a:endParaRPr/>
          </a:p>
        </p:txBody>
      </p:sp>
      <p:sp>
        <p:nvSpPr>
          <p:cNvPr id="1049" name="" descr="{&quot;isTemplate&quot;:true,&quot;type&quot;:&quot;text&quot;}"/>
          <p:cNvSpPr txBox="1"/>
          <p:nvPr/>
        </p:nvSpPr>
        <p:spPr>
          <a:xfrm rot="0" flipH="0" flipV="0">
            <a:off x="4581525" y="2583900"/>
            <a:ext cx="30289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Has labels but no fixed schema — parse first, then tabulate.</a:t>
            </a:r>
            <a:endParaRPr/>
          </a:p>
        </p:txBody>
      </p:sp>
      <p:sp>
        <p:nvSpPr>
          <p:cNvPr id="1050" name=""/>
          <p:cNvSpPr/>
          <p:nvPr/>
        </p:nvSpPr>
        <p:spPr>
          <a:xfrm rot="0" flipH="0" flipV="0">
            <a:off x="4581525" y="3333300"/>
            <a:ext cx="3028950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51" name="" descr="{&quot;isTemplate&quot;:true,&quot;type&quot;:&quot;text&quot;}"/>
          <p:cNvSpPr txBox="1"/>
          <p:nvPr/>
        </p:nvSpPr>
        <p:spPr>
          <a:xfrm rot="0" flipH="0" flipV="0">
            <a:off x="4714875" y="3428549"/>
            <a:ext cx="2762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52" name="" descr="{&quot;isTemplate&quot;:true,&quot;type&quot;:&quot;text&quot;}"/>
          <p:cNvSpPr txBox="1"/>
          <p:nvPr/>
        </p:nvSpPr>
        <p:spPr>
          <a:xfrm rot="0" flipH="0" flipV="0">
            <a:off x="4714875" y="360952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JSON API responses · Log files · XML</a:t>
            </a:r>
            <a:endParaRPr/>
          </a:p>
        </p:txBody>
      </p:sp>
      <p:sp>
        <p:nvSpPr>
          <p:cNvPr id="1053" name=""/>
          <p:cNvSpPr/>
          <p:nvPr/>
        </p:nvSpPr>
        <p:spPr>
          <a:xfrm rot="0" flipH="0" flipV="0">
            <a:off x="7991475" y="1917150"/>
            <a:ext cx="3400425" cy="2139074"/>
          </a:xfrm>
          <a:prstGeom prst="roundRect">
            <a:avLst>
              <a:gd name="adj" fmla="val 336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54" name=""/>
          <p:cNvSpPr/>
          <p:nvPr/>
        </p:nvSpPr>
        <p:spPr>
          <a:xfrm rot="0" flipH="0" flipV="0">
            <a:off x="7991475" y="1917150"/>
            <a:ext cx="3400425" cy="2139074"/>
          </a:xfrm>
          <a:custGeom>
            <a:pathLst>
              <a:path w="357" h="383">
                <a:moveTo>
                  <a:pt x="346" y="0"/>
                </a:moveTo>
                <a:cubicBezTo>
                  <a:pt x="351" y="0"/>
                  <a:pt x="356" y="4"/>
                  <a:pt x="357" y="10"/>
                </a:cubicBezTo>
                <a:cubicBezTo>
                  <a:pt x="356" y="6"/>
                  <a:pt x="353" y="4"/>
                  <a:pt x="349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5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55" name=""/>
          <p:cNvSpPr/>
          <p:nvPr/>
        </p:nvSpPr>
        <p:spPr>
          <a:xfrm rot="0" flipH="0" flipV="0">
            <a:off x="8181975" y="20886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05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77225" y="2183850"/>
            <a:ext cx="190500" cy="190500"/>
          </a:xfrm>
          <a:prstGeom prst="rect">
            <a:avLst/>
          </a:prstGeom>
          <a:ln/>
        </p:spPr>
      </p:pic>
      <p:sp>
        <p:nvSpPr>
          <p:cNvPr id="1057" name="" descr="{&quot;isTemplate&quot;:true,&quot;type&quot;:&quot;text&quot;}"/>
          <p:cNvSpPr txBox="1"/>
          <p:nvPr/>
        </p:nvSpPr>
        <p:spPr>
          <a:xfrm rot="0" flipH="0" flipV="0">
            <a:off x="8677275" y="2098125"/>
            <a:ext cx="1581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Inter"/>
                <a:ea typeface="Inter"/>
              </a:rPr>
              <a:t>Unstructured Data</a:t>
            </a:r>
            <a:endParaRPr/>
          </a:p>
        </p:txBody>
      </p:sp>
      <p:sp>
        <p:nvSpPr>
          <p:cNvPr id="1058" name="" descr="{&quot;isTemplate&quot;:true,&quot;type&quot;:&quot;text&quot;}"/>
          <p:cNvSpPr txBox="1"/>
          <p:nvPr/>
        </p:nvSpPr>
        <p:spPr>
          <a:xfrm rot="0" flipH="0" flipV="0">
            <a:off x="8677275" y="2317200"/>
            <a:ext cx="1581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Unstructured</a:t>
            </a:r>
            <a:endParaRPr/>
          </a:p>
        </p:txBody>
      </p:sp>
      <p:sp>
        <p:nvSpPr>
          <p:cNvPr id="1059" name="" descr="{&quot;isTemplate&quot;:true,&quot;type&quot;:&quot;text&quot;}"/>
          <p:cNvSpPr txBox="1"/>
          <p:nvPr/>
        </p:nvSpPr>
        <p:spPr>
          <a:xfrm rot="0" flipH="0" flipV="0">
            <a:off x="8181975" y="2583900"/>
            <a:ext cx="30194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Free-form content — the battleground of Modules 2 &amp; 3.</a:t>
            </a:r>
            <a:endParaRPr/>
          </a:p>
        </p:txBody>
      </p:sp>
      <p:sp>
        <p:nvSpPr>
          <p:cNvPr id="1060" name=""/>
          <p:cNvSpPr/>
          <p:nvPr/>
        </p:nvSpPr>
        <p:spPr>
          <a:xfrm rot="0" flipH="0" flipV="0">
            <a:off x="8181975" y="3333300"/>
            <a:ext cx="3019425" cy="542925"/>
          </a:xfrm>
          <a:prstGeom prst="roundRect">
            <a:avLst>
              <a:gd name="adj" fmla="val 1403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61" name="" descr="{&quot;isTemplate&quot;:true,&quot;type&quot;:&quot;text&quot;}"/>
          <p:cNvSpPr txBox="1"/>
          <p:nvPr/>
        </p:nvSpPr>
        <p:spPr>
          <a:xfrm rot="0" flipH="0" flipV="0">
            <a:off x="8315325" y="3428549"/>
            <a:ext cx="2752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Examples</a:t>
            </a:r>
            <a:endParaRPr/>
          </a:p>
        </p:txBody>
      </p:sp>
      <p:sp>
        <p:nvSpPr>
          <p:cNvPr id="1062" name="" descr="{&quot;isTemplate&quot;:true,&quot;type&quot;:&quot;text&quot;}"/>
          <p:cNvSpPr txBox="1"/>
          <p:nvPr/>
        </p:nvSpPr>
        <p:spPr>
          <a:xfrm rot="0" flipH="0" flipV="0">
            <a:off x="8315325" y="3609525"/>
            <a:ext cx="2752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Images · Text · Audio · Video</a:t>
            </a:r>
            <a:endParaRPr/>
          </a:p>
        </p:txBody>
      </p:sp>
      <p:sp>
        <p:nvSpPr>
          <p:cNvPr id="1063" name=""/>
          <p:cNvSpPr/>
          <p:nvPr/>
        </p:nvSpPr>
        <p:spPr>
          <a:xfrm rot="0" flipH="0" flipV="0">
            <a:off x="800100" y="4170525"/>
            <a:ext cx="5200650" cy="1076325"/>
          </a:xfrm>
          <a:prstGeom prst="roundRect">
            <a:avLst>
              <a:gd name="adj" fmla="val 885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64" name="" descr="{&quot;isTemplate&quot;:true,&quot;type&quot;:&quot;text&quot;}"/>
          <p:cNvSpPr txBox="1"/>
          <p:nvPr/>
        </p:nvSpPr>
        <p:spPr>
          <a:xfrm rot="0" flipH="0" flipV="0">
            <a:off x="990600" y="4294350"/>
            <a:ext cx="48196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Where data comes from: 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Internal business databases / open datasets (Kaggle · UCI · government data) / scrapers &amp; logs / sensors &amp; user-behavior tracking.</a:t>
            </a:r>
            <a:endParaRPr/>
          </a:p>
        </p:txBody>
      </p:sp>
      <p:sp>
        <p:nvSpPr>
          <p:cNvPr id="1065" name=""/>
          <p:cNvSpPr/>
          <p:nvPr/>
        </p:nvSpPr>
        <p:spPr>
          <a:xfrm rot="0" flipH="0" flipV="0">
            <a:off x="6191250" y="4170525"/>
            <a:ext cx="5238750" cy="1076325"/>
          </a:xfrm>
          <a:custGeom>
            <a:pathLst>
              <a:path w="550" h="113">
                <a:moveTo>
                  <a:pt x="0" y="0"/>
                </a:moveTo>
                <a:lnTo>
                  <a:pt x="4" y="0"/>
                </a:lnTo>
                <a:lnTo>
                  <a:pt x="4" y="113"/>
                </a:lnTo>
                <a:lnTo>
                  <a:pt x="0" y="113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6" name="" descr="{&quot;isTemplate&quot;:true,&quot;type&quot;:&quot;text&quot;}"/>
          <p:cNvSpPr txBox="1"/>
          <p:nvPr/>
        </p:nvSpPr>
        <p:spPr>
          <a:xfrm rot="0" flipH="0" flipV="0">
            <a:off x="6362700" y="4437225"/>
            <a:ext cx="5029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Caution: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sources set the quality ceiling — cleaning cannot recover fields lost at collection time.</a:t>
            </a: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/>
            </a:r>
            <a:endParaRPr/>
          </a:p>
        </p:txBody>
      </p:sp>
      <p:sp>
        <p:nvSpPr>
          <p:cNvPr id="106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06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06 / 32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6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When Data Goes Wrong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30 }}&gt;&#10;    &lt;Box style={{ flex: 1.15, gap: 12 }}&gt;&#10;      &lt;Text style={{ fontSize: 18, color: '#0E3F8C', fontWeight: 'bold' }}&gt;Real case: bias in an AI hiring tool&lt;/Text&gt;&#10;      &lt;Box style={{ background: '#F0F5FC', border: '1px solid #D6DCE5', borderRadius: 12, padding: '18px 22px', gap: 10 }}&gt;&#10;        {[&#10;          { n: 'Context', d: 'A model trained on 10 years of resumes to auto-score new applications.' },&#10;          { n: 'Problem', d: 'Historical hiring data already favored one group — the model learned that bias in full.' },&#10;          { n: 'Impact', d: 'The model learned to penalize resumes with certain keywords; the project was shut down.' },&#10;          { n: 'Lesson', d: 'Data shows how things were done, not how they should be done.' },&#10;        ].map((r, i) =&gt; (&#10;          &lt;Box key={i} style={{ flexDirection: 'row', gap: 12, alignItems: 'flex-start' }}&gt;&#10;            &lt;Box style={{ width: 70, height: 24, borderRadius: 7, background: i === 3 ? '#0E3F8C' : '#E8EFF8', justifyContent: 'center', alignItems: 'center', flexShrink: 0, marginTop: 1 }}&gt;&#10;              &lt;Text style={{ fontSize: 12.5, color: i === 3 ? '#FFFFFF' : '#1E4FA8', fontWeight: 'bold' }}&gt;{r.n}&lt;/Text&gt;&#10;            &lt;/Box&gt;&#10;            &lt;Text style={{ fontSize: 15, color: '#1A2230', lineHeight: 1.55, flex: 1 }}&gt;{r.d}&lt;/Text&gt;&#10;          &lt;/Box&gt;&#10;        ))}&#10;      &lt;/Box&gt;&#10;      &lt;Box style={{ borderLeft: '4px solid #0E3F8C', paddingLeft: 14 }}&gt;&#10;        &lt;Text style={{ fontSize: 15.5, color: '#1A2230', lineHeight: 1.6 }}&gt;&#10;          &lt;span style={{ fontWeight: 'bold', color: '#0E3F8C' }}&gt;Verdict:&lt;/span&gt; data flaws are not &amp;quot;statistical noise&amp;quot; — they are structural problems the model &lt;span style={{ fontWeight: 'bold', color: '#0E3F8C' }}&gt;systematically amplifies&lt;/span&gt;.&#10;        &lt;/Text&gt;&#10;      &lt;/Box&gt;&#10;    &lt;/Box&gt;&#10;    &lt;Box style={{ width: 470, gap: 12, flexShrink: 0, justifyContent: 'center' }}&gt;&#10;      &lt;Text style={{ fontSize: 18, color: '#0E3F8C', fontWeight: 'bold' }}&gt;Quick poll: diagnose with 6 dimensions&lt;/Text&gt;&#10;      {[&#10;        { q: '40% of phone numbers are empty', a: 'Completeness', c: '#3D7BD9' },&#10;        { q: 'Same customer, different ages in two systems', a: 'Consistency', c: '#1E4FA8' },&#10;        { q: 'Using 2015 house prices to forecast the 2026 market', a: 'Timeliness', c: '#0E3F8C' },&#10;        { q: 'Only daytime traffic data, yet modeling all day', a: 'Representation', c: '#3D7BD9' },&#10;      ].map((r, i) =&gt; (&#10;        &lt;Box key={i} style={{ background: '#F7F9FC', border: '1px solid #E5E7EB', borderRadius: 10, padding: '12px 16px' }}&gt;&#10;          &lt;Text style={{ fontSize: 15, color: '#1A2230' }}&gt;Which dimension does &amp;quot;{r.q}&amp;quot; violate?&lt;/Text&gt;&#10;          &lt;Box style={{ flexDirection: 'row', alignItems: 'center', gap: 8, marginTop: 6 }}&gt;&#10;            &lt;FAIcon name='tag' style={{ fill: r.c, width: 13, height: 13 }} /&gt;&#10;            &lt;Text style={{ fontSize: 14, color: r.c, fontWeight: '600' }}&gt;{r.a}&lt;/Text&gt;&#10;          &lt;/Box&gt;&#10;        &lt;/Box&gt;&#10;      ))}&#10;      &lt;Text style={{ fontSize: 13, color: '#8B97A8' }}&gt;Vote first, then reveal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7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7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390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When Data Goes Wrong</a:t>
            </a:r>
            <a:endParaRPr/>
          </a:p>
        </p:txBody>
      </p:sp>
      <p:sp>
        <p:nvSpPr>
          <p:cNvPr id="107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074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829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Real case: bias in an AI hiring tool</a:t>
            </a:r>
            <a:endParaRPr/>
          </a:p>
        </p:txBody>
      </p:sp>
      <p:sp>
        <p:nvSpPr>
          <p:cNvPr id="1075" name=""/>
          <p:cNvSpPr/>
          <p:nvPr/>
        </p:nvSpPr>
        <p:spPr>
          <a:xfrm rot="0" flipH="0" flipV="0">
            <a:off x="800100" y="1428750"/>
            <a:ext cx="5829300" cy="2228850"/>
          </a:xfrm>
          <a:prstGeom prst="roundRect">
            <a:avLst>
              <a:gd name="adj" fmla="val 51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076" name=""/>
          <p:cNvSpPr/>
          <p:nvPr/>
        </p:nvSpPr>
        <p:spPr>
          <a:xfrm rot="0" flipH="0" flipV="0">
            <a:off x="1009650" y="160972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77" name="" descr="{&quot;isTemplate&quot;:true,&quot;type&quot;:&quot;text&quot;}"/>
          <p:cNvSpPr txBox="1"/>
          <p:nvPr/>
        </p:nvSpPr>
        <p:spPr>
          <a:xfrm rot="0" flipH="0" flipV="0">
            <a:off x="1123950" y="1657350"/>
            <a:ext cx="447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Context</a:t>
            </a:r>
            <a:endParaRPr/>
          </a:p>
        </p:txBody>
      </p:sp>
      <p:sp>
        <p:nvSpPr>
          <p:cNvPr id="1078" name="" descr="{&quot;isTemplate&quot;:true,&quot;type&quot;:&quot;text&quot;}"/>
          <p:cNvSpPr txBox="1"/>
          <p:nvPr/>
        </p:nvSpPr>
        <p:spPr>
          <a:xfrm rot="0" flipH="0" flipV="0">
            <a:off x="1790700" y="1600200"/>
            <a:ext cx="46291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A model trained on 10 years of resumes to auto-score new applications.</a:t>
            </a:r>
            <a:endParaRPr/>
          </a:p>
        </p:txBody>
      </p:sp>
      <p:sp>
        <p:nvSpPr>
          <p:cNvPr id="1079" name=""/>
          <p:cNvSpPr/>
          <p:nvPr/>
        </p:nvSpPr>
        <p:spPr>
          <a:xfrm rot="0" flipH="0" flipV="0">
            <a:off x="1009650" y="197167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80" name="" descr="{&quot;isTemplate&quot;:true,&quot;type&quot;:&quot;text&quot;}"/>
          <p:cNvSpPr txBox="1"/>
          <p:nvPr/>
        </p:nvSpPr>
        <p:spPr>
          <a:xfrm rot="0" flipH="0" flipV="0">
            <a:off x="1104900" y="2019300"/>
            <a:ext cx="4857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Problem</a:t>
            </a:r>
            <a:endParaRPr/>
          </a:p>
        </p:txBody>
      </p:sp>
      <p:sp>
        <p:nvSpPr>
          <p:cNvPr id="1081" name="" descr="{&quot;isTemplate&quot;:true,&quot;type&quot;:&quot;text&quot;}"/>
          <p:cNvSpPr txBox="1"/>
          <p:nvPr/>
        </p:nvSpPr>
        <p:spPr>
          <a:xfrm rot="0" flipH="0" flipV="0">
            <a:off x="1790700" y="1962150"/>
            <a:ext cx="4629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Historical hiring data already favored one group — the model learned that bias in full.</a:t>
            </a:r>
            <a:endParaRPr/>
          </a:p>
        </p:txBody>
      </p:sp>
      <p:sp>
        <p:nvSpPr>
          <p:cNvPr id="1082" name=""/>
          <p:cNvSpPr/>
          <p:nvPr/>
        </p:nvSpPr>
        <p:spPr>
          <a:xfrm rot="0" flipH="0" flipV="0">
            <a:off x="1009650" y="260032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83" name="" descr="{&quot;isTemplate&quot;:true,&quot;type&quot;:&quot;text&quot;}"/>
          <p:cNvSpPr txBox="1"/>
          <p:nvPr/>
        </p:nvSpPr>
        <p:spPr>
          <a:xfrm rot="0" flipH="0" flipV="0">
            <a:off x="1152525" y="264795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Impact</a:t>
            </a:r>
            <a:endParaRPr/>
          </a:p>
        </p:txBody>
      </p:sp>
      <p:sp>
        <p:nvSpPr>
          <p:cNvPr id="1084" name="" descr="{&quot;isTemplate&quot;:true,&quot;type&quot;:&quot;text&quot;}"/>
          <p:cNvSpPr txBox="1"/>
          <p:nvPr/>
        </p:nvSpPr>
        <p:spPr>
          <a:xfrm rot="0" flipH="0" flipV="0">
            <a:off x="1790700" y="2590800"/>
            <a:ext cx="4629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 model learned to penalize resumes with certain keywords; the project was shut down.</a:t>
            </a:r>
            <a:endParaRPr/>
          </a:p>
        </p:txBody>
      </p:sp>
      <p:sp>
        <p:nvSpPr>
          <p:cNvPr id="1085" name=""/>
          <p:cNvSpPr/>
          <p:nvPr/>
        </p:nvSpPr>
        <p:spPr>
          <a:xfrm rot="0" flipH="0" flipV="0">
            <a:off x="1009650" y="3228975"/>
            <a:ext cx="666750" cy="228600"/>
          </a:xfrm>
          <a:prstGeom prst="roundRect">
            <a:avLst>
              <a:gd name="adj" fmla="val 291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6" name="" descr="{&quot;isTemplate&quot;:true,&quot;type&quot;:&quot;text&quot;}"/>
          <p:cNvSpPr txBox="1"/>
          <p:nvPr/>
        </p:nvSpPr>
        <p:spPr>
          <a:xfrm rot="0" flipH="0" flipV="0">
            <a:off x="1133475" y="3276600"/>
            <a:ext cx="4191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FFFFFF"/>
                </a:solidFill>
                <a:latin typeface="Inter"/>
                <a:ea typeface="Inter"/>
              </a:rPr>
              <a:t>Lesson</a:t>
            </a:r>
            <a:endParaRPr/>
          </a:p>
        </p:txBody>
      </p:sp>
      <p:sp>
        <p:nvSpPr>
          <p:cNvPr id="1087" name="" descr="{&quot;isTemplate&quot;:true,&quot;type&quot;:&quot;text&quot;}"/>
          <p:cNvSpPr txBox="1"/>
          <p:nvPr/>
        </p:nvSpPr>
        <p:spPr>
          <a:xfrm rot="0" flipH="0" flipV="0">
            <a:off x="1790700" y="3219450"/>
            <a:ext cx="4629150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Data shows how things were done, not how they should be done.</a:t>
            </a:r>
            <a:endParaRPr/>
          </a:p>
        </p:txBody>
      </p:sp>
      <p:sp>
        <p:nvSpPr>
          <p:cNvPr id="1088" name=""/>
          <p:cNvSpPr/>
          <p:nvPr/>
        </p:nvSpPr>
        <p:spPr>
          <a:xfrm rot="0" flipH="0" flipV="0">
            <a:off x="800100" y="3771900"/>
            <a:ext cx="5867400" cy="571500"/>
          </a:xfrm>
          <a:custGeom>
            <a:pathLst>
              <a:path w="616" h="60">
                <a:moveTo>
                  <a:pt x="0" y="0"/>
                </a:moveTo>
                <a:lnTo>
                  <a:pt x="4" y="0"/>
                </a:lnTo>
                <a:lnTo>
                  <a:pt x="4" y="60"/>
                </a:lnTo>
                <a:lnTo>
                  <a:pt x="0" y="6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9" name="" descr="{&quot;isTemplate&quot;:true,&quot;type&quot;:&quot;text&quot;}"/>
          <p:cNvSpPr txBox="1"/>
          <p:nvPr/>
        </p:nvSpPr>
        <p:spPr>
          <a:xfrm rot="0" flipH="0" flipV="0">
            <a:off x="971550" y="3771900"/>
            <a:ext cx="5657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Verdict: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data flaws are not "statistical noise" — they are structural problems the model </a:t>
            </a: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systematically amplifies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1090" name="" descr="{&quot;isTemplate&quot;:true,&quot;type&quot;:&quot;text&quot;}"/>
          <p:cNvSpPr txBox="1"/>
          <p:nvPr/>
        </p:nvSpPr>
        <p:spPr>
          <a:xfrm rot="0" flipH="0" flipV="0">
            <a:off x="6915150" y="1476375"/>
            <a:ext cx="4476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Quick poll: diagnose with 6 dimensions</a:t>
            </a:r>
            <a:endParaRPr/>
          </a:p>
        </p:txBody>
      </p:sp>
      <p:sp>
        <p:nvSpPr>
          <p:cNvPr id="1091" name=""/>
          <p:cNvSpPr/>
          <p:nvPr/>
        </p:nvSpPr>
        <p:spPr>
          <a:xfrm rot="0" flipH="0" flipV="0">
            <a:off x="6915150" y="1800225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2" name="" descr="{&quot;isTemplate&quot;:true,&quot;type&quot;:&quot;text&quot;}"/>
          <p:cNvSpPr txBox="1"/>
          <p:nvPr/>
        </p:nvSpPr>
        <p:spPr>
          <a:xfrm rot="0" flipH="0" flipV="0">
            <a:off x="7067550" y="1914525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40% of phone numbers are empty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0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2333625"/>
            <a:ext cx="123825" cy="123825"/>
          </a:xfrm>
          <a:prstGeom prst="rect">
            <a:avLst/>
          </a:prstGeom>
          <a:ln/>
        </p:spPr>
      </p:pic>
      <p:sp>
        <p:nvSpPr>
          <p:cNvPr id="1094" name="" descr="{&quot;isTemplate&quot;:true,&quot;type&quot;:&quot;text&quot;}"/>
          <p:cNvSpPr txBox="1"/>
          <p:nvPr/>
        </p:nvSpPr>
        <p:spPr>
          <a:xfrm rot="0" flipH="0" flipV="0">
            <a:off x="7267575" y="23145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Inter"/>
                <a:ea typeface="Inter"/>
              </a:rPr>
              <a:t>Completeness</a:t>
            </a:r>
            <a:endParaRPr/>
          </a:p>
        </p:txBody>
      </p:sp>
      <p:sp>
        <p:nvSpPr>
          <p:cNvPr id="1095" name=""/>
          <p:cNvSpPr/>
          <p:nvPr/>
        </p:nvSpPr>
        <p:spPr>
          <a:xfrm rot="0" flipH="0" flipV="0">
            <a:off x="6915150" y="2705100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96" name="" descr="{&quot;isTemplate&quot;:true,&quot;type&quot;:&quot;text&quot;}"/>
          <p:cNvSpPr txBox="1"/>
          <p:nvPr/>
        </p:nvSpPr>
        <p:spPr>
          <a:xfrm rot="0" flipH="0" flipV="0">
            <a:off x="7067550" y="2819400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Same customer, different ages in two systems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0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067550" y="3238500"/>
            <a:ext cx="123825" cy="123825"/>
          </a:xfrm>
          <a:prstGeom prst="rect">
            <a:avLst/>
          </a:prstGeom>
          <a:ln/>
        </p:spPr>
      </p:pic>
      <p:sp>
        <p:nvSpPr>
          <p:cNvPr id="1098" name="" descr="{&quot;isTemplate&quot;:true,&quot;type&quot;:&quot;text&quot;}"/>
          <p:cNvSpPr txBox="1"/>
          <p:nvPr/>
        </p:nvSpPr>
        <p:spPr>
          <a:xfrm rot="0" flipH="0" flipV="0">
            <a:off x="7267575" y="3219450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Consistency</a:t>
            </a:r>
            <a:endParaRPr/>
          </a:p>
        </p:txBody>
      </p:sp>
      <p:sp>
        <p:nvSpPr>
          <p:cNvPr id="1099" name=""/>
          <p:cNvSpPr/>
          <p:nvPr/>
        </p:nvSpPr>
        <p:spPr>
          <a:xfrm rot="0" flipH="0" flipV="0">
            <a:off x="6915150" y="3609975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00" name="" descr="{&quot;isTemplate&quot;:true,&quot;type&quot;:&quot;text&quot;}"/>
          <p:cNvSpPr txBox="1"/>
          <p:nvPr/>
        </p:nvSpPr>
        <p:spPr>
          <a:xfrm rot="0" flipH="0" flipV="0">
            <a:off x="7067550" y="3724275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Using 2015 house prices to forecast the 2026 market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1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7067550" y="4143375"/>
            <a:ext cx="123825" cy="123825"/>
          </a:xfrm>
          <a:prstGeom prst="rect">
            <a:avLst/>
          </a:prstGeom>
          <a:ln/>
        </p:spPr>
      </p:pic>
      <p:sp>
        <p:nvSpPr>
          <p:cNvPr id="1102" name="" descr="{&quot;isTemplate&quot;:true,&quot;type&quot;:&quot;text&quot;}"/>
          <p:cNvSpPr txBox="1"/>
          <p:nvPr/>
        </p:nvSpPr>
        <p:spPr>
          <a:xfrm rot="0" flipH="0" flipV="0">
            <a:off x="7267575" y="4124325"/>
            <a:ext cx="695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0E3F8C"/>
                </a:solidFill>
                <a:latin typeface="Inter"/>
                <a:ea typeface="Inter"/>
              </a:rPr>
              <a:t>Timeliness</a:t>
            </a:r>
            <a:endParaRPr/>
          </a:p>
        </p:txBody>
      </p:sp>
      <p:sp>
        <p:nvSpPr>
          <p:cNvPr id="1103" name=""/>
          <p:cNvSpPr/>
          <p:nvPr/>
        </p:nvSpPr>
        <p:spPr>
          <a:xfrm rot="0" flipH="0" flipV="0">
            <a:off x="6915150" y="4514850"/>
            <a:ext cx="4476750" cy="790575"/>
          </a:xfrm>
          <a:prstGeom prst="roundRect">
            <a:avLst>
              <a:gd name="adj" fmla="val 120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04" name="" descr="{&quot;isTemplate&quot;:true,&quot;type&quot;:&quot;text&quot;}"/>
          <p:cNvSpPr txBox="1"/>
          <p:nvPr/>
        </p:nvSpPr>
        <p:spPr>
          <a:xfrm rot="0" flipH="0" flipV="0">
            <a:off x="7067550" y="4629150"/>
            <a:ext cx="41719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Which dimension does "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Only daytime traffic data, yet modeling all day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" violate?</a:t>
            </a:r>
            <a:endParaRPr/>
          </a:p>
        </p:txBody>
      </p:sp>
      <p:pic>
        <p:nvPicPr>
          <p:cNvPr id="11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67550" y="5048250"/>
            <a:ext cx="123825" cy="123825"/>
          </a:xfrm>
          <a:prstGeom prst="rect">
            <a:avLst/>
          </a:prstGeom>
          <a:ln/>
        </p:spPr>
      </p:pic>
      <p:sp>
        <p:nvSpPr>
          <p:cNvPr id="1106" name="" descr="{&quot;isTemplate&quot;:true,&quot;type&quot;:&quot;text&quot;}"/>
          <p:cNvSpPr txBox="1"/>
          <p:nvPr/>
        </p:nvSpPr>
        <p:spPr>
          <a:xfrm rot="0" flipH="0" flipV="0">
            <a:off x="7267575" y="5029200"/>
            <a:ext cx="971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3D7BD9"/>
                </a:solidFill>
                <a:latin typeface="Inter"/>
                <a:ea typeface="Inter"/>
              </a:rPr>
              <a:t>Representation</a:t>
            </a:r>
            <a:endParaRPr/>
          </a:p>
        </p:txBody>
      </p:sp>
      <p:sp>
        <p:nvSpPr>
          <p:cNvPr id="1107" name="" descr="{&quot;isTemplate&quot;:true,&quot;type&quot;:&quot;text&quot;}"/>
          <p:cNvSpPr txBox="1"/>
          <p:nvPr/>
        </p:nvSpPr>
        <p:spPr>
          <a:xfrm rot="0" flipH="0" flipV="0">
            <a:off x="6915150" y="5419725"/>
            <a:ext cx="4476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Vote first, then reveal</a:t>
            </a:r>
            <a:endParaRPr/>
          </a:p>
        </p:txBody>
      </p:sp>
      <p:sp>
        <p:nvSpPr>
          <p:cNvPr id="1108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109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07 / 32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1110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2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2&lt;/Text&gt;&#10;      &lt;/Box&gt;&#10;      &lt;Box style={{ paddingTop: 6 }}&gt;&#10;        &lt;Text style={{ fontSize: 44, color: '#1A2230', fontWeight: 'bold' }}&gt;The Two Core Tools&lt;/Text&gt;&#10;        &lt;Text style={{ fontSize: 26, color: '#8B97A8', fontWeight: '600', marginTop: 6 }}&gt;NumPy &amp;amp; Pandas&lt;/Text&gt;&#10;      &lt;/Box&gt;&#10;    &lt;/Box&gt;&#10;    &lt;Box style={{ flexDirection: 'row', gap: 24 }}&gt;&#10;      {[&#10;        { t: 'NumPy Arrays', e: 'Homogeneous numeric grids' },&#10;        { t: 'Pandas DataFrames', e: 'Labeled heterogeneous tables' },&#10;        { t: 'Vectorization', e: '10–100× faster cod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12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13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114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15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1116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9433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The Two Core Tools</a:t>
            </a:r>
            <a:endParaRPr/>
          </a:p>
        </p:txBody>
      </p:sp>
      <p:sp>
        <p:nvSpPr>
          <p:cNvPr id="1117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943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NumPy &amp; Pandas</a:t>
            </a:r>
            <a:endParaRPr/>
          </a:p>
        </p:txBody>
      </p:sp>
      <p:sp>
        <p:nvSpPr>
          <p:cNvPr id="1118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19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0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NumPy Arrays</a:t>
            </a:r>
            <a:endParaRPr/>
          </a:p>
        </p:txBody>
      </p:sp>
      <p:sp>
        <p:nvSpPr>
          <p:cNvPr id="1121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Homogeneous numeric grids</a:t>
            </a:r>
            <a:endParaRPr/>
          </a:p>
        </p:txBody>
      </p:sp>
      <p:sp>
        <p:nvSpPr>
          <p:cNvPr id="1122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23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4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Pandas DataFrames</a:t>
            </a:r>
            <a:endParaRPr/>
          </a:p>
        </p:txBody>
      </p:sp>
      <p:sp>
        <p:nvSpPr>
          <p:cNvPr id="1125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Labeled heterogeneous tables</a:t>
            </a:r>
            <a:endParaRPr/>
          </a:p>
        </p:txBody>
      </p:sp>
      <p:sp>
        <p:nvSpPr>
          <p:cNvPr id="1126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27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28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Vectorization</a:t>
            </a:r>
            <a:endParaRPr/>
          </a:p>
        </p:txBody>
      </p:sp>
      <p:sp>
        <p:nvSpPr>
          <p:cNvPr id="1129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10–100× faster code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130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 × Pandas · Division of Labor&lt;/Text&gt;&#10;    &lt;Text style={{ fontSize: 15, color: 'rgba(255,255,255,0.85)' }}&gt;Module 1 · Week 2&lt;/Text&gt;&#10;  &lt;/Box&gt;&#10;  &lt;Box style={{ position: 'absolute', top: 100, left: 0, width: '100%', height: 540, padding: '10px 84px', flexDirection: 'row', gap: 40, alignItems: 'center' }}&gt;&#10;    &lt;Box style={{ flex: 1, height: 500, position: 'relative' }}&gt;&#10;      &lt;svg width={560} height={500} viewBox='0 0 560 500'&gt;&#10;        &lt;rect x='0' y='0' width='560' height='230' rx='20' fill='#F0F5FC' stroke='#1E4FA8' strokeWidth='2.5' /&gt;&#10;        &lt;text x='30' y='46' fill='#1E4FA8' fontSize='26' fontWeight='bold' fontFamily='Inter, sans-serif'&gt;NumPy&lt;/text&gt;&#10;        &lt;text x='30' y='70' fill='#8B97A8' fontSize='14' fontFamily='Inter, sans-serif'&gt;ndarray · homogeneous array&lt;/text&gt;&#10;        &lt;rect x='30' y='90' width='480' height='110' rx='10' fill='#FFFFFF' stroke='#D6DCE5' strokeWidth='1.5' /&gt;&#10;        &lt;rect x='44' y='104' width='50' height='13' rx='3' fill='#3D7BD9' opacity='0.75' /&gt;&#10;        &lt;rect x='102' y='104' width='50' height='13' rx='3' fill='#1E4FA8' opacity='0.75' /&gt;&#10;        &lt;rect x='160' y='104' width='50' height='13' rx='3' fill='#3D7BD9' opacity='0.75' /&gt;&#10;        &lt;rect x='218' y='104' width='50' height='13' rx='3' fill='#1E4FA8' opacity='0.75' /&gt;&#10;        &lt;rect x='276' y='104' width='50' height='13' rx='3' fill='#3D7BD9' opacity='0.75' /&gt;&#10;        &lt;rect x='334' y='104' width='50' height='13' rx='3' fill='#1E4FA8' opacity='0.75' /&gt;&#10;        &lt;rect x='392' y='104' width='50' height='13' rx='3' fill='#3D7BD9' opacity='0.75' /&gt;&#10;        &lt;rect x='450' y='104' width='50' height='13' rx='3' fill='#1E4FA8' opacity='0.75' /&gt;&#10;        &lt;rect x='44' y='123' width='50' height='13' rx='3' fill='#1E4FA8' opacity='0.75' /&gt;&#10;        &lt;rect x='102' y='123' width='50' height='13' rx='3' fill='#3D7BD9' opacity='0.75' /&gt;&#10;        &lt;rect x='160' y='123' width='50' height='13' rx='3' fill='#1E4FA8' opacity='0.75' /&gt;&#10;        &lt;rect x='218' y='123' width='50' height='13' rx='3' fill='#3D7BD9' opacity='0.75' /&gt;&#10;        &lt;rect x='276' y='123' width='50' height='13' rx='3' fill='#1E4FA8' opacity='0.75' /&gt;&#10;        &lt;rect x='334' y='123' width='50' height='13' rx='3' fill='#3D7BD9' opacity='0.75' /&gt;&#10;        &lt;rect x='392' y='123' width='50' height='13' rx='3' fill='#1E4FA8' opacity='0.75' /&gt;&#10;        &lt;rect x='450' y='123' width='50' height='13' rx='3' fill='#3D7BD9' opacity='0.75' /&gt;&#10;        &lt;rect x='44' y='142' width='50' height='13' rx='3' fill='#3D7BD9' opacity='0.75' /&gt;&#10;        &lt;rect x='102' y='142' width='50' height='13' rx='3' fill='#1E4FA8' opacity='0.75' /&gt;&#10;        &lt;rect x='160' y='142' width='50' height='13' rx='3' fill='#3D7BD9' opacity='0.75' /&gt;&#10;        &lt;rect x='218' y='142' width='50' height='13' rx='3' fill='#1E4FA8' opacity='0.75' /&gt;&#10;        &lt;rect x='276' y='142' width='50' height='13' rx='3' fill='#3D7BD9' opacity='0.75' /&gt;&#10;        &lt;rect x='334' y='142' width='50' height='13' rx='3' fill='#1E4FA8' opacity='0.75' /&gt;&#10;        &lt;rect x='392' y='142' width='50' height='13' rx='3' fill='#3D7BD9' opacity='0.75' /&gt;&#10;        &lt;rect x='450' y='142' width='50' height='13' rx='3' fill='#1E4FA8' opacity='0.75' /&gt;&#10;        &lt;rect x='44' y='161' width='50' height='13' rx='3' fill='#1E4FA8' opacity='0.75' /&gt;&#10;        &lt;rect x='102' y='161' width='50' height='13' rx='3' fill='#3D7BD9' opacity='0.75' /&gt;&#10;        &lt;rect x='160' y='161' width='50' height='13' rx='3' fill='#1E4FA8' opacity='0.75' /&gt;&#10;        &lt;rect x='218' y='161' width='50' height='13' rx='3' fill='#3D7BD9' opacity='0.75' /&gt;&#10;        &lt;rect x='276' y='161' width='50' height='13' rx='3' fill='#1E4FA8' opacity='0.75' /&gt;&#10;        &lt;rect x='334' y='161' width='50' height='13' rx='3' fill='#3D7BD9' opacity='0.75' /&gt;&#10;        &lt;rect x='392' y='161' width='50' height='13' rx='3' fill='#1E4FA8' opacity='0.75' /&gt;&#10;        &lt;rect x='450' y='161' width='50' height='13' rx='3' fill='#3D7BD9' opacity='0.75' /&gt;&#10;        &lt;rect x='44' y='180' width='50' height='13' rx='3' fill='#3D7BD9' opacity='0.75' /&gt;&#10;        &lt;rect x='102' y='180' width='50' height='13' rx='3' fill='#1E4FA8' opacity='0.75' /&gt;&#10;        &lt;rect x='160' y='180' width='50' height='13' rx='3' fill='#3D7BD9' opacity='0.75' /&gt;&#10;        &lt;rect x='218' y='180' width='50' height='13' rx='3' fill='#1E4FA8' opacity='0.75' /&gt;&#10;        &lt;rect x='276' y='180' width='50' height='13' rx='3' fill='#3D7BD9' opacity='0.75' /&gt;&#10;        &lt;rect x='334' y='180' width='50' height='13' rx='3' fill='#1E4FA8' opacity='0.75' /&gt;&#10;        &lt;rect x='392' y='180' width='50' height='13' rx='3' fill='#3D7BD9' opacity='0.75' /&gt;&#10;        &lt;rect x='450' y='180' width='50' height='13' rx='3' fill='#1E4FA8' opacity='0.75' /&gt;&#10;        &lt;text x='30' y='226' fill='#4A5568' fontSize='14' fontFamily='Inter, sans-serif'&gt;Homogeneous arrays · vectorized math engine&lt;/text&gt;&#10;&#10;        &lt;rect x='0' y='260' width='560' height='220' rx='20' fill='#E8EFF8' stroke='#0E3F8C' strokeWidth='2.5' /&gt;&#10;        &lt;text x='30' y='306' fill='#0E3F8C' fontSize='26' fontWeight='bold' fontFamily='Inter, sans-serif'&gt;Pandas&lt;/text&gt;&#10;        &lt;text x='30' y='330' fill='#8B97A8' fontSize='14' fontFamily='Inter, sans-serif'&gt;DataFrame · labeled table&lt;/text&gt;&#10;        &lt;rect x='30' y='344' width='480' height='96' rx='10' fill='#FFFFFF' stroke='#D6DCE5' strokeWidth='1.5' /&gt;&#10;        &lt;rect x='38' y='352' width='464' height='18' rx='4' fill='#0E3F8C' opacity='0.85' /&gt;&#10;        &lt;rect x='38' y='375' width='464' height='12' rx='3' fill='#3D7BD9' opacity='0.55' /&gt;&#10;        &lt;rect x='38' y='391' width='380' height='12' rx='3' fill='#8B97A8' opacity='0.55' /&gt;&#10;        &lt;rect x='38' y='407' width='464' height='12' rx='3' fill='#3D7BD9' opacity='0.55' /&gt;&#10;        &lt;rect x='38' y='423' width='380' height='12' rx='3' fill='#8B97A8' opacity='0.55' /&gt;&#10;        &lt;text x='30' y='462' fill='#4A5568' fontSize='14' fontFamily='Inter, sans-serif'&gt;Heterogeneous tables · labeled index · structured ops&lt;/text&gt;&#10;&#10;        &lt;path d='M 280 230 L 280 260' stroke='#1E4FA8' strokeWidth='3' /&gt;&#10;        &lt;path d='M 272 252 L 280 262 L 288 252' stroke='#1E4FA8' strokeWidth='3' fill='none' /&gt;&#10;      &lt;/svg&gt;&#10;    &lt;/Box&gt;&#10;    &lt;Box style={{ flex: 1, gap: 16 }}&gt;&#10;      &lt;Text style={{ fontSize: 30, color: '#0E3F8C', fontWeight: 'bold' }}&gt;Pandas is built on NumPy&lt;/Text&gt;&#10;      &lt;Text style={{ fontSize: 17, color: '#4A5568', lineHeight: 1.6 }}&gt;&#10;        &lt;span style={{ fontWeight: 'bold', color: '#1A2230' }}&gt;NumPy&lt;/span&gt; handles &quot;grids of numbers&quot; — one dtype, built for speed;&#10;        &lt;span style={{ fontWeight: 'bold', color: '#1A2230' }}&gt;Pandas&lt;/span&gt; handles &quot;real tables&quot; — mixed column types, with row/column labels.&#10;        Pandas is the high-level table API on top of NumPy arrays.&#10;      &lt;/Text&gt;&#10;      &lt;Box style={{ background: '#F7F9FC', border: '1px solid #E5E7EB', borderRadius: 12, padding: '18px 22px' }}&gt;&#10;        &lt;Text style={{ fontSize: 17, color: '#0E3F8C', fontWeight: 'bold', marginBottom: 10 }}&gt;When to Use Which&lt;/Text&gt;&#10;        {[&#10;          { q: 'Numeric matrices / image tensors / math', a: '→ NumPy', c: '#3D7BD9' },&#10;          { q: 'CSV / database tables / mixed columns', a: '→ Pandas', c: '#0E3F8C' },&#10;          { q: 'Take a table column, do math on it', a: '→ Both together', c: '#1E4FA8' },&#10;        ].map((r, i) =&gt; (&#10;          &lt;Box key={i} style={{ flexDirection: 'row', alignItems: 'center', gap: 12, marginBottom: 8 }}&gt;&#10;            &lt;Box style={{ width: 26, height: 26, borderRadius: 8, background: '#E8EFF8', justifyContent: 'center', alignItems: 'center', flexShrink: 0 }}&gt;&#10;              &lt;Text style={{ fontSize: 14, color: '#1E4FA8', fontWeight: 'bold' }}&gt;{i + 1}&lt;/Text&gt;&#10;            &lt;/Box&gt;&#10;            &lt;Text style={{ fontSize: 16, color: '#1A2230', flex: 1 }}&gt;{r.q}&lt;/Text&gt;&#10;            &lt;Text style={{ fontSize: 15, color: r.c, fontWeight: '600' }}&gt;{r.a}&lt;/Text&gt;&#10;          &lt;/Box&gt;&#10;        ))}&#10;      &lt;/Box&gt;&#10;      &lt;Box style={{ borderLeft: '4px solid #0E3F8C', paddingLeft: 14 }}&gt;&#10;        &lt;Text style={{ fontSize: 16, color: '#1A2230', lineHeight: 1.6 }}&gt;&#10;          Examples: image pixels = &lt;span style={{ fontWeight: 'bold', color: '#3D7BD9' }}&gt;NumPy&lt;/span&gt;; the Titanic passenger table = &lt;span style={{ fontWeight: 'bold', color: '#0E3F8C' }}&gt;Panda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0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600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NumPy × Pandas · Division of Labor</a:t>
            </a:r>
            <a:endParaRPr/>
          </a:p>
        </p:txBody>
      </p:sp>
      <p:sp>
        <p:nvSpPr>
          <p:cNvPr id="11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135" name="" descr="{&quot;isTemplate&quot;:true,&quot;type&quot;:&quot;text&quot;}"/>
          <p:cNvSpPr txBox="1"/>
          <p:nvPr/>
        </p:nvSpPr>
        <p:spPr>
          <a:xfrm rot="0" flipH="0" flipV="0">
            <a:off x="6286500" y="1400175"/>
            <a:ext cx="5105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0E3F8C"/>
                </a:solidFill>
                <a:latin typeface="Inter"/>
                <a:ea typeface="Inter"/>
              </a:rPr>
              <a:t>Pandas is built on NumPy</a:t>
            </a:r>
            <a:endParaRPr/>
          </a:p>
        </p:txBody>
      </p:sp>
      <p:sp>
        <p:nvSpPr>
          <p:cNvPr id="1136" name="" descr="{&quot;isTemplate&quot;:true,&quot;type&quot;:&quot;text&quot;}"/>
          <p:cNvSpPr txBox="1"/>
          <p:nvPr/>
        </p:nvSpPr>
        <p:spPr>
          <a:xfrm rot="0" flipH="0" flipV="0">
            <a:off x="6286500" y="1895475"/>
            <a:ext cx="5105400" cy="1247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handles "grids of numbers" — one dtype, built for speed;</a:t>
            </a: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Pandas</a:t>
            </a:r>
            <a:r>
              <a:rPr lang="en-US" sz="1275">
                <a:solidFill>
                  <a:srgbClr val="4A5568"/>
                </a:solidFill>
                <a:latin typeface="Inter"/>
                <a:ea typeface="Inter"/>
              </a:rPr>
              <a:t> handles "real tables" — mixed column types, with row/column labels. Pandas is the high-level table API on top of NumPy arrays.</a:t>
            </a:r>
            <a:endParaRPr/>
          </a:p>
        </p:txBody>
      </p:sp>
      <p:sp>
        <p:nvSpPr>
          <p:cNvPr id="1137" name=""/>
          <p:cNvSpPr/>
          <p:nvPr/>
        </p:nvSpPr>
        <p:spPr>
          <a:xfrm rot="0" flipH="0" flipV="0">
            <a:off x="6286500" y="3295650"/>
            <a:ext cx="5105400" cy="1609725"/>
          </a:xfrm>
          <a:prstGeom prst="roundRect">
            <a:avLst>
              <a:gd name="adj" fmla="val 710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8" name="" descr="{&quot;isTemplate&quot;:true,&quot;type&quot;:&quot;text&quot;}"/>
          <p:cNvSpPr txBox="1"/>
          <p:nvPr/>
        </p:nvSpPr>
        <p:spPr>
          <a:xfrm rot="0" flipH="0" flipV="0">
            <a:off x="6496050" y="3467100"/>
            <a:ext cx="4686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When to Use Which</a:t>
            </a:r>
            <a:endParaRPr/>
          </a:p>
        </p:txBody>
      </p:sp>
      <p:sp>
        <p:nvSpPr>
          <p:cNvPr id="1139" name=""/>
          <p:cNvSpPr/>
          <p:nvPr/>
        </p:nvSpPr>
        <p:spPr>
          <a:xfrm rot="0" flipH="0" flipV="0">
            <a:off x="6496050" y="37623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0" name="" descr="{&quot;isTemplate&quot;:true,&quot;type&quot;:&quot;text&quot;}"/>
          <p:cNvSpPr txBox="1"/>
          <p:nvPr/>
        </p:nvSpPr>
        <p:spPr>
          <a:xfrm rot="0" flipH="0" flipV="0">
            <a:off x="6581775" y="38100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1141" name="" descr="{&quot;isTemplate&quot;:true,&quot;type&quot;:&quot;text&quot;}"/>
          <p:cNvSpPr txBox="1"/>
          <p:nvPr/>
        </p:nvSpPr>
        <p:spPr>
          <a:xfrm rot="0" flipH="0" flipV="0">
            <a:off x="6858000" y="3790950"/>
            <a:ext cx="3533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Numeric matrices / image tensors / math</a:t>
            </a:r>
            <a:endParaRPr/>
          </a:p>
        </p:txBody>
      </p:sp>
      <p:sp>
        <p:nvSpPr>
          <p:cNvPr id="1142" name="" descr="{&quot;isTemplate&quot;:true,&quot;type&quot;:&quot;text&quot;}"/>
          <p:cNvSpPr txBox="1"/>
          <p:nvPr/>
        </p:nvSpPr>
        <p:spPr>
          <a:xfrm rot="0" flipH="0" flipV="0">
            <a:off x="10506075" y="3800475"/>
            <a:ext cx="67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Inter"/>
                <a:ea typeface="Inter"/>
              </a:rPr>
              <a:t>→ NumPy</a:t>
            </a:r>
            <a:endParaRPr/>
          </a:p>
        </p:txBody>
      </p:sp>
      <p:sp>
        <p:nvSpPr>
          <p:cNvPr id="1143" name=""/>
          <p:cNvSpPr/>
          <p:nvPr/>
        </p:nvSpPr>
        <p:spPr>
          <a:xfrm rot="0" flipH="0" flipV="0">
            <a:off x="6496050" y="4086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4" name="" descr="{&quot;isTemplate&quot;:true,&quot;type&quot;:&quot;text&quot;}"/>
          <p:cNvSpPr txBox="1"/>
          <p:nvPr/>
        </p:nvSpPr>
        <p:spPr>
          <a:xfrm rot="0" flipH="0" flipV="0">
            <a:off x="6581775" y="41338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145" name="" descr="{&quot;isTemplate&quot;:true,&quot;type&quot;:&quot;text&quot;}"/>
          <p:cNvSpPr txBox="1"/>
          <p:nvPr/>
        </p:nvSpPr>
        <p:spPr>
          <a:xfrm rot="0" flipH="0" flipV="0">
            <a:off x="6858000" y="4114800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CSV / database tables / mixed columns</a:t>
            </a:r>
            <a:endParaRPr/>
          </a:p>
        </p:txBody>
      </p:sp>
      <p:sp>
        <p:nvSpPr>
          <p:cNvPr id="1146" name="" descr="{&quot;isTemplate&quot;:true,&quot;type&quot;:&quot;text&quot;}"/>
          <p:cNvSpPr txBox="1"/>
          <p:nvPr/>
        </p:nvSpPr>
        <p:spPr>
          <a:xfrm rot="0" flipH="0" flipV="0">
            <a:off x="10487025" y="412432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→ Pandas</a:t>
            </a:r>
            <a:endParaRPr/>
          </a:p>
        </p:txBody>
      </p:sp>
      <p:sp>
        <p:nvSpPr>
          <p:cNvPr id="1147" name=""/>
          <p:cNvSpPr/>
          <p:nvPr/>
        </p:nvSpPr>
        <p:spPr>
          <a:xfrm rot="0" flipH="0" flipV="0">
            <a:off x="6496050" y="44100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148" name="" descr="{&quot;isTemplate&quot;:true,&quot;type&quot;:&quot;text&quot;}"/>
          <p:cNvSpPr txBox="1"/>
          <p:nvPr/>
        </p:nvSpPr>
        <p:spPr>
          <a:xfrm rot="0" flipH="0" flipV="0">
            <a:off x="6581775" y="44577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149" name="" descr="{&quot;isTemplate&quot;:true,&quot;type&quot;:&quot;text&quot;}"/>
          <p:cNvSpPr txBox="1"/>
          <p:nvPr/>
        </p:nvSpPr>
        <p:spPr>
          <a:xfrm rot="0" flipH="0" flipV="0">
            <a:off x="6858000" y="4438650"/>
            <a:ext cx="3086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Take a table column, do math on it</a:t>
            </a:r>
            <a:endParaRPr/>
          </a:p>
        </p:txBody>
      </p:sp>
      <p:sp>
        <p:nvSpPr>
          <p:cNvPr id="1150" name="" descr="{&quot;isTemplate&quot;:true,&quot;type&quot;:&quot;text&quot;}"/>
          <p:cNvSpPr txBox="1"/>
          <p:nvPr/>
        </p:nvSpPr>
        <p:spPr>
          <a:xfrm rot="0" flipH="0" flipV="0">
            <a:off x="10058400" y="4448175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→ Both together</a:t>
            </a:r>
            <a:endParaRPr/>
          </a:p>
        </p:txBody>
      </p:sp>
      <p:sp>
        <p:nvSpPr>
          <p:cNvPr id="1151" name=""/>
          <p:cNvSpPr/>
          <p:nvPr/>
        </p:nvSpPr>
        <p:spPr>
          <a:xfrm rot="0" flipH="0" flipV="0">
            <a:off x="6286500" y="5057775"/>
            <a:ext cx="5143500" cy="590550"/>
          </a:xfrm>
          <a:custGeom>
            <a:pathLst>
              <a:path w="540" h="62">
                <a:moveTo>
                  <a:pt x="0" y="0"/>
                </a:moveTo>
                <a:lnTo>
                  <a:pt x="4" y="0"/>
                </a:lnTo>
                <a:lnTo>
                  <a:pt x="4" y="62"/>
                </a:lnTo>
                <a:lnTo>
                  <a:pt x="0" y="62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2" name="" descr="{&quot;isTemplate&quot;:true,&quot;type&quot;:&quot;text&quot;}"/>
          <p:cNvSpPr txBox="1"/>
          <p:nvPr/>
        </p:nvSpPr>
        <p:spPr>
          <a:xfrm rot="0" flipH="0" flipV="0">
            <a:off x="6457950" y="5057775"/>
            <a:ext cx="49339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Examples: image pixels = </a:t>
            </a:r>
            <a:r>
              <a:rPr lang="en-US" sz="1200" b="1">
                <a:solidFill>
                  <a:srgbClr val="3D7BD9"/>
                </a:solidFill>
                <a:latin typeface="Inter"/>
                <a:ea typeface="Inter"/>
              </a:rPr>
              <a:t>NumPy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; the Titanic passenger table =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Pandas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pic>
        <p:nvPicPr>
          <p:cNvPr id="11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143000"/>
            <a:ext cx="5334000" cy="4762500"/>
          </a:xfrm>
          <a:prstGeom prst="rect">
            <a:avLst/>
          </a:prstGeom>
          <a:ln/>
        </p:spPr>
      </p:pic>
      <p:sp>
        <p:nvSpPr>
          <p:cNvPr id="11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15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09 / 32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NumPy: Vectorization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4, flexShrink: 0 }}&gt;&#10;      &lt;Text style={{ fontSize: 16, color: '#8B97A8', fontWeight: '600' }}&gt;Two Ways to Write It&lt;/Text&gt;&#10;      &lt;Box style={{ background: '#1A2230', borderRadius: 12, padding: '18px 22px' }}&gt;&#10;        &lt;Text style={{ fontSize: 14, color: '#8B97A8', marginBottom: 8 }}&gt;# Python loop · slow&lt;/Text&gt;&#10;        &lt;Text style={{ fontSize: 15.5, color: '#FBD5A9', lineHeight: 1.75, fontFamily: 'Consolas, Menlo, monospace' }}&gt;&#10;          result = []{'\n'}&#10;          for x in data:{'\n'}&#10;          &amp;nbsp;&amp;nbsp;&amp;nbsp;&amp;nbsp;result.append(x * 2 + 1)&#10;        &lt;/Text&gt;&#10;        &lt;Box style={{ height: 1, background: 'rgba(255,255,255,0.15)', margin: '12px 0' }} /&gt;&#10;        &lt;Text style={{ fontSize: 14, color: '#8B97A8', marginBottom: 8 }}&gt;# NumPy vectorized · fast&lt;/Text&gt;&#10;        &lt;Text style={{ fontSize: 15.5, color: '#A8D8B9', lineHeight: 1.75, fontFamily: 'Consolas, Menlo, monospace' }}&gt;&#10;          result = data * 2 + 1{'\n'}&#10;          # one line, 10–100× faster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Broadcasting:&lt;/span&gt; arrays of different shapes align automatically, &lt;span style={{ fontFamily: 'Consolas, Menlo, monospace' }}&gt;(100,1) + (1,3) → (100,3)&lt;/span&gt;, with no data copying.&#10;        &lt;/Text&gt;&#10;      &lt;/Box&gt;&#10;    &lt;/Box&gt;&#10;    &lt;Box style={{ flex: 1, gap: 14, justifyContent: 'center' }}&gt;&#10;      &lt;Text style={{ fontSize: 26, color: '#0E3F8C', fontWeight: 'bold' }}&gt;Why is vectorization faster?&lt;/Text&gt;&#10;      {[&#10;        { i: 'microchip', t: 'Runs in C', d: 'Loops execute inside compiled C code, bypassing the Python interpreter line by line.' },&#10;        { i: 'memory', t: 'Contiguous memory', d: 'An ndarray is one contiguous memory block — far better CPU cache behavior than Python lists.' },&#10;        { i: 'bolt', t: 'SIMD parallelism', d: 'One instruction processes multiple data elements — free hardware-level parallelism.' },&#10;      ].map((k, i) =&gt; (&#10;        &lt;Box key={i} style={{ flexDirection: 'row', gap: 14, background: '#F7F9FC', border: '1px solid #E5E7EB', borderRadius: 10, padding: '14px 18px', alignItems: 'flex-start' }}&gt;&#10;          &lt;Box style={{ width: 40, height: 40, borderRadius: 10, background: '#E8EFF8', justifyContent: 'center', alignItems: 'center', flexShrink: 0 }}&gt;&#10;            &lt;FAIcon name={k.i} style={{ fill: '#1E4FA8', width: 20, height: 20 }} /&gt;&#10;          &lt;/Box&gt;&#10;          &lt;Box&gt;&#10;            &lt;Text style={{ fontSize: 17, color: '#1A2230', fontWeight: 'bold' }}&gt;{k.t}&lt;/Text&gt;&#10;            &lt;Text style={{ fontSize: 14.5, color: '#4A5568', lineHeight: 1.55, marginTop: 2 }}&gt;{k.d}&lt;/Text&gt;&#10;          &lt;/Box&gt;&#10;        &lt;/Box&gt;&#10;      ))}&#10;      &lt;Box style={{ borderLeft: '4px solid #0E3F8C', paddingLeft: 14 }}&gt;&#10;        &lt;Text style={{ fontSize: 16, color: '#1A2230', lineHeight: 1.6 }}&gt;&#10;          &lt;span style={{ fontWeight: 'bold', color: '#0E3F8C' }}&gt;Key insight:&lt;/span&gt; &quot;vectorize instead of looping&quot; is &lt;span style={{ fontWeight: 'bold', color: '#0E3F8C' }}&gt;habit #1&lt;/span&gt; for AI engineering code — every tensor operation from Week 5 onward builds on thi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621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NumPy: Vectorization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334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8B97A8"/>
                </a:solidFill>
                <a:latin typeface="Inter"/>
                <a:ea typeface="Inter"/>
              </a:rPr>
              <a:t>Two Ways to Write It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800100" y="1409700"/>
            <a:ext cx="5334000" cy="2619375"/>
          </a:xfrm>
          <a:prstGeom prst="roundRect">
            <a:avLst>
              <a:gd name="adj" fmla="val 4364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1009650" y="15811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Python loop · slow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1009650" y="1819275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result = []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for x in data: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FBD5A9"/>
                </a:solidFill>
                <a:latin typeface="Consolas"/>
                <a:ea typeface="Consolas"/>
              </a:rPr>
              <a:t>    result.append(x * 2 + 1)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09650" y="2867025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09650" y="2990850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NumPy vectorized · fast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009650" y="3228975"/>
            <a:ext cx="4914900" cy="6286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result = data * 2 + 1</a:t>
            </a:r>
            <a:endParaRPr/>
          </a:p>
          <a:p>
            <a:pPr>
              <a:lnSpc>
                <a:spcPct val="175000"/>
              </a:lnSpc>
            </a:pPr>
            <a:r>
              <a:rPr lang="en-US" sz="1163">
                <a:solidFill>
                  <a:srgbClr val="A8D8B9"/>
                </a:solidFill>
                <a:latin typeface="Consolas"/>
                <a:ea typeface="Consolas"/>
              </a:rPr>
              <a:t># one line, 10–100× faster</a:t>
            </a:r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800100" y="4162425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71550" y="4276725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Broadcasting: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arrays of different shapes align automatically,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(100,1) + (1,3) → (100,3)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, with no data copying.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419850" y="1162050"/>
            <a:ext cx="49720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0E3F8C"/>
                </a:solidFill>
                <a:latin typeface="Inter"/>
                <a:ea typeface="Inter"/>
              </a:rPr>
              <a:t>Why is vectorization faster?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19850" y="1600200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591300" y="173355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86550" y="1828800"/>
            <a:ext cx="190500" cy="190500"/>
          </a:xfrm>
          <a:prstGeom prst="rect">
            <a:avLst/>
          </a:prstGeom>
          <a:ln/>
        </p:spPr>
      </p:pic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105650" y="1733550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Runs in C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7105650" y="1952625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Loops execute inside compiled C code, bypassing the Python interpreter line by line.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419850" y="2733675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591300" y="286702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86550" y="2962275"/>
            <a:ext cx="190500" cy="190500"/>
          </a:xfrm>
          <a:prstGeom prst="rect">
            <a:avLst/>
          </a:prstGeom>
          <a:ln/>
        </p:spPr>
      </p:pic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05650" y="2867025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Contiguous memory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105650" y="3086100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An ndarray is one contiguous memory block — far better CPU cache behavior than Python lists.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419850" y="3867150"/>
            <a:ext cx="4972050" cy="1000125"/>
          </a:xfrm>
          <a:prstGeom prst="roundRect">
            <a:avLst>
              <a:gd name="adj" fmla="val 952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" name=""/>
          <p:cNvSpPr/>
          <p:nvPr/>
        </p:nvSpPr>
        <p:spPr>
          <a:xfrm rot="0" flipH="0" flipV="0">
            <a:off x="6591300" y="4000500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86550" y="4095750"/>
            <a:ext cx="190500" cy="190500"/>
          </a:xfrm>
          <a:prstGeom prst="rect">
            <a:avLst/>
          </a:prstGeom>
          <a:ln/>
        </p:spPr>
      </p:pic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105650" y="4000500"/>
            <a:ext cx="4114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SIMD parallelism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05650" y="4219575"/>
            <a:ext cx="4114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One instruction processes multiple data elements — free hardware-level parallelism.</a:t>
            </a:r>
            <a:endParaRPr/>
          </a:p>
        </p:txBody>
      </p:sp>
      <p:sp>
        <p:nvSpPr>
          <p:cNvPr id="52" name=""/>
          <p:cNvSpPr/>
          <p:nvPr/>
        </p:nvSpPr>
        <p:spPr>
          <a:xfrm rot="0" flipH="0" flipV="0">
            <a:off x="6419850" y="5000625"/>
            <a:ext cx="5010150" cy="885825"/>
          </a:xfrm>
          <a:custGeom>
            <a:pathLst>
              <a:path w="526" h="93">
                <a:moveTo>
                  <a:pt x="0" y="0"/>
                </a:moveTo>
                <a:lnTo>
                  <a:pt x="4" y="0"/>
                </a:lnTo>
                <a:lnTo>
                  <a:pt x="4" y="93"/>
                </a:lnTo>
                <a:lnTo>
                  <a:pt x="0" y="93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591300" y="5000625"/>
            <a:ext cx="48006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"vectorize instead of looping" is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habit #1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for AI engineering code — every tensor operation from Week 5 onward builds on this.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10 / 32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Indexing, Slicing &amp;amp; Broadcasting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30 }}&gt;&#10;    &lt;Box style={{ width: 560, gap: 12, flexShrink: 0 }}&gt;&#10;      &lt;Box style={{ background: '#1A2230', borderRadius: 12, padding: '16px 22px' }}&gt;&#10;        &lt;Text style={{ fontSize: 14, color: '#8B97A8', marginBottom: 6 }}&gt;# index &amp;amp; slice&lt;/Text&gt;&#10;        &lt;Text style={{ fontSize: 15, color: '#A8D8B9', lineHeight: 1.8, fontFamily: 'Consolas, Menlo, monospace' }}&gt;&#10;          a = np.arange(12).reshape(3, 4){'\n'}&#10;          a[0, 1]&amp;nbsp;&amp;nbsp;&amp;nbsp;&amp;nbsp;&amp;nbsp;&amp;nbsp;&amp;nbsp;# row 0, col 1 → 1{'\n'}&#10;          a[:, 2]&amp;nbsp;&amp;nbsp;&amp;nbsp;&amp;nbsp;&amp;nbsp;&amp;nbsp;# column 2 (all rows){'\n'}&#10;          a[1:, ::-1]&amp;nbsp;&amp;nbsp;# from row 1, columns reversed&#10;        &lt;/Text&gt;&#10;        &lt;Box style={{ height: 1, background: 'rgba(255,255,255,0.15)', margin: '10px 0' }} /&gt;&#10;        &lt;Text style={{ fontSize: 14, color: '#8B97A8', marginBottom: 6 }}&gt;# common aggregations&lt;/Text&gt;&#10;        &lt;Text style={{ fontSize: 15, color: '#A8D8B9', lineHeight: 1.8, fontFamily: 'Consolas, Menlo, monospace' }}&gt;&#10;          a.sum(axis=0)&amp;nbsp;&amp;nbsp;# sum over columns{'\n'}&#10;          a.mean(axis=1)&amp;nbsp;# mean over rows{'\n'}&#10;          a.argmax()&amp;nbsp;&amp;nbsp;&amp;nbsp;&amp;nbsp;# index of the max&#10;        &lt;/Text&gt;&#10;      &lt;/Box&gt;&#10;      &lt;Box style={{ background: '#F0F5FC', border: '1px solid #D6DCE5', borderRadius: 10, padding: '12px 18px' }}&gt;&#10;        &lt;Text style={{ fontSize: 14.5, color: '#4A5568', lineHeight: 1.6 }}&gt;&#10;          &lt;span style={{ fontWeight: 'bold', color: '#1E4FA8' }}&gt;Slicing returns a view, not a copy:&lt;/span&gt;&#10;          &lt;span style={{ fontFamily: 'Consolas, Menlo, monospace' }}&gt;b = a[:, 0]&lt;/span&gt; — modifying b changes a too; use &lt;span style={{ fontFamily: 'Consolas, Menlo, monospace' }}&gt;.copy()&lt;/span&gt; for an independent copy.&#10;        &lt;/Text&gt;&#10;      &lt;/Box&gt;&#10;    &lt;/Box&gt;&#10;    &lt;Box style={{ flex: 1, gap: 12, justifyContent: 'center' }}&gt;&#10;      &lt;Text style={{ fontSize: 20, color: '#0E3F8C', fontWeight: 'bold' }}&gt;Broadcasting Rules&lt;/Text&gt;&#10;      &lt;Text style={{ fontSize: 15, color: '#4A5568', lineHeight: 1.6 }}&gt;Align from the &lt;span style={{ fontWeight: 'bold', color: '#1A2230' }}&gt;trailing dimension&lt;/span&gt;: if shapes are equal, or one is 1, broadcasting expands.&lt;/Text&gt;&#10;      &lt;Box style={{ background: '#F7F9FC', border: '1px solid #E5E7EB', borderRadius: 12, padding: '16px 20px', gap: 8 }}&gt;&#10;        {[&#10;          { s: '(3, 4) + (4,)', ok: true, d: 'trailing dims 4 = 4 ✓ → expands across rows' },&#10;          { s: '(3, 4) + (3,)', ok: false, d: '4 ≠ 3 ✗ → Shape Error' },&#10;          { s: '(3, 1) + (1, 4)', ok: true, d: 'one 1 each ✓ → result (3, 4)' },&#10;        ].map((r, i) =&gt; (&#10;          &lt;Box key={i} style={{ flexDirection: 'row', alignItems: 'center', gap: 12 }}&gt;&#10;            &lt;Text style={{ fontSize: 15.5, color: r.ok ? '#0E3F8C' : '#8B97A8', fontFamily: 'Consolas, Menlo, monospace', fontWeight: 'bold', width: 190 }}&gt;{r.s}&lt;/Text&gt;&#10;            &lt;FAIcon name={r.ok ? 'check-circle' : 'times-circle'} style={{ fill: r.ok ? '#1E4FA8' : '#B0B8C4', width: 18, height: 18 }} /&gt;&#10;            &lt;Text style={{ fontSize: 14, color: '#4A5568', flex: 1 }}&gt;{r.d}&lt;/Text&gt;&#10;          &lt;/Box&gt;&#10;        ))}&#10;      &lt;/Box&gt;&#10;      &lt;Box style={{ borderLeft: '4px solid #0E3F8C', paddingLeft: 14 }}&gt;&#10;        &lt;Text style={{ fontSize: 15, color: '#1A2230', lineHeight: 1.6 }}&gt;&#10;          &lt;span style={{ fontWeight: 'bold', color: '#0E3F8C' }}&gt;Why learn this now:&lt;/span&gt; every weight update in a Week 5 neural network is slicing + broadcasting — this is the foundation of tensor math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76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Indexing, Slicing &amp; Broadcasting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800100" y="1586512"/>
            <a:ext cx="5334000" cy="3114675"/>
          </a:xfrm>
          <a:prstGeom prst="roundRect">
            <a:avLst>
              <a:gd name="adj" fmla="val 367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009650" y="173891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index &amp; slice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09650" y="1957987"/>
            <a:ext cx="4914900" cy="12382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 = np.arange(12).reshape(3, 4)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a[0, 1]       # row 0, col 1 → 1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a[:, 2]      # column 2 (all rows)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a[1:, ::-1]  # from row 1, columns reversed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1009650" y="3291487"/>
            <a:ext cx="4914900" cy="9525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009650" y="3396262"/>
            <a:ext cx="4914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common aggregations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09650" y="3615337"/>
            <a:ext cx="49149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a.sum(axis=0)  # sum over columns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a.mean(axis=1) # mean over rows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a.argmax()    # index of the max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800100" y="4815487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71550" y="4929787"/>
            <a:ext cx="49911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Slicing returns a view, not a copy: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 = a[:, 0]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— modifying b changes a too; use 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.copy()</a:t>
            </a: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 for an independent copy.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419850" y="2615212"/>
            <a:ext cx="4972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Broadcasting Rules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19850" y="2958112"/>
            <a:ext cx="49720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Align from the </a:t>
            </a: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trailing dimension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: if shapes are equal, or one is 1, broadcasting expands.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419850" y="3624862"/>
            <a:ext cx="4972050" cy="114300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610350" y="3853462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4) + (4,)</a:t>
            </a:r>
            <a:endParaRPr/>
          </a:p>
        </p:txBody>
      </p:sp>
      <p:pic>
        <p:nvPicPr>
          <p:cNvPr id="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3853462"/>
            <a:ext cx="171450" cy="171450"/>
          </a:xfrm>
          <a:prstGeom prst="rect">
            <a:avLst/>
          </a:prstGeom>
          <a:ln/>
        </p:spPr>
      </p:pic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8820150" y="3777262"/>
            <a:ext cx="2381250" cy="323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trailing dims 4 = 4 ✓ → expands across rows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610350" y="4177312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8B97A8"/>
                </a:solidFill>
                <a:latin typeface="Consolas"/>
                <a:ea typeface="Consolas"/>
              </a:rPr>
              <a:t>(3, 4) + (3,)</a:t>
            </a:r>
            <a:endParaRPr/>
          </a:p>
        </p:txBody>
      </p:sp>
      <p:pic>
        <p:nvPicPr>
          <p:cNvPr id="7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534400" y="4186837"/>
            <a:ext cx="171450" cy="171450"/>
          </a:xfrm>
          <a:prstGeom prst="rect">
            <a:avLst/>
          </a:prstGeom>
          <a:ln/>
        </p:spPr>
      </p:pic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8820150" y="4186837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4 ≠ 3 ✗ → Shape Error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6610350" y="4434487"/>
            <a:ext cx="18097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0E3F8C"/>
                </a:solidFill>
                <a:latin typeface="Consolas"/>
                <a:ea typeface="Consolas"/>
              </a:rPr>
              <a:t>(3, 1) + (1, 4)</a:t>
            </a:r>
            <a:endParaRPr/>
          </a:p>
        </p:txBody>
      </p:sp>
      <p:pic>
        <p:nvPicPr>
          <p:cNvPr id="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34400" y="4444012"/>
            <a:ext cx="171450" cy="171450"/>
          </a:xfrm>
          <a:prstGeom prst="rect">
            <a:avLst/>
          </a:prstGeom>
          <a:ln/>
        </p:spPr>
      </p:pic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8820150" y="4444012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one 1 each ✓ → result (3, 4)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6419850" y="4882162"/>
            <a:ext cx="5010150" cy="552450"/>
          </a:xfrm>
          <a:custGeom>
            <a:pathLst>
              <a:path w="526" h="58">
                <a:moveTo>
                  <a:pt x="0" y="0"/>
                </a:moveTo>
                <a:lnTo>
                  <a:pt x="4" y="0"/>
                </a:lnTo>
                <a:lnTo>
                  <a:pt x="4" y="58"/>
                </a:lnTo>
                <a:lnTo>
                  <a:pt x="0" y="58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6591300" y="4882162"/>
            <a:ext cx="48006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Why learn this now: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every weight update in a Week 5 neural network is slicing + broadcasting — this is the foundation of tensor math.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11 / 32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: The Manipulation Chain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Load', d: 'read_csv / read_sql', c: '#3D7BD9' },&#10;        { n: '2', t: 'Inspect', d: 'head / info / describe', c: '#1E4FA8' },&#10;        { n: '3', t: 'Select', d: 'loc / iloc / boolean masks', c: '#3D7BD9' },&#10;        { n: '4', t: 'Transform', d: 'assign / apply / map', c: '#1E4FA8' },&#10;        { n: '5', t: 'Aggregate', d: 'groupby / pivot_table', c: '#0E3F8C' },&#10;      ].map((s, i) =&gt; (&#10;        &lt;Box key={i} style={{ flex: 1, position: 'relative' }}&gt;&#10;          &lt;Box style={{ background: '#F7F9FC', border: '1px solid #D6DCE5', borderTop: '4px solid ' + s.c, borderRadius: 12, padding: '16px 16px', height: 190, justifyContent: 'space-between' }}&gt;&#10;            &lt;Box style={{ width: 38, height: 38, borderRadius: 10, background: s.c, justifyContent: 'center', alignItems: 'center' }}&gt;&#10;              &lt;Text style={{ fontSize: 18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, fontFamily: 'Consolas, Menlo, monospace' }}&gt;{s.d}&lt;/Text&gt;&#10;            &lt;/Box&gt;&#10;          &lt;/Box&gt;&#10;          {i &lt; 4 &amp;&amp; (&#10;            &lt;Box style={{ position: 'absolute', right: -13, top: 82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20, marginTop: 24, alignItems: 'stretch' }}&gt;&#10;      &lt;Box style={{ width: 460, background: '#1A2230', borderRadius: 12, padding: '16px 22px', flexShrink: 0 }}&gt;&#10;        &lt;Text style={{ fontSize: 14, color: '#8B97A8', marginBottom: 6 }}&gt;# Titanic: one chain, one question&lt;/Text&gt;&#10;        &lt;Text style={{ fontSize: 15, color: '#A8D8B9', lineHeight: 1.8, fontFamily: 'Consolas, Menlo, monospace' }}&gt;&#10;          (df[df.age &amp;gt; 18]{'\n'}&#10;          &amp;nbsp;&amp;nbsp;.groupby('sex')['survived']{'\n'}&#10;          &amp;nbsp;&amp;nbsp;.mean())&#10;        &lt;/Text&gt;&#10;      &lt;/Box&gt;&#10;      &lt;Box style={{ flex: 1, justifyContent: 'center' }}&gt;&#10;        &lt;Text style={{ fontSize: 16, color: '#1A2230', lineHeight: 1.7 }}&gt;&#10;          &lt;span style={{ fontWeight: 'bold', color: '#0E3F8C' }}&gt;Key insight:&lt;/span&gt; one &lt;span style={{ fontFamily: 'Consolas, Menlo, monospace' }}&gt;DataFrame&lt;/span&gt; flows through the entire pipeline —&#10;          80% of data preparation in AI projects is just &lt;span style={{ fontWeight: 'bold', color: '#0E3F8C' }}&gt;recombining these five steps&lt;/span&gt;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238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Pandas: The Manipulation Chain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800100" y="3819525"/>
            <a:ext cx="4381500" cy="1457325"/>
          </a:xfrm>
          <a:prstGeom prst="roundRect">
            <a:avLst>
              <a:gd name="adj" fmla="val 7843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09650" y="3971925"/>
            <a:ext cx="396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Titanic: one chain, one question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09650" y="4191000"/>
            <a:ext cx="3962400" cy="93345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(df[df.age &gt; 18]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.groupby('sex')['survived']</a:t>
            </a:r>
            <a:endParaRPr/>
          </a:p>
          <a:p>
            <a:pPr>
              <a:lnSpc>
                <a:spcPct val="180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  .mean())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72100" y="4238625"/>
            <a:ext cx="60198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one 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DataFrame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flows through the entire pipeline — 80% of data preparation in AI projects is just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recombining these five steps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80010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95" name=""/>
          <p:cNvSpPr/>
          <p:nvPr/>
        </p:nvSpPr>
        <p:spPr>
          <a:xfrm rot="0" flipH="0" flipV="0">
            <a:off x="80010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95250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08585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52500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Load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5250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read_csv / read_sql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294322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1" name=""/>
          <p:cNvSpPr/>
          <p:nvPr/>
        </p:nvSpPr>
        <p:spPr>
          <a:xfrm rot="0" flipH="0" flipV="0">
            <a:off x="294322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309562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22897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095625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Inspect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09562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head / info / describe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5086350" y="1819275"/>
            <a:ext cx="2019300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5086350" y="1819275"/>
            <a:ext cx="2019300" cy="1771650"/>
          </a:xfrm>
          <a:custGeom>
            <a:pathLst>
              <a:path w="212" h="18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8" name=""/>
          <p:cNvSpPr/>
          <p:nvPr/>
        </p:nvSpPr>
        <p:spPr>
          <a:xfrm rot="0" flipH="0" flipV="0">
            <a:off x="52387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53721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238750" y="2838450"/>
            <a:ext cx="1714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Select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5238750" y="3124200"/>
            <a:ext cx="17145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loc / iloc / boolean masks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7219950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3" name=""/>
          <p:cNvSpPr/>
          <p:nvPr/>
        </p:nvSpPr>
        <p:spPr>
          <a:xfrm rot="0" flipH="0" flipV="0">
            <a:off x="7219950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7372350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505700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372350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Transform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372350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assign / apply / map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9363075" y="1819275"/>
            <a:ext cx="2028825" cy="1771650"/>
          </a:xfrm>
          <a:prstGeom prst="roundRect">
            <a:avLst>
              <a:gd name="adj" fmla="val 64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9363075" y="1819275"/>
            <a:ext cx="2028825" cy="1771650"/>
          </a:xfrm>
          <a:custGeom>
            <a:pathLst>
              <a:path w="213" h="18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9515475" y="1971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9648825" y="20478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9515475" y="2990850"/>
            <a:ext cx="1724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Aggregate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9515475" y="3276600"/>
            <a:ext cx="1724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Consolas"/>
                <a:ea typeface="Consolas"/>
              </a:rPr>
              <a:t>groupby / pivot_table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12 / 32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762250" y="2562225"/>
            <a:ext cx="190500" cy="190500"/>
          </a:xfrm>
          <a:prstGeom prst="rect">
            <a:avLst/>
          </a:prstGeom>
          <a:ln/>
        </p:spPr>
      </p:pic>
      <p:pic>
        <p:nvPicPr>
          <p:cNvPr id="1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905375" y="2562225"/>
            <a:ext cx="190500" cy="190500"/>
          </a:xfrm>
          <a:prstGeom prst="rect">
            <a:avLst/>
          </a:prstGeom>
          <a:ln/>
        </p:spPr>
      </p:pic>
      <p:pic>
        <p:nvPicPr>
          <p:cNvPr id="1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038975" y="2562225"/>
            <a:ext cx="190500" cy="190500"/>
          </a:xfrm>
          <a:prstGeom prst="rect">
            <a:avLst/>
          </a:prstGeom>
          <a:ln/>
        </p:spPr>
      </p:pic>
      <p:pic>
        <p:nvPicPr>
          <p:cNvPr id="1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82100" y="2562225"/>
            <a:ext cx="190500" cy="1905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130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Pandas Cheat Sheet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&lt;Box style={{ flex: 1, gap: 10 }}&gt;&#10;        &lt;Text style={{ fontSize: 16, color: '#0E3F8C', fontWeight: 'bold' }}&gt;① Select&lt;/Text&gt;&#10;        {[&#10;          { c: &quot;df.loc[df['age'] &gt; 30, 'fare']&quot;, d: 'Condition + label-based column pick' },&#10;          { c: 'df.iloc[0:5, [0, 3]]', d: 'First 5 rows by position' },&#10;          { c: &quot;df[df['sex'].isin(['male'])]&quot;, d: 'Filter by a list of values' },&#10;        ].map((r, i) =&gt; (&#10;          &lt;Box key={i} style={{ background: '#F7F9FC', border: '1px solid #E5E7EB', borderLeft: '3px solid #3D7BD9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② Transform&lt;/Text&gt;&#10;        {[&#10;          { c: &quot;df['fare'] = df['fare'].fillna(0)&quot;, d: 'New column from old (chainable)' },&#10;          { c: &quot;df['is_child'] = df['age'] &lt; 12&quot;, d: 'Boolean column in one step' },&#10;          { c: &quot;df['name'].str.lower()&quot;, d: 'Vectorized text cleaning' },&#10;        ].map((r, i) =&gt; (&#10;          &lt;Box key={i} style={{ background: '#F7F9FC', border: '1px solid #E5E7EB', borderLeft: '3px solid #1E4FA8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  &lt;Box style={{ flex: 1, gap: 10 }}&gt;&#10;        &lt;Text style={{ fontSize: 16, color: '#0E3F8C', fontWeight: 'bold' }}&gt;③ Group &amp;amp; Merge&lt;/Text&gt;&#10;        {[&#10;          { c: &quot;df.groupby('class')['fare'].agg(['mean', 'count'])&quot;, d: 'Aggregate with multiple stats' },&#10;          { c: &quot;pd.merge(df1, df2, on='id', how='left')&quot;, d: 'Left join keeps the main table' },&#10;          { c: &quot;pd.pivot_table(df, index='sex', values='survived')&quot;, d: 'Pivot table in one line' },&#10;        ].map((r, i) =&gt; (&#10;          &lt;Box key={i} style={{ background: '#F7F9FC', border: '1px solid #E5E7EB', borderLeft: '3px solid #0E3F8C', borderRadius: 8, padding: '10px 14px' }}&gt;&#10;            &lt;Text style={{ fontSize: 13.5, color: '#1A2230', fontFamily: 'Consolas, Menlo, monospace' }}&gt;{r.c}&lt;/Text&gt;&#10;            &lt;Text style={{ fontSize: 12.5, color: '#8B97A8', marginTop: 3 }}&gt;{r.d}&lt;/Text&gt;&#10;          &lt;/Box&gt;&#10;        ))}&#10;      &lt;/Box&gt;&#10;    &lt;/Box&gt;&#10;    &lt;Box style={{ flexDirection: 'row', gap: 16, marginTop: 14 }}&gt;&#10;      &lt;Box style={{ flex: 1.2, background: '#1A2230', borderRadius: 10, padding: '13px 20px' }}&gt;&#10;        &lt;Text style={{ fontSize: 13.5, color: '#8B97A8' }}&gt;# classic trap: chained indexing&lt;/Text&gt;&#10;        &lt;Text style={{ fontSize: 14, color: '#FBD5A9', lineHeight: 1.7, fontFamily: 'Consolas, Menlo, monospace' }}&gt;&#10;          df[df['age'] &amp;gt; 30]['fare'] = 0&amp;nbsp;&amp;nbsp;&lt;span style={{ color: '#A8D8B9' }}&gt;# ✗ may silently fail&lt;/span&gt;&#10;        &lt;/Text&gt;&#10;        &lt;Text style={{ fontSize: 14, color: '#A8D8B9', lineHeight: 1.7, fontFamily: 'Consolas, Menlo, monospace' }}&gt;&#10;          df.loc[df['age'] &amp;gt; 30, 'fare'] = 0&amp;nbsp;&amp;nbsp;&lt;span style={{ color: '#A8D8B9' }}&gt;# ✓ correct way&lt;/span&gt;&#10;        &lt;/Text&gt;&#10;      &lt;/Box&gt;&#10;      &lt;Box style={{ flex: 1, borderLeft: '4px solid #0E3F8C', paddingLeft: 14, justifyContent: 'center' }}&gt;&#10;        &lt;Text style={{ fontSize: 15, color: '#1A2230', lineHeight: 1.6 }}&gt;&#10;          These 9 lines cover &lt;span style={{ fontWeight: 'bold', color: '#0E3F8C' }}&gt;~90% of Lab operations&lt;/span&gt; — screenshot them and keep them by your keyboard.&#10;          &lt;span style={{ fontSize: 13, color: '#8B97A8' }}&gt;Print this and keep it next to your keyboard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3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2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019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Pandas Cheat Sheet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① Select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828675" y="137160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37" name=""/>
          <p:cNvSpPr/>
          <p:nvPr/>
        </p:nvSpPr>
        <p:spPr>
          <a:xfrm rot="0" flipH="0" flipV="0">
            <a:off x="828675" y="137160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62025" y="146685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df.loc[df['age'] &gt; 30, 'fare']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62025" y="16573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Condition + label-based column pick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828675" y="19907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1" name=""/>
          <p:cNvSpPr/>
          <p:nvPr/>
        </p:nvSpPr>
        <p:spPr>
          <a:xfrm rot="0" flipH="0" flipV="0">
            <a:off x="828675" y="19907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962025" y="20859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df.iloc[0:5, [0, 3]]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962025" y="22764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First 5 rows by position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828675" y="2609850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828675" y="2609850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962025" y="2705100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df[df['sex'].isin(['male'])]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62025" y="28956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Filter by a list of values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4391025" y="1085850"/>
            <a:ext cx="3409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② Transform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4419600" y="137160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4419600" y="137160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552950" y="146685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df['fare'] = df['fare'].fillna(0)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552950" y="165735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New column from old (chainable)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4419600" y="1990725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4" name=""/>
          <p:cNvSpPr/>
          <p:nvPr/>
        </p:nvSpPr>
        <p:spPr>
          <a:xfrm rot="0" flipH="0" flipV="0">
            <a:off x="4419600" y="1990725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552950" y="2085975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df['is_child'] = df['age'] &lt; 12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4552950" y="2276475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Boolean column in one step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4419600" y="2609850"/>
            <a:ext cx="3409950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58" name=""/>
          <p:cNvSpPr/>
          <p:nvPr/>
        </p:nvSpPr>
        <p:spPr>
          <a:xfrm rot="0" flipH="0" flipV="0">
            <a:off x="4419600" y="2609850"/>
            <a:ext cx="3409950" cy="523875"/>
          </a:xfrm>
          <a:custGeom>
            <a:pathLst>
              <a:path w="358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552950" y="2705100"/>
            <a:ext cx="3114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df['name'].str.lower()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4552950" y="2895600"/>
            <a:ext cx="31146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Vectorized text cleaning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7972425" y="1085850"/>
            <a:ext cx="3419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③ Group &amp; Merge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8001000" y="137160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8001000" y="137160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134350" y="146685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df.groupby('class')['fare'].agg(['mean', 'count'])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8134350" y="180975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Aggregate with multiple stats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8001000" y="2143125"/>
            <a:ext cx="3419475" cy="523875"/>
          </a:xfrm>
          <a:prstGeom prst="roundRect">
            <a:avLst>
              <a:gd name="adj" fmla="val 1454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67" name=""/>
          <p:cNvSpPr/>
          <p:nvPr/>
        </p:nvSpPr>
        <p:spPr>
          <a:xfrm rot="0" flipH="0" flipV="0">
            <a:off x="8001000" y="2143125"/>
            <a:ext cx="3419475" cy="523875"/>
          </a:xfrm>
          <a:custGeom>
            <a:pathLst>
              <a:path w="359" h="55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50"/>
                </a:lnTo>
                <a:cubicBezTo>
                  <a:pt x="3" y="52"/>
                  <a:pt x="5" y="54"/>
                  <a:pt x="7" y="55"/>
                </a:cubicBezTo>
                <a:cubicBezTo>
                  <a:pt x="3" y="54"/>
                  <a:pt x="0" y="51"/>
                  <a:pt x="0" y="47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8134350" y="2238375"/>
            <a:ext cx="3124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pd.merge(df1, df2, on='id', how='left')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8134350" y="2428875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Left join keeps the main table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8001000" y="2762250"/>
            <a:ext cx="3419475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71" name=""/>
          <p:cNvSpPr/>
          <p:nvPr/>
        </p:nvSpPr>
        <p:spPr>
          <a:xfrm rot="0" flipH="0" flipV="0">
            <a:off x="8001000" y="2762250"/>
            <a:ext cx="3419475" cy="676275"/>
          </a:xfrm>
          <a:custGeom>
            <a:pathLst>
              <a:path w="359" h="71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66"/>
                </a:lnTo>
                <a:cubicBezTo>
                  <a:pt x="3" y="68"/>
                  <a:pt x="5" y="70"/>
                  <a:pt x="7" y="71"/>
                </a:cubicBezTo>
                <a:cubicBezTo>
                  <a:pt x="3" y="70"/>
                  <a:pt x="0" y="67"/>
                  <a:pt x="0" y="63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134350" y="2857500"/>
            <a:ext cx="31242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1A2230"/>
                </a:solidFill>
                <a:latin typeface="Consolas"/>
                <a:ea typeface="Consolas"/>
              </a:rPr>
              <a:t>pd.pivot_table(df, index='sex', values='survived')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134350" y="3200400"/>
            <a:ext cx="3124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Pivot table in one line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800100" y="5000625"/>
            <a:ext cx="5695950" cy="962025"/>
          </a:xfrm>
          <a:prstGeom prst="roundRect">
            <a:avLst>
              <a:gd name="adj" fmla="val 990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90600" y="5124450"/>
            <a:ext cx="5314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# classic trap: chained indexing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990600" y="5286375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FBD5A9"/>
                </a:solidFill>
                <a:latin typeface="Consolas"/>
                <a:ea typeface="Consolas"/>
              </a:rPr>
              <a:t>df[df['age'] &gt; 30]['fare']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✗ may silently fail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90600" y="5562600"/>
            <a:ext cx="53149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df.loc[df['age'] &gt; 30, 'fare'] = 0  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✓ correct way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648450" y="5000625"/>
            <a:ext cx="4781550" cy="962025"/>
          </a:xfrm>
          <a:custGeom>
            <a:pathLst>
              <a:path w="502" h="101">
                <a:moveTo>
                  <a:pt x="0" y="0"/>
                </a:moveTo>
                <a:lnTo>
                  <a:pt x="4" y="0"/>
                </a:lnTo>
                <a:lnTo>
                  <a:pt x="4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19900" y="5210175"/>
            <a:ext cx="4572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These 9 lines cover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~90% of Lab operations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screenshot them and keep them by your keyboard.</a:t>
            </a: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Print this and keep it next to your keyboard.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13 / 32</a:t>
            </a:r>
            <a:endParaRPr/>
          </a:p>
        </p:txBody>
      </p:sp>
    </p:spTree>
  </p:cSld>
</p:sld>
</file>

<file path=ppt/slides/slide14.xml><?xml version="1.0" encoding="utf-8"?>
<p:sld xmlns:a="http://schemas.openxmlformats.org/drawingml/2006/main" xmlns:p="http://schemas.openxmlformats.org/presentationml/2006/main">
  <p:cSld>
    <p:spTree>
      <p:nvGrpSpPr>
        <p:cNvPr id="182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3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3&lt;/Text&gt;&#10;      &lt;/Box&gt;&#10;      &lt;Box style={{ paddingTop: 6 }}&gt;&#10;        &lt;Text style={{ fontSize: 44, color: '#1A2230', fontWeight: 'bold' }}&gt;Visualization &amp;amp; EDA&lt;/Text&gt;&#10;        &lt;Text style={{ fontSize: 26, color: '#8B97A8', fontWeight: '600', marginTop: 6 }}&gt;Exploratory Data Analysis&lt;/Text&gt;&#10;      &lt;/Box&gt;&#10;    &lt;/Box&gt;&#10;    &lt;Box style={{ flexDirection: 'row', gap: 24 }}&gt;&#10;      {[&#10;        { t: 'Right Chart', e: 'Match chart to question' },&#10;        { t: 'EDA 5 Steps', e: 'A repeatable routine' },&#10;        { t: 'Look First', e: 'Before modeling anything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86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03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39814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Visualization &amp; EDA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39814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Exploratory Data Analysis</a:t>
            </a:r>
            <a:endParaRPr/>
          </a:p>
        </p:txBody>
      </p:sp>
      <p:sp>
        <p:nvSpPr>
          <p:cNvPr id="190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1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Right Chart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Match chart to question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5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EDA 5 Steps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 repeatable routine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9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Look First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Before modeling anything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02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4 Chart Types × 4 Question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20, flex: 1 }}&gt;&#10;      {[&#10;        {&#10;          q: &quot;What's the distribution?&quot;, t: 'Histogram',&#10;          d: 'Shape of one variable: skew, modes, truncation.', tool: 'df[col].plot.hist()',&#10;          bars: [22, 48, 72, 95, 80, 55, 38, 20, 10, 5],&#10;        },&#10;        {&#10;          q: 'How do two variables relate?', t: 'Scatter Plot',&#10;          d: 'Correlation, non-linearity, clusters at a glance.', tool: 'df.plot.scatter(x,y)',&#10;          dots: [[15, 70], [30, 60], [45, 55], [60, 45], [75, 38], [90, 25], [105, 22], [120, 12]],&#10;        },&#10;        {&#10;          q: 'Which group is bigger?', t: 'Bar Chart',&#10;          d: 'Aggregate values across categories; add error bars.', tool: 'df.groupby().mean().plot.bar()',&#10;          bars: [45, 68, 82, 59],&#10;        },&#10;        {&#10;          q: 'Which features correlate?', t: 'Heatmap',&#10;          d: 'Pairwise correlation matrix — the gateway to feature selection.', tool: 'sns.heatmap(df.corr())',&#10;          heat: true,&#10;        },&#10;      ].map((c, i) =&gt; (&#10;        &lt;Box key={i} style={{ flex: 1, background: '#F7F9FC', border: '1px solid #E5E7EB', borderTop: '4px solid ' + ['#3D7BD9', '#1E4FA8', '#3D7BD9', '#0E3F8C'][i], borderRadius: 12, padding: '16px 18px', justifyContent: 'space-between' }}&gt;&#10;          &lt;Box&gt;&#10;            &lt;Text style={{ fontSize: 18, color: '#1A2230', fontWeight: 'bold', marginTop: 2 }}&gt;{c.q}&lt;/Text&gt;&#10;            &lt;Text style={{ fontSize: 16, color: '#1E4FA8', fontWeight: 'bold', marginTop: 6 }}&gt;{c.t}&lt;/Text&gt;&#10;          &lt;/Box&gt;&#10;          &lt;Box style={{ height: 110, justifyContent: 'center', alignItems: 'center' }}&gt;&#10;            {c.bars &amp;&amp; !c.heat &amp;&amp; (&#10;              &lt;svg width={220} height={100} viewBox='0 0 220 100'&gt;&#10;                {c.bars.map((h, bi) =&gt; (&#10;                  &lt;rect key={bi} x={bi * 22 + 2} y={90 - h * 0.85} width='16' height={h * 0.85} rx='2' fill={i === 2 ? '#1E4FA8' : '#3D7BD9'} opacity='0.85' /&gt;&#10;                ))}&#10;              &lt;/svg&gt;&#10;            )}&#10;            {c.dots &amp;&amp; (&#10;              &lt;svg width={220} height={100} viewBox='0 0 220 100'&gt;&#10;                {c.dots.map((p, di) =&gt; (&#10;                  &lt;circle key={di} cx={p[0] + 10} cy={p[1]} r='6' fill='#1E4FA8' opacity='0.8' /&gt;&#10;                ))}&#10;              &lt;/svg&gt;&#10;            )}&#10;            {c.heat &amp;&amp; (&#10;              &lt;svg width={220} height={100} viewBox='0 0 220 100'&gt;&#10;                {[&#10;                  ['#0E3F8C', '#1E4FA8', '#3D7BD9', '#8B97A8'],&#10;                  ['#1E4FA8', '#0E3F8C', '#3D7BD9', '#B0C4E8'],&#10;                  ['#3D7BD9', '#3D7BD9', '#0E3F8C', '#1E4FA8'],&#10;                  ['#8B97A8', '#B0C4E8', '#1E4FA8', '#0E3F8C'],&#10;                ].map((row, ri) =&gt;&#10;                  row.map((col, ci) =&gt; (&#10;                    &lt;rect key={`${ri}-${ci}`} x={ci * 52 + 6} y={ri * 22 + 4} width='48' height='18' rx='3' fill={col} opacity='0.9' /&gt;&#10;                  ))&#10;                )}&#10;              &lt;/svg&gt;&#10;            )}&#10;          &lt;/Box&gt;&#10;          &lt;Box&gt;&#10;            &lt;Text style={{ fontSize: 13.5, color: '#4A5568', lineHeight: 1.5 }}&gt;{c.d}&lt;/Text&gt;&#10;            &lt;Text style={{ fontSize: 12, color: '#1E4FA8', fontFamily: 'Consolas, Menlo, monospace', marginTop: 6 }}&gt;{c.tool}&lt;/Text&gt;&#10;          &lt;/Box&gt;&#10;        &lt;/Box&gt;&#10;      ))}&#10;    &lt;/Box&gt;&#10;    &lt;Box style={{ background: '#F0F5FC', border: '1px solid #D6DCE5', borderRadius: 10, padding: '13px 20px', marginTop: 16 }}&gt;&#10;      &lt;Text style={{ fontSize: 16, color: '#1A2230', lineHeight: 1.6 }}&gt;&#10;        &lt;span style={{ fontWeight: 'bold', color: '#0E3F8C' }}&gt;Key insight:&lt;/span&gt; decide what &lt;span style={{ fontWeight: 'bold', color: '#0E3F8C' }}&gt;question&lt;/span&gt; you're answering first, then pick the chart —&#10;        doing it the other way around (&quot;draw first, explain later&quot;) is where data storytelling turns into data fabrication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9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4 Chart Types × 4 Questions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800100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800100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971550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What's the distribution?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71550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Histogram</a:t>
            </a:r>
            <a:endParaRPr/>
          </a:p>
        </p:txBody>
      </p:sp>
      <p:pic>
        <p:nvPicPr>
          <p:cNvPr id="2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09650" y="2476500"/>
            <a:ext cx="2095500" cy="952500"/>
          </a:xfrm>
          <a:prstGeom prst="rect">
            <a:avLst/>
          </a:prstGeom>
          <a:ln/>
        </p:spPr>
      </p:pic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71550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Shape of one variable: skew, modes, truncation.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971550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df[col].plot.hist()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3495675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15" name=""/>
          <p:cNvSpPr/>
          <p:nvPr/>
        </p:nvSpPr>
        <p:spPr>
          <a:xfrm rot="0" flipH="0" flipV="0">
            <a:off x="3495675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3667125" y="1295400"/>
            <a:ext cx="216217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How do two variables relate?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667125" y="177165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Scatter Plot</a:t>
            </a:r>
            <a:endParaRPr/>
          </a:p>
        </p:txBody>
      </p:sp>
      <p:pic>
        <p:nvPicPr>
          <p:cNvPr id="21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05225" y="2581275"/>
            <a:ext cx="2095500" cy="952500"/>
          </a:xfrm>
          <a:prstGeom prst="rect">
            <a:avLst/>
          </a:prstGeom>
          <a:ln/>
        </p:spPr>
      </p:pic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667125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Correlation, non-linearity, clusters at a glance.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3667125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df.plot.scatter(x,y)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6191250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2" name=""/>
          <p:cNvSpPr/>
          <p:nvPr/>
        </p:nvSpPr>
        <p:spPr>
          <a:xfrm rot="0" flipH="0" flipV="0">
            <a:off x="6191250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362700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Which group is bigger?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6362700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Bar Chart</a:t>
            </a:r>
            <a:endParaRPr/>
          </a:p>
        </p:txBody>
      </p:sp>
      <p:pic>
        <p:nvPicPr>
          <p:cNvPr id="2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400800" y="2476500"/>
            <a:ext cx="2095500" cy="952500"/>
          </a:xfrm>
          <a:prstGeom prst="rect">
            <a:avLst/>
          </a:prstGeom>
          <a:ln/>
        </p:spPr>
      </p:pic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362700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Aggregate values across categories; add error bars.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62700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df.groupby().mean().plot.bar()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8886825" y="1123950"/>
            <a:ext cx="2505075" cy="3886200"/>
          </a:xfrm>
          <a:prstGeom prst="roundRect">
            <a:avLst>
              <a:gd name="adj" fmla="val 456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8886825" y="1123950"/>
            <a:ext cx="2505075" cy="3886200"/>
          </a:xfrm>
          <a:custGeom>
            <a:pathLst>
              <a:path w="263" h="408">
                <a:moveTo>
                  <a:pt x="252" y="0"/>
                </a:moveTo>
                <a:cubicBezTo>
                  <a:pt x="257" y="0"/>
                  <a:pt x="262" y="4"/>
                  <a:pt x="263" y="10"/>
                </a:cubicBezTo>
                <a:cubicBezTo>
                  <a:pt x="262" y="6"/>
                  <a:pt x="259" y="4"/>
                  <a:pt x="25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51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9058275" y="1295400"/>
            <a:ext cx="21621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Which features correlate?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9058275" y="1562100"/>
            <a:ext cx="2162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Inter"/>
                <a:ea typeface="Inter"/>
              </a:rPr>
              <a:t>Heatmap</a:t>
            </a:r>
            <a:endParaRPr/>
          </a:p>
        </p:txBody>
      </p:sp>
      <p:pic>
        <p:nvPicPr>
          <p:cNvPr id="2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9096375" y="2476500"/>
            <a:ext cx="2095500" cy="952500"/>
          </a:xfrm>
          <a:prstGeom prst="rect">
            <a:avLst/>
          </a:prstGeom>
          <a:ln/>
        </p:spPr>
      </p:pic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9058275" y="4152900"/>
            <a:ext cx="2162175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Pairwise correlation matrix — the gateway to feature selection.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9058275" y="4676775"/>
            <a:ext cx="21621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sns.heatmap(df.corr())</a:t>
            </a:r>
            <a:endParaRPr/>
          </a:p>
        </p:txBody>
      </p:sp>
      <p:sp>
        <p:nvSpPr>
          <p:cNvPr id="235" name=""/>
          <p:cNvSpPr/>
          <p:nvPr/>
        </p:nvSpPr>
        <p:spPr>
          <a:xfrm rot="0" flipH="0" flipV="0">
            <a:off x="800100" y="5124450"/>
            <a:ext cx="10591800" cy="838200"/>
          </a:xfrm>
          <a:prstGeom prst="roundRect">
            <a:avLst>
              <a:gd name="adj" fmla="val 11364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90600" y="5248275"/>
            <a:ext cx="102108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Key insight: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decide what 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question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you're answering first, then pick the chart — doing it the other way around ("draw first, explain later") is where data storytelling turns into data fabrication.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15 / 32</a:t>
            </a:r>
            <a:endParaRPr/>
          </a:p>
        </p:txBody>
      </p:sp>
    </p:spTree>
  </p:cSld>
</p:sld>
</file>

<file path=ppt/slides/slide16.xml><?xml version="1.0" encoding="utf-8"?>
<p:sld xmlns:a="http://schemas.openxmlformats.org/drawingml/2006/main" xmlns:p="http://schemas.openxmlformats.org/presentationml/2006/main">
  <p:cSld>
    <p:spTree>
      <p:nvGrpSpPr>
        <p:cNvPr id="23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5-Step EDA Routine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8 }}&gt;&#10;    &lt;Box style={{ flex: 1.2, gap: 11, justifyContent: 'center' }}&gt;&#10;      {[&#10;        { n: '1', t: 'Overview', d: 'shape / info / describe — how many rows and columns? What types? Any missing values?' },&#10;        { n: '2', t: 'Univariate', d: &quot;Histograms / value_counts — each variable's own distribution and outliers.&quot; },&#10;        { n: '3', t: 'Bivariate', d: 'Scatter plots / grouped aggregates — how do features relate to the target?' },&#10;        { n: '4', t: 'Anomalies', d: 'Extreme values, missingness patterns — data-entry errors or real phenomena?' },&#10;        { n: '5', t: 'Hypotheses', d: 'Write them down — which features might have predictive power? What transforms are needed?' },&#10;      ].map((s, i) =&gt; (&#10;        &lt;Box key={i} style={{ flexDirection: 'row', gap: 14, alignItems: 'flex-start', background: '#F7F9FC', border: '1px solid #E5E7EB', borderLeft: '4px solid ' + ['#3D7BD9', '#1E4FA8', '#1E4FA8', '#3D7BD9', '#0E3F8C'][i], borderRadius: 10, padding: '12px 16px' }}&gt;&#10;          &lt;Box style={{ width: 30, height: 30, borderRadius: 9, background: '#E8EFF8', justifyContent: 'center', alignItems: 'center', flexShrink: 0 }}&gt;&#10;            &lt;Text style={{ fontSize: 15, color: '#1E4FA8', fontWeight: 'bold' }}&gt;{s.n}&lt;/Text&gt;&#10;          &lt;/Box&gt;&#10;          &lt;Box style={{ flex: 1 }}&gt;&#10;            &lt;Text style={{ fontSize: 17.5, color: '#1A2230', fontWeight: 'bold' }}&gt;{s.t}&lt;/Text&gt;&#10;            &lt;Text style={{ fontSize: 14.5, color: '#4A5568', lineHeight: 1.5, marginTop: 2 }}&gt;{s.d}&lt;/Text&gt;&#10;          &lt;/Box&gt;&#10;        &lt;/Box&gt;&#10;      ))}&#10;    &lt;/Box&gt;&#10;    &lt;Box style={{ width: 360, gap: 14, justifyContent: 'center', flexShrink: 0 }}&gt;&#10;      &lt;Box style={{ background: '#F0F5FC', border: '1px solid #D6DCE5', borderRadius: 14, padding: '22px 24px' }}&gt;&#10;        &lt;Text style={{ fontSize: 20, color: '#0E3F8C', fontWeight: 'bold' }}&gt;EDA is reconnaissance&lt;/Text&gt;&#10;        &lt;Text style={{ fontSize: 15, color: '#4A5568', lineHeight: 1.65, marginTop: 10 }}&gt;&#10;          Training a model without EDA means &lt;span style={{ fontWeight: 'bold', color: '#0E3F8C' }}&gt;fighting blind&lt;/span&gt;:&#10;          you won't know if the data is poisoned, whether features need transforms, or whether your evaluation can be trusted.&#10;        &lt;/Text&gt;&#10;      &lt;/Box&gt;&#10;      &lt;Box style={{ background: '#1A2230', borderRadius: 14, padding: '20px 24px' }}&gt;&#10;        &lt;Text style={{ fontSize: 14, color: '#8B97A8', marginBottom: 8 }}&gt;# overview in three lines&lt;/Text&gt;&#10;        &lt;Text style={{ fontSize: 15, color: '#A8D8B9', lineHeight: 1.85, fontFamily: 'Consolas, Menlo, monospace' }}&gt;&#10;          df.shape{'\n'}&#10;          df.info(){'\n'}&#10;          df.describe()&#10;        &lt;/Text&gt;&#10;      &lt;/Box&gt;&#10;      &lt;Box style={{ borderLeft: '4px solid #0E3F8C', paddingLeft: 14 }}&gt;&#10;        &lt;Text style={{ fontSize: 15, color: '#1A2230', lineHeight: 1.6 }}&gt;&#10;          Iron rule: &lt;span style={{ fontWeight: 'bold', color: '#0E3F8C' }}&gt;write every finding into the notebook&lt;/span&gt; — your future self (and your teammates) will thank you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419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5-Step EDA Routine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838200" y="15525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838200" y="15525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990600" y="16668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095375" y="1724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1409700" y="166687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Overview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1409700" y="18859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shape / info / describe — how many rows and columns? What types? Any missing values?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838200" y="236220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838200" y="236220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2" name=""/>
          <p:cNvSpPr/>
          <p:nvPr/>
        </p:nvSpPr>
        <p:spPr>
          <a:xfrm rot="0" flipH="0" flipV="0">
            <a:off x="990600" y="247650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095375" y="25336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409700" y="2476500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Univariate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1409700" y="269557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Histograms / value_counts — each variable's own distribution and outliers.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838200" y="317182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7" name=""/>
          <p:cNvSpPr/>
          <p:nvPr/>
        </p:nvSpPr>
        <p:spPr>
          <a:xfrm rot="0" flipH="0" flipV="0">
            <a:off x="838200" y="317182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8" name=""/>
          <p:cNvSpPr/>
          <p:nvPr/>
        </p:nvSpPr>
        <p:spPr>
          <a:xfrm rot="0" flipH="0" flipV="0">
            <a:off x="990600" y="328612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095375" y="33432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1409700" y="328612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Bivariate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1409700" y="350520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Scatter plots / grouped aggregates — how do features relate to the target?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838200" y="3981450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3" name=""/>
          <p:cNvSpPr/>
          <p:nvPr/>
        </p:nvSpPr>
        <p:spPr>
          <a:xfrm rot="0" flipH="0" flipV="0">
            <a:off x="838200" y="3981450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64" name=""/>
          <p:cNvSpPr/>
          <p:nvPr/>
        </p:nvSpPr>
        <p:spPr>
          <a:xfrm rot="0" flipH="0" flipV="0">
            <a:off x="990600" y="4095750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095375" y="41529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409700" y="4095750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Anomalies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1409700" y="4314825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Extreme values, missingness patterns — data-entry errors or real phenomena?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838200" y="4791075"/>
            <a:ext cx="6896100" cy="704850"/>
          </a:xfrm>
          <a:prstGeom prst="roundRect">
            <a:avLst>
              <a:gd name="adj" fmla="val 1351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69" name=""/>
          <p:cNvSpPr/>
          <p:nvPr/>
        </p:nvSpPr>
        <p:spPr>
          <a:xfrm rot="0" flipH="0" flipV="0">
            <a:off x="838200" y="4791075"/>
            <a:ext cx="6896100" cy="704850"/>
          </a:xfrm>
          <a:custGeom>
            <a:pathLst>
              <a:path w="724" h="7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8"/>
                </a:lnTo>
                <a:cubicBezTo>
                  <a:pt x="4" y="71"/>
                  <a:pt x="6" y="73"/>
                  <a:pt x="9" y="74"/>
                </a:cubicBezTo>
                <a:cubicBezTo>
                  <a:pt x="4" y="73"/>
                  <a:pt x="0" y="69"/>
                  <a:pt x="0" y="6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990600" y="4905375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095375" y="49625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409700" y="4905375"/>
            <a:ext cx="6134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Inter"/>
                <a:ea typeface="Inter"/>
              </a:rPr>
              <a:t>Hypotheses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1409700" y="5124450"/>
            <a:ext cx="6134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Write them down — which features might have predictive power? What transforms are needed?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7962900" y="1257300"/>
            <a:ext cx="3429000" cy="1876425"/>
          </a:xfrm>
          <a:prstGeom prst="roundRect">
            <a:avLst>
              <a:gd name="adj" fmla="val 7107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191500" y="1466850"/>
            <a:ext cx="2971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Inter"/>
                <a:ea typeface="Inter"/>
              </a:rPr>
              <a:t>EDA is reconnaissance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8191500" y="1790700"/>
            <a:ext cx="29718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Training a model without EDA means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fighting blind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: you won't know if the data is poisoned, whether features need transforms, or whether your evaluation can be trusted.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962900" y="3267075"/>
            <a:ext cx="3429000" cy="1571625"/>
          </a:xfrm>
          <a:prstGeom prst="roundRect">
            <a:avLst>
              <a:gd name="adj" fmla="val 8485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191500" y="3457575"/>
            <a:ext cx="2971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overview in three lines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8191500" y="3695700"/>
            <a:ext cx="2971800" cy="952500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df.shape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df.info()</a:t>
            </a:r>
            <a:endParaRPr/>
          </a:p>
          <a:p>
            <a:pPr>
              <a:lnSpc>
                <a:spcPct val="185000"/>
              </a:lnSpc>
            </a:pPr>
            <a:r>
              <a:rPr lang="en-US" sz="1125">
                <a:solidFill>
                  <a:srgbClr val="A8D8B9"/>
                </a:solidFill>
                <a:latin typeface="Consolas"/>
                <a:ea typeface="Consolas"/>
              </a:rPr>
              <a:t>df.describe()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7962900" y="4972050"/>
            <a:ext cx="3467100" cy="828675"/>
          </a:xfrm>
          <a:custGeom>
            <a:pathLst>
              <a:path w="364" h="87">
                <a:moveTo>
                  <a:pt x="0" y="0"/>
                </a:moveTo>
                <a:lnTo>
                  <a:pt x="4" y="0"/>
                </a:lnTo>
                <a:lnTo>
                  <a:pt x="4" y="87"/>
                </a:lnTo>
                <a:lnTo>
                  <a:pt x="0" y="8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134350" y="4972050"/>
            <a:ext cx="32575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Iron rule: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write every finding into the notebook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— your future self (and your teammates) will thank you.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16 / 32</a:t>
            </a:r>
            <a:endParaRPr/>
          </a:p>
        </p:txBody>
      </p:sp>
    </p:spTree>
  </p:cSld>
</p:sld>
</file>

<file path=ppt/slides/slide17.xml><?xml version="1.0" encoding="utf-8"?>
<p:sld xmlns:a="http://schemas.openxmlformats.org/drawingml/2006/main" xmlns:p="http://schemas.openxmlformats.org/presentationml/2006/main">
  <p:cSld>
    <p:spTree>
      <p:nvGrpSpPr>
        <p:cNvPr id="284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EDA Walkthrough: Titanic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4, flex: 1 }}&gt;&#10;      {[&#10;        {&#10;          n: '1', t: 'Overview', d: 'df.shape → (891, 12)', f: 'Found: age missing 177, cabin missing 687, embarked missing 2.', c: '#3D7BD9',&#10;        },&#10;        {&#10;          n: '2', t: 'Univariate', d: 'df[&quot;age&quot;].plot.hist()', f: 'Found: age is right-skewed, clustered at 20–40; fare has a heavy tail (max 512).', c: '#1E4FA8',&#10;        },&#10;        {&#10;          n: '3', t: 'Bivariate', d: 'df.groupby(&quot;sex&quot;)[&quot;survived&quot;].mean()', f: 'Found: female survival 74% vs male 19% — sex is a strong feature.', c: '#0E3F8C',&#10;        },&#10;        {&#10;          n: '4', t: 'Anomalies', d: 'df[&quot;fare&quot;].describe()', f: 'Found: 15 tickets with fare 0 — staff tickets or data-entry errors?', c: '#1E4FA8',&#10;        },&#10;        {&#10;          n: '5', t: 'Hypotheses', d: 'Write in the notebook', f: 'Hypothesis: sex + class + age predict survival; cabin is too sparse — consider dropping it.', c: '#3D7BD9',&#10;        },&#10;      ].map((s, i) =&gt; (&#10;        &lt;Box key={i} style={{ flex: 1, background: '#F7F9FC', border: '1px solid #E5E7EB', borderTop: '4px solid ' + s.c, borderRadius: 12, padding: '14px 14px', justifyContent: 'space-between' }}&gt;&#10;          &lt;Box&gt;&#10;            &lt;Box style={{ width: 30, height: 30, borderRadius: 9, background: s.c, justifyContent: 'center', alignItems: 'center' }}&gt;&#10;              &lt;Text style={{ fontSize: 15, color: '#FFFFFF', fontWeight: 'bold' }}&gt;{s.n}&lt;/Text&gt;&#10;            &lt;/Box&gt;&#10;            &lt;Text style={{ fontSize: 18, color: '#1A2230', fontWeight: 'bold', marginTop: 8 }}&gt;{s.t}&lt;/Text&gt;&#10;            &lt;Text style={{ fontSize: 12.5, color: '#1E4FA8', fontFamily: 'Consolas, Menlo, monospace', marginTop: 3 }}&gt;{s.d}&lt;/Text&gt;&#10;          &lt;/Box&gt;&#10;          &lt;Box style={{ background: '#F0F5FC', borderRadius: 8, padding: '9px 11px' }}&gt;&#10;            &lt;Text style={{ fontSize: 13, color: '#4A5568', lineHeight: 1.5 }}&gt;{s.f}&lt;/Text&gt;&#10;          &lt;/Box&gt;&#10;        &lt;/Box&gt;&#10;      ))}&#10;    &lt;/Box&gt;&#10;    &lt;Box style={{ flexDirection: 'row', gap: 14, marginTop: 14, alignItems: 'stretch' }}&gt;&#10;      &lt;Box style={{ flex: 1, background: '#F0F5FC', border: '1px solid #D6DCE5', borderRadius: 10, padding: '13px 20px' }}&gt;&#10;        &lt;Text style={{ fontSize: 15.5, color: '#1A2230', lineHeight: 1.6 }}&gt;&#10;          &lt;span style={{ fontWeight: 'bold', color: '#0E3F8C' }}&gt;One dataset, five steps, actionable insights&lt;/span&gt; — that is the value of EDA: the feature list takes shape before any modeling.&#10;        &lt;/Text&gt;&#10;      &lt;/Box&gt;&#10;      &lt;Box style={{ width: 380, borderLeft: '4px solid #0E3F8C', paddingLeft: 14, justifyContent: 'center' }}&gt;&#10;        &lt;Text style={{ fontSize: 14.5, color: '#1A2230', lineHeight: 1.55 }}&gt;&#10;          Today&amp;apos;s Lab follows exactly these five steps. &lt;span style={{ fontWeight: 'bold', color: '#0E3F8C' }}&gt;Your findings do not have to match&lt;/span&gt; — same data, different angl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5812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EDA Walkthrough: Titanic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800100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0" name=""/>
          <p:cNvSpPr/>
          <p:nvPr/>
        </p:nvSpPr>
        <p:spPr>
          <a:xfrm rot="0" flipH="0" flipV="0">
            <a:off x="800100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1" name=""/>
          <p:cNvSpPr/>
          <p:nvPr/>
        </p:nvSpPr>
        <p:spPr>
          <a:xfrm rot="0" flipH="0" flipV="0">
            <a:off x="933450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1038225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933450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Overview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933450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df.shape → (891, 12)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933450" y="3338062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038225" y="3423787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age missing 177, cabin missing 687, embarked missing 2.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2943225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2943225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9" name=""/>
          <p:cNvSpPr/>
          <p:nvPr/>
        </p:nvSpPr>
        <p:spPr>
          <a:xfrm rot="0" flipH="0" flipV="0">
            <a:off x="3076575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181350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3076575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Univariate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3076575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df["age"].plot.hist()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076575" y="3338062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181350" y="3423787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age is right-skewed, clustered at 20–40; fare has a heavy tail (max 512).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5086350" y="1883813"/>
            <a:ext cx="2019300" cy="2481974"/>
          </a:xfrm>
          <a:prstGeom prst="roundRect">
            <a:avLst>
              <a:gd name="adj" fmla="val 5660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5086350" y="1883813"/>
            <a:ext cx="2019300" cy="2481974"/>
          </a:xfrm>
          <a:custGeom>
            <a:pathLst>
              <a:path w="212" h="412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7" name=""/>
          <p:cNvSpPr/>
          <p:nvPr/>
        </p:nvSpPr>
        <p:spPr>
          <a:xfrm rot="0" flipH="0" flipV="0">
            <a:off x="5219700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5324475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5219700" y="2379113"/>
            <a:ext cx="1752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Bivariate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219700" y="2617238"/>
            <a:ext cx="17526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df.groupby("sex")["survived"].mean()</a:t>
            </a:r>
            <a:endParaRPr/>
          </a:p>
        </p:txBody>
      </p:sp>
      <p:sp>
        <p:nvSpPr>
          <p:cNvPr id="311" name=""/>
          <p:cNvSpPr/>
          <p:nvPr/>
        </p:nvSpPr>
        <p:spPr>
          <a:xfrm rot="0" flipH="0" flipV="0">
            <a:off x="5219700" y="3338062"/>
            <a:ext cx="1752600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324475" y="3423787"/>
            <a:ext cx="1543050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female survival 74% vs male 19% — sex is a strong feature.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7239000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4" name=""/>
          <p:cNvSpPr/>
          <p:nvPr/>
        </p:nvSpPr>
        <p:spPr>
          <a:xfrm rot="0" flipH="0" flipV="0">
            <a:off x="7239000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5" name=""/>
          <p:cNvSpPr/>
          <p:nvPr/>
        </p:nvSpPr>
        <p:spPr>
          <a:xfrm rot="0" flipH="0" flipV="0">
            <a:off x="7372350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477125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372350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Anomalies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372350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df["fare"].describe()</a:t>
            </a:r>
            <a:endParaRPr/>
          </a:p>
        </p:txBody>
      </p:sp>
      <p:sp>
        <p:nvSpPr>
          <p:cNvPr id="319" name=""/>
          <p:cNvSpPr/>
          <p:nvPr/>
        </p:nvSpPr>
        <p:spPr>
          <a:xfrm rot="0" flipH="0" flipV="0">
            <a:off x="7372350" y="3338062"/>
            <a:ext cx="1743075" cy="847725"/>
          </a:xfrm>
          <a:prstGeom prst="roundRect">
            <a:avLst>
              <a:gd name="adj" fmla="val 898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7477125" y="3423787"/>
            <a:ext cx="1533525" cy="676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Found: 15 tickets with fare 0 — staff tickets or data-entry errors?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9382125" y="1883813"/>
            <a:ext cx="2009775" cy="2481974"/>
          </a:xfrm>
          <a:prstGeom prst="roundRect">
            <a:avLst>
              <a:gd name="adj" fmla="val 5687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9382125" y="1883813"/>
            <a:ext cx="2009775" cy="2481974"/>
          </a:xfrm>
          <a:custGeom>
            <a:pathLst>
              <a:path w="211" h="412">
                <a:moveTo>
                  <a:pt x="200" y="0"/>
                </a:moveTo>
                <a:cubicBezTo>
                  <a:pt x="205" y="0"/>
                  <a:pt x="210" y="4"/>
                  <a:pt x="211" y="10"/>
                </a:cubicBezTo>
                <a:cubicBezTo>
                  <a:pt x="210" y="6"/>
                  <a:pt x="207" y="4"/>
                  <a:pt x="203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99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3" name=""/>
          <p:cNvSpPr/>
          <p:nvPr/>
        </p:nvSpPr>
        <p:spPr>
          <a:xfrm rot="0" flipH="0" flipV="0">
            <a:off x="9515475" y="2017163"/>
            <a:ext cx="285750" cy="285750"/>
          </a:xfrm>
          <a:prstGeom prst="roundRect">
            <a:avLst>
              <a:gd name="adj" fmla="val 3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9620250" y="2074313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9515475" y="2379113"/>
            <a:ext cx="1743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Hypotheses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9515475" y="2617238"/>
            <a:ext cx="1743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Write in the notebook</a:t>
            </a:r>
            <a:endParaRPr/>
          </a:p>
        </p:txBody>
      </p:sp>
      <p:sp>
        <p:nvSpPr>
          <p:cNvPr id="327" name=""/>
          <p:cNvSpPr/>
          <p:nvPr/>
        </p:nvSpPr>
        <p:spPr>
          <a:xfrm rot="0" flipH="0" flipV="0">
            <a:off x="9515475" y="3118988"/>
            <a:ext cx="1743075" cy="1066800"/>
          </a:xfrm>
          <a:prstGeom prst="roundRect">
            <a:avLst>
              <a:gd name="adj" fmla="val 71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9620250" y="3204713"/>
            <a:ext cx="1533525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Hypothesis: sex + class + age predict survival; cabin is too sparse — consider dropping it.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800100" y="4461037"/>
            <a:ext cx="68389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990600" y="4584862"/>
            <a:ext cx="64579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63" b="1">
                <a:solidFill>
                  <a:srgbClr val="0E3F8C"/>
                </a:solidFill>
                <a:latin typeface="Inter"/>
                <a:ea typeface="Inter"/>
              </a:rPr>
              <a:t>One dataset, five steps, actionable insights</a:t>
            </a:r>
            <a:r>
              <a:rPr lang="en-US" sz="1163">
                <a:solidFill>
                  <a:srgbClr val="1A2230"/>
                </a:solidFill>
                <a:latin typeface="Inter"/>
                <a:ea typeface="Inter"/>
              </a:rPr>
              <a:t> — that is the value of EDA: the feature list takes shape before any modeling.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7772400" y="4461037"/>
            <a:ext cx="3619500" cy="819150"/>
          </a:xfrm>
          <a:custGeom>
            <a:pathLst>
              <a:path w="380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7943850" y="4489612"/>
            <a:ext cx="344805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Today's Lab follows exactly these five steps.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Your findings do not have to match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— same data, different angles.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17 / 32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335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4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4&lt;/Text&gt;&#10;      &lt;/Box&gt;&#10;      &lt;Box style={{ paddingTop: 6 }}&gt;&#10;        &lt;Text style={{ fontSize: 44, color: '#1A2230', fontWeight: 'bold' }}&gt;Data Cleaning&lt;/Text&gt;&#10;        &lt;Text style={{ fontSize: 26, color: '#8B97A8', fontWeight: '600', marginTop: 6 }}&gt;From Raw to Usable&lt;/Text&gt;&#10;      &lt;/Box&gt;&#10;    &lt;/Box&gt;&#10;    &lt;Box style={{ flexDirection: 'row', gap: 24 }}&gt;&#10;      {[&#10;        { t: '6-Step Workflow', e: 'A repeatable procedure' },&#10;        { t: 'Document Everything', e: 'Every step, a reason' },&#10;        { t: 'Garbage In, Garbage Out', e: 'The governing principle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7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28003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Data Cleaning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28003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From Raw to Usable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4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6-Step Workflow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A repeatable procedure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8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Document Everything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Every step, a reason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2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Garbage In, Garbage Out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The governing principle</a:t>
            </a:r>
            <a:endParaRPr/>
          </a:p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e 6-Step Cleaning Workflow&lt;/Text&gt;&#10;    &lt;Text style={{ fontSize: 15, color: 'rgba(255,255,255,0.85)' }}&gt;Module 1 · Week 2&lt;/Text&gt;&#10;  &lt;/Box&gt;&#10;  &lt;Box style={{ position: 'absolute', top: 100, left: 0, width: '100%', height: 540, padding: '18px 84px', flexDirection: 'column', justifyContent: 'center' }}&gt;&#10;    &lt;Box style={{ flexDirection: 'row', gap: 12, alignItems: 'stretch' }}&gt;&#10;      {[&#10;        { n: '1', t: 'Audit', d: 'whitespace / case / unit chaos' },&#10;        { n: '2', t: 'Missing', d: 'drop / impute / flag' },&#10;        { n: '3', t: 'Outliers', d: 'IQR rule / domain rules' },&#10;        { n: '4', t: 'Duplicates', d: 'duplicated → drop' },&#10;        { n: '5', t: 'Types', d: 'dates / categories / numbers' },&#10;        { n: '6', t: 'Validate', d: 're-run EDA to verify' },&#10;      ].map((s, i) =&gt; (&#10;        &lt;Box key={i} style={{ flex: 1, position: 'relative' }}&gt;&#10;          &lt;Box style={{ background: i &lt; 2 ? '#F0F5FC' : i &lt; 4 ? '#E8EFF8' : '#F0F5FC', border: '1px solid #D6DCE5', borderTop: '4px solid #1E4FA8', borderRadius: 12, padding: '16px 14px', height: 210, justifyContent: 'space-between' }}&gt;&#10;            &lt;Box style={{ width: 40, height: 40, borderRadius: 10, background: '#1E4FA8', justifyContent: 'center', alignItems: 'center' }}&gt;&#10;              &lt;Text style={{ fontSize: 19, color: '#FFFFFF', fontWeight: 'bold' }}&gt;{s.n}&lt;/Text&gt;&#10;            &lt;/Box&gt;&#10;            &lt;Box&gt;&#10;              &lt;Text style={{ fontSize: 20, color: '#1A2230', fontWeight: 'bold' }}&gt;{s.t}&lt;/Text&gt;&#10;              &lt;Text style={{ fontSize: 13.5, color: '#4A5568', marginTop: 6 }}&gt;{s.d}&lt;/Text&gt;&#10;            &lt;/Box&gt;&#10;          &lt;/Box&gt;&#10;          {i &lt; 5 &amp;&amp; (&#10;            &lt;Box style={{ position: 'absolute', right: -14, top: 90, zIndex: 2 }}&gt;&#10;              &lt;FAIcon name='arrow-right' style={{ fill: '#3D7BD9', width: 20, height: 20 }} /&gt;&#10;            &lt;/Box&gt;&#10;          )}&#10;        &lt;/Box&gt;&#10;      ))}&#10;    &lt;/Box&gt;&#10;    &lt;Box style={{ flexDirection: 'row', gap: 12, marginTop: 22, alignItems: 'center' }}&gt;&#10;      &lt;Box style={{ width: 200, background: '#0E3F8C', borderRadius: 10, padding: '12px 18px', flexShrink: 0 }}&gt;&#10;        &lt;Text style={{ fontSize: 15, color: '#FFFFFF', fontWeight: 'bold' }}&gt;Lab 2 does exactly this&lt;/Text&gt;&#10;      &lt;/Box&gt;&#10;      &lt;Text style={{ fontSize: 16, color: '#1A2230', lineHeight: 1.6, flex: 1 }}&gt;&#10;        Missing ages, outlier fares, duplicate rows in the Titanic data — you will handle all of them by hand in today's lab.&#10;        &lt;span style={{ fontWeight: 'bold', color: '#0E3F8C' }}&gt;Add a Markdown note for every step&lt;/span&gt; explaining &quot;what you did and why&quot;.&#10;        Every cleaning step needs a documented reason.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1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0194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The 6-Step Cleaning Workflow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360" name=""/>
          <p:cNvSpPr/>
          <p:nvPr/>
        </p:nvSpPr>
        <p:spPr>
          <a:xfrm rot="0" flipH="0" flipV="0">
            <a:off x="800100" y="3910724"/>
            <a:ext cx="1905000" cy="5715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971550" y="4025024"/>
            <a:ext cx="156210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Lab 2 does exactly this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2819400" y="3901199"/>
            <a:ext cx="8572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Missing ages, outlier fares, duplicate rows in the Titanic data — you will handle all of them by hand in today's lab.</a:t>
            </a: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Add a Markdown note for every step</a:t>
            </a:r>
            <a:r>
              <a:rPr lang="en-US" sz="1200">
                <a:solidFill>
                  <a:srgbClr val="1A2230"/>
                </a:solidFill>
                <a:latin typeface="Inter"/>
                <a:ea typeface="Inter"/>
              </a:rPr>
              <a:t> explaining "what you did and why". Every cleaning step needs a documented reason.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800100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64" name=""/>
          <p:cNvSpPr/>
          <p:nvPr/>
        </p:nvSpPr>
        <p:spPr>
          <a:xfrm rot="0" flipH="0" flipV="0">
            <a:off x="800100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93345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076325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933450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Audit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933450" y="3197325"/>
            <a:ext cx="1400175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whitespace / case / unit chaos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2581275" y="2162175"/>
            <a:ext cx="1676400" cy="1529474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70" name=""/>
          <p:cNvSpPr/>
          <p:nvPr/>
        </p:nvSpPr>
        <p:spPr>
          <a:xfrm rot="0" flipH="0" flipV="0">
            <a:off x="2581275" y="2162175"/>
            <a:ext cx="1676400" cy="1529474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27146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285750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2714625" y="291157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Missing</a:t>
            </a:r>
            <a:endParaRPr/>
          </a:p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2714625" y="3197325"/>
            <a:ext cx="14097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drop / impute / flag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4371975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4371975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/>
          <p:cNvSpPr/>
          <p:nvPr/>
        </p:nvSpPr>
        <p:spPr>
          <a:xfrm rot="0" flipH="0" flipV="0">
            <a:off x="450532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464820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4505325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Outliers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4505325" y="319732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IQR rule / domain rules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153150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82" name=""/>
          <p:cNvSpPr/>
          <p:nvPr/>
        </p:nvSpPr>
        <p:spPr>
          <a:xfrm rot="0" flipH="0" flipV="0">
            <a:off x="6153150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3" name=""/>
          <p:cNvSpPr/>
          <p:nvPr/>
        </p:nvSpPr>
        <p:spPr>
          <a:xfrm rot="0" flipH="0" flipV="0">
            <a:off x="6286500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6429375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286500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Duplicates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6286500" y="319732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duplicated → drop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7934325" y="2162175"/>
            <a:ext cx="1676400" cy="1529474"/>
          </a:xfrm>
          <a:prstGeom prst="roundRect">
            <a:avLst>
              <a:gd name="adj" fmla="val 681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88" name=""/>
          <p:cNvSpPr/>
          <p:nvPr/>
        </p:nvSpPr>
        <p:spPr>
          <a:xfrm rot="0" flipH="0" flipV="0">
            <a:off x="7934325" y="2162175"/>
            <a:ext cx="1676400" cy="1529474"/>
          </a:xfrm>
          <a:custGeom>
            <a:pathLst>
              <a:path w="176" h="206">
                <a:moveTo>
                  <a:pt x="165" y="0"/>
                </a:moveTo>
                <a:cubicBezTo>
                  <a:pt x="170" y="0"/>
                  <a:pt x="175" y="4"/>
                  <a:pt x="176" y="10"/>
                </a:cubicBezTo>
                <a:cubicBezTo>
                  <a:pt x="175" y="6"/>
                  <a:pt x="172" y="4"/>
                  <a:pt x="168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4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9" name=""/>
          <p:cNvSpPr/>
          <p:nvPr/>
        </p:nvSpPr>
        <p:spPr>
          <a:xfrm rot="0" flipH="0" flipV="0">
            <a:off x="80676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821055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8067675" y="2911575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Types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8067675" y="3197325"/>
            <a:ext cx="1409700" cy="314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dates / categories / numbers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9725025" y="2162175"/>
            <a:ext cx="1666875" cy="1529474"/>
          </a:xfrm>
          <a:prstGeom prst="roundRect">
            <a:avLst>
              <a:gd name="adj" fmla="val 685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94" name=""/>
          <p:cNvSpPr/>
          <p:nvPr/>
        </p:nvSpPr>
        <p:spPr>
          <a:xfrm rot="0" flipH="0" flipV="0">
            <a:off x="9725025" y="2162175"/>
            <a:ext cx="1666875" cy="1529474"/>
          </a:xfrm>
          <a:custGeom>
            <a:pathLst>
              <a:path w="175" h="206">
                <a:moveTo>
                  <a:pt x="164" y="0"/>
                </a:moveTo>
                <a:cubicBezTo>
                  <a:pt x="169" y="0"/>
                  <a:pt x="174" y="4"/>
                  <a:pt x="175" y="10"/>
                </a:cubicBezTo>
                <a:cubicBezTo>
                  <a:pt x="174" y="6"/>
                  <a:pt x="171" y="4"/>
                  <a:pt x="167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163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9858375" y="2314575"/>
            <a:ext cx="381000" cy="381000"/>
          </a:xfrm>
          <a:prstGeom prst="roundRect">
            <a:avLst>
              <a:gd name="adj" fmla="val 25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10001250" y="2400300"/>
            <a:ext cx="104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Inter"/>
                <a:ea typeface="Inter"/>
              </a:rPr>
              <a:t>6</a:t>
            </a:r>
            <a:endParaRPr/>
          </a:p>
        </p:txBody>
      </p:sp>
      <p:sp>
        <p:nvSpPr>
          <p:cNvPr id="397" name="" descr="{&quot;isTemplate&quot;:true,&quot;type&quot;:&quot;text&quot;}"/>
          <p:cNvSpPr txBox="1"/>
          <p:nvPr/>
        </p:nvSpPr>
        <p:spPr>
          <a:xfrm rot="0" flipH="0" flipV="0">
            <a:off x="9858375" y="2911575"/>
            <a:ext cx="1400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2230"/>
                </a:solidFill>
                <a:latin typeface="Inter"/>
                <a:ea typeface="Inter"/>
              </a:rPr>
              <a:t>Validate</a:t>
            </a:r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9858375" y="3197325"/>
            <a:ext cx="1400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re-run EDA to verify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19 / 32</a:t>
            </a:r>
            <a:endParaRPr/>
          </a:p>
        </p:txBody>
      </p:sp>
      <p:pic>
        <p:nvPicPr>
          <p:cNvPr id="4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09825" y="2981325"/>
            <a:ext cx="190500" cy="190500"/>
          </a:xfrm>
          <a:prstGeom prst="rect">
            <a:avLst/>
          </a:prstGeom>
          <a:ln/>
        </p:spPr>
      </p:pic>
      <p:pic>
        <p:nvPicPr>
          <p:cNvPr id="4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00525" y="2981325"/>
            <a:ext cx="190500" cy="190500"/>
          </a:xfrm>
          <a:prstGeom prst="rect">
            <a:avLst/>
          </a:prstGeom>
          <a:ln/>
        </p:spPr>
      </p:pic>
      <p:pic>
        <p:nvPicPr>
          <p:cNvPr id="4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81700" y="2981325"/>
            <a:ext cx="190500" cy="190500"/>
          </a:xfrm>
          <a:prstGeom prst="rect">
            <a:avLst/>
          </a:prstGeom>
          <a:ln/>
        </p:spPr>
      </p:pic>
      <p:pic>
        <p:nvPicPr>
          <p:cNvPr id="4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2981325"/>
            <a:ext cx="190500" cy="190500"/>
          </a:xfrm>
          <a:prstGeom prst="rect">
            <a:avLst/>
          </a:prstGeom>
          <a:ln/>
        </p:spPr>
      </p:pic>
      <p:pic>
        <p:nvPicPr>
          <p:cNvPr id="4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553575" y="2981325"/>
            <a:ext cx="190500" cy="190500"/>
          </a:xfrm>
          <a:prstGeom prst="rect">
            <a:avLst/>
          </a:prstGeom>
          <a:ln/>
        </p:spPr>
      </p:pic>
    </p:spTree>
  </p:cSld>
</p:sld>
</file>

<file path=ppt/slides/slide2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49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Missing Values: A Decision Guide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8 }}&gt;&#10;    &lt;Box style={{ width: 520, flexShrink: 0, justifyContent: 'center' }}&gt;&#10;      &lt;Text style={{ fontSize: 17, color: '#0E3F8C', fontWeight: 'bold', marginBottom: 10 }}&gt;Decision Path&lt;/Text&gt;&#10;      &lt;svg width={520} height={400} viewBox='0 0 520 400'&gt;&#10;        &lt;rect x='150' y='6' width='220' height='40' rx='10' fill='#0E3F8C' /&gt;&#10;        &lt;text x='260' y='32' fill='#FFFFFF' fontSize='16' fontWeight='bold' textAnchor='middle' fontFamily='Inter, sans-serif'&gt;What fraction is missing?&lt;/text&gt;&#10;        &lt;path d='M 180 46 L 100 84' stroke='#1E4FA8' strokeWidth='2.5' fill='none' /&gt;&#10;        &lt;path d='M 260 46 L 260 84' stroke='#1E4FA8' strokeWidth='2.5' fill='none' /&gt;&#10;        &lt;path d='M 340 46 L 420 84' stroke='#1E4FA8' strokeWidth='2.5' fill='none' /&gt;&#10;        &lt;rect x='16' y='86' width='168' height='72' rx='10' fill='#F0F5FC' stroke='#3D7BD9' strokeWidth='2' /&gt;&#10;        &lt;text x='100' y='112' fill='#3D7BD9' fontSize='14' fontWeight='bold' textAnchor='middle' fontFamily='Inter, sans-serif'&gt;&amp;lt; 5%&lt;/text&gt;&#10;        &lt;text x='100' y='134' fill='#4A5568' fontSize='13' textAnchor='middle' fontFamily='Inter, sans-serif'&gt;dropna() drop rows&lt;/text&gt;&#10;        &lt;text x='100' y='150' fill='#8B97A8' fontSize='11.5' textAnchor='middle' fontFamily='Inter, sans-serif'&gt;Negligible loss&lt;/text&gt;&#10;        &lt;rect x='176' y='86' width='168' height='72' rx='10' fill='#E8EFF8' stroke='#1E4FA8' strokeWidth='2' /&gt;&#10;        &lt;text x='260' y='112' fill='#1E4FA8' fontSize='14' fontWeight='bold' textAnchor='middle' fontFamily='Inter, sans-serif'&gt;5% – 30%&lt;/text&gt;&#10;        &lt;text x='260' y='134' fill='#4A5568' fontSize='13' textAnchor='middle' fontFamily='Inter, sans-serif'&gt;fillna() impute&lt;/text&gt;&#10;        &lt;text x='260' y='150' fill='#8B97A8' fontSize='11.5' textAnchor='middle' fontFamily='Inter, sans-serif'&gt;Pick strategy at right&lt;/text&gt;&#10;        &lt;rect x='336' y='86' width='168' height='72' rx='10' fill='#F7F9FC' stroke='#8B97A8' strokeWidth='2' /&gt;&#10;        &lt;text x='420' y='112' fill='#4A5568' fontSize='14' fontWeight='bold' textAnchor='middle' fontFamily='Inter, sans-serif'&gt;&amp;gt; 30%&lt;/text&gt;&#10;        &lt;text x='420' y='134' fill='#4A5568' fontSize='13' textAnchor='middle' fontFamily='Inter, sans-serif'&gt;Drop column / flag only&lt;/text&gt;&#10;        &lt;text x='420' y='150' fill='#8B97A8' fontSize='11.5' textAnchor='middle' fontFamily='Inter, sans-serif'&gt;E.g. Titanic cabin&lt;/text&gt;&#10;        &lt;path d='M 260 158 L 260 186' stroke='#1E4FA8' strokeWidth='2.5' fill='none' /&gt;&#10;        &lt;path d='M 253 179 L 260 190 L 267 179' stroke='#1E4FA8' strokeWidth='2.5' fill='none' /&gt;&#10;        &lt;rect x='110' y='192' width='300' height='56' rx='10' fill='#0E3F8C' /&gt;&#10;        &lt;text x='260' y='215' fill='#FFFFFF' fontSize='14.5' fontWeight='bold' textAnchor='middle' fontFamily='Inter, sans-serif'&gt;First ask: why is it missing?&lt;/text&gt;&#10;        &lt;text x='260' y='236' fill='rgba(255,255,255,0.85)' fontSize='12' textAnchor='middle' fontFamily='Inter, sans-serif'&gt;Random → imputation works; systematic → imputation adds bias&lt;/text&gt;&#10;        &lt;path d='M 260 248 L 260 276' stroke='#1E4FA8' strokeWidth='2.5' fill='none' /&gt;&#10;        &lt;rect x='40' y='278' width='440' height='104' rx='12' fill='#F0F5FC' stroke='#D6DCE5' strokeWidth='1.5' /&gt;&#10;        &lt;text x='64' y='306' fill='#0E3F8C' fontSize='14' fontWeight='bold' fontFamily='Inter, sans-serif'&gt;Iron rule: document every fix&lt;/text&gt;&#10;        &lt;text x='64' y='330' fill='#4A5568' fontSize='13' fontFamily='Inter, sans-serif'&gt;Write in a notebook Markdown cell: how many, why this method, which rows affected&lt;/text&gt;&#10;        &lt;text x='64' y='354' fill='#8B97A8' fontSize='12' fontFamily='Inter, sans-serif'&gt;df[&amp;apos;age&amp;apos;].isna().sum() → 177 → fillna(median) → log it&lt;/text&gt;&#10;      &lt;/svg&gt;&#10;    &lt;/Box&gt;&#10;    &lt;Box style={{ flex: 1, gap: 12, justifyContent: 'center' }}&gt;&#10;      &lt;Text style={{ fontSize: 17, color: '#0E3F8C', fontWeight: 'bold' }}&gt;Imputation&lt;/Text&gt;&#10;      {[&#10;        { t: 'Numeric · approx. normal', c: 'mean', d: 'E.g. temperature, exam scores', i: 'chart-line' },&#10;        { t: 'Numeric · skewed / with outliers', c: 'median', d: 'E.g. income, fare (Titanic age)', i: 'chart-area' },&#10;        { t: 'Categorical', c: 'mode or &quot;Unknown&quot;', d: 'E.g. embarked, 2 missing → mode', i: 'tags' },&#10;        { t: 'Time series', c: 'forward / backward fill', d: 'Fill a sensor gap with the last reading', i: 'clock' },&#10;      ].map((r, i) =&gt; (&#10;        &lt;Box key={i} style={{ flexDirection: 'row', gap: 12, alignItems: 'center', background: '#F7F9FC', border: '1px solid #E5E7EB', borderRadius: 10, padding: '11px 16px' }}&gt;&#10;          &lt;Box style={{ width: 36, height: 36, borderRadius: 9, background: '#E8EFF8', justifyContent: 'center', alignItems: 'center', flexShrink: 0 }}&gt;&#10;            &lt;FAIcon name={r.i} style={{ fill: '#1E4FA8', width: 17, height: 17 }} /&gt;&#10;          &lt;/Box&gt;&#10;          &lt;Box style={{ flex: 1 }}&gt;&#10;            &lt;Text style={{ fontSize: 15, color: '#1A2230', fontWeight: 'bold' }}&gt;{r.t}&lt;/Text&gt;&#10;            &lt;Text style={{ fontSize: 13, color: '#4A5568', marginTop: 1 }}&gt;{r.d}&lt;/Text&gt;&#10;          &lt;/Box&gt;&#10;          &lt;Box style={{ background: '#F0F5FC', borderRadius: 8, padding: '5px 12px' }}&gt;&#10;            &lt;Text style={{ fontSize: 13.5, color: '#0E3F8C', fontWeight: '600', fontFamily: 'Consolas, Menlo, monospace' }}&gt;{r.c}&lt;/Text&gt;&#10;          &lt;/Box&gt;&#10;        &lt;/Box&gt;&#10;      ))}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2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71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Missing Values: A Decision Guide</a:t>
            </a:r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800100" y="1476375"/>
            <a:ext cx="4953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Decision Path</a:t>
            </a:r>
            <a:endParaRPr/>
          </a:p>
        </p:txBody>
      </p:sp>
      <p:pic>
        <p:nvPicPr>
          <p:cNvPr id="4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0100" y="1771650"/>
            <a:ext cx="4953000" cy="3810000"/>
          </a:xfrm>
          <a:prstGeom prst="rect">
            <a:avLst/>
          </a:prstGeom>
          <a:ln/>
        </p:spPr>
      </p:pic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6019800" y="2095500"/>
            <a:ext cx="5372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Imputation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6019800" y="24098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6172200" y="25146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267450" y="2609850"/>
            <a:ext cx="161925" cy="161925"/>
          </a:xfrm>
          <a:prstGeom prst="rect">
            <a:avLst/>
          </a:prstGeom>
          <a:ln/>
        </p:spPr>
      </p:pic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6629400" y="2524125"/>
            <a:ext cx="3952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Numeric · approx. normal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6629400" y="2705100"/>
            <a:ext cx="395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temperature, exam scores</a:t>
            </a:r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10696575" y="2562225"/>
            <a:ext cx="54292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10810875" y="2609850"/>
            <a:ext cx="314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mean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6019800" y="30765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65" name=""/>
          <p:cNvSpPr/>
          <p:nvPr/>
        </p:nvSpPr>
        <p:spPr>
          <a:xfrm rot="0" flipH="0" flipV="0">
            <a:off x="6172200" y="31813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267450" y="3276600"/>
            <a:ext cx="161925" cy="161925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6629400" y="3190875"/>
            <a:ext cx="3800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Numeric · skewed / with outliers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6629400" y="3371850"/>
            <a:ext cx="3800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income, fare (Titanic age)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10544175" y="3228975"/>
            <a:ext cx="69532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10658475" y="3276600"/>
            <a:ext cx="466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median</a:t>
            </a:r>
            <a:endParaRPr/>
          </a:p>
        </p:txBody>
      </p:sp>
      <p:sp>
        <p:nvSpPr>
          <p:cNvPr id="471" name=""/>
          <p:cNvSpPr/>
          <p:nvPr/>
        </p:nvSpPr>
        <p:spPr>
          <a:xfrm rot="0" flipH="0" flipV="0">
            <a:off x="6019800" y="374332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2" name=""/>
          <p:cNvSpPr/>
          <p:nvPr/>
        </p:nvSpPr>
        <p:spPr>
          <a:xfrm rot="0" flipH="0" flipV="0">
            <a:off x="6172200" y="384810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7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6267450" y="3943350"/>
            <a:ext cx="161925" cy="161925"/>
          </a:xfrm>
          <a:prstGeom prst="rect">
            <a:avLst/>
          </a:prstGeom>
          <a:ln/>
        </p:spPr>
      </p:pic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6629400" y="3857625"/>
            <a:ext cx="2943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Categorical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6629400" y="4038600"/>
            <a:ext cx="2943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E.g. embarked, 2 missing → mode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9686925" y="3895725"/>
            <a:ext cx="155257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9801225" y="3943350"/>
            <a:ext cx="1323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mode or "Unknown"</a:t>
            </a:r>
            <a:endParaRPr/>
          </a:p>
        </p:txBody>
      </p:sp>
      <p:sp>
        <p:nvSpPr>
          <p:cNvPr id="478" name=""/>
          <p:cNvSpPr/>
          <p:nvPr/>
        </p:nvSpPr>
        <p:spPr>
          <a:xfrm rot="0" flipH="0" flipV="0">
            <a:off x="6019800" y="4410075"/>
            <a:ext cx="5372100" cy="552450"/>
          </a:xfrm>
          <a:prstGeom prst="roundRect">
            <a:avLst>
              <a:gd name="adj" fmla="val 172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9" name=""/>
          <p:cNvSpPr/>
          <p:nvPr/>
        </p:nvSpPr>
        <p:spPr>
          <a:xfrm rot="0" flipH="0" flipV="0">
            <a:off x="6172200" y="4514850"/>
            <a:ext cx="342900" cy="3429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6267450" y="4610100"/>
            <a:ext cx="161925" cy="161925"/>
          </a:xfrm>
          <a:prstGeom prst="rect">
            <a:avLst/>
          </a:prstGeom>
          <a:ln/>
        </p:spPr>
      </p:pic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629400" y="4524375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A2230"/>
                </a:solidFill>
                <a:latin typeface="Inter"/>
                <a:ea typeface="Inter"/>
              </a:rPr>
              <a:t>Time series</a:t>
            </a:r>
            <a:endParaRPr/>
          </a:p>
        </p:txBody>
      </p:sp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6629400" y="4705350"/>
            <a:ext cx="24860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Fill a sensor gap with the last reading</a:t>
            </a:r>
            <a:endParaRPr/>
          </a:p>
        </p:txBody>
      </p:sp>
      <p:sp>
        <p:nvSpPr>
          <p:cNvPr id="483" name=""/>
          <p:cNvSpPr/>
          <p:nvPr/>
        </p:nvSpPr>
        <p:spPr>
          <a:xfrm rot="0" flipH="0" flipV="0">
            <a:off x="9229725" y="4562475"/>
            <a:ext cx="2009775" cy="257175"/>
          </a:xfrm>
          <a:prstGeom prst="roundRect">
            <a:avLst>
              <a:gd name="adj" fmla="val 2963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9344025" y="4610100"/>
            <a:ext cx="17811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0E3F8C"/>
                </a:solidFill>
                <a:latin typeface="Consolas"/>
                <a:ea typeface="Consolas"/>
              </a:rPr>
              <a:t>forward / backward fill</a:t>
            </a:r>
            <a:endParaRPr/>
          </a:p>
        </p:txBody>
      </p:sp>
      <p:sp>
        <p:nvSpPr>
          <p:cNvPr id="485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20 / 32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87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Three Ways to Spot Outliers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t: 'IQR Method', e: 'Interquartile Range', i: 'ruler-horizontal',&#10;          d: 'Flag values below Q1−1.5·IQR or above Q3+1.5·IQR. No distribution assumed — best for skewed data.',&#10;          c: '#3D7BD9',&#10;        },&#10;        {&#10;          t: 'Z-score Method', e: 'Standard Deviations', i: 'chart-line',&#10;          d: 'Flag |z| &amp;gt; 3. Only valid for roughly normal data; heavy tails flag too many normal points.',&#10;          c: '#1E4FA8',&#10;        },&#10;        {&#10;          t: 'Domain Rules', e: 'Domain Rules', i: 'clipboard-check',&#10;          d: 'Hard-code bounds from domain knowledge: age ∈ [0, 120], fare ≥ 0, blood pressure ∈ [40, 300].',&#10;          c: '#0E3F8C',&#10;        },&#10;      ].map((k, i) =&gt; (&#10;        &lt;Box key={i} style={{ flex: 1, background: '#F7F9FC', border: '1px solid #E5E7EB', borderTop: '4px solid ' + k.c, borderRadius: 12, padding: '16px 18px', justifyContent: 'space-between' }}&gt;&#10;          &lt;Box&gt;&#10;            &lt;Box style={{ flexDirection: 'row', alignItems: 'center', gap: 10 }}&gt;&#10;              &lt;Box style={{ width: 38, height: 38, borderRadius: 10, background: '#E8EFF8', justifyContent: 'center', alignItems: 'center' }}&gt;&#10;                &lt;FAIcon name={k.i} style={{ fill: k.c, width: 19, height: 19 }} /&gt;&#10;              &lt;/Box&gt;&#10;              &lt;Box&gt;&#10;                &lt;Text style={{ fontSize: 18, color: '#1A2230', fontWeight: 'bold' }}&gt;{k.t}&lt;/Text&gt;&#10;                &lt;Text style={{ fontSize: 12, color: '#8B97A8' }}&gt;{k.e}&lt;/Text&gt;&#10;              &lt;/Box&gt;&#10;            &lt;/Box&gt;&#10;            &lt;Text style={{ fontSize: 14, color: '#4A5568', lineHeight: 1.6, marginTop: 10 }}&gt;{k.d}&lt;/Text&gt;&#10;          &lt;/Box&gt;&#10;          &lt;Text style={{ fontSize: 12, color: k.c, fontFamily: 'Consolas, Menlo, monospace' }}&gt;&#10;            {i === 0 ? 'q1, q3 = s.quantile([.25,.75])' : i === 1 ? 'z = (s - s.mean()) / s.std()' : &quot;df = df[df['age'].between(0, 120)]&quot;}&#10;          &lt;/Text&gt;&#10;        &lt;/Box&gt;&#10;      ))}&#10;    &lt;/Box&gt;&#10;    &lt;Box style={{ flexDirection: 'row', gap: 16, marginTop: 16, alignItems: 'stretch' }}&gt;&#10;      &lt;Box style={{ flex: 1.1, background: '#F0F5FC', border: '1px solid #D6DCE5', borderRadius: 10, padding: '13px 20px' }}&gt;&#10;        &lt;Text style={{ fontSize: 15, color: '#1A2230', lineHeight: 1.65 }}&gt;&#10;          &lt;span style={{ fontWeight: 'bold', color: '#1E4FA8' }}&gt;After detection, three options:&lt;/span&gt;&#10;          &lt;span style={{ fontWeight: 'bold', color: '#0E3F8C' }}&gt;drop&lt;/span&gt; (confirmed errors) ·&#10;          &lt;span style={{ fontWeight: 'bold', color: '#0E3F8C' }}&gt;clip&lt;/span&gt; (winsorize to bounds) ·&#10;          &lt;span style={{ fontWeight: 'bold', color: '#0E3F8C' }}&gt;keep&lt;/span&gt; (the anomaly is what you predict, e.g. fraud).&#10;        &lt;/Text&gt;&#10;      &lt;/Box&gt;&#10;      &lt;Box style={{ flex: 1, borderLeft: '4px solid #0E3F8C', paddingLeft: 14, justifyContent: 'center' }}&gt;&#10;        &lt;Text style={{ fontSize: 14.5, color: '#1A2230', lineHeight: 1.6 }}&gt;&#10;          &lt;span style={{ fontWeight: 'bold', color: '#0E3F8C' }}&gt;Judge first, then act:&lt;/span&gt; is a value an error or extreme-but-real — deleting real extremes can discard your most valuable sampl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0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Three Ways to Spot Outliers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800100" y="2155275"/>
            <a:ext cx="3419475" cy="192000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800100" y="2155275"/>
            <a:ext cx="3419475" cy="192000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94" name=""/>
          <p:cNvSpPr/>
          <p:nvPr/>
        </p:nvSpPr>
        <p:spPr>
          <a:xfrm rot="0" flipH="0" flipV="0">
            <a:off x="971550" y="2307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402925"/>
            <a:ext cx="180975" cy="180975"/>
          </a:xfrm>
          <a:prstGeom prst="rect">
            <a:avLst/>
          </a:prstGeom>
          <a:ln/>
        </p:spPr>
      </p:pic>
      <p:sp>
        <p:nvSpPr>
          <p:cNvPr id="496" name="" descr="{&quot;isTemplate&quot;:true,&quot;type&quot;:&quot;text&quot;}"/>
          <p:cNvSpPr txBox="1"/>
          <p:nvPr/>
        </p:nvSpPr>
        <p:spPr>
          <a:xfrm rot="0" flipH="0" flipV="0">
            <a:off x="1428750" y="2317200"/>
            <a:ext cx="981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IQR Method</a:t>
            </a:r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1428750" y="2526750"/>
            <a:ext cx="9810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Interquartile Range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971550" y="2764875"/>
            <a:ext cx="3076575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Flag values below Q1−1.5·IQR or above Q3+1.5·IQR. No distribution assumed — best for skewed data.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971550" y="3752400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3D7BD9"/>
                </a:solidFill>
                <a:latin typeface="Consolas"/>
                <a:ea typeface="Consolas"/>
              </a:rPr>
              <a:t>q1, q3 = s.quantile([.25,.75])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4391025" y="2155275"/>
            <a:ext cx="3409950" cy="1920000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4391025" y="2155275"/>
            <a:ext cx="3409950" cy="1920000"/>
          </a:xfrm>
          <a:custGeom>
            <a:pathLst>
              <a:path w="358" h="410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/>
          <p:cNvSpPr/>
          <p:nvPr/>
        </p:nvSpPr>
        <p:spPr>
          <a:xfrm rot="0" flipH="0" flipV="0">
            <a:off x="4562475" y="2307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57725" y="2402925"/>
            <a:ext cx="180975" cy="180975"/>
          </a:xfrm>
          <a:prstGeom prst="rect">
            <a:avLst/>
          </a:prstGeom>
          <a:ln/>
        </p:spPr>
      </p:pic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5019675" y="2317200"/>
            <a:ext cx="12858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Z-score Method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5019675" y="2526750"/>
            <a:ext cx="1285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Standard Deviations</a:t>
            </a:r>
            <a:endParaRPr/>
          </a:p>
        </p:txBody>
      </p:sp>
      <p:sp>
        <p:nvSpPr>
          <p:cNvPr id="506" name="" descr="{&quot;isTemplate&quot;:true,&quot;type&quot;:&quot;text&quot;}"/>
          <p:cNvSpPr txBox="1"/>
          <p:nvPr/>
        </p:nvSpPr>
        <p:spPr>
          <a:xfrm rot="0" flipH="0" flipV="0">
            <a:off x="4562475" y="2764875"/>
            <a:ext cx="30670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Flag |z| &amp;gt; 3. Only valid for roughly normal data; heavy tails flag too many normal points.</a:t>
            </a:r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4562475" y="3752400"/>
            <a:ext cx="3067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1E4FA8"/>
                </a:solidFill>
                <a:latin typeface="Consolas"/>
                <a:ea typeface="Consolas"/>
              </a:rPr>
              <a:t>z = (s - s.mean()) / s.std()</a:t>
            </a:r>
            <a:endParaRPr/>
          </a:p>
        </p:txBody>
      </p:sp>
      <p:sp>
        <p:nvSpPr>
          <p:cNvPr id="508" name=""/>
          <p:cNvSpPr/>
          <p:nvPr/>
        </p:nvSpPr>
        <p:spPr>
          <a:xfrm rot="0" flipH="0" flipV="0">
            <a:off x="7972425" y="2155275"/>
            <a:ext cx="3419475" cy="1920000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09" name=""/>
          <p:cNvSpPr/>
          <p:nvPr/>
        </p:nvSpPr>
        <p:spPr>
          <a:xfrm rot="0" flipH="0" flipV="0">
            <a:off x="7972425" y="2155275"/>
            <a:ext cx="3419475" cy="1920000"/>
          </a:xfrm>
          <a:custGeom>
            <a:pathLst>
              <a:path w="359" h="410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0" name=""/>
          <p:cNvSpPr/>
          <p:nvPr/>
        </p:nvSpPr>
        <p:spPr>
          <a:xfrm rot="0" flipH="0" flipV="0">
            <a:off x="8143875" y="23076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39125" y="2402925"/>
            <a:ext cx="180975" cy="180975"/>
          </a:xfrm>
          <a:prstGeom prst="rect">
            <a:avLst/>
          </a:prstGeom>
          <a:ln/>
        </p:spPr>
      </p:pic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8601075" y="2317200"/>
            <a:ext cx="11525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Inter"/>
                <a:ea typeface="Inter"/>
              </a:rPr>
              <a:t>Domain Rules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8601075" y="2526750"/>
            <a:ext cx="1152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B97A8"/>
                </a:solidFill>
                <a:latin typeface="Inter"/>
                <a:ea typeface="Inter"/>
              </a:rPr>
              <a:t>Expert-defined Bounds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8143875" y="2764875"/>
            <a:ext cx="30765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Hard-code bounds from domain knowledge: age ∈ [0, 120], fare ≥ 0, blood pressure ∈ [40, 300].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8143875" y="3752400"/>
            <a:ext cx="3076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0E3F8C"/>
                </a:solidFill>
                <a:latin typeface="Consolas"/>
                <a:ea typeface="Consolas"/>
              </a:rPr>
              <a:t>df = df[df['age'].between(0, 120)]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800100" y="4189575"/>
            <a:ext cx="5467350" cy="819150"/>
          </a:xfrm>
          <a:prstGeom prst="roundRect">
            <a:avLst>
              <a:gd name="adj" fmla="val 1162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990600" y="4313400"/>
            <a:ext cx="50863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en-US" sz="1125" b="1">
                <a:solidFill>
                  <a:srgbClr val="1E4FA8"/>
                </a:solidFill>
                <a:latin typeface="Inter"/>
                <a:ea typeface="Inter"/>
              </a:rPr>
              <a:t>After detection, three options: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drop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(confirmed errors) ·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clip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(winsorize to bounds) ·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keep</a:t>
            </a:r>
            <a:r>
              <a:rPr lang="en-US" sz="1125">
                <a:solidFill>
                  <a:srgbClr val="1A2230"/>
                </a:solidFill>
                <a:latin typeface="Inter"/>
                <a:ea typeface="Inter"/>
              </a:rPr>
              <a:t> (the anomaly is what you predict, e.g. fraud).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6419850" y="4189575"/>
            <a:ext cx="5010150" cy="819150"/>
          </a:xfrm>
          <a:custGeom>
            <a:pathLst>
              <a:path w="526" h="86">
                <a:moveTo>
                  <a:pt x="0" y="0"/>
                </a:moveTo>
                <a:lnTo>
                  <a:pt x="4" y="0"/>
                </a:lnTo>
                <a:lnTo>
                  <a:pt x="4" y="86"/>
                </a:lnTo>
                <a:lnTo>
                  <a:pt x="0" y="86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6591300" y="4332450"/>
            <a:ext cx="48006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Judge first, then act: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is a value an error or extreme-but-real — deleting real extremes can discard your most valuable samples.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21 / 32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522" name="" descr="&lt;Slide style={{ width: '1280px', height: '720px', background: '#0E3F8C', padding: '0px', fontFamily: 'Inter, Helvetica, Arial, sans-serif' }}&gt;&#10;  &lt;Box style={{ position: 'absolute', top: 0, left: 0, width: '100%', height: 10, background: '#1E4FA8' }} /&gt;&#10;  &lt;Box style={{ position: 'absolute', top: 0, right: 0, width: '45%', height: '100%', background: 'rgba(30,79,168,0.35)' }} /&gt;&#10;  &lt;Box style={{ position: 'absolute', top: 60, left: 84, right: 84, height: 620, padding: '30px 0', flexDirection: 'row', alignItems: 'center', gap: 60 }}&gt;&#10;    &lt;Box style={{ flexShrink: 0, alignItems: 'flex-end' }}&gt;&#10;      &lt;Text style={{ fontSize: 110, color: '#FFFFFF', fontWeight: 'bold', lineHeight: 1.0 }}&gt;GIGO&lt;/Text&gt;&#10;      &lt;Text style={{ fontSize: 20, color: 'rgba(255,255,255,0.75)', marginTop: 12, textAlign: 'right' }}&gt;Garbage In,&lt;/Text&gt;&#10;      &lt;Text style={{ fontSize: 20, color: 'rgba(255,255,255,0.75)', textAlign: 'right' }}&gt;Garbage Out&lt;/Text&gt;&#10;    &lt;/Box&gt;&#10;    &lt;Box style={{ flex: 1, gap: 18 }}&gt;&#10;      &lt;Text style={{ fontSize: 30, color: '#FFFFFF', fontWeight: 'bold' }}&gt;Data quality is the model ceiling&lt;/Text&gt;&#10;      &lt;Text style={{ fontSize: 18, color: 'rgba(255,255,255,0.92)', lineHeight: 1.7 }}&gt;&#10;        A model has no &quot;common sense&quot; to correct bad input — it faithfully learns every &lt;Text as='span' style={{ fontWeight: 'bold' }}&gt;bias, gap, and noise&lt;/Text&gt; in the data, then amplifies them into every prediction.&#10;      &lt;/Text&gt;&#10;      &lt;Box style={{ flexDirection: 'row', gap: 12, marginTop: 8 }}&gt;&#10;        &lt;Box style={{ flex: 1, background: 'rgba(255,255,255,0.12)', borderRadius: 10, padding: '14px 18px' }}&gt;&#10;          &lt;Text style={{ fontSize: 15, color: '#FFC107', fontWeight: 'bold' }}&gt;Bad data + great algorithm&lt;/Text&gt;&#10;          &lt;Text style={{ fontSize: 14, color: 'rgba(255,255,255,0.85)', lineHeight: 1.55, marginTop: 4 }}&gt;No model swap will save you — metrics stay mysteriously stuck.&lt;/Text&gt;&#10;        &lt;/Box&gt;&#10;        &lt;Box style={{ flex: 1, background: 'rgba(255,255,255,0.12)', borderRadius: 10, padding: '14px 18px' }}&gt;&#10;          &lt;Text style={{ fontSize: 15, color: '#FFC107', fontWeight: 'bold' }}&gt;Good data + simple model&lt;/Text&gt;&#10;          &lt;Text style={{ fontSize: 14, color: 'rgba(255,255,255,0.85)', lineHeight: 1.55, marginTop: 4 }}&gt;On clean data, logistic regression often beats deep networks.&lt;/Text&gt;&#10;        &lt;/Box&gt;&#10;      &lt;/Box&gt;&#10;      &lt;Box style={{ background: 'rgba(255,255,255,0.12)', borderRadius: 12, padding: '18px 22px', marginTop: 6 }}&gt;&#10;        &lt;Text style={{ fontSize: 17, color: '#FFFFFF', lineHeight: 1.7 }}&gt;&#10;          &lt;span style={{ fontWeight: 'bold', color: '#FFC107' }}&gt;Data quality sets the ceiling&lt;/span&gt;;&#10;          algorithms only control how fast you approach it — which is why this week's cleaning skills are worth more than any tuning trick you'll learn next week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rgba(255,255,255,0.6)' }}&gt;AI Application Development · Week 2&lt;/Text&gt;&#10;    &lt;Text style={{ fontSize: 14, color: 'rgba(255,255,255,0.9)', fontWeight: '600' }}&gt;22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24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25" name=""/>
          <p:cNvSpPr/>
          <p:nvPr/>
        </p:nvSpPr>
        <p:spPr>
          <a:xfrm rot="0" flipH="0" flipV="0">
            <a:off x="6705600" y="0"/>
            <a:ext cx="5486400" cy="6858000"/>
          </a:xfrm>
          <a:prstGeom prst="rect">
            <a:avLst/>
          </a:prstGeom>
          <a:solidFill>
            <a:srgbClr val="1E4FA8">
              <a:alpha val="35000"/>
            </a:srgbClr>
          </a:solidFill>
          <a:ln/>
        </p:spPr>
        <p:txBody>
          <a:bodyPr/>
          <a:p/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800100" y="2609850"/>
            <a:ext cx="2743200" cy="1257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0" b="1">
                <a:solidFill>
                  <a:srgbClr val="FFFFFF"/>
                </a:solidFill>
                <a:latin typeface="Inter"/>
                <a:ea typeface="Inter"/>
              </a:rPr>
              <a:t>GIGO</a:t>
            </a:r>
            <a:endParaRPr/>
          </a:p>
        </p:txBody>
      </p:sp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2533650" y="3981450"/>
            <a:ext cx="100965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Garbage In,</a:t>
            </a:r>
            <a:endParaRPr/>
          </a:p>
        </p:txBody>
      </p:sp>
      <p:sp>
        <p:nvSpPr>
          <p:cNvPr id="528" name="" descr="{&quot;isTemplate&quot;:true,&quot;type&quot;:&quot;text&quot;}"/>
          <p:cNvSpPr txBox="1"/>
          <p:nvPr/>
        </p:nvSpPr>
        <p:spPr>
          <a:xfrm rot="0" flipH="0" flipV="0">
            <a:off x="2438400" y="4210050"/>
            <a:ext cx="1104900" cy="2286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500">
                <a:solidFill>
                  <a:srgbClr val="FFFFFF">
                    <a:alpha val="75000"/>
                  </a:srgbClr>
                </a:solidFill>
                <a:latin typeface="Inter"/>
                <a:ea typeface="Inter"/>
              </a:rPr>
              <a:t>Garbage Out</a:t>
            </a:r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4114800" y="1809750"/>
            <a:ext cx="72771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Inter"/>
                <a:ea typeface="Inter"/>
              </a:rPr>
              <a:t>Data quality is the model ceiling</a:t>
            </a:r>
            <a:endParaRPr/>
          </a:p>
        </p:txBody>
      </p:sp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114800" y="2324100"/>
            <a:ext cx="72771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A model has no "common sense" to correct bad input — it faithfully learns every 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bias, gap, and noise</a:t>
            </a:r>
            <a:r>
              <a:rPr lang="en-US" sz="1350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 in the data, then amplifies them into every prediction.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4114800" y="3276600"/>
            <a:ext cx="3581400" cy="981075"/>
          </a:xfrm>
          <a:prstGeom prst="roundRect">
            <a:avLst>
              <a:gd name="adj" fmla="val 9709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2" name="" descr="{&quot;isTemplate&quot;:true,&quot;type&quot;:&quot;text&quot;}"/>
          <p:cNvSpPr txBox="1"/>
          <p:nvPr/>
        </p:nvSpPr>
        <p:spPr>
          <a:xfrm rot="0" flipH="0" flipV="0">
            <a:off x="4286250" y="3409950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Inter"/>
                <a:ea typeface="Inter"/>
              </a:rPr>
              <a:t>Bad data + great algorithm</a:t>
            </a:r>
            <a:endParaRPr/>
          </a:p>
        </p:txBody>
      </p:sp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86250" y="3619500"/>
            <a:ext cx="3238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No model swap will save you — metrics stay mysteriously stuck.</a:t>
            </a:r>
            <a:endParaRPr/>
          </a:p>
        </p:txBody>
      </p:sp>
      <p:sp>
        <p:nvSpPr>
          <p:cNvPr id="534" name=""/>
          <p:cNvSpPr/>
          <p:nvPr/>
        </p:nvSpPr>
        <p:spPr>
          <a:xfrm rot="0" flipH="0" flipV="0">
            <a:off x="7810500" y="3276600"/>
            <a:ext cx="3581400" cy="981075"/>
          </a:xfrm>
          <a:prstGeom prst="roundRect">
            <a:avLst>
              <a:gd name="adj" fmla="val 9709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7981950" y="3409950"/>
            <a:ext cx="3238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C107"/>
                </a:solidFill>
                <a:latin typeface="Inter"/>
                <a:ea typeface="Inter"/>
              </a:rPr>
              <a:t>Good data + simple model</a:t>
            </a:r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7981950" y="3619500"/>
            <a:ext cx="32385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On clean data, logistic regression often beats deep networks.</a:t>
            </a:r>
            <a:endParaRPr/>
          </a:p>
        </p:txBody>
      </p:sp>
      <p:sp>
        <p:nvSpPr>
          <p:cNvPr id="537" name=""/>
          <p:cNvSpPr/>
          <p:nvPr/>
        </p:nvSpPr>
        <p:spPr>
          <a:xfrm rot="0" flipH="0" flipV="0">
            <a:off x="4114800" y="4486275"/>
            <a:ext cx="7277100" cy="1009650"/>
          </a:xfrm>
          <a:prstGeom prst="roundRect">
            <a:avLst>
              <a:gd name="adj" fmla="val 11321"/>
            </a:avLst>
          </a:prstGeom>
          <a:solidFill>
            <a:srgbClr val="FFFFFF">
              <a:alpha val="12000"/>
            </a:srgbClr>
          </a:solidFill>
          <a:ln/>
        </p:spPr>
        <p:txBody>
          <a:bodyPr/>
          <a:p/>
        </p:txBody>
      </p:sp>
      <p:sp>
        <p:nvSpPr>
          <p:cNvPr id="538" name="" descr="{&quot;isTemplate&quot;:true,&quot;type&quot;:&quot;text&quot;}"/>
          <p:cNvSpPr txBox="1"/>
          <p:nvPr/>
        </p:nvSpPr>
        <p:spPr>
          <a:xfrm rot="0" flipH="0" flipV="0">
            <a:off x="4324350" y="4657725"/>
            <a:ext cx="68580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 b="1">
                <a:solidFill>
                  <a:srgbClr val="FFC107"/>
                </a:solidFill>
                <a:latin typeface="Inter"/>
                <a:ea typeface="Inter"/>
              </a:rPr>
              <a:t>Data quality sets the ceiling</a:t>
            </a:r>
            <a:r>
              <a:rPr lang="en-US" sz="1275">
                <a:solidFill>
                  <a:srgbClr val="FFFFFF"/>
                </a:solidFill>
                <a:latin typeface="Inter"/>
                <a:ea typeface="Inter"/>
              </a:rPr>
              <a:t>; algorithms only control how fast you approach it — which is why this week's cleaning skills are worth more than any tuning trick you'll learn next week.</a:t>
            </a:r>
            <a:endParaRPr/>
          </a:p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FFFFF">
                    <a:alpha val="60000"/>
                  </a:srgbClr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>
                    <a:alpha val="90000"/>
                  </a:srgbClr>
                </a:solidFill>
                <a:latin typeface="Inter"/>
                <a:ea typeface="Inter"/>
              </a:rPr>
              <a:t>22 / 32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541" name="" descr="&lt;Slide style={{ width: '1280px', height: '720px', background: '#F7F9FC', padding: '0px', position: 'relative', overflow: 'hidden', fontFamily: 'Inter, Helvetica, Arial, sans-serif' }}&gt;&#10;  &lt;Box style={{ position: 'absolute', top: 0, left: 0, width: '100%', height: 10, background: '#1E4FA8' }} /&gt;&#10;  &lt;Box style={{ position: 'absolute', right: 0, top: 40, opacity: 0.05, width: 700, height: 560, overflow: 'hidden' }}&gt;&#10;    &lt;Text style={{ fontSize: 520, fontWeight: 'bold', color: '#1E4FA8', lineHeight: 0.95, textAlign: 'right' }}&gt;05&lt;/Text&gt;&#10;  &lt;/Box&gt;&#10;  &lt;Box style={{ position: 'relative', width: '100%', height: '100%', padding: '110px 90px', justifyContent: 'space-between' }}&gt;&#10;    &lt;Box style={{ flexDirection: 'row', gap: 30, alignItems: 'flex-start' }}&gt;&#10;      &lt;Box style={{ width: 130, height: 130, borderRadius: 20, background: '#0E3F8C', justifyContent: 'center', alignItems: 'center', flexShrink: 0 }}&gt;&#10;        &lt;Text style={{ fontSize: 62, color: '#FFFFFF', fontWeight: 'bold' }}&gt;05&lt;/Text&gt;&#10;      &lt;/Box&gt;&#10;      &lt;Box style={{ paddingTop: 6 }}&gt;&#10;        &lt;Text style={{ fontSize: 44, color: '#1A2230', fontWeight: 'bold' }}&gt;Lab · Titanic Hands-On&lt;/Text&gt;&#10;        &lt;Text style={{ fontSize: 26, color: '#8B97A8', fontWeight: '600', marginTop: 6 }}&gt;Hands-On: The Titanic Dataset&lt;/Text&gt;&#10;      &lt;/Box&gt;&#10;    &lt;/Box&gt;&#10;    &lt;Box style={{ flexDirection: 'row', gap: 24 }}&gt;&#10;      {[&#10;        { t: 'Four Missions', e: '4 Missions · 75 min' },&#10;        { t: 'Leave a Paper Trail', e: 'Document Every Step' },&#10;        { t: 'Quick Quiz', e: 'Quiz at the End' },&#10;      ].map((k, i) =&gt; (&#10;        &lt;Box key={i} style={{ flex: 1, background: '#FFFFFF', border: '1px solid #D6DCE5', borderLeft: '4px solid #1E4FA8', borderRadius: 10, padding: '18px 22px' }}&gt;&#10;          &lt;Text style={{ fontSize: 22, color: '#0E3F8C', fontWeight: 'bold' }}&gt;{k.t}&lt;/Text&gt;&#10;          &lt;Text style={{ fontSize: 15, color: '#8B97A8', marginTop: 4 }}&gt;{k.e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4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5524500" y="381000"/>
            <a:ext cx="6667500" cy="5648325"/>
          </a:xfrm>
          <a:prstGeom prst="rect"/>
        </p:spPr>
        <p:txBody>
          <a:bodyPr wrap="none" lIns="0" tIns="0" rIns="0" bIns="0"/>
          <a:p>
            <a:pPr algn="r">
              <a:lnSpc>
                <a:spcPct val="95000"/>
              </a:lnSpc>
            </a:pPr>
            <a:r>
              <a:rPr lang="en-US" sz="39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857250" y="1047750"/>
            <a:ext cx="1238250" cy="12382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6" name="" descr="{&quot;isTemplate&quot;:true,&quot;type&quot;:&quot;text&quot;}"/>
          <p:cNvSpPr txBox="1"/>
          <p:nvPr/>
        </p:nvSpPr>
        <p:spPr>
          <a:xfrm rot="0" flipH="0" flipV="0">
            <a:off x="1152525" y="1314450"/>
            <a:ext cx="65722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FFFFFF"/>
                </a:solidFill>
                <a:latin typeface="Inter"/>
                <a:ea typeface="Inter"/>
              </a:rPr>
              <a:t>05</a:t>
            </a:r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2381250" y="1104900"/>
            <a:ext cx="4562475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300" b="1">
                <a:solidFill>
                  <a:srgbClr val="1A2230"/>
                </a:solidFill>
                <a:latin typeface="Inter"/>
                <a:ea typeface="Inter"/>
              </a:rPr>
              <a:t>Lab · Titanic Hands-On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2381250" y="1666875"/>
            <a:ext cx="45624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8B97A8"/>
                </a:solidFill>
                <a:latin typeface="Inter"/>
                <a:ea typeface="Inter"/>
              </a:rPr>
              <a:t>Hands-On: The Titanic Dataset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895350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0" name=""/>
          <p:cNvSpPr/>
          <p:nvPr/>
        </p:nvSpPr>
        <p:spPr>
          <a:xfrm rot="0" flipH="0" flipV="0">
            <a:off x="895350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1104900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Four Missions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1104900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4 Missions · 75 min</a:t>
            </a:r>
            <a:endParaRPr/>
          </a:p>
        </p:txBody>
      </p:sp>
      <p:sp>
        <p:nvSpPr>
          <p:cNvPr id="553" name=""/>
          <p:cNvSpPr/>
          <p:nvPr/>
        </p:nvSpPr>
        <p:spPr>
          <a:xfrm rot="0" flipH="0" flipV="0">
            <a:off x="4467225" y="5000625"/>
            <a:ext cx="3333750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4" name=""/>
          <p:cNvSpPr/>
          <p:nvPr/>
        </p:nvSpPr>
        <p:spPr>
          <a:xfrm rot="0" flipH="0" flipV="0">
            <a:off x="4467225" y="5000625"/>
            <a:ext cx="3333750" cy="809625"/>
          </a:xfrm>
          <a:custGeom>
            <a:pathLst>
              <a:path w="350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5" name="" descr="{&quot;isTemplate&quot;:true,&quot;type&quot;:&quot;text&quot;}"/>
          <p:cNvSpPr txBox="1"/>
          <p:nvPr/>
        </p:nvSpPr>
        <p:spPr>
          <a:xfrm rot="0" flipH="0" flipV="0">
            <a:off x="4676775" y="5172075"/>
            <a:ext cx="28765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Leave a Paper Trail</a:t>
            </a:r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4676775" y="5467350"/>
            <a:ext cx="2876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Document Every Step</a:t>
            </a:r>
            <a:endParaRPr/>
          </a:p>
        </p:txBody>
      </p:sp>
      <p:sp>
        <p:nvSpPr>
          <p:cNvPr id="557" name=""/>
          <p:cNvSpPr/>
          <p:nvPr/>
        </p:nvSpPr>
        <p:spPr>
          <a:xfrm rot="0" flipH="0" flipV="0">
            <a:off x="8029575" y="5000625"/>
            <a:ext cx="3343275" cy="809625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8" name=""/>
          <p:cNvSpPr/>
          <p:nvPr/>
        </p:nvSpPr>
        <p:spPr>
          <a:xfrm rot="0" flipH="0" flipV="0">
            <a:off x="8029575" y="5000625"/>
            <a:ext cx="3343275" cy="809625"/>
          </a:xfrm>
          <a:custGeom>
            <a:pathLst>
              <a:path w="351" h="8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79"/>
                </a:lnTo>
                <a:cubicBezTo>
                  <a:pt x="4" y="82"/>
                  <a:pt x="6" y="84"/>
                  <a:pt x="9" y="85"/>
                </a:cubicBezTo>
                <a:cubicBezTo>
                  <a:pt x="4" y="84"/>
                  <a:pt x="0" y="80"/>
                  <a:pt x="0" y="7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8239125" y="5172075"/>
            <a:ext cx="28860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Quick Quiz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8239125" y="5467350"/>
            <a:ext cx="2886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Quiz at the End</a:t>
            </a:r>
            <a:endParaRPr/>
          </a:p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61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Overview · Four Missions in 75 min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2, alignItems: 'stretch' }}&gt;&#10;      {[&#10;        { n: 'A', t: 'NumPy Warm-Up', m: '10 min', d: 'Create · slice · broadcast drills', c: '#3D7BD9', i: 'calculator' },&#10;        { n: 'B', t: 'Pandas Exploration', m: '25 min', d: 'Load titanic.csv, run the 5-step EDA', c: '#1E4FA8', i: 'search' },&#10;        { n: 'C', t: 'Visualization', m: '20 min', d: 'Three charts answer three questions', c: '#0E3F8C', i: 'chart-bar' },&#10;        { n: 'D', t: 'Cleaning', m: '15 min', d: 'Missing · outliers · duplicates', c: '#1E4FA8', i: 'broom' },&#10;        { n: 'E', t: 'Wrap-Up &amp; Submit', m: '5 min', d: 'Checklist · Git push', c: '#3D7BD9', i: 'upload' },&#10;      ].map((s, i) =&gt; (&#10;        &lt;Box key={i} style={{ flex: 1, position: 'relative' }}&gt;&#10;          &lt;Box style={{ background: '#F7F9FC', border: '1px solid #D6DCE5', borderTop: '4px solid ' + s.c, borderRadius: 12, padding: '14px 12px', height: 200, justifyContent: 'space-between' }}&gt;&#10;            &lt;Box style={{ flexDirection: 'row', alignItems: 'center', justifyContent: 'space-between' }}&gt;&#10;              &lt;Box style={{ width: 34, height: 34, borderRadius: 9, background: s.c, justifyContent: 'center', alignItems: 'center' }}&gt;&#10;                &lt;Text style={{ fontSize: 16, color: '#FFFFFF', fontWeight: 'bold' }}&gt;{s.n}&lt;/Text&gt;&#10;              &lt;/Box&gt;&#10;              &lt;Box style={{ background: '#F0F5FC', borderRadius: 8, padding: '3px 9px' }}&gt;&#10;                &lt;Text style={{ fontSize: 12.5, color: s.c, fontWeight: 'bold' }}&gt;{s.m}&lt;/Text&gt;&#10;              &lt;/Box&gt;&#10;            &lt;/Box&gt;&#10;            &lt;Box&gt;&#10;              &lt;FAIcon name={s.i} style={{ fill: s.c, width: 24, height: 24 }} /&gt;&#10;              &lt;Text style={{ fontSize: 17, color: '#1A2230', fontWeight: 'bold', marginTop: 6 }}&gt;{s.t}&lt;/Text&gt;&#10;              &lt;Text style={{ fontSize: 12.5, color: '#4A5568', marginTop: 3, lineHeight: 1.45 }}&gt;{s.d}&lt;/Text&gt;&#10;            &lt;/Box&gt;&#10;          &lt;/Box&gt;&#10;          {i &lt; 4 &amp;&amp; (&#10;            &lt;Box style={{ position: 'absolute', right: -12, top: 88, zIndex: 2 }}&gt;&#10;              &lt;FAIcon name='arrow-right' style={{ fill: '#3D7BD9', width: 17, height: 17 }} /&gt;&#10;            &lt;/Box&gt;&#10;          )}&#10;        &lt;/Box&gt;&#10;      ))}&#10;    &lt;/Box&gt;&#10;    &lt;Box style={{ flexDirection: 'row', gap: 16, marginTop: 18, flex: 1 }}&gt;&#10;      &lt;Box style={{ flex: 1, background: '#F0F5FC', border: '1px solid #D6DCE5', borderRadius: 12, padding: '16px 22px' }}&gt;&#10;        &lt;Text style={{ fontSize: 16, color: '#0E3F8C', fontWeight: 'bold', marginBottom: 8 }}&gt;Environment &amp;amp; Data&lt;/Text&gt;&#10;        &lt;Text style={{ fontSize: 14, color: '#4A5568', lineHeight: 1.75 }}&gt;&#10;          conda activate &lt;span style={{ fontFamily: 'Consolas, Menlo, monospace', color: '#1E4FA8' }}&gt;ai-app&lt;/span&gt; (created last week) ·&#10;          titanic.csv is on the course platform · create a new notebook &lt;span style={{ fontFamily: 'Consolas, Menlo, monospace', color: '#1E4FA8' }}&gt;lab02_eda.ipynb&lt;/span&gt;&#10;        &lt;/Text&gt;&#10;      &lt;/Box&gt;&#10;      &lt;Box style={{ flex: 1, background: '#0E3F8C', borderRadius: 12, padding: '16px 22px' }}&gt;&#10;        &lt;Text style={{ fontSize: 16, color: '#FFFFFF', fontWeight: 'bold', marginBottom: 8 }}&gt;Lab Rules&lt;/Text&gt;&#10;        {['Stuck? Read the last error line first, then ask a neighbor, then raise your hand', 'Give each task a Markdown heading', 'No single right answer — reasoning beats answers'].map((t, i) =&gt; (&#10;          &lt;Box key={i} style={{ flexDirection: 'row', gap: 8, alignItems: 'flex-start', marginBottom: 5 }}&gt;&#10;            &lt;Text style={{ fontSize: 13, color: '#FFC107', fontWeight: 'bold', marginTop: 1 }}&gt;{i + 1}.&lt;/Text&gt;&#10;            &lt;Text style={{ fontSize: 13.5, color: 'rgba(255,255,255,0.92)', lineHeight: 1.5 }}&gt;{t}&lt;/Text&gt;&#10;          &lt;/Box&gt;&#10;        ))}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4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6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Overview · Four Missions in 75 min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8001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10096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Inter"/>
                <a:ea typeface="Inter"/>
              </a:rPr>
              <a:t>Environment &amp; Data</a:t>
            </a:r>
            <a:endParaRPr/>
          </a:p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1009650" y="4279913"/>
            <a:ext cx="4800600" cy="5619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conda activate </a:t>
            </a:r>
            <a:r>
              <a:rPr lang="en-US" sz="1050">
                <a:solidFill>
                  <a:srgbClr val="1E4FA8"/>
                </a:solidFill>
                <a:latin typeface="Inter"/>
                <a:ea typeface="Inter"/>
              </a:rPr>
              <a:t>ai-app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(created last week) · titanic.csv is on the course platform · create a new notebook </a:t>
            </a:r>
            <a:r>
              <a:rPr lang="en-US" sz="1050">
                <a:solidFill>
                  <a:srgbClr val="1E4FA8"/>
                </a:solidFill>
                <a:latin typeface="Inter"/>
                <a:ea typeface="Inter"/>
              </a:rPr>
              <a:t>lab02_eda.ipynb</a:t>
            </a:r>
            <a:endParaRPr/>
          </a:p>
        </p:txBody>
      </p:sp>
      <p:sp>
        <p:nvSpPr>
          <p:cNvPr id="569" name=""/>
          <p:cNvSpPr/>
          <p:nvPr/>
        </p:nvSpPr>
        <p:spPr>
          <a:xfrm rot="0" flipH="0" flipV="0">
            <a:off x="6172200" y="3860813"/>
            <a:ext cx="5219700" cy="1480724"/>
          </a:xfrm>
          <a:prstGeom prst="roundRect">
            <a:avLst>
              <a:gd name="adj" fmla="val 4138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6381750" y="4013213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Lab Rules</a:t>
            </a:r>
            <a:endParaRPr/>
          </a:p>
        </p:txBody>
      </p:sp>
      <p:sp>
        <p:nvSpPr>
          <p:cNvPr id="571" name="" descr="{&quot;isTemplate&quot;:true,&quot;type&quot;:&quot;text&quot;}"/>
          <p:cNvSpPr txBox="1"/>
          <p:nvPr/>
        </p:nvSpPr>
        <p:spPr>
          <a:xfrm rot="0" flipH="0" flipV="0">
            <a:off x="6381750" y="4289438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1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6562725" y="4279913"/>
            <a:ext cx="44196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Stuck? Read the last error line first, then ask a neighbor, then raise your hand</a:t>
            </a:r>
            <a:endParaRPr/>
          </a:p>
        </p:txBody>
      </p:sp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6381750" y="4575188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2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6562725" y="4565663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Give each task a Markdown heading</a:t>
            </a:r>
            <a:endParaRPr/>
          </a:p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6381750" y="4860938"/>
            <a:ext cx="104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3</a:t>
            </a:r>
            <a:r>
              <a:rPr lang="en-US" sz="975" b="1">
                <a:solidFill>
                  <a:srgbClr val="FFC107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6562725" y="4851413"/>
            <a:ext cx="2905125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FFFFFF">
                    <a:alpha val="92000"/>
                  </a:srgbClr>
                </a:solidFill>
                <a:latin typeface="Inter"/>
                <a:ea typeface="Inter"/>
              </a:rPr>
              <a:t>No single right answer — reasoning beats answers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80010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78" name=""/>
          <p:cNvSpPr/>
          <p:nvPr/>
        </p:nvSpPr>
        <p:spPr>
          <a:xfrm rot="0" flipH="0" flipV="0">
            <a:off x="80010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579" name=""/>
          <p:cNvSpPr/>
          <p:nvPr/>
        </p:nvSpPr>
        <p:spPr>
          <a:xfrm rot="0" flipH="0" flipV="0">
            <a:off x="91440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580" name="" descr="{&quot;isTemplate&quot;:true,&quot;type&quot;:&quot;text&quot;}"/>
          <p:cNvSpPr txBox="1"/>
          <p:nvPr/>
        </p:nvSpPr>
        <p:spPr>
          <a:xfrm rot="0" flipH="0" flipV="0">
            <a:off x="101917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A</a:t>
            </a:r>
            <a:endParaRPr/>
          </a:p>
        </p:txBody>
      </p:sp>
      <p:sp>
        <p:nvSpPr>
          <p:cNvPr id="581" name=""/>
          <p:cNvSpPr/>
          <p:nvPr/>
        </p:nvSpPr>
        <p:spPr>
          <a:xfrm rot="0" flipH="0" flipV="0">
            <a:off x="2162175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2247900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10 min</a:t>
            </a:r>
            <a:endParaRPr/>
          </a:p>
        </p:txBody>
      </p:sp>
      <p:pic>
        <p:nvPicPr>
          <p:cNvPr id="5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14400" y="2832113"/>
            <a:ext cx="228600" cy="228600"/>
          </a:xfrm>
          <a:prstGeom prst="rect">
            <a:avLst/>
          </a:prstGeom>
          <a:ln/>
        </p:spPr>
      </p:pic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91440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 Warm-Up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91440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Create · slice · broadcast drills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294322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87" name=""/>
          <p:cNvSpPr/>
          <p:nvPr/>
        </p:nvSpPr>
        <p:spPr>
          <a:xfrm rot="0" flipH="0" flipV="0">
            <a:off x="294322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8" name=""/>
          <p:cNvSpPr/>
          <p:nvPr/>
        </p:nvSpPr>
        <p:spPr>
          <a:xfrm rot="0" flipH="0" flipV="0">
            <a:off x="305752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3162300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B</a:t>
            </a:r>
            <a:endParaRPr/>
          </a:p>
        </p:txBody>
      </p:sp>
      <p:sp>
        <p:nvSpPr>
          <p:cNvPr id="590" name=""/>
          <p:cNvSpPr/>
          <p:nvPr/>
        </p:nvSpPr>
        <p:spPr>
          <a:xfrm rot="0" flipH="0" flipV="0">
            <a:off x="4305300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391025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25 min</a:t>
            </a:r>
            <a:endParaRPr/>
          </a:p>
        </p:txBody>
      </p:sp>
      <p:pic>
        <p:nvPicPr>
          <p:cNvPr id="5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057525" y="2622563"/>
            <a:ext cx="228600" cy="228600"/>
          </a:xfrm>
          <a:prstGeom prst="rect">
            <a:avLst/>
          </a:prstGeom>
          <a:ln/>
        </p:spPr>
      </p:pic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3057525" y="290831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Pandas Exploration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3057525" y="3136913"/>
            <a:ext cx="1800225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Load titanic.csv, run the 5-step EDA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5086350" y="1822463"/>
            <a:ext cx="2019300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96" name=""/>
          <p:cNvSpPr/>
          <p:nvPr/>
        </p:nvSpPr>
        <p:spPr>
          <a:xfrm rot="0" flipH="0" flipV="0">
            <a:off x="5086350" y="1822463"/>
            <a:ext cx="2019300" cy="1866900"/>
          </a:xfrm>
          <a:custGeom>
            <a:pathLst>
              <a:path w="212" h="196">
                <a:moveTo>
                  <a:pt x="201" y="0"/>
                </a:moveTo>
                <a:cubicBezTo>
                  <a:pt x="206" y="0"/>
                  <a:pt x="211" y="4"/>
                  <a:pt x="212" y="10"/>
                </a:cubicBezTo>
                <a:cubicBezTo>
                  <a:pt x="211" y="6"/>
                  <a:pt x="208" y="4"/>
                  <a:pt x="204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0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7" name=""/>
          <p:cNvSpPr/>
          <p:nvPr/>
        </p:nvSpPr>
        <p:spPr>
          <a:xfrm rot="0" flipH="0" flipV="0">
            <a:off x="52006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53054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C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6438900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6524625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0E3F8C"/>
                </a:solidFill>
                <a:latin typeface="Inter"/>
                <a:ea typeface="Inter"/>
              </a:rPr>
              <a:t>20 min</a:t>
            </a:r>
            <a:endParaRPr/>
          </a:p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5200650" y="2622563"/>
            <a:ext cx="228600" cy="228600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5200650" y="2908313"/>
            <a:ext cx="17907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Visualization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5200650" y="3136913"/>
            <a:ext cx="17907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Three charts answer three questions</a:t>
            </a:r>
            <a:endParaRPr/>
          </a:p>
        </p:txBody>
      </p:sp>
      <p:sp>
        <p:nvSpPr>
          <p:cNvPr id="604" name=""/>
          <p:cNvSpPr/>
          <p:nvPr/>
        </p:nvSpPr>
        <p:spPr>
          <a:xfrm rot="0" flipH="0" flipV="0">
            <a:off x="7219950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05" name=""/>
          <p:cNvSpPr/>
          <p:nvPr/>
        </p:nvSpPr>
        <p:spPr>
          <a:xfrm rot="0" flipH="0" flipV="0">
            <a:off x="7219950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7334250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7439025" y="2022488"/>
            <a:ext cx="114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D</a:t>
            </a:r>
            <a:endParaRPr/>
          </a:p>
        </p:txBody>
      </p:sp>
      <p:sp>
        <p:nvSpPr>
          <p:cNvPr id="608" name=""/>
          <p:cNvSpPr/>
          <p:nvPr/>
        </p:nvSpPr>
        <p:spPr>
          <a:xfrm rot="0" flipH="0" flipV="0">
            <a:off x="8582025" y="2022488"/>
            <a:ext cx="552450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09" name="" descr="{&quot;isTemplate&quot;:true,&quot;type&quot;:&quot;text&quot;}"/>
          <p:cNvSpPr txBox="1"/>
          <p:nvPr/>
        </p:nvSpPr>
        <p:spPr>
          <a:xfrm rot="0" flipH="0" flipV="0">
            <a:off x="8667750" y="2051063"/>
            <a:ext cx="381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1E4FA8"/>
                </a:solidFill>
                <a:latin typeface="Inter"/>
                <a:ea typeface="Inter"/>
              </a:rPr>
              <a:t>15 min</a:t>
            </a:r>
            <a:endParaRPr/>
          </a:p>
        </p:txBody>
      </p:sp>
      <p:pic>
        <p:nvPicPr>
          <p:cNvPr id="6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7334250" y="2832113"/>
            <a:ext cx="228600" cy="228600"/>
          </a:xfrm>
          <a:prstGeom prst="rect">
            <a:avLst/>
          </a:prstGeom>
          <a:ln/>
        </p:spPr>
      </p:pic>
      <p:sp>
        <p:nvSpPr>
          <p:cNvPr id="611" name="" descr="{&quot;isTemplate&quot;:true,&quot;type&quot;:&quot;text&quot;}"/>
          <p:cNvSpPr txBox="1"/>
          <p:nvPr/>
        </p:nvSpPr>
        <p:spPr>
          <a:xfrm rot="0" flipH="0" flipV="0">
            <a:off x="7334250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Cleaning</a:t>
            </a:r>
            <a:endParaRPr/>
          </a:p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7334250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Missing · outliers · duplicates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9363075" y="1822463"/>
            <a:ext cx="2028825" cy="1866900"/>
          </a:xfrm>
          <a:prstGeom prst="roundRect">
            <a:avLst>
              <a:gd name="adj" fmla="val 612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9363075" y="1822463"/>
            <a:ext cx="2028825" cy="1866900"/>
          </a:xfrm>
          <a:custGeom>
            <a:pathLst>
              <a:path w="213" h="196">
                <a:moveTo>
                  <a:pt x="202" y="0"/>
                </a:moveTo>
                <a:cubicBezTo>
                  <a:pt x="207" y="0"/>
                  <a:pt x="212" y="4"/>
                  <a:pt x="213" y="10"/>
                </a:cubicBezTo>
                <a:cubicBezTo>
                  <a:pt x="212" y="6"/>
                  <a:pt x="209" y="4"/>
                  <a:pt x="205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201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5" name=""/>
          <p:cNvSpPr/>
          <p:nvPr/>
        </p:nvSpPr>
        <p:spPr>
          <a:xfrm rot="0" flipH="0" flipV="0">
            <a:off x="9477375" y="1955813"/>
            <a:ext cx="323850" cy="323850"/>
          </a:xfrm>
          <a:prstGeom prst="roundRect">
            <a:avLst>
              <a:gd name="adj" fmla="val 2647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16" name="" descr="{&quot;isTemplate&quot;:true,&quot;type&quot;:&quot;text&quot;}"/>
          <p:cNvSpPr txBox="1"/>
          <p:nvPr/>
        </p:nvSpPr>
        <p:spPr>
          <a:xfrm rot="0" flipH="0" flipV="0">
            <a:off x="9591675" y="2022488"/>
            <a:ext cx="104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Inter"/>
                <a:ea typeface="Inter"/>
              </a:rPr>
              <a:t>E</a:t>
            </a:r>
            <a:endParaRPr/>
          </a:p>
        </p:txBody>
      </p:sp>
      <p:sp>
        <p:nvSpPr>
          <p:cNvPr id="617" name=""/>
          <p:cNvSpPr/>
          <p:nvPr/>
        </p:nvSpPr>
        <p:spPr>
          <a:xfrm rot="0" flipH="0" flipV="0">
            <a:off x="10791825" y="2022488"/>
            <a:ext cx="485775" cy="200025"/>
          </a:xfrm>
          <a:prstGeom prst="roundRect">
            <a:avLst>
              <a:gd name="adj" fmla="val 380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10877550" y="2051063"/>
            <a:ext cx="3143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 b="1">
                <a:solidFill>
                  <a:srgbClr val="3D7BD9"/>
                </a:solidFill>
                <a:latin typeface="Inter"/>
                <a:ea typeface="Inter"/>
              </a:rPr>
              <a:t>5 min</a:t>
            </a:r>
            <a:endParaRPr/>
          </a:p>
        </p:txBody>
      </p:sp>
      <p:pic>
        <p:nvPicPr>
          <p:cNvPr id="6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9477375" y="2832113"/>
            <a:ext cx="228600" cy="228600"/>
          </a:xfrm>
          <a:prstGeom prst="rect">
            <a:avLst/>
          </a:prstGeom>
          <a:ln/>
        </p:spPr>
      </p:pic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9477375" y="3117863"/>
            <a:ext cx="1800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Wrap-Up &amp; Submit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9477375" y="3346463"/>
            <a:ext cx="1800225" cy="2095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938">
                <a:solidFill>
                  <a:srgbClr val="4A5568"/>
                </a:solidFill>
                <a:latin typeface="Inter"/>
                <a:ea typeface="Inter"/>
              </a:rPr>
              <a:t>Checklist · Git push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24 / 32</a:t>
            </a:r>
            <a:endParaRPr/>
          </a:p>
        </p:txBody>
      </p:sp>
      <p:pic>
        <p:nvPicPr>
          <p:cNvPr id="62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2781300" y="2622563"/>
            <a:ext cx="161925" cy="161925"/>
          </a:xfrm>
          <a:prstGeom prst="rect">
            <a:avLst/>
          </a:prstGeom>
          <a:ln/>
        </p:spPr>
      </p:pic>
      <p:pic>
        <p:nvPicPr>
          <p:cNvPr id="6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4924425" y="2622563"/>
            <a:ext cx="161925" cy="161925"/>
          </a:xfrm>
          <a:prstGeom prst="rect">
            <a:avLst/>
          </a:prstGeom>
          <a:ln/>
        </p:spPr>
      </p:pic>
      <p:pic>
        <p:nvPicPr>
          <p:cNvPr id="6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7058025" y="2622563"/>
            <a:ext cx="161925" cy="161925"/>
          </a:xfrm>
          <a:prstGeom prst="rect">
            <a:avLst/>
          </a:prstGeom>
          <a:ln/>
        </p:spPr>
      </p:pic>
      <p:pic>
        <p:nvPicPr>
          <p:cNvPr id="6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9201150" y="2622563"/>
            <a:ext cx="161925" cy="161925"/>
          </a:xfrm>
          <a:prstGeom prst="rect">
            <a:avLst/>
          </a:prstGeom>
          <a:ln/>
        </p:spPr>
      </p:pic>
    </p:spTree>
  </p:cSld>
</p:sld>
</file>

<file path=ppt/slides/slide25.xml><?xml version="1.0" encoding="utf-8"?>
<p:sld xmlns:a="http://schemas.openxmlformats.org/drawingml/2006/main" xmlns:p="http://schemas.openxmlformats.org/presentationml/2006/main">
  <p:cSld>
    <p:spTree>
      <p:nvGrpSpPr>
        <p:cNvPr id="62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A · NumPy Warm-Up (10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2 }}&gt;&#10;      {[&#10;        {&#10;          n: 'Task 1', t: 'Create &amp; Inspect', d: 'Make a 4×4 matrix of 0–15; print its shape, dtype, and sum.',&#10;          c: &quot;a = np.arange(16).reshape(4, 4)\nprint(a.shape, a.dtype, a.sum())&quot;,&#10;        },&#10;        {&#10;          n: 'Task 2', t: 'Slicing Practice', d: 'Take row 2, column 3, and the bottom-right 2×2 block (remember: views!).',&#10;          c: &quot;row2 = a[1]\ncol3 = a[:, 2]\nblock = a[2:, 2:]&quot;,&#10;        },&#10;        {&#10;          n: 'Task 3', t: 'Broadcast Arithmetic', d: 'Add [0, 1, 2, 3] to each row — one line of code.',&#10;          c: &quot;b = a + np.array([0, 1, 2, 3])&quot;,&#10;        },&#10;      ].map((r, i) =&gt; (&#10;        &lt;Box key={i} style={{ background: '#F7F9FC', border: '1px solid #E5E7EB', borderLeft: '4px solid ' + ['#3D7BD9', '#1E4FA8', '#0E3F8C'][i], borderRadius: 10, padding: '13px 17px' }}&gt;&#10;          &lt;Box style={{ flexDirection: 'row', alignItems: 'baseline', gap: 10 }}&gt;&#10;            &lt;Text style={{ fontSize: 13, color: '#8B97A8', fontWeight: '600' }}&gt;{r.n}&lt;/Text&gt;&#10;            &lt;Text style={{ fontSize: 17, color: '#1A2230', fontWeight: 'bold' }}&gt;{r.t}&lt;/Text&gt;&#10;          &lt;/Box&gt;&#10;          &lt;Text style={{ fontSize: 13.5, color: '#4A5568', marginTop: 3, lineHeight: 1.5 }}&gt;{r.d}&lt;/Text&gt;&#10;        &lt;/Box&gt;&#10;      ))}&#10;      &lt;Box style={{ borderLeft: '4px solid #0E3F8C', paddingLeft: 14 }}&gt;&#10;        &lt;Text style={{ fontSize: 14.5, color: '#1A2230', lineHeight: 1.55 }}&gt;&#10;          &lt;span style={{ fontWeight: 'bold', color: '#0E3F8C' }}&gt;Checkpoint:&lt;/span&gt; all three tasks green (no errors, expected results) before moving to Lab B.&#10;        &lt;/Text&gt;&#10;      &lt;/Box&gt;&#10;    &lt;/Box&gt;&#10;    &lt;Box style={{ width: 470, flexShrink: 0 }}&gt;&#10;      &lt;Box style={{ background: '#1A2230', borderRadius: 12, padding: '18px 22px', height: 440 }}&gt;&#10;        &lt;Text style={{ fontSize: 14, color: '#8B97A8', marginBottom: 8 }}&gt;# skeleton — try first, peek only if stuck&lt;/Text&gt;&#10;        &lt;Text style={{ fontSize: 14.5, color: '#A8D8B9', lineHeight: 1.9, fontFamily: 'Consolas, Menlo, monospace' }}&gt;&#10;          import numpy as np{'\n\n'}&#10;          a = np.arange(16).reshape(4, 4){'\n'}&#10;          print(a.shape, a.dtype){'\n'}&#10;          print(a.sum()){'\n\n'}&#10;          row2 = a[1]&amp;nbsp;&amp;nbsp;&amp;nbsp;&amp;nbsp;&amp;nbsp;&amp;nbsp;# row 2{'\n'}&#10;          block = a[2:, 2:]&amp;nbsp;# bottom-right 2x2{'\n\n'}&#10;          b = a + np.array([0, 1, 2, 3]){'\n'}&#10;          # row i of b = row i of a + i{'\n'}&#10;          # that is broadcasting: (..,4) + (4,)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5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242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A · NumPy Warm-Up (10 min)</a:t>
            </a:r>
            <a:endParaRPr/>
          </a:p>
        </p:txBody>
      </p:sp>
      <p:sp>
        <p:nvSpPr>
          <p:cNvPr id="63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33" name=""/>
          <p:cNvSpPr/>
          <p:nvPr/>
        </p:nvSpPr>
        <p:spPr>
          <a:xfrm rot="0" flipH="0" flipV="0">
            <a:off x="838200" y="148650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4" name=""/>
          <p:cNvSpPr/>
          <p:nvPr/>
        </p:nvSpPr>
        <p:spPr>
          <a:xfrm rot="0" flipH="0" flipV="0">
            <a:off x="838200" y="148650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1000125" y="1610325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1</a:t>
            </a:r>
            <a:endParaRPr/>
          </a:p>
        </p:txBody>
      </p:sp>
      <p:sp>
        <p:nvSpPr>
          <p:cNvPr id="636" name="" descr="{&quot;isTemplate&quot;:true,&quot;type&quot;:&quot;text&quot;}"/>
          <p:cNvSpPr txBox="1"/>
          <p:nvPr/>
        </p:nvSpPr>
        <p:spPr>
          <a:xfrm rot="0" flipH="0" flipV="0">
            <a:off x="1476375" y="1610325"/>
            <a:ext cx="1285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Create &amp; Inspect</a:t>
            </a:r>
            <a:endParaRPr/>
          </a:p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1000125" y="183892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Make a 4×4 matrix of 0–15; print its shape, dtype, and sum.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838200" y="2315175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838200" y="2315175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1000125" y="2439000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2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1476375" y="2439000"/>
            <a:ext cx="1209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Slicing Practice</a:t>
            </a:r>
            <a:endParaRPr/>
          </a:p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1000125" y="2667600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Take row 2, column 3, and the bottom-right 2×2 block (remember: views!).</a:t>
            </a:r>
            <a:endParaRPr/>
          </a:p>
        </p:txBody>
      </p:sp>
      <p:sp>
        <p:nvSpPr>
          <p:cNvPr id="643" name=""/>
          <p:cNvSpPr/>
          <p:nvPr/>
        </p:nvSpPr>
        <p:spPr>
          <a:xfrm rot="0" flipH="0" flipV="0">
            <a:off x="838200" y="3143850"/>
            <a:ext cx="5867400" cy="714375"/>
          </a:xfrm>
          <a:prstGeom prst="roundRect">
            <a:avLst>
              <a:gd name="adj" fmla="val 1333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838200" y="3143850"/>
            <a:ext cx="5867400" cy="714375"/>
          </a:xfrm>
          <a:custGeom>
            <a:pathLst>
              <a:path w="616" h="7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69"/>
                </a:lnTo>
                <a:cubicBezTo>
                  <a:pt x="4" y="72"/>
                  <a:pt x="6" y="74"/>
                  <a:pt x="9" y="75"/>
                </a:cubicBezTo>
                <a:cubicBezTo>
                  <a:pt x="4" y="74"/>
                  <a:pt x="0" y="70"/>
                  <a:pt x="0" y="6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1000125" y="3267675"/>
            <a:ext cx="381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Task 3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476375" y="3267675"/>
            <a:ext cx="1638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Broadcast Arithmetic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1000125" y="3496275"/>
            <a:ext cx="550545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Add [0, 1, 2, 3] to each row — one line of code.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800100" y="3972525"/>
            <a:ext cx="5905500" cy="257175"/>
          </a:xfrm>
          <a:custGeom>
            <a:pathLst>
              <a:path w="620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9" name="" descr="{&quot;isTemplate&quot;:true,&quot;type&quot;:&quot;text&quot;}"/>
          <p:cNvSpPr txBox="1"/>
          <p:nvPr/>
        </p:nvSpPr>
        <p:spPr>
          <a:xfrm rot="0" flipH="0" flipV="0">
            <a:off x="971550" y="3972525"/>
            <a:ext cx="569595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Checkpoint: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all three tasks green (no errors, expected results) before moving to Lab B.</a:t>
            </a:r>
            <a:endParaRPr/>
          </a:p>
        </p:txBody>
      </p:sp>
      <p:sp>
        <p:nvSpPr>
          <p:cNvPr id="650" name=""/>
          <p:cNvSpPr/>
          <p:nvPr/>
        </p:nvSpPr>
        <p:spPr>
          <a:xfrm rot="0" flipH="0" flipV="0">
            <a:off x="6915150" y="1486500"/>
            <a:ext cx="4476750" cy="4191000"/>
          </a:xfrm>
          <a:prstGeom prst="roundRect">
            <a:avLst>
              <a:gd name="adj" fmla="val 2727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7124700" y="1657950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skeleton — try first, peek only if stuck</a:t>
            </a:r>
            <a:endParaRPr/>
          </a:p>
        </p:txBody>
      </p:sp>
      <p:sp>
        <p:nvSpPr>
          <p:cNvPr id="652" name="" descr="{&quot;isTemplate&quot;:true,&quot;type&quot;:&quot;text&quot;}"/>
          <p:cNvSpPr txBox="1"/>
          <p:nvPr/>
        </p:nvSpPr>
        <p:spPr>
          <a:xfrm rot="0" flipH="0" flipV="0">
            <a:off x="7124700" y="1896075"/>
            <a:ext cx="4057650" cy="3781425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numpy as np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a = np.arange(16).reshape(4, 4)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print(a.shape, a.dtype)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print(a.sum())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row2 = a[1]      # row 2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block = a[2:, 2:] # bottom-right 2x2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b = a + np.array([0, 1, 2, 3])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row i of b = row i of a + i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# that is broadcasting: (..,4) + (4,)</a:t>
            </a:r>
            <a:endParaRPr/>
          </a:p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25 / 32</a:t>
            </a:r>
            <a:endParaRPr/>
          </a:p>
        </p:txBody>
      </p:sp>
    </p:spTree>
  </p:cSld>
</p:sld>
</file>

<file path=ppt/slides/slide26.xml><?xml version="1.0" encoding="utf-8"?>
<p:sld xmlns:a="http://schemas.openxmlformats.org/drawingml/2006/main" xmlns:p="http://schemas.openxmlformats.org/presentationml/2006/main">
  <p:cSld>
    <p:spTree>
      <p:nvGrpSpPr>
        <p:cNvPr id="65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B · Pandas Exploration (25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width: 470, flexShrink: 0 }}&gt;&#10;      &lt;Box style={{ background: '#1A2230', borderRadius: 12, padding: '16px 22px' }}&gt;&#10;        &lt;Text style={{ fontSize: 14, color: '#8B97A8', marginBottom: 6 }}&gt;# your starting point&lt;/Text&gt;&#10;        &lt;Text style={{ fontSize: 14.5, color: '#A8D8B9', lineHeight: 1.9, fontFamily: 'Consolas, Menlo, monospace' }}&gt;&#10;          import pandas as pd{'\n\n'}&#10;          df = pd.read_csv('titanic.csv'){'\n'}&#10;          df.shape&amp;nbsp;&amp;nbsp;&amp;nbsp;# (891, 12){'\n'}&#10;          df.head()&amp;nbsp;&amp;nbsp;# first 5 rows{'\n'}&#10;          df.info()&amp;nbsp;&amp;nbsp;# types + missing{'\n'}&#10;          df.describe()&amp;nbsp;# numeric stats&#10;        &lt;/Text&gt;&#10;      &lt;/Box&gt;&#10;      &lt;Box style={{ background: '#F0F5FC', border: '1px solid #D6DCE5', borderRadius: 10, padding: '13px 18px', marginTop: 12 }}&gt;&#10;        &lt;Text style={{ fontSize: 14, color: '#4A5568', lineHeight: 1.6 }}&gt;&#10;          &lt;span style={{ fontWeight: 'bold', color: '#1E4FA8' }}&gt;Tip:&lt;/span&gt; in the info() output, any column with a non-null count below 891 has missing values — note them in Markdown first.&#10;        &lt;/Text&gt;&#10;      &lt;/Box&gt;&#10;    &lt;/Box&gt;&#10;    &lt;Box style={{ flex: 1, gap: 11, justifyContent: 'center' }}&gt;&#10;      &lt;Text style={{ fontSize: 17, color: '#0E3F8C', fontWeight: 'bold' }}&gt;Answer with Code&lt;/Text&gt;&#10;      {[&#10;        { q: 'Q1 · Which columns have missing values, and how many?', h: &quot;df.isna().sum()&quot; },&#10;        { q: 'Q2 · What is the mean fare for each of the three classes?', h: &quot;df.groupby('class')['fare'].mean()&quot; },&#10;        { q: 'Q3 · What is the survival rate of male passengers over 30?', h: &quot;df[(df['age']&gt;30) &amp; (df['sex']=='male')]['survived'].mean()&quot; },&#10;        { q: 'Q4 · How much higher is female survival than male?', h: &quot;df.groupby('sex')['survived'].mean()&quot; },&#10;      ].map((r, i) =&gt; (&#10;        &lt;Box key={i} style={{ background: '#F7F9FC', border: '1px solid #E5E7EB', borderLeft: '4px solid ' + ['#3D7BD9', '#1E4FA8', '#0E3F8C', '#1E4FA8'][i], borderRadius: 10, padding: '12px 16px' }}&gt;&#10;          &lt;Text style={{ fontSize: 15.5, color: '#1A2230', fontWeight: '600' }}&gt;{r.q}&lt;/Text&gt;&#10;          &lt;Text style={{ fontSize: 12.5, color: '#8B97A8', fontFamily: 'Consolas, Menlo, monospace', marginTop: 5 }}&gt;Hint: {r.h}&lt;/Text&gt;&#10;        &lt;/Box&gt;&#10;      ))}&#10;      &lt;Box style={{ borderLeft: '4px solid #0E3F8C', paddingLeft: 14 }}&gt;&#10;        &lt;Text style={{ fontSize: 14.5, color: '#1A2230', lineHeight: 1.55 }}&gt;&#10;          Under each answer, write a sentence starting with &lt;span style={{ fontWeight: 'bold', color: '#0E3F8C' }}&gt;&amp;quot;I found that...&amp;quot;&lt;/span&gt; — that is raw material for EDA step 5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6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581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B · Pandas Exploration (25 min)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60" name=""/>
          <p:cNvSpPr/>
          <p:nvPr/>
        </p:nvSpPr>
        <p:spPr>
          <a:xfrm rot="0" flipH="0" flipV="0">
            <a:off x="800100" y="1453162"/>
            <a:ext cx="4476750" cy="2733675"/>
          </a:xfrm>
          <a:prstGeom prst="roundRect">
            <a:avLst>
              <a:gd name="adj" fmla="val 4181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1009650" y="1605562"/>
            <a:ext cx="4057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your starting point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009650" y="1824637"/>
            <a:ext cx="4057650" cy="22098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import pandas as pd</a:t>
            </a:r>
            <a:r>
              <a:rPr sz="1088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 = pd.read_csv('titanic.csv')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df.shape   # (891, 12)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df.head()  # first 5 rows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df.info()  # types + missing</a:t>
            </a:r>
            <a:endParaRPr/>
          </a:p>
          <a:p>
            <a:pPr>
              <a:lnSpc>
                <a:spcPct val="190000"/>
              </a:lnSpc>
            </a:pPr>
            <a:r>
              <a:rPr lang="en-US" sz="1088">
                <a:solidFill>
                  <a:srgbClr val="A8D8B9"/>
                </a:solidFill>
                <a:latin typeface="Consolas"/>
                <a:ea typeface="Consolas"/>
              </a:rPr>
              <a:t>df.describe() # numeric stats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800100" y="4301137"/>
            <a:ext cx="447675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971550" y="4424962"/>
            <a:ext cx="41338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Tip:</a:t>
            </a:r>
            <a:r>
              <a:rPr lang="en-US" sz="1050">
                <a:solidFill>
                  <a:srgbClr val="4A5568"/>
                </a:solidFill>
                <a:latin typeface="Inter"/>
                <a:ea typeface="Inter"/>
              </a:rPr>
              <a:t> in the info() output, any column with a non-null count below 891 has missing values — note them in Markdown first.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5524500" y="2072287"/>
            <a:ext cx="5867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Inter"/>
                <a:ea typeface="Inter"/>
              </a:rPr>
              <a:t>Answer with Code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5562600" y="237708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67" name=""/>
          <p:cNvSpPr/>
          <p:nvPr/>
        </p:nvSpPr>
        <p:spPr>
          <a:xfrm rot="0" flipH="0" flipV="0">
            <a:off x="5562600" y="237708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5715000" y="249138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Q1 · Which columns have missing values, and how many?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5715000" y="271998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df.isna().sum()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5562600" y="308193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1" name=""/>
          <p:cNvSpPr/>
          <p:nvPr/>
        </p:nvSpPr>
        <p:spPr>
          <a:xfrm rot="0" flipH="0" flipV="0">
            <a:off x="5562600" y="308193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2" name="" descr="{&quot;isTemplate&quot;:true,&quot;type&quot;:&quot;text&quot;}"/>
          <p:cNvSpPr txBox="1"/>
          <p:nvPr/>
        </p:nvSpPr>
        <p:spPr>
          <a:xfrm rot="0" flipH="0" flipV="0">
            <a:off x="5715000" y="319623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Q2 · What is the mean fare for each of the three classes?</a:t>
            </a:r>
            <a:endParaRPr/>
          </a:p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5715000" y="342483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df.groupby('class')['fare'].mean()</a:t>
            </a:r>
            <a:endParaRPr/>
          </a:p>
        </p:txBody>
      </p:sp>
      <p:sp>
        <p:nvSpPr>
          <p:cNvPr id="674" name=""/>
          <p:cNvSpPr/>
          <p:nvPr/>
        </p:nvSpPr>
        <p:spPr>
          <a:xfrm rot="0" flipH="0" flipV="0">
            <a:off x="5562600" y="378678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5" name=""/>
          <p:cNvSpPr/>
          <p:nvPr/>
        </p:nvSpPr>
        <p:spPr>
          <a:xfrm rot="0" flipH="0" flipV="0">
            <a:off x="5562600" y="378678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5715000" y="390108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Q3 · What is the survival rate of male passengers over 30?</a:t>
            </a:r>
            <a:endParaRPr/>
          </a:p>
        </p:txBody>
      </p:sp>
      <p:sp>
        <p:nvSpPr>
          <p:cNvPr id="677" name="" descr="{&quot;isTemplate&quot;:true,&quot;type&quot;:&quot;text&quot;}"/>
          <p:cNvSpPr txBox="1"/>
          <p:nvPr/>
        </p:nvSpPr>
        <p:spPr>
          <a:xfrm rot="0" flipH="0" flipV="0">
            <a:off x="5715000" y="412968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df[(df['age']&gt;30) &amp; (df['sex']=='male')]['survived'].mean()</a:t>
            </a:r>
            <a:endParaRPr/>
          </a:p>
        </p:txBody>
      </p:sp>
      <p:sp>
        <p:nvSpPr>
          <p:cNvPr id="678" name=""/>
          <p:cNvSpPr/>
          <p:nvPr/>
        </p:nvSpPr>
        <p:spPr>
          <a:xfrm rot="0" flipH="0" flipV="0">
            <a:off x="5562600" y="4491637"/>
            <a:ext cx="5867400" cy="600075"/>
          </a:xfrm>
          <a:prstGeom prst="roundRect">
            <a:avLst>
              <a:gd name="adj" fmla="val 1587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5562600" y="4491637"/>
            <a:ext cx="5867400" cy="600075"/>
          </a:xfrm>
          <a:custGeom>
            <a:pathLst>
              <a:path w="616" h="63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7"/>
                </a:lnTo>
                <a:cubicBezTo>
                  <a:pt x="4" y="60"/>
                  <a:pt x="6" y="62"/>
                  <a:pt x="9" y="63"/>
                </a:cubicBezTo>
                <a:cubicBezTo>
                  <a:pt x="4" y="62"/>
                  <a:pt x="0" y="58"/>
                  <a:pt x="0" y="5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5715000" y="4605937"/>
            <a:ext cx="5524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Q4 · How much higher is female survival than male?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5715000" y="4834537"/>
            <a:ext cx="55245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Hint: </a:t>
            </a:r>
            <a:r>
              <a:rPr lang="en-US" sz="938">
                <a:solidFill>
                  <a:srgbClr val="8B97A8"/>
                </a:solidFill>
                <a:latin typeface="Consolas"/>
                <a:ea typeface="Consolas"/>
              </a:rPr>
              <a:t>df.groupby('sex')['survived'].mean()</a:t>
            </a:r>
            <a:endParaRPr/>
          </a:p>
        </p:txBody>
      </p:sp>
      <p:sp>
        <p:nvSpPr>
          <p:cNvPr id="682" name=""/>
          <p:cNvSpPr/>
          <p:nvPr/>
        </p:nvSpPr>
        <p:spPr>
          <a:xfrm rot="0" flipH="0" flipV="0">
            <a:off x="5524500" y="5196487"/>
            <a:ext cx="5905500" cy="514350"/>
          </a:xfrm>
          <a:custGeom>
            <a:pathLst>
              <a:path w="620" h="54">
                <a:moveTo>
                  <a:pt x="0" y="0"/>
                </a:moveTo>
                <a:lnTo>
                  <a:pt x="4" y="0"/>
                </a:lnTo>
                <a:lnTo>
                  <a:pt x="4" y="54"/>
                </a:lnTo>
                <a:lnTo>
                  <a:pt x="0" y="54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5695950" y="5196487"/>
            <a:ext cx="56959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Under each answer, write a sentence starting with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"I found that..."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— that is raw material for EDA step 5.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685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26 / 32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86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C · Three Charts, Three Questions (20 min)&lt;/Text&gt;&#10;    &lt;Text style={{ fontSize: 15, color: 'rgba(255,255,255,0.85)' }}&gt;Module 1 · Week 2&lt;/Text&gt;&#10;  &lt;/Box&gt;&#10;  &lt;Box style={{ position: 'absolute', top: 100, left: 0, width: '100%', height: 540, padding: '14px 84px', flexDirection: 'column' }}&gt;&#10;    &lt;Box style={{ flexDirection: 'row', gap: 18, flex: 1 }}&gt;&#10;      {[&#10;        {&#10;          n: 'Chart 1', q: 'What does passenger age look like?', t: 'Histogram', c: 'df[&quot;age&quot;].plot.hist(bins=30)',&#10;          r: 'Right-skewed? Clustered where? Any suspicious zeros?', col: '#3D7BD9',&#10;          bars: [30, 55, 82, 95, 88, 70, 52, 40, 28, 18, 12, 8],&#10;        },&#10;        {&#10;          n: 'Chart 2', q: 'Which class has the highest survival rate?', t: 'Bar chart', c: &quot;df.groupby('class')['survived'].mean().plot.bar()&quot;,&#10;          r: 'Does survival drop monotonically from first to third class?', col: '#1E4FA8',&#10;          bars: [62, 47, 24],&#10;        },&#10;        {&#10;          n: 'Chart 3', q: 'How do age and fare relate?', t: 'Scatter plot', c: &quot;df.plot.scatter(x='age', y='fare')&quot;,&#10;          r: 'Any ceiling effect (the 512 fare)? Where do cheap tickets cluster?', col: '#0E3F8C',&#10;          dots: true,&#10;        },&#10;      ].map((k, i) =&gt; (&#10;        &lt;Box key={i} style={{ flex: 1, background: '#F7F9FC', border: '1px solid #E5E7EB', borderTop: '4px solid ' + k.col, borderRadius: 12, padding: '15px 17px', justifyContent: 'space-between' }}&gt;&#10;          &lt;Box&gt;&#10;            &lt;Text style={{ fontSize: 13, color: '#8B97A8', fontWeight: '600' }}&gt;{k.n} · {k.t}&lt;/Text&gt;&#10;            &lt;Text style={{ fontSize: 17, color: '#1A2230', fontWeight: 'bold', marginTop: 2 }}&gt;{k.q}&lt;/Text&gt;&#10;          &lt;/Box&gt;&#10;          &lt;Box style={{ height: 100, justifyContent: 'center', alignItems: 'center' }}&gt;&#10;            {k.bars &amp;&amp; (&#10;              &lt;svg width={230} height={96} viewBox='0 0 230 96'&gt;&#10;                {k.bars.map((h, bi) =&gt; (&#10;                  &lt;rect key={bi} x={bi * (k.bars.length === 3 ? 74 : 19) + 8} y={88 - h * 0.8} width={k.bars.length === 3 ? 56 : 14} height={h * 0.8} rx='3' fill={k.col} opacity='0.85' /&gt;&#10;                ))}&#10;              &lt;/svg&gt;&#10;            )}&#10;            {k.dots &amp;&amp; (&#10;              &lt;svg width={230} height={96} viewBox='0 0 230 96'&gt;&#10;                {[[14, 78], [30, 82], [48, 70], [62, 66], [80, 74], [96, 60], [112, 64], [128, 50], [146, 44], [162, 40], [178, 52], [196, 34], [210, 30], [90, 8], [150, 10]].map((p, di) =&gt; (&#10;                  &lt;circle key={di} cx={p[0]} cy={p[1]} r='5.5' fill={k.col} opacity='0.75' /&gt;&#10;                ))}&#10;              &lt;/svg&gt;&#10;            )}&#10;          &lt;/Box&gt;&#10;          &lt;Box&gt;&#10;            &lt;Text style={{ fontSize: 12.5, color: '#1E4FA8', fontFamily: 'Consolas, Menlo, monospace' }}&gt;{k.c}&lt;/Text&gt;&#10;            &lt;Text style={{ fontSize: 13, color: '#4A5568', lineHeight: 1.5, marginTop: 5 }}&gt;Look for: {k.r}&lt;/Text&gt;&#10;          &lt;/Box&gt;&#10;        &lt;/Box&gt;&#10;      ))}&#10;    &lt;/Box&gt;&#10;    &lt;Box style={{ flexDirection: 'row', gap: 16, marginTop: 14 }}&gt;&#10;      &lt;Box style={{ flex: 1, background: '#F0F5FC', border: '1px solid #D6DCE5', borderRadius: 10, padding: '12px 20px' }}&gt;&#10;        &lt;Text style={{ fontSize: 14.5, color: '#1A2230', lineHeight: 1.6 }}&gt;&#10;          &lt;span style={{ fontWeight: 'bold', color: '#1E4FA8' }}&gt;Requirement:&lt;/span&gt; add 1–2 sentences of Markdown interpretation per chart — &lt;span style={{ fontWeight: 'bold', color: '#0E3F8C' }}&gt;a chart without a caption was not drawn&lt;/span&gt;.&#10;          &lt;span style={{ fontSize: 12.5, color: '#8B97A8' }}&gt;A chart without a caption is not analysis.&lt;/span&gt;&#10;        &lt;/Text&gt;&#10;      &lt;/Box&gt;&#10;      &lt;Box style={{ width: 420, borderLeft: '4px solid #0E3F8C', paddingLeft: 14, justifyContent: 'center' }}&gt;&#10;        &lt;Text style={{ fontSize: 14.5, color: '#1A2230', lineHeight: 1.6 }}&gt;&#10;          Stuck interpreting a chart? Revisit your Q1–Q4 answers for clue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7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8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4686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C · Three Charts, Three Questions (20 min)</a:t>
            </a:r>
            <a:endParaRPr/>
          </a:p>
        </p:txBody>
      </p:sp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691" name=""/>
          <p:cNvSpPr/>
          <p:nvPr/>
        </p:nvSpPr>
        <p:spPr>
          <a:xfrm rot="0" flipH="0" flipV="0">
            <a:off x="800100" y="1123950"/>
            <a:ext cx="3419475" cy="352019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2" name=""/>
          <p:cNvSpPr/>
          <p:nvPr/>
        </p:nvSpPr>
        <p:spPr>
          <a:xfrm rot="0" flipH="0" flipV="0">
            <a:off x="800100" y="1123950"/>
            <a:ext cx="3419475" cy="3520199"/>
          </a:xfrm>
          <a:custGeom>
            <a:pathLst>
              <a:path w="359" h="418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962025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1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Histogram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962025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What does passenger age look like?</a:t>
            </a:r>
            <a:endParaRPr/>
          </a:p>
        </p:txBody>
      </p:sp>
      <p:pic>
        <p:nvPicPr>
          <p:cNvPr id="69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419225" y="2044800"/>
            <a:ext cx="2190750" cy="914400"/>
          </a:xfrm>
          <a:prstGeom prst="rect">
            <a:avLst/>
          </a:prstGeom>
          <a:ln/>
        </p:spPr>
      </p:pic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962025" y="3825974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df["age"].plot.hist(bins=30)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962025" y="4016475"/>
            <a:ext cx="30956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Right-skewed? Clustered where? Any suspicious zeros?</a:t>
            </a:r>
            <a:endParaRPr/>
          </a:p>
        </p:txBody>
      </p:sp>
      <p:sp>
        <p:nvSpPr>
          <p:cNvPr id="698" name=""/>
          <p:cNvSpPr/>
          <p:nvPr/>
        </p:nvSpPr>
        <p:spPr>
          <a:xfrm rot="0" flipH="0" flipV="0">
            <a:off x="4391025" y="1123950"/>
            <a:ext cx="3409950" cy="3520199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99" name=""/>
          <p:cNvSpPr/>
          <p:nvPr/>
        </p:nvSpPr>
        <p:spPr>
          <a:xfrm rot="0" flipH="0" flipV="0">
            <a:off x="4391025" y="1123950"/>
            <a:ext cx="3409950" cy="3520199"/>
          </a:xfrm>
          <a:custGeom>
            <a:pathLst>
              <a:path w="358" h="418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4552950" y="1266825"/>
            <a:ext cx="3086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2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Bar chart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4552950" y="1438275"/>
            <a:ext cx="308610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Which class has the highest survival rate?</a:t>
            </a:r>
            <a:endParaRPr/>
          </a:p>
        </p:txBody>
      </p:sp>
      <p:pic>
        <p:nvPicPr>
          <p:cNvPr id="70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000625" y="2073375"/>
            <a:ext cx="2190750" cy="914400"/>
          </a:xfrm>
          <a:prstGeom prst="rect">
            <a:avLst/>
          </a:prstGeom>
          <a:ln/>
        </p:spPr>
      </p:pic>
      <p:sp>
        <p:nvSpPr>
          <p:cNvPr id="703" name="" descr="{&quot;isTemplate&quot;:true,&quot;type&quot;:&quot;text&quot;}"/>
          <p:cNvSpPr txBox="1"/>
          <p:nvPr/>
        </p:nvSpPr>
        <p:spPr>
          <a:xfrm rot="0" flipH="0" flipV="0">
            <a:off x="4552950" y="3683100"/>
            <a:ext cx="3086100" cy="285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df.groupby('class')['survived'].mean().plot.bar()</a:t>
            </a:r>
            <a:endParaRPr/>
          </a:p>
        </p:txBody>
      </p:sp>
      <p:sp>
        <p:nvSpPr>
          <p:cNvPr id="704" name="" descr="{&quot;isTemplate&quot;:true,&quot;type&quot;:&quot;text&quot;}"/>
          <p:cNvSpPr txBox="1"/>
          <p:nvPr/>
        </p:nvSpPr>
        <p:spPr>
          <a:xfrm rot="0" flipH="0" flipV="0">
            <a:off x="4552950" y="4016475"/>
            <a:ext cx="308610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Does survival drop monotonically from first to third class?</a:t>
            </a:r>
            <a:endParaRPr/>
          </a:p>
        </p:txBody>
      </p:sp>
      <p:sp>
        <p:nvSpPr>
          <p:cNvPr id="705" name=""/>
          <p:cNvSpPr/>
          <p:nvPr/>
        </p:nvSpPr>
        <p:spPr>
          <a:xfrm rot="0" flipH="0" flipV="0">
            <a:off x="7972425" y="1123950"/>
            <a:ext cx="3419475" cy="3520199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06" name=""/>
          <p:cNvSpPr/>
          <p:nvPr/>
        </p:nvSpPr>
        <p:spPr>
          <a:xfrm rot="0" flipH="0" flipV="0">
            <a:off x="7972425" y="1123950"/>
            <a:ext cx="3419475" cy="3520199"/>
          </a:xfrm>
          <a:custGeom>
            <a:pathLst>
              <a:path w="359" h="418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8134350" y="1266825"/>
            <a:ext cx="30956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Chart 3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 · </a:t>
            </a:r>
            <a:r>
              <a:rPr lang="en-US" sz="975" b="1">
                <a:solidFill>
                  <a:srgbClr val="8B97A8"/>
                </a:solidFill>
                <a:latin typeface="Inter"/>
                <a:ea typeface="Inter"/>
              </a:rPr>
              <a:t>Scatter plot</a:t>
            </a:r>
            <a:endParaRPr/>
          </a:p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8134350" y="1438275"/>
            <a:ext cx="3095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How do age and fare relate?</a:t>
            </a:r>
            <a:endParaRPr/>
          </a:p>
        </p:txBody>
      </p:sp>
      <p:pic>
        <p:nvPicPr>
          <p:cNvPr id="7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91550" y="2044800"/>
            <a:ext cx="2190750" cy="914400"/>
          </a:xfrm>
          <a:prstGeom prst="rect">
            <a:avLst/>
          </a:prstGeom>
          <a:ln/>
        </p:spPr>
      </p:pic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8134350" y="3825974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38">
                <a:solidFill>
                  <a:srgbClr val="1E4FA8"/>
                </a:solidFill>
                <a:latin typeface="Consolas"/>
                <a:ea typeface="Consolas"/>
              </a:rPr>
              <a:t>df.plot.scatter(x='age', y='fare')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8134350" y="4016475"/>
            <a:ext cx="30956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Look for: </a:t>
            </a: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Any ceiling effect (the 512 fare)? Where do cheap tickets cluster?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800100" y="4739399"/>
            <a:ext cx="6438900" cy="762000"/>
          </a:xfrm>
          <a:prstGeom prst="roundRect">
            <a:avLst>
              <a:gd name="adj" fmla="val 12500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990600" y="4853699"/>
            <a:ext cx="60579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Requirement: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 add 1–2 sentences of Markdown interpretation per chart — 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a chart without a caption was not drawn</a:t>
            </a: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.</a:t>
            </a: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A chart without a caption is not analysis.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7391400" y="4739399"/>
            <a:ext cx="4000500" cy="762000"/>
          </a:xfrm>
          <a:custGeom>
            <a:pathLst>
              <a:path w="420" h="80">
                <a:moveTo>
                  <a:pt x="0" y="0"/>
                </a:moveTo>
                <a:lnTo>
                  <a:pt x="4" y="0"/>
                </a:lnTo>
                <a:lnTo>
                  <a:pt x="4" y="80"/>
                </a:lnTo>
                <a:lnTo>
                  <a:pt x="0" y="8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7562850" y="4853699"/>
            <a:ext cx="38290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Stuck interpreting a chart? Revisit your Q1–Q4 answers for clues.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71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27 / 32</a:t>
            </a:r>
            <a:endParaRPr/>
          </a:p>
        </p:txBody>
      </p:sp>
    </p:spTree>
  </p:cSld>
</p:sld>
</file>

<file path=ppt/slides/slide28.xml><?xml version="1.0" encoding="utf-8"?>
<p:sld xmlns:a="http://schemas.openxmlformats.org/drawingml/2006/main" xmlns:p="http://schemas.openxmlformats.org/presentationml/2006/main">
  <p:cSld>
    <p:spTree>
      <p:nvGrpSpPr>
        <p:cNvPr id="71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Lab D · Cleaning Practice (15 min)&lt;/Text&gt;&#10;    &lt;Text style={{ fontSize: 15, color: 'rgba(255,255,255,0.85)' }}&gt;Module 1 · Week 2&lt;/Text&gt;&#10;  &lt;/Box&gt;&#10;  &lt;Box style={{ position: 'absolute', top: 100, left: 0, width: '100%', height: 540, padding: '14px 84px', flexDirection: 'row', gap: 26 }}&gt;&#10;    &lt;Box style={{ flex: 1, gap: 10 }}&gt;&#10;      &lt;Text style={{ fontSize: 16.5, color: '#0E3F8C', fontWeight: 'bold' }}&gt;Cleaning checklist — follow in order&lt;/Text&gt;&#10;      {[&#10;        { n: '1', t: 'age missing: 177', d: 'Skewed distribution → fill with the median and add an age_missing flag column.', c: '#3D7BD9' },&#10;        { n: '2', t: 'embarked missing: 2', d: 'Categorical with very few gaps → fill with the mode.', c: '#1E4FA8' },&#10;        { n: '3', t: 'fare outliers (0 and 512)', d: 'Clip to IQR bounds; do not drop — those 0-fare tickets may tell a story.', c: '#0E3F8C' },&#10;        { n: '4', t: 'Check for duplicates', d: 'df.duplicated().sum(); if any, drop_duplicates().', c: '#1E4FA8' },&#10;        { n: '5', t: 'Re-check after cleaning', d: 'Re-run df.info() + describe() and compare before vs after.', c: '#3D7BD9' },&#10;      ].map((r, i) =&gt; (&#10;        &lt;Box key={i} style={{ flexDirection: 'row', gap: 12, alignItems: 'flex-start', background: '#F7F9FC', border: '1px solid #E5E7EB', borderLeft: '4px solid ' + r.c, borderRadius: 10, padding: '10px 15px' }}&gt;&#10;          &lt;Box style={{ width: 26, height: 26, borderRadius: 8, background: '#E8EFF8', justifyContent: 'center', alignItems: 'center', flexShrink: 0 }}&gt;&#10;            &lt;Text style={{ fontSize: 13.5, color: '#1E4FA8', fontWeight: 'bold' }}&gt;{r.n}&lt;/Text&gt;&#10;          &lt;/Box&gt;&#10;          &lt;Box style={{ flex: 1 }}&gt;&#10;            &lt;Text style={{ fontSize: 15.5, color: '#1A2230', fontWeight: 'bold' }}&gt;{r.t}&lt;/Text&gt;&#10;            &lt;Text style={{ fontSize: 13.5, color: '#4A5568', marginTop: 1, lineHeight: 1.5 }}&gt;{r.d}&lt;/Text&gt;&#10;          &lt;/Box&gt;&#10;        &lt;/Box&gt;&#10;      ))}&#10;    &lt;/Box&gt;&#10;    &lt;Box style={{ width: 490, flexShrink: 0 }}&gt;&#10;      &lt;Box style={{ background: '#1A2230', borderRadius: 12, padding: '16px 22px', height: 400 }}&gt;&#10;        &lt;Text style={{ fontSize: 14, color: '#8B97A8', marginBottom: 8 }}&gt;# skeleton&lt;/Text&gt;&#10;        &lt;Text style={{ fontSize: 14, color: '#A8D8B9', lineHeight: 1.95, fontFamily: 'Consolas, Menlo, monospace' }}&gt;&#10;          # 1. age: median fill + flag{'\n'}&#10;          med = df['age'].median(){'\n'}&#10;          df['age_missing'] = df['age'].isna(){'\n'}&#10;          df['age'] = df['age'].fillna(med){'\n\n'}&#10;          # 2. embarked: mode fill{'\n'}&#10;          mode = df['embarked'].mode()[0]{'\n'}&#10;          df['embarked'] = df['embarked'].fillna(mode){'\n\n'}&#10;          # 3. fare: clip to IQR{'\n'}&#10;          q1, q3 = df['fare'].quantile([.25, .75]){'\n'}&#10;          iqr = q3 - q1{'\n'}&#10;          df['fare'] = df['fare'].clip(q1 - 1.5*iqr,{'\n'}&#10;          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&amp;nbsp; q3 + 1.5*iqr)&#10;        &lt;/Text&gt;&#10;      &lt;/Box&gt;&#10;      &lt;Box style={{ borderLeft: '4px solid #0E3F8C', paddingLeft: 14, marginTop: 12 }}&gt;&#10;        &lt;Text style={{ fontSize: 14, color: '#1A2230', lineHeight: 1.55 }}&gt;&#10;          Before each step, write a &lt;span style={{ color: '#0E3F8C', fontFamily: 'Consolas, Menlo, monospace' }}&gt;## why&lt;/span&gt; heading — that is what the rubric rewards.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8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2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33813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Lab D · Cleaning Practice (15 min)</a:t>
            </a:r>
            <a:endParaRPr/>
          </a:p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723" name="" descr="{&quot;isTemplate&quot;:true,&quot;type&quot;:&quot;text&quot;}"/>
          <p:cNvSpPr txBox="1"/>
          <p:nvPr/>
        </p:nvSpPr>
        <p:spPr>
          <a:xfrm rot="0" flipH="0" flipV="0">
            <a:off x="800100" y="1085850"/>
            <a:ext cx="5676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Cleaning checklist — follow in order</a:t>
            </a:r>
            <a:endParaRPr/>
          </a:p>
        </p:txBody>
      </p:sp>
      <p:sp>
        <p:nvSpPr>
          <p:cNvPr id="724" name=""/>
          <p:cNvSpPr/>
          <p:nvPr/>
        </p:nvSpPr>
        <p:spPr>
          <a:xfrm rot="0" flipH="0" flipV="0">
            <a:off x="838200" y="13716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25" name=""/>
          <p:cNvSpPr/>
          <p:nvPr/>
        </p:nvSpPr>
        <p:spPr>
          <a:xfrm rot="0" flipH="0" flipV="0">
            <a:off x="838200" y="13716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26" name=""/>
          <p:cNvSpPr/>
          <p:nvPr/>
        </p:nvSpPr>
        <p:spPr>
          <a:xfrm rot="0" flipH="0" flipV="0">
            <a:off x="981075" y="14668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7" name="" descr="{&quot;isTemplate&quot;:true,&quot;type&quot;:&quot;text&quot;}"/>
          <p:cNvSpPr txBox="1"/>
          <p:nvPr/>
        </p:nvSpPr>
        <p:spPr>
          <a:xfrm rot="0" flipH="0" flipV="0">
            <a:off x="1066800" y="15144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1</a:t>
            </a:r>
            <a:endParaRPr/>
          </a:p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1343025" y="14668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age missing: 177</a:t>
            </a:r>
            <a:endParaRPr/>
          </a:p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1343025" y="16573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Skewed distribution → fill with the median and add an age_missing flag column.</a:t>
            </a:r>
            <a:endParaRPr/>
          </a:p>
        </p:txBody>
      </p:sp>
      <p:sp>
        <p:nvSpPr>
          <p:cNvPr id="730" name=""/>
          <p:cNvSpPr/>
          <p:nvPr/>
        </p:nvSpPr>
        <p:spPr>
          <a:xfrm rot="0" flipH="0" flipV="0">
            <a:off x="838200" y="208597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1" name=""/>
          <p:cNvSpPr/>
          <p:nvPr/>
        </p:nvSpPr>
        <p:spPr>
          <a:xfrm rot="0" flipH="0" flipV="0">
            <a:off x="838200" y="208597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32" name=""/>
          <p:cNvSpPr/>
          <p:nvPr/>
        </p:nvSpPr>
        <p:spPr>
          <a:xfrm rot="0" flipH="0" flipV="0">
            <a:off x="981075" y="218122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1066800" y="22288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2</a:t>
            </a:r>
            <a:endParaRPr/>
          </a:p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1343025" y="218122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embarked missing: 2</a:t>
            </a:r>
            <a:endParaRPr/>
          </a:p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1343025" y="237172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Categorical with very few gaps → fill with the mode.</a:t>
            </a:r>
            <a:endParaRPr/>
          </a:p>
        </p:txBody>
      </p:sp>
      <p:sp>
        <p:nvSpPr>
          <p:cNvPr id="736" name=""/>
          <p:cNvSpPr/>
          <p:nvPr/>
        </p:nvSpPr>
        <p:spPr>
          <a:xfrm rot="0" flipH="0" flipV="0">
            <a:off x="838200" y="280035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37" name=""/>
          <p:cNvSpPr/>
          <p:nvPr/>
        </p:nvSpPr>
        <p:spPr>
          <a:xfrm rot="0" flipH="0" flipV="0">
            <a:off x="838200" y="280035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8" name=""/>
          <p:cNvSpPr/>
          <p:nvPr/>
        </p:nvSpPr>
        <p:spPr>
          <a:xfrm rot="0" flipH="0" flipV="0">
            <a:off x="981075" y="28956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1066800" y="294322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3</a:t>
            </a:r>
            <a:endParaRPr/>
          </a:p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1343025" y="289560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fare outliers (0 and 512)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1343025" y="308610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Clip to IQR bounds; do not drop — those 0-fare tickets may tell a story.</a:t>
            </a:r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838200" y="3514725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3" name=""/>
          <p:cNvSpPr/>
          <p:nvPr/>
        </p:nvSpPr>
        <p:spPr>
          <a:xfrm rot="0" flipH="0" flipV="0">
            <a:off x="838200" y="3514725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744" name=""/>
          <p:cNvSpPr/>
          <p:nvPr/>
        </p:nvSpPr>
        <p:spPr>
          <a:xfrm rot="0" flipH="0" flipV="0">
            <a:off x="981075" y="3609975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1066800" y="365760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4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1343025" y="3609975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Check for duplicates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1343025" y="3800475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df.duplicated().sum(); if any, drop_duplicates().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838200" y="4229100"/>
            <a:ext cx="5676900" cy="619125"/>
          </a:xfrm>
          <a:prstGeom prst="roundRect">
            <a:avLst>
              <a:gd name="adj" fmla="val 15385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49" name=""/>
          <p:cNvSpPr/>
          <p:nvPr/>
        </p:nvSpPr>
        <p:spPr>
          <a:xfrm rot="0" flipH="0" flipV="0">
            <a:off x="838200" y="4229100"/>
            <a:ext cx="5676900" cy="619125"/>
          </a:xfrm>
          <a:custGeom>
            <a:pathLst>
              <a:path w="596" h="65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59"/>
                </a:lnTo>
                <a:cubicBezTo>
                  <a:pt x="4" y="62"/>
                  <a:pt x="6" y="64"/>
                  <a:pt x="9" y="65"/>
                </a:cubicBezTo>
                <a:cubicBezTo>
                  <a:pt x="4" y="64"/>
                  <a:pt x="0" y="60"/>
                  <a:pt x="0" y="55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750" name=""/>
          <p:cNvSpPr/>
          <p:nvPr/>
        </p:nvSpPr>
        <p:spPr>
          <a:xfrm rot="0" flipH="0" flipV="0">
            <a:off x="981075" y="43243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1066800" y="437197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13" b="1">
                <a:solidFill>
                  <a:srgbClr val="1E4FA8"/>
                </a:solidFill>
                <a:latin typeface="Inter"/>
                <a:ea typeface="Inter"/>
              </a:rPr>
              <a:t>5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1343025" y="4324350"/>
            <a:ext cx="49911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63" b="1">
                <a:solidFill>
                  <a:srgbClr val="1A2230"/>
                </a:solidFill>
                <a:latin typeface="Inter"/>
                <a:ea typeface="Inter"/>
              </a:rPr>
              <a:t>Re-check after cleaning</a:t>
            </a:r>
            <a:endParaRPr/>
          </a:p>
        </p:txBody>
      </p:sp>
      <p:sp>
        <p:nvSpPr>
          <p:cNvPr id="753" name="" descr="{&quot;isTemplate&quot;:true,&quot;type&quot;:&quot;text&quot;}"/>
          <p:cNvSpPr txBox="1"/>
          <p:nvPr/>
        </p:nvSpPr>
        <p:spPr>
          <a:xfrm rot="0" flipH="0" flipV="0">
            <a:off x="1343025" y="4514850"/>
            <a:ext cx="4991100" cy="2381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Re-run df.info() + describe() and compare before vs after.</a:t>
            </a:r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6724650" y="1085850"/>
            <a:ext cx="4667250" cy="3810000"/>
          </a:xfrm>
          <a:prstGeom prst="roundRect">
            <a:avLst>
              <a:gd name="adj" fmla="val 3000"/>
            </a:avLst>
          </a:prstGeom>
          <a:solidFill>
            <a:srgbClr val="1A2230"/>
          </a:solidFill>
          <a:ln/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6934200" y="1238250"/>
            <a:ext cx="4248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# skeleton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6934200" y="1476375"/>
            <a:ext cx="4248150" cy="4371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1. age: median fill + flag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med = df['age'].median()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df['age_missing'] = df['age'].isna()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df['age'] = df['age'].fillna(med)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2. embarked: mode fill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mode = df['embarked'].mode()[0]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df['embarked'] = df['embarked'].fillna(mode)</a:t>
            </a:r>
            <a:r>
              <a:rPr sz="1050">
                <a:solidFill>
                  <a:srgbClr val="A8D8B9"/>
                </a:solidFill>
                <a:latin typeface="Consolas"/>
                <a:ea typeface="Consolas"/>
              </a:rPr>
              <a:t>
</a:t>
            </a: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# 3. fare: clip to IQR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q1, q3 = df['fare'].quantile([.25, .75])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iqr = q3 - q1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df['fare'] = df['fare'].clip(q1 - 1.5*iqr,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A8D8B9"/>
                </a:solidFill>
                <a:latin typeface="Consolas"/>
                <a:ea typeface="Consolas"/>
              </a:rPr>
              <a:t>                               q3 + 1.5*iqr)</a:t>
            </a:r>
            <a:endParaRPr/>
          </a:p>
        </p:txBody>
      </p:sp>
      <p:sp>
        <p:nvSpPr>
          <p:cNvPr id="757" name=""/>
          <p:cNvSpPr/>
          <p:nvPr/>
        </p:nvSpPr>
        <p:spPr>
          <a:xfrm rot="0" flipH="0" flipV="0">
            <a:off x="6724650" y="5010150"/>
            <a:ext cx="4705350" cy="257175"/>
          </a:xfrm>
          <a:custGeom>
            <a:pathLst>
              <a:path w="494" h="27">
                <a:moveTo>
                  <a:pt x="0" y="0"/>
                </a:moveTo>
                <a:lnTo>
                  <a:pt x="4" y="0"/>
                </a:lnTo>
                <a:lnTo>
                  <a:pt x="4" y="27"/>
                </a:lnTo>
                <a:lnTo>
                  <a:pt x="0" y="27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758" name="" descr="{&quot;isTemplate&quot;:true,&quot;type&quot;:&quot;text&quot;}"/>
          <p:cNvSpPr txBox="1"/>
          <p:nvPr/>
        </p:nvSpPr>
        <p:spPr>
          <a:xfrm rot="0" flipH="0" flipV="0">
            <a:off x="6896100" y="5010150"/>
            <a:ext cx="4495800" cy="2571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050">
                <a:solidFill>
                  <a:srgbClr val="1A2230"/>
                </a:solidFill>
                <a:latin typeface="Inter"/>
                <a:ea typeface="Inter"/>
              </a:rPr>
              <a:t>Before each step, write a </a:t>
            </a:r>
            <a:r>
              <a:rPr lang="en-US" sz="1050">
                <a:solidFill>
                  <a:srgbClr val="0E3F8C"/>
                </a:solidFill>
                <a:latin typeface="Inter"/>
                <a:ea typeface="Inter"/>
              </a:rPr>
              <a:t>## why</a:t>
            </a:r>
            <a:r>
              <a:rPr lang="en-US" sz="1050">
                <a:solidFill>
                  <a:srgbClr val="1A2230"/>
                </a:solidFill>
                <a:latin typeface="Inter"/>
                <a:ea typeface="Inter"/>
              </a:rPr>
              <a:t> heading — that is what the rubric rewards.</a:t>
            </a:r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28 / 32</a:t>
            </a:r>
            <a:endParaRPr/>
          </a:p>
        </p:txBody>
      </p:sp>
    </p:spTree>
  </p:cSld>
</p:sld>
</file>

<file path=ppt/slides/slide2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61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Deliverables &amp;amp; Rubric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, gap: 12 }}&gt;&#10;      &lt;Text style={{ fontSize: 16.5, color: '#0E3F8C', fontWeight: 'bold' }}&gt;What to Submit&lt;/Text&gt;&#10;      {[&#10;        { i: 'file-code', t: 'lab02_eda.ipynb', d: 'Complete notebook from load to cleaning, with Markdown notes' },&#10;        { i: 'chart-bar', t: 'Three charts + captions', d: 'Histogram / bar / scatter, each with 1–2 sentences' },&#10;        { i: 'lightbulb', t: 'Hypothesis list (≥3)', d: 'Format: &quot;I think ... because the charts show ...&quot;' },&#10;        { i: 'upload', t: 'Git push', d: 'Commit message: feat: complete lab02 EDA' },&#10;      ].map((r, i) =&gt; (&#10;        &lt;Box key={i} style={{ flexDirection: 'row', gap: 12, alignItems: 'center', background: '#F7F9FC', border: '1px solid #E5E7EB', borderRadius: 10, padding: '12px 16px' }}&gt;&#10;          &lt;Box style={{ width: 38, height: 38, borderRadius: 10, background: '#E8EFF8', justifyContent: 'center', alignItems: 'center', flexShrink: 0 }}&gt;&#10;            &lt;FAIcon name={r.i} style={{ fill: '#1E4FA8', width: 19, height: 19 }} /&gt;&#10;          &lt;/Box&gt;&#10;          &lt;Box style={{ flex: 1 }}&gt;&#10;            &lt;Text style={{ fontSize: 16, color: '#1A2230', fontWeight: 'bold' }}&gt;{r.t}&lt;/Text&gt;&#10;            &lt;Text style={{ fontSize: 13, color: '#4A5568', marginTop: 1 }}&gt;{r.d}&lt;/Text&gt;&#10;          &lt;/Box&gt;&#10;          &lt;FAIcon name='check-circle' style={{ fill: '#1E4FA8', width: 20, height: 20 }} /&gt;&#10;        &lt;/Box&gt;&#10;      ))}&#10;      &lt;Box style={{ background: '#0E3F8C', borderRadius: 10, padding: '11px 18px' }}&gt;&#10;        &lt;Text style={{ fontSize: 14.5, color: '#FFFFFF' }}&gt;Due: Monday 23:59 · submit via the course platform + a GitHub repo link&lt;/Text&gt;&#10;      &lt;/Box&gt;&#10;    &lt;/Box&gt;&#10;    &lt;Box style={{ width: 500, flexShrink: 0 }}&gt;&#10;      &lt;Text style={{ fontSize: 16.5, color: '#0E3F8C', fontWeight: 'bold', marginBottom: 10 }}&gt;Rubric (100 points)&lt;/Text&gt;&#10;      {[&#10;        { t: 'Runnable code, clear logic', w: 30, c: '#3D7BD9' },&#10;        { t: 'Complete 5-step EDA, findings documented', w: 30, c: '#1E4FA8' },&#10;        { t: 'Sensible, documented cleaning choices (the why)', w: 20, c: '#0E3F8C' },&#10;        { t: 'Correct chart choice + solid interpretation', w: 10, c: '#1E4FA8' },&#10;        { t: 'Quality hypotheses (testable, evidence-based)', w: 10, c: '#3D7BD9' },&#10;      ].map((r, i) =&gt; (&#10;        &lt;Box key={i} style={{ marginBottom: 10 }}&gt;&#10;          &lt;Box style={{ flexDirection: 'row', justifyContent: 'space-between', marginBottom: 4 }}&gt;&#10;            &lt;Text style={{ fontSize: 14.5, color: '#1A2230' }}&gt;{r.t}&lt;/Text&gt;&#10;            &lt;Text style={{ fontSize: 14.5, color: r.c, fontWeight: 'bold' }}&gt;{r.w} pts&lt;/Text&gt;&#10;          &lt;/Box&gt;&#10;          &lt;Box style={{ height: 8, background: '#F0F5FC', borderRadius: 4, overflow: 'hidden' }}&gt;&#10;            &lt;Box style={{ width: r.w + '%', height: '100%', background: r.c, borderRadius: 4 }} /&gt;&#10;          &lt;/Box&gt;&#10;        &lt;/Box&gt;&#10;      ))}&#10;      &lt;Box style={{ background: '#F0F5FC', border: '1px solid #D6DCE5', borderRadius: 10, padding: '12px 18px', marginTop: 6 }}&gt;&#10;        &lt;Text style={{ fontSize: 13.5, color: '#4A5568', lineHeight: 1.6 }}&gt;&#10;          This Lab counts toward &amp;quot;Lab participation&amp;quot; (20%). The end-of-class quiz adds 10% to the Lab score.&#10;          &lt;span style={{ color: '#8B97A8' }}&gt;Late policy: -10% per 24h late.&lt;/span&gt;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29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6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64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Deliverables &amp; Rubric</a:t>
            </a:r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00100" y="11049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What to Submit</a:t>
            </a:r>
            <a:endParaRPr/>
          </a:p>
        </p:txBody>
      </p:sp>
      <p:sp>
        <p:nvSpPr>
          <p:cNvPr id="767" name=""/>
          <p:cNvSpPr/>
          <p:nvPr/>
        </p:nvSpPr>
        <p:spPr>
          <a:xfrm rot="0" flipH="0" flipV="0">
            <a:off x="800100" y="14097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68" name=""/>
          <p:cNvSpPr/>
          <p:nvPr/>
        </p:nvSpPr>
        <p:spPr>
          <a:xfrm rot="0" flipH="0" flipV="0">
            <a:off x="952500" y="15240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47750" y="1619250"/>
            <a:ext cx="180975" cy="180975"/>
          </a:xfrm>
          <a:prstGeom prst="rect">
            <a:avLst/>
          </a:prstGeom>
          <a:ln/>
        </p:spPr>
      </p:pic>
      <p:sp>
        <p:nvSpPr>
          <p:cNvPr id="770" name="" descr="{&quot;isTemplate&quot;:true,&quot;type&quot;:&quot;text&quot;}"/>
          <p:cNvSpPr txBox="1"/>
          <p:nvPr/>
        </p:nvSpPr>
        <p:spPr>
          <a:xfrm rot="0" flipH="0" flipV="0">
            <a:off x="1428750" y="15335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lab02_eda.ipynb</a:t>
            </a:r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1428750" y="17335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Complete notebook from load to cleaning, with Markdown notes</a:t>
            </a:r>
            <a:endParaRPr/>
          </a:p>
        </p:txBody>
      </p:sp>
      <p:pic>
        <p:nvPicPr>
          <p:cNvPr id="7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1609725"/>
            <a:ext cx="190500" cy="190500"/>
          </a:xfrm>
          <a:prstGeom prst="rect">
            <a:avLst/>
          </a:prstGeom>
          <a:ln/>
        </p:spPr>
      </p:pic>
      <p:sp>
        <p:nvSpPr>
          <p:cNvPr id="773" name=""/>
          <p:cNvSpPr/>
          <p:nvPr/>
        </p:nvSpPr>
        <p:spPr>
          <a:xfrm rot="0" flipH="0" flipV="0">
            <a:off x="800100" y="21145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74" name=""/>
          <p:cNvSpPr/>
          <p:nvPr/>
        </p:nvSpPr>
        <p:spPr>
          <a:xfrm rot="0" flipH="0" flipV="0">
            <a:off x="952500" y="22288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1047750" y="2324100"/>
            <a:ext cx="180975" cy="180975"/>
          </a:xfrm>
          <a:prstGeom prst="rect">
            <a:avLst/>
          </a:prstGeom>
          <a:ln/>
        </p:spPr>
      </p:pic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1428750" y="22383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Three charts + captions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1428750" y="24384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Histogram / bar / scatter, each with 1–2 sentences</a:t>
            </a:r>
            <a:endParaRPr/>
          </a:p>
        </p:txBody>
      </p:sp>
      <p:pic>
        <p:nvPicPr>
          <p:cNvPr id="7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2314575"/>
            <a:ext cx="190500" cy="190500"/>
          </a:xfrm>
          <a:prstGeom prst="rect">
            <a:avLst/>
          </a:prstGeom>
          <a:ln/>
        </p:spPr>
      </p:pic>
      <p:sp>
        <p:nvSpPr>
          <p:cNvPr id="779" name=""/>
          <p:cNvSpPr/>
          <p:nvPr/>
        </p:nvSpPr>
        <p:spPr>
          <a:xfrm rot="0" flipH="0" flipV="0">
            <a:off x="800100" y="281940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0" name=""/>
          <p:cNvSpPr/>
          <p:nvPr/>
        </p:nvSpPr>
        <p:spPr>
          <a:xfrm rot="0" flipH="0" flipV="0">
            <a:off x="952500" y="29337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1047750" y="3028950"/>
            <a:ext cx="180975" cy="180975"/>
          </a:xfrm>
          <a:prstGeom prst="rect">
            <a:avLst/>
          </a:prstGeom>
          <a:ln/>
        </p:spPr>
      </p:pic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1428750" y="294322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Hypothesis list (≥3)</a:t>
            </a:r>
            <a:endParaRPr/>
          </a:p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1428750" y="314325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Format: "I think ... because the charts show ..."</a:t>
            </a:r>
            <a:endParaRPr/>
          </a:p>
        </p:txBody>
      </p:sp>
      <p:pic>
        <p:nvPicPr>
          <p:cNvPr id="7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019425"/>
            <a:ext cx="190500" cy="190500"/>
          </a:xfrm>
          <a:prstGeom prst="rect">
            <a:avLst/>
          </a:prstGeom>
          <a:ln/>
        </p:spPr>
      </p:pic>
      <p:sp>
        <p:nvSpPr>
          <p:cNvPr id="785" name=""/>
          <p:cNvSpPr/>
          <p:nvPr/>
        </p:nvSpPr>
        <p:spPr>
          <a:xfrm rot="0" flipH="0" flipV="0">
            <a:off x="800100" y="3524250"/>
            <a:ext cx="5581650" cy="590550"/>
          </a:xfrm>
          <a:prstGeom prst="roundRect">
            <a:avLst>
              <a:gd name="adj" fmla="val 161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6" name=""/>
          <p:cNvSpPr/>
          <p:nvPr/>
        </p:nvSpPr>
        <p:spPr>
          <a:xfrm rot="0" flipH="0" flipV="0">
            <a:off x="952500" y="36385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7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1047750" y="3733800"/>
            <a:ext cx="180975" cy="180975"/>
          </a:xfrm>
          <a:prstGeom prst="rect">
            <a:avLst/>
          </a:prstGeom>
          <a:ln/>
        </p:spPr>
      </p:pic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1428750" y="3648075"/>
            <a:ext cx="4495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Git push</a:t>
            </a:r>
            <a:endParaRPr/>
          </a:p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1428750" y="3848100"/>
            <a:ext cx="4495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Commit message: feat: complete lab02 EDA</a:t>
            </a:r>
            <a:endParaRPr/>
          </a:p>
        </p:txBody>
      </p:sp>
      <p:pic>
        <p:nvPicPr>
          <p:cNvPr id="7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38850" y="3724275"/>
            <a:ext cx="190500" cy="190500"/>
          </a:xfrm>
          <a:prstGeom prst="rect">
            <a:avLst/>
          </a:prstGeom>
          <a:ln/>
        </p:spPr>
      </p:pic>
      <p:sp>
        <p:nvSpPr>
          <p:cNvPr id="791" name=""/>
          <p:cNvSpPr/>
          <p:nvPr/>
        </p:nvSpPr>
        <p:spPr>
          <a:xfrm rot="0" flipH="0" flipV="0">
            <a:off x="800100" y="4229100"/>
            <a:ext cx="5581650" cy="381000"/>
          </a:xfrm>
          <a:prstGeom prst="roundRect">
            <a:avLst>
              <a:gd name="adj" fmla="val 25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2" name="" descr="{&quot;isTemplate&quot;:true,&quot;type&quot;:&quot;text&quot;}"/>
          <p:cNvSpPr txBox="1"/>
          <p:nvPr/>
        </p:nvSpPr>
        <p:spPr>
          <a:xfrm rot="0" flipH="0" flipV="0">
            <a:off x="971550" y="4333875"/>
            <a:ext cx="5238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Due: Monday 23:59 · submit via the course platform + a GitHub repo link</a:t>
            </a:r>
            <a:endParaRPr/>
          </a:p>
        </p:txBody>
      </p:sp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6629400" y="1104900"/>
            <a:ext cx="4762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38" b="1">
                <a:solidFill>
                  <a:srgbClr val="0E3F8C"/>
                </a:solidFill>
                <a:latin typeface="Inter"/>
                <a:ea typeface="Inter"/>
              </a:rPr>
              <a:t>Rubric (100 points)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6629400" y="1390650"/>
            <a:ext cx="1628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Runnable code, clear logic</a:t>
            </a:r>
            <a:endParaRPr/>
          </a:p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10991850" y="1390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30</a:t>
            </a: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796" name=""/>
          <p:cNvSpPr/>
          <p:nvPr/>
        </p:nvSpPr>
        <p:spPr>
          <a:xfrm rot="0" flipH="0" flipV="0">
            <a:off x="6629400" y="1600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797" name=""/>
          <p:cNvSpPr/>
          <p:nvPr/>
        </p:nvSpPr>
        <p:spPr>
          <a:xfrm rot="0" flipH="0" flipV="0">
            <a:off x="6629400" y="1600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6629400" y="1771650"/>
            <a:ext cx="2695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Complete 5-step EDA, findings documented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10991850" y="1771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30</a:t>
            </a: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0" name=""/>
          <p:cNvSpPr/>
          <p:nvPr/>
        </p:nvSpPr>
        <p:spPr>
          <a:xfrm rot="0" flipH="0" flipV="0">
            <a:off x="6629400" y="1981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1" name=""/>
          <p:cNvSpPr/>
          <p:nvPr/>
        </p:nvSpPr>
        <p:spPr>
          <a:xfrm rot="0" flipH="0" flipV="0">
            <a:off x="6629400" y="1981200"/>
            <a:ext cx="14287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6629400" y="2152650"/>
            <a:ext cx="3038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Sensible, documented cleaning choices (the why)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10991850" y="2152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20</a:t>
            </a: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4" name=""/>
          <p:cNvSpPr/>
          <p:nvPr/>
        </p:nvSpPr>
        <p:spPr>
          <a:xfrm rot="0" flipH="0" flipV="0">
            <a:off x="6629400" y="2362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5" name=""/>
          <p:cNvSpPr/>
          <p:nvPr/>
        </p:nvSpPr>
        <p:spPr>
          <a:xfrm rot="0" flipH="0" flipV="0">
            <a:off x="6629400" y="2362200"/>
            <a:ext cx="952500" cy="762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6629400" y="2533650"/>
            <a:ext cx="2524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Correct chart choice + solid interpretation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10991850" y="2533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10</a:t>
            </a:r>
            <a:r>
              <a:rPr lang="en-US" sz="1088" b="1">
                <a:solidFill>
                  <a:srgbClr val="1E4FA8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08" name=""/>
          <p:cNvSpPr/>
          <p:nvPr/>
        </p:nvSpPr>
        <p:spPr>
          <a:xfrm rot="0" flipH="0" flipV="0">
            <a:off x="6629400" y="2743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09" name=""/>
          <p:cNvSpPr/>
          <p:nvPr/>
        </p:nvSpPr>
        <p:spPr>
          <a:xfrm rot="0" flipH="0" flipV="0">
            <a:off x="6629400" y="2743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0" name="" descr="{&quot;isTemplate&quot;:true,&quot;type&quot;:&quot;text&quot;}"/>
          <p:cNvSpPr txBox="1"/>
          <p:nvPr/>
        </p:nvSpPr>
        <p:spPr>
          <a:xfrm rot="0" flipH="0" flipV="0">
            <a:off x="6629400" y="2914650"/>
            <a:ext cx="2847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Quality hypotheses (testable, evidence-based)</a:t>
            </a:r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10991850" y="2914650"/>
            <a:ext cx="40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10</a:t>
            </a:r>
            <a:r>
              <a:rPr lang="en-US" sz="1088" b="1">
                <a:solidFill>
                  <a:srgbClr val="3D7BD9"/>
                </a:solidFill>
                <a:latin typeface="Inter"/>
                <a:ea typeface="Inter"/>
              </a:rPr>
              <a:t> pts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6629400" y="3124200"/>
            <a:ext cx="4762500" cy="76200"/>
          </a:xfrm>
          <a:prstGeom prst="roundRect">
            <a:avLst>
              <a:gd name="adj" fmla="val 50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13" name=""/>
          <p:cNvSpPr/>
          <p:nvPr/>
        </p:nvSpPr>
        <p:spPr>
          <a:xfrm rot="0" flipH="0" flipV="0">
            <a:off x="6629400" y="3124200"/>
            <a:ext cx="47625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4" name=""/>
          <p:cNvSpPr/>
          <p:nvPr/>
        </p:nvSpPr>
        <p:spPr>
          <a:xfrm rot="0" flipH="0" flipV="0">
            <a:off x="6629400" y="3352800"/>
            <a:ext cx="4762500" cy="723900"/>
          </a:xfrm>
          <a:prstGeom prst="roundRect">
            <a:avLst>
              <a:gd name="adj" fmla="val 1315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15" name="" descr="{&quot;isTemplate&quot;:true,&quot;type&quot;:&quot;text&quot;}"/>
          <p:cNvSpPr txBox="1"/>
          <p:nvPr/>
        </p:nvSpPr>
        <p:spPr>
          <a:xfrm rot="0" flipH="0" flipV="0">
            <a:off x="6800850" y="3467100"/>
            <a:ext cx="4419600" cy="495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13">
                <a:solidFill>
                  <a:srgbClr val="4A5568"/>
                </a:solidFill>
                <a:latin typeface="Inter"/>
                <a:ea typeface="Inter"/>
              </a:rPr>
              <a:t>This Lab counts toward "Lab participation" (20%). The end-of-class quiz adds 10% to the Lab score.</a:t>
            </a:r>
            <a:r>
              <a:rPr lang="en-US" sz="1013">
                <a:solidFill>
                  <a:srgbClr val="8B97A8"/>
                </a:solidFill>
                <a:latin typeface="Inter"/>
                <a:ea typeface="Inter"/>
              </a:rPr>
              <a:t>Late policy: -10% per 24h late.</a:t>
            </a:r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17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29 / 32</a:t>
            </a:r>
            <a:endParaRPr/>
          </a:p>
        </p:txBody>
      </p:sp>
    </p:spTree>
  </p:cSld>
</p:sld>
</file>

<file path=ppt/slides/slide30.xml><?xml version="1.0" encoding="utf-8"?>
<p:sld xmlns:a="http://schemas.openxmlformats.org/drawingml/2006/main" xmlns:p="http://schemas.openxmlformats.org/presentationml/2006/main">
  <p:cSld>
    <p:spTree>
      <p:nvGrpSpPr>
        <p:cNvPr id="838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Quick Quiz (Show of Hands)&lt;/Text&gt;&#10;    &lt;Text style={{ fontSize: 15, color: 'rgba(255,255,255,0.85)' }}&gt;Module 1 · Week 2&lt;/Text&gt;&#10;  &lt;/Box&gt;&#10;  &lt;Box style={{ position: 'absolute', top: 100, left: 0, width: '100%', height: 540, padding: '16px 84px', flexDirection: 'column' }}&gt;&#10;    &lt;Box style={{ flexDirection: 'row', gap: 18, flex: 1 }}&gt;&#10;      &lt;Box style={{ flex: 1, background: '#F7F9FC', border: '1px solid #E5E7EB', borderTop: '4px solid #3D7BD9', borderRadius: 12, padding: '18px 20px', justifyContent: 'space-between' }}&gt;&#10;        &lt;Box&gt;&#10;          &lt;Text style={{ fontSize: 14, color: '#8B97A8', fontWeight: '600' }}&gt;Q1 · Single choice&lt;/Text&gt;&#10;          &lt;Text style={{ fontSize: 17, color: '#1A2230', fontWeight: 'bold', marginTop: 6, lineHeight: 1.5 }}&gt;NumPy vectorization is 10–100× faster than a for loop. The main reason is:&lt;/Text&gt;&#10;        &lt;/Box&gt;&#10;        {['A. Python 3 itself got faster', 'B. Loop runs in C + contiguous memory + SIMD', 'C. NumPy secretly calls the GPU'].map((o, i) =&gt; (&#10;          &lt;Box key={i} style={{ background: i === 1 ? '#E8EFF8' : '#FFFFFF', border: '1px solid ' + (i === 1 ? '#1E4FA8' : '#E5E7EB'), borderRadius: 8, padding: '9px 14px' }}&gt;&#10;            &lt;Text style={{ fontSize: 14.5, color: i === 1 ? '#0E3F8C' : '#4A5568', fontWeight: i === 1 ? 'bold' : '400' }}&gt;{o}&lt;/Text&gt;&#10;          &lt;/Box&gt;&#10;        ))}&#10;      &lt;/Box&gt;&#10;      &lt;Box style={{ flex: 1, background: '#F7F9FC', border: '1px solid #E5E7EB', borderTop: '4px solid #1E4FA8', borderRadius: 12, padding: '18px 20px', justifyContent: 'space-between' }}&gt;&#10;        &lt;Box&gt;&#10;          &lt;Text style={{ fontSize: 14, color: '#8B97A8', fontWeight: '600' }}&gt;Q2 · Single choice&lt;/Text&gt;&#10;          &lt;Text style={{ fontSize: 17, color: '#1A2230', fontWeight: 'bold', marginTop: 6, lineHeight: 1.5 }}&gt;The age column is ~20% missing and right-skewed. The most sensible first step is:&lt;/Text&gt;&#10;        &lt;/Box&gt;&#10;        {['A. Drop the whole column', 'B. Fill everything with 0', 'C. Fill with the median and keep a missing-flag column'].map((o, i) =&gt; (&#10;          &lt;Box key={i} style={{ background: i === 2 ? '#E8EFF8' : '#FFFFFF', border: '1px solid ' + (i === 2 ? '#1E4FA8' : '#E5E7EB'), borderRadius: 8, padding: '9px 14px' }}&gt;&#10;            &lt;Text style={{ fontSize: 14.5, color: i === 2 ? '#0E3F8C' : '#4A5568', fontWeight: i === 2 ? 'bold' : '400' }}&gt;{o}&lt;/Text&gt;&#10;          &lt;/Box&gt;&#10;        ))}&#10;      &lt;/Box&gt;&#10;      &lt;Box style={{ flex: 1, background: '#F7F9FC', border: '1px solid #E5E7EB', borderTop: '4px solid #0E3F8C', borderRadius: 12, padding: '18px 20px', justifyContent: 'space-between' }}&gt;&#10;        &lt;Box&gt;&#10;          &lt;Text style={{ fontSize: 14, color: '#8B97A8', fontWeight: '600' }}&gt;Q3 · True or False&lt;/Text&gt;&#10;          &lt;Text style={{ fontSize: 17, color: '#1A2230', fontWeight: 'bold', marginTop: 6, lineHeight: 1.5 }}&gt;&amp;quot;A scatter plot is the right chart to show the distribution of a single variable.&amp;quot;&lt;/Text&gt;&#10;        &lt;/Box&gt;&#10;        &lt;Box style={{ background: '#F0F5FC', borderRadius: 10, padding: '14px 16px' }}&gt;&#10;          &lt;Text style={{ fontSize: 15, color: '#4A5568', lineHeight: 1.6 }}&gt;&#10;            ✗ False — that is the job of a &lt;span style={{ fontWeight: 'bold', color: '#0E3F8C' }}&gt;histogram&lt;/span&gt;;&#10;            scatter plots answer questions about the &lt;span style={{ fontWeight: 'bold', color: '#0E3F8C' }}&gt;relationship between two variables&lt;/span&gt;.&#10;          &lt;/Text&gt;&#10;        &lt;/Box&gt;&#10;        &lt;Text style={{ fontSize: 13, color: '#8B97A8' }}&gt;Chart-choosing rule: question first, chart second&lt;/Text&gt;&#10;      &lt;/Box&gt;&#10;    &lt;/Box&gt;&#10;    &lt;Box style={{ flexDirection: 'row', gap: 16, marginTop: 14, alignItems: 'center' }}&gt;&#10;      &lt;Box style={{ width: 170, background: '#0E3F8C', borderRadius: 10, padding: '11px 16px', flexShrink: 0 }}&gt;&#10;        &lt;Text style={{ fontSize: 14.5, color: '#FFFFFF', fontWeight: 'bold' }}&gt;Vote first, then review&lt;/Text&gt;&#10;      &lt;/Box&gt;&#10;      &lt;Text style={{ fontSize: 14.5, color: '#1A2230', lineHeight: 1.6, flex: 1 }}&gt;&#10;        Each question: the class votes (A / B / C), then we reveal the answer and one student explains the reasoning. Getting all 3 right adds +0.5 to your final &amp;quot;Lab participation&amp;quot;.&#10;        &lt;span style={{ fontSize: 12.5, color: '#8B97A8' }}&gt;Vote first, reveal second — explain the why.&lt;/span&gt;&#10;      &lt;/Text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0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4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28098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Quick Quiz (Show of Hands)</a:t>
            </a:r>
            <a:endParaRPr/>
          </a:p>
        </p:txBody>
      </p:sp>
      <p:sp>
        <p:nvSpPr>
          <p:cNvPr id="842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843" name=""/>
          <p:cNvSpPr/>
          <p:nvPr/>
        </p:nvSpPr>
        <p:spPr>
          <a:xfrm rot="0" flipH="0" flipV="0">
            <a:off x="800100" y="1143000"/>
            <a:ext cx="3419475" cy="4162425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44" name=""/>
          <p:cNvSpPr/>
          <p:nvPr/>
        </p:nvSpPr>
        <p:spPr>
          <a:xfrm rot="0" flipH="0" flipV="0">
            <a:off x="800100" y="1143000"/>
            <a:ext cx="3419475" cy="4162425"/>
          </a:xfrm>
          <a:custGeom>
            <a:pathLst>
              <a:path w="359" h="437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5" name="" descr="{&quot;isTemplate&quot;:true,&quot;type&quot;:&quot;text&quot;}"/>
          <p:cNvSpPr txBox="1"/>
          <p:nvPr/>
        </p:nvSpPr>
        <p:spPr>
          <a:xfrm rot="0" flipH="0" flipV="0">
            <a:off x="990600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Q1 · Single choice</a:t>
            </a:r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990600" y="1533525"/>
            <a:ext cx="303847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NumPy vectorization is 10–100× faster than a for loop. The main reason is:</a:t>
            </a:r>
            <a:endParaRPr/>
          </a:p>
        </p:txBody>
      </p:sp>
      <p:sp>
        <p:nvSpPr>
          <p:cNvPr id="847" name=""/>
          <p:cNvSpPr/>
          <p:nvPr/>
        </p:nvSpPr>
        <p:spPr>
          <a:xfrm rot="0" flipH="0" flipV="0">
            <a:off x="990600" y="271462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1123950" y="280035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A. Python 3 itself got faster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990600" y="3657600"/>
            <a:ext cx="3038475" cy="504825"/>
          </a:xfrm>
          <a:prstGeom prst="roundRect">
            <a:avLst>
              <a:gd name="adj" fmla="val 15094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2771775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B. Loop runs in C + contiguous memory + SIMD</a:t>
            </a:r>
            <a:endParaRPr/>
          </a:p>
        </p:txBody>
      </p:sp>
      <p:sp>
        <p:nvSpPr>
          <p:cNvPr id="851" name=""/>
          <p:cNvSpPr/>
          <p:nvPr/>
        </p:nvSpPr>
        <p:spPr>
          <a:xfrm rot="0" flipH="0" flipV="0">
            <a:off x="990600" y="4752975"/>
            <a:ext cx="3038475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1123950" y="4838700"/>
            <a:ext cx="2771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C. NumPy secretly calls the GPU</a:t>
            </a:r>
            <a:endParaRPr/>
          </a:p>
        </p:txBody>
      </p:sp>
      <p:sp>
        <p:nvSpPr>
          <p:cNvPr id="853" name=""/>
          <p:cNvSpPr/>
          <p:nvPr/>
        </p:nvSpPr>
        <p:spPr>
          <a:xfrm rot="0" flipH="0" flipV="0">
            <a:off x="4391025" y="1143000"/>
            <a:ext cx="3409950" cy="4162425"/>
          </a:xfrm>
          <a:prstGeom prst="roundRect">
            <a:avLst>
              <a:gd name="adj" fmla="val 3352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54" name=""/>
          <p:cNvSpPr/>
          <p:nvPr/>
        </p:nvSpPr>
        <p:spPr>
          <a:xfrm rot="0" flipH="0" flipV="0">
            <a:off x="4391025" y="1143000"/>
            <a:ext cx="3409950" cy="4162425"/>
          </a:xfrm>
          <a:custGeom>
            <a:pathLst>
              <a:path w="358" h="437">
                <a:moveTo>
                  <a:pt x="347" y="0"/>
                </a:moveTo>
                <a:cubicBezTo>
                  <a:pt x="352" y="0"/>
                  <a:pt x="357" y="4"/>
                  <a:pt x="358" y="10"/>
                </a:cubicBezTo>
                <a:cubicBezTo>
                  <a:pt x="357" y="6"/>
                  <a:pt x="354" y="4"/>
                  <a:pt x="350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6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4581525" y="1314450"/>
            <a:ext cx="3028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Q2 · Single choice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4581525" y="1533525"/>
            <a:ext cx="30289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The age column is ~20% missing and right-skewed. The most sensible first step is: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4581525" y="2905125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58" name="" descr="{&quot;isTemplate&quot;:true,&quot;type&quot;:&quot;text&quot;}"/>
          <p:cNvSpPr txBox="1"/>
          <p:nvPr/>
        </p:nvSpPr>
        <p:spPr>
          <a:xfrm rot="0" flipH="0" flipV="0">
            <a:off x="4714875" y="2990850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A. Drop the whole column</a:t>
            </a:r>
            <a:endParaRPr/>
          </a:p>
        </p:txBody>
      </p:sp>
      <p:sp>
        <p:nvSpPr>
          <p:cNvPr id="859" name=""/>
          <p:cNvSpPr/>
          <p:nvPr/>
        </p:nvSpPr>
        <p:spPr>
          <a:xfrm rot="0" flipH="0" flipV="0">
            <a:off x="4581525" y="3752850"/>
            <a:ext cx="302895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60" name="" descr="{&quot;isTemplate&quot;:true,&quot;type&quot;:&quot;text&quot;}"/>
          <p:cNvSpPr txBox="1"/>
          <p:nvPr/>
        </p:nvSpPr>
        <p:spPr>
          <a:xfrm rot="0" flipH="0" flipV="0">
            <a:off x="4714875" y="3838575"/>
            <a:ext cx="2762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>
                <a:solidFill>
                  <a:srgbClr val="4A5568"/>
                </a:solidFill>
                <a:latin typeface="Inter"/>
                <a:ea typeface="Inter"/>
              </a:rPr>
              <a:t>B. Fill everything with 0</a:t>
            </a:r>
            <a:endParaRPr/>
          </a:p>
        </p:txBody>
      </p:sp>
      <p:sp>
        <p:nvSpPr>
          <p:cNvPr id="861" name=""/>
          <p:cNvSpPr/>
          <p:nvPr/>
        </p:nvSpPr>
        <p:spPr>
          <a:xfrm rot="0" flipH="0" flipV="0">
            <a:off x="4581525" y="4591050"/>
            <a:ext cx="3028950" cy="504825"/>
          </a:xfrm>
          <a:prstGeom prst="roundRect">
            <a:avLst>
              <a:gd name="adj" fmla="val 15094"/>
            </a:avLst>
          </a:prstGeom>
          <a:solidFill>
            <a:srgbClr val="E8EFF8"/>
          </a:solidFill>
          <a:ln w="127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4714875" y="4676775"/>
            <a:ext cx="2762250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0E3F8C"/>
                </a:solidFill>
                <a:latin typeface="Inter"/>
                <a:ea typeface="Inter"/>
              </a:rPr>
              <a:t>C. Fill with the median and keep a missing-flag column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7972425" y="1143000"/>
            <a:ext cx="3419475" cy="4162425"/>
          </a:xfrm>
          <a:prstGeom prst="roundRect">
            <a:avLst>
              <a:gd name="adj" fmla="val 334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4" name=""/>
          <p:cNvSpPr/>
          <p:nvPr/>
        </p:nvSpPr>
        <p:spPr>
          <a:xfrm rot="0" flipH="0" flipV="0">
            <a:off x="7972425" y="1143000"/>
            <a:ext cx="3419475" cy="4162425"/>
          </a:xfrm>
          <a:custGeom>
            <a:pathLst>
              <a:path w="359" h="437">
                <a:moveTo>
                  <a:pt x="348" y="0"/>
                </a:moveTo>
                <a:cubicBezTo>
                  <a:pt x="353" y="0"/>
                  <a:pt x="358" y="4"/>
                  <a:pt x="359" y="10"/>
                </a:cubicBezTo>
                <a:cubicBezTo>
                  <a:pt x="358" y="6"/>
                  <a:pt x="355" y="4"/>
                  <a:pt x="351" y="4"/>
                </a:cubicBezTo>
                <a:lnTo>
                  <a:pt x="8" y="4"/>
                </a:lnTo>
                <a:cubicBezTo>
                  <a:pt x="4" y="4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347" y="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865" name="" descr="{&quot;isTemplate&quot;:true,&quot;type&quot;:&quot;text&quot;}"/>
          <p:cNvSpPr txBox="1"/>
          <p:nvPr/>
        </p:nvSpPr>
        <p:spPr>
          <a:xfrm rot="0" flipH="0" flipV="0">
            <a:off x="8162925" y="1314450"/>
            <a:ext cx="3038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8B97A8"/>
                </a:solidFill>
                <a:latin typeface="Inter"/>
                <a:ea typeface="Inter"/>
              </a:rPr>
              <a:t>Q3 · True or False</a:t>
            </a:r>
            <a:endParaRPr/>
          </a:p>
        </p:txBody>
      </p:sp>
      <p:sp>
        <p:nvSpPr>
          <p:cNvPr id="866" name="" descr="{&quot;isTemplate&quot;:true,&quot;type&quot;:&quot;text&quot;}"/>
          <p:cNvSpPr txBox="1"/>
          <p:nvPr/>
        </p:nvSpPr>
        <p:spPr>
          <a:xfrm rot="0" flipH="0" flipV="0">
            <a:off x="8162925" y="1533525"/>
            <a:ext cx="3038475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 b="1">
                <a:solidFill>
                  <a:srgbClr val="1A2230"/>
                </a:solidFill>
                <a:latin typeface="Inter"/>
                <a:ea typeface="Inter"/>
              </a:rPr>
              <a:t>"A scatter plot is the right chart to show the distribution of a single variable."</a:t>
            </a:r>
            <a:endParaRPr/>
          </a:p>
        </p:txBody>
      </p:sp>
      <p:sp>
        <p:nvSpPr>
          <p:cNvPr id="867" name=""/>
          <p:cNvSpPr/>
          <p:nvPr/>
        </p:nvSpPr>
        <p:spPr>
          <a:xfrm rot="0" flipH="0" flipV="0">
            <a:off x="8162925" y="3133725"/>
            <a:ext cx="3038475" cy="1095375"/>
          </a:xfrm>
          <a:prstGeom prst="roundRect">
            <a:avLst>
              <a:gd name="adj" fmla="val 869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8315325" y="3267075"/>
            <a:ext cx="273367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✗ False — that is the job of a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histogram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; scatter plots answer questions about the </a:t>
            </a:r>
            <a:r>
              <a:rPr lang="en-US" sz="1125" b="1">
                <a:solidFill>
                  <a:srgbClr val="0E3F8C"/>
                </a:solidFill>
                <a:latin typeface="Inter"/>
                <a:ea typeface="Inter"/>
              </a:rPr>
              <a:t>relationship between two variables</a:t>
            </a:r>
            <a:r>
              <a:rPr lang="en-US" sz="1125">
                <a:solidFill>
                  <a:srgbClr val="4A5568"/>
                </a:solidFill>
                <a:latin typeface="Inter"/>
                <a:ea typeface="Inter"/>
              </a:rPr>
              <a:t>.</a:t>
            </a:r>
            <a:endParaRPr/>
          </a:p>
        </p:txBody>
      </p:sp>
      <p:sp>
        <p:nvSpPr>
          <p:cNvPr id="869" name="" descr="{&quot;isTemplate&quot;:true,&quot;type&quot;:&quot;text&quot;}"/>
          <p:cNvSpPr txBox="1"/>
          <p:nvPr/>
        </p:nvSpPr>
        <p:spPr>
          <a:xfrm rot="0" flipH="0" flipV="0">
            <a:off x="8162925" y="4943475"/>
            <a:ext cx="3038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Inter"/>
                <a:ea typeface="Inter"/>
              </a:rPr>
              <a:t>Chart-choosing rule: question first, chart second</a:t>
            </a:r>
            <a:endParaRPr/>
          </a:p>
        </p:txBody>
      </p:sp>
      <p:sp>
        <p:nvSpPr>
          <p:cNvPr id="870" name=""/>
          <p:cNvSpPr/>
          <p:nvPr/>
        </p:nvSpPr>
        <p:spPr>
          <a:xfrm rot="0" flipH="0" flipV="0">
            <a:off x="800100" y="5400675"/>
            <a:ext cx="1619250" cy="542925"/>
          </a:xfrm>
          <a:prstGeom prst="roundRect">
            <a:avLst>
              <a:gd name="adj" fmla="val 17544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952500" y="5505450"/>
            <a:ext cx="1314450" cy="333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FFFFFF"/>
                </a:solidFill>
                <a:latin typeface="Inter"/>
                <a:ea typeface="Inter"/>
              </a:rPr>
              <a:t>Vote first, then review</a:t>
            </a:r>
            <a:endParaRPr/>
          </a:p>
        </p:txBody>
      </p:sp>
      <p:sp>
        <p:nvSpPr>
          <p:cNvPr id="872" name="" descr="{&quot;isTemplate&quot;:true,&quot;type&quot;:&quot;text&quot;}"/>
          <p:cNvSpPr txBox="1"/>
          <p:nvPr/>
        </p:nvSpPr>
        <p:spPr>
          <a:xfrm rot="0" flipH="0" flipV="0">
            <a:off x="2571750" y="5410200"/>
            <a:ext cx="88201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088">
                <a:solidFill>
                  <a:srgbClr val="1A2230"/>
                </a:solidFill>
                <a:latin typeface="Inter"/>
                <a:ea typeface="Inter"/>
              </a:rPr>
              <a:t>Each question: the class votes (A / B / C), then we reveal the answer and one student explains the reasoning. Getting all 3 right adds +0.5 to your final "Lab participation".</a:t>
            </a:r>
            <a:r>
              <a:rPr lang="en-US" sz="938">
                <a:solidFill>
                  <a:srgbClr val="8B97A8"/>
                </a:solidFill>
                <a:latin typeface="Inter"/>
                <a:ea typeface="Inter"/>
              </a:rPr>
              <a:t>Vote first, reveal second — explain the why.</a:t>
            </a:r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30 / 32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75" name="" descr="&lt;Slide style={{ width: '1280px', height: '720px', background: '#FFFFFF', padding: '0px', fontFamily: 'Inter, Helvetica, Arial, sans-serif' }}&gt;&#10;  &lt;Box style={{ position: 'absolute', top: 0, left: 0, width: '100%', height: 80, background: '#1E4FA8', padding: '0 84px', flexDirection: 'row', alignItems: 'center', justifyContent: 'space-between' }}&gt;&#10;    &lt;Text style={{ fontSize: 22, color: '#FFFFFF', fontWeight: 'bold' }}&gt;Summary&lt;/Text&gt;&#10;    &lt;Text style={{ fontSize: 15, color: 'rgba(255,255,255,0.85)' }}&gt;Module 1 · Week 2&lt;/Text&gt;&#10;  &lt;/Box&gt;&#10;  &lt;Box style={{ position: 'absolute', top: 100, left: 0, width: '100%', height: 540, padding: '16px 84px', flexDirection: 'row', gap: 26 }}&gt;&#10;    &lt;Box style={{ flex: 1.2, gap: 13, justifyContent: 'center' }}&gt;&#10;      &lt;Text style={{ fontSize: 18, color: '#8B97A8', fontWeight: '600', marginBottom: 2 }}&gt;5 Key Takeaways&lt;/Text&gt;&#10;      {[&#10;        'Six data quality dimensions set the model ceiling — flaws get amplified',&#10;        'NumPy for array math, Pandas for tables — the latter is built on the former',&#10;        'Vectorize instead of looping: 10–100× faster, habit #1 for AI code',&#10;        'Four chart types answer four questions: distribution / relationship / comparison / correlation',&#10;        'EDA 5 steps + cleaning 6 steps: scout first, document every step',&#10;      ].map((t, i) =&gt; (&#10;        &lt;Box key={i} style={{ flexDirection: 'row', gap: 14, alignItems: 'flex-start', background: '#F7F9FC', border: '1px solid #E5E7EB', borderRadius: 10, padding: '12px 18px' }}&gt;&#10;          &lt;FAIcon name='check-circle' style={{ fill: '#1E4FA8', width: 22, height: 22, marginTop: 2 }} /&gt;&#10;          &lt;Text style={{ fontSize: 16.5, color: '#1A2230', lineHeight: 1.55, flex: 1 }}&gt;{t}&lt;/Text&gt;&#10;        &lt;/Box&gt;&#10;      ))}&#10;    &lt;/Box&gt;&#10;    &lt;Box style={{ width: 340, background: '#F0F5FC', border: '1px solid #D6DCE5', borderRadius: 14, padding: '24px 24px', justifyContent: 'center', flexShrink: 0 }}&gt;&#10;      &lt;Text style={{ fontSize: 22, color: '#0E3F8C', fontWeight: 'bold' }}&gt;TODO: After Class&lt;/Text&gt;&#10;      &lt;Box style={{ width: '100%', height: 2, background: '#D6DCE5', marginTop: 12, marginBottom: 14 }} /&gt;&#10;      {[&#10;        { i: 'file-code', t: 'Finish the Lab', d: 'notebook + 3 charts + hypothesis list · due Monday 23:59' },&#10;        { i: 'upload', t: 'Push to Git', d: 'commit: feat: complete lab02 EDA' },&#10;        { i: 'book-open', t: 'Preview Chapter 3', d: 'install scikit-learn and build your first model' },&#10;      ].map((r, i) =&gt; (&#10;        &lt;Box key={i} style={{ flexDirection: 'row', gap: 12, alignItems: 'center', marginBottom: 13 }}&gt;&#10;          &lt;Box style={{ width: 38, height: 38, borderRadius: 10, background: '#FFFFFF', border: '1px solid #D6DCE5', justifyContent: 'center', alignItems: 'center', flexShrink: 0 }}&gt;&#10;            &lt;FAIcon name={r.i} style={{ fill: '#1E4FA8', width: 19, height: 19 }} /&gt;&#10;          &lt;/Box&gt;&#10;          &lt;Box&gt;&#10;            &lt;Text style={{ fontSize: 16, color: '#1A2230', fontWeight: 'bold' }}&gt;{r.t}&lt;/Text&gt;&#10;            &lt;Text style={{ fontSize: 13, color: '#4A5568' }}&gt;{r.d}&lt;/Text&gt;&#10;          &lt;/Box&gt;&#10;        &lt;/Box&gt;&#10;      ))}&#10;      &lt;Box style={{ background: '#0E3F8C', borderRadius: 8, padding: '10px 16px', marginTop: 4 }}&gt;&#10;        &lt;Text style={{ fontSize: 14.5, color: '#FFFFFF', lineHeight: 1.5 }}&gt;&#10;          Next week: Machine Learning with scikit-learn — train your first full model on today&amp;apos;s cleaned data&#10;        &lt;/Text&gt;&#10;      &lt;/Box&gt;&#10;    &lt;/Box&gt;&#10;  &lt;/Box&gt;&#10;  &lt;Box style={{ position: 'absolute', top: 660, left: 0, width: '100%', height: 60, padding: '0 84px', flexDirection: 'row', alignItems: 'center', justifyContent: 'space-between' }}&gt;&#10;    &lt;Text style={{ fontSize: 14, color: '#8B97A8' }}&gt;AI Application Development · Week 2&lt;/Text&gt;&#10;    &lt;Text style={{ fontSize: 14, color: '#1E4FA8', fontWeight: '600' }}&gt;31 / 3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7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78" name="" descr="{&quot;isTemplate&quot;:true,&quot;type&quot;:&quot;text&quot;}"/>
          <p:cNvSpPr txBox="1"/>
          <p:nvPr/>
        </p:nvSpPr>
        <p:spPr>
          <a:xfrm rot="0" flipH="0" flipV="0">
            <a:off x="800100" y="257175"/>
            <a:ext cx="962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Inter"/>
                <a:ea typeface="Inter"/>
              </a:rPr>
              <a:t>Summary</a:t>
            </a:r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10201275" y="295275"/>
            <a:ext cx="1190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FFFF">
                    <a:alpha val="85000"/>
                  </a:srgbClr>
                </a:solidFill>
                <a:latin typeface="Inter"/>
                <a:ea typeface="Inter"/>
              </a:rPr>
              <a:t>Module 1 · Week 2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800100" y="1790700"/>
            <a:ext cx="7105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8B97A8"/>
                </a:solidFill>
                <a:latin typeface="Inter"/>
                <a:ea typeface="Inter"/>
              </a:rPr>
              <a:t>5 Key Takeaways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800100" y="21431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276475"/>
            <a:ext cx="209550" cy="209550"/>
          </a:xfrm>
          <a:prstGeom prst="rect">
            <a:avLst/>
          </a:prstGeom>
          <a:ln/>
        </p:spPr>
      </p:pic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1314450" y="22574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Six data quality dimensions set the model ceiling — flaws get amplified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800100" y="27908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2924175"/>
            <a:ext cx="209550" cy="209550"/>
          </a:xfrm>
          <a:prstGeom prst="rect">
            <a:avLst/>
          </a:prstGeom>
          <a:ln/>
        </p:spPr>
      </p:pic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1314450" y="29051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NumPy for array math, Pandas for tables — the latter is built on the former</a:t>
            </a:r>
            <a:endParaRPr/>
          </a:p>
        </p:txBody>
      </p:sp>
      <p:sp>
        <p:nvSpPr>
          <p:cNvPr id="887" name=""/>
          <p:cNvSpPr/>
          <p:nvPr/>
        </p:nvSpPr>
        <p:spPr>
          <a:xfrm rot="0" flipH="0" flipV="0">
            <a:off x="800100" y="34385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3571875"/>
            <a:ext cx="209550" cy="209550"/>
          </a:xfrm>
          <a:prstGeom prst="rect">
            <a:avLst/>
          </a:prstGeom>
          <a:ln/>
        </p:spPr>
      </p:pic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1314450" y="35528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Vectorize instead of looping: 10–100× faster, habit #1 for AI code</a:t>
            </a:r>
            <a:endParaRPr/>
          </a:p>
        </p:txBody>
      </p:sp>
      <p:sp>
        <p:nvSpPr>
          <p:cNvPr id="890" name=""/>
          <p:cNvSpPr/>
          <p:nvPr/>
        </p:nvSpPr>
        <p:spPr>
          <a:xfrm rot="0" flipH="0" flipV="0">
            <a:off x="800100" y="40862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219575"/>
            <a:ext cx="209550" cy="209550"/>
          </a:xfrm>
          <a:prstGeom prst="rect">
            <a:avLst/>
          </a:prstGeom>
          <a:ln/>
        </p:spPr>
      </p:pic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1314450" y="42005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Four chart types answer four questions: distribution / relationship / comparison / correlation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800100" y="4733925"/>
            <a:ext cx="710565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971550" y="4867275"/>
            <a:ext cx="209550" cy="209550"/>
          </a:xfrm>
          <a:prstGeom prst="rect">
            <a:avLst/>
          </a:prstGeom>
          <a:ln/>
        </p:spPr>
      </p:pic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1314450" y="4848225"/>
            <a:ext cx="6419850" cy="29527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38">
                <a:solidFill>
                  <a:srgbClr val="1A2230"/>
                </a:solidFill>
                <a:latin typeface="Inter"/>
                <a:ea typeface="Inter"/>
              </a:rPr>
              <a:t>EDA 5 steps + cleaning 6 steps: scout first, document every step</a:t>
            </a:r>
            <a:endParaRPr/>
          </a:p>
        </p:txBody>
      </p:sp>
      <p:sp>
        <p:nvSpPr>
          <p:cNvPr id="896" name=""/>
          <p:cNvSpPr/>
          <p:nvPr/>
        </p:nvSpPr>
        <p:spPr>
          <a:xfrm rot="0" flipH="0" flipV="0">
            <a:off x="8153400" y="1104900"/>
            <a:ext cx="3238500" cy="4838700"/>
          </a:xfrm>
          <a:prstGeom prst="roundRect">
            <a:avLst>
              <a:gd name="adj" fmla="val 4118"/>
            </a:avLst>
          </a:prstGeom>
          <a:solidFill>
            <a:srgbClr val="F0F5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8382000" y="1981200"/>
            <a:ext cx="27813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Inter"/>
                <a:ea typeface="Inter"/>
              </a:rPr>
              <a:t>TODO: After Class</a:t>
            </a:r>
            <a:endParaRPr/>
          </a:p>
        </p:txBody>
      </p:sp>
      <p:sp>
        <p:nvSpPr>
          <p:cNvPr id="898" name=""/>
          <p:cNvSpPr/>
          <p:nvPr/>
        </p:nvSpPr>
        <p:spPr>
          <a:xfrm rot="0" flipH="0" flipV="0">
            <a:off x="8382000" y="2352675"/>
            <a:ext cx="2781300" cy="19050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899" name=""/>
          <p:cNvSpPr/>
          <p:nvPr/>
        </p:nvSpPr>
        <p:spPr>
          <a:xfrm rot="0" flipH="0" flipV="0">
            <a:off x="8382000" y="257175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477250" y="2667000"/>
            <a:ext cx="180975" cy="180975"/>
          </a:xfrm>
          <a:prstGeom prst="rect">
            <a:avLst/>
          </a:prstGeom>
          <a:ln/>
        </p:spPr>
      </p:pic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8858250" y="2505075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Finish the Lab</a:t>
            </a:r>
            <a:endParaRPr/>
          </a:p>
        </p:txBody>
      </p:sp>
      <p:sp>
        <p:nvSpPr>
          <p:cNvPr id="902" name="" descr="{&quot;isTemplate&quot;:true,&quot;type&quot;:&quot;text&quot;}"/>
          <p:cNvSpPr txBox="1"/>
          <p:nvPr/>
        </p:nvSpPr>
        <p:spPr>
          <a:xfrm rot="0" flipH="0" flipV="0">
            <a:off x="8858250" y="2695575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notebook + 3 charts + hypothesis list · due Monday 23:59</a:t>
            </a:r>
            <a:endParaRPr/>
          </a:p>
        </p:txBody>
      </p:sp>
      <p:sp>
        <p:nvSpPr>
          <p:cNvPr id="903" name=""/>
          <p:cNvSpPr/>
          <p:nvPr/>
        </p:nvSpPr>
        <p:spPr>
          <a:xfrm rot="0" flipH="0" flipV="0">
            <a:off x="8382000" y="3124200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477250" y="3219450"/>
            <a:ext cx="180975" cy="180975"/>
          </a:xfrm>
          <a:prstGeom prst="rect">
            <a:avLst/>
          </a:prstGeom>
          <a:ln/>
        </p:spPr>
      </p:pic>
      <p:sp>
        <p:nvSpPr>
          <p:cNvPr id="905" name="" descr="{&quot;isTemplate&quot;:true,&quot;type&quot;:&quot;text&quot;}"/>
          <p:cNvSpPr txBox="1"/>
          <p:nvPr/>
        </p:nvSpPr>
        <p:spPr>
          <a:xfrm rot="0" flipH="0" flipV="0">
            <a:off x="8858250" y="3133725"/>
            <a:ext cx="1876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Push to Git</a:t>
            </a:r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8858250" y="3324225"/>
            <a:ext cx="18764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commit: feat: complete lab02 EDA</a:t>
            </a:r>
            <a:endParaRPr/>
          </a:p>
        </p:txBody>
      </p:sp>
      <p:sp>
        <p:nvSpPr>
          <p:cNvPr id="907" name=""/>
          <p:cNvSpPr/>
          <p:nvPr/>
        </p:nvSpPr>
        <p:spPr>
          <a:xfrm rot="0" flipH="0" flipV="0">
            <a:off x="8382000" y="3609975"/>
            <a:ext cx="361950" cy="361950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pic>
        <p:nvPicPr>
          <p:cNvPr id="9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8477250" y="3705225"/>
            <a:ext cx="180975" cy="180975"/>
          </a:xfrm>
          <a:prstGeom prst="rect">
            <a:avLst/>
          </a:prstGeom>
          <a:ln/>
        </p:spPr>
      </p:pic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8858250" y="3619500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Inter"/>
                <a:ea typeface="Inter"/>
              </a:rPr>
              <a:t>Preview Chapter 3</a:t>
            </a:r>
            <a:endParaRPr/>
          </a:p>
        </p:txBody>
      </p:sp>
      <p:sp>
        <p:nvSpPr>
          <p:cNvPr id="910" name="" descr="{&quot;isTemplate&quot;:true,&quot;type&quot;:&quot;text&quot;}"/>
          <p:cNvSpPr txBox="1"/>
          <p:nvPr/>
        </p:nvSpPr>
        <p:spPr>
          <a:xfrm rot="0" flipH="0" flipV="0">
            <a:off x="8858250" y="3810000"/>
            <a:ext cx="2305050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Inter"/>
                <a:ea typeface="Inter"/>
              </a:rPr>
              <a:t>install scikit-learn and build your first model</a:t>
            </a:r>
            <a:endParaRPr/>
          </a:p>
        </p:txBody>
      </p:sp>
      <p:sp>
        <p:nvSpPr>
          <p:cNvPr id="911" name=""/>
          <p:cNvSpPr/>
          <p:nvPr/>
        </p:nvSpPr>
        <p:spPr>
          <a:xfrm rot="0" flipH="0" flipV="0">
            <a:off x="8382000" y="4133850"/>
            <a:ext cx="2781300" cy="942975"/>
          </a:xfrm>
          <a:prstGeom prst="roundRect">
            <a:avLst>
              <a:gd name="adj" fmla="val 808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12" name="" descr="{&quot;isTemplate&quot;:true,&quot;type&quot;:&quot;text&quot;}"/>
          <p:cNvSpPr txBox="1"/>
          <p:nvPr/>
        </p:nvSpPr>
        <p:spPr>
          <a:xfrm rot="0" flipH="0" flipV="0">
            <a:off x="8534400" y="4229100"/>
            <a:ext cx="2476500" cy="752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88">
                <a:solidFill>
                  <a:srgbClr val="FFFFFF"/>
                </a:solidFill>
                <a:latin typeface="Inter"/>
                <a:ea typeface="Inter"/>
              </a:rPr>
              <a:t>Next week: Machine Learning with scikit-learn — train your first full model on today's cleaned data</a:t>
            </a:r>
            <a:endParaRPr/>
          </a:p>
        </p:txBody>
      </p:sp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800100" y="6496050"/>
            <a:ext cx="22002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Inter"/>
                <a:ea typeface="Inter"/>
              </a:rPr>
              <a:t>AI Application Development · Week 2</a:t>
            </a:r>
            <a:endParaRPr/>
          </a:p>
        </p:txBody>
      </p:sp>
      <p:sp>
        <p:nvSpPr>
          <p:cNvPr id="914" name="" descr="{&quot;isTemplate&quot;:true,&quot;type&quot;:&quot;text&quot;}"/>
          <p:cNvSpPr txBox="1"/>
          <p:nvPr/>
        </p:nvSpPr>
        <p:spPr>
          <a:xfrm rot="0" flipH="0" flipV="0">
            <a:off x="10982325" y="6496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Inter"/>
                <a:ea typeface="Inter"/>
              </a:rPr>
              <a:t>31 / 32</a:t>
            </a:r>
            <a:endParaRPr/>
          </a:p>
        </p:txBody>
      </p:sp>
    </p:spTree>
  </p:cSld>
</p:sld>
</file>

<file path=ppt/slides/slide32.xml><?xml version="1.0" encoding="utf-8"?>
<p:sld xmlns:a="http://schemas.openxmlformats.org/drawingml/2006/main" xmlns:p="http://schemas.openxmlformats.org/presentationml/2006/main">
  <p:cSld>
    <p:spTree>
      <p:nvGrpSpPr>
        <p:cNvPr id="915" name="" descr="&lt;Slide style={{ width: '1280px', height: '720px', background: '#FFFFFF', padding: '0px', position: 'relative', overflow: 'hidden', fontFamily: 'Inter, Helvetica, Arial, sans-serif' }}&gt;&#10;  &lt;Box style={{ position: 'absolute', top: 0, left: 0, width: '100%', height: 12, background: '#1E4FA8' }} /&gt;&#10;  &lt;Box style={{ position: 'absolute', top: 12, left: 0, width: '100%', height: 5, background: '#3D7BD9' }} /&gt;&#10;  &lt;Box style={{ position: 'absolute', left: 0, top: 300, opacity: 0.05, width: 560, height: 340, overflow: 'hidden' }}&gt;&#10;    &lt;Text style={{ fontSize: 320, fontWeight: 'bold', color: '#1E4FA8', lineHeight: 1 }}&gt;02&lt;/Text&gt;&#10;  &lt;/Box&gt;&#10;  &lt;Box style={{ position: 'relative', width: '100%', height: '100%', padding: '120px 90px', justifyContent: 'space-between' }}&gt;&#10;    &lt;Box style={{ alignItems: 'center' }}&gt;&#10;      &lt;Box style={{ width: 84, height: 84, borderRadius: 20, background: '#0E3F8C', justifyContent: 'center', alignItems: 'center', marginBottom: 26 }}&gt;&#10;        &lt;Text style={{ fontSize: 36, color: '#FFFFFF', fontWeight: 'bold' }}&gt;W2&lt;/Text&gt;&#10;      &lt;/Box&gt;&#10;      &lt;Text style={{ fontSize: 38, color: '#1A2230', fontWeight: 'bold', textAlign: 'center', lineHeight: 1.4 }}&gt;&#10;        &quot;The quality of your data caps your model&lt;br /&gt;before you write a single line of code.&quot;&#10;      &lt;/Text&gt;&#10;    &lt;/Box&gt;&#10;    &lt;Box style={{ alignItems: 'center', gap: 8 }}&gt;&#10;      &lt;Text style={{ fontSize: 18, color: '#0E3F8C', fontWeight: 'bold' }}&gt;Thank you&lt;/Text&gt;&#10;      &lt;Text style={{ fontSize: 15, color: '#8B97A8' }}&gt;&#10;        Next week: Machine Learning with scikit-learn — your first complete model&#10;      &lt;/Text&gt;&#10;      &lt;Text style={{ fontSize: 13, color: '#B0B8C4', marginTop: 6 }}&gt;AI Application Development · Week 2 Lecture · 32 / 32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17" name=""/>
          <p:cNvSpPr/>
          <p:nvPr/>
        </p:nvSpPr>
        <p:spPr>
          <a:xfrm rot="0" flipH="0" flipV="0">
            <a:off x="0" y="0"/>
            <a:ext cx="12192000" cy="1143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8" name=""/>
          <p:cNvSpPr/>
          <p:nvPr/>
        </p:nvSpPr>
        <p:spPr>
          <a:xfrm rot="0" flipH="0" flipV="0">
            <a:off x="0" y="114300"/>
            <a:ext cx="12192000" cy="47625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0" y="2857500"/>
            <a:ext cx="5334000" cy="3657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0" b="1">
                <a:solidFill>
                  <a:srgbClr val="1E4FA8">
                    <a:alpha val="5000"/>
                  </a:srgbClr>
                </a:solidFill>
                <a:latin typeface="Inter"/>
                <a:ea typeface="Inter"/>
              </a:rPr>
              <a:t>02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5695950" y="1143000"/>
            <a:ext cx="800100" cy="800100"/>
          </a:xfrm>
          <a:prstGeom prst="roundRect">
            <a:avLst>
              <a:gd name="adj" fmla="val 2381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5838825" y="1333500"/>
            <a:ext cx="5143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FFFFFF"/>
                </a:solidFill>
                <a:latin typeface="Inter"/>
                <a:ea typeface="Inter"/>
              </a:rPr>
              <a:t>W2</a:t>
            </a:r>
            <a:endParaRPr/>
          </a:p>
        </p:txBody>
      </p:sp>
      <p:sp>
        <p:nvSpPr>
          <p:cNvPr id="922" name="" descr="{&quot;isTemplate&quot;:true,&quot;type&quot;:&quot;text&quot;}"/>
          <p:cNvSpPr txBox="1"/>
          <p:nvPr/>
        </p:nvSpPr>
        <p:spPr>
          <a:xfrm rot="0" flipH="0" flipV="0">
            <a:off x="2476500" y="2190750"/>
            <a:ext cx="7239000" cy="121920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Inter"/>
                <a:ea typeface="Inter"/>
              </a:rPr>
              <a:t>"The quality of your data caps your model</a:t>
            </a:r>
            <a:endParaRPr/>
          </a:p>
          <a:p>
            <a:pPr algn="ctr">
              <a:lnSpc>
                <a:spcPct val="140000"/>
              </a:lnSpc>
            </a:pPr>
            <a:r>
              <a:rPr lang="en-US" sz="2850" b="1">
                <a:solidFill>
                  <a:srgbClr val="1A2230"/>
                </a:solidFill>
                <a:latin typeface="Inter"/>
                <a:ea typeface="Inter"/>
              </a:rPr>
              <a:t>before you write a single line of code."</a:t>
            </a:r>
            <a:endParaRPr/>
          </a:p>
        </p:txBody>
      </p:sp>
      <p:sp>
        <p:nvSpPr>
          <p:cNvPr id="923" name="" descr="{&quot;isTemplate&quot;:true,&quot;type&quot;:&quot;text&quot;}"/>
          <p:cNvSpPr txBox="1"/>
          <p:nvPr/>
        </p:nvSpPr>
        <p:spPr>
          <a:xfrm rot="0" flipH="0" flipV="0">
            <a:off x="5667375" y="4972050"/>
            <a:ext cx="866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Inter"/>
                <a:ea typeface="Inter"/>
              </a:rPr>
              <a:t>Thank you</a:t>
            </a:r>
            <a:endParaRPr/>
          </a:p>
        </p:txBody>
      </p:sp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3733800" y="5257800"/>
            <a:ext cx="4724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Inter"/>
                <a:ea typeface="Inter"/>
              </a:rPr>
              <a:t>Next week: Machine Learning with scikit-learn — your first complete model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4610100" y="5562600"/>
            <a:ext cx="2971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B0B8C4"/>
                </a:solidFill>
                <a:latin typeface="Inter"/>
                <a:ea typeface="Inter"/>
              </a:rPr>
              <a:t>AI Application Development · Week 2 Lecture · 32 / 32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2026-08-24T14:10:34Z</dcterms:created>
  <dcterms:modified xsi:type="dcterms:W3CDTF">2026-08-24T14:10:34Z</dcterms:modified>
</cp:coreProperties>
</file>