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真实数据点</c:v>
                </c:pt>
              </c:strCache>
            </c:strRef>
          </c:tx>
          <c:spPr>
            <a:ln w="22225">
              <a:solidFill>
                <a:srgbClr val="9CA3AF"/>
              </a:solidFill>
            </a:ln>
          </c:spP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3.2</c:v>
                </c:pt>
                <c:pt idx="1">
                  <c:v>4.6</c:v>
                </c:pt>
                <c:pt idx="2">
                  <c:v>6.1</c:v>
                </c:pt>
                <c:pt idx="3">
                  <c:v>9.4</c:v>
                </c:pt>
                <c:pt idx="4">
                  <c:v>11.2</c:v>
                </c:pt>
                <c:pt idx="5">
                  <c:v>12.8</c:v>
                </c:pt>
                <c:pt idx="6">
                  <c:v>15.6</c:v>
                </c:pt>
                <c:pt idx="7">
                  <c:v>16.9</c:v>
                </c:pt>
                <c:pt idx="8">
                  <c:v>19.4</c:v>
                </c:pt>
                <c:pt idx="9">
                  <c:v>21.1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拟合直线 ŷ = wx + b</c:v>
                </c:pt>
              </c:strCache>
            </c:strRef>
          </c:tx>
          <c:spPr>
            <a:ln w="31750">
              <a:solidFill>
                <a:srgbClr val="1E4FA8"/>
              </a:solidFill>
            </a:ln>
          </c:spPr>
          <c:marker>
            <c:spPr>
              <a:noFill/>
            </c:spPr>
          </c:marke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</c:v>
                </c:pt>
                <c:pt idx="1">
                  <c:v>5</c:v>
                </c:pt>
                <c:pt idx="2">
                  <c:v>7</c:v>
                </c:pt>
                <c:pt idx="3">
                  <c:v>9</c:v>
                </c:pt>
                <c:pt idx="4">
                  <c:v>11</c:v>
                </c:pt>
                <c:pt idx="5">
                  <c:v>13</c:v>
                </c:pt>
                <c:pt idx="6">
                  <c:v>15</c:v>
                </c:pt>
                <c:pt idx="7">
                  <c:v>17</c:v>
                </c:pt>
                <c:pt idx="8">
                  <c:v>19</c:v>
                </c:pt>
                <c:pt idx="9">
                  <c:v>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特征 x（如面积）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目标 y（如价格）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训练误差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9.6</c:v>
                </c:pt>
                <c:pt idx="1">
                  <c:v>7.4</c:v>
                </c:pt>
                <c:pt idx="2">
                  <c:v>5.6</c:v>
                </c:pt>
                <c:pt idx="3">
                  <c:v>4.1</c:v>
                </c:pt>
                <c:pt idx="4">
                  <c:v>2.9</c:v>
                </c:pt>
                <c:pt idx="5">
                  <c:v>2.0</c:v>
                </c:pt>
                <c:pt idx="6">
                  <c:v>1.3</c:v>
                </c:pt>
                <c:pt idx="7">
                  <c:v>0.8</c:v>
                </c:pt>
                <c:pt idx="8">
                  <c:v>0.5</c:v>
                </c:pt>
                <c:pt idx="9">
                  <c:v>0.3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验证误差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cat>
            <c:numRef>
              <c:f>Sheet1!$A$2:$A$11</c:f>
              <c:numCache>
                <c:formatCode>General</c:formatCode>
                <c:ptCount val="1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</c:numCache>
            </c:num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10.2</c:v>
                </c:pt>
                <c:pt idx="1">
                  <c:v>7.9</c:v>
                </c:pt>
                <c:pt idx="2">
                  <c:v>6.1</c:v>
                </c:pt>
                <c:pt idx="3">
                  <c:v>4.8</c:v>
                </c:pt>
                <c:pt idx="4">
                  <c:v>4.2</c:v>
                </c:pt>
                <c:pt idx="5">
                  <c:v>4.6</c:v>
                </c:pt>
                <c:pt idx="6">
                  <c:v>5.9</c:v>
                </c:pt>
                <c:pt idx="7">
                  <c:v>7.6</c:v>
                </c:pt>
                <c:pt idx="8">
                  <c:v>9.8</c:v>
                </c:pt>
                <c:pt idx="9">
                  <c:v>12.4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模型容量（复杂度）→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4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误差 Error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SE 4XXX · 本科课程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机器学习基础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Machine Learning Foundations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3 · 三类范式 · 参数与超参数 · 梯度下降 · 交叉验证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194590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60030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Module 1 · W2–4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8305" y="5295600"/>
            <a:ext cx="2918858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1105" y="5364000"/>
            <a:ext cx="2573258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授课 + 实验 + 小测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0364" y="5295600"/>
            <a:ext cx="3113449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3164" y="5364000"/>
            <a:ext cx="2767849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scikit-learn · Pipeline · GridSearchCV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47014" y="5295600"/>
            <a:ext cx="1945905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814" y="5364000"/>
            <a:ext cx="1600305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留学生班 · 英文授课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 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本周结构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先理解「学习」到底在学什么，
再动手把工作流工程化。
Understand learning before you automate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理论约 90 min · Lab 约 75 min · 小测与小结 15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学习是什么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What Is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定义 · 三类范式 · 统一术语表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模型与参数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Model &amp; Parameters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假设空间 · 线性模型 · 参数 vs 超参数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损失与优化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Loss &amp; Optimization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MSE · 交叉熵 · 梯度下降 · 学习率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泛化与评估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Generalization &amp; Evaluation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训练/验证/测试 · k 折交叉验证 · 过拟合与欠拟合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Lab · sklearn 工作流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Hands-On Lab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Pipeline 防泄漏 · GridSearchCV 调参 · 分类与回归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学习是什么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What Is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机器学习不是「写规则」，而是「从样例中反推出规则」。
这一页之后，你应该能说清：它在学什么、拿什么学、学到了什么。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经验驱动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数据替代手写规则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三类范式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监督 / 无监督 / 强化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统一术语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样本 · 特征 · 标签 · 推理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传统编程 vs 机器学习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传统编程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人写规则：if 面积 &gt; 100 且 地铁 &lt; 500m → 贵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输入：规则 + 数据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输出：答案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规则复杂到写不出来时就失效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机器学习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人给样例：1 万套房子的 (特征, 成交价)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输入：数据 + 答案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输出：规则（模型）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规则由算法从样例中反推出来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Tom Mitchell 定义：一个程序在任务 T 上的表现 P 随经验 E 提升，就说它从 E 中学习了。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三类学习范式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237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000"/>
                <a:gridCol w="3096000"/>
                <a:gridCol w="2520000"/>
                <a:gridCol w="3096000"/>
              </a:tblGrid>
              <a:tr h="59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范式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数据长什么样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典型任务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代表算法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监督学习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(x, y) 成对，有标准答案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分类、回归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逻辑回归、随机森林、SVM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无监督学习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只有 x，没有标签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聚类、降维、异常检测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KMeans、PCA、DBSCAN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59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强化学习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(状态, 动作, 奖励) 序列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决策、控制、博弈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Q-learning、PPO、DQN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3671999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本课程第 1–6 周聚焦监督学习；无监督与强化在后续模块出现。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术语表：一张表读懂论文和文档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6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6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样本 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sample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879200"/>
            <a:ext cx="2940839" cy="100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数据集中的一条记录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6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6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特征 Feature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feature · 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879200"/>
            <a:ext cx="2940839" cy="100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描述样本的属性列（面积、像素）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6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6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47199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标签 Label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67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label · 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879200"/>
            <a:ext cx="2940839" cy="100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要预测的目标值（价格、类别）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9200" y="324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9200" y="324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2400" y="342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训练集 Training 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2400" y="365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training 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" y="3859200"/>
            <a:ext cx="2940839" cy="100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用来拟合参数的那部分数据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02440" y="324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02440" y="324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25639" y="342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推理 Inference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5639" y="365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inference · predict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5639" y="3859200"/>
            <a:ext cx="2940839" cy="100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模型训练完后对新样本做预测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05679" y="3240000"/>
            <a:ext cx="3387239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05679" y="3240000"/>
            <a:ext cx="32400" cy="176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8879" y="3427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泛化 Generalization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8879" y="3657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generalization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8879" y="3859200"/>
            <a:ext cx="2940839" cy="100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在没见过的数据上仍然表现好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一个直觉例子：房价预测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76172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6172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收集样例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 万套已成交房子
(面积, 房龄, 地铁距离; 成交价)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17544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1544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1544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18516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8516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9544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假设一条规则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39544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Hypothesise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39544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先猜 价格 ≈ w × 面积 + b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359888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683888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83888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60860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0860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1888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定义误差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81888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Measure error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81888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用损失函数量化
猜得有多离谱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302232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626231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6231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203203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3203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24232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自动调整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4232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Adjust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24232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沿着误差下降的方向
反复微调 w、b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8244575" y="2998800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568575" y="2232000"/>
            <a:ext cx="1600343" cy="176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68575" y="2232000"/>
            <a:ext cx="1600343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5547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5547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66576" y="2970000"/>
            <a:ext cx="1204343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预测新房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66576" y="3196800"/>
            <a:ext cx="1204343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Predict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66576" y="3384000"/>
            <a:ext cx="1204343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给一套没见过的房子
输出价格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9200" y="4302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这五步就是后面所有模型的骨架：假设 → 度量误差 → 优化 → 预测。深度学习也只不过把「假设」换成了神经网络。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模型与参数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Model &amp; Parameters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模型是一族函数的集合（假设空间），训练就是在这个空间里挑最好的那一个。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假设空间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模型能表示的所有函数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参数即知识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w、b 就是学到的东西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容量要匹配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太小欠拟合，太大过拟合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模型、参数与线性模型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23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模型 = 假设空间 + 一个点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所有 y = wx + b 构成一个函数族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训练 = 在这个族里挑出误差最小的那个点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23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线性模型展开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ŷ = w·x +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w 权重：每个特征的重要程度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b 偏置：整体平移量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多个特征时：ŷ = w₁x₁ + … + wₙxₙ + 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232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232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参数从数据里学出来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parameters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46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训练前 w、b 是随机初始化的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训练过程不断修正它们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训练结束后它们就是「学到的知识」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拟合直线：机器学到的那条线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32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3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每个竖着的差距就是一个残差（residual）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训练的目标：让所有残差的平方和最小（最小二乘）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这条线就是模型，w 和 b 是它学到的参数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换新数据不用重新写代码，重新 fit 即可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模型容量：太小、刚好、太大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04000"/>
          </a:xfrm>
          <a:prstGeom prst="rect">
            <a:avLst/>
          </a:prstGeom>
          <a:solidFill>
            <a:srgbClr val="FFFBE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0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容量太小 → 欠拟合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underfitting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连训练集上的规律都没抓住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表现：训练集和测试集都差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对策：加特征、换更灵活的模型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04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0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容量刚好 → 可用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the sweet spot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抓住了规律，没被噪声带跑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表现：训练集和验证集都好且接近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这是本周 Lab 要做到的事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04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0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容量太大 → 过拟合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overfitting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540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把噪声当成了规律背下来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表现：训练集极好，验证集明显下滑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对策：正则化、早停、更多数据、降容量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参数 vs 超参数（本周最容易搞混的一对）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000"/>
                <a:gridCol w="4104000"/>
                <a:gridCol w="4176000"/>
              </a:tblGrid>
              <a:tr h="604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对比项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参数 Parameter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超参数 Hyperparameter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谁决定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训练过程从数据里学出来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人在训练前手动设定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例子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线性回归的 w、b；决策树的划分阈值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学习率、正则强度 C、max_depth、k 折的 k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怎么定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由优化算法自动更新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用验证集 + 网格搜索 / 随机搜索来挑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写在哪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model.coef_ 、 model.intercept_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Pipeline 里能搜的参数（如 clf__C）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一句话：参数是「学」出来的，超参数是「选」出来的。Lab 的 GridSearchCV 就是在帮你选。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损失与优化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Loss &amp; Optimization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损失函数告诉模型「错得多离谱」，优化算法告诉它「往哪改」。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损失函数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把「错」变成一个数字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梯度下降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蒙眼下山那一步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学习率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每一步迈多大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32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常见损失函数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选错损失，模型就会优化错目标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32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000"/>
                <a:gridCol w="2951999"/>
                <a:gridCol w="2592000"/>
                <a:gridCol w="3096000"/>
              </a:tblGrid>
              <a:tr h="604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损失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公式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用在哪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特点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MSE 均方误差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mean((y − ŷ)²)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回归默认选择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对大误差惩罚重，对异常值敏感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MAE 平均绝对误差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mean(|y − ŷ|)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回归，且数据有异常值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量纲和目标一致，稳健但不可导点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交叉熵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−Σ y·log(ŷ)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分类（本周 digits 用这个）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惩罚「错且自信」，概率校准好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R² 决定系数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1 − SS_res / SS_tot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回归的评估指标（不是损失）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完美，0 等于猜均值，可负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本周 Lab：分类看 accuracy，回归看 MAE 和 R² —— 别把回归的 score() 当准确率。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梯度下降：蒙眼下山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57215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215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站在当前点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Start somewhere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7200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参数随机初始化
(w, b 随便取一组)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979630" y="3016799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03629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03629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61644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61644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1629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摸最陡的方向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1629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Compute the gradient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1629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算梯度：哪边是下坡
以及有多陡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484060" y="3016799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08059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08059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66074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6074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06059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迈一小步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6059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Step downhill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06059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w ← w − η · 梯度
η 就是学习率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7988490" y="3016799"/>
            <a:ext cx="306000" cy="2304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312489" y="2232000"/>
            <a:ext cx="2162430" cy="180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12489" y="2232000"/>
            <a:ext cx="2162430" cy="3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70504" y="2430000"/>
            <a:ext cx="446400" cy="4464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70504" y="2512800"/>
            <a:ext cx="446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10490" y="2970000"/>
            <a:ext cx="176642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50" b="1" i="0">
                <a:solidFill>
                  <a:srgbClr val="0E3F8C"/>
                </a:solidFill>
                <a:latin typeface="Source Han Sans SC"/>
              </a:rPr>
              <a:t>重复到平稳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10490" y="3196800"/>
            <a:ext cx="1766429" cy="1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3D7BD9"/>
                </a:solidFill>
                <a:latin typeface="Source Han Sans SC"/>
              </a:rPr>
              <a:t>Until it flattens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10490" y="3384000"/>
            <a:ext cx="176642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走到谷底附近
损失不再明显下降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9200" y="4338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梯度下降只保证找到「附近的最低点」；凸问题（线性回归、逻辑回归）里附近就是全局，神经网络里不是。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学习率 η：最重要的那个超参数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76000"/>
          </a:xfrm>
          <a:prstGeom prst="rect">
            <a:avLst/>
          </a:prstGeom>
          <a:solidFill>
            <a:srgbClr val="F5F7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太小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η = 1e-6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每一步挪一点点，训练极慢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可能还没走到就到了时间上限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表现：损失下降极其平缓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76000"/>
          </a:xfrm>
          <a:prstGeom prst="rect">
            <a:avLst/>
          </a:prstGeom>
          <a:solidFill>
            <a:srgbClr val="ECFDF5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7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合适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η = 1e-3 ~ 1e-1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先快后慢地稳定下降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几百步内收敛到较低损失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表现：曲线像滑梯，末端走平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76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76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太大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η = 1.0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一步跨过谷底，来回震荡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严重时损失发散成 NaN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表现：损失上下跳动甚至变大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训练循环长什么样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85259" cy="417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手写梯度下降（原理版）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584000"/>
            <a:ext cx="4789259" cy="36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epoch in range(n_epochs):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y_hat = w * X + b          # 前向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loss = mse(y, y_hat)       # 算损失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gw, gb = grad(loss, w, b)  # 求梯度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w -= lr * gw               # 更新参数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b -= lr * gb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if epoch % 50 == 0: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print(epoch, loss)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170000"/>
            <a:ext cx="5185259" cy="417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scikit-learn（工程版）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584000"/>
            <a:ext cx="4789259" cy="36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sklearn.pipeline import Pipeline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sklearn.preprocessing import StandardScaler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sklearn.linear_model import LogisticRegression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 = Pipeline([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('scale', StandardScaler()),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('clf', LogisticRegression(max_iter=1000)),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])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pipe.fit(X_train, y_train)   # learn params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pipe.score(X_test, y_test)   # evaluate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52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三个术语：batch 一次送进去的样本数；epoch 把训练集完整过一遍；step 一次参数更新。工程上你只会写右边这种。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泛化与评估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Generalization &amp;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训练集上再好看也不算数。真正的问题是：没见过的数据上还行不行？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三分数据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训练 / 验证 / 测试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交叉验证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数据少时的可靠估计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诊断过拟合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看两条曲线的差距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数据三分：各司其职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944000"/>
            <a:ext cx="6313031" cy="1188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9200" y="2142000"/>
            <a:ext cx="6313031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训练集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9200" y="2455200"/>
            <a:ext cx="6313031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60–80%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9200" y="3330000"/>
            <a:ext cx="5996231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用来拟合参数。模型只看这部分数据来学习。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5431" y="1944000"/>
            <a:ext cx="2075543" cy="118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5431" y="2142000"/>
            <a:ext cx="2075543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验证集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5431" y="2455200"/>
            <a:ext cx="2075543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10–20%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5431" y="3330000"/>
            <a:ext cx="175874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用来挑超参数和做早停。会被反复使用，所以不能当最终成绩。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74176" y="1944000"/>
            <a:ext cx="2075543" cy="1188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74176" y="2142000"/>
            <a:ext cx="2075543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Source Han Sans SC"/>
              </a:rPr>
              <a:t>测试集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4176" y="2455200"/>
            <a:ext cx="2075543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Source Han Sans SC"/>
              </a:rPr>
              <a:t>10–20%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54176" y="3330000"/>
            <a:ext cx="1758744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只在最后用一次，模拟「上线后遇到的新数据」。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200" y="4392000"/>
            <a:ext cx="10593719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0E3F8C"/>
                </a:solidFill>
                <a:latin typeface="Source Han Sans SC"/>
              </a:rPr>
              <a:t>铁律：测试集只能碰一次。用它反复调参，它就已经变成验证集了，你的分数也就不可信了。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k 折交叉验证：数据不够时的标准做法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16488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1 折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87199" y="15480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7199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0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7200" y="15480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27200" y="16776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9200" y="2275200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2 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87199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87199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7200" y="21744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200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0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7200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27200" y="21744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7200" y="2304000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200" y="29015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3 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987199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87199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47200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4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07200" y="28008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67200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6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27200" y="28008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27200" y="29303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200" y="35279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4 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987199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987199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47200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4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7200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0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67200" y="34272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6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27200" y="34272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27200" y="35567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200" y="4154399"/>
            <a:ext cx="108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E3F8C"/>
                </a:solidFill>
                <a:latin typeface="Source Han Sans SC"/>
              </a:rPr>
              <a:t>第 5 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987199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987199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47200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4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07200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0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7200" y="4053600"/>
            <a:ext cx="1209600" cy="475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6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训练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27200" y="4053600"/>
            <a:ext cx="1209600" cy="475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27200" y="4183199"/>
            <a:ext cx="1209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验证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95200" y="1620000"/>
            <a:ext cx="3897719" cy="34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把训练集切成 k 份（常用 k = 5 或 10）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每一轮拿其中 1 份当验证、其余当训练，共训 k 次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取 k 次分数的平均值作为估计，更稳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代价是 k 倍训练时间，所以深度模型少用</a:t>
            </a:r>
          </a:p>
          <a:p>
            <a:pPr algn="l">
              <a:lnSpc>
                <a:spcPct val="150000"/>
              </a:lnSpc>
              <a:spcAft>
                <a:spcPts val="9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GridSearchCV 内部就是这么做的（cv=5）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9200" y="4932000"/>
            <a:ext cx="10593719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6B7280"/>
                </a:solidFill>
                <a:latin typeface="Source Han Sans SC"/>
              </a:rPr>
              <a:t>分类任务用 StratifiedKFold，保证每折里各类比例一致。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诊断表：看到这两个分数，你就知道该干什么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3998" cy="30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1655999"/>
                <a:gridCol w="1944000"/>
                <a:gridCol w="5328000"/>
              </a:tblGrid>
              <a:tr h="604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训练集表现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验证集表现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结论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对策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欠拟合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加特征、换更强模型、减弱正则化、训练更久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高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明显更低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过拟合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加正则化、早停、扩充数据、降模型容量、做特征选择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高且接近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拟合良好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可以进入测试集做最终评估，一次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48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低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高（反常）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数据泄漏或划分错误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检查是否在划分前做了填充/标准化、时间序列是否随机切分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432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第四行最危险：分数好看但流程错了。本周 Lab 的 Pipeline 正是为了避免它。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一张图看懂欠拟合、刚好、过拟合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32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99200" y="1152000"/>
          <a:ext cx="6840000" cy="432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左侧：两条都高 → 欠拟合（容量不足）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中间：验证误差最低 → 这就是要找的点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右侧：训练继续降、验证反升 → 过拟合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本周 Lab 用 C 控制容量，看验证曲线选点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这就是偏差-方差权衡：拟合能力与稳定性不可兼得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Lab · sklearn 工作流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Hands-On: The sklearn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75 分钟，把「fit → predict → evaluate」升级成工程可用版。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四段任务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A 基线 → D 回归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防泄漏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预处理必须进 Pipeline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留下痕迹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每个 Checkpoint 都要写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今天要用的数据与交付物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75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338723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分类：load_digits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1797 × 64 → 10 classes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8×8 手写数字灰度图，展平成 64 个特征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 LogisticRegression 做多分类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指标：accuracy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296000"/>
            <a:ext cx="338723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回归：load_diabetes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442 × 10 → continuous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10 个生理指标预测病情进展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用 RandomForestRegressor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指标：MAE 与 R²（不是 accuracy）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5679" y="1296000"/>
            <a:ext cx="338723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2400" cy="2376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交付：lab-03.ipynb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≥ 2 commits, pushed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915200"/>
            <a:ext cx="294083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Restart &amp; Run All 必须无报错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每个 Checkpoint 用自己的话写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至少 2 次有意义的 commit 并推送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 A–B：先跑基线，再装进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Part A–B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85259" cy="432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A · 无 Pipeline 的基线（10 min）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584000"/>
            <a:ext cx="4789259" cy="37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sklearn.datasets import load_digits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sklearn.model_selection import train_test_split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sklearn.linear_model import LogisticRegression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X, y = load_digits(return_X_y=True)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X_tr, X_te, y_tr, y_te = train_test_split(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X, y, test_size=0.2, random_state=42)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LogisticRegression(max_iter=1000).fit(X_tr, y_tr) \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.score(X_te, y_te)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Checkpoint A: record the accuracy.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If a ConvergenceWarning appears, what is it telling you?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170000"/>
            <a:ext cx="5185259" cy="432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B · 装进 Pipeline（15 min）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584000"/>
            <a:ext cx="4789259" cy="37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sklearn.pipeline import Pipeline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sklearn.preprocessing import StandardScaler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 = Pipeline([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('scale', StandardScaler()),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('clf', LogisticRegression(max_iter=1000)),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])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pipe.fit(X_tr, y_tr)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pipe.score(X_te, y_te)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Checkpoint B: did scaling change accuracy?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Why does it matter here but not for a tree model?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Pitfall: fitting the scaler on all data leaks.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670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Pipeline 的价值不在省代码，而在于「缩放器只在每个训练折内拟合」——交叉验证才可信。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 C：用 GridSearchCV 系统调参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Part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85259" cy="381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网格搜索（20 min）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200" y="1584000"/>
            <a:ext cx="4789259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from sklearn.model_selection import GridSearchCV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grid = {'clf__C': [0.01, 0.1, 1, 10]}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search = GridSearchCV(pipe, grid, cv=5, n_jobs=-1)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search.fit(X_tr, y_tr)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print(search.best_params_)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print(search.best_score_)      # CV score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print(search.score(X_te, y_te)) # test score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Checkpoint C: why is the CV score usually lower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than the test score? Smaller C = stronger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regularisation, i.e. less capacity.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07659" y="1170000"/>
            <a:ext cx="5185259" cy="3816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读结果的三个要点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5659" y="1584000"/>
            <a:ext cx="4789259" cy="32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1. best_params_ is the CHOSEN hyperparameter;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  coef_ / intercept_ are the LEARNED parameters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2. cv_results_ holds every candidate's score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import pandas as pd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pd.DataFrame(search.cv_results_)[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['param_clf__C', 'mean_test_score',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'std_test_score']]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3. Watch the std: when means are close,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  prefer the more stable option.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  A gap &lt; 1 std is not worth agonising over.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166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注意命名规则：clf__C 表示「Pipeline 里叫 clf 那一步的参数 C」。两个下划线。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 D：换任务不换骨架，只换指标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Part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32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4000" cy="259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0000"/>
                <a:gridCol w="2736000"/>
                <a:gridCol w="3240000"/>
                <a:gridCol w="2808000"/>
              </a:tblGrid>
              <a:tr h="648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任务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该看的指标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含义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常见误解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分类 digits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accuracy /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预测对的占比（F1 兼顾精确率与召回率）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类别不均衡时 accuracy 会骗人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回归 diabetes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MAE / R²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MAE：平均差多少（与目标同量纲）；R²：比猜均值好多少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回归里 score() 返回 R²，不是准确率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两者通用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fit → predict → evaluate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骨架完全一样，只是换模型与换指标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不要把测试集拿来反复调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3888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Checkpoint D：用一句人话向外行解释 R² = 0.45 是什么意思（提示：比直接猜平均值好多少）。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常见坑与排查清单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Lab · 75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9200" y="1339200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9200" y="1411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坑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3200" y="1267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先划分，再拟合任何预处理器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4939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在全体数据上 fit StandardScaler 或填充器，就等于把测试集信息泄漏进训练；放进 Pipeline 就自动避免了。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9200" y="2041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9200" y="2041200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79200" y="2228400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9200" y="2300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坑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3200" y="2156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参数 ≠ 超参数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383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coef_ 是学出来的，C、max_depth、cv 是你选的。Lab 里被搜索的是后者。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2930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2930399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9200" y="3117599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200" y="3189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坑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23200" y="3045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CV 分与测试分不一致是常态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2723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CV 每折只用 4/5 数据训练，通常略低于测试分；差太多（&gt;5 个点）才需要怀疑流程。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200" y="38196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200" y="3819600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9200" y="4006799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9200" y="4078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坑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3200" y="3934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忘了固定随机种子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41615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train_test_split 与模型都设 random_state，否则结果无法复现，也无法与同学对答案。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9200" y="47087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9200" y="4708799"/>
            <a:ext cx="32400" cy="737999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79200" y="4895999"/>
            <a:ext cx="900000" cy="324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9200" y="496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3200" y="482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ConvergenceWarning 不是错误，但要看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50507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它说迭代次数不够：提高 max_iter，或先把特征标准化。这正是 Part B 存在的理由。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Part F：把本周技能推到大作业里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Capstone · M3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29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296000"/>
            <a:ext cx="5188859" cy="23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2400" cy="237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2400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M3 · 仓库与数据管线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2400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Milestone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915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建 src/data/（加载、清洗、划分）与 src/train.py，能端到端跑通并打印结果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划分策略要说明理由：分层 / 分组 / 按时间；时间序列不能随机切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清洗写进管线，绝不手工改 CSV；requirements.txt 固定版本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不用绝对路径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059" y="1296000"/>
            <a:ext cx="5188859" cy="2376000"/>
          </a:xfrm>
          <a:prstGeom prst="rect">
            <a:avLst/>
          </a:prstGeom>
          <a:solidFill>
            <a:srgbClr val="FEF2F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4059" y="1296000"/>
            <a:ext cx="32400" cy="2376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7259" y="1483200"/>
            <a:ext cx="474245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交付与规则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7259" y="1713600"/>
            <a:ext cx="474245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Before you leave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7259" y="1915200"/>
            <a:ext cx="4742459" cy="1612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下课前 push：python src/train.py 在队友机器上不改代码就能跑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Part F 不计入本次 Lab 分，但计入 Capstone（35%）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迟交：每次 −2 团队分，上限 −20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Lab 本身迟交：每天 −10%，最多 3 天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小测 · 举手作答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30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16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97200" y="1278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7200" y="1324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Q1 单选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5200" y="1278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标准化缩放器应该在哪里 fit？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890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在全体数据上，划分之前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只在该折的训练部分上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只在测试集上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5059" y="1116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93059" y="1278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3059" y="1324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Q2 单选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1059" y="1278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下面哪个是超参数？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59" y="1890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线性回归的 w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决策树的划分阈值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正则化强度 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2808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97200" y="297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7200" y="301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Q3 单选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05200" y="2970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训练集 98%、验证集 72%，这是？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00" y="3582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欠拟合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过拟合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数据泄漏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59" y="2808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93059" y="2970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93059" y="3016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Q4 判断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1059" y="2970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「回归模型上调用 score() 得到的是准确率。」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3059" y="3582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□ 对   □ 错（它返回 R²）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9200" y="4500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7200" y="4662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200" y="4708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Q5 单选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5200" y="4662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学习率设置过大会发生什么？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200" y="5274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训练变慢但一定收敛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损失震荡甚至发散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模型容量变小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5059" y="4500000"/>
            <a:ext cx="5197859" cy="149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93059" y="4662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93059" y="4708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Q6 简答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1059" y="4662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用自己的话说：Pipeline 到底防住了什么？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93059" y="5274000"/>
            <a:ext cx="4801859" cy="6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（口头回答，30 秒内）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Module 1 · Week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31 / 32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机器学习 = 从样例中反推规则；监督、无监督、强化是三类范式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参数是学出来的，超参数是选出来的——GridSearchCV 负责后者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损失函数定义「什么算错」，梯度下降负责「往哪改」，学习率控制步长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训练/验证/测试三分，测试集只碰一次；数据少时用 k 折交叉验证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Pipeline 的价值是防泄漏：预处理只拟合训练折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课后待办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完成 Lab 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lab-03.ipynb + 各 Checkpoint 说明 · 周一 23:59 截止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推送到 Git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至少 2 次 commit：feat: complete lab 03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01200" y="3941999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17200" y="4093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预习第 4 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7200" y="4345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教材第 4 章：指标、阈值、过拟合与 Ridge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W3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「模型的可信度，取决于评估它的流程，而不是它在训练集上的分数。」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—— 这也是为什么本周要先讲 Pipeline，再讲调参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Week 4 · 机器学习应用与模型评估：指标与阈值选择、过拟合诊断、Ridge 正则化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3 Lecture · 32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