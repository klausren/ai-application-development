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data</c:v>
                </c:pt>
              </c:strCache>
            </c:strRef>
          </c:tx>
          <c:spPr>
            <a:ln w="22225">
              <a:solidFill>
                <a:srgbClr val="9CA3AF"/>
              </a:solidFill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3.2</c:v>
                </c:pt>
                <c:pt idx="1">
                  <c:v>4.6</c:v>
                </c:pt>
                <c:pt idx="2">
                  <c:v>6.1</c:v>
                </c:pt>
                <c:pt idx="3">
                  <c:v>9.4</c:v>
                </c:pt>
                <c:pt idx="4">
                  <c:v>11.2</c:v>
                </c:pt>
                <c:pt idx="5">
                  <c:v>12.8</c:v>
                </c:pt>
                <c:pt idx="6">
                  <c:v>15.6</c:v>
                </c:pt>
                <c:pt idx="7">
                  <c:v>16.9</c:v>
                </c:pt>
                <c:pt idx="8">
                  <c:v>19.4</c:v>
                </c:pt>
                <c:pt idx="9">
                  <c:v>21.1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Fitted line ŷ = wx + b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marker>
            <c:spPr>
              <a:noFill/>
            </c:spPr>
          </c:marke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9</c:v>
                </c:pt>
                <c:pt idx="4">
                  <c:v>11</c:v>
                </c:pt>
                <c:pt idx="5">
                  <c:v>13</c:v>
                </c:pt>
                <c:pt idx="6">
                  <c:v>15</c:v>
                </c:pt>
                <c:pt idx="7">
                  <c:v>17</c:v>
                </c:pt>
                <c:pt idx="8">
                  <c:v>19</c:v>
                </c:pt>
                <c:pt idx="9">
                  <c:v>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Feature x (e.g. area)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Target y (e.g. price)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Training error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9.6</c:v>
                </c:pt>
                <c:pt idx="1">
                  <c:v>7.4</c:v>
                </c:pt>
                <c:pt idx="2">
                  <c:v>5.6</c:v>
                </c:pt>
                <c:pt idx="3">
                  <c:v>4.1</c:v>
                </c:pt>
                <c:pt idx="4">
                  <c:v>2.9</c:v>
                </c:pt>
                <c:pt idx="5">
                  <c:v>2.0</c:v>
                </c:pt>
                <c:pt idx="6">
                  <c:v>1.3</c:v>
                </c:pt>
                <c:pt idx="7">
                  <c:v>0.8</c:v>
                </c:pt>
                <c:pt idx="8">
                  <c:v>0.5</c:v>
                </c:pt>
                <c:pt idx="9">
                  <c:v>0.3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error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10.2</c:v>
                </c:pt>
                <c:pt idx="1">
                  <c:v>7.9</c:v>
                </c:pt>
                <c:pt idx="2">
                  <c:v>6.1</c:v>
                </c:pt>
                <c:pt idx="3">
                  <c:v>4.8</c:v>
                </c:pt>
                <c:pt idx="4">
                  <c:v>4.2</c:v>
                </c:pt>
                <c:pt idx="5">
                  <c:v>4.6</c:v>
                </c:pt>
                <c:pt idx="6">
                  <c:v>5.9</c:v>
                </c:pt>
                <c:pt idx="7">
                  <c:v>7.6</c:v>
                </c:pt>
                <c:pt idx="8">
                  <c:v>9.8</c:v>
                </c:pt>
                <c:pt idx="9">
                  <c:v>12.4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Model capacity (complexity) →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4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Error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SE 4XXX · UNDERGRADUATE COURSE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Machine Learning 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Learning from data · loss and optimisation · generalisation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3 · Paradigms · Parameters vs Hyperparameters · Gradient Descent · Cross-Validation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194590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60030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Module 1 · W2–4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8305" y="5295600"/>
            <a:ext cx="2918858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1105" y="5364000"/>
            <a:ext cx="2573258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Lecture + Lab + Quiz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0364" y="5295600"/>
            <a:ext cx="3113449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3164" y="5364000"/>
            <a:ext cx="2767849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scikit-learn · Pipeline · GridSearchCV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47014" y="5295600"/>
            <a:ext cx="194590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814" y="5364000"/>
            <a:ext cx="160030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International Students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Understand what "learning" actually means, then engineer the workflow.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Theory ~90 min · Lab ~75 min · Quiz &amp; Summary 15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What Is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What Is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Definition · three paradigms · shared vocabulary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Model &amp; 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Model &amp; Parameters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Hypothesis space · linear model · parameters vs hyperparameters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Loss &amp; Optimization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Loss &amp; Optimization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MSE · cross-entropy · gradient descent · learning rate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Generalization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Generalization &amp; Evaluation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Train/val/test · k-fold CV · overfitting vs underfitting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sklearn Workflow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Leakage-free Pipeline · GridSearchCV · classification &amp; regression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What Is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What Is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Machine learning is not writing rules — it is inferring rules from examples.
After this part you can state what is learned, from what, and into what.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From 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Data replaces hand-written rules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Three Paradigms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Supervised / unsupervised / RL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Shared Vocabulary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Sample · feature · label · inference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Traditional Programming vs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Traditional Programming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Humans write rules: if area &gt; 100 and metro &lt; 500m -&gt; expensive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Input: rules + data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Output: answers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Breaks when rules get too complex to write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Machine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Humans supply examples: 10k houses as (features, price)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Input: data + answers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Output: rules (the model)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algorithm infers the rules from examples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Tom Mitchell: a program learns from experience E w.r.t. task T and performance measure P if P improves with 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 Learning Paradigms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237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000"/>
                <a:gridCol w="3096000"/>
                <a:gridCol w="2520000"/>
                <a:gridCol w="3096000"/>
              </a:tblGrid>
              <a:tr h="59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Paradigm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Data Shape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Typical Tasks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Representative Algorithms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(x, y) pairs with ground truth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Classification,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Logistic regression, random forest,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Unsupervised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Only x, no labels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Clustering, dimensionality reduction, anomaly detection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KMeans, PCA, DBSCAN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Reinforcement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(state, action, reward) sequences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Decision making, control, games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Q-learning, PPO, DQN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671999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Weeks 1-6 focus on supervised learning; unsupervised and RL appear later.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Vocabulary: Read Any Paper After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6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6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879200"/>
            <a:ext cx="2940839" cy="100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One row of the dataset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6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6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feature ·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879200"/>
            <a:ext cx="2940839" cy="100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Attribute columns (area, pixels)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6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6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Label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label · 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879200"/>
            <a:ext cx="2940839" cy="100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target to predict (price, class)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200" y="324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9200" y="324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400" y="342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Training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2400" y="365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training 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3859200"/>
            <a:ext cx="2940839" cy="100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portion used to fit parameters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02440" y="324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02440" y="324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25639" y="342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Inference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5639" y="365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inference · predict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3859200"/>
            <a:ext cx="2940839" cy="100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Predicting on new samples after training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5679" y="324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5679" y="324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8879" y="342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Generalization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8879" y="365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generalization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3859200"/>
            <a:ext cx="2940839" cy="100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Performing well on unseen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An Intuition: Predicting House Prices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6172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6172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Collect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10k sold houses
(area, age, metro; price)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17544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1544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1544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18516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8516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9544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Hypothesise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9544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Hypothesise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9544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Guess price ≈ w × area + b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359888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83888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83888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0860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0860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1888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Measure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81888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Measure error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1888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 loss function quantifies
how wrong the guess is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302232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26231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6231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03203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3203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4232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Adjust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4232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Adjust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24232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Repeatedly nudge w, b
downhill on the loss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244575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68575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68575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5547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5547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66576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Predict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6576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Predict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6576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Output a price for
a house never seen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9200" y="4302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These five steps are the skeleton of every model that follows; deep learning only swaps the hypothesis for a neural network.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Model &amp; Parameters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Model &amp; Parameters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 model is a family of functions (the hypothesis space); training picks the best member of that family.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Hypothesis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Every function the model can express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Parameters Are Knowledge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 and b are what gets learned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Capacity Must 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Too small underfits, too large overfits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Models, Parameters and the Linear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23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Model = Space + One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All y = wx + b form a function family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Training picks the member with the lowest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23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The Linear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ŷ = w·x +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w, the weight: how much each feature matters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b, the bias: a global offset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With n features: ŷ = w₁x₁ + … + wₙxₙ + 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23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Parameters Come From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parameters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 and b start from random initialisation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Training keeps correcting them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After training they are the learned knowledge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Fitting a Line: What the Machine Learned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3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Each vertical gap is one residual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Training minimises the sum of squared residuals (least squares)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This line is the model; w and b are its learned parameters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New data means refit — not rewrite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Capacity: Too Small, Just Right, Too Large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0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Too Small → Underfitting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underfitting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Misses patterns even in the training set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bad on train AND test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Fix: more features, a more flexible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0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Just Right → Deployable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sweet spot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Captures the pattern without chasing noise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train and validation both good and close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This is what this week's lab aims for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0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Too Large → Overfitting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overfitting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Memorises noise as if it were signal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great on train, clearly worse on validation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Fix: regularisation, early stopping, more data, less capacity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Parameters vs Hyperparameters (This Week's Classic Mix-up)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4104000"/>
                <a:gridCol w="4176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Aspect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Parameter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Hyperparameter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Who sets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Learned from data during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Set by you before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Examples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 and b in linear regression; split thresholds in a tree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Learning rate, C, max_depth, k in k-fold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How to choose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Updated automatically by the optimiser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Chosen on the validation set via grid / random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Where it appears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model.coef_ , model.intercept_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Searchable keys in a Pipeline (e.g. clf__C)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Parameters are learned; hyperparameters are chosen. GridSearchCV in the lab does the choosing.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Loss &amp; Optimization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Loss &amp;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The loss tells the model how wrong it is; the optimiser tells it which way to move.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Loss Function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Turning error into one number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Gradient Descent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Walking downhill blindfolded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Learning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How big each step 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Common Loss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Pick the wrong one and the model optimises the wrong 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000"/>
                <a:gridCol w="2951999"/>
                <a:gridCol w="2592000"/>
                <a:gridCol w="3096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Loss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Formula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Used for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Property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mean((y − ŷ)²)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Regression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Punishes large errors heavily; outlier-sensitive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MAE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mean(|y − ŷ|)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Regression with outliers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Same unit as the target; robust, kink at zero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Cross-Entropy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−Σ y·log(ŷ)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Classification (this week's digits)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Punishes confident mistakes; well-calibrated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R²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1 − SS_res / SS_tot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Regression metric (not a loss)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perfect, 0 = guessing the mean, can be negative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In the lab: accuracy for classification, MAE and R² for regression — score() is not accuracy for regressors.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Gradient Descent: Walking Downhill Blindfolded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57215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215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Start somewhere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Parameters start at random
(w, b are arbitrary)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979630" y="3016799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03629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03629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1644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1644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1629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Feel the Slope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1629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Compute the gradient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1629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gradient says which way is
downhill and how steep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484060" y="3016799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08059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08059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6074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6074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6059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Take a Step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6059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Step downhill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06059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w ← w − η · gradient
η is the learning rate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988490" y="3016799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12489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12489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70504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70504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10490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Repeat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10490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Until it flattens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10490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Stop near the bottom when
the loss stops improving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9200" y="4338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Gradient descent only guarantees a nearby minimum — global for convex problems (linear/logistic regression), not for neural networks.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Learning Rate η: The One Hyperparameter That Matters Most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76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Too Small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η = 1e-6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Tiny steps — training crawls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May never arrive before the time budget runs out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the loss curve is almost flat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76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7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Just Right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η = 1e-3 ~ 1e-1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Fast at first, then smoothly flattening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Converges within a few hundred steps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a slide-shaped curve that flattens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76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76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Too Large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η = 1.0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Overshoots the valley and oscillates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In the worst case the loss diverges to NaN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the loss jumps around or grows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What the Training Loop Looks 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8525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Gradient descent, from scratch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584000"/>
            <a:ext cx="478925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epoch in range(n_epochs):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y_hat = w * X + b          # forward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loss = mse(y, y_hat)       # the loss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gw, gb = grad(loss, w, b)  # gradient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w -= lr * gw               # update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b -= lr * gb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if epoch % 50 == 0: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print(epoch, loss)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170000"/>
            <a:ext cx="518525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The scikit-learn 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584000"/>
            <a:ext cx="478925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sklearn.pipeline import Pipeline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sklearn.preprocessing import StandardScaler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sklearn.linear_model import LogisticRegression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 = Pipeline([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('scale', StandardScaler()),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('clf', LogisticRegression(max_iter=1000)),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])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pipe.fit(X_train, y_train)   # learn params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pipe.score(X_test, y_test)   # evaluate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Three terms: batch = samples per update; epoch = one full pass over the training set; step = one parameter update. In practice you write the version on the right.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Generalization &amp;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Generalization &amp;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 great training score proves nothing. The real question is: does it hold on unseen data?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Three Splits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Train / validation / test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Cross-Validation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Reliable estimates on small 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Diagnose Overfitting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Watch the gap between two curves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 Splits, Three Jobs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944000"/>
            <a:ext cx="6313031" cy="1188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200" y="2142000"/>
            <a:ext cx="6313031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Training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" y="2455200"/>
            <a:ext cx="631303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60–80%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9200" y="3330000"/>
            <a:ext cx="5996231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Used to fit parameters. The model only learns from this part.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5431" y="1944000"/>
            <a:ext cx="2075543" cy="118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5431" y="2142000"/>
            <a:ext cx="2075543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Validation 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5431" y="2455200"/>
            <a:ext cx="2075543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10–20%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5431" y="3330000"/>
            <a:ext cx="175874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Used to choose hyperparameters and early-stop. Reused often, so it is not the final grade.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74176" y="1944000"/>
            <a:ext cx="2075543" cy="118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74176" y="2142000"/>
            <a:ext cx="2075543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Test 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4176" y="2455200"/>
            <a:ext cx="2075543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10–20%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54176" y="3330000"/>
            <a:ext cx="175874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Touched once, at the very end — it simulates data seen after deployment.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4392000"/>
            <a:ext cx="1059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0E3F8C"/>
                </a:solidFill>
                <a:latin typeface="Source Han Sans SC"/>
              </a:rPr>
              <a:t>Iron rule: touch the test set once. Tune on it repeatedly and it silently becomes a validation set — your score stops meaning anything.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k-Fold Cross-Validation: The Standard When Data Is Scarce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16488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7199" y="15480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7199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2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9200" y="22752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87199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87199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7200" y="21744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200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7200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27200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200" y="29015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7199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87199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47200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07200" y="28008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7200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27200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200" y="35279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87199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87199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47200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4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7200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0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67200" y="34272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27200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2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200" y="41543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87199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87199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47200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4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07200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0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7200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6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27200" y="40536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2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5200" y="1620000"/>
            <a:ext cx="389771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Split the training set into k parts (k = 5 or 10 is typical)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Each round holds out one part, training on the rest — k trainings total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Average the k scores — a far more stable estimate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Costs k× training time, so deep models use it sparingly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GridSearchCV(cv=5) does exactly this under the hood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9200" y="49320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For classification use StratifiedKFold so each fold keeps the class proportions.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Diagnostics: Two Scores Tell You Exactly What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8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1655999"/>
                <a:gridCol w="1944000"/>
                <a:gridCol w="5328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Train Score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Validation Score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Diagnosis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To Do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Underfitting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Add features, use a stronger model, weaken regularisation, train longer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High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Clearly lower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Overfitting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Regularise, early-stop, collect more data, reduce capacity, select features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High and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Healthy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Move on to the test set for one final evaluation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Low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High (suspicious)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Leakage or a bad split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Check for pre-split imputation/scaling, or a random split on time series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Row four is the dangerous one — a pretty score from a broken protocol. This week's Pipeline exists to prevent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Underfit, Healthy, Overfit — In One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3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Left: both high → underfitting (not enough capacity)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Middle: validation error bottoms out → the sweet spot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Right: train keeps falling, validation rises → overfitting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In the lab, C controls capacity — pick the point by the validation curve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This is the bias-variance trade-off: flexibility versus stability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The sklearn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Hands-On: The sklearn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75 minutes to upgrade "fit → predict → evaluate" into something production-ready.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Four Missions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baseline → D regression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No Leakage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Preprocessing belongs in the Pipeline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Paper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Answer every checkpoint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Today's Datasets and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75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Classification: load_digits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1797 × 64 → 10 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8×8 handwritten digits flattened to 64 features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Multi-class with LogisticRegression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Metric: 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Regression: load_diabetes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442 × 10 → continuous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10 physiological features predict disease progression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Uses RandomForestRegressor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Metrics: MAE and R² (never accuracy)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Deliverable: lab-03.ipynb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≥ 2 commits, pushed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Restart &amp; Run All must pass cleanly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Every checkpoint answered in your own words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At least 2 meaningful commits, pushed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Parts A–B: Baseline First, Then the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Part A–B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85259" cy="432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A · Baseline, no pipeline (10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584000"/>
            <a:ext cx="4789259" cy="37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sklearn.datasets import load_digits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sklearn.model_selection import train_test_split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sklearn.linear_model import LogisticRegression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X, y = load_digits(return_X_y=True)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X_tr, X_te, y_tr, y_te = train_test_split(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X, y, test_size=0.2, random_state=42)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LogisticRegression(max_iter=1000).fit(X_tr, y_tr) \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.score(X_te, y_te)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Checkpoint A: record the accuracy.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If a ConvergenceWarning appears, what is it telling you?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170000"/>
            <a:ext cx="5185259" cy="432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B · The same model, in a Pipeline (15 min)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584000"/>
            <a:ext cx="4789259" cy="37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sklearn.pipeline import Pipeline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sklearn.preprocessing import StandardScaler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 = Pipeline([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('scale', StandardScaler()),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('clf', LogisticRegression(max_iter=1000)),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])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pipe.fit(X_tr, y_tr)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pipe.score(X_te, y_te)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Checkpoint B: did scaling change accuracy?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Why does it matter here but not for a tree model?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Pitfall: fitting the scaler on all data leaks.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67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A Pipeline is not about saving keystrokes — it guarantees the scaler fits only on each training fold, so cross-validation stays honest.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C: Systematic Tuning with GridSearchCV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Part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85259" cy="381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The sweep (20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584000"/>
            <a:ext cx="4789259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sklearn.model_selection import GridSearchCV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grid = {'clf__C': [0.01, 0.1, 1, 10]}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search = GridSearchCV(pipe, grid, cv=5, n_jobs=-1)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search.fit(X_tr, y_tr)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print(search.best_params_)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print(search.best_score_)      # CV score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print(search.score(X_te, y_te)) # test score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Checkpoint C: why is the CV score usually lower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than the test score? Smaller C = stronger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regularisation, i.e. less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170000"/>
            <a:ext cx="5185259" cy="381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Reading the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584000"/>
            <a:ext cx="4789259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1. best_params_ is the CHOSEN hyperparameter;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  coef_ / intercept_ are the LEARNED parameters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2. cv_results_ holds every candidate's score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pandas as pd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pd.DataFrame(search.cv_results_)[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['param_clf__C', 'mean_test_score',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'std_test_score']]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3. Watch the std: when means are close,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  prefer the more stable option.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  A gap &lt; 1 std is not worth agonising 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16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Mind the naming rule: clf__C means parameter C of the step named clf inside the Pipeline — two underscores.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D: Same Skeleton, Different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Part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25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2736000"/>
                <a:gridCol w="3240000"/>
                <a:gridCol w="2808000"/>
              </a:tblGrid>
              <a:tr h="648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Task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Metric To Use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Means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Common Mistake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Classification (digits)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accuracy /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Share of correct predictions (F1 balances precision and recall)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Accuracy lies when classes are imbalanced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Regression (diabetes)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MAE / R²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MAE: average error in target units; R²: how much better than guessing the mean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For regressors, score() returns R² — not accuracy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fit → predict → evaluate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Identical skeleton; only the model and the metric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Never tune repeatedly on the test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888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Checkpoint D: explain in plain language what R² = 0.45 means to a stakeholder.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Pitfalls and a Debugging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75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Pitfall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Split first, fit preprocessing 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4939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Fitting a scaler or imputer on all data leaks test information into training; a Pipeline prevents it by construction.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Pitfall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Parameters are not hyperparameters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coef_ is learned; C, max_depth and cv are chosen. GridSearchCV searches the latter.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Pitfall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CV and test scores naturally differ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2723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Each fold trains on 4/5 of the data, so CV is usually a little lower; only a large gap (&gt;5 pts) signals a broken protocol.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38196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3819600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006799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078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Pitfall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3934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Forgetting the random seed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1615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Set random_state on both the split and the model, or results are unreproducible and impossible to compare.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7087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708799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4895999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496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Pitfall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482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ConvergenceWarning is not an error — but read 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0507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It says the solver ran out of iterations: raise max_iter, or scale the features first — exactly why Part B exists.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F: Push This Week's Skill Into Your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Capstone · M3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M3 · Repository &amp; Data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Milestone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Create src/data/ (load, clean, split) and an src/train.py that runs end-to-end and prints something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Justify your split: stratified / grouped / time-based — never random on time series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Cleaning lives in the pipeline, never in hand-edited CSVs; pin requirements.txt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No absolute paths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2376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2376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Deliverables &amp;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Before you leave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Push before the lab ends: python src/train.py must run on a teammate's machine unedited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Part F is graded under the Capstone (35%), not under this lab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Late: −2 team points each time, up to −20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Lab late policy: −10% per day, max 3 days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Quick Quiz (Show of Hands)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30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16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7200" y="1278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200" y="1324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Q1 Single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5200" y="1278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Where should a scaler be fitted?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890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On all data, before splitting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Only on the training portion of each fold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Only on the test set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059" y="1116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3059" y="1278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59" y="1324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Q2 Single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059" y="1278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Which of these is a hyperparameter?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59" y="1890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w of a linear regression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A tree's split threshold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Regularisation strength 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2808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7200" y="297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200" y="301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Q3 Single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5200" y="297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Train 98%, validation 72% — what is this?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00" y="3582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Underfitting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Overfitting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Data leakage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59" y="2808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3059" y="297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59" y="301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Q4 True/False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1059" y="297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"Calling score() on a regressor gives accuracy."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3059" y="3582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□ True   □ False (it returns R²)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9200" y="4500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7200" y="4662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200" y="4708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Q5 Single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5200" y="4662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What happens if the learning rate is too large?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200" y="5274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Slower but it still converges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The loss oscillates or diverges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Model capacity shrinks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5059" y="4500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93059" y="4662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3059" y="4708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Q6 Short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1059" y="4662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In your own words: what exactly does a Pipeline prevent?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3059" y="5274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(Answer out loud, 30 seconds)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31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ML infers rules from examples; supervised, unsupervised and RL are the three paradigms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Parameters are learned, hyperparameters are chosen — GridSearchCV handles the latter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The loss defines what counts as wrong; gradient descent decides where to move; the learning rate sets the step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Train/validation/test, and touch the test set once; use k-fold CV when data is scarce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A Pipeline's real value is preventing leakage: preprocessing fits only on training folds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After Class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Finish Lab 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lab-03.ipynb with checkpoint write-ups · due Monday 23:59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Push to Git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At least 2 commits, e.g. feat: complete lab 03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01200" y="3941999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17200" y="4093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Preview Week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7200" y="4345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Chapter 4: metrics, thresholds, overfitting and Ridge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W3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"A model is only as trustworthy as the protocol that evaluates it."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— which is why Pipeline comes before tuning this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Next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Week 4 · ML Applications &amp; Model Evaluation: metrics and thresholds, diagnosing overfitting, Ridge regularisation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 Lecture · 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