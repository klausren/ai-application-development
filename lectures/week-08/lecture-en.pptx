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accuracy</c:v>
                </c:pt>
              </c:strCache>
            </c:strRef>
          </c:tx>
          <c:spPr>
            <a:ln w="31750">
              <a:solidFill>
                <a:srgbClr val="D97706"/>
              </a:solidFill>
            </a:ln>
          </c:spPr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3</c:v>
                </c:pt>
                <c:pt idx="2">
                  <c:v>6</c:v>
                </c:pt>
                <c:pt idx="3">
                  <c:v>9</c:v>
                </c:pt>
                <c:pt idx="4">
                  <c:v>12</c:v>
                </c:pt>
                <c:pt idx="5">
                  <c:v>15</c:v>
                </c:pt>
                <c:pt idx="6">
                  <c:v>18</c:v>
                </c:pt>
                <c:pt idx="7">
                  <c:v>21</c:v>
                </c:pt>
                <c:pt idx="8">
                  <c:v>24</c:v>
                </c:pt>
                <c:pt idx="9">
                  <c:v>27</c:v>
                </c:pt>
                <c:pt idx="10">
                  <c:v>30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0.2849</c:v>
                </c:pt>
                <c:pt idx="1">
                  <c:v>0.2696</c:v>
                </c:pt>
                <c:pt idx="2">
                  <c:v>0.4857</c:v>
                </c:pt>
                <c:pt idx="3">
                  <c:v>0.6386</c:v>
                </c:pt>
                <c:pt idx="4">
                  <c:v>0.74</c:v>
                </c:pt>
                <c:pt idx="5">
                  <c:v>0.8375</c:v>
                </c:pt>
                <c:pt idx="6">
                  <c:v>0.8853</c:v>
                </c:pt>
                <c:pt idx="7">
                  <c:v>0.8967</c:v>
                </c:pt>
                <c:pt idx="8">
                  <c:v>0.9675</c:v>
                </c:pt>
                <c:pt idx="9">
                  <c:v>0.9866</c:v>
                </c:pt>
                <c:pt idx="10">
                  <c:v>0.9885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Validation accuracy</c:v>
                </c:pt>
              </c:strCache>
            </c:strRef>
          </c:tx>
          <c:spPr>
            <a:ln w="31750">
              <a:solidFill>
                <a:srgbClr val="1E4FA8"/>
              </a:solidFill>
            </a:ln>
          </c:spPr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3</c:v>
                </c:pt>
                <c:pt idx="2">
                  <c:v>6</c:v>
                </c:pt>
                <c:pt idx="3">
                  <c:v>9</c:v>
                </c:pt>
                <c:pt idx="4">
                  <c:v>12</c:v>
                </c:pt>
                <c:pt idx="5">
                  <c:v>15</c:v>
                </c:pt>
                <c:pt idx="6">
                  <c:v>18</c:v>
                </c:pt>
                <c:pt idx="7">
                  <c:v>21</c:v>
                </c:pt>
                <c:pt idx="8">
                  <c:v>24</c:v>
                </c:pt>
                <c:pt idx="9">
                  <c:v>27</c:v>
                </c:pt>
                <c:pt idx="10">
                  <c:v>30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0.2143</c:v>
                </c:pt>
                <c:pt idx="1">
                  <c:v>0.2411</c:v>
                </c:pt>
                <c:pt idx="2">
                  <c:v>0.2589</c:v>
                </c:pt>
                <c:pt idx="3">
                  <c:v>0.25</c:v>
                </c:pt>
                <c:pt idx="4">
                  <c:v>0.3036</c:v>
                </c:pt>
                <c:pt idx="5">
                  <c:v>0.3393</c:v>
                </c:pt>
                <c:pt idx="6">
                  <c:v>0.3571</c:v>
                </c:pt>
                <c:pt idx="7">
                  <c:v>0.3036</c:v>
                </c:pt>
                <c:pt idx="8">
                  <c:v>0.3661</c:v>
                </c:pt>
                <c:pt idx="9">
                  <c:v>0.4196</c:v>
                </c:pt>
                <c:pt idx="10">
                  <c:v>0.4196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epoch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.0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accuracy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latin typeface="Source Han Sans SC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Per-class recall</c:v>
                </c:pt>
              </c:strCache>
            </c:strRef>
          </c:tx>
          <c:spPr>
            <a:ln w="31750">
              <a:solidFill>
                <a:srgbClr val="1E4FA8"/>
              </a:solidFill>
            </a:ln>
          </c:spPr>
          <c:cat>
            <c:strRef>
              <c:f>Sheet1!$A$2:$A$7</c:f>
              <c:strCache>
                <c:ptCount val="6"/>
                <c:pt idx="0">
                  <c:v>W1 · n=80</c:v>
                </c:pt>
                <c:pt idx="1">
                  <c:v>W2 · n=75</c:v>
                </c:pt>
                <c:pt idx="2">
                  <c:v>W3 · n=85</c:v>
                </c:pt>
                <c:pt idx="3">
                  <c:v>W4 · n=90</c:v>
                </c:pt>
                <c:pt idx="4">
                  <c:v>W5 · n=95</c:v>
                </c:pt>
                <c:pt idx="5">
                  <c:v>W6 · n=140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0.175</c:v>
                </c:pt>
                <c:pt idx="1">
                  <c:v>0.1867</c:v>
                </c:pt>
                <c:pt idx="2">
                  <c:v>0.4235</c:v>
                </c:pt>
                <c:pt idx="3">
                  <c:v>0.4778</c:v>
                </c:pt>
                <c:pt idx="4">
                  <c:v>0.4211</c:v>
                </c:pt>
                <c:pt idx="5">
                  <c:v>0.6643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class (ordered by test size)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0.75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recall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latin typeface="Source Han Sans SC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332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3200"/>
            <a:ext cx="12192119" cy="576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59" y="856800"/>
            <a:ext cx="5296859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9000" b="1" i="0">
                <a:solidFill>
                  <a:srgbClr val="F0F5FC"/>
                </a:solidFill>
                <a:latin typeface="Source Han Sans SC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856800"/>
            <a:ext cx="72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1E4FA8"/>
                </a:solidFill>
                <a:latin typeface="Source Han Sans SC"/>
              </a:rPr>
              <a:t>MODULE 02 · WEEK 08 · CORE DEEP LEARNING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99200" y="1267200"/>
            <a:ext cx="608400" cy="39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9200" y="1609200"/>
            <a:ext cx="10593719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 i="0">
                <a:solidFill>
                  <a:srgbClr val="0E3F8C"/>
                </a:solidFill>
                <a:latin typeface="Source Han Sans SC"/>
              </a:rPr>
              <a:t>Sequence Models and Text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2232000"/>
            <a:ext cx="10593719" cy="9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0" i="0">
                <a:solidFill>
                  <a:srgbClr val="1F2937"/>
                </a:solidFill>
                <a:latin typeface="Source Han Sans SC"/>
              </a:rPr>
              <a:t>From a passage to a tensor, and back to a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9200" y="3344399"/>
            <a:ext cx="10593719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B7280"/>
                </a:solidFill>
                <a:latin typeface="Source Han Sans SC"/>
              </a:rPr>
              <a:t>CU(8) · Lab 7 · 748 passages · 6 classes · Embedding(64)→LSTM(96)→Linear(6) · Adam 1e-3 · batch 64 · 30 epochs · 5 seeds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9200" y="5295600"/>
            <a:ext cx="2899234" cy="324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2000" y="5364000"/>
            <a:ext cx="2553634" cy="19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0E3F8C"/>
                </a:solidFill>
                <a:latin typeface="Source Han Sans SC"/>
              </a:rPr>
              <a:t>4 hours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21634" y="5295600"/>
            <a:ext cx="2899234" cy="324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94434" y="5364000"/>
            <a:ext cx="2553634" cy="19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0E3F8C"/>
                </a:solidFill>
                <a:latin typeface="Source Han Sans SC"/>
              </a:rPr>
              <a:t>Lab 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4068" y="5295600"/>
            <a:ext cx="4348851" cy="324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16868" y="5364000"/>
            <a:ext cx="4003251" cy="19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0E3F8C"/>
                </a:solidFill>
                <a:latin typeface="Source Han Sans SC"/>
              </a:rPr>
              <a:t>M8 midterm checkpoint 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200" y="5868000"/>
            <a:ext cx="417600" cy="4176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6800" y="5961600"/>
            <a:ext cx="306000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FFFFF"/>
                </a:solidFill>
                <a:latin typeface="Source Han Sans SC"/>
              </a:rPr>
              <a:t>W8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2000" y="5983200"/>
            <a:ext cx="5760000" cy="20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Zheng Ren · School of Software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556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02 / 32</a:t>
            </a:r>
          </a:p>
        </p:txBody>
      </p:sp>
      <p:sp>
        <p:nvSpPr>
          <p:cNvPr id="8" name="Rectangle 7"/>
          <p:cNvSpPr/>
          <p:nvPr/>
        </p:nvSpPr>
        <p:spPr>
          <a:xfrm>
            <a:off x="799200" y="1044000"/>
            <a:ext cx="2858400" cy="49536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7600" y="2163600"/>
            <a:ext cx="2361600" cy="496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0E3F8C"/>
                </a:solidFill>
                <a:latin typeface="Source Han Sans SC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600" y="2628000"/>
            <a:ext cx="2361600" cy="280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6B7280"/>
                </a:solidFill>
                <a:latin typeface="Source Han Sans SC"/>
              </a:rPr>
              <a:t>slides · 5 parts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7600" y="2991600"/>
            <a:ext cx="2361600" cy="18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7600" y="3160800"/>
            <a:ext cx="2361600" cy="89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The protagonist this week is not the LSTM. It is **the person who turns variable-length text into a fixed-length tensor.** Get padding and masking wrong and the model still trains and still reports an accuracy — just a fake one.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7600" y="4208400"/>
            <a:ext cx="2361600" cy="68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0800" y="4305600"/>
            <a:ext cx="2095200" cy="496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90 lecture (10 review + 80 new)
80 lab
10 wrap-up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24000" y="1648800"/>
            <a:ext cx="7466399" cy="76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99600" y="1771200"/>
            <a:ext cx="496799" cy="496799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99600" y="1872000"/>
            <a:ext cx="496799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1E4FA8"/>
                </a:solidFill>
                <a:latin typeface="Source Han Sans SC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7200" y="1789200"/>
            <a:ext cx="4320000" cy="27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E3F8C"/>
                </a:solidFill>
                <a:latin typeface="Source Han Sans SC"/>
              </a:rPr>
              <a:t>From text to a tensor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7200" y="2077199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3D7BD9"/>
                </a:solidFill>
                <a:latin typeface="Source Han Sans SC"/>
              </a:rPr>
              <a:t>Part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87200" y="2268000"/>
            <a:ext cx="62496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tokenise → vocabulary → encode → pad, and where each step breaks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11048400" y="1933200"/>
            <a:ext cx="180000" cy="1908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924000" y="2401200"/>
            <a:ext cx="7466399" cy="76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999600" y="2523600"/>
            <a:ext cx="496799" cy="496799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99600" y="2624400"/>
            <a:ext cx="496799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1E4FA8"/>
                </a:solidFill>
                <a:latin typeface="Source Han Sans SC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7200" y="2541600"/>
            <a:ext cx="4320000" cy="27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E3F8C"/>
                </a:solidFill>
                <a:latin typeface="Source Han Sans SC"/>
              </a:rPr>
              <a:t>Padding and masking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87200" y="28296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3D7BD9"/>
                </a:solidFill>
                <a:latin typeface="Source Han Sans SC"/>
              </a:rPr>
              <a:t>Part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87200" y="3020400"/>
            <a:ext cx="62496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A quiet bug: the model reads a pad vector and the metric cannot see it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11048400" y="2685600"/>
            <a:ext cx="180000" cy="1908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924000" y="3153600"/>
            <a:ext cx="7466399" cy="76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999600" y="3276000"/>
            <a:ext cx="496799" cy="496799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99600" y="3376799"/>
            <a:ext cx="496799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1E4FA8"/>
                </a:solidFill>
                <a:latin typeface="Source Han Sans SC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87200" y="3294000"/>
            <a:ext cx="4320000" cy="27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E3F8C"/>
                </a:solidFill>
                <a:latin typeface="Source Han Sans SC"/>
              </a:rPr>
              <a:t>Curves and the real bottleneck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87200" y="3581999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3D7BD9"/>
                </a:solidFill>
                <a:latin typeface="Source Han Sans SC"/>
              </a:rPr>
              <a:t>Part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87200" y="3772800"/>
            <a:ext cx="62496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It overfits; regularisation does not rescue it — the bottleneck is data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11048400" y="3438000"/>
            <a:ext cx="180000" cy="1908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924000" y="3906000"/>
            <a:ext cx="7466399" cy="76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999600" y="4028400"/>
            <a:ext cx="496799" cy="496799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99600" y="4129199"/>
            <a:ext cx="496799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1E4FA8"/>
                </a:solidFill>
                <a:latin typeface="Source Han Sans SC"/>
              </a:rPr>
              <a:t>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87200" y="4046400"/>
            <a:ext cx="4320000" cy="27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E3F8C"/>
                </a:solidFill>
                <a:latin typeface="Source Han Sans SC"/>
              </a:rPr>
              <a:t>Where it goes wrong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87200" y="433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3D7BD9"/>
                </a:solidFill>
                <a:latin typeface="Source Han Sans SC"/>
              </a:rPr>
              <a:t>Part 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87200" y="4525200"/>
            <a:ext cx="62496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A 6×6 confusion matrix, the accuracy/macro-F1 split, concrete samples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11048400" y="4190400"/>
            <a:ext cx="180000" cy="1908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924000" y="4658400"/>
            <a:ext cx="7466399" cy="76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999600" y="4780800"/>
            <a:ext cx="496799" cy="496799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999600" y="4881600"/>
            <a:ext cx="496799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1E4FA8"/>
                </a:solidFill>
                <a:latin typeface="Source Han Sans SC"/>
              </a:rPr>
              <a:t>05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87200" y="4798800"/>
            <a:ext cx="4320000" cy="27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0E3F8C"/>
                </a:solidFill>
                <a:latin typeface="Source Han Sans SC"/>
              </a:rPr>
              <a:t>Next, and M8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87200" y="50868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3D7BD9"/>
                </a:solidFill>
                <a:latin typeface="Source Han Sans SC"/>
              </a:rPr>
              <a:t>Part 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87200" y="5277600"/>
            <a:ext cx="62496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the RNN→Transformer hook, the metric-choice ethics point, the midterm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11048400" y="4942800"/>
            <a:ext cx="180000" cy="190800"/>
          </a:xfrm>
          <a:prstGeom prst="rightArrow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3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32919" y="381600"/>
            <a:ext cx="6667200" cy="564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7000" b="1" i="0">
                <a:solidFill>
                  <a:srgbClr val="F0F5FC"/>
                </a:solidFill>
                <a:latin typeface="Source Han Sans SC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56800" y="1047600"/>
            <a:ext cx="1238400" cy="12384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0800" y="1314000"/>
            <a:ext cx="601200" cy="71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 i="0">
                <a:solidFill>
                  <a:srgbClr val="FFFFFF"/>
                </a:solidFill>
                <a:latin typeface="Source Han Sans S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9600" y="1105200"/>
            <a:ext cx="5040000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E3F8C"/>
                </a:solidFill>
                <a:latin typeface="Source Han Sans SC"/>
              </a:rPr>
              <a:t>From Text to a Tensor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9600" y="1666800"/>
            <a:ext cx="5040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D7BD9"/>
                </a:solidFill>
                <a:latin typeface="Source Han Sans SC"/>
              </a:rPr>
              <a:t>Part 1 · tokenise → vocabulary → encode → pad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2736000"/>
            <a:ext cx="8640000" cy="11726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F2937"/>
                </a:solidFill>
                <a:latin typeface="Source Han Sans SC"/>
              </a:rPr>
              <a:t>An LSTM does not read. It reads an integer tensor of shape (batch, seq_len). **Eighty percent of this week's bugs live in these four steps, not in the model.** Wire the pipeline first; the gates come second.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5000400"/>
            <a:ext cx="247832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5000400"/>
            <a:ext cx="247832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000" y="5173200"/>
            <a:ext cx="206072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Tokenise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8000" y="5468400"/>
            <a:ext cx="206072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split on what?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04330" y="5000400"/>
            <a:ext cx="247832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4330" y="5000400"/>
            <a:ext cx="247832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13130" y="5173200"/>
            <a:ext cx="206072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Vocabulary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13130" y="5468400"/>
            <a:ext cx="206072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built from train only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9460" y="5000400"/>
            <a:ext cx="247832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9460" y="5000400"/>
            <a:ext cx="247832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8259" y="5173200"/>
            <a:ext cx="206072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Encode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8259" y="5468400"/>
            <a:ext cx="206072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who gets &lt;unk&gt;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14589" y="5000400"/>
            <a:ext cx="247832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14589" y="5000400"/>
            <a:ext cx="247832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23389" y="5173200"/>
            <a:ext cx="206072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Pad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23389" y="5468400"/>
            <a:ext cx="206072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pad to what length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03 / 32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232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Four steps, one classic bug each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496799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See the chain before writing it. Every step's failure surfaces as 'low accuracy' at the end, never at the line you broke.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748 passages · 6 classes · Embedding(64)→LSTM(96)→Linear(6) · Adam 1e-3 · batch 64 · 30 epochs · 5 seeds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04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188000"/>
            <a:ext cx="5170859" cy="2376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188000"/>
            <a:ext cx="32400" cy="2376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2400" y="1375200"/>
            <a:ext cx="472445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1 · Tokenise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2400" y="1648800"/>
            <a:ext cx="4724459" cy="1771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Split the string into a token sequence.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English: lowercase + the regex [a-z][a-z'-]*, so don't and state-of-the-art stay whole.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Chinese: **splitting on whitespace is almost always wrong** — see the next-but-one page.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46059" y="3149999"/>
            <a:ext cx="1007999" cy="223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46059" y="3196799"/>
            <a:ext cx="100799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FFFFFF"/>
                </a:solidFill>
                <a:latin typeface="Source Han Sans SC"/>
              </a:rPr>
              <a:t>decide before you split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22059" y="1188000"/>
            <a:ext cx="5170859" cy="2376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059" y="1188000"/>
            <a:ext cx="32400" cy="23760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5259" y="1375200"/>
            <a:ext cx="472445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2 · Vocabulary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5259" y="1648800"/>
            <a:ext cx="4724459" cy="1771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**Build the vocabulary from the training split only.** Using all data hands test information to training.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min_freq=2 drops words seen once; cap at 6000.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This week's mean vocabulary is only 1592 words.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68919" y="3149999"/>
            <a:ext cx="1007999" cy="223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68919" y="3196799"/>
            <a:ext cx="100799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FFFFFF"/>
                </a:solidFill>
                <a:latin typeface="Source Han Sans SC"/>
              </a:rPr>
              <a:t>leakage hotspot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9200" y="3816000"/>
            <a:ext cx="5170859" cy="2376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9200" y="3816000"/>
            <a:ext cx="32400" cy="2376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2400" y="4003199"/>
            <a:ext cx="472445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3 · Encode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2400" y="4276800"/>
            <a:ext cx="4724459" cy="177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&lt;pad&gt;=0, &lt;unk&gt;=1, real words from 2 up.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padding_idx=0 keeps the &lt;pad&gt; embedding **frozen** — it never receives gradient.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This choice is what masking later keys off.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46059" y="5778000"/>
            <a:ext cx="1007999" cy="223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46059" y="5824800"/>
            <a:ext cx="100799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FFFFFF"/>
                </a:solidFill>
                <a:latin typeface="Source Han Sans SC"/>
              </a:rPr>
              <a:t>index 0 is reserved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22059" y="3816000"/>
            <a:ext cx="5170859" cy="2376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059" y="3816000"/>
            <a:ext cx="32400" cy="2376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5259" y="4003199"/>
            <a:ext cx="472445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4 · Pad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5259" y="4276800"/>
            <a:ext cx="4724459" cy="177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One batch needs equal lengths, so short documents get zeros.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Pad to the batch max, or to a global max_len (96)? We chose the global one.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**95.6% of test documents never reach that length** — which is exactly the next part's problem.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168919" y="5778000"/>
            <a:ext cx="1007999" cy="223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68919" y="5824800"/>
            <a:ext cx="100799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FFFFFF"/>
                </a:solidFill>
                <a:latin typeface="Source Han Sans SC"/>
              </a:rPr>
              <a:t>the bill arrives here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232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From a Passage to a Tensor: The Shape at Every Step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496799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This picture is all of Part 1; when something breaks, check the shapes here first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Embedding(64) → LSTM(96)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05 / 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9200" y="1674000"/>
            <a:ext cx="1585619" cy="122400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 w="1778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5600" y="1746000"/>
            <a:ext cx="1412819" cy="10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 i="0">
                <a:solidFill>
                  <a:srgbClr val="6B7280"/>
                </a:solidFill>
                <a:latin typeface="Source Han Sans SC"/>
              </a:rPr>
              <a:t>Passage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9200" y="2991600"/>
            <a:ext cx="15856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str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402819" y="2286000"/>
            <a:ext cx="108000" cy="0"/>
          </a:xfrm>
          <a:prstGeom prst="line">
            <a:avLst/>
          </a:prstGeom>
          <a:ln w="19050">
            <a:solidFill>
              <a:srgbClr val="6B72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/>
          <p:cNvSpPr/>
          <p:nvPr/>
        </p:nvSpPr>
        <p:spPr>
          <a:xfrm rot="5400000">
            <a:off x="2471220" y="2210400"/>
            <a:ext cx="151200" cy="151200"/>
          </a:xfrm>
          <a:prstGeom prst="triangl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600819" y="1674000"/>
            <a:ext cx="1585619" cy="122400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 w="1778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87219" y="1746000"/>
            <a:ext cx="1412819" cy="10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 i="0">
                <a:solidFill>
                  <a:srgbClr val="6B7280"/>
                </a:solidFill>
                <a:latin typeface="Source Han Sans SC"/>
              </a:rPr>
              <a:t>Tokenise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0819" y="2991600"/>
            <a:ext cx="15856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(96 tokens)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204439" y="2286000"/>
            <a:ext cx="108000" cy="0"/>
          </a:xfrm>
          <a:prstGeom prst="line">
            <a:avLst/>
          </a:prstGeom>
          <a:ln w="19050">
            <a:solidFill>
              <a:srgbClr val="6B72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 rot="5400000">
            <a:off x="4272839" y="2210400"/>
            <a:ext cx="151200" cy="151200"/>
          </a:xfrm>
          <a:prstGeom prst="triangl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402440" y="1674000"/>
            <a:ext cx="1585619" cy="122400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 w="17780">
            <a:solidFill>
              <a:srgbClr val="1E4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8840" y="1746000"/>
            <a:ext cx="1412819" cy="10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 i="0">
                <a:solidFill>
                  <a:srgbClr val="1E4FA8"/>
                </a:solidFill>
                <a:latin typeface="Source Han Sans SC"/>
              </a:rPr>
              <a:t>Vocab → ids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02440" y="2991600"/>
            <a:ext cx="15856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(96,)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06059" y="2286000"/>
            <a:ext cx="108001" cy="0"/>
          </a:xfrm>
          <a:prstGeom prst="line">
            <a:avLst/>
          </a:prstGeom>
          <a:ln w="19050">
            <a:solidFill>
              <a:srgbClr val="6B72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5400000">
            <a:off x="6074459" y="2210400"/>
            <a:ext cx="151200" cy="151200"/>
          </a:xfrm>
          <a:prstGeom prst="triangl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204059" y="1674000"/>
            <a:ext cx="1585619" cy="122400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 w="17780">
            <a:solidFill>
              <a:srgbClr val="1E4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90459" y="1746000"/>
            <a:ext cx="1412819" cy="10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 i="0">
                <a:solidFill>
                  <a:srgbClr val="1E4FA8"/>
                </a:solidFill>
                <a:latin typeface="Source Han Sans SC"/>
              </a:rPr>
              <a:t>Embedding(64)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04059" y="2991600"/>
            <a:ext cx="15856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(96, 64)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807679" y="2286000"/>
            <a:ext cx="108000" cy="0"/>
          </a:xfrm>
          <a:prstGeom prst="line">
            <a:avLst/>
          </a:prstGeom>
          <a:ln w="19050">
            <a:solidFill>
              <a:srgbClr val="6B72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/>
          <p:cNvSpPr/>
          <p:nvPr/>
        </p:nvSpPr>
        <p:spPr>
          <a:xfrm rot="5400000">
            <a:off x="7876079" y="2210400"/>
            <a:ext cx="151200" cy="151200"/>
          </a:xfrm>
          <a:prstGeom prst="triangl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005679" y="1674000"/>
            <a:ext cx="1585619" cy="122400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 w="17780">
            <a:solidFill>
              <a:srgbClr val="1E4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92079" y="1746000"/>
            <a:ext cx="1412819" cy="10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 i="0">
                <a:solidFill>
                  <a:srgbClr val="1E4FA8"/>
                </a:solidFill>
                <a:latin typeface="Source Han Sans SC"/>
              </a:rPr>
              <a:t>Add batch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5679" y="2991600"/>
            <a:ext cx="15856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(B, 96, 64)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609299" y="2286000"/>
            <a:ext cx="108000" cy="0"/>
          </a:xfrm>
          <a:prstGeom prst="line">
            <a:avLst/>
          </a:prstGeom>
          <a:ln w="19050">
            <a:solidFill>
              <a:srgbClr val="6B72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Isosceles Triangle 33"/>
          <p:cNvSpPr/>
          <p:nvPr/>
        </p:nvSpPr>
        <p:spPr>
          <a:xfrm rot="5400000">
            <a:off x="9677699" y="2210400"/>
            <a:ext cx="151200" cy="151200"/>
          </a:xfrm>
          <a:prstGeom prst="triangl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807299" y="1674000"/>
            <a:ext cx="1585619" cy="122400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 w="1778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93699" y="1746000"/>
            <a:ext cx="1412819" cy="10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1" i="0">
                <a:solidFill>
                  <a:srgbClr val="D97706"/>
                </a:solidFill>
                <a:latin typeface="Source Han Sans SC"/>
              </a:rPr>
              <a:t>LSTM(96)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07299" y="2991600"/>
            <a:ext cx="15856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(B, 96, 96)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9200" y="3276000"/>
            <a:ext cx="10593719" cy="6181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748 passages · 6 classes · Embedding(64) · max_len 96. **A shape mismatch never surfaces on the line you broke; it surfaces in the final accuracy.**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9200" y="3966149"/>
            <a:ext cx="1059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0E3F8C"/>
                </a:solidFill>
                <a:latin typeface="Source Han Sans SC"/>
              </a:rPr>
              <a:t>Then the classifier head — this is where 'which position do you read' is decided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9200" y="4189349"/>
            <a:ext cx="3387239" cy="1007999"/>
          </a:xfrm>
          <a:prstGeom prst="roundRect">
            <a:avLst>
              <a:gd name="adj" fmla="val 10000"/>
            </a:avLst>
          </a:prstGeom>
          <a:solidFill>
            <a:srgbClr val="F0F5FC"/>
          </a:solidFill>
          <a:ln w="15240">
            <a:solidFill>
              <a:srgbClr val="1E4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1200" y="4254149"/>
            <a:ext cx="3243239" cy="878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1" i="0">
                <a:solidFill>
                  <a:srgbClr val="1E4FA8"/>
                </a:solidFill>
                <a:latin typeface="Source Han Sans SC"/>
              </a:rPr>
              <a:t>mask + mean (B, 96)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204440" y="4693349"/>
            <a:ext cx="108000" cy="0"/>
          </a:xfrm>
          <a:prstGeom prst="line">
            <a:avLst/>
          </a:prstGeom>
          <a:ln w="17780">
            <a:solidFill>
              <a:srgbClr val="6B72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Isosceles Triangle 42"/>
          <p:cNvSpPr/>
          <p:nvPr/>
        </p:nvSpPr>
        <p:spPr>
          <a:xfrm rot="5400000">
            <a:off x="4272839" y="4617749"/>
            <a:ext cx="151200" cy="151200"/>
          </a:xfrm>
          <a:prstGeom prst="triangl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402440" y="4189349"/>
            <a:ext cx="3387239" cy="1007999"/>
          </a:xfrm>
          <a:prstGeom prst="roundRect">
            <a:avLst>
              <a:gd name="adj" fmla="val 10000"/>
            </a:avLst>
          </a:prstGeom>
          <a:solidFill>
            <a:srgbClr val="F0F5FC"/>
          </a:solidFill>
          <a:ln w="15240">
            <a:solidFill>
              <a:srgbClr val="1E4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74439" y="4254149"/>
            <a:ext cx="3243239" cy="878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1" i="0">
                <a:solidFill>
                  <a:srgbClr val="1E4FA8"/>
                </a:solidFill>
                <a:latin typeface="Source Han Sans SC"/>
              </a:rPr>
              <a:t>Linear(6) (B, 6)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807680" y="4693349"/>
            <a:ext cx="108000" cy="0"/>
          </a:xfrm>
          <a:prstGeom prst="line">
            <a:avLst/>
          </a:prstGeom>
          <a:ln w="17780">
            <a:solidFill>
              <a:srgbClr val="6B72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Isosceles Triangle 46"/>
          <p:cNvSpPr/>
          <p:nvPr/>
        </p:nvSpPr>
        <p:spPr>
          <a:xfrm rot="5400000">
            <a:off x="7876079" y="4617749"/>
            <a:ext cx="151200" cy="151200"/>
          </a:xfrm>
          <a:prstGeom prst="triangle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005679" y="4189349"/>
            <a:ext cx="3387239" cy="1007999"/>
          </a:xfrm>
          <a:prstGeom prst="roundRect">
            <a:avLst>
              <a:gd name="adj" fmla="val 10000"/>
            </a:avLst>
          </a:prstGeom>
          <a:solidFill>
            <a:srgbClr val="F0F5FC"/>
          </a:solidFill>
          <a:ln w="1524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77679" y="4254149"/>
            <a:ext cx="3243239" cy="878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1" i="0">
                <a:solidFill>
                  <a:srgbClr val="D97706"/>
                </a:solidFill>
                <a:latin typeface="Source Han Sans SC"/>
              </a:rPr>
              <a:t>logits · 6 classes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232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Tokenise and build the vocabulary — train split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496799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These two blocks are the shared starting point for every arm this week. The vocabulary is counted on train; test only looks words up.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runnable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06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188000"/>
            <a:ext cx="5185259" cy="3671999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188000"/>
            <a:ext cx="5185259" cy="306000"/>
          </a:xfrm>
          <a:prstGeom prst="rect">
            <a:avLst/>
          </a:prstGeom>
          <a:solidFill>
            <a:srgbClr val="1B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1200" y="1274400"/>
            <a:ext cx="4105259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93C5FD"/>
                </a:solidFill>
                <a:latin typeface="Source Han Sans SC"/>
              </a:rPr>
              <a:t>Tokenise + vocabulary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7200" y="1601999"/>
            <a:ext cx="4789259" cy="31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import re, collections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TOKEN = re.compile(r"[a-z][a-z'-]*")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def tokenise(text):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return TOKEN.findall(text.lower())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def build_vocab(texts, min_freq=2, cap=6000):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freq = collections.Counter()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for t in texts:            # texts = TRAIN only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    freq.update(tokenise(t))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words = [w for w, c in freq.most_common()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         if c &gt;= min_freq][:cap]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# 0 = &lt;pad&gt;, 1 = &lt;unk&gt;, real words from 2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return {"&lt;pad&gt;": 0, "&lt;unk&gt;": 1,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        **{w: i + 2 for i, w in enumerate(words)}}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7659" y="1188000"/>
            <a:ext cx="5185259" cy="3671999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07659" y="1188000"/>
            <a:ext cx="5185259" cy="306000"/>
          </a:xfrm>
          <a:prstGeom prst="rect">
            <a:avLst/>
          </a:prstGeom>
          <a:solidFill>
            <a:srgbClr val="1B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9659" y="1274400"/>
            <a:ext cx="4105259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93C5FD"/>
                </a:solidFill>
                <a:latin typeface="Source Han Sans SC"/>
              </a:rPr>
              <a:t>Encode + pad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5659" y="1601999"/>
            <a:ext cx="4789259" cy="31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import torch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def encode(text, vocab, max_len):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ids = [vocab.get(w, 1) for w in tokenise(text)]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ids = ids[:max_len]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ids += [0] * (max_len - len(ids))   # pad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return torch.tensor(ids)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def encode_batch(texts, vocab, max_len=96):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ids = [encode(t, vocab, max_len) for t in texts]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x = torch.stack(ids)                # (B, 96)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# the true length of each sample - masking keys off this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lens = torch.tensor([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    min(len(tokenise(t)), max_len) for t in texts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])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return x, lens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9200" y="5040000"/>
            <a:ext cx="10593719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**Keep `lens`.** Throw it away and you are left with exactly the two pooling choices that turned out to be this week's worst.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232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This week's corpus: built so that it cannot cheat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496799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One task, one sentence: **given an English passage, name the week it came from.** The corpus is this course's own Week 1–6 lecture notes, lab sheets and textbook — nothing is downloaded.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748 passages · 6 classes · Embedding(64)→LSTM(96)→Linear(6) · Adam 1e-3 · batch 64 · 30 epochs · 5 seeds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07 / 32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99200" y="1224000"/>
          <a:ext cx="10593720" cy="30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4000"/>
                <a:gridCol w="2664000"/>
                <a:gridCol w="2664000"/>
                <a:gridCol w="2601720"/>
              </a:tblGrid>
              <a:tr h="432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Item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Value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What it means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Why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Passages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748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train 523 / val 112 / test 113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stratified by week, 70/15/15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Classes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6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W1 105 · W2 97 · W3 114 · W4 119 · W5 128 · W6 185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**naturally imbalanced — the smallest class is 57% of the largest**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Vocabulary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3142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the model sees 1592 (counted on train only)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anything outside train becomes &lt;unk&gt;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Length (words)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median 35 · p95 87 · max 285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mean 42.1 words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**wide spread — padding is unavoidable**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Anti-leakage scrub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262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Week N / CU(N) / Lab N / dates replaced with placeholders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otherwise the label is literally in the 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Corpus fingerprint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87e41aac89ef…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SHA-256; rebuild with build_text_corpus.py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**reproducible**: same corpus, same numbers anywhere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9200" y="4392000"/>
            <a:ext cx="10593719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The corpus is **this course's own text** (CC BY-NC-SA 4.0): no third-party licence risk, no download, fully offline. The price is size — 748 passages is far too few for 6 classes, **which is the root cause of Part 3's 'regularisation does not rescue it'**.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232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Why Chinese cannot be split on whitespace — a measurable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496799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The same Chinese text, two segmentation schemes, compared on **out-of-vocabulary rate**. The high-OOV scheme leaves the model guessing.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measured on this course's Chinese textbook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08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224000"/>
            <a:ext cx="5143859" cy="3384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224000"/>
            <a:ext cx="5143859" cy="5400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5200" y="1375200"/>
            <a:ext cx="471185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Source Han Sans SC"/>
              </a:rPr>
              <a:t>Whitespace (wrong)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5200" y="1944000"/>
            <a:ext cx="4711859" cy="255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375 train segments → a vocabulary of only 372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**99.5% of them are singletons**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of 375 test tokens, **99.7% are out of vocabulary**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In effect: **the whole passage collapses into a single &lt;unk&gt;**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no Chinese task can be learned this way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9059" y="1224000"/>
            <a:ext cx="5143859" cy="3384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49059" y="1224000"/>
            <a:ext cx="5143859" cy="540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5059" y="1375200"/>
            <a:ext cx="471185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Source Han Sans SC"/>
              </a:rPr>
              <a:t>Character level (right)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5059" y="1944000"/>
            <a:ext cx="4711859" cy="255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the same 375 segments → 880 characters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singleton share drops to **21.7%** (a different order of magnitude)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test tokens become 14860 (one per character)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OOV is only **2.5%**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The price: longer sequences, coarser units — **a trade, not a free win**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9200" y="4788000"/>
            <a:ext cx="10593719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OOV falls from **99.7%** to **2.5%**, a factor of 39. In practice you reach for a segmenter (jieba, etc.) and fall back to character level — **but you never just split on spaces and hope.**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3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32919" y="381600"/>
            <a:ext cx="6667200" cy="564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7000" b="1" i="0">
                <a:solidFill>
                  <a:srgbClr val="F0F5FC"/>
                </a:solidFill>
                <a:latin typeface="Source Han Sans SC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856800" y="1047600"/>
            <a:ext cx="1238400" cy="12384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0800" y="1314000"/>
            <a:ext cx="601200" cy="71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 i="0">
                <a:solidFill>
                  <a:srgbClr val="FFFFFF"/>
                </a:solidFill>
                <a:latin typeface="Source Han Sans SC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9600" y="1105200"/>
            <a:ext cx="5040000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E3F8C"/>
                </a:solidFill>
                <a:latin typeface="Source Han Sans SC"/>
              </a:rPr>
              <a:t>Padding and Masking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9600" y="1666800"/>
            <a:ext cx="5040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D7BD9"/>
                </a:solidFill>
                <a:latin typeface="Source Han Sans SC"/>
              </a:rPr>
              <a:t>Part 2 · the quiet bug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2736000"/>
            <a:ext cx="8640000" cy="11726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F2937"/>
                </a:solidFill>
                <a:latin typeface="Source Han Sans SC"/>
              </a:rPr>
              <a:t>**95.6% of test documents are shorter than max_len=96.** So if you take the hidden state at the final timestep, **you are reading the pad vector, not the sentence.** Nothing crashes. The accuracy just quietly halves.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5000400"/>
            <a:ext cx="247832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5000400"/>
            <a:ext cx="247832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000" y="5173200"/>
            <a:ext cx="206072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Pad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8000" y="5468400"/>
            <a:ext cx="206072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zeros to fixed length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04330" y="5000400"/>
            <a:ext cx="247832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4330" y="5000400"/>
            <a:ext cx="247832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13130" y="5173200"/>
            <a:ext cx="206072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Mask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13130" y="5468400"/>
            <a:ext cx="206072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which positions are real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9460" y="5000400"/>
            <a:ext cx="247832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9460" y="5000400"/>
            <a:ext cx="247832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8259" y="5173200"/>
            <a:ext cx="206072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Pack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8259" y="5468400"/>
            <a:ext cx="206072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let the RNN stop early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14589" y="5000400"/>
            <a:ext cx="247832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14589" y="5000400"/>
            <a:ext cx="247832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23389" y="5173200"/>
            <a:ext cx="206072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Pool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23389" y="5468400"/>
            <a:ext cx="206072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sequence → one vector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09 / 32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232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One LSTM, two readings — the difference is the last three lines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496799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Top: `out[:, -1, :]` — **that is position 96, not the last real token.** Bottom: `pack_padded_sequence` stops the LSTM where the real tokens end.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the single comparison you must understand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10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188000"/>
            <a:ext cx="5185259" cy="3960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188000"/>
            <a:ext cx="5185259" cy="306000"/>
          </a:xfrm>
          <a:prstGeom prst="rect">
            <a:avLst/>
          </a:prstGeom>
          <a:solidFill>
            <a:srgbClr val="1B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1200" y="1274400"/>
            <a:ext cx="4105259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93C5FD"/>
                </a:solidFill>
                <a:latin typeface="Source Han Sans SC"/>
              </a:rPr>
              <a:t>✗ Wrong: reads the pad vector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7200" y="1601999"/>
            <a:ext cx="4789259" cy="347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class TextLSTM(nn.Module):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def __init__(self, vocab_size, hidden=96):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    super().__init__()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    self.emb = nn.Embedding(vocab_size, 64,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                            padding_idx=0)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    self.lstm = nn.LSTM(64, hidden,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                        batch_first=True)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    self.fc = nn.Linear(hidden, 6)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def forward(self, x, lens):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    e = self.emb(x)          # (B, 96, 64)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    out, _ = self.lstm(e)    # (B, 96, 96)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    # ✗ position 96 is padding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    return self.fc(out[:, -1, :])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7659" y="1188000"/>
            <a:ext cx="5185259" cy="3960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07659" y="1188000"/>
            <a:ext cx="5185259" cy="306000"/>
          </a:xfrm>
          <a:prstGeom prst="rect">
            <a:avLst/>
          </a:prstGeom>
          <a:solidFill>
            <a:srgbClr val="1B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9659" y="1274400"/>
            <a:ext cx="4105259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93C5FD"/>
                </a:solidFill>
                <a:latin typeface="Source Han Sans SC"/>
              </a:rPr>
              <a:t>✓ Right: pack, then take the last hidden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5659" y="1601999"/>
            <a:ext cx="4789259" cy="347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from torch.nn.utils.rnn import (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pack_padded_sequence,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pad_packed_sequence,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# the pack requires descending length order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def forward(self, x, lens):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e = self.emb(x)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order = torch.argsort(lens, descending=True)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inv = torch.argsort(order)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packed = pack_padded_sequence(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    e[order], lens[order].cpu(),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    batch_first=True, enforce_sorted=True)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out, (h, _) = self.lstm(packed)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# h[-1] is each sample's LAST REAL token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return self.fc(h[-1][inv])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9200" y="5328000"/>
            <a:ext cx="10593719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Both blocks have **exactly the same parameter count** (166,278), the same epochs, the same data. The only difference is 'position 96' versus 'the last real token'. The next page prices 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232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Four pooling choices, one model, a 26-point spread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496799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The four arms differ only in how (B,96,96) becomes (B,96). Same parameters, data, epochs, optimiser.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mean ± 1 sd over 5 seeds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11 / 32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99200" y="1224000"/>
          <a:ext cx="10593720" cy="273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1944000"/>
                <a:gridCol w="1944000"/>
                <a:gridCol w="1944000"/>
                <a:gridCol w="2241720"/>
              </a:tblGrid>
              <a:tr h="54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Arm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Test acc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Macro F1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Gap to best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In one line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</a:tr>
              <a:tr h="5472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mean_masked (best)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0.5027 ± 0.0449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0.4774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average over real positions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72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packed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0.4248 ± 0.0360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0.3843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−7.8 points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textbook, but reads one state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5472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mean_unmasked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0.3929 ± 0.0684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0.3315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−11.0 points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padding folded into the mean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72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last_step (worst)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0.2407 ± 0.0040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0.0711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−26.2 points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reads the pad vector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9200" y="4104000"/>
            <a:ext cx="10593719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**The spread is 0.2620 — nearly 26 points.** Note `last_step`'s macro F1 of 0.0711: the 6-class chance level is 1/6 ≈ 0.1667, **so it is below chance.** Its accuracy, 0.2407, merely looks 'mediocre' rather than broken. That is Part 4's metric problem.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232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Padding and Masking: The Error That Never Errors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496799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Same code, different answer — the only difference is whether the divisor is 96 or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mean_unmasked vs mean_masked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12 / 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200" y="1346400"/>
            <a:ext cx="4176000" cy="5842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0E3F8C"/>
                </a:solidFill>
                <a:latin typeface="Source Han Sans SC"/>
              </a:rPr>
              <a:t>One 96-slot tensor, 24 drawn here — the first 9 are real tokens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5200" y="2081849"/>
            <a:ext cx="367200" cy="367200"/>
          </a:xfrm>
          <a:prstGeom prst="rect">
            <a:avLst/>
          </a:prstGeom>
          <a:solidFill>
            <a:srgbClr val="C7D3E9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5200" y="2081849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 i="0">
                <a:solidFill>
                  <a:srgbClr val="FFFFFF"/>
                </a:solidFill>
                <a:latin typeface="Source Han Sans SC"/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02400" y="2081849"/>
            <a:ext cx="367200" cy="367200"/>
          </a:xfrm>
          <a:prstGeom prst="rect">
            <a:avLst/>
          </a:prstGeom>
          <a:solidFill>
            <a:srgbClr val="B7C7E3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2400" y="2081849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 i="0">
                <a:solidFill>
                  <a:srgbClr val="FFFFFF"/>
                </a:solidFill>
                <a:latin typeface="Source Han Sans SC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69600" y="2081849"/>
            <a:ext cx="367200" cy="367200"/>
          </a:xfrm>
          <a:prstGeom prst="rect">
            <a:avLst/>
          </a:prstGeom>
          <a:solidFill>
            <a:srgbClr val="A8BBDD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69600" y="2081849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 i="0">
                <a:solidFill>
                  <a:srgbClr val="FFFFFF"/>
                </a:solidFill>
                <a:latin typeface="Source Han Sans SC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36800" y="2081849"/>
            <a:ext cx="367200" cy="367200"/>
          </a:xfrm>
          <a:prstGeom prst="rect">
            <a:avLst/>
          </a:prstGeom>
          <a:solidFill>
            <a:srgbClr val="98AFD7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36800" y="2081849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 i="0">
                <a:solidFill>
                  <a:srgbClr val="FFFFFF"/>
                </a:solidFill>
                <a:latin typeface="Source Han Sans SC"/>
              </a:rP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04000" y="2081849"/>
            <a:ext cx="367200" cy="367200"/>
          </a:xfrm>
          <a:prstGeom prst="rect">
            <a:avLst/>
          </a:prstGeom>
          <a:solidFill>
            <a:srgbClr val="89A3D1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04000" y="2081849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 i="0">
                <a:solidFill>
                  <a:srgbClr val="FFFFFF"/>
                </a:solidFill>
                <a:latin typeface="Source Han Sans SC"/>
              </a:rPr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71200" y="2081849"/>
            <a:ext cx="367200" cy="367200"/>
          </a:xfrm>
          <a:prstGeom prst="rect">
            <a:avLst/>
          </a:prstGeom>
          <a:solidFill>
            <a:srgbClr val="7996CB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71200" y="2081849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 i="0">
                <a:solidFill>
                  <a:srgbClr val="FFFFFF"/>
                </a:solidFill>
                <a:latin typeface="Source Han Sans SC"/>
              </a:rPr>
              <a:t>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38400" y="2081849"/>
            <a:ext cx="367200" cy="367200"/>
          </a:xfrm>
          <a:prstGeom prst="rect">
            <a:avLst/>
          </a:prstGeom>
          <a:solidFill>
            <a:srgbClr val="6A8AC5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38400" y="2081849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 i="0">
                <a:solidFill>
                  <a:srgbClr val="FFFFFF"/>
                </a:solidFill>
                <a:latin typeface="Source Han Sans SC"/>
              </a:rPr>
              <a:t>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05600" y="2081849"/>
            <a:ext cx="367200" cy="367200"/>
          </a:xfrm>
          <a:prstGeom prst="rect">
            <a:avLst/>
          </a:prstGeom>
          <a:solidFill>
            <a:srgbClr val="5A7EB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05600" y="2081849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 i="0">
                <a:solidFill>
                  <a:srgbClr val="FFFFFF"/>
                </a:solidFill>
                <a:latin typeface="Source Han Sans SC"/>
              </a:rPr>
              <a:t>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72800" y="2081849"/>
            <a:ext cx="367200" cy="367200"/>
          </a:xfrm>
          <a:prstGeom prst="rect">
            <a:avLst/>
          </a:prstGeom>
          <a:solidFill>
            <a:srgbClr val="4B72B9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72800" y="2081849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 i="0">
                <a:solidFill>
                  <a:srgbClr val="FFFFFF"/>
                </a:solidFill>
                <a:latin typeface="Source Han Sans SC"/>
              </a:rPr>
              <a:t>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40000" y="2081849"/>
            <a:ext cx="367200" cy="36720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07200" y="2081849"/>
            <a:ext cx="367200" cy="36720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874400" y="2081849"/>
            <a:ext cx="367200" cy="36720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241600" y="2081849"/>
            <a:ext cx="367200" cy="36720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08800" y="2081849"/>
            <a:ext cx="367200" cy="36720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976000" y="2081849"/>
            <a:ext cx="367200" cy="36720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43200" y="2081849"/>
            <a:ext cx="367200" cy="36720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710400" y="2081849"/>
            <a:ext cx="367200" cy="36720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077600" y="2081849"/>
            <a:ext cx="367200" cy="36720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444800" y="2081849"/>
            <a:ext cx="367200" cy="36720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812000" y="2081849"/>
            <a:ext cx="367200" cy="36720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79200" y="2081849"/>
            <a:ext cx="367200" cy="36720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546400" y="2081849"/>
            <a:ext cx="367200" cy="36720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913600" y="2081849"/>
            <a:ext cx="367200" cy="36720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280800" y="2081849"/>
            <a:ext cx="367200" cy="367200"/>
          </a:xfrm>
          <a:prstGeom prst="rect">
            <a:avLst/>
          </a:prstGeom>
          <a:solidFill>
            <a:srgbClr val="F5F7FA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74000" y="2081849"/>
            <a:ext cx="13680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real tokens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5200" y="2564249"/>
            <a:ext cx="367200" cy="367200"/>
          </a:xfrm>
          <a:prstGeom prst="rect">
            <a:avLst/>
          </a:prstGeom>
          <a:solidFill>
            <a:srgbClr val="ECFDF5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5200" y="2564249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059669"/>
                </a:solidFill>
                <a:latin typeface="Source Han Sans SC"/>
              </a:rPr>
              <a:t>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202400" y="2564249"/>
            <a:ext cx="367200" cy="367200"/>
          </a:xfrm>
          <a:prstGeom prst="rect">
            <a:avLst/>
          </a:prstGeom>
          <a:solidFill>
            <a:srgbClr val="ECFDF5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202400" y="2564249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059669"/>
                </a:solidFill>
                <a:latin typeface="Source Han Sans SC"/>
              </a:rPr>
              <a:t>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569600" y="2564249"/>
            <a:ext cx="367200" cy="367200"/>
          </a:xfrm>
          <a:prstGeom prst="rect">
            <a:avLst/>
          </a:prstGeom>
          <a:solidFill>
            <a:srgbClr val="ECFDF5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569600" y="2564249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059669"/>
                </a:solidFill>
                <a:latin typeface="Source Han Sans SC"/>
              </a:rPr>
              <a:t>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936800" y="2564249"/>
            <a:ext cx="367200" cy="367200"/>
          </a:xfrm>
          <a:prstGeom prst="rect">
            <a:avLst/>
          </a:prstGeom>
          <a:solidFill>
            <a:srgbClr val="ECFDF5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936800" y="2564249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059669"/>
                </a:solidFill>
                <a:latin typeface="Source Han Sans SC"/>
              </a:rPr>
              <a:t>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304000" y="2564249"/>
            <a:ext cx="367200" cy="367200"/>
          </a:xfrm>
          <a:prstGeom prst="rect">
            <a:avLst/>
          </a:prstGeom>
          <a:solidFill>
            <a:srgbClr val="ECFDF5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304000" y="2564249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059669"/>
                </a:solidFill>
                <a:latin typeface="Source Han Sans SC"/>
              </a:rPr>
              <a:t>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671200" y="2564249"/>
            <a:ext cx="367200" cy="367200"/>
          </a:xfrm>
          <a:prstGeom prst="rect">
            <a:avLst/>
          </a:prstGeom>
          <a:solidFill>
            <a:srgbClr val="ECFDF5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671200" y="2564249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059669"/>
                </a:solidFill>
                <a:latin typeface="Source Han Sans SC"/>
              </a:rPr>
              <a:t>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038400" y="2564249"/>
            <a:ext cx="367200" cy="367200"/>
          </a:xfrm>
          <a:prstGeom prst="rect">
            <a:avLst/>
          </a:prstGeom>
          <a:solidFill>
            <a:srgbClr val="ECFDF5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038400" y="2564249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059669"/>
                </a:solidFill>
                <a:latin typeface="Source Han Sans SC"/>
              </a:rPr>
              <a:t>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405600" y="2564249"/>
            <a:ext cx="367200" cy="367200"/>
          </a:xfrm>
          <a:prstGeom prst="rect">
            <a:avLst/>
          </a:prstGeom>
          <a:solidFill>
            <a:srgbClr val="ECFDF5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405600" y="2564249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059669"/>
                </a:solidFill>
                <a:latin typeface="Source Han Sans SC"/>
              </a:rPr>
              <a:t>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772800" y="2564249"/>
            <a:ext cx="367200" cy="367200"/>
          </a:xfrm>
          <a:prstGeom prst="rect">
            <a:avLst/>
          </a:prstGeom>
          <a:solidFill>
            <a:srgbClr val="ECFDF5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772800" y="2564249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059669"/>
                </a:solidFill>
                <a:latin typeface="Source Han Sans SC"/>
              </a:rPr>
              <a:t>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40000" y="2564249"/>
            <a:ext cx="367200" cy="367200"/>
          </a:xfrm>
          <a:prstGeom prst="rect">
            <a:avLst/>
          </a:prstGeom>
          <a:solidFill>
            <a:srgbClr val="FEF2F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40000" y="2564249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B91C1C"/>
                </a:solidFill>
                <a:latin typeface="Source Han Sans SC"/>
              </a:rPr>
              <a:t>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07200" y="2564249"/>
            <a:ext cx="367200" cy="367200"/>
          </a:xfrm>
          <a:prstGeom prst="rect">
            <a:avLst/>
          </a:prstGeom>
          <a:solidFill>
            <a:srgbClr val="FEF2F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07200" y="2564249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B91C1C"/>
                </a:solidFill>
                <a:latin typeface="Source Han Sans SC"/>
              </a:rPr>
              <a:t>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874400" y="2564249"/>
            <a:ext cx="367200" cy="367200"/>
          </a:xfrm>
          <a:prstGeom prst="rect">
            <a:avLst/>
          </a:prstGeom>
          <a:solidFill>
            <a:srgbClr val="FEF2F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874400" y="2564249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B91C1C"/>
                </a:solidFill>
                <a:latin typeface="Source Han Sans SC"/>
              </a:rPr>
              <a:t>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241600" y="2564249"/>
            <a:ext cx="367200" cy="367200"/>
          </a:xfrm>
          <a:prstGeom prst="rect">
            <a:avLst/>
          </a:prstGeom>
          <a:solidFill>
            <a:srgbClr val="FEF2F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241600" y="2564249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B91C1C"/>
                </a:solidFill>
                <a:latin typeface="Source Han Sans SC"/>
              </a:rPr>
              <a:t>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608800" y="2564249"/>
            <a:ext cx="367200" cy="367200"/>
          </a:xfrm>
          <a:prstGeom prst="rect">
            <a:avLst/>
          </a:prstGeom>
          <a:solidFill>
            <a:srgbClr val="FEF2F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608800" y="2564249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B91C1C"/>
                </a:solidFill>
                <a:latin typeface="Source Han Sans SC"/>
              </a:rPr>
              <a:t>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976000" y="2564249"/>
            <a:ext cx="367200" cy="367200"/>
          </a:xfrm>
          <a:prstGeom prst="rect">
            <a:avLst/>
          </a:prstGeom>
          <a:solidFill>
            <a:srgbClr val="FEF2F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976000" y="2564249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B91C1C"/>
                </a:solidFill>
                <a:latin typeface="Source Han Sans SC"/>
              </a:rPr>
              <a:t>0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343200" y="2564249"/>
            <a:ext cx="367200" cy="367200"/>
          </a:xfrm>
          <a:prstGeom prst="rect">
            <a:avLst/>
          </a:prstGeom>
          <a:solidFill>
            <a:srgbClr val="FEF2F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343200" y="2564249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B91C1C"/>
                </a:solidFill>
                <a:latin typeface="Source Han Sans SC"/>
              </a:rPr>
              <a:t>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710400" y="2564249"/>
            <a:ext cx="367200" cy="367200"/>
          </a:xfrm>
          <a:prstGeom prst="rect">
            <a:avLst/>
          </a:prstGeom>
          <a:solidFill>
            <a:srgbClr val="FEF2F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710400" y="2564249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B91C1C"/>
                </a:solidFill>
                <a:latin typeface="Source Han Sans SC"/>
              </a:rPr>
              <a:t>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077600" y="2564249"/>
            <a:ext cx="367200" cy="367200"/>
          </a:xfrm>
          <a:prstGeom prst="rect">
            <a:avLst/>
          </a:prstGeom>
          <a:solidFill>
            <a:srgbClr val="FEF2F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077600" y="2564249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B91C1C"/>
                </a:solidFill>
                <a:latin typeface="Source Han Sans SC"/>
              </a:rPr>
              <a:t>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444800" y="2564249"/>
            <a:ext cx="367200" cy="367200"/>
          </a:xfrm>
          <a:prstGeom prst="rect">
            <a:avLst/>
          </a:prstGeom>
          <a:solidFill>
            <a:srgbClr val="FEF2F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444800" y="2564249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B91C1C"/>
                </a:solidFill>
                <a:latin typeface="Source Han Sans SC"/>
              </a:rPr>
              <a:t>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812000" y="2564249"/>
            <a:ext cx="367200" cy="367200"/>
          </a:xfrm>
          <a:prstGeom prst="rect">
            <a:avLst/>
          </a:prstGeom>
          <a:solidFill>
            <a:srgbClr val="FEF2F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812000" y="2564249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B91C1C"/>
                </a:solidFill>
                <a:latin typeface="Source Han Sans SC"/>
              </a:rPr>
              <a:t>0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179200" y="2564249"/>
            <a:ext cx="367200" cy="367200"/>
          </a:xfrm>
          <a:prstGeom prst="rect">
            <a:avLst/>
          </a:prstGeom>
          <a:solidFill>
            <a:srgbClr val="FEF2F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179200" y="2564249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B91C1C"/>
                </a:solidFill>
                <a:latin typeface="Source Han Sans SC"/>
              </a:rPr>
              <a:t>0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546400" y="2564249"/>
            <a:ext cx="367200" cy="367200"/>
          </a:xfrm>
          <a:prstGeom prst="rect">
            <a:avLst/>
          </a:prstGeom>
          <a:solidFill>
            <a:srgbClr val="FEF2F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546400" y="2564249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B91C1C"/>
                </a:solidFill>
                <a:latin typeface="Source Han Sans SC"/>
              </a:rPr>
              <a:t>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913600" y="2564249"/>
            <a:ext cx="367200" cy="367200"/>
          </a:xfrm>
          <a:prstGeom prst="rect">
            <a:avLst/>
          </a:prstGeom>
          <a:solidFill>
            <a:srgbClr val="FEF2F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913600" y="2564249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B91C1C"/>
                </a:solidFill>
                <a:latin typeface="Source Han Sans SC"/>
              </a:rPr>
              <a:t>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280800" y="2564249"/>
            <a:ext cx="367200" cy="367200"/>
          </a:xfrm>
          <a:prstGeom prst="rect">
            <a:avLst/>
          </a:prstGeom>
          <a:solidFill>
            <a:srgbClr val="FEF2F2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9280800" y="2564249"/>
            <a:ext cx="3672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50" b="0" i="0">
                <a:solidFill>
                  <a:srgbClr val="B91C1C"/>
                </a:solidFill>
                <a:latin typeface="Source Han Sans SC"/>
              </a:rPr>
              <a:t>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774000" y="2564249"/>
            <a:ext cx="1368000" cy="36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padding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42400" y="3194249"/>
            <a:ext cx="1512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B7280"/>
                </a:solidFill>
                <a:latin typeface="Source Han Sans SC"/>
              </a:rPr>
              <a:t>slot 1 ...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4140000" y="1919849"/>
            <a:ext cx="0" cy="1094400"/>
          </a:xfrm>
          <a:prstGeom prst="line">
            <a:avLst/>
          </a:prstGeom>
          <a:ln w="19050">
            <a:solidFill>
              <a:srgbClr val="B91C1C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4204800" y="2967449"/>
            <a:ext cx="3060000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B91C1C"/>
                </a:solidFill>
                <a:latin typeface="Source Han Sans SC"/>
              </a:rPr>
              <a:t>padding starts here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99200" y="3644249"/>
            <a:ext cx="10593719" cy="827999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015200" y="3759449"/>
            <a:ext cx="4792859" cy="5975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F8B4B4"/>
                </a:solidFill>
                <a:latin typeface="Menlo"/>
              </a:rPr>
              <a:t>.mean(dim=1)         # divides by 96</a:t>
            </a:r>
          </a:p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F8B4B4"/>
                </a:solidFill>
                <a:latin typeface="Menlo"/>
              </a:rPr>
              <a:t>out[:, -1, :]       # reads a PAD vector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204060" y="3759449"/>
            <a:ext cx="4792859" cy="5975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86EFAC"/>
                </a:solidFill>
                <a:latin typeface="Menlo"/>
              </a:rPr>
              <a:t>masked_mean(x, m)   # divides by 9</a:t>
            </a:r>
          </a:p>
          <a:p>
            <a:pPr algn="l">
              <a:lnSpc>
                <a:spcPct val="128000"/>
              </a:lnSpc>
            </a:pPr>
            <a:r>
              <a:rPr sz="1250" b="0" i="0">
                <a:solidFill>
                  <a:srgbClr val="86EFAC"/>
                </a:solidFill>
                <a:latin typeface="Menlo"/>
              </a:rPr>
              <a:t>packed, _ = pack_padded_sequence(x, lens)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99200" y="5299200"/>
            <a:ext cx="10593719" cy="6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B7280"/>
                </a:solidFill>
                <a:latin typeface="Source Han Sans SC"/>
              </a:rPr>
              <a:t>The mask is not a detail: it is the difference between the number the model computes and the number you meant. The shorter the document, the larger the pad share, the heavier the damage.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232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Masking: the error that looks like it was never written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496799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Both arms average over the time axis; the code is nearly character-identical. The difference is one boolean.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mean_unmasked vs mean_masked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13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224000"/>
            <a:ext cx="5143859" cy="3311999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224000"/>
            <a:ext cx="5143859" cy="5400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5200" y="1375200"/>
            <a:ext cx="471185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Source Han Sans SC"/>
              </a:rPr>
              <a:t>✗ Unmasked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5200" y="1944000"/>
            <a:ext cx="4711859" cy="24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test accuracy **0.3929**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macro F1 **0.3315**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for a short document, **most positions in the average are pad vectors**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the shorter the document the worse: the 20–29 bucket gets 0.4211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largest spread (±0.0684) — **unstable**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9059" y="1224000"/>
            <a:ext cx="5143859" cy="3311999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49059" y="1224000"/>
            <a:ext cx="5143859" cy="540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5059" y="1375200"/>
            <a:ext cx="471185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Source Han Sans SC"/>
              </a:rPr>
              <a:t>✓ Masked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5059" y="1944000"/>
            <a:ext cx="4711859" cy="24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test accuracy **0.5027** (+11.0 points)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macro F1 **0.4774** (+14.6 points)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`(h * mask).sum(1) / mask.sum(1)` — **one line**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the 20–29 bucket returns to 0.4211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spread narrows to ±0.0449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9200" y="4716000"/>
            <a:ext cx="10593719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Look at which bucket gains most: **the shortest one.** That matches the mechanism — the shorter the document, the larger the pad share, the heavier the damage. **Masking is not an optimisation; it is correctness.**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232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Autopsy of the quiet bug: bucket by length and the damage shows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496799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Same arm, same headline accuracy, split by document length. If the error were random the buckets would look alike. They do not.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max_len = 96 · 95.6% of docs fall short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14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188000"/>
            <a:ext cx="5170859" cy="234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188000"/>
            <a:ext cx="32400" cy="23400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2400" y="1375200"/>
            <a:ext cx="472445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The shortest bucket collapses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2400" y="1648800"/>
            <a:ext cx="4724459" cy="1735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20–29 words: packed 0.4211 vs last_step **0.1579**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30–49 words: 0.3902 vs **0.1707**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50–99 words: they finally converge (0.4483 vs 0.4138)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**the longer the document, the smaller the harm — a mirror of the pad share.**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46059" y="3114000"/>
            <a:ext cx="1007999" cy="223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46059" y="3160800"/>
            <a:ext cx="100799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FFFFFF"/>
                </a:solidFill>
                <a:latin typeface="Source Han Sans SC"/>
              </a:rPr>
              <a:t>mechanism fits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22059" y="1188000"/>
            <a:ext cx="5170859" cy="234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059" y="1188000"/>
            <a:ext cx="32400" cy="2340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5259" y="1375200"/>
            <a:ext cx="472445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A second, harder line at the boundary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5259" y="1648800"/>
            <a:ext cx="4724459" cy="1735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documents at or above 96 words: 5, accuracy **0.4000**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documents below 96 words: 108, accuracy **0.2315**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Long enough documents have no padded positions, so `[-1]` really is the end — **they behave normally.**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**This rules out 'the task is just hard'.**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68919" y="3114000"/>
            <a:ext cx="1007999" cy="223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68919" y="3160800"/>
            <a:ext cx="100799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FFFFFF"/>
                </a:solidFill>
                <a:latin typeface="Source Han Sans SC"/>
              </a:rPr>
              <a:t>one bug, two lines of evidence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3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32919" y="381600"/>
            <a:ext cx="6667200" cy="564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7000" b="1" i="0">
                <a:solidFill>
                  <a:srgbClr val="F0F5FC"/>
                </a:solidFill>
                <a:latin typeface="Source Han Sans SC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856800" y="1047600"/>
            <a:ext cx="1238400" cy="12384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0800" y="1314000"/>
            <a:ext cx="601200" cy="71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 i="0">
                <a:solidFill>
                  <a:srgbClr val="FFFFFF"/>
                </a:solidFill>
                <a:latin typeface="Source Han Sans SC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9600" y="1105200"/>
            <a:ext cx="5040000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E3F8C"/>
                </a:solidFill>
                <a:latin typeface="Source Han Sans SC"/>
              </a:rPr>
              <a:t>Curves and the Real Bottleneck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9600" y="1666800"/>
            <a:ext cx="5040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D7BD9"/>
                </a:solidFill>
                <a:latin typeface="Source Han Sans SC"/>
              </a:rPr>
              <a:t>Part 3 · it overfits, and that is not the main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2736000"/>
            <a:ext cx="8640000" cy="11726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F2937"/>
                </a:solidFill>
                <a:latin typeface="Source Han Sans SC"/>
              </a:rPr>
              <a:t>The best arm reaches only **0.5027**. The reflex is 'add regularisation'. Three pieces of evidence say: **yes it overfits, but regularisation does not rescue it — the bottleneck is the 523 training passages.**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5000400"/>
            <a:ext cx="247832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5000400"/>
            <a:ext cx="247832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000" y="5173200"/>
            <a:ext cx="206072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Overfitting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8000" y="5468400"/>
            <a:ext cx="206072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train 0.99 / val 0.42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04330" y="5000400"/>
            <a:ext cx="247832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4330" y="5000400"/>
            <a:ext cx="247832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13130" y="5173200"/>
            <a:ext cx="206072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Regularisation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13130" y="5468400"/>
            <a:ext cx="206072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tried it, did not work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9460" y="5000400"/>
            <a:ext cx="247832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9460" y="5000400"/>
            <a:ext cx="247832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8259" y="5173200"/>
            <a:ext cx="206072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Sequence length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8259" y="5468400"/>
            <a:ext cx="206072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swept 48/96/192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14589" y="5000400"/>
            <a:ext cx="247832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14589" y="5000400"/>
            <a:ext cx="247832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23389" y="5173200"/>
            <a:ext cx="206072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23389" y="5468400"/>
            <a:ext cx="206072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523 passages is too few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15 / 32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232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Train against validation: one runs to 0.99, one parks at 0.42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496799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11 sampled points (every 3 epochs, 30 total). The distance between the lines is the overfitting.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packed arm · seed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16 / 32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99200" y="1224000"/>
          <a:ext cx="6840000" cy="396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63199" y="1332000"/>
            <a:ext cx="3429720" cy="3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At epoch 30: train 0.9885, val 0.4196, **a gap of 0.5689**.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By epoch 24 train is already 0.9675 while val is 0.3661 — **the model is memorising.**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The validation curve **never falls**, so this is not 'trained too long'; it is capacity spent in the wrong place.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This is exactly the shape from Week 6 — **the same face, a different dataset.**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232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Sweeping max_len: 48, 96, 192 — neither truncating nor padding helps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496799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A natural guess is '96 is too long or too short'. Sweep it and the guess dies.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3 seeds (42–44)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17 / 32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99200" y="1224000"/>
          <a:ext cx="10593720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4000"/>
                <a:gridCol w="2088000"/>
                <a:gridCol w="2088000"/>
                <a:gridCol w="2088000"/>
                <a:gridCol w="2025720"/>
              </a:tblGrid>
              <a:tr h="6480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max_len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packed acc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last_step acc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packed sd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Reading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</a:tr>
              <a:tr h="648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48 (shorter, truncates)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0.4572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0.2891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0.0135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packed a little better; last_step rises too — **as the mechanism predicts**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8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96 (this week's default)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0.4454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0.2389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0.0285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baseline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6480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192 (longer, pads more)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0.4454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0.2478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0.0357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**no gain at all** — more zeros carry no information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9200" y="3960000"/>
            <a:ext cx="10593719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packed lands at 0.4572 / 0.4454 / 0.4454 — **essentially flat** (within one standard deviation). last_step stays far below it at every length. **Conclusion: max_len is not the lever; the pooling bug survives every length you try.**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232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Regularisation does not rescue it — this week's most important honest result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496799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Week 6's two most effective tools (Dropout 0.3 + weight decay 1e-3) added to this week's best arm. If capacity is the bottleneck it should rise; if data is, it should not.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Week 6's tools, applied to the best arm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18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224000"/>
            <a:ext cx="5143859" cy="3311999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224000"/>
            <a:ext cx="5143859" cy="540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5200" y="1375200"/>
            <a:ext cx="471185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Source Han Sans SC"/>
              </a:rPr>
              <a:t>mean_masked (baseline best)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5200" y="1944000"/>
            <a:ext cx="4711859" cy="24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test accuracy **0.5027 ± 0.0449**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macro F1 **0.4774 ± 0.0482**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no Dropout, no weight decay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166,278 parameters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**this is this week's ceiling**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9059" y="1224000"/>
            <a:ext cx="5143859" cy="3311999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49059" y="1224000"/>
            <a:ext cx="5143859" cy="5400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5059" y="1375200"/>
            <a:ext cx="4711859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i="0">
                <a:solidFill>
                  <a:srgbClr val="FFFFFF"/>
                </a:solidFill>
                <a:latin typeface="Source Han Sans SC"/>
              </a:rPr>
              <a:t>+ Dropout 0.3 + wd 1e-3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5059" y="1944000"/>
            <a:ext cx="4711859" cy="24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test accuracy **0.4672 ± 0.0595**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macro F1 **0.4433 ± 0.0625**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accuracy **drops 3.6 points**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macro F1 drops 3.4 points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spread actually widens (±0.0595) — **less stable**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9200" y="4716000"/>
            <a:ext cx="10593719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In Week 6 these two worked (enough data, a big model). Here they **lower both accuracy and macro F1** and widen the spread. That is the lesson: **the same technique has opposite correct answers under a capacity bottleneck and under a data bottleneck.** You pick by diagnosing the bottleneck first, not by taste.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232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The bottleneck is data: the bigger the class, the better the recall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496799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Same model, same features — **sort the six classes by size** and recall tracks it closely (Spearman rho = 0.77). Direct evidence that the model is learning the prior, not the content.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packed arm · pooled over 5 seeds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19 / 32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99200" y="1224000"/>
          <a:ext cx="6840000" cy="396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63199" y="1332000"/>
            <a:ext cx="3429720" cy="3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The two smallest classes (n=80, 75) recall **0.1750 / 0.1867**.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The largest class (n=140) recalls **0.6643** — 3.8× W1.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There are two small inversions: W2 (n=75) edges above W1 (n=80), and W5 (n=95) dips just below W4 (n=90).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 i="0">
                <a:solidFill>
                  <a:srgbClr val="1F2937"/>
                </a:solidFill>
                <a:latin typeface="Source Han Sans SC"/>
              </a:rPr>
              <a:t>• **So regularisation cannot help: what is missing is samples, not constraints.**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3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32919" y="381600"/>
            <a:ext cx="6667200" cy="564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7000" b="1" i="0">
                <a:solidFill>
                  <a:srgbClr val="F0F5FC"/>
                </a:solidFill>
                <a:latin typeface="Source Han Sans SC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856800" y="1047600"/>
            <a:ext cx="1238400" cy="12384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0800" y="1314000"/>
            <a:ext cx="601200" cy="71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 i="0">
                <a:solidFill>
                  <a:srgbClr val="FFFFFF"/>
                </a:solidFill>
                <a:latin typeface="Source Han Sans SC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9600" y="1105200"/>
            <a:ext cx="5040000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E3F8C"/>
                </a:solidFill>
                <a:latin typeface="Source Han Sans SC"/>
              </a:rPr>
              <a:t>Where It Goes Wrong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9600" y="1666800"/>
            <a:ext cx="5040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D7BD9"/>
                </a:solidFill>
                <a:latin typeface="Source Han Sans SC"/>
              </a:rPr>
              <a:t>Part 4 · recommend a number you would defend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2736000"/>
            <a:ext cx="8640000" cy="11726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F2937"/>
                </a:solidFill>
                <a:latin typeface="Source Han Sans SC"/>
              </a:rPr>
              <a:t>0.5027 carries almost no information. This part swaps it for two things that do: **a 6×6 confusion matrix**, and **the accuracy / macro-F1 split**. The latter is the quantified version of this week's ethics point.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5000400"/>
            <a:ext cx="247832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5000400"/>
            <a:ext cx="247832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000" y="5173200"/>
            <a:ext cx="206072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Confusion matrix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8000" y="5468400"/>
            <a:ext cx="206072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6×6, cell by cell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04330" y="5000400"/>
            <a:ext cx="247832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4330" y="5000400"/>
            <a:ext cx="247832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13130" y="5173200"/>
            <a:ext cx="206072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Accuracy ≠ macro F1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13130" y="5468400"/>
            <a:ext cx="206072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a 17-point gap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9460" y="5000400"/>
            <a:ext cx="247832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9460" y="5000400"/>
            <a:ext cx="247832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8259" y="5173200"/>
            <a:ext cx="206072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Concrete cases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8259" y="5468400"/>
            <a:ext cx="206072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14 passages, read them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14589" y="5000400"/>
            <a:ext cx="247832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14589" y="5000400"/>
            <a:ext cx="247832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23389" y="5173200"/>
            <a:ext cx="206072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Delivery bar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23389" y="5468400"/>
            <a:ext cx="206072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four checks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20 / 32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232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Confusion matrix: 565 test predictions over 5 seeds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496799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Row = true week, column = prediction. Diagonal is correct. Total 565; correct 240 (0.4248).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packed arm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21 / 32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99200" y="1260000"/>
          <a:ext cx="10593720" cy="2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/>
                <a:gridCol w="1465200"/>
                <a:gridCol w="1465200"/>
                <a:gridCol w="1465200"/>
                <a:gridCol w="1465200"/>
                <a:gridCol w="1465200"/>
                <a:gridCol w="1467720"/>
              </a:tblGrid>
              <a:tr h="41142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ource Han Sans SC"/>
                        </a:rPr>
                        <a:t>true / pred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ource Han Sans SC"/>
                        </a:rPr>
                        <a:t>W1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ource Han Sans SC"/>
                        </a:rPr>
                        <a:t>W2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ource Han Sans SC"/>
                        </a:rPr>
                        <a:t>W3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ource Han Sans SC"/>
                        </a:rPr>
                        <a:t>W4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ource Han Sans SC"/>
                        </a:rPr>
                        <a:t>W5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ource Han Sans SC"/>
                        </a:rPr>
                        <a:t>W6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</a:tr>
              <a:tr h="41142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W1 (n=80)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2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W2 (n=75)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16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14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13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11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13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8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41142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W3 (n=85)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2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W4 (n=90)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7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4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16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43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10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10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41142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W5 (n=95)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32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W6 (n=140)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8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8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11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11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9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93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9200" y="4284000"/>
            <a:ext cx="10593719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One reading rule: **look off-diagonal, and ask whether the mass is uniform or concentrated.** Here it is **almost flat** — every cell sits between 4 and 22, with no disaster zone. On the diagonal only W6 stands out (93). **A matrix that gets a bit of everything wrong and nothing right is diagnosed as too little data, not a wrong model.**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232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Read the misclassified passages yourself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496799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Printing the matrix is step one. Step two is pulling the **raw text** of the misclassified passages — and immediately seeing that they are fine sentences that simply **belong to no single week**.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14 passages · seed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22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188000"/>
            <a:ext cx="5185259" cy="3960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188000"/>
            <a:ext cx="5185259" cy="306000"/>
          </a:xfrm>
          <a:prstGeom prst="rect">
            <a:avLst/>
          </a:prstGeom>
          <a:solidFill>
            <a:srgbClr val="1B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1200" y="1274400"/>
            <a:ext cx="4105259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93C5FD"/>
                </a:solidFill>
                <a:latin typeface="Source Han Sans SC"/>
              </a:rPr>
              <a:t>Print the failures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7200" y="1601999"/>
            <a:ext cx="4789259" cy="347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@torch.no_grad()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def show_errors(model, loader, vocab, inv_vocab, n=10):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model.eval()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shown = 0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for x, lens, y in loader: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    logits = model(x, lens)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    pred = logits.argmax(1)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    bad = (pred != y).nonzero().flatten()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    for i in bad: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        ids = x[i][x[i] != 0].tolist()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        words = ' '.join(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            inv_vocab.get(j, '&lt;unk&gt;') for j in ids)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        p = logits[i].softmax(0)[pred[i]].item()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        print(f'true W{y[i]+1} -&gt; pred W{pred[i]+1}'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              f'  conf={p:.4f}')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        print(f'   {words[:120]}...')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        shown += 1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        if shown &gt;= n: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               return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7659" y="1188000"/>
            <a:ext cx="5185259" cy="3960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07659" y="1188000"/>
            <a:ext cx="5185259" cy="306000"/>
          </a:xfrm>
          <a:prstGeom prst="rect">
            <a:avLst/>
          </a:prstGeom>
          <a:solidFill>
            <a:srgbClr val="1B2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9659" y="1274400"/>
            <a:ext cx="4105259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93C5FD"/>
                </a:solidFill>
                <a:latin typeface="Source Han Sans SC"/>
              </a:rPr>
              <a:t>The three kinds of sentence you will find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5659" y="1601999"/>
            <a:ext cx="4789259" cy="347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# 1) short, so the vocabulary burden is heaviest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# true W4 -&gt; pred W3   (20 tokens)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"Hidden layers transform the features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first; the output layer decides afterwards."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# 2) a generic engineering sentence, true of any week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# true W1 -&gt; pred W2   (26 tokens)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"Hyper-parameters, data paths, batch size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and split ratios live in a file ..."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# 3) vocabulary reused across weeks (17,226 appears in a W6 passage)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# true W6 -&gt; pred W4   (22 tokens)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"Explain how a training set of 80 samples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against 17,226 parameters produces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 overfitting ..."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/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# conclusion: none of the 14 is a modelling mistake;</a:t>
            </a:r>
          </a:p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E2E8F0"/>
                </a:solidFill>
                <a:latin typeface="Menlo"/>
              </a:rPr>
              <a:t>#             they belong to no single week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9200" y="5328000"/>
            <a:ext cx="10593719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**These 14 are not model failures; they are the task's boundary.** 'Which week does this passage belong to' has no unique answer — especially for concepts reused across weeks. **The right move is to write that finding into the report, not to keep tuning.**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232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The accuracy / macro-F1 split: a signal you must recognise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496799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Six-class chance level is 1/6 ≈ 0.1667. **Accuracy lets a broken model look employed; macro F1 tells the truth.**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the same arms, two numbers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23 / 32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99200" y="1224000"/>
          <a:ext cx="10593717" cy="273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6000"/>
                <a:gridCol w="2015999"/>
                <a:gridCol w="2015999"/>
                <a:gridCol w="2015999"/>
                <a:gridCol w="2169720"/>
              </a:tblGrid>
              <a:tr h="54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Arm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Accuracy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Macro F1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Gap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Diagnosis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</a:tr>
              <a:tr h="5472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mean_masked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0.5027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0.4774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2.5 pts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the two agree — **a trustworthy report**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72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packed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0.4248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0.3843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4.1 pts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mild split, acceptable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5472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mean_unmasked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0.3929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0.3315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6.1 pts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the split is now visible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72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last_step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0.2407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0.0711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**17.0 pts**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**macro F1 0.0711 is below chance 0.1667**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9200" y="4104000"/>
            <a:ext cx="10593719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`last_step` reports 0.2407 accuracy, which reads as 'just weak'; its macro F1 is 0.0711 — **below chance**. The gap is 17.0 points. **An accuracy-only report ships this broken model.**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232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The error-analysis delivery bar: four checks you can verify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496799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The official wording is 'explain why the model does worse on some classes'. Here is the checkable version.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the official homework, operationalised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24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224000"/>
            <a:ext cx="10593719" cy="104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224000"/>
            <a:ext cx="32400" cy="104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79200" y="1411200"/>
            <a:ext cx="900000" cy="32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9200" y="1483200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1 · Matrix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23200" y="1339200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Print the matrix and state three totals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23200" y="1565999"/>
            <a:ext cx="9153719" cy="6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Total 565, correct 240, accuracy 0.4248, and **which diagonal cell is largest** (W6 at 93). Accuracy alone does not pass.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9200" y="2419200"/>
            <a:ext cx="10593719" cy="104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9200" y="2419200"/>
            <a:ext cx="32400" cy="1044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79200" y="2606400"/>
            <a:ext cx="900000" cy="324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9200" y="2678400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2 · Two metrics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23200" y="2534400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Report accuracy and macro F1 together, and explain the gap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23200" y="2761200"/>
            <a:ext cx="9153719" cy="647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`last_step`'s 0.2407 against 0.0711 is the week's best teaching specimen: **macro F1 below chance (0.1667) while accuracy shows nothing.**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9200" y="3614399"/>
            <a:ext cx="10593719" cy="104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9200" y="3614399"/>
            <a:ext cx="32400" cy="1044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79200" y="3801599"/>
            <a:ext cx="900000" cy="324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9200" y="3873600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3 · Concrete cases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23200" y="3729600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At least 3 raw passages with model confidence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23200" y="3956399"/>
            <a:ext cx="9153719" cy="6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Seed 42 yields 14; all retrievable. The rule is **quote the text** — 'the model learned poorly' is not accepted.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9200" y="4809600"/>
            <a:ext cx="10593719" cy="1044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9200" y="4809600"/>
            <a:ext cx="32400" cy="10440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79200" y="4996800"/>
            <a:ext cx="900000" cy="3240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9200" y="5068800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4 · One testable hypothesis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23200" y="4924800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Write one guess the next step could falsify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23200" y="5151600"/>
            <a:ext cx="9153719" cy="6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For example: 'lowering max_len to 48 raises the shortest bucket'. Then **run it** and write the outcome back — win or lose.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3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32919" y="381600"/>
            <a:ext cx="6667200" cy="564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7000" b="1" i="0">
                <a:solidFill>
                  <a:srgbClr val="F0F5FC"/>
                </a:solidFill>
                <a:latin typeface="Source Han Sans SC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856800" y="1047600"/>
            <a:ext cx="1238400" cy="12384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0800" y="1314000"/>
            <a:ext cx="601200" cy="71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 i="0">
                <a:solidFill>
                  <a:srgbClr val="FFFFFF"/>
                </a:solidFill>
                <a:latin typeface="Source Han Sans SC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9600" y="1105200"/>
            <a:ext cx="5040000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0E3F8C"/>
                </a:solidFill>
                <a:latin typeface="Source Han Sans SC"/>
              </a:rPr>
              <a:t>Next, and M8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9600" y="1666800"/>
            <a:ext cx="5040000" cy="30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3D7BD9"/>
                </a:solidFill>
                <a:latin typeface="Source Han Sans SC"/>
              </a:rPr>
              <a:t>Part 5 · the hook for Module 3, and the midterm checkpoint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2736000"/>
            <a:ext cx="8640000" cy="11726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1F2937"/>
                </a:solidFill>
                <a:latin typeface="Source Han Sans SC"/>
              </a:rPr>
              <a:t>This week's LSTM is **the control arm for all of Module 3**: W9 transfer learning and W10 attention/Transformers are measured against it. And **Week 8 is also M8, the midterm checkpoint** — the first formally graded review of the project.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5000400"/>
            <a:ext cx="247832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5000400"/>
            <a:ext cx="247832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8000" y="5173200"/>
            <a:ext cx="206072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RNN → LSTM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8000" y="5468400"/>
            <a:ext cx="206072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gates fix gradients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04330" y="5000400"/>
            <a:ext cx="247832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4330" y="5000400"/>
            <a:ext cx="247832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13130" y="5173200"/>
            <a:ext cx="206072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→ Attention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13130" y="5468400"/>
            <a:ext cx="206072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no more sequential scan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9460" y="5000400"/>
            <a:ext cx="247832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9460" y="5000400"/>
            <a:ext cx="247832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8259" y="5173200"/>
            <a:ext cx="206072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→ Transformer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8259" y="5468400"/>
            <a:ext cx="206072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this week's control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14589" y="5000400"/>
            <a:ext cx="2478329" cy="810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14589" y="5000400"/>
            <a:ext cx="2478329" cy="25200"/>
          </a:xfrm>
          <a:prstGeom prst="rect">
            <a:avLst/>
          </a:prstGeom>
          <a:solidFill>
            <a:srgbClr val="3D7B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23389" y="5173200"/>
            <a:ext cx="2060729" cy="2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0E3F8C"/>
                </a:solidFill>
                <a:latin typeface="Source Han Sans SC"/>
              </a:rPr>
              <a:t>M8 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23389" y="5468400"/>
            <a:ext cx="2060729" cy="172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midterm, 4 points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25 / 32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232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Placing this week's LSTM in the sequence-model lineage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496799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Three upgrades, each fixing a specific defect. **From next week you walk all three yourself**, with this week's 0.5027 as the baseline.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weeks per the official course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26 / 32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99200" y="1224000"/>
          <a:ext cx="10593719" cy="316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5999"/>
                <a:gridCol w="2232000"/>
                <a:gridCol w="2232000"/>
                <a:gridCol w="2232000"/>
                <a:gridCol w="2241720"/>
              </a:tblGrid>
              <a:tr h="6336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Model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What it fixed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What it left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Key mechanism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Source Han Sans SC"/>
                        </a:rPr>
                        <a:t>Where in the course</a:t>
                      </a:r>
                    </a:p>
                  </a:txBody>
                  <a:tcPr>
                    <a:solidFill>
                      <a:srgbClr val="0E3F8C"/>
                    </a:solidFill>
                  </a:tcPr>
                </a:tc>
              </a:tr>
              <a:tr h="6336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RNN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first model to share parameters across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vanishing/exploding gradients on long sequences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h_t = tanh(Wx + Uh_{t-1})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this week (KT16)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336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LSTM / GRU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makes 'what to remember' learnable via gates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still sequential — cannot be parallelised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forget / input / output gates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**lab 7 uses exactly this**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  <a:tr h="6336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Attention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removes the fixed-vector bottleneck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carries no positional information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Q·Kᵀ → softmax → 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Week 10 (CU(10))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3360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F2937"/>
                          </a:solidFill>
                          <a:latin typeface="Source Han Sans SC"/>
                        </a:rPr>
                        <a:t>Transformer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stacks attention deeply and parallelises fully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needs far more data and compute (this week's bottleneck gets worse)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multi-head + positional encoding + residual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F2937"/>
                          </a:solidFill>
                          <a:latin typeface="Source Han Sans SC"/>
                        </a:rPr>
                        <a:t>Weeks 10–11 (CU(10–11))</a:t>
                      </a:r>
                    </a:p>
                  </a:txBody>
                  <a:tcPr>
                    <a:solidFill>
                      <a:srgbClr val="F0F5FC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99200" y="4536000"/>
            <a:ext cx="10593719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Note the last row: **a Transformer amplifies the 'not enough data' problem, not the reverse.** You have just watched 523 training passages pin a 166K-parameter LSTM — the same bottleneck returns in Week 10, more expensively. **That is the thing to carry out of this week.**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232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Ethics point: error costs are asymmetric, so metric choice is a duty to users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496799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Turn the slogan into something checkable: **the same model, a different metric, an opposite conclusion.** All three cards below are measured this week, not hypothesised.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user-centred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27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224000"/>
            <a:ext cx="3387239" cy="3456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224000"/>
            <a:ext cx="32400" cy="34560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2400" y="1411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1 · Accuracy can pass a broken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2400" y="1684800"/>
            <a:ext cx="2940839" cy="28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`last_step`: accuracy 0.2407, macro F1 0.0711.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Macro F1 sits below the 6-class chance level of 0.1667.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**On accuracy alone, this model passes review.**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The cost lands on minority-class users, who are almost never recognised.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62439" y="4266000"/>
            <a:ext cx="1007999" cy="223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62439" y="4312800"/>
            <a:ext cx="100799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FFFFFF"/>
                </a:solidFill>
                <a:latin typeface="Source Han Sans SC"/>
              </a:rPr>
              <a:t>who pays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02440" y="1224000"/>
            <a:ext cx="3387239" cy="3456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02440" y="1224000"/>
            <a:ext cx="32400" cy="3456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25639" y="1411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2 · Class size decides who is sacrificed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25639" y="1684800"/>
            <a:ext cx="2940839" cy="28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W1 (n=80) recalls 0.1750; W6 (n=140) recalls 0.6643.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A 3.8× gap, rising overall with class size (Spearman rho = 0.77).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**This is precisely why macro F1 exists.**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Weighted F1 or plain accuracy averages the gap away.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65680" y="4266000"/>
            <a:ext cx="1007999" cy="223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680" y="4312800"/>
            <a:ext cx="100799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FFFFFF"/>
                </a:solidFill>
                <a:latin typeface="Source Han Sans SC"/>
              </a:rPr>
              <a:t>what an average hides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05679" y="1224000"/>
            <a:ext cx="3387239" cy="3456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05679" y="1224000"/>
            <a:ext cx="32400" cy="3456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8879" y="1411200"/>
            <a:ext cx="294083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3 · A metric is a product decision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8879" y="1684800"/>
            <a:ext cx="2940839" cy="28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Recall Week 6: there, maximising accuracy was right — balanced data, symmetric costs.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Here it is wrong, because it rewards guessing the majority prior.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**Same action, two settings, one right and one wrong.**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**Before picking a metric, ask: whose mistake costs more this time?**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168919" y="4266000"/>
            <a:ext cx="1007999" cy="223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68919" y="4312800"/>
            <a:ext cx="100799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FFFFFF"/>
                </a:solidFill>
                <a:latin typeface="Source Han Sans SC"/>
              </a:rPr>
              <a:t>not a technicality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232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AI co-pilot: let the AI write the whole pipeline, then you catch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496799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The official brief: 'AI generates a text-processing pipeline → students locate the padding/masking errors and record the before/after difference'. This is not optional — **the record is graded.**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the official AI-enabled 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28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224000"/>
            <a:ext cx="5170859" cy="3384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224000"/>
            <a:ext cx="32400" cy="338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2400" y="1411200"/>
            <a:ext cx="472445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Step 1 · Ask (and ask precisely)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2400" y="1684800"/>
            <a:ext cx="4724459" cy="277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Prompt template: **'Write a complete PyTorch LSTM forward pass for a 6-class text task with variable-length input, and explain how you handle padding.'**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Demand **runnable code**, not prose.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**Do not read the reference implementation first** — get the AI's first draft.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46059" y="4194000"/>
            <a:ext cx="1007999" cy="223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46059" y="4240800"/>
            <a:ext cx="100799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FFFFFF"/>
                </a:solidFill>
                <a:latin typeface="Source Han Sans SC"/>
              </a:rPr>
              <a:t>get a draft first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22059" y="1224000"/>
            <a:ext cx="5170859" cy="3384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059" y="1224000"/>
            <a:ext cx="32400" cy="33840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5259" y="1411200"/>
            <a:ext cx="4724459" cy="22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E3F8C"/>
                </a:solidFill>
                <a:latin typeface="Source Han Sans SC"/>
              </a:rPr>
              <a:t>Step 2 · Find the bug (this is the graded part)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5259" y="1684800"/>
            <a:ext cx="4724459" cy="277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Work down this checklist against the AI's code: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① Does it accept `lens`? If not, it can only use `[-1]`.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② Is the vocabulary built on all data? → leakage.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③ Is `padding_idx=0` set? If not, the pad embedding receives gradient.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200" b="0" i="0">
                <a:solidFill>
                  <a:srgbClr val="1F2937"/>
                </a:solidFill>
                <a:latin typeface="Source Han Sans SC"/>
              </a:rPr>
              <a:t>• ④ Is the pooling a masked mean or a bare `mean`? **A bare mean is this week's 4th place.**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68919" y="4194000"/>
            <a:ext cx="1007999" cy="223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68919" y="4240800"/>
            <a:ext cx="1007999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FFFFFF"/>
                </a:solidFill>
                <a:latin typeface="Source Han Sans SC"/>
              </a:rPr>
              <a:t>annotate each one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232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In-class 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496799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Each item probes the week's most commonly broken step. **Answer first, then justify.**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4 items · spoken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29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188000"/>
            <a:ext cx="5197859" cy="2376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7200" y="1350000"/>
            <a:ext cx="900000" cy="223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7200" y="1396800"/>
            <a:ext cx="900000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Item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05200" y="1350000"/>
            <a:ext cx="3793859" cy="8395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1" i="0">
                <a:solidFill>
                  <a:srgbClr val="0E3F8C"/>
                </a:solidFill>
                <a:latin typeface="Source Han Sans SC"/>
              </a:rPr>
              <a:t>Which split should the vocabulary be counted on? What breaks if you use all 748 passages?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7200" y="1961999"/>
            <a:ext cx="4801859" cy="15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A. All of it — the vocabulary is largest that way</a:t>
            </a:r>
          </a:p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B. Train only; using all of it leaks test information and inflates the test accuracy</a:t>
            </a:r>
          </a:p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C. Test only, to match the test distribution</a:t>
            </a:r>
          </a:p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D. It does not matter; the vocabulary only affects speed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5059" y="1188000"/>
            <a:ext cx="5197859" cy="2376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93059" y="1350000"/>
            <a:ext cx="900000" cy="223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3059" y="1396800"/>
            <a:ext cx="900000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Item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1059" y="1350000"/>
            <a:ext cx="3793859" cy="5956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1" i="0">
                <a:solidFill>
                  <a:srgbClr val="0E3F8C"/>
                </a:solidFill>
                <a:latin typeface="Source Han Sans SC"/>
              </a:rPr>
              <a:t>95.6% of test documents never reach max_len=96. What does `out[:, -1, :]` return?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3059" y="1961999"/>
            <a:ext cx="4801859" cy="15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A. The hidden state of the last real token</a:t>
            </a:r>
          </a:p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B. The state at position 96 — a pad vector on short documents</a:t>
            </a:r>
          </a:p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C. The mean over the sequence</a:t>
            </a:r>
          </a:p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D. It raises a shape error and will not run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9200" y="3761999"/>
            <a:ext cx="5197859" cy="2376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97200" y="3923999"/>
            <a:ext cx="900000" cy="223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7200" y="3970800"/>
            <a:ext cx="900000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Item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05200" y="3923999"/>
            <a:ext cx="3793859" cy="5956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1" i="0">
                <a:solidFill>
                  <a:srgbClr val="0E3F8C"/>
                </a:solidFill>
                <a:latin typeface="Source Han Sans SC"/>
              </a:rPr>
              <a:t>`last_step` reports 0.2407 accuracy and 0.0711 macro F1. How do you report it?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7200" y="4536000"/>
            <a:ext cx="4801859" cy="1529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A. Accuracy 0.2407; mediocre, keep tuning</a:t>
            </a:r>
          </a:p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B. Report both, and note macro F1 is below chance 0.1667 — **broken, not mediocre**</a:t>
            </a:r>
          </a:p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C. Report macro F1 only; it is the stricter one</a:t>
            </a:r>
          </a:p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D. Both are low, so the task is impossible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95059" y="3761999"/>
            <a:ext cx="5197859" cy="2376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93059" y="3923999"/>
            <a:ext cx="900000" cy="2232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93059" y="3970800"/>
            <a:ext cx="900000" cy="15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50" b="1" i="0">
                <a:solidFill>
                  <a:srgbClr val="FFFFFF"/>
                </a:solidFill>
                <a:latin typeface="Source Han Sans SC"/>
              </a:rPr>
              <a:t>Item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1059" y="3923999"/>
            <a:ext cx="3793859" cy="83951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50" b="1" i="0">
                <a:solidFill>
                  <a:srgbClr val="0E3F8C"/>
                </a:solidFill>
                <a:latin typeface="Source Han Sans SC"/>
              </a:rPr>
              <a:t>The best arm reaches only 0.5027. What happens when you add Dropout + weight decay, and why?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3059" y="4536000"/>
            <a:ext cx="4801859" cy="1529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A. It rises — regularisation always improves generalisation</a:t>
            </a:r>
          </a:p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B. It falls (0.5027 → 0.4672) — the bottleneck is data (523 passages), not capacity, so regularisation cuts the only signal there is</a:t>
            </a:r>
          </a:p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C. Unchanged; the parameter count did not change</a:t>
            </a:r>
          </a:p>
          <a:p>
            <a:pPr algn="l">
              <a:lnSpc>
                <a:spcPct val="134000"/>
              </a:lnSpc>
              <a:spcAft>
                <a:spcPts val="300"/>
              </a:spcAft>
            </a:pPr>
            <a:r>
              <a:rPr sz="1150" b="0" i="0">
                <a:solidFill>
                  <a:srgbClr val="1F2937"/>
                </a:solidFill>
                <a:latin typeface="Source Han Sans SC"/>
              </a:rPr>
              <a:t>D. It rises, but only after many more epochs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232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M8 · Midterm checkpoint ★ — this week is also the project's first graded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496799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M8 is not extra work; it is **one block of the course's 15-point staged review**. Done in class this week, **a live 3-minute demo**, with slide 3 about failures.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Module 2 milestone · 4 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30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224000"/>
            <a:ext cx="10593719" cy="1007999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224000"/>
            <a:ext cx="32400" cy="1007999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79200" y="1411200"/>
            <a:ext cx="900000" cy="3240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9200" y="1483200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Deliver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23200" y="1339200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A working prototype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23200" y="1565999"/>
            <a:ext cx="9153719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Runs from a fresh clone. If it does not run, the item does not count — **'works on my machine' is not a demo.**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9200" y="2383199"/>
            <a:ext cx="10593719" cy="1007999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9200" y="2383199"/>
            <a:ext cx="32400" cy="1007999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79200" y="2570399"/>
            <a:ext cx="900000" cy="324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9200" y="2642399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Deliver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23200" y="2498400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`DATA.md` v1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23200" y="2725200"/>
            <a:ext cx="9153719" cy="61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Source, licence, sample count, split, leakage check, known traps. This week's lab 7 is the template.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9200" y="3542400"/>
            <a:ext cx="10593719" cy="1007999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9200" y="3542400"/>
            <a:ext cx="32400" cy="1007999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79200" y="3729600"/>
            <a:ext cx="900000" cy="3240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9200" y="3801600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Deliver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23200" y="3657600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A 3-slide deck; slide 3 is about failures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23200" y="3884399"/>
            <a:ext cx="9153719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Slide 1 what it does, slide 2 the numbers, **slide 3 where it fails.** Slide 3 carries the marks — **an all-good-news deck is treated as incomplete.**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9200" y="4701600"/>
            <a:ext cx="10593719" cy="1007999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9200" y="4701600"/>
            <a:ext cx="32400" cy="1007999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79200" y="4888800"/>
            <a:ext cx="900000" cy="3240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9200" y="4960800"/>
            <a:ext cx="9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1" i="0">
                <a:solidFill>
                  <a:srgbClr val="FFFFFF"/>
                </a:solidFill>
                <a:latin typeface="Source Han Sans SC"/>
              </a:rPr>
              <a:t>Deliver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23200" y="4816800"/>
            <a:ext cx="9153719" cy="19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0E3F8C"/>
                </a:solidFill>
                <a:latin typeface="Source Han Sans SC"/>
              </a:rPr>
              <a:t>A live 3-minute demo + 2 minutes of questions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23200" y="5043600"/>
            <a:ext cx="9153719" cy="61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**No screen recordings, no animations standing in for a run.** I will ask 'what happens if I change this parameter' — answer live or try it live.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6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63200"/>
            <a:ext cx="12192119" cy="14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200" y="223200"/>
            <a:ext cx="7713719" cy="25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1" i="0">
                <a:solidFill>
                  <a:srgbClr val="0E3F8C"/>
                </a:solidFill>
                <a:latin typeface="Source Han Sans SC"/>
              </a:rPr>
              <a:t>This week in four lines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9200" y="496799"/>
            <a:ext cx="771371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Four sentences, each with a number behind it from this week.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56919" y="295200"/>
            <a:ext cx="273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100" b="0" i="0">
                <a:solidFill>
                  <a:srgbClr val="6B7280"/>
                </a:solidFill>
                <a:latin typeface="Source Han Sans SC"/>
              </a:rPr>
              <a:t>CU(8) · Lab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9200" y="6494400"/>
            <a:ext cx="432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2920" y="6494400"/>
            <a:ext cx="108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31 / 32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200" y="1152000"/>
            <a:ext cx="6696000" cy="666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9200" y="1152000"/>
            <a:ext cx="475200" cy="666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9200" y="1350000"/>
            <a:ext cx="4752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Source Han Sans SC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9200" y="1278000"/>
            <a:ext cx="5832000" cy="41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F2937"/>
                </a:solidFill>
                <a:latin typeface="Source Han Sans SC"/>
              </a:rPr>
              <a:t>Most text-task bugs live in the four pipeline steps — **tokenise, vocabulary, encode, pad** — not in the model. Splitting Chinese on whitespace drives OOV to 99.7%.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9200" y="1969200"/>
            <a:ext cx="6696000" cy="666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9200" y="1969200"/>
            <a:ext cx="475200" cy="666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9200" y="2167200"/>
            <a:ext cx="4752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Source Han Sans SC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29200" y="2095199"/>
            <a:ext cx="5832000" cy="41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F2937"/>
                </a:solidFill>
                <a:latin typeface="Source Han Sans SC"/>
              </a:rPr>
              <a:t>Padding must come with masking. **95.6% of test documents fall short of max_len**, and without a mask the model reads pad vectors; the pooling choice alone is worth 26.2 points.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9200" y="2786400"/>
            <a:ext cx="6696000" cy="666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9200" y="2786400"/>
            <a:ext cx="475200" cy="666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9200" y="2984400"/>
            <a:ext cx="4752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Source Han Sans S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29200" y="2912400"/>
            <a:ext cx="5832000" cy="41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F2937"/>
                </a:solidFill>
                <a:latin typeface="Source Han Sans SC"/>
              </a:rPr>
              <a:t>It does overfit (train 0.9885 / val 0.4196), but **regularisation does not rescue it** (0.5027 → 0.4672) — **the bottleneck is 523 training passages, not capacity.**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9200" y="3603600"/>
            <a:ext cx="6696000" cy="666000"/>
          </a:xfrm>
          <a:prstGeom prst="rect">
            <a:avLst/>
          </a:prstGeom>
          <a:solidFill>
            <a:srgbClr val="F0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9200" y="3603600"/>
            <a:ext cx="475200" cy="666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9200" y="3801600"/>
            <a:ext cx="4752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1" i="0">
                <a:solidFill>
                  <a:srgbClr val="FFFFFF"/>
                </a:solidFill>
                <a:latin typeface="Source Han Sans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29200" y="3729600"/>
            <a:ext cx="5832000" cy="41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1F2937"/>
                </a:solidFill>
                <a:latin typeface="Source Han Sans SC"/>
              </a:rPr>
              <a:t>Metric choice is a duty to users: per-class recall runs from 0.1750 to 0.6643, and **only macro F1 makes that gap visible**; accuracy will pass a below-chance model.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01200" y="1152000"/>
            <a:ext cx="3591719" cy="4860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17200" y="1281599"/>
            <a:ext cx="31597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Source Han Sans SC"/>
              </a:rPr>
              <a:t>After Class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01200" y="1818000"/>
            <a:ext cx="3591719" cy="93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17200" y="1969200"/>
            <a:ext cx="31597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0E3F8C"/>
                </a:solidFill>
                <a:latin typeface="Source Han Sans SC"/>
              </a:rPr>
              <a:t>Lab 7 report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7200" y="2221200"/>
            <a:ext cx="3159719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Pipeline code, the four-arm pooling table, the confusion matrix, ≥3 raw misclassified passages, and the AI co-pilot log with before/after numbers.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01200" y="2880000"/>
            <a:ext cx="3591719" cy="93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17200" y="3031200"/>
            <a:ext cx="31597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0E3F8C"/>
                </a:solidFill>
                <a:latin typeface="Source Han Sans SC"/>
              </a:rPr>
              <a:t>Prediction task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17200" y="3283200"/>
            <a:ext cx="3159719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The official homework: 'what breaks if the text gets long' — one page, discussed next week.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01200" y="3941999"/>
            <a:ext cx="3591719" cy="93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17200" y="4093199"/>
            <a:ext cx="3159719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0E3F8C"/>
                </a:solidFill>
                <a:latin typeface="Source Han Sans SC"/>
              </a:rPr>
              <a:t>M8 pack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17200" y="4345200"/>
            <a:ext cx="3159719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6B7280"/>
                </a:solidFill>
                <a:latin typeface="Source Han Sans SC"/>
              </a:rPr>
              <a:t>Prototype + `DATA.md` v1 + a 3-slide deck (slide 3 on failures). **Demoed in class this week; no extension.**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93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32919" y="381600"/>
            <a:ext cx="6667200" cy="5648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7000" b="1" i="0">
                <a:solidFill>
                  <a:srgbClr val="F0F5FC"/>
                </a:solidFill>
                <a:latin typeface="Source Han Sans SC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856800" y="936000"/>
            <a:ext cx="417600" cy="417600"/>
          </a:xfrm>
          <a:prstGeom prst="rect">
            <a:avLst/>
          </a:prstGeom>
          <a:solidFill>
            <a:srgbClr val="0E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029600"/>
            <a:ext cx="306000" cy="23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FFFFFF"/>
                </a:solidFill>
                <a:latin typeface="Source Han Sans SC"/>
              </a:rPr>
              <a:t>W8</a:t>
            </a:r>
          </a:p>
        </p:txBody>
      </p:sp>
      <p:sp>
        <p:nvSpPr>
          <p:cNvPr id="7" name="Rectangle 6"/>
          <p:cNvSpPr/>
          <p:nvPr/>
        </p:nvSpPr>
        <p:spPr>
          <a:xfrm>
            <a:off x="799200" y="1584000"/>
            <a:ext cx="608400" cy="39600"/>
          </a:xfrm>
          <a:prstGeom prst="rect">
            <a:avLst/>
          </a:prstGeom>
          <a:solidFill>
            <a:srgbClr val="1E4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9200" y="1908000"/>
            <a:ext cx="8640000" cy="19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700" b="1" i="0">
                <a:solidFill>
                  <a:srgbClr val="0E3F8C"/>
                </a:solidFill>
                <a:latin typeface="Source Han Sans SC"/>
              </a:rPr>
              <a:t>'Accuracy is not a result. It is a number you have not started explaining.'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9200" y="3384000"/>
            <a:ext cx="864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B7280"/>
                </a:solidFill>
                <a:latin typeface="Source Han Sans SC"/>
              </a:rPr>
              <a:t>This week: 0.4248 accuracy, 0.0711 macro F1, 14 raw misclassified passages — together they are a report.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9200" y="4176000"/>
            <a:ext cx="7920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 i="0">
                <a:solidFill>
                  <a:srgbClr val="1F2937"/>
                </a:solidFill>
                <a:latin typeface="Source Han Sans SC"/>
              </a:rPr>
              <a:t>Thank you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9200" y="4788000"/>
            <a:ext cx="10593719" cy="720000"/>
          </a:xfrm>
          <a:prstGeom prst="rect">
            <a:avLst/>
          </a:prstGeom>
          <a:solidFill>
            <a:srgbClr val="F0F5FC"/>
          </a:solidFill>
          <a:ln w="9525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200" y="4903200"/>
            <a:ext cx="1008972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 i="0">
                <a:solidFill>
                  <a:srgbClr val="1E4FA8"/>
                </a:solidFill>
                <a:latin typeface="Source Han Sans SC"/>
              </a:rPr>
              <a:t>Next week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200" y="5094000"/>
            <a:ext cx="1008972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0E3F8C"/>
                </a:solidFill>
                <a:latin typeface="Source Han Sans SC"/>
              </a:rPr>
              <a:t>Week 9 · Transfer Learning and Pretrained Models (CU(9)): redo this week's task with a pretrained model and see whether it breaks 0.5027 — plus a full from-scratch versus fine-tune comparison.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9200" y="6494400"/>
            <a:ext cx="7200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B7280"/>
                </a:solidFill>
                <a:latin typeface="Source Han Sans SC"/>
              </a:rPr>
              <a:t>AI Application Development · Week 8 Lecture · Zheng Ren · School of Software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