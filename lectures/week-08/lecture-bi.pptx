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 / 训练准确率</c:v>
                </c:pt>
              </c:strCache>
            </c:strRef>
          </c:tx>
          <c:spPr>
            <a:ln w="31750">
              <a:solidFill>
                <a:srgbClr val="D97706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0.2849</c:v>
                </c:pt>
                <c:pt idx="1">
                  <c:v>0.2696</c:v>
                </c:pt>
                <c:pt idx="2">
                  <c:v>0.4857</c:v>
                </c:pt>
                <c:pt idx="3">
                  <c:v>0.6386</c:v>
                </c:pt>
                <c:pt idx="4">
                  <c:v>0.74</c:v>
                </c:pt>
                <c:pt idx="5">
                  <c:v>0.8375</c:v>
                </c:pt>
                <c:pt idx="6">
                  <c:v>0.8853</c:v>
                </c:pt>
                <c:pt idx="7">
                  <c:v>0.8967</c:v>
                </c:pt>
                <c:pt idx="8">
                  <c:v>0.9675</c:v>
                </c:pt>
                <c:pt idx="9">
                  <c:v>0.9866</c:v>
                </c:pt>
                <c:pt idx="10">
                  <c:v>0.9885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 / 验证准确率</c:v>
                </c:pt>
              </c:strCache>
            </c:strRef>
          </c:tx>
          <c:spPr>
            <a:ln w="31750">
              <a:solidFill>
                <a:srgbClr val="1E4FA8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0.2143</c:v>
                </c:pt>
                <c:pt idx="1">
                  <c:v>0.2411</c:v>
                </c:pt>
                <c:pt idx="2">
                  <c:v>0.2589</c:v>
                </c:pt>
                <c:pt idx="3">
                  <c:v>0.25</c:v>
                </c:pt>
                <c:pt idx="4">
                  <c:v>0.3036</c:v>
                </c:pt>
                <c:pt idx="5">
                  <c:v>0.3393</c:v>
                </c:pt>
                <c:pt idx="6">
                  <c:v>0.3571</c:v>
                </c:pt>
                <c:pt idx="7">
                  <c:v>0.3036</c:v>
                </c:pt>
                <c:pt idx="8">
                  <c:v>0.3661</c:v>
                </c:pt>
                <c:pt idx="9">
                  <c:v>0.4196</c:v>
                </c:pt>
                <c:pt idx="10">
                  <c:v>0.4196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epoch / 训练轮次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accuracy / 准确率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Per-class recall / 各类召回率</c:v>
                </c:pt>
              </c:strCache>
            </c:strRef>
          </c:tx>
          <c:spPr>
            <a:ln w="31750">
              <a:solidFill>
                <a:srgbClr val="1E4FA8"/>
              </a:solidFill>
            </a:ln>
          </c:spPr>
          <c:cat>
            <c:strRef>
              <c:f>Sheet1!$A$2:$A$7</c:f>
              <c:strCache>
                <c:ptCount val="6"/>
                <c:pt idx="0">
                  <c:v>W1 · n=80</c:v>
                </c:pt>
                <c:pt idx="1">
                  <c:v>W2 · n=75</c:v>
                </c:pt>
                <c:pt idx="2">
                  <c:v>W3 · n=85</c:v>
                </c:pt>
                <c:pt idx="3">
                  <c:v>W4 · n=90</c:v>
                </c:pt>
                <c:pt idx="4">
                  <c:v>W5 · n=95</c:v>
                </c:pt>
                <c:pt idx="5">
                  <c:v>W6 · n=140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0.175</c:v>
                </c:pt>
                <c:pt idx="1">
                  <c:v>0.1867</c:v>
                </c:pt>
                <c:pt idx="2">
                  <c:v>0.4235</c:v>
                </c:pt>
                <c:pt idx="3">
                  <c:v>0.4778</c:v>
                </c:pt>
                <c:pt idx="4">
                  <c:v>0.4211</c:v>
                </c:pt>
                <c:pt idx="5">
                  <c:v>0.6643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class (ordered by test size) / 类别（按测试样本数排列）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5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recall / 召回率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MODULE 02 · WEEK 08 · CORE DEEP LEARNING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模块二 · 第 8 周 · 深度学习核心技术与模型训练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458000"/>
            <a:ext cx="10593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0E3F8C"/>
                </a:solidFill>
                <a:latin typeface="Source Han Sans SC"/>
              </a:rPr>
              <a:t>Sequence Models and Text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10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F2937"/>
                </a:solidFill>
                <a:latin typeface="Source Han Sans SC"/>
              </a:rPr>
              <a:t>序列模型与文本数据处理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2718000"/>
            <a:ext cx="1059371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B7280"/>
                </a:solidFill>
                <a:latin typeface="Source Han Sans SC"/>
              </a:rPr>
              <a:t>From a passage to a tensor, and back to a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" y="3384000"/>
            <a:ext cx="10593719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Source Han Sans SC"/>
              </a:rPr>
              <a:t>CU(8) · Lab 7 · 748 passages · 6 classes · Embedding(64)→LSTM(96)→Linear(6) · Adam 1e-3 · batch 64 · 30 epochs · 5 seeds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CU(8) · 实验 7 · 自有语料 748 段 · 6 类 · Embedding(64)→LSTM(96)→Linear(6) · Adam 1e-3 · batch 64 · 30 轮 · 5 种子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200" y="5295600"/>
            <a:ext cx="289923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364000"/>
            <a:ext cx="255363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4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21634" y="5295600"/>
            <a:ext cx="289923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4434" y="5364000"/>
            <a:ext cx="255363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Lab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4068" y="5295600"/>
            <a:ext cx="434885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6868" y="5364000"/>
            <a:ext cx="400325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M8 midterm checkpoint 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Zheng Ren · School of Software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任政 · 软件学院 · 软件与大数据技术系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Contents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600" y="2163600"/>
            <a:ext cx="2361600" cy="559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600" y="2687312"/>
            <a:ext cx="2361600" cy="480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slides · 5 parts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页 · 5 个部分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600" y="3135208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600" y="3228808"/>
            <a:ext cx="2361600" cy="1666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1F2937"/>
                </a:solidFill>
                <a:latin typeface="Source Han Sans SC"/>
              </a:rPr>
              <a:t>The protagonist this week is not the LSTM. It is **the person who turns variable-length text into a fixed-length tensor.** Get padding and masking wrong and the model still trains and still reports an accuracy — just a fake one.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这一周的主角不是 LSTM，是**那个把变长文本变成定长张量的人**。填充与掩码写错一次，模型照样训练、照样出准确率——只是那个准确率是假的。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600" y="4962532"/>
            <a:ext cx="2361600" cy="93426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0800" y="5041732"/>
            <a:ext cx="2095200" cy="7758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90 lecture (10 review + 80 new) · 80 lab · 10 wrap-up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90 讲授（复习 10 + 新课 80） · 80 实验 · 10 小结与作业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7200" y="1742400"/>
            <a:ext cx="6120000" cy="323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0E3F8C"/>
                </a:solidFill>
                <a:latin typeface="Source Han Sans SC"/>
              </a:rPr>
              <a:t>From text to a tensor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把一段文本变成一个张量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2008598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tokenise → vocabulary → encode → pad, and where each step breaks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分词 → 词表 → 编码 → 填充，四步各自会在哪里出错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7200" y="2494800"/>
            <a:ext cx="6120000" cy="323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0E3F8C"/>
                </a:solidFill>
                <a:latin typeface="Source Han Sans SC"/>
              </a:rPr>
              <a:t>Padding and masking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填充与掩码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7200" y="2760998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A quiet bug: the model reads a pad vector and the metric cannot see it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一个安静的 bug：模型读到了填充向量，指标却看不出来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7200" y="3247200"/>
            <a:ext cx="6120000" cy="323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0E3F8C"/>
                </a:solidFill>
                <a:latin typeface="Source Han Sans SC"/>
              </a:rPr>
              <a:t>Curves and the real bottleneck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训练曲线与真正的瓶颈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7200" y="3513398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It overfits; regularisation does not rescue it — the bottleneck is data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它过拟合了；正则化救不回来——瓶颈在数据量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7200" y="3999600"/>
            <a:ext cx="6120000" cy="323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0E3F8C"/>
                </a:solidFill>
                <a:latin typeface="Source Han Sans SC"/>
              </a:rPr>
              <a:t>Where it goes wrong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它错在哪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7200" y="4265798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A 6×6 confusion matrix, the accuracy/macro-F1 split, concrete samples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6×6 混淆矩阵、准确率与宏 F1 的分裂、具体样本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752000"/>
            <a:ext cx="6120000" cy="323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0E3F8C"/>
                </a:solidFill>
                <a:latin typeface="Source Han Sans SC"/>
              </a:rPr>
              <a:t>Next, and M8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19" b="0" i="0">
                <a:solidFill>
                  <a:srgbClr val="6B7280"/>
                </a:solidFill>
                <a:latin typeface="Source Han Sans SC"/>
              </a:rPr>
              <a:t>接下来，以及 M8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7200" y="5018198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the RNN→Transformer hook, the metric-choice ethics point, the midterm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RNN→Transformer 的伏笔、指标选择的思政落点、期中检查点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0985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From Text to a Tensor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把一段文本变成一个张量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736000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An LSTM does not read. It reads an integer tensor of shape (batch, seq_len). **Eighty percent of this week's bugs live in these four steps, not in the model.** Wire the pipeline first; the gates come second.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LSTM 不认识字。它只认识 shape=(batch, seq_len) 的整数张量。**本周 80% 的错误不发生在模型里，发生在这四步里。**所以先把管线走通，再谈门控。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Tokenise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分词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split on what?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按什么切？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433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3130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Vocabulary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词表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3130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built from train only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只从训练集建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946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825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Encode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编码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825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who gets &lt;unk&gt;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未知词给谁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4589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338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Pad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填充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338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pad to what length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补到多长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974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97429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97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Four steps, one classic bug each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四步链路：每一步都有一个典型错误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19217"/>
            <a:ext cx="7713719" cy="435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See the chain before writing it. Every step's failure surfaces as 'low accuracy' at the end, never at the line you broke.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先看清链路，再写代码。每一步的失败都会以“准确率不高”的形式出现在最后，而不在你出错的那一行。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748 passages · 6 classes · Embedding(64)→LSTM(96)→Linear(6) · Adam 1e-3 · batch 64 · 30 epochs · 5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70859" cy="246134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32400" cy="24613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339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1 · Tokenise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① 分词 Tokenise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25090"/>
            <a:ext cx="4724459" cy="165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Split the string into a token sequence.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把字符串切成 token 序列。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English: lowercase + the regex [a-z][a-z'-]*, so don't and state-of-the-art stay whole.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英文：小写 + 正则 [a-z][a-z'-]*，把 don't、state-of-the-art 当一个 token。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Chinese: **splitting on whitespace is almost always wrong** — see the next-but-one page.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中文：**空白切分几乎必错**，见后面那一页。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3D7BD9"/>
                </a:solidFill>
                <a:latin typeface="Source Han Sans SC"/>
              </a:rPr>
              <a:t>→ decide before you split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→ 先想清楚再切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2059" y="1188000"/>
            <a:ext cx="5170859" cy="246134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059" y="1188000"/>
            <a:ext cx="32400" cy="246134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5259" y="1339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2 · Vocabulary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② 词表 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5259" y="1925090"/>
            <a:ext cx="4724459" cy="165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**Build the vocabulary from the training split only.** Using all data hands test information to training.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**只用训练集建词表。** 用全量数据建词表＝把测试集信息漏进训练。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min_freq=2 drops words seen once; cap at 6000.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min_freq=2 过滤只出现一次的词；上限 6000。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This week's mean vocabulary is only 1592 words.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本周词表均值只有 1592 个词。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3D7BD9"/>
                </a:solidFill>
                <a:latin typeface="Source Han Sans SC"/>
              </a:rPr>
              <a:t>→ leakage hotspot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→ 数据泄漏高发区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3901340"/>
            <a:ext cx="5170859" cy="246134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200" y="3901340"/>
            <a:ext cx="32400" cy="24613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2400" y="405254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3 · Encode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③ 编码 Encode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400" y="4638430"/>
            <a:ext cx="4724459" cy="165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&lt;pad&gt;=0, &lt;unk&gt;=1, real words from 2 up.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&lt;pad&gt;=0，&lt;unk&gt;=1，其余从 2 开始。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padding_idx=0 keeps the &lt;pad&gt; embedding **frozen** — it never receives gradient.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padding_idx=0 让 &lt;pad&gt; 的嵌入向量**永远不被更新**。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This choice is what masking later keys off.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这一步决定了后面掩码能不能对上。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3D7BD9"/>
                </a:solidFill>
                <a:latin typeface="Source Han Sans SC"/>
              </a:rPr>
              <a:t>→ index 0 is reserved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→ 0 号位置是约定的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059" y="3901340"/>
            <a:ext cx="5170859" cy="246134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059" y="3901340"/>
            <a:ext cx="32400" cy="24613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5259" y="405254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4 · Pad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④ 填充 Pad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5259" y="4638430"/>
            <a:ext cx="4724459" cy="165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One batch needs equal lengths, so short documents get zeros.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一个 batch 里的样本必须等长。短文档补零。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Pad to the batch max, or to a global max_len (96)? We chose the global one.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补到 batch 内最长，还是全库最长（max_len=87 的对齐档 96）？这里选了后者。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Source Han Sans SC"/>
              </a:rPr>
              <a:t>• **95.6% of test documents never reach that length** — which is exactly the next part's problem.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**95.6% 的测试文档达不到这个长度**——这就是下一部分的全部麻烦。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3D7BD9"/>
                </a:solidFill>
                <a:latin typeface="Source Han Sans SC"/>
              </a:rPr>
              <a:t>→ the bill arrives here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→ 代价马上兑现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From a Passage to a Tensor: The Shape at Every Step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一段文字变成张量：每一步的形状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This picture is all of Part 1; when something breaks, check the shapes here first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这张图就是 Part 1 的全部内容；出错时先回到这里对一遍形状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Embedding(64) → LSTM(96)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600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6B7280"/>
                </a:solidFill>
                <a:latin typeface="Source Han Sans SC"/>
              </a:rPr>
              <a:t>Passage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原始段落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str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281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471220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081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721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6B7280"/>
                </a:solidFill>
                <a:latin typeface="Source Han Sans SC"/>
              </a:rPr>
              <a:t>Tokenise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分词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081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 tokens)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443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27283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2440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8840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Vocab → ids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查词表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2440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(96,)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59" y="2286000"/>
            <a:ext cx="108001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07445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0405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045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Embedding(64)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词向量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405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(96, 64)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0767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787607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0567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07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Add batch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加批维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567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(B, 96, 64)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929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967769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0729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69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D97706"/>
                </a:solidFill>
                <a:latin typeface="Source Han Sans SC"/>
              </a:rPr>
              <a:t>LSTM(96)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729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(B, 96, 96)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9200" y="3276000"/>
            <a:ext cx="10593719" cy="6181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748 passages · 6 classes · Embedding(64) · max_len 96. **A shape mismatch never surfaces on the line you broke; it surfaces in the final accuracy.**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748 篇短文 · 6 类 · Embedding(64) · max_len 96。**形状对不上时，错误不会出现在出错的那一行，而会出现在最后的准确率上。**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200" y="3966149"/>
            <a:ext cx="1059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Then the classifier head — this is where 'which position do you read' is decided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然后是分类头——这一段决定“读哪一个位置”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200" y="4189349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200" y="4254149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mask + mean (B, 96)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掩码求均 (B, 96)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204440" y="4693349"/>
            <a:ext cx="108000" cy="0"/>
          </a:xfrm>
          <a:prstGeom prst="line">
            <a:avLst/>
          </a:prstGeom>
          <a:ln w="1778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4272839" y="4617749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02440" y="4189349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74439" y="4254149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Linear(6) (B, 6)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线性层 (B, 6)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07680" y="4693349"/>
            <a:ext cx="108000" cy="0"/>
          </a:xfrm>
          <a:prstGeom prst="line">
            <a:avLst/>
          </a:prstGeom>
          <a:ln w="1778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7876079" y="4617749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05679" y="4189349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679" y="4254149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D97706"/>
                </a:solidFill>
                <a:latin typeface="Source Han Sans SC"/>
              </a:rPr>
              <a:t>logits · 6 classes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logits · 6 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Tokenise and build the vocabulary — train split only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分词与建表——只从训练集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These two blocks are the shared starting point for every arm this week. The vocabulary is counted on train; test only looks words up.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这两块代码是本周所有实验的共同起点。注意词表是在 `train` 上统计的，`test` 只做查表。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runnable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可运行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424485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Tokenise + vocabulary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分词 + 建词表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758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re, collections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TOKEN = re.compile(r"[a-z][a-z'-]*")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tokenise(text):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TOKEN.findall(text.lower())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build_vocab(texts, min_freq=2, cap=6000):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freq = collections.Counter()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for t in texts:            # texts = TRAIN only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freq.update(tokenise(t))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words = [w for w, c in freq.most_common()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if c &gt;= min_freq][:cap]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0 = &lt;pad&gt;, 1 = &lt;unk&gt;, real words from 2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{"&lt;pad&gt;": 0, "&lt;unk&gt;": 1,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**{w: i + 2 for i, w in enumerate(words)}}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424485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Encode + pad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编码 + 填充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758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encode(text, vocab, max_len):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[vocab.get(w, 1) for w in tokenise(text)]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ids[:max_len]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+= [0] * (max_len - len(ids))   # pad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torch.tensor(ids)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encode_batch(texts, vocab, max_len=96):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[encode(t, vocab, max_len) for t in texts]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x = torch.stack(ids)                # (B, 96)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the true length of each sample - masking keys off this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lens = torch.tensor([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min(len(tokenise(t)), max_len) for t in texts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])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x,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612855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**Keep `lens`.** Throw it away and you are left with exactly the two pooling choices that turned out to be this week's worst.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**lens 一定要留下来。** 少了它，你就只剩两种池化可选，而这两种正好是本周最差的两个。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This week's corpus: built so that it cannot cheat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本周语料：一份为了“不许作弊”而专门构造的数据集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One task, one sentence: **given an English passage, name the week it came from.** The corpus is this course's own Week 1–6 lecture notes, lab sheets and textbook — nothing is downloaded.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任务只有一句话：**给一段英文段落，说出它出自第几周。** 语料来自本课程第 1–6 周自己的讲义、实验单与教材，不下载任何外部数据。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748 passages · 6 classes · Embedding(64)→LSTM(96)→Linear(6) · Adam 1e-3 · batch 64 · 30 epochs · 5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3993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/>
                <a:gridCol w="2664000"/>
                <a:gridCol w="2664000"/>
                <a:gridCol w="2601720"/>
              </a:tblGrid>
              <a:tr h="570564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Source Han Sans SC"/>
                        </a:rPr>
                        <a:t>Item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C3D4EF"/>
                          </a:solidFill>
                          <a:latin typeface="Source Han Sans SC"/>
                        </a:rPr>
                        <a:t>项目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Source Han Sans SC"/>
                        </a:rPr>
                        <a:t>Value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C3D4EF"/>
                          </a:solidFill>
                          <a:latin typeface="Source Han Sans SC"/>
                        </a:rPr>
                        <a:t>数值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Source Han Sans SC"/>
                        </a:rPr>
                        <a:t>What it means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C3D4EF"/>
                          </a:solidFill>
                          <a:latin typeface="Source Han Sans SC"/>
                        </a:rPr>
                        <a:t>说明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Source Han Sans SC"/>
                        </a:rPr>
                        <a:t>Why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C3D4EF"/>
                          </a:solidFill>
                          <a:latin typeface="Source Han Sans SC"/>
                        </a:rPr>
                        <a:t>为什么这样设计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705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Source Han Sans SC"/>
                        </a:rPr>
                        <a:t>Passages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段落总数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train 523 / val 112 / test 113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训练 523 / 验证 112 / 测试 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stratified by week, 70/15/15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按周分层切分 70/15/15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05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Source Han Sans SC"/>
                        </a:rPr>
                        <a:t>Classes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类别数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W1 105 · W2 97 · W3 114 · W4 119 · W5 128 · W6 185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**naturally imbalanced — the smallest class is 57% of the largest**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**类别天然不平衡，最少的类只有最多的 57%**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705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Source Han Sans SC"/>
                        </a:rPr>
                        <a:t>Vocabulary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词表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3142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the model sees 1592 (counted on train only)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模型实际只见 1592 个（只从训练集统计）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anything outside train becomes &lt;unk&gt;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训练集之外的词一律 &lt;unk&gt;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05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Source Han Sans SC"/>
                        </a:rPr>
                        <a:t>Length (words)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段落长度（词）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median 35 · p95 87 · max 285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中位 35 · 95 分位 87 · 最长 285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mean 42.1 words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均值 42.1 词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**wide spread — padding is unavoidable**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**长度差异大，填充必然发生**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705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Source Han Sans SC"/>
                        </a:rPr>
                        <a:t>Anti-leakage scrub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反泄漏清洗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Week N / CU(N) / Lab N / dates replaced with placeholders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把 Week N / CU(N) / Lab N / 日期替换成占位符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otherwise the label is literally in the text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否则答案的字面就写在题面里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057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Source Han Sans SC"/>
                        </a:rPr>
                        <a:t>Corpus fingerprint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语料指纹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87e41aac89ef…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SHA-256; rebuild with build_text_corpus.py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SHA-256，可用 `build_text_corpus.py` 重建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Source Han Sans SC"/>
                        </a:rPr>
                        <a:t>**reproducible**: same corpus, same numbers anywhere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7280"/>
                          </a:solidFill>
                          <a:latin typeface="Source Han Sans SC"/>
                        </a:rPr>
                        <a:t>**可复现**：同一份语料，任何机器上结果一致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5343954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corpus is **this course's own text** (CC BY-NC-SA 4.0): no third-party licence risk, no download, fully offline. The price is size — 748 passages is far too few for 6 classes, **which is the root cause of Part 3's 'regularisation does not rescue it'**.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这份语料是**本课程自己的文本**（CC BY-NC-SA 4.0），因此零第三方许可风险、零下载、完全离线。代价是它很小——748 段对于 6 分类来说太少了，**这正是 Part 3 那个“正则化救不回来”的根因**。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Why Chinese cannot be split on whitespace — a measurable answer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中文为什么不能按空白分词——一个可以量化的答案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The same Chinese text, two segmentation schemes, compared on **out-of-vocabulary rate**. The high-OOV scheme leaves the model guessing.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同一份中文文本，两种切分方式，看**词表外（OOV）比例**。OOV 高的那一种，模型等于在猜。&lt;/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measured on this course's Chinese textbook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本课程中文教材实测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789635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Whitespace (wrong)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按空白切分（错的）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96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375 train segments → a vocabulary of only 372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375 个训练片段 → 词表只有 372 个“词”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**99.5% of them are singletons**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其中**单例词（只出现一次）占 99.5%**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of 375 test tokens, **99.7% are out of vocabulary**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测试集 375 个 token 里，**99.7% 是词表外**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In effect: **the whole passage collapses into a single &lt;unk&gt;**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等价于：**整段文本只被识别成一个 &lt;unk&gt;**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no Chinese task can be learned this way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模型在任何中文任务上都学不到东西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789635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Character level (right)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按字符级切分（对的）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96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same 375 segments → 880 characters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同样的 375 段 → 词表 880 个字符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singleton share drops to **21.7%** (a different order of magnitude)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单例占比降到 **21.7%**（差 0.22 倍的量级）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test tokens become 14860 (one per character)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测试集 token 数变成 14860（每字一个）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OOV is only **2.5%**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OOV 只有 **2.5%**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price: longer sequences, coarser units — **a trade, not a free win**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代价：序列变长、语义单位变碎——**这是选择，不是免费**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175635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OOV falls from **99.7%** to **2.5%**, a factor of 39. In practice you reach for a segmenter (jieba, etc.) and fall back to character level — **but you never just split on spaces and hope.**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OOV 从 **99.7%** 降到 **2.5%**，差 39 倍。工程上的正确做法通常是先上分词器（jieba 等），分词器不可用时退回字符级——**但绝不能什么都不做就按空格切。**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0985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Padding and Masking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填充与掩码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736000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**95.6% of test documents are shorter than max_len=96.** So if you take the hidden state at the final timestep, **you are reading the pad vector, not the sentence.** Nothing crashes. The accuracy just quietly halves.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**95.6% 的测试文档短于 max_len=96。** 也就是说，如果你在循环结束后直接取最后一个时间步的隐状态，**你读到的是填充向量，不是句子。** 这个错误不会让程序崩，只会让准确率悄悄掉一半。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Pad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填充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zeros to fixed length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补零到定长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433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3130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Mask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掩码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3130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which positions are real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告诉模型哪些是真词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946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825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Pack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打包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825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let the RNN stop early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让 RNN 提前停下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4589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338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Pool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池化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338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sequence → one vector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怎么把序列压成一个向量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One LSTM, two readings — the difference is the last three lines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同一个 LSTM，两种读法——差别在最后三行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Top: `out[:, -1, :]` — **that is position 96, not the last real token.** Bottom: `pack_padded_sequence` stops the LSTM where the real tokens end.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上半：取 `out[:, -1, :]`——**取到的是第 96 个位置，不是最后一个真词**。下半：`pack_padded_sequence` 让 LSTM 在真词结束处停下。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the single comparison you must understand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这是本周唯一必须看懂的对照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404002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✗ Wrong: reads the pad vector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✗ 错：读到填充向量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5540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class TextLSTM(nn.Module):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def __init__(self, vocab_size, hidden=96):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super().__init__()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self.emb = nn.Embedding(vocab_size, 64,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              padding_idx=0)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self.lstm = nn.LSTM(64, hidden,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          batch_first=True)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self.fc = nn.Linear(hidden, 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def forward(self, x, lens):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e = self.emb(x)          # (B, 96, 64)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out, _ = self.lstm(e)    # (B, 96, 96)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# ✗ position 96 is padding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return self.fc(out[:, -1, :])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404002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✓ Right: pack, then take the last hidden state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✓ 对：打包后取末隐状态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5540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from torch.nn.utils.rnn import 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pack_padded_sequence,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pad_packed_sequence,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the pack requires descending length order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forward(self, x, lens):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e = self.emb(x)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order = torch.argsort(lens, descending=True)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inv = torch.argsort(order)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packed = pack_padded_sequence(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e[order], lens[order].cpu(),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batch_first=True, enforce_sorted=True)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out, (h, _) = self.lstm(packed)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h[-1] is each sample's LAST REAL token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self.fc(h[-1][inv])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08029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Both blocks have **exactly the same parameter count** (166,278), the same epochs, the same data. The only difference is 'position 96' versus 'the last real token'. The next page prices it.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两段代码**参数量完全相同**（166,278），训练轮数相同，数据相同。唯一的差别是“第 96 个位置”还是“最后一个真词”。下一页看这个差别值多少。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Four pooling choices, one model, a 26-point spread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四种池化方式的总账：同一模型，差 26 个点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The four arms differ only in how (B,96,96) becomes (B,96). Same parameters, data, epochs, optimiser.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四个臂只改“怎么把 (B,96,96) 压成 (B,96)”这一步。参数量、数据、轮数、优化器全部相同。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mean ± 1 sd over 5 seeds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5 种子均值 ± 1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3232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944000"/>
                <a:gridCol w="1944000"/>
                <a:gridCol w="1944000"/>
                <a:gridCol w="2241720"/>
              </a:tblGrid>
              <a:tr h="646547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Arm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Test acc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测试准确率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Macro F1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宏 F1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Gap to best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与最优差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In one line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一句话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646547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mean_masked (best)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mean_masked（最优）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0.5027 ± 0.0449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0.4774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average over real positions only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按真实长度求均值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547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packed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0.4248 ± 0.0360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0.3843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−7.8 points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−7.8 个点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textbook, but reads one state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正规做法，但只读末状态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46547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mean_unmasked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0.3929 ± 0.0684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0.3315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−11.0 points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−11.0 个点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padding folded into the mean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把填充也算进均值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547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last_step (worst)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last_step（最差）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0.2407 ± 0.0040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0.0711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−26.2 points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−26.2 个点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reads the pad vector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读到的是填充向量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582735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**The spread is 0.2620 — nearly 26 points.** Note `last_step`'s macro F1 of 0.0711: the 6-class chance level is 1/6 ≈ 0.1667, **so it is below chance.** Its accuracy, 0.2407, merely looks 'mediocre' rather than broken. That is Part 4's metric problem.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**最差与最优差 0.2620，接近 26 个点。** 请特别注意 `last_step` 的宏 F1 只有 0.0711——6 分类随机基线是 1/6 ≈ 0.1667，**它已经低于随机。** 而它的准确率是 0.2407，看上去只是“效果不好”，不像崩了。这就是 Part 4 要讲的指标问题。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Padding and Masking: The Error That Never Errors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填充与掩码：一个不报错的错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Same code, different answer — the only difference is whether the divisor is 96 or 9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同样的代码，不同的答案——差别只在分母是 96 还是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mean_unmasked vs mean_masked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200" y="1346400"/>
            <a:ext cx="4176000" cy="8223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One 96-slot tensor, 24 drawn here — the first 9 are real tokens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一条 96 位置的张量，这里画 24 格 · 前 9 个是真实的词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5200" y="2319973"/>
            <a:ext cx="367200" cy="367200"/>
          </a:xfrm>
          <a:prstGeom prst="rect">
            <a:avLst/>
          </a:prstGeom>
          <a:solidFill>
            <a:srgbClr val="C7D3E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2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00" y="2319973"/>
            <a:ext cx="367200" cy="367200"/>
          </a:xfrm>
          <a:prstGeom prst="rect">
            <a:avLst/>
          </a:prstGeom>
          <a:solidFill>
            <a:srgbClr val="B7C7E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24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9600" y="2319973"/>
            <a:ext cx="367200" cy="367200"/>
          </a:xfrm>
          <a:prstGeom prst="rect">
            <a:avLst/>
          </a:prstGeom>
          <a:solidFill>
            <a:srgbClr val="A8BBD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696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36800" y="2319973"/>
            <a:ext cx="367200" cy="367200"/>
          </a:xfrm>
          <a:prstGeom prst="rect">
            <a:avLst/>
          </a:prstGeom>
          <a:solidFill>
            <a:srgbClr val="98AFD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68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319973"/>
            <a:ext cx="367200" cy="367200"/>
          </a:xfrm>
          <a:prstGeom prst="rect">
            <a:avLst/>
          </a:prstGeom>
          <a:solidFill>
            <a:srgbClr val="89A3D1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0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1200" y="2319973"/>
            <a:ext cx="367200" cy="367200"/>
          </a:xfrm>
          <a:prstGeom prst="rect">
            <a:avLst/>
          </a:prstGeom>
          <a:solidFill>
            <a:srgbClr val="7996C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12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38400" y="2319973"/>
            <a:ext cx="367200" cy="367200"/>
          </a:xfrm>
          <a:prstGeom prst="rect">
            <a:avLst/>
          </a:prstGeom>
          <a:solidFill>
            <a:srgbClr val="6A8AC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84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5600" y="2319973"/>
            <a:ext cx="367200" cy="367200"/>
          </a:xfrm>
          <a:prstGeom prst="rect">
            <a:avLst/>
          </a:prstGeom>
          <a:solidFill>
            <a:srgbClr val="5A7EB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56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72800" y="2319973"/>
            <a:ext cx="367200" cy="367200"/>
          </a:xfrm>
          <a:prstGeom prst="rect">
            <a:avLst/>
          </a:prstGeom>
          <a:solidFill>
            <a:srgbClr val="4B72B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2800" y="23199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072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744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416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088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760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432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104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776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48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20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792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464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136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0800" y="2319973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4000" y="2319973"/>
            <a:ext cx="13680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real tokens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真实词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2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2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024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24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696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696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368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368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40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040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712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712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384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84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056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056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72800" y="2802373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728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400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400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072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072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744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744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416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416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088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088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760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60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432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432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104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104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776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776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448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448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120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120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792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792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464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464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136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136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80800" y="2802373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80800" y="2802373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74000" y="2802373"/>
            <a:ext cx="13680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padding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填充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2400" y="3432373"/>
            <a:ext cx="151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slot 1 ...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位置 1 ...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140000" y="2157973"/>
            <a:ext cx="0" cy="1094400"/>
          </a:xfrm>
          <a:prstGeom prst="line">
            <a:avLst/>
          </a:prstGeom>
          <a:ln w="19050">
            <a:solidFill>
              <a:srgbClr val="B91C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204800" y="3205573"/>
            <a:ext cx="306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91C1C"/>
                </a:solidFill>
                <a:latin typeface="Source Han Sans SC"/>
              </a:rPr>
              <a:t>padding starts here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从这里开始是填充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9200" y="3882373"/>
            <a:ext cx="10593719" cy="827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5200" y="3997573"/>
            <a:ext cx="4792859" cy="59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F8B4B4"/>
                </a:solidFill>
                <a:latin typeface="Menlo"/>
              </a:rPr>
              <a:t>.mean(dim=1)         # divides by 96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F8B4B4"/>
                </a:solidFill>
                <a:latin typeface="Menlo"/>
              </a:rPr>
              <a:t>out[:, -1, :]       # reads a PAD vector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04060" y="3997573"/>
            <a:ext cx="4792859" cy="59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6EFAC"/>
                </a:solidFill>
                <a:latin typeface="Menlo"/>
              </a:rPr>
              <a:t>masked_mean(x, m)   # divides by 9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6EFAC"/>
                </a:solidFill>
                <a:latin typeface="Menlo"/>
              </a:rPr>
              <a:t>packed, _ = pack_padded_sequence(x, lens)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9200" y="52992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The mask is not a detail: it is the difference between the number the model computes and the number you meant. The shorter the document, the larger the pad share, the heavier the damage.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掩码不是细节：它就是“模型真的算出的数”与“你以为的数”之间的差。文档越短，填充占比越大，伤害越重。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Masking: the error that looks like it was never written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掩码：一个“写了就等于没写”的错误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Both arms average over the time axis; the code is nearly character-identical. The difference is one boolean.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两个臂都做“对时间维求平均”，代码几乎逐字相同。差别只有一个布尔参数。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mean_unmasked vs mean_masked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✗ Unmasked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✗ 不掩码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test accuracy **0.3929**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测试准确率 **0.3929**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macro F1 **0.3315**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宏 F1 **0.3315**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for a short document, **most positions in the average are pad vectors**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每篇短文档的向量里，**大部分位置是填充向量**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shorter the document the worse: the 20–29 bucket gets 0.4211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文档越短被稀释得越狠：20–29 词桶只有 0.4211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largest spread (±0.0684) — **unstable**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标准差最大（±0.0684）——**结果不稳定**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✓ Masked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✓ 掩码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test accuracy **0.5027** (+11.0 points)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测试准确率 **0.5027**（+11.0 个点）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macro F1 **0.4774** (+14.6 points)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宏 F1 **0.4774**（+14.6 个点）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`(h * mask).sum(1) / mask.sum(1)` — **one line**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`(h * mask).sum(1) / mask.sum(1)`——**一行**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20–29 bucket returns to 0.4211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20–29 词桶回到 0.4211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spread narrows to ±0.0449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标准差收窄到 ±0.0449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4698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Look at which bucket gains most: **the shortest one.** That matches the mechanism — the shorter the document, the larger the pad share, the heavier the damage. **Masking is not an optimisation; it is correctness.**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注意哪一个桶涨得最多：**最短的那一桶**。这符合机制——文档越短，填充占的比例越大，不掩码的伤害越重。**这就是“掩码不是优化，是正确性”的证据。**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27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79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Autopsy of the quiet bug: bucket by length and the damage shows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解剖那个安静的 bug：按长度分桶，伤害就露出来了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4253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Same arm, same headline accuracy, split by document length. If the error were random the buckets would look alike. They do not.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同一个 `last_step` 臂，同一个准确率，按文档长度切开看。如果错误是随机的，各桶应该差不多——它们不是。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max_len = 96 · 95.6% of docs fall short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max_len = 96 · 95.6% 文档未达此长度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70859" cy="3659405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32400" cy="365940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339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The shortest bucket collapses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最短的桶塌得最狠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25090"/>
            <a:ext cx="4724459" cy="28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20–29 words: packed 0.4211 vs last_step **0.1579**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20–29 词：packed 0.4211 vs last_step **0.1579**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30–49 words: 0.3902 vs **0.1707**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30–49 词：0.3902 vs **0.1707**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50–99 words: they finally converge (0.4483 vs 0.4138)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50–99 词：两者终于接近（0.4483 vs 0.4138）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**the longer the document, the smaller the harm — a mirror of the pad share.**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**越长越没事，正好是填充比例的镜像。**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3D7BD9"/>
                </a:solidFill>
                <a:latin typeface="Source Han Sans SC"/>
              </a:rPr>
              <a:t>→ mechanism fits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→ 机制对上了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2059" y="1188000"/>
            <a:ext cx="5170859" cy="3659405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059" y="1188000"/>
            <a:ext cx="32400" cy="365940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5259" y="1339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A second, harder line at the boundary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长度分界线上还有一条硬证据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5259" y="1925090"/>
            <a:ext cx="4724459" cy="28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documents at or above 96 words: 5, accuracy **0.4000**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长度 ≥ 96 的文档：5 篇，准确率 **0.4000**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documents below 96 words: 108, accuracy **0.2315**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长度 &lt; 96 的文档：108 篇，准确率 **0.2315**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Long enough documents have no padded positions, so `[-1]` really is the end — **they behave normally.**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长度够的文档没有填充位置，`[-1]` 就真的指向句末——**它们基本正常**。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**This rules out 'the task is just hard'.**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**这排除了“只是数据太难”的解释。**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3D7BD9"/>
                </a:solidFill>
                <a:latin typeface="Source Han Sans SC"/>
              </a:rPr>
              <a:t>→ one bug, two lines of evidence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→ 同一条 bug，两组证据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6243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Curves and the Real Bottleneck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训练曲线与真正的瓶颈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801577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The best arm reaches only **0.5027**. The reflex is 'add regularisation'. Three pieces of evidence say: **yes it overfits, but regularisation does not rescue it — the bottleneck is the 523 training passages.**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最好的一臂只有 **0.5027**。第一反应是“正则化不够”。这一部分用三条证据说明：**它确实过拟合了，但正则化救不回来——因为瓶颈是那 523 个训练段落。**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Overfitting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过拟合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train 0.99 / val 0.42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训练 0.99 / 验证 0.42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433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3130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Regularisation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正则化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3130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tried it, did not work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试过了，没救回来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946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8259" y="5148000"/>
            <a:ext cx="2060729" cy="331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0E3F8C"/>
                </a:solidFill>
                <a:latin typeface="Source Han Sans SC"/>
              </a:rPr>
              <a:t>Sequence length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序列长度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8259" y="5414313"/>
            <a:ext cx="2060729" cy="648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swept 48/96/192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扫过 48/96/192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4589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338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Data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数据量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338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523 passages is too few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523 段太少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Train against validation: one runs to 0.99, one parks at 0.42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训练与验证：一条冲到 0.99，一条停在 0.42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sampled points (every 3 epochs, 30 total). The distance between the lines is the overfitting.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11 个采样点（每 3 轮记一次，共 30 轮）。两条线的距离就是过拟合的量。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packed arm · seed 42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packed 臂 · 种子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224000"/>
          <a:ext cx="68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332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At epoch 30: train 0.9885, val 0.4196, **a gap of 0.5689**.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第 30 轮：训练 0.9885，验证 0.4196，**差 0.5689**。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By epoch 24 train is already 0.9675 while val is 0.3661 — **the model is memorising.**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训练第 24 轮就到 0.9675，验证只有 0.3661——**模型在背训练集**。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validation curve **never falls**, so this is not 'trained too long'; it is capacity spent in the wrong place.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验证曲线**从未下降**，所以这不是“训练过头”，而是“容量用错了地方”。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This is exactly the shape from Week 6 — **the same face, a different dataset.**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这正是第 6 周讲过的形状——**同一张脸，换了数据集**。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Sweeping max_len: 48, 96, 192 — neither truncating nor padding helps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扫 max_len：48 / 96 / 192，切掉或者补多都没用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 natural guess is '96 is too long or too short'. Sweep it and the guess dies.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一个自然的猜测是“96 太长/太短”。扫一遍就知道：这不是长度问题。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 seeds (42–44)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3 种子（42–44）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3587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000"/>
                <a:gridCol w="2088000"/>
                <a:gridCol w="2088000"/>
                <a:gridCol w="2088000"/>
                <a:gridCol w="2025720"/>
              </a:tblGrid>
              <a:tr h="896863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max_len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packed acc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packed 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last_step acc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last_step 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packed sd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packed 标准差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Reading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解读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896863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48 (shorter, truncates)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48（更短，切掉长文）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0.4572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0.2891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0.0135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packed a little better; last_step rises too — **as the mechanism predicts**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packed 略好，last_step 也涨——**符合机制**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863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96 (this week's default)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96（本周默认）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0.4454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0.2389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0.0285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baseline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基准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896865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192 (longer, pads more)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192（更长，补更多）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0.4454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0.2478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0.0357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**no gain at all** — more zeros carry no information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**完全没涨**——补更多零不产生信息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937454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packed lands at 0.4572 / 0.4454 / 0.4454 — **essentially flat** (within one standard deviation). last_step stays far below it at every length. **Conclusion: max_len is not the lever; the pooling bug survives every length you try.**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packed 在三个长度上分别是 0.4572 / 0.4454 / 0.4454——**基本不动**（波动在标准差以内）。与此同时 last_step 在三种长度上都远低于它。**结论：调 max_len 不是杠杆；但选错池化方式，调什么长度都白搭。**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Regularisation does not rescue it — this week's most important honest result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正则化救不回来——这是本周最重要的诚实结论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Week 6's two most effective tools (Dropout 0.3 + weight decay 1e-3) added to this week's best arm. If capacity is the bottleneck it should rise; if data is, it should not.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把第 6 周最有效的两样东西（Dropout 0.3 + 权重衰减 1e-3）加到本周最好的一臂上。如果瓶颈是容量，应该涨；如果瓶颈是数据，不该涨。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Week 6's tools, applied to the best arm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沿用第 6 周的手段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mean_masked (baseline best)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mean_masked（基准最优）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test accuracy **0.5027 ± 0.0449**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测试准确率 **0.5027 ± 0.0449**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macro F1 **0.4774 ± 0.0482**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宏 F1 **0.4774 ± 0.0482**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no Dropout, no weight decay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无 Dropout，无权重衰减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166,278 parameters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参数量 166,278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**this is this week's ceiling**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**这是本周的最好成绩，就到这里了**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+ Dropout 0.3 + wd 1e-3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test accuracy **0.4672 ± 0.0595**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测试准确率 **0.4672 ± 0.0595**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macro F1 **0.4433 ± 0.0625**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宏 F1 **0.4433 ± 0.0625**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accuracy **drops 3.6 points**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准确率 **下降 3.6 个点**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macro F1 drops 3.4 points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宏 F1 下降 3.4 个点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spread actually widens (±0.0595) — **less stable**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标准差反而变大（±0.0595）——**更不稳了**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4698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In Week 6 these two worked (enough data, a big model). Here they **lower both accuracy and macro F1** and widen the spread. That is the lesson: **the same technique has opposite correct answers under a capacity bottleneck and under a data bottleneck.** You pick by diagnosing the bottleneck first, not by taste.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第 6 周这两招是有效的（那里的数据够、模型大）。本周它们**同时压低了准确率和宏 F1**，还把方差放大了。这正是我们要教的东西：**同一个技术手段，在“容量瓶颈”和“数据瓶颈”下的正确答案是相反的。**判断依据不是手段本身，是你先诊断出瓶颈在哪。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The bottleneck is data: the bigger the class, the better the recall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瓶颈是数据：类别越大，召回越高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Same model, same features — **sort the six classes by size** and recall tracks it closely (Spearman rho = 0.77). Direct evidence that the model is learning the prior, not the content.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同一个模型、同一批特征，**只按类别大小排序**，召回率就大致跟着排好了（Spearman ρ = 0.77）。这是“模型在学先验，而不是在学内容”的直接证据。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packed arm · pooled over 5 seeds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packed 臂 · 5 种子合计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224000"/>
          <a:ext cx="68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332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two smallest classes (n=80, 75) recall **0.1750 / 0.1867**.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最小的两类（n=80、75）召回 **0.1750 / 0.1867**。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largest class (n=140) recalls **0.6643** — 3.8× W1.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最大的类（n=140）召回 **0.6643**，是 W1 的 3.8 倍。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There are two small inversions: W2 (n=75) edges above W1 (n=80), and W5 (n=95) dips just below W4 (n=90).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有两处小逆序：W2（n=75）略高于 W1（n=80），W5（n=95）略低于 W4（n=90）。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**So regularisation cannot help: what is missing is samples, not constraints.**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**所以“加正则化”不会有用：欠的是样本，不是约束。**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0985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Where It Goes Wrong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它错在哪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736000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0.5027 carries almost no information. This part swaps it for two things that do: **a 6×6 confusion matrix**, and **the accuracy / macro-F1 split**. The latter is the quantified version of this week's ethics point.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0.5027 这个准确率几乎不提供信息。这一部分换成两个更好用的东西：**6×6 混淆矩阵**，和**准确率与宏 F1 的分裂**。后者就是本周思政落点的量化版本。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060729" cy="55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0E3F8C"/>
                </a:solidFill>
                <a:latin typeface="Source Han Sans SC"/>
              </a:rPr>
              <a:t>Confusion matrix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混淆矩阵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637426"/>
            <a:ext cx="2060729" cy="424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6×6, cell by cell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6×6，逐格可查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433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3130" y="5148000"/>
            <a:ext cx="2060729" cy="55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0E3F8C"/>
                </a:solidFill>
                <a:latin typeface="Source Han Sans SC"/>
              </a:rPr>
              <a:t>Accuracy ≠ macro F1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准确率 ≠ 宏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3130" y="5637426"/>
            <a:ext cx="2060729" cy="424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a 17-point gap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差 17 个点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946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825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Concrete cases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具体样本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825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14 passages, read them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14 篇逐条看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4589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338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Delivery bar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交付标准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338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four checks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四条，可检查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Confusion matrix: 565 test predictions over 5 seeds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混淆矩阵：5 个种子、565 个测试预测之和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Row = true week, column = prediction. Diagonal is correct. Total 565; correct 240 (0.4248).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行＝真实周次，列＝模型判断。对角是正确，非对角是错误。合计 565，正确 240（0.4248）。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packed arm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packed 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60000"/>
          <a:ext cx="10593720" cy="3357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465200"/>
                <a:gridCol w="1465200"/>
                <a:gridCol w="1465200"/>
                <a:gridCol w="1465200"/>
                <a:gridCol w="1465200"/>
                <a:gridCol w="1467720"/>
              </a:tblGrid>
              <a:tr h="479669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true / pred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真实＼预测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W1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W2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W3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W4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W5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W6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79669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W1 (n=80)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W1（n=80）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669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W2 (n=75)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W2（n=75）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79669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W3 (n=85)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W3（n=85）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669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W4 (n=90)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W4（n=90）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79669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W5 (n=95)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W5（n=95）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671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W6 (n=140)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W6（n=140）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93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743685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One reading rule: **look off-diagonal, and ask whether the mass is uniform or concentrated.** Here it is **almost flat** — every cell sits between 4 and 22, with no disaster zone. On the diagonal only W6 stands out (93). **A matrix that gets a bit of everything wrong and nothing right is diagnosed as too little data, not a wrong model.**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读法只有一句：**看非对角，而且看它是均匀的还是集中的。** 这一张的非对角**几乎是平的**——每个格子都在 4～22 之间，没有任何一个“重灾区”。对角线上只有 W6 明显突出（93）。**一个“什么都能错一点、什么都学不精”的矩阵，诊断是数据不足，不是模型不对。**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Read the misclassified passages yourself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把错分的那几段亲自读一遍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Printing the matrix is step one. Step two is pulling the **raw text** of the misclassified passages — and immediately seeing that they are fine sentences that simply **belong to no single week**.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打印矩阵只是第一步。第二步是把错分样本的**原文**调出来看——你会立刻发现它们都是好句子，只是**不属于任何单独一周**。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passages · seed 42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14 篇 · 种子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Print the failures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打印错分样本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@torch.no_grad()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def show_errors(model, loader, vocab, inv_vocab, n=10):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model.eval()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shown = 0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for x, lens, y in loader: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logits = model(x, lens)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pred = logits.argmax(1)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bad = (pred != y).nonzero().flatten()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for i in bad: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ids = x[i][x[i] != 0].tolist()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words = ' '.join(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    inv_vocab.get(j, '&lt;unk&gt;') for j in ids)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p = logits[i].softmax(0)[pred[i]].item()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print(f'true W{y[i]+1} -&gt; pred W{pred[i]+1}'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      f'  conf={p:.4f}')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print(f'   {words[:120]}...')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shown += 1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if shown &gt;= n: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              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The three kinds of sentence you will find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你会读到的三类句子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# 1) short, so the vocabulary burden is heaviest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# true W4 -&gt; pred W3   (20 tokens)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"Hidden layers transform the features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first; the output layer decides afterwards."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# 2) a generic engineering sentence, true of any week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# true W1 -&gt; pred W2   (26 tokens)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"Hyper-parameters, data paths, batch size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and split ratios live in a file ..."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# 3) vocabulary reused across weeks (17,226 appears in a W6 passage)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# true W6 -&gt; pred W4   (22 tokens)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"Explain how a training set of 80 samples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against 17,226 parameters produces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 overfitting ..."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# conclusion: none of the 14 is a modelling mistake;</a:t>
            </a:r>
          </a:p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E2E8F0"/>
                </a:solidFill>
                <a:latin typeface="Menlo"/>
              </a:rPr>
              <a:t>#             they belong to no single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268547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**These 14 are not model failures; they are the task's boundary.** 'Which week does this passage belong to' has no unique answer — especially for concepts reused across weeks. **The right move is to write that finding into the report, not to keep tuning.**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**这 14 篇不是模型的失败，是任务定义的边界。** “这一段属于哪一周”在语义上本来就没有唯一答案——尤其当段落取自跨周复用的概念时。**课件的正确做法是把这个发现写进报告，而不是继续调参。**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206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0686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13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The accuracy / macro-F1 split: a signal you must recognise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090" b="0" i="0">
                <a:solidFill>
                  <a:srgbClr val="6B7280"/>
                </a:solidFill>
                <a:latin typeface="Source Han Sans SC"/>
              </a:rPr>
              <a:t>准确率与宏 F1 的分裂：一个必须会认的信号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35524"/>
            <a:ext cx="7713719" cy="4427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Six-class chance level is 1/6 ≈ 0.1667. **Accuracy lets a broken model look employed; macro F1 tells the truth.**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6 分类的随机基线是 1/6 ≈ 0.1667。**准确率会让你以为模型在正常工作；宏 F1 会说真话。**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the same arms, two numbers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同一批臂，两个数字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17" cy="3636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2015999"/>
                <a:gridCol w="2015999"/>
                <a:gridCol w="2015999"/>
                <a:gridCol w="2169720"/>
              </a:tblGrid>
              <a:tr h="727318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Arm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Accuracy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Macro F1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宏 F1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Gap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差距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Han Sans SC"/>
                        </a:rPr>
                        <a:t>Diagnosis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C3D4EF"/>
                          </a:solidFill>
                          <a:latin typeface="Source Han Sans SC"/>
                        </a:rPr>
                        <a:t>诊断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727318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mean_masked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0.5027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0.4774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2.5 pts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2.5 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the two agree — **a trustworthy report**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两个数字一致——**报告可信**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7318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packed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0.4248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0.3843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4.1 pts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4.1 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mild split, acceptable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轻微分裂，可接受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727318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mean_unmasked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0.3929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0.3315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6.1 pts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6.1 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the split is now visible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分裂开始明显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7322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1F2937"/>
                          </a:solidFill>
                          <a:latin typeface="Source Han Sans SC"/>
                        </a:rPr>
                        <a:t>last_step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0.2407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0.0711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**17.0 pts**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**17.0 点**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0">
                          <a:solidFill>
                            <a:srgbClr val="1F2937"/>
                          </a:solidFill>
                          <a:latin typeface="Source Han Sans SC"/>
                        </a:rPr>
                        <a:t>**macro F1 0.0711 is below chance 0.1667**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6B7280"/>
                          </a:solidFill>
                          <a:latin typeface="Source Han Sans SC"/>
                        </a:rPr>
                        <a:t>**宏 F1 0.0711 低于随机 0.1667**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986594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`last_step` reports 0.2407 accuracy, which reads as 'just weak'; its macro F1 is 0.0711 — **below chance**. The gap is 17.0 points. **An accuracy-only report ships this broken model.**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`last_step` 的准确率是 0.2407，看上去“只是不好”；宏 F1 是 0.0711，**低于随机**。两个数字的差距是 17.0 个点。**只报准确率的报告会把一个坏掉的模型送进上线。**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The error-analysis delivery bar: four checks you can verify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错分分析的交付标准：四条，条条可检查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The official wording is 'explain why the model does worse on some classes'. Here is the checkable version.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官方原话是“说明为什么模型在某些类别上表现更差”。下面是这句话的可检查版本。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the official homework, operationalised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对应官方课后任务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10593719" cy="107191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107191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548104"/>
            <a:ext cx="900000" cy="423701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548104"/>
            <a:ext cx="900000" cy="4237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1 · Matrix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① 混淆矩阵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332000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Print the matrix and state three totals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打印矩阵本身，并写出三个总数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610999"/>
            <a:ext cx="9153719" cy="630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Total 565, correct 240, accuracy 0.4248, and **which diagonal cell is largest** (W6 at 93). Accuracy alone does not pass.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预测总数 565、正确 240、准确率 0.4248，以及**对角线上哪一格最大**（W6 的 93）。只写准确率不算通过。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403910"/>
            <a:ext cx="10593719" cy="107191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403910"/>
            <a:ext cx="32400" cy="107191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640004"/>
            <a:ext cx="900000" cy="599723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640004"/>
            <a:ext cx="900000" cy="599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2 · Two metrics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② 两个指标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11910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Report accuracy and macro F1 together, and explain the gap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准确率与宏 F1 同时报，并解释差距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790910"/>
            <a:ext cx="9153719" cy="630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`last_step`'s 0.2407 against 0.0711 is the week's best teaching specimen: **macro F1 below chance (0.1667) while accuracy shows nothing.**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`last_step` 的 0.2407 对 0.0711 是本周最好的教学素材：**宏 F1 低于随机 0.1667，而准确率看不出来。**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583821"/>
            <a:ext cx="10593719" cy="107191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583821"/>
            <a:ext cx="32400" cy="107191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819915"/>
            <a:ext cx="900000" cy="599723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819915"/>
            <a:ext cx="900000" cy="599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3 · Concrete cases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③ 具体样本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691821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At least 3 raw passages with model confidence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至少 3 段错分原文 + 模型置信度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970821"/>
            <a:ext cx="9153719" cy="630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Seed 42 yields 14; all retrievable. The rule is **quote the text** — 'the model learned poorly' is not accepted.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种子 42 一共 14 段，全部可查。要求**贴原文**，不接受“模型学得不好”这类说法。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4763732"/>
            <a:ext cx="10593719" cy="107191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200" y="4763732"/>
            <a:ext cx="32400" cy="107191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200" y="4829900"/>
            <a:ext cx="900000" cy="93957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" y="4829900"/>
            <a:ext cx="900000" cy="9395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4 · One testable hypothesis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④ 一个可检验假设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871732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Write one guess the next step could falsify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写出一条能被下一步推翻的猜想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3200" y="5150731"/>
            <a:ext cx="9153719" cy="630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For example: 'lowering max_len to 48 raises the shortest bucket'. Then **run it** and write the outcome back — win or lose.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例如：“把 max_len 降到 48 会让最短桶的准确率上升”。然后**去跑它**，把结果写回报告——不管涨没涨。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0985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Next, and M8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接下来，以及 M8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736000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This week's LSTM is **the control arm for all of Module 3**: W9 transfer learning and W10 attention/Transformers are measured against it. And **Week 8 is also M8, the midterm checkpoint** — the first formally graded review of the project.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本周的 LSTM 是**模块三全部内容的对照组**：第 9 周迁移学习、第 10 周注意力与 Transformer，都会拿它当基准。另外，**第 8 周同时是 M8 期中检查点**——大作业在这里第一次被正式评一次。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RNN → LSTM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gates fix gradients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门控解决梯度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433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3130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→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3130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no more sequential scan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不再顺序处理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9460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825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→ 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825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this week's control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本周的对照组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4589" y="5000400"/>
            <a:ext cx="247832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3389" y="5148000"/>
            <a:ext cx="206072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M8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3389" y="5428943"/>
            <a:ext cx="206072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midterm, 4 points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期中检查点 4 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Placing this week's LSTM in the sequence-model lineage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把本周的 LSTM 放进序列模型的谱系里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Three upgrades, each fixing a specific defect. **From next week you walk all three yourself**, with this week's 0.5027 as the baseline.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三次升级各自解决一个具体缺陷。**下周开始你会亲手把这三步走一遍**，而本周的 0.5027 就是基准线。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weeks per the official course map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周次对应官方课程地图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19" cy="3712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2232000"/>
                <a:gridCol w="2232000"/>
                <a:gridCol w="2232000"/>
                <a:gridCol w="2241720"/>
              </a:tblGrid>
              <a:tr h="74255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Model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C3D4EF"/>
                          </a:solidFill>
                          <a:latin typeface="Source Han Sans SC"/>
                        </a:rPr>
                        <a:t>模型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What it fixed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C3D4EF"/>
                          </a:solidFill>
                          <a:latin typeface="Source Han Sans SC"/>
                        </a:rPr>
                        <a:t>解决了什么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What it left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C3D4EF"/>
                          </a:solidFill>
                          <a:latin typeface="Source Han Sans SC"/>
                        </a:rPr>
                        <a:t>留下了什么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Key mechanism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C3D4EF"/>
                          </a:solidFill>
                          <a:latin typeface="Source Han Sans SC"/>
                        </a:rPr>
                        <a:t>关键机制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Where in the course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C3D4EF"/>
                          </a:solidFill>
                          <a:latin typeface="Source Han Sans SC"/>
                        </a:rPr>
                        <a:t>课程位置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742558"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1F2937"/>
                          </a:solidFill>
                          <a:latin typeface="Source Han Sans SC"/>
                        </a:rPr>
                        <a:t>RNN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first model to share parameters across time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第一次让参数跨时间共享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vanishing/exploding gradients on long sequences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长序列梯度消失/爆炸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h_t = tanh(Wx + Uh_{t-1})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this week (KT16)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本周知识点（KT16）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2558"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1F2937"/>
                          </a:solidFill>
                          <a:latin typeface="Source Han Sans SC"/>
                        </a:rPr>
                        <a:t>LSTM / GRU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makes 'what to remember' learnable via gates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用门控把“记住什么”变成可学的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still sequential — cannot be parallelised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仍然必须顺序计算，无法并行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forget / input / output gates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遗忘门 / 输入门 / 输出门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**lab 7 uses exactly this**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**本周实验 7 用的就是它**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742558"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1F2937"/>
                          </a:solidFill>
                          <a:latin typeface="Source Han Sans SC"/>
                        </a:rP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removes the fixed-vector bottleneck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取消“必须压成一个向量”的瓶颈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carries no positional information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本身不含位置信息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Q·Kᵀ → softmax →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Week 10 (CU(10))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第 10 周（CU(10)）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2562"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1F2937"/>
                          </a:solidFill>
                          <a:latin typeface="Source Han Sans SC"/>
                        </a:rPr>
                        <a:t>Transformer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stacks attention deeply and parallelises fully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把注意力堆深，训练可完全并行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needs far more data and compute (this week's bottleneck gets worse)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数据与算力需求陡增（本周的瓶颈会更痛）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multi-head + positional encoding + residual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多头 + 位置编码 + 残差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F2937"/>
                          </a:solidFill>
                          <a:latin typeface="Source Han Sans SC"/>
                        </a:rPr>
                        <a:t>Weeks 10–11 (CU(10–11))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6B7280"/>
                          </a:solidFill>
                          <a:latin typeface="Source Han Sans SC"/>
                        </a:rPr>
                        <a:t>第 10–11 周（CU(10–11)）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5062794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Note the last row: **a Transformer amplifies the 'not enough data' problem, not the reverse.** You have just watched 523 training passages pin a 166K-parameter LSTM — the same bottleneck returns in Week 10, more expensively. **That is the thing to carry out of this week.**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注意最后一行那句话：**Transformer 会把“数据不够”这个问题放大，而不是缩小。** 本周你亲眼看到 523 个训练段落能把一个 166 K 参数的 LSTM 逼到什么程度——同一个瓶颈在第 10 周会以更贵的形式回来。**这才是本周最该带走的东西。**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Ethics point: error costs are asymmetric, so metric choice is a duty to users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思政落点：错误代价并不对称，指标选择就是对用户负责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Turn the slogan into something checkable: **the same model, a different metric, an opposite conclusion.** All three cards below are measured this week, not hypothesised.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把这句话从口号变成可检查的东西：**同一个模型，换一个指标，结论就反了。** 下面三张卡全部来自本周实测，不是设想。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user-centred design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以用户为中心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3387239" cy="504471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504471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375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1 · Accuracy can pass a broken model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① 准确率会放过一个坏模型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2226265"/>
            <a:ext cx="2940839" cy="39704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`last_step`: accuracy 0.2407, macro F1 0.0711.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`last_step`：准确率 0.2407，宏 F1 0.0711。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Macro F1 sits below the 6-class chance level of 0.1667.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宏 F1 低于 6 分类随机基线 0.1667。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**On accuracy alone, this model passes review.**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**只看准确率，这个模型会通过评审。**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cost lands on minority-class users, who are almost never recognised.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代价落在少数类用户身上——他们几乎从不被正确识别。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3D7BD9"/>
                </a:solidFill>
                <a:latin typeface="Source Han Sans SC"/>
              </a:rPr>
              <a:t>→ who pays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→ 谁承担代价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24000"/>
            <a:ext cx="3387239" cy="504471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24000"/>
            <a:ext cx="32400" cy="504471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375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2 · Class size decides who is sacrificed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② 类别大小决定了谁被牺牲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2226265"/>
            <a:ext cx="2940839" cy="39704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W1 (n=80) recalls 0.1750; W6 (n=140) recalls 0.6643.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W1（n=80）召回 0.1750；W6（n=140）召回 0.6643。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A 3.8× gap, rising overall with class size (Spearman rho = 0.77).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差距 3.8 倍，且总体随类别大小上升（Spearman ρ = 0.77）。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**This is precisely why macro F1 exists.**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**宏 F1 存在的全部理由，就是让这件事被看见。**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Weighted F1 or plain accuracy averages the gap away.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用加权 F1 或准确率，这个差距会被平均数抹平。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3D7BD9"/>
                </a:solidFill>
                <a:latin typeface="Source Han Sans SC"/>
              </a:rPr>
              <a:t>→ what an average hides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→ 平均值掩盖什么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679" y="1224000"/>
            <a:ext cx="3387239" cy="504471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5679" y="1224000"/>
            <a:ext cx="32400" cy="504471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8879" y="1375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3 · A metric is a product decision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③ 指标是写给用户看的产品决策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8879" y="2226265"/>
            <a:ext cx="2940839" cy="39704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Recall Week 6: there, maximising accuracy was right — balanced data, symmetric costs.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回看第 6 周：那里“最大化准确率”是对的，因为数据平衡、代价对称。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Here it is wrong, because it rewards guessing the majority prior.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本周“最大化准确率”是错的，因为它奖励模型猜大类的先验。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**Same action, two settings, one right and one wrong.**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**同一个动作，两个场景，一个对一个错。**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**Before picking a metric, ask: whose mistake costs more this time?**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**选指标之前先问：这一次，谁的错误更贵？**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3D7BD9"/>
                </a:solidFill>
                <a:latin typeface="Source Han Sans SC"/>
              </a:rPr>
              <a:t>→ not a technicality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→ 这不是技术细节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AI co-pilot: let the AI write the whole pipeline, then you catch it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AI 赋能：让 AI 生成整条管道，然后你去抓它的错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The official brief: 'AI generates a text-processing pipeline → students locate the padding/masking errors and record the before/after difference'. This is not optional — **the record is graded.**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官方要求是“AI 生成文本处理管道 → 学生定位填充/掩码错误，记录修正前后的结果差异”。这不是可选项，是**要交记录**的一步。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the official AI-enabled activity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官方 AI 赋能落点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70859" cy="4743476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474347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Step 1 · Ask (and ask precisely)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第一步：提问（把问题问准）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61090"/>
            <a:ext cx="4724459" cy="3934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Prompt template: **'Write a complete PyTorch LSTM forward pass for a 6-class text task with variable-length input, and explain how you handle padding.'**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提示词模板：**“用一个 PyTorch LSTM 做 6 分类文本任务，输入是变长文本，给出完整的前向传播，并说明你怎么处理填充。”**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Demand **runnable code**, not prose.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要求它**给出可运行代码**，不要散文解释。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**Do not read the reference implementation first** — get the AI's first draft.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**不许先看老师给的参考实现再问**——先让 AI 出初稿。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3D7BD9"/>
                </a:solidFill>
                <a:latin typeface="Source Han Sans SC"/>
              </a:rPr>
              <a:t>→ get a draft first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→ 先有初稿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2059" y="1224000"/>
            <a:ext cx="5170859" cy="4743476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059" y="1224000"/>
            <a:ext cx="32400" cy="474347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5259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Step 2 · Find the bug (this is the graded part)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第二步：找错（这是评分点）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5259" y="2226265"/>
            <a:ext cx="4724459" cy="36692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Work down this checklist against the AI's code: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对照检查清单，逐条在 AI 代码里找：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① Does it accept `lens`? If not, it can only use `[-1]`.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① 有没有传 `lens` 进去？没有 → 它只能取 `[-1]`。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② Is the vocabulary built on all data? → leakage.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② 词表是在全量数据上建的吗？→ 数据泄漏。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③ Is `padding_idx=0` set? If not, the pad embedding receives gradient.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③ 用了 `padding_idx=0` 吗？没有 → 填充向量会被更新。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④ Is the pooling a masked mean or a bare `mean`? **A bare mean is this week's 4th place.**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• ④ 池化是掩码均值，还是裸 `mean`？**裸 mean 就是本周第 4 名。**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3D7BD9"/>
                </a:solidFill>
                <a:latin typeface="Source Han Sans SC"/>
              </a:rPr>
              <a:t>→ annotate each one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40" b="0" i="0">
                <a:solidFill>
                  <a:srgbClr val="6B7280"/>
                </a:solidFill>
                <a:latin typeface="Source Han Sans SC"/>
              </a:rPr>
              <a:t>→ 逐条留痕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In-class quiz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随堂小测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Each item probes the week's most commonly broken step. **Answer first, then justify.**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每题都在检验本周最容易搞错的一处。**先说答案，再说理由。**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4 items · spoken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4 题 · 口头回答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97859" cy="2455821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7200" y="1350000"/>
            <a:ext cx="900000" cy="408881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7200" y="1350000"/>
            <a:ext cx="900000" cy="4088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Item 1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第 1 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5200" y="1350000"/>
            <a:ext cx="3793859" cy="747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Which split should the vocabulary be counted on? What breaks if you use all 748 passages?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词表应该在哪一部分数据上统计？如果用了全部 748 段会怎样？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2068364"/>
            <a:ext cx="4801859" cy="1503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A. All of it — the vocabulary is largest that way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A. 全部数据，这样词表最大最全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B. Train only; using all of it leaks test information and inflates the test accuracy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B. 只用训练集；用全部＝把测试集信息漏进训练，测试准确率虚高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C. Test only, to match the test distribution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C. 只用测试集，因为要和测试分布对齐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D. It does not matter; the vocabulary only affects speed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D. 无所谓，词表只影响速度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59" y="1188000"/>
            <a:ext cx="5197859" cy="2455821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3059" y="1350000"/>
            <a:ext cx="900000" cy="408881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59" y="1350000"/>
            <a:ext cx="900000" cy="4088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Item 2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第 2 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1059" y="1350000"/>
            <a:ext cx="3793859" cy="9186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95.6% of test documents never reach max_len=96. What does `out[:, -1, :]` return?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95.6% 的测试文档写不到 max_len=96。此时 `out[:, -1, :]` 取到的是什么？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59" y="2239814"/>
            <a:ext cx="4801859" cy="1332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A. The hidden state of the last real token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A. 最后一个真词的隐状态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B. The state at position 96 — a pad vector on short documents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B. 第 96 个位置的隐状态——短文档上就是填充向量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C. The mean over the sequence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C. 全序列的平均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D. It raises a shape error and will not run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D. 会报形状错误，跑不起来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841821"/>
            <a:ext cx="5197859" cy="2455821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7200" y="4003821"/>
            <a:ext cx="900000" cy="408881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200" y="4003821"/>
            <a:ext cx="900000" cy="4088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Item 3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第 3 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5200" y="4003821"/>
            <a:ext cx="3793859" cy="747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`last_step` reports 0.2407 accuracy and 0.0711 macro F1. How do you report it?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`last_step` 准确率 0.2407，宏 F1 0.0711。该怎么汇报？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200" y="4722186"/>
            <a:ext cx="4801859" cy="1503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A. Accuracy 0.2407; mediocre, keep tuning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A. 准确率 0.2407，效果一般，继续调参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B. Report both, and note macro F1 is below chance 0.1667 — **broken, not mediocre**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B. 两个都报，并指出宏 F1 低于随机 0.1667——**这是坏掉，不是一般**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C. Report macro F1 only; it is the stricter one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C. 只报宏 F1，因为它更严格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D. Both are low, so the task is impossible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D. 两个都低，说明任务本身不可做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59" y="3841821"/>
            <a:ext cx="5197859" cy="2455821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059" y="4003821"/>
            <a:ext cx="900000" cy="408881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059" y="4003821"/>
            <a:ext cx="900000" cy="4088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Item 4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第 4 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1059" y="4003821"/>
            <a:ext cx="3793859" cy="9186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The best arm reaches only 0.5027. What happens when you add Dropout + weight decay, and why?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本周最好的臂只有 0.5027。加 Dropout + 权重衰减之后会怎样？为什么？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59" y="4893636"/>
            <a:ext cx="4801859" cy="1332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A. It rises — regularisation always improves generalisation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A. 会涨，正则化总是改善泛化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B. It falls (0.5027 → 0.4672) — the bottleneck is data (523 passages), not capacity, so regularisation cuts the only signal there is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B. 会降（0.5027 → 0.4672）——瓶颈是数据量（523 段），不是容量，此时正则化是在削减仅有的信息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C. Unchanged; the parameter count did not change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C. 完全不变，因为参数量没变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D. It rises, but only after many more epochs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D. 会涨，但要跑满更多轮才看得出来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7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728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50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M8 · Midterm checkpoint ★ — this week is also the project's first graded review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M8 · 期中检查点 ★ —— 本周同时也是大作业的第一次正式评审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65002"/>
            <a:ext cx="7713719" cy="571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6B7280"/>
                </a:solidFill>
                <a:latin typeface="Source Han Sans SC"/>
              </a:rPr>
              <a:t>M8 is not extra work; it is **one block of the course's 15-point staged review**. Done in class this week, **a live 3-minute demo**, with slide 3 about failures.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M8 不是额外任务，它是**课程“阶段评审 15 分”里的一块**。本周课内完成，**当场演示 3 分钟**，第 3 页必须讲失败。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milestone · 4 points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模块二里程碑 · 4 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10593719" cy="107191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107191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548104"/>
            <a:ext cx="900000" cy="423701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548104"/>
            <a:ext cx="900000" cy="4237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Deliver 1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交付 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332000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 working prototype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能跑的原型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610999"/>
            <a:ext cx="9153719" cy="630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Runs from a fresh clone. If it does not run, the item does not count — **'works on my machine' is not a demo.**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在一台干净机器上 clone 下来能跑起来。跑不起来就没有这一项——**“在我机器上能跑”不算。**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403910"/>
            <a:ext cx="10593719" cy="107191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403910"/>
            <a:ext cx="32400" cy="107191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728015"/>
            <a:ext cx="900000" cy="423701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728015"/>
            <a:ext cx="900000" cy="4237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Deliver 2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交付 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11910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`DATA.md`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790910"/>
            <a:ext cx="9153719" cy="630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Source, licence, sample count, split, leakage check, known traps. This week's lab 7 is the template.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数据来源、许可、多少样本、怎么切分、有没有泄漏、已知的坑。本周刚做完的实验 7 就是最好的模板。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583821"/>
            <a:ext cx="10593719" cy="107191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583821"/>
            <a:ext cx="32400" cy="107191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907926"/>
            <a:ext cx="900000" cy="42370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907926"/>
            <a:ext cx="900000" cy="4237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Deliver 3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交付 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691821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 3-slide deck; slide 3 is about failures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3 页幻灯片，第 3 页讲失败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970821"/>
            <a:ext cx="9153719" cy="630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Slide 1 what it does, slide 2 the numbers, **slide 3 where it fails.** Slide 3 carries the marks — **an all-good-news deck is treated as incomplete.**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第 1 页做什么、第 2 页数字、**第 3 页你错在哪**。第 3 页是评分重点——**只讲成绩的幻灯片按未完成处理。**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4763732"/>
            <a:ext cx="10593719" cy="107191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200" y="4763732"/>
            <a:ext cx="32400" cy="107191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200" y="5087836"/>
            <a:ext cx="900000" cy="423701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" y="5087836"/>
            <a:ext cx="900000" cy="4237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Deliver 4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交付 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871732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 live 3-minute demo + 2 minutes of questions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3 分钟现场演示 + 提问 2 分钟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3200" y="5150731"/>
            <a:ext cx="9153719" cy="630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**No screen recordings, no animations standing in for a run.** I will ask 'what happens if I change this parameter' — answer live or try it live.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**不许放录屏，不许放 PPT 动画代替运行。** 我会问“如果我改这个参数会怎样”，你要能当场回答或者当场试。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This week in four lines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本周小结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Four sentences, each with a number behind it from this week.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四句话，每一句都在本周有数字支撑。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CU(8) · Lab 7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CU(8) · 实验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31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6696000" cy="121282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475200" cy="12128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200" y="163241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200" y="1209600"/>
            <a:ext cx="5832000" cy="1097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Most text-task bugs live in the four pipeline steps — **tokenise, vocabulary, encode, pad** — not in the model. Splitting Chinese on whitespace drives OOV to 99.7%.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文本任务的错误大多不在模型里，而在**分词 → 词表 → 编码 → 填充**这四步里。中文按空白切分会使 OOV 达到 99.7%。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00" y="2400820"/>
            <a:ext cx="6696000" cy="121282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00" y="2400820"/>
            <a:ext cx="475200" cy="12128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200" y="288123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9200" y="2458420"/>
            <a:ext cx="5832000" cy="1097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Padding must come with masking. **95.6% of test documents fall short of max_len**, and without a mask the model reads pad vectors; the pooling choice alone is worth 26.2 points.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填充必须配掩码。**95.6% 的测试文档短于 max_len**，不掩码就是让模型去读填充向量；池化方式的选择值 26.2 个点。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3649640"/>
            <a:ext cx="6696000" cy="121282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200" y="3649640"/>
            <a:ext cx="475200" cy="12128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200" y="413005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9200" y="3707240"/>
            <a:ext cx="5832000" cy="1097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It does overfit (train 0.9885 / val 0.4196), but **regularisation does not rescue it** (0.5027 → 0.4672) — **the bottleneck is 523 training passages, not capacity.**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它确实过拟合（训练 0.9885 / 验证 0.4196），但**正则化救不回来**（0.5027 → 0.4672）——**瓶颈是 523 个训练段落，不是容量。**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4898461"/>
            <a:ext cx="6696000" cy="121282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4898461"/>
            <a:ext cx="475200" cy="12128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00" y="5378871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200" y="4956061"/>
            <a:ext cx="5832000" cy="1097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Metric choice is a duty to users: per-class recall runs from 0.1750 to 0.6643, and **only macro F1 makes that gap visible**; accuracy will pass a below-chance model.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指标选择是对用户负责：各类召回从 0.1750 到 0.6643，**只有宏 F1 能让这个差距可见**；准确率会放过一个低于随机的模型。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7200" y="12671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After Class</a:t>
            </a:r>
            <a:r>
              <a:rPr sz="1090" b="0" i="0">
                <a:solidFill>
                  <a:srgbClr val="CFDDF2"/>
                </a:solidFill>
                <a:latin typeface="Source Han Sans SC"/>
              </a:rPr>
              <a:t> ｜ </a:t>
            </a:r>
            <a:r>
              <a:rPr sz="1090" b="0" i="0">
                <a:solidFill>
                  <a:srgbClr val="CFDDF2"/>
                </a:solidFill>
                <a:latin typeface="Source Han Sans SC"/>
              </a:rPr>
              <a:t>课后待办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01200" y="1818000"/>
            <a:ext cx="3591719" cy="13275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7200" y="19476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E3F8C"/>
                </a:solidFill>
                <a:latin typeface="Source Han Sans SC"/>
              </a:rPr>
              <a:t>Lab 7 report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实验 7 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7200" y="2178824"/>
            <a:ext cx="3159719" cy="912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Pipeline code, the four-arm pooling table, the confusion matrix, ≥3 raw misclassified passages, and the AI co-pilot log with before/after numbers.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流程代码、四种池化的对照表、混淆矩阵、≥3 段错分原文、AI 协同记录表（含修正前后数字）。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3253596"/>
            <a:ext cx="3591719" cy="13275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3383196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E3F8C"/>
                </a:solidFill>
                <a:latin typeface="Source Han Sans SC"/>
              </a:rPr>
              <a:t>Prediction task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课后预判题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3614420"/>
            <a:ext cx="3159719" cy="912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The official homework: 'what breaks if the text gets long' — one page, discussed next week.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官方要求：“若换成长文本，现有方案会遇到什么问题”——写成一页预判，下周讲评。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4689193"/>
            <a:ext cx="3591719" cy="13275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4818793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E3F8C"/>
                </a:solidFill>
                <a:latin typeface="Source Han Sans SC"/>
              </a:rPr>
              <a:t>M8 pack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M8 三件套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5050017"/>
            <a:ext cx="3159719" cy="912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Prototype + `DATA.md` v1 + a 3-slide deck (slide 3 on failures). **Demoed in class this week; no extension.**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原型 + `DATA.md` v1 + 3 页幻灯片（第 3 页讲失败）。**本周课内演示，不延期。**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W8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41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0E3F8C"/>
                </a:solidFill>
                <a:latin typeface="Source Han Sans SC"/>
              </a:rPr>
              <a:t>'Accuracy is not a result. It is a number you have not started explaining.'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789" b="0" i="0">
                <a:solidFill>
                  <a:srgbClr val="6B7280"/>
                </a:solidFill>
                <a:latin typeface="Source Han Sans SC"/>
              </a:rPr>
              <a:t>“准确率不是成绩，是一个你还没开始解释的数字。”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287395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This week: 0.4248 accuracy, 0.0711 macro F1, 14 raw misclassified passages — together they are a report.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本周：0.4248 的准确率、0.0711 的宏 F1、14 段错分原文——加起来才是一份报告。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087002"/>
            <a:ext cx="79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F2937"/>
                </a:solidFill>
                <a:latin typeface="Source Han Sans SC"/>
              </a:rPr>
              <a:t>Thank you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480" b="0" i="0">
                <a:solidFill>
                  <a:srgbClr val="6B7280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843463"/>
            <a:ext cx="10593719" cy="959476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51463"/>
            <a:ext cx="10089720" cy="29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FA8"/>
                </a:solidFill>
                <a:latin typeface="Source Han Sans SC"/>
              </a:rPr>
              <a:t>Next week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203030"/>
            <a:ext cx="10089720" cy="599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0E3F8C"/>
                </a:solidFill>
                <a:latin typeface="Source Han Sans SC"/>
              </a:rPr>
              <a:t>Week 9 · Transfer Learning and Pretrained Models (CU(9)): redo this week's task with a pretrained model and see whether it breaks 0.5027 — plus a full from-scratch versus fine-tune comparison.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第 9 周　迁移学习与预训练模型（CU(9)）：先用预训练模型重做本周这件事，看它能不能突破 0.5027；以及一次“从零训练 vs 微调”的完整对照。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 Lecture · Zheng Ren · School of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